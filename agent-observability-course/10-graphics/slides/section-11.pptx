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How to read an incident like an SRE.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questions. Always in this order.</a:t>
            </a:r>
          </a:p>
          <a:p/>
          <a:p>
            <a:r>
              <a:t>Timeline. When did the symptom start, to the hour? What changed near that moment? A deploy, a config flag, a prompt label, a provider status post. Almost every incident has a change close to the first symptom. Find the change and you've found the neighbourhood of the cause.</a:t>
            </a:r>
          </a:p>
          <a:p/>
          <a:p>
            <a:r>
              <a:t>Blast radius. One tenant or all four? One tool or every tool? And who is *not* affected? If three departments are fine and one is on fire, the cause lives in something only that department does.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Hypotheses, plural, each with a prediction. "If it's a traffic spike, requests per minute will be up." "If it's a runaway loop, steps per request will be up." Writing the prediction first stops you from seeing what you want to see.</a:t>
            </a:r>
          </a:p>
          <a:p/>
          <a:p>
            <a:r>
              <a:t>Then evidence. For each hypothesis, name the signal that would prove or kill it. Then go look.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map you'll use in every incident. Is it traffic? The Traffic page, requests by tenant against a shadow line. Is it bigger requests? The Cost page: if cost is up and traffic is flat, the money is going into bigger requests, not more of them. Retries and failing tools? The Reliability page. The provider? Time to first token on the Latency page is the provider's fingerprint. Something we changed? Every span carries the retrieval top-k and the prompt version, which is why you tagged them in Sections 4 and 5. And quality: judge scores by hour and by prompt version.</a:t>
            </a:r>
          </a:p>
          <a:p/>
          <a:p>
            <a:r>
              <a:t>[SCREEN: Terminal in `03-code/`. Run `make incident N=1`. The text console prints: `requests=785 sessions=300 … total_cost=$2.3534`, the...]</a:t>
            </a:r>
          </a:p>
          <a:p/>
          <a:p>
            <a:r>
              <a:t>This is how you load an incident. One command, `make incident N=1`, imports the dataset into its own store and prints the text console: seven hundred and eighty-five requests, three hundred sessions, the hourly cost bars, and the alerts the console's batch rules found. Then `make console` with that store opens the same data in the browser, every page from the map in the sidebar. Everything runs offline. No API key, no cost.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`10-resources/incident-template.md`. One page, and you'll fill one in for each incident. The block that matters most is hypotheses: the claim, the prediction, and a status of open, confirmed or killed. The evidence block is a list of exhibits, and each one says where it lives. "Cost page, tenant ops, nine to twelve" is an exhibit. "I looked at the dashboard" is not.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Open `10-resources/incident-template.md`. One page, and you'll fill one in for each incident. The block that matters most is hypotheses: the claim, the prediction, and a status of open, confirmed or 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A of each lecture gives you the brief and the exhibits without interpreting them. Then an eight-minute timer. Pause the video, fill in the template, and write your root cause in one sentence before you press play. Part B walks the evidence with you. One rule: don't open `solution.md` before Part B. You'll learn more from being wrong for eight minutes than from being right in ten seconds.</a:t>
            </a:r>
          </a:p>
          <a:p/>
          <a:p>
            <a:r>
              <a:t>Three more things before your first page. Root cause is usually two things: a change that made the system fragile, plus a trigger that pushed on it. Fix now, prevent later: stop the bleeding first, even with a rollback. And write it down as you go, because forty minutes in you won't remember what you killed at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Incident 1: Monday's cost spike (Part A and Part 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you know. The anomaly rule paged on the ops tenant. The other three tenants look flat. LLM retries with a timeout error started climbing at ten. Nothing is erroring at the edge. And at eight fifty-five, a deploy called "retrieval recall improvements" went out.</a:t>
            </a:r>
          </a:p>
          <a:p/>
          <a:p>
            <a:r>
              <a:t>[SCREEN: Terminal: `make incident N=1`, then `make console STORE=.atlas/incident-01.sqlite`. The console opens on the Cost page.]</a:t>
            </a:r>
          </a:p>
          <a:p/>
          <a:p>
            <a:r>
              <a:t>Load the dataset and open the console. Six exhibits. I'm not going to interpret any of them. That's your job.</a:t>
            </a:r>
          </a:p>
          <a:p/>
          <a:p>
            <a:r>
              <a:t>[SCREEN: Exhibit 1. Cost page, "Cost per hour by tenant" (`hourly_cost_by_tenant`), 07:00 to 13:00. `ops`: 08:00 $0.043, 09:00 $0.228, 10...]</a:t>
            </a:r>
          </a:p>
          <a:p>
            <a:r>
              <a:t>Exhibit one. Cost per hour by tenant. Three tenants stay low all morning. Ops jumps at nine and climbs again at ten. Two bends. Remember that.</a:t>
            </a:r>
          </a:p>
          <a:p/>
          <a:p>
            <a:r>
              <a:t>[SCREEN: Exhibit 2. Traffic page, tenant `ops`, 15-minute bins, with the shadow line labelled "shadow (replayed plan, seed 10)". Between...]</a:t>
            </a:r>
          </a:p>
          <a:p>
            <a:r>
              <a:t>Exhibit two. Requests for ops, against the shadow line. The shadow is the replayed traffic plan of a neighbouring seed, a normal Monday's shape. Compare the two.</a:t>
            </a:r>
          </a:p>
          <a:p/>
          <a:p>
            <a:r>
              <a:t>[SCREEN: Exhibit 3. Cost page, "Unit costs per hour", tenant `ops` (`hourly_unit_costs`). Cost per session: 08:00 $0.0035, 09:00 $0.0228,...]</a:t>
            </a:r>
          </a:p>
          <a:p>
            <a:r>
              <a:t>Exhibit three. Two numbers for ops, hour by hour. Cost per session, and mean input tokens per generation. Look at eight, nine and ten o'clock.</a:t>
            </a:r>
          </a:p>
          <a:p/>
          <a:p>
            <a:r>
              <a:t>[SCREEN: Exhibit 4. Reliability page. "Tool error share per hour": zero for every tool, every hour. "LLM retries (failed attempts) per ge...]</a:t>
            </a:r>
          </a:p>
          <a:p>
            <a:r>
              <a:t>Exhibit four. Two panels. Tool error share per tool, and failed LLM attempts by reason. One panel does something at ten. The other doesn't.</a:t>
            </a:r>
          </a:p>
          <a:p/>
          <a:p>
            <a:r>
              <a:t>[SCREEN: Exhibit 5. Retrieval page (`retrieval_hourly`). Mean `atlas.retrieval.top_k`: 4.0 for every tenant until 08:00; `ops` 14.95 at 0...]</a:t>
            </a:r>
          </a:p>
          <a:p>
            <a:r>
              <a:t>Exhibit five. The Retrieval page. Top-k per retriever call, and the size of what came back, in tokens, by tenant.</a:t>
            </a:r>
          </a:p>
          <a:p/>
          <a:p>
            <a:r>
              <a:t>[SCREEN: Exhibit 6. Traces page, session `s11-00110` (ops, three questions about leave, 10:24 to 10:25). Three turns, each about 83 secon...]</a:t>
            </a:r>
          </a:p>
          <a:p>
            <a:r>
              <a:t>Exhibit six. One conversation, session `s11-00110`, an ops employee asking three questions about leave. It's the most expensive session in the dataset, top of the Cost page's list. Open each turn. Read `gen_ai.usage.input_tokens` on the generations. Count the attempts. Open the retriever span and read its top-k and result size. Then compare turn one with turn three.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Here's what you know. The anomaly rule paged on the ops tenant. The other three tenants look flat. LLM retries with a timeout error started climbing at ten. Nothing is erroring at the edge. And at eig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exhibits, all in the dataset you just loaded, and you can dig deeper than I showed you. Sort sessions by cost. Filter by tenant. Two hints. Two bends usually means two causes. And deploys aren't the only way to change a system, but this time there *was* one.</a:t>
            </a:r>
          </a:p>
          <a:p/>
          <a:p>
            <a:r>
              <a:t>Pause now. Eight minutes.</a:t>
            </a:r>
          </a:p>
          <a:p/>
          <a:p>
            <a:r>
              <a:t>[SCREEN: Part A ends on the timer card. Part B opens on the same card, timer at zero.]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Six exhibits, all in the dataset you just loaded, and you can dig deeper than I showed you. Sort sessions by cost. Filter by tenant. Two hints. Two bends usually means two causes. And deploys aren't 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it up. Two hundred and sixty-nine thousand input tokens billed for three questions about leave. The six calls that answered cost three point three cents. The twelve attempts that timed out cost seven cents, sixty-eight percent of the session. Against a third of a cent for a normal ops session at eight.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Traffic, killed. A failing tool, killed. Provider timeouts, confirmed, and they multiplied the bill. Bigger prompts, confirmed, and they made every retry expensive.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sentence had the timeouts, good. If it had the retrieval change, very good. If it had both and said which one multiplied the other, you're ready to be on call.</a:t>
            </a:r>
          </a:p>
          <a:p/>
          <a:p>
            <a:r>
              <a:t>Now the fix, and what each part does on the full day.</a:t>
            </a:r>
          </a:p>
          <a:p/>
          <a:p>
            <a:r>
              <a:t>[SCREEN: Ops Console, Compare replays page with four stores from `OFFLINE=1 make replay ... STORE=.atlas/&lt;name&gt;.sqlite`: baseline $56.28,...]</a:t>
            </a:r>
          </a:p>
          <a:p/>
          <a:p>
            <a:r>
              <a:t>Fix now: roll the retrieval change back. `ATLAS_TOP_K=4`, `KB_MIN_SCORE=0.5`, context diet on. Replay the full four-thousand-session day to see what that buys. The incident day costs sixty-four ninety-nine. With the retrieval change rolled back and the same provider storm, fifty-eight dollars, against a fifty-six twenty-eight baseline. p95 drops from six point eight seconds to three point nine. The storm alone is a small problem. The bloat is what made it expensive.</a:t>
            </a:r>
          </a:p>
          <a:p/>
          <a:p>
            <a:r>
              <a:t>Now the tempting second fix: fewer retries. With `ATLAS_MAX_RETRIES=1` the day costs fifty-four fifty-nine, a little cheaper than baseline. But the mock provider times out twice before it succeeds, so three hundred and ninety-two requests now end in an error. Cheaper and broken. A retry bound is a dial between cost and failure, not a fix.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changes for this week. First, no code path that lets a tenant override switch the diet off. The knowledge base team's complaint was real, and the answer is a better snippet, not whole articles.</a:t>
            </a:r>
          </a:p>
          <a:p/>
          <a:p>
            <a:r>
              <a:t>[CODE: `app/agent.py::CircuitBreaker`, as shipped]</a:t>
            </a:r>
          </a:p>
          <a:p/>
          <a:p>
            <a:r>
              <a:t>Second, look at why the fallback model never got a call. The circuit breaker in `_call_model` records a failure on every timeout, but it opens only after three *consecutive* failures, and a success resets the count. Fail, fail, succeed. It never reaches three. The action item is a breaker that counts failures over a time window. That's not in the repo; it's yours to write and test against this replay.</a:t>
            </a:r>
          </a:p>
          <a:p/>
          <a:p>
            <a:r>
              <a:t>And detection. `deploy/alerts.yml` already ships `AtlasRetryStorm`: more than point two LLM retries per request for ten minutes pages someone. This dataset shows about point six per request in the ten o'clock hour. That rule pages at ten past ten, ninety minutes before the anomaly rule did.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on prevention. Lecture 6.5 gave you the diet; a test that three turns with twelve articles stays inside the budget would have failed this PR. Lectures 7.3 and 7.4 gave you retries and the breaker; today you saw a pattern the breaker can't see. Lecture 9.5 shipped the retry-storm rule. And the CI gate in Lecture 13.3 goes red on these exact settings.</a:t>
            </a:r>
          </a:p>
          <a:p/>
          <a:p>
            <a:r>
              <a:t>Two lessons to carry forward. Config changes are deploys. And the trigger is rarely the root cause: ask what made it expensive.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Incident 2: p95 doubled after lunch (Part A and Part 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brief. All four tenants. No errors, no retries. The provider admits to elevated latency. And someone in the channel mentions a twelve-thirty change: retrieval top-k raised to twenty for a pilot.</a:t>
            </a:r>
          </a:p>
          <a:p/>
          <a:p>
            <a:r>
              <a:t>Two suspects, both handed to you. Let's see what the data says.</a:t>
            </a:r>
          </a:p>
          <a:p/>
          <a:p>
            <a:r>
              <a:t>[SCREEN: `make incident N=2`, then `make console STORE=.atlas/incident-02.sqlite`. Latency page.]</a:t>
            </a:r>
          </a:p>
          <a:p/>
          <a:p>
            <a:r>
              <a:t>[SCREEN: Exhibit 1. Latency page, "End-to-end p50 / p95 per hour" (`hourly_latency`). p95: 11:00 3,589 ms, 12:00 3,472 ms, 13:00 8,090 ms...]</a:t>
            </a:r>
          </a:p>
          <a:p>
            <a:r>
              <a:t>Exhibit one. p50 and p95 by hour. Note the hour p95 leaves the budget, and note what happens at seventeen hundred.</a:t>
            </a:r>
          </a:p>
          <a:p/>
          <a:p>
            <a:r>
              <a:t>[SCREEN: Exhibit 2. Latency page, "Span duration p95 by observation type" (`span_p95_by_type_hourly`), 10:00 to 17:00. generation: 2,592...]</a:t>
            </a:r>
          </a:p>
          <a:p>
            <a:r>
              <a:t>Exhibit two. Span duration at p95, by type: generation, retriever, tool. Which ones move, and by how much?</a:t>
            </a:r>
          </a:p>
          <a:p/>
          <a:p>
            <a:r>
              <a:t>[SCREEN: Exhibit 3. Latency page, "Generation detail" (`generation_timing_hourly`). `atlas.ttft_ms` p95: 556 ms at 12:00, 1,895 to 1,993...]</a:t>
            </a:r>
          </a:p>
          <a:p>
            <a:r>
              <a:t>Exhibit three. Time to first token, from Lecture 5.4, and total generation duration. Both at p95.</a:t>
            </a:r>
          </a:p>
          <a:p/>
          <a:p>
            <a:r>
              <a:t>[SCREEN: Exhibit 4. Cost page, "Unit costs per hour", all tenants. Mean input tokens per generation: 4,630 at 12:00, 4,573 at 13:00, 4,70...]</a:t>
            </a:r>
          </a:p>
          <a:p>
            <a:r>
              <a:t>Exhibit four. Tokens per generation, input and output, by the hour. And cost per request.</a:t>
            </a:r>
          </a:p>
          <a:p/>
          <a:p>
            <a:r>
              <a:t>[SCREEN: Exhibit 5. Retrieval page (`retrieval_hourly`), tenant `hr` as an example. Mean top-k: 4.0 at 11:00 and 12:00, 18.0 at 13:00, 17...]</a:t>
            </a:r>
          </a:p>
          <a:p>
            <a:r>
              <a:t>Exhibit five. The Retrieval page. Top-k, hits, and result size in tokens, per hour.</a:t>
            </a:r>
          </a:p>
          <a:p/>
          <a:p>
            <a:r>
              <a:t>[SCREEN: Exhibit 6. Traces page, two traces for "How do I connect to the VPN from home?": session `s22-00108` at 10:50 (3,245 ms) and ses...]</a:t>
            </a:r>
          </a:p>
          <a:p>
            <a:r>
              <a:t>Exhibit six. The same question twice, at ten fifty and at two twenty-six. Open the retriever span in each, then the two generation spans. Compare every number.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Here's the brief. All four tenants. No errors, no retries. The provider admits to elevated latency. And someone in the channel mentions a twelve-thirty change: retrieval top-k raised to twenty for a 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hint, because this one is designed to fool you. You were handed two suspects. Write down what each one would predict for input tokens and for time to first token, before you look. A slow provider and a bigger prompt leave different fingerprints.</a:t>
            </a:r>
          </a:p>
          <a:p/>
          <a:p>
            <a:r>
              <a:t>Pause now. Eight minutes.</a:t>
            </a:r>
          </a:p>
          <a:p/>
          <a:p>
            <a:r>
              <a:t>[SCREEN: Part A ends on the timer card. Part B opens on the same card, timer at zero.]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Provider: confirmed. Top-k bloating prompts: killed, by the diet. A slow retriever: plus sixty-five milliseconds at p95, not four seconds. Traffic or rate limits: no errors, every tenant. Killed.</a:t>
            </a:r>
          </a:p>
          <a:p/>
          <a:p>
            <a:r>
              <a:t>And the recovery curve, exhibit one: at seventeen hundred, p95 is back to three point five. Nothing is left over. When the external cause recovers, whatever latency remains is yours. Here, nothing remains.</a:t>
            </a:r>
          </a:p>
          <a:p/>
          <a:p>
            <a:r>
              <a:t>[SCREEN: Ops Console, Compare replays: two full-day stores, `OFFLINE=1 make replay SCENARIO=latency_regression` p95 9,474 ms and `SCENARI...]</a:t>
            </a:r>
          </a:p>
          <a:p/>
          <a:p>
            <a:r>
              <a:t>One caution before you conclude top-k is harmless. The Makefile's replay runs with the diet off. Replay the full day that way: the same provider slowdown with top-k twenty has p95 nine point five seconds; without it, eight point nine. Mean input tokens per generation go from sixty-six hundred to eighty-four hundred. Top-k twenty costs real latency the moment the diet isn't there to catch it. Keep it at four unless a measurement says otherwise.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question that matters. You built a fallback chain in Lecture 7.4. Why didn't it fire?</a:t>
            </a:r>
          </a:p>
          <a:p/>
          <a:p>
            <a:r>
              <a:t>Because nothing failed. The per-call timeout is twenty seconds, so a five-second generation is a success. The circuit breaker counts failures, and a slow provider produces none. The Reliability page shows no failed attempts all afternoon. A fallback that only fires on errors protects an availability promise, not a latency promise.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sentence blamed top-k, go back to exhibit four. If it said "the provider" and stopped, add the missing safety net. That's the part you can fix.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Ops Console, Compare replays: `OFFLINE=1 make replay SCENARIO=slow_provider` p95 8,877 ms, $55.86; the same with `ATLAS_REQUEST_...]</a:t>
            </a:r>
          </a:p>
          <a:p/>
          <a:p>
            <a:r>
              <a:t>The fix, in three parts. One: a per-call timeout derived from the step budget in Lecture 7.1, four seconds, not an inherited twenty. Now a stalled call fails, and a failure is something the breaker can count. After two, the circuit opens for half an hour and calls go to `FALLBACKS`, gpt-4o-mini, which the slowdown didn't touch. Replay the slow day with that config: p95 from eight point nine seconds to three point nine, no errors, and cheaper, because the fallback model costs less. Two: top-k stays at four until someone measures recall against tokens. Three: Lab 4 asks you to find that config yourself, with the budget gate as the judge.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on prevention. Lecture 5.3 put top-k and hits on the retriever span, which is why you could clear it in one click. Lecture 7.1 told you to derive timeouts from the budget. Lecture 7.4 built the breaker; now you know it only works when the timeout feeds it failures. And the CI gate in Lecture 13.3 fails `ATLAS_TOP_K=20` on the pull request, before a pilot reaches anyone.</a:t>
            </a:r>
          </a:p>
          <a:p/>
          <a:p>
            <a:r>
              <a:t>Carry this forward: compare prompt sizes before you blame the prompt, and compare the recovery before you blame the provider. And a fallback nobody has seen fire is a fallback you don't have.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Incident 3: users are unhappy but nothing is red (Part A and Part B).</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you'd call an alert. No code deploys. But the prompt `atlas-system` has two versions. And this dataset is different from the first two: it includes the judge scores from Lecture 8.2 and the thumbs from Lecture 8.3. Use them.</a:t>
            </a:r>
          </a:p>
          <a:p/>
          <a:p>
            <a:r>
              <a:t>[SCREEN: `make incident N=3`, then `make console STORE=.atlas/incident-03.sqlite`. Quality page.]</a:t>
            </a:r>
          </a:p>
          <a:p/>
          <a:p>
            <a:r>
              <a:t>[SCREEN: Exhibit 1. Quality page, "Judge scores per hour" (`judge_hourly`), 08:00 to 16:00. `judge_grounded`: 0.951, 0.916, 0.947, then 0...]</a:t>
            </a:r>
          </a:p>
          <a:p>
            <a:r>
              <a:t>Exhibit one. The judge scores from Lecture 8.2, by hour. Grounded: did the answer use and cite the retrieved policy. Resolved: did the employee get what they needed, including a next step. Find the hour the lines bend.</a:t>
            </a:r>
          </a:p>
          <a:p/>
          <a:p>
            <a:r>
              <a:t>[SCREEN: Exhibit 2. Quality page, "Thumbs-down rate per hour" and "Most common feedback comments". Four to eleven feedback events per hou...]</a:t>
            </a:r>
          </a:p>
          <a:p>
            <a:r>
              <a:t>Exhibit two. Thumbs-down rate by hour, and the most common feedback comments. Read them.</a:t>
            </a:r>
          </a:p>
          <a:p/>
          <a:p>
            <a:r>
              <a:t>[SCREEN: Exhibit 3. Quality page, "Judge scores by prompt version" (`judge_by_prompt_version`): v1 grounded 0.938, resolved 0.887, overal...]</a:t>
            </a:r>
          </a:p>
          <a:p>
            <a:r>
              <a:t>Exhibit three. The same judge scores, split by the prompt version on the root span. You tagged this in Lecture 4.4.</a:t>
            </a:r>
          </a:p>
          <a:p/>
          <a:p>
            <a:r>
              <a:t>[SCREEN: Exhibit 4. Cost page, "Unit costs per hour", all tenants. Mean output tokens per generation: 112 to 117 from 08:00 to 10:00, the...]</a:t>
            </a:r>
          </a:p>
          <a:p>
            <a:r>
              <a:t>Exhibit four. Output and input tokens per generation, by the hour, and cost per request.</a:t>
            </a:r>
          </a:p>
          <a:p/>
          <a:p>
            <a:r>
              <a:t>[SCREEN: Exhibit 5. Traces page, two traces for "How many days of annual leave do I get?": session `s33-00030` at 08:15 (tenant hr) and s...]</a:t>
            </a:r>
          </a:p>
          <a:p>
            <a:r>
              <a:t>Exhibit five. The same question twice, at eight fifteen and at one forty-seven. Open the retriever span in each and check what it returned. Read both answers, word by word. Then read the prompt version on the root span.</a:t>
            </a:r>
          </a:p>
          <a:p/>
          <a:p>
            <a:r>
              <a:t>[SCREEN: Exhibit 6. `app/prompts.py` in VS Code, the "Answer style" block of `ATLAS_SYSTEM_V1` and `ATLAS_SYSTEM_V2`, side by side; then...]</a:t>
            </a:r>
          </a:p>
          <a:p>
            <a:r>
              <a:t>Exhibit six. The two prompt versions, in the repo. Read the answer-style rules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hints. Treat the judge like a metric with a timeline. And when two traces retrieve the same document and answer differently, the difference is not in retrieval. Look at what sits between the retrieval and the answer.</a:t>
            </a:r>
          </a:p>
          <a:p/>
          <a:p>
            <a:r>
              <a:t>The fix is a single command. Finding out which one, and why it's safe, is the exercise.</a:t>
            </a:r>
          </a:p>
          <a:p/>
          <a:p>
            <a:r>
              <a:t>Pause now. Eight minutes.</a:t>
            </a:r>
          </a:p>
          <a:p/>
          <a:p>
            <a:r>
              <a:t>[SCREEN: Part A ends on the timer card. Part B opens on the same card, timer at zero.]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no alert fire? `deploy/alerts.yml` has a rule called `AtlasJudgeScoreLow`. But it watches a Prometheus histogram the judge never writes to, because the judge runs as a batch job over the store. That rule can never fire. The Ops Console's own rules did flag it, a `judge_drift` ticket with a PSI of two. Nobody was looking at the console.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fix. One command.</a:t>
            </a:r>
          </a:p>
          <a:p/>
          <a:p>
            <a:r>
              <a:t>[CODE: rollback with the repo's CLI]</a:t>
            </a:r>
          </a:p>
          <a:p/>
          <a:p>
            <a:r>
              <a:t>`python -m app.prompts promote`, version one. It wraps `update_prompt` and moves the production label back. Labels are unique across versions, so version two loses it. Atlas picks it up within the sixty-second cache. No deploy, no restart. The property that caused the incident makes the rollback instant. Offline, the same rollback is `ATLAS_PROMPT_VERSION=v1`.</a:t>
            </a:r>
          </a:p>
          <a:p/>
          <a:p>
            <a:r>
              <a:t>But rolling back isn't the prevention. The prevention is making sure a label can't move without evidence again.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moves. First, the failing version-two traces go into the `atlas-failures` dataset with `make dataset`, Lecture 8.6. They're now the regression suite for the next prompt change. Second, promotion happens in CI, never in the UI: run the offline eval against that dataset, and only then call `promote`. The threshold check, refuse below point eight five grounded, is yours to add in front of the CLI. Third, take production label edits out of the UI. Whether that's a role setting or a team rule, verify what your Langfuse plan supports.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on prevention. Lecture 4.4 taught labels; a label change is a deploy. Lecture 8.5 gave you the drift report; split this store at eleven and it raises three alerts, grounded at a PSI of five point five. Run it hourly and it pages in the first hour. Lecture 8.6 gives you the dataset that turns this incident into a test. And Lecture 9.5's quality alert needs a metric someone actually writes.</a:t>
            </a:r>
          </a:p>
          <a:p/>
          <a:p>
            <a:r>
              <a:t>Three incidents. A cost spike, a latency regression, a quality drift. Different symptoms, same method. Timeline, blast radius, hypotheses, evidence. Next, you learn to write it up so the fix outlives the person who found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Writing the postmortem.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`10-resources/postmortem-template.md`. You filled most of it in during the investigation. The postmortem adds three things: impact in numbers, the detection gap, and action items with owners.</a:t>
            </a:r>
          </a:p>
          <a:p/>
          <a:p>
            <a:r>
              <a:t>[SCREEN: VS Code, new file `incidents/incident-01-cost-spike/postmortem.md`. Type the summary.]</a:t>
            </a:r>
          </a:p>
          <a:p/>
          <a:p>
            <a:r>
              <a:t>[CODE: summary block]</a:t>
            </a:r>
          </a:p>
          <a:p/>
          <a:p>
            <a:r>
              <a:t>Summary. Three sentences a finance manager can read. What happened, why in one clause, who was affected and who wasn't. If the summary needs the word "span", rewrite it.</a:t>
            </a:r>
          </a:p>
          <a:p/>
          <a:p>
            <a:r>
              <a:t>[CODE: impact block]</a:t>
            </a:r>
          </a:p>
          <a:p/>
          <a:p>
            <a:r>
              <a:t>Every number has a source column. That's not bureaucracy: the next person can reproduce the number, and you're not guessing. Notice the latency row. This was a cost incident, but users experienced it as eighty-second answers. Write down every kind of impact, not only the one that paged you.</a:t>
            </a:r>
          </a:p>
          <a:p/>
          <a:p>
            <a:r>
              <a:t>[CODE: timeline block]</a:t>
            </a:r>
          </a:p>
          <a:p/>
          <a:p>
            <a:r>
              <a:t>Time, event, source. Mark detection and resolution explicitly, because the gap between first symptom and detection is the number that matters most. First symptom nine o'clock, detection eleven forty: a hundred and sixty minutes. And look at the ten-ten row. I've written in the alert that *would* have fired. Writing the counterfactual into the timeline is how you justify the action item later.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Open `10-resources/postmortem-template.md`. You filled most of it in during the investigation. The postmortem adds three things: impact in numbers, the detection gap, and action items with owners.</a:t>
            </a:r>
          </a:p>
          <a:p/>
          <a:p>
            <a:r>
              <a: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root cause is the thing that, removed, means the incident doesn't happen: a retrieval change with no eval, no cost check and no gate. The provider storm is a trigger; the full-day replay shows it costs a dollar seventy on a normal day. The long timeout, the breaker that never sees three failures in a row, and an alert nobody routed are contributing factors. Each one removed makes the incident smaller or shorter, not impossible.</a:t>
            </a:r>
          </a:p>
          <a:p/>
          <a:p>
            <a:r>
              <a:t>[CODE: detection and response block]</a:t>
            </a:r>
          </a:p>
          <a:p/>
          <a:p>
            <a:r>
              <a:t>Detection and response. Four lines. How we found out, and how long it took. How we *could* have found out, with the time. What helped, which is usually an attribute somebody added months ago. And what slowed us down. Be honest in that last line. "We chased the provider first" is the most useful sentence in this document, because the next on-call will want to chase the provider first too. The gap between detected and could-have-detected is your best argument for every detection action item below.</a:t>
            </a:r>
          </a:p>
          <a:p/>
          <a:p>
            <a:r>
              <a:t>[CODE: action items block]</a:t>
            </a:r>
          </a:p>
          <a:p/>
          <a:p>
            <a:r>
              <a:t>Action items. Every row has a type, and only four types are allowed: instrumentation, budget, test, or process. If it isn't one of those, it's a wish. "Be more careful with experiments" is a wish. "A test that fails when the diet is off" is an action.</a:t>
            </a:r>
          </a:p>
          <a:p/>
          <a:p>
            <a:r>
              <a:t>Every row has an owner, a date, and a "verified by" column. Row five says the budget gate must go red on the settings that caused the incident. That's the strongest verification there is: the fix would have caught the past.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postmortems go wrong. Blame: "the knowledge base team turned off the diet." True, and useless. They had a real complaint and a lever that looked safe. Vagueness: "improve cost monitoring." Which signal, what threshold, where does it page? Row four names all three. Unverifiable: "add tests around the agent loop." If you can't say what would make the test red, you haven't designed a test.</a:t>
            </a:r>
          </a:p>
          <a:p/>
          <a:p>
            <a:r>
              <a:t>[SCREEN: Scroll the finished postmortem top to bottom in twenty seconds.]</a:t>
            </a:r>
          </a:p>
          <a:p/>
          <a:p>
            <a:r>
              <a:t>One more habit. Read the finished postmortem as the person who caused the incident. If any sentence would make you defensive, rewrite it to be about the system. Then read it as next month's on-call. If any action item leaves them guessing, add the verification. Your turn: write the postmortems for Incidents 2 and 3 with the same template.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Project 2: Investigate a fourth incident.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reads like the on-call channel, the way the first three did. Two pages in one day, and the team lead wants one postmortem covering both. Load the dataset, open the console, and run the method from Lecture 11.1. Then write it up with the template from Lecture 11.5.</a:t>
            </a:r>
          </a:p>
          <a:p/>
          <a:p>
            <a:r>
              <a:t>[SCREEN: `make incident N=4`. The text console's last lines: `[PAGE] latency_p95 p95 4652 ms &gt; 4000 ms` and `[TICKET] slo_burn:tool_succe...]</a:t>
            </a:r>
          </a:p>
          <a:p/>
          <a:p>
            <a:r>
              <a:t>Here's where you start: two alerts from the console's rules, and one tool with errors. That's all I'll show you. One thing about the dataset: decide whether the two pages share a cause, and say how you know.</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rubric weights root cause and action items highest, and evidence next. A postmortem with the right root cause and no exhibits scores lower than one with a slightly wrong root cause and a clear evidence trail, because the second one can be checked and corrected.</a:t>
            </a:r>
          </a:p>
          <a:p/>
          <a:p>
            <a:r>
              <a:t>For the action items, at least one has to be the kind that would have caught this incident before it happened, with a verification. Reread row five of the Incident 1 postmortem if you need the pattern.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get stuck, go back to the page map; there's usually one question you haven't asked. Compare a good trace and a bad trace for the same intent, the way we did in Incidents 2 and 3.</a:t>
            </a:r>
          </a:p>
          <a:p/>
          <a:p>
            <a:r>
              <a:t>Submit the postmortem through the assignment for this lecture. Then post your one-sentence root cause in the project thread, after you submit, not before. Reading forty different sentences for the same incident is one of the best lessons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Incident response.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cover the order you investigate in, which page answers which question, and the difference between a root cause, a trigger and a contributing factor. Two questions are about the fixes: what `promote` with the production label actually does, and why a breaker that only counts errors never protects a latency SLO.</a:t>
            </a:r>
          </a:p>
          <a:p/>
          <a:p>
            <a:r>
              <a:t>If you miss the root-cause question, rewatch the root-cause slide in Lecture 11.5 before Project 2. It'll change your postmortem.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INCIDENT LABS: YOU ARE ON CALL</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How to read an incident like an SRE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Apply the four-step order of an incident investigation: timeline, blast radius, hypothesis,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four questions, in order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Timeline: when did it start, and what changed near that time?</a:t>
            </a:r>
          </a:p>
          <a:p>
            <a:pPr marL="292608" indent="-292608">
              <a:lnSpc>
                <a:spcPct val="120000"/>
              </a:lnSpc>
              <a:spcAft>
                <a:spcPts val="1120"/>
              </a:spcAft>
              <a:buClr>
                <a:srgbClr val="00D4AA"/>
              </a:buClr>
              <a:buFont typeface="Inter"/>
              <a:buChar char="•"/>
            </a:pPr>
            <a:r>
              <a:rPr sz="1600" b="0">
                <a:solidFill>
                  <a:srgbClr val="FFFFFF"/>
                </a:solidFill>
                <a:latin typeface="Inter"/>
              </a:rPr>
              <a:t>Blast radius: who is affected, and who is not?</a:t>
            </a:r>
          </a:p>
          <a:p>
            <a:pPr marL="292608" indent="-292608">
              <a:lnSpc>
                <a:spcPct val="120000"/>
              </a:lnSpc>
              <a:spcAft>
                <a:spcPts val="1120"/>
              </a:spcAft>
              <a:buClr>
                <a:srgbClr val="00D4AA"/>
              </a:buClr>
              <a:buFont typeface="Inter"/>
              <a:buChar char="•"/>
            </a:pPr>
            <a:r>
              <a:rPr sz="1600" b="0">
                <a:solidFill>
                  <a:srgbClr val="FFFFFF"/>
                </a:solidFill>
                <a:latin typeface="Inter"/>
              </a:rPr>
              <a:t>Hypothesis: write down two or three, with a prediction each</a:t>
            </a:r>
          </a:p>
          <a:p>
            <a:pPr marL="292608" indent="-292608">
              <a:lnSpc>
                <a:spcPct val="120000"/>
              </a:lnSpc>
              <a:spcAft>
                <a:spcPts val="1120"/>
              </a:spcAft>
              <a:buClr>
                <a:srgbClr val="00D4AA"/>
              </a:buClr>
              <a:buFont typeface="Inter"/>
              <a:buChar char="•"/>
            </a:pPr>
            <a:r>
              <a:rPr sz="1600" b="0">
                <a:solidFill>
                  <a:srgbClr val="FFFFFF"/>
                </a:solidFill>
                <a:latin typeface="Inter"/>
              </a:rPr>
              <a:t>Evidence: which trace, metric or score would prove or kill each one?</a:t>
            </a:r>
          </a:p>
        </p:txBody>
      </p:sp>
      <p:pic>
        <p:nvPicPr>
          <p:cNvPr id="6" name="Picture 5" descr="D9-incident-timeline-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Hypotheses before evidence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Write two or three, never one</a:t>
            </a:r>
          </a:p>
          <a:p>
            <a:pPr marL="292608" indent="-292608">
              <a:lnSpc>
                <a:spcPct val="120000"/>
              </a:lnSpc>
              <a:spcAft>
                <a:spcPts val="1539"/>
              </a:spcAft>
              <a:buClr>
                <a:srgbClr val="00D4AA"/>
              </a:buClr>
              <a:buFont typeface="Inter"/>
              <a:buChar char="•"/>
            </a:pPr>
            <a:r>
              <a:rPr sz="2200" b="0">
                <a:solidFill>
                  <a:srgbClr val="FFFFFF"/>
                </a:solidFill>
                <a:latin typeface="Inter"/>
              </a:rPr>
              <a:t>Each with a prediction: "if traffic, requests per minute are up"</a:t>
            </a:r>
          </a:p>
          <a:p>
            <a:pPr marL="292608" indent="-292608">
              <a:lnSpc>
                <a:spcPct val="120000"/>
              </a:lnSpc>
              <a:spcAft>
                <a:spcPts val="1539"/>
              </a:spcAft>
              <a:buClr>
                <a:srgbClr val="00D4AA"/>
              </a:buClr>
              <a:buFont typeface="Inter"/>
              <a:buChar char="•"/>
            </a:pPr>
            <a:r>
              <a:rPr sz="2200" b="0">
                <a:solidFill>
                  <a:srgbClr val="FFFFFF"/>
                </a:solidFill>
                <a:latin typeface="Inter"/>
              </a:rPr>
              <a:t>Killing a hypothesis is progress</a:t>
            </a:r>
          </a:p>
          <a:p>
            <a:pPr marL="292608" indent="-292608">
              <a:lnSpc>
                <a:spcPct val="120000"/>
              </a:lnSpc>
              <a:spcAft>
                <a:spcPts val="1539"/>
              </a:spcAft>
              <a:buClr>
                <a:srgbClr val="00D4AA"/>
              </a:buClr>
              <a:buFont typeface="Inter"/>
              <a:buChar char="•"/>
            </a:pPr>
            <a:r>
              <a:rPr sz="2200" b="0">
                <a:solidFill>
                  <a:srgbClr val="FFFFFF"/>
                </a:solidFill>
                <a:latin typeface="Inter"/>
              </a:rPr>
              <a:t>Only then open the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Which page answers which question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40" cy="3072384"/>
        </p:xfrm>
        <a:graphic>
          <a:graphicData uri="http://schemas.openxmlformats.org/drawingml/2006/table">
            <a:tbl>
              <a:tblPr firstRow="1" bandRow="1">
                <a:tableStyleId>{5C22544A-7EE6-4342-B048-85BDC9FD1C3A}</a:tableStyleId>
              </a:tblPr>
              <a:tblGrid>
                <a:gridCol w="2734056"/>
                <a:gridCol w="2139696"/>
                <a:gridCol w="6419088"/>
              </a:tblGrid>
              <a:tr h="384048">
                <a:tc>
                  <a:txBody>
                    <a:bodyPr wrap="square"/>
                    <a:lstStyle/>
                    <a:p>
                      <a:r>
                        <a:rPr sz="1200" b="1">
                          <a:solidFill>
                            <a:srgbClr val="0A1628"/>
                          </a:solidFill>
                          <a:latin typeface="Inter"/>
                        </a:rPr>
                        <a:t>Question</a:t>
                      </a:r>
                    </a:p>
                  </a:txBody>
                  <a:tcPr marL="91440" marR="91440" marT="45720" marB="45720" anchor="ctr">
                    <a:solidFill>
                      <a:srgbClr val="00D4AA"/>
                    </a:solidFill>
                  </a:tcPr>
                </a:tc>
                <a:tc>
                  <a:txBody>
                    <a:bodyPr wrap="square"/>
                    <a:lstStyle/>
                    <a:p>
                      <a:r>
                        <a:rPr sz="1200" b="1">
                          <a:solidFill>
                            <a:srgbClr val="0A1628"/>
                          </a:solidFill>
                          <a:latin typeface="Inter"/>
                        </a:rPr>
                        <a:t>Ops Console page</a:t>
                      </a:r>
                    </a:p>
                  </a:txBody>
                  <a:tcPr marL="91440" marR="91440" marT="45720" marB="45720" anchor="ctr">
                    <a:solidFill>
                      <a:srgbClr val="00D4AA"/>
                    </a:solidFill>
                  </a:tcPr>
                </a:tc>
                <a:tc>
                  <a:txBody>
                    <a:bodyPr wrap="square"/>
                    <a:lstStyle/>
                    <a:p>
                      <a:r>
                        <a:rPr sz="1200" b="1">
                          <a:solidFill>
                            <a:srgbClr val="0A1628"/>
                          </a:solidFill>
                          <a:latin typeface="Inter"/>
                        </a:rPr>
                        <a:t>Signal</a:t>
                      </a:r>
                    </a:p>
                  </a:txBody>
                  <a:tcPr marL="91440" marR="91440" marT="45720" marB="45720" anchor="ctr">
                    <a:solidFill>
                      <a:srgbClr val="00D4AA"/>
                    </a:solidFill>
                  </a:tcPr>
                </a:tc>
              </a:tr>
              <a:tr h="384048">
                <a:tc>
                  <a:txBody>
                    <a:bodyPr wrap="square"/>
                    <a:lstStyle/>
                    <a:p>
                      <a:r>
                        <a:rPr sz="1200" b="1">
                          <a:solidFill>
                            <a:srgbClr val="FFFFFF"/>
                          </a:solidFill>
                          <a:latin typeface="Inter"/>
                        </a:rPr>
                        <a:t>Is it traffic?</a:t>
                      </a:r>
                    </a:p>
                  </a:txBody>
                  <a:tcPr marL="91440" marR="91440" marT="45720" marB="45720" anchor="ctr">
                    <a:solidFill>
                      <a:srgbClr val="1A2742"/>
                    </a:solidFill>
                  </a:tcPr>
                </a:tc>
                <a:tc>
                  <a:txBody>
                    <a:bodyPr wrap="square"/>
                    <a:lstStyle/>
                    <a:p>
                      <a:r>
                        <a:rPr sz="1200" b="0">
                          <a:solidFill>
                            <a:srgbClr val="FFFFFF"/>
                          </a:solidFill>
                          <a:latin typeface="Inter"/>
                        </a:rPr>
                        <a:t>Traffic</a:t>
                      </a:r>
                    </a:p>
                  </a:txBody>
                  <a:tcPr marL="91440" marR="91440" marT="45720" marB="45720" anchor="ctr">
                    <a:solidFill>
                      <a:srgbClr val="1A2742"/>
                    </a:solidFill>
                  </a:tcPr>
                </a:tc>
                <a:tc>
                  <a:txBody>
                    <a:bodyPr wrap="square"/>
                    <a:lstStyle/>
                    <a:p>
                      <a:r>
                        <a:rPr sz="1200" b="0">
                          <a:solidFill>
                            <a:srgbClr val="FFFFFF"/>
                          </a:solidFill>
                          <a:latin typeface="Inter"/>
                        </a:rPr>
                        <a:t>requests per minute by tenant, with a shadow line</a:t>
                      </a:r>
                    </a:p>
                  </a:txBody>
                  <a:tcPr marL="91440" marR="91440" marT="45720" marB="45720" anchor="ctr">
                    <a:solidFill>
                      <a:srgbClr val="1A2742"/>
                    </a:solidFill>
                  </a:tcPr>
                </a:tc>
              </a:tr>
              <a:tr h="384048">
                <a:tc>
                  <a:txBody>
                    <a:bodyPr wrap="square"/>
                    <a:lstStyle/>
                    <a:p>
                      <a:r>
                        <a:rPr sz="1200" b="1">
                          <a:solidFill>
                            <a:srgbClr val="FFFFFF"/>
                          </a:solidFill>
                          <a:latin typeface="Inter"/>
                        </a:rPr>
                        <a:t>Is it bigger requests?</a:t>
                      </a:r>
                    </a:p>
                  </a:txBody>
                  <a:tcPr marL="91440" marR="91440" marT="45720" marB="45720" anchor="ctr">
                    <a:solidFill>
                      <a:srgbClr val="0F1E35"/>
                    </a:solidFill>
                  </a:tcPr>
                </a:tc>
                <a:tc>
                  <a:txBody>
                    <a:bodyPr wrap="square"/>
                    <a:lstStyle/>
                    <a:p>
                      <a:r>
                        <a:rPr sz="1200" b="0">
                          <a:solidFill>
                            <a:srgbClr val="FFFFFF"/>
                          </a:solidFill>
                          <a:latin typeface="Inter"/>
                        </a:rPr>
                        <a:t>Cost</a:t>
                      </a:r>
                    </a:p>
                  </a:txBody>
                  <a:tcPr marL="91440" marR="91440" marT="45720" marB="45720" anchor="ctr">
                    <a:solidFill>
                      <a:srgbClr val="0F1E35"/>
                    </a:solidFill>
                  </a:tcPr>
                </a:tc>
                <a:tc>
                  <a:txBody>
                    <a:bodyPr wrap="square"/>
                    <a:lstStyle/>
                    <a:p>
                      <a:r>
                        <a:rPr sz="1200" b="0">
                          <a:solidFill>
                            <a:srgbClr val="FFFFFF"/>
                          </a:solidFill>
                          <a:latin typeface="Inter"/>
                        </a:rPr>
                        <a:t>cost per session, input tokens per generation, by hour</a:t>
                      </a:r>
                    </a:p>
                  </a:txBody>
                  <a:tcPr marL="91440" marR="91440" marT="45720" marB="45720" anchor="ctr">
                    <a:solidFill>
                      <a:srgbClr val="0F1E35"/>
                    </a:solidFill>
                  </a:tcPr>
                </a:tc>
              </a:tr>
              <a:tr h="384048">
                <a:tc>
                  <a:txBody>
                    <a:bodyPr wrap="square"/>
                    <a:lstStyle/>
                    <a:p>
                      <a:r>
                        <a:rPr sz="1200" b="1">
                          <a:solidFill>
                            <a:srgbClr val="FFFFFF"/>
                          </a:solidFill>
                          <a:latin typeface="Inter"/>
                        </a:rPr>
                        <a:t>Is it retries?</a:t>
                      </a:r>
                    </a:p>
                  </a:txBody>
                  <a:tcPr marL="91440" marR="91440" marT="45720" marB="45720" anchor="ctr">
                    <a:solidFill>
                      <a:srgbClr val="1A2742"/>
                    </a:solidFill>
                  </a:tcPr>
                </a:tc>
                <a:tc>
                  <a:txBody>
                    <a:bodyPr wrap="square"/>
                    <a:lstStyle/>
                    <a:p>
                      <a:r>
                        <a:rPr sz="1200" b="0">
                          <a:solidFill>
                            <a:srgbClr val="FFFFFF"/>
                          </a:solidFill>
                          <a:latin typeface="Inter"/>
                        </a:rPr>
                        <a:t>Reliability</a:t>
                      </a:r>
                    </a:p>
                  </a:txBody>
                  <a:tcPr marL="91440" marR="91440" marT="45720" marB="45720" anchor="ctr">
                    <a:solidFill>
                      <a:srgbClr val="1A2742"/>
                    </a:solidFill>
                  </a:tcPr>
                </a:tc>
                <a:tc>
                  <a:txBody>
                    <a:bodyPr wrap="square"/>
                    <a:lstStyle/>
                    <a:p>
                      <a:r>
                        <a:rPr sz="1200" b="0">
                          <a:solidFill>
                            <a:srgbClr val="FFFFFF"/>
                          </a:solidFill>
                          <a:latin typeface="Inter"/>
                        </a:rPr>
                        <a:t>failed LLM attempts per generation, by </a:t>
                      </a:r>
                      <a:r>
                        <a:rPr sz="1104" b="0">
                          <a:solidFill>
                            <a:srgbClr val="00D4AA"/>
                          </a:solidFill>
                          <a:latin typeface="JetBrains Mono"/>
                        </a:rPr>
                        <a:t>error.type</a:t>
                      </a:r>
                    </a:p>
                  </a:txBody>
                  <a:tcPr marL="91440" marR="91440" marT="45720" marB="45720" anchor="ctr">
                    <a:solidFill>
                      <a:srgbClr val="1A2742"/>
                    </a:solidFill>
                  </a:tcPr>
                </a:tc>
              </a:tr>
              <a:tr h="384048">
                <a:tc>
                  <a:txBody>
                    <a:bodyPr wrap="square"/>
                    <a:lstStyle/>
                    <a:p>
                      <a:r>
                        <a:rPr sz="1200" b="1">
                          <a:solidFill>
                            <a:srgbClr val="FFFFFF"/>
                          </a:solidFill>
                          <a:latin typeface="Inter"/>
                        </a:rPr>
                        <a:t>Is it one tool?</a:t>
                      </a:r>
                    </a:p>
                  </a:txBody>
                  <a:tcPr marL="91440" marR="91440" marT="45720" marB="45720" anchor="ctr">
                    <a:solidFill>
                      <a:srgbClr val="0F1E35"/>
                    </a:solidFill>
                  </a:tcPr>
                </a:tc>
                <a:tc>
                  <a:txBody>
                    <a:bodyPr wrap="square"/>
                    <a:lstStyle/>
                    <a:p>
                      <a:r>
                        <a:rPr sz="1200" b="0">
                          <a:solidFill>
                            <a:srgbClr val="FFFFFF"/>
                          </a:solidFill>
                          <a:latin typeface="Inter"/>
                        </a:rPr>
                        <a:t>Reliability</a:t>
                      </a:r>
                    </a:p>
                  </a:txBody>
                  <a:tcPr marL="91440" marR="91440" marT="45720" marB="45720" anchor="ctr">
                    <a:solidFill>
                      <a:srgbClr val="0F1E35"/>
                    </a:solidFill>
                  </a:tcPr>
                </a:tc>
                <a:tc>
                  <a:txBody>
                    <a:bodyPr wrap="square"/>
                    <a:lstStyle/>
                    <a:p>
                      <a:r>
                        <a:rPr sz="1200" b="0">
                          <a:solidFill>
                            <a:srgbClr val="FFFFFF"/>
                          </a:solidFill>
                          <a:latin typeface="Inter"/>
                        </a:rPr>
                        <a:t>error share per tool</a:t>
                      </a:r>
                    </a:p>
                  </a:txBody>
                  <a:tcPr marL="91440" marR="91440" marT="45720" marB="45720" anchor="ctr">
                    <a:solidFill>
                      <a:srgbClr val="0F1E35"/>
                    </a:solidFill>
                  </a:tcPr>
                </a:tc>
              </a:tr>
              <a:tr h="384048">
                <a:tc>
                  <a:txBody>
                    <a:bodyPr wrap="square"/>
                    <a:lstStyle/>
                    <a:p>
                      <a:r>
                        <a:rPr sz="1200" b="1">
                          <a:solidFill>
                            <a:srgbClr val="FFFFFF"/>
                          </a:solidFill>
                          <a:latin typeface="Inter"/>
                        </a:rPr>
                        <a:t>Is it the provider?</a:t>
                      </a:r>
                    </a:p>
                  </a:txBody>
                  <a:tcPr marL="91440" marR="91440" marT="45720" marB="45720" anchor="ctr">
                    <a:solidFill>
                      <a:srgbClr val="1A2742"/>
                    </a:solidFill>
                  </a:tcPr>
                </a:tc>
                <a:tc>
                  <a:txBody>
                    <a:bodyPr wrap="square"/>
                    <a:lstStyle/>
                    <a:p>
                      <a:r>
                        <a:rPr sz="1200" b="0">
                          <a:solidFill>
                            <a:srgbClr val="FFFFFF"/>
                          </a:solidFill>
                          <a:latin typeface="Inter"/>
                        </a:rPr>
                        <a:t>Latency</a:t>
                      </a:r>
                    </a:p>
                  </a:txBody>
                  <a:tcPr marL="91440" marR="91440" marT="45720" marB="45720" anchor="ctr">
                    <a:solidFill>
                      <a:srgbClr val="1A2742"/>
                    </a:solidFill>
                  </a:tcPr>
                </a:tc>
                <a:tc>
                  <a:txBody>
                    <a:bodyPr wrap="square"/>
                    <a:lstStyle/>
                    <a:p>
                      <a:r>
                        <a:rPr sz="1104" b="0">
                          <a:solidFill>
                            <a:srgbClr val="00D4AA"/>
                          </a:solidFill>
                          <a:latin typeface="JetBrains Mono"/>
                        </a:rPr>
                        <a:t>atlas.ttft_ms</a:t>
                      </a:r>
                      <a:r>
                        <a:rPr sz="1200" b="0">
                          <a:solidFill>
                            <a:srgbClr val="FFFFFF"/>
                          </a:solidFill>
                          <a:latin typeface="Inter"/>
                        </a:rPr>
                        <a:t> p95, span p95 by type</a:t>
                      </a:r>
                    </a:p>
                  </a:txBody>
                  <a:tcPr marL="91440" marR="91440" marT="45720" marB="45720" anchor="ctr">
                    <a:solidFill>
                      <a:srgbClr val="1A2742"/>
                    </a:solidFill>
                  </a:tcPr>
                </a:tc>
              </a:tr>
              <a:tr h="384048">
                <a:tc>
                  <a:txBody>
                    <a:bodyPr wrap="square"/>
                    <a:lstStyle/>
                    <a:p>
                      <a:r>
                        <a:rPr sz="1200" b="1">
                          <a:solidFill>
                            <a:srgbClr val="FFFFFF"/>
                          </a:solidFill>
                          <a:latin typeface="Inter"/>
                        </a:rPr>
                        <a:t>Is it a change we made?</a:t>
                      </a:r>
                    </a:p>
                  </a:txBody>
                  <a:tcPr marL="91440" marR="91440" marT="45720" marB="45720" anchor="ctr">
                    <a:solidFill>
                      <a:srgbClr val="0F1E35"/>
                    </a:solidFill>
                  </a:tcPr>
                </a:tc>
                <a:tc>
                  <a:txBody>
                    <a:bodyPr wrap="square"/>
                    <a:lstStyle/>
                    <a:p>
                      <a:r>
                        <a:rPr sz="1200" b="0">
                          <a:solidFill>
                            <a:srgbClr val="FFFFFF"/>
                          </a:solidFill>
                          <a:latin typeface="Inter"/>
                        </a:rPr>
                        <a:t>Retrieval, Quality</a:t>
                      </a:r>
                    </a:p>
                  </a:txBody>
                  <a:tcPr marL="91440" marR="91440" marT="45720" marB="45720" anchor="ctr">
                    <a:solidFill>
                      <a:srgbClr val="0F1E35"/>
                    </a:solidFill>
                  </a:tcPr>
                </a:tc>
                <a:tc>
                  <a:txBody>
                    <a:bodyPr wrap="square"/>
                    <a:lstStyle/>
                    <a:p>
                      <a:r>
                        <a:rPr sz="1104" b="0">
                          <a:solidFill>
                            <a:srgbClr val="00D4AA"/>
                          </a:solidFill>
                          <a:latin typeface="JetBrains Mono"/>
                        </a:rPr>
                        <a:t>atlas.retrieval.top_k</a:t>
                      </a:r>
                      <a:r>
                        <a:rPr sz="1200" b="0">
                          <a:solidFill>
                            <a:srgbClr val="FFFFFF"/>
                          </a:solidFill>
                          <a:latin typeface="Inter"/>
                        </a:rPr>
                        <a:t>, </a:t>
                      </a:r>
                      <a:r>
                        <a:rPr sz="1104" b="0">
                          <a:solidFill>
                            <a:srgbClr val="00D4AA"/>
                          </a:solidFill>
                          <a:latin typeface="JetBrains Mono"/>
                        </a:rPr>
                        <a:t>atlas.prompt_version</a:t>
                      </a:r>
                    </a:p>
                  </a:txBody>
                  <a:tcPr marL="91440" marR="91440" marT="45720" marB="45720" anchor="ctr">
                    <a:solidFill>
                      <a:srgbClr val="0F1E35"/>
                    </a:solidFill>
                  </a:tcPr>
                </a:tc>
              </a:tr>
              <a:tr h="384048">
                <a:tc>
                  <a:txBody>
                    <a:bodyPr wrap="square"/>
                    <a:lstStyle/>
                    <a:p>
                      <a:r>
                        <a:rPr sz="1200" b="1">
                          <a:solidFill>
                            <a:srgbClr val="FFFFFF"/>
                          </a:solidFill>
                          <a:latin typeface="Inter"/>
                        </a:rPr>
                        <a:t>Is it quality?</a:t>
                      </a:r>
                    </a:p>
                  </a:txBody>
                  <a:tcPr marL="91440" marR="91440" marT="45720" marB="45720" anchor="ctr">
                    <a:solidFill>
                      <a:srgbClr val="1A2742"/>
                    </a:solidFill>
                  </a:tcPr>
                </a:tc>
                <a:tc>
                  <a:txBody>
                    <a:bodyPr wrap="square"/>
                    <a:lstStyle/>
                    <a:p>
                      <a:r>
                        <a:rPr sz="1200" b="0">
                          <a:solidFill>
                            <a:srgbClr val="FFFFFF"/>
                          </a:solidFill>
                          <a:latin typeface="Inter"/>
                        </a:rPr>
                        <a:t>Quality</a:t>
                      </a:r>
                    </a:p>
                  </a:txBody>
                  <a:tcPr marL="91440" marR="91440" marT="45720" marB="45720" anchor="ctr">
                    <a:solidFill>
                      <a:srgbClr val="1A2742"/>
                    </a:solidFill>
                  </a:tcPr>
                </a:tc>
                <a:tc>
                  <a:txBody>
                    <a:bodyPr wrap="square"/>
                    <a:lstStyle/>
                    <a:p>
                      <a:r>
                        <a:rPr sz="1200" b="0">
                          <a:solidFill>
                            <a:srgbClr val="FFFFFF"/>
                          </a:solidFill>
                          <a:latin typeface="Inter"/>
                        </a:rPr>
                        <a:t>judge scores by hour and by prompt version</a:t>
                      </a:r>
                    </a:p>
                  </a:txBody>
                  <a:tcPr marL="91440" marR="91440" marT="45720" marB="45720" anchor="ctr">
                    <a:solidFill>
                      <a:srgbClr val="1A2742"/>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incident template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Status line: what is broken, for whom, since when</a:t>
            </a:r>
          </a:p>
          <a:p>
            <a:pPr marL="292608" indent="-292608">
              <a:lnSpc>
                <a:spcPct val="120000"/>
              </a:lnSpc>
              <a:spcAft>
                <a:spcPts val="1260"/>
              </a:spcAft>
              <a:buClr>
                <a:srgbClr val="00D4AA"/>
              </a:buClr>
              <a:buFont typeface="Inter"/>
              <a:buChar char="•"/>
            </a:pPr>
            <a:r>
              <a:rPr sz="1800" b="0">
                <a:solidFill>
                  <a:srgbClr val="FFFFFF"/>
                </a:solidFill>
                <a:latin typeface="Inter"/>
              </a:rPr>
              <a:t>Timeline table: time, event, source</a:t>
            </a:r>
          </a:p>
          <a:p>
            <a:pPr marL="292608" indent="-292608">
              <a:lnSpc>
                <a:spcPct val="120000"/>
              </a:lnSpc>
              <a:spcAft>
                <a:spcPts val="1260"/>
              </a:spcAft>
              <a:buClr>
                <a:srgbClr val="00D4AA"/>
              </a:buClr>
              <a:buFont typeface="Inter"/>
              <a:buChar char="•"/>
            </a:pPr>
            <a:r>
              <a:rPr sz="1800" b="0">
                <a:solidFill>
                  <a:srgbClr val="FFFFFF"/>
                </a:solidFill>
                <a:latin typeface="Inter"/>
              </a:rPr>
              <a:t>Blast radius: affected / not affected</a:t>
            </a:r>
          </a:p>
          <a:p>
            <a:pPr marL="292608" indent="-292608">
              <a:lnSpc>
                <a:spcPct val="120000"/>
              </a:lnSpc>
              <a:spcAft>
                <a:spcPts val="1260"/>
              </a:spcAft>
              <a:buClr>
                <a:srgbClr val="00D4AA"/>
              </a:buClr>
              <a:buFont typeface="Inter"/>
              <a:buChar char="•"/>
            </a:pPr>
            <a:r>
              <a:rPr sz="1800" b="0">
                <a:solidFill>
                  <a:srgbClr val="FFFFFF"/>
                </a:solidFill>
                <a:latin typeface="Inter"/>
              </a:rPr>
              <a:t>Hypotheses: claim, prediction, status (open / confirmed / killed)</a:t>
            </a:r>
          </a:p>
          <a:p>
            <a:pPr marL="292608" indent="-292608">
              <a:lnSpc>
                <a:spcPct val="120000"/>
              </a:lnSpc>
              <a:spcAft>
                <a:spcPts val="1260"/>
              </a:spcAft>
              <a:buClr>
                <a:srgbClr val="00D4AA"/>
              </a:buClr>
              <a:buFont typeface="Inter"/>
              <a:buChar char="•"/>
            </a:pPr>
            <a:r>
              <a:rPr sz="1800" b="0">
                <a:solidFill>
                  <a:srgbClr val="FFFFFF"/>
                </a:solidFill>
                <a:latin typeface="Inter"/>
              </a:rPr>
              <a:t>Evidence: exhibit, where it lives, what it shows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incident template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Root cause, fix now, prevention later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the incident labs work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Each incident: </a:t>
            </a:r>
            <a:r>
              <a:rPr sz="1656" b="0">
                <a:solidFill>
                  <a:srgbClr val="00D4AA"/>
                </a:solidFill>
                <a:latin typeface="JetBrains Mono"/>
              </a:rPr>
              <a:t>brief.md</a:t>
            </a:r>
            <a:r>
              <a:rPr sz="1800" b="0">
                <a:solidFill>
                  <a:srgbClr val="FFFFFF"/>
                </a:solidFill>
                <a:latin typeface="Inter"/>
              </a:rPr>
              <a:t>, </a:t>
            </a:r>
            <a:r>
              <a:rPr sz="1656" b="0">
                <a:solidFill>
                  <a:srgbClr val="00D4AA"/>
                </a:solidFill>
                <a:latin typeface="JetBrains Mono"/>
              </a:rPr>
              <a:t>spans.jsonl</a:t>
            </a:r>
            <a:r>
              <a:rPr sz="1800" b="0">
                <a:solidFill>
                  <a:srgbClr val="FFFFFF"/>
                </a:solidFill>
                <a:latin typeface="Inter"/>
              </a:rPr>
              <a:t>, </a:t>
            </a:r>
            <a:r>
              <a:rPr sz="1656" b="0">
                <a:solidFill>
                  <a:srgbClr val="00D4AA"/>
                </a:solidFill>
                <a:latin typeface="JetBrains Mono"/>
              </a:rPr>
              <a:t>scores.jsonl</a:t>
            </a:r>
            <a:r>
              <a:rPr sz="1800" b="0">
                <a:solidFill>
                  <a:srgbClr val="FFFFFF"/>
                </a:solidFill>
                <a:latin typeface="Inter"/>
              </a:rPr>
              <a:t>, </a:t>
            </a:r>
            <a:r>
              <a:rPr sz="1656" b="0">
                <a:solidFill>
                  <a:srgbClr val="00D4AA"/>
                </a:solidFill>
                <a:latin typeface="JetBrains Mono"/>
              </a:rPr>
              <a:t>solution.md</a:t>
            </a:r>
          </a:p>
          <a:p>
            <a:pPr marL="292608" indent="-292608">
              <a:lnSpc>
                <a:spcPct val="120000"/>
              </a:lnSpc>
              <a:spcAft>
                <a:spcPts val="1260"/>
              </a:spcAft>
              <a:buClr>
                <a:srgbClr val="00D4AA"/>
              </a:buClr>
              <a:buFont typeface="Inter"/>
              <a:buChar char="•"/>
            </a:pPr>
            <a:r>
              <a:rPr sz="1800" b="0">
                <a:solidFill>
                  <a:srgbClr val="FFFFFF"/>
                </a:solidFill>
                <a:latin typeface="Inter"/>
              </a:rPr>
              <a:t>Part A: the brief and six exhibits, then an eight-minute pause</a:t>
            </a:r>
          </a:p>
          <a:p>
            <a:pPr marL="292608" indent="-292608">
              <a:lnSpc>
                <a:spcPct val="120000"/>
              </a:lnSpc>
              <a:spcAft>
                <a:spcPts val="1260"/>
              </a:spcAft>
              <a:buClr>
                <a:srgbClr val="00D4AA"/>
              </a:buClr>
              <a:buFont typeface="Inter"/>
              <a:buChar char="•"/>
            </a:pPr>
            <a:r>
              <a:rPr sz="1800" b="0">
                <a:solidFill>
                  <a:srgbClr val="FFFFFF"/>
                </a:solidFill>
                <a:latin typeface="Inter"/>
              </a:rPr>
              <a:t>Part B: the evidence walked to root cause, fix and prevention</a:t>
            </a:r>
          </a:p>
          <a:p>
            <a:pPr marL="292608" indent="-292608">
              <a:lnSpc>
                <a:spcPct val="120000"/>
              </a:lnSpc>
              <a:spcAft>
                <a:spcPts val="1260"/>
              </a:spcAft>
              <a:buClr>
                <a:srgbClr val="00D4AA"/>
              </a:buClr>
              <a:buFont typeface="Inter"/>
              <a:buChar char="•"/>
            </a:pPr>
            <a:r>
              <a:rPr sz="1800" b="0">
                <a:solidFill>
                  <a:srgbClr val="FFFFFF"/>
                </a:solidFill>
                <a:latin typeface="Inter"/>
              </a:rPr>
              <a:t>Rule: do not open </a:t>
            </a:r>
            <a:r>
              <a:rPr sz="1656" b="0">
                <a:solidFill>
                  <a:srgbClr val="00D4AA"/>
                </a:solidFill>
                <a:latin typeface="JetBrains Mono"/>
              </a:rPr>
              <a:t>solution.md</a:t>
            </a:r>
            <a:r>
              <a:rPr sz="1800" b="0">
                <a:solidFill>
                  <a:srgbClr val="FFFFFF"/>
                </a:solidFill>
                <a:latin typeface="Inter"/>
              </a:rPr>
              <a:t> until Part 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Timeline, blast radius, hypotheses, evidence: in that order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Use the page map to look first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Write exhibits someone else can open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Incident 1: Monday's cost spike (Part A and Part B)</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Incident 1: one department's spend has broken away from the others, and you have eight minutes 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INCIDENT LABS: YOU ARE ON CALL</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Incident 1: Monday's cost spike (Part A and Part B)</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Find the root cause of a tenant cost spike from cost curves, token counts, retry counts and one trace waterfall, without reading…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On-call brief, Incident 1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Paged 11:40 Monday 2026-09-14 by the cost-anomaly rule; tenant </a:t>
            </a:r>
            <a:r>
              <a:rPr sz="1656" b="0">
                <a:solidFill>
                  <a:srgbClr val="00D4AA"/>
                </a:solidFill>
                <a:latin typeface="JetBrains Mono"/>
              </a:rPr>
              <a:t>ops</a:t>
            </a:r>
          </a:p>
          <a:p>
            <a:pPr marL="292608" indent="-292608">
              <a:lnSpc>
                <a:spcPct val="120000"/>
              </a:lnSpc>
              <a:spcAft>
                <a:spcPts val="1260"/>
              </a:spcAft>
              <a:buClr>
                <a:srgbClr val="00D4AA"/>
              </a:buClr>
              <a:buFont typeface="Inter"/>
              <a:buChar char="•"/>
            </a:pPr>
            <a:r>
              <a:rPr sz="1800" b="0">
                <a:solidFill>
                  <a:srgbClr val="FFFFFF"/>
                </a:solidFill>
                <a:latin typeface="Inter"/>
              </a:rPr>
              <a:t>Other three tenants: flat</a:t>
            </a:r>
          </a:p>
          <a:p>
            <a:pPr marL="292608" indent="-292608">
              <a:lnSpc>
                <a:spcPct val="120000"/>
              </a:lnSpc>
              <a:spcAft>
                <a:spcPts val="1260"/>
              </a:spcAft>
              <a:buClr>
                <a:srgbClr val="00D4AA"/>
              </a:buClr>
              <a:buFont typeface="Inter"/>
              <a:buChar char="•"/>
            </a:pPr>
            <a:r>
              <a:rPr sz="1656" b="0">
                <a:solidFill>
                  <a:srgbClr val="00D4AA"/>
                </a:solidFill>
                <a:latin typeface="JetBrains Mono"/>
              </a:rPr>
              <a:t>atlas_llm_retries_total{reason="APITimeoutError"}</a:t>
            </a:r>
            <a:r>
              <a:rPr sz="1800" b="0">
                <a:solidFill>
                  <a:srgbClr val="FFFFFF"/>
                </a:solidFill>
                <a:latin typeface="Inter"/>
              </a:rPr>
              <a:t> climbing since 10:00</a:t>
            </a:r>
          </a:p>
          <a:p>
            <a:pPr marL="292608" indent="-292608">
              <a:lnSpc>
                <a:spcPct val="120000"/>
              </a:lnSpc>
              <a:spcAft>
                <a:spcPts val="1260"/>
              </a:spcAft>
              <a:buClr>
                <a:srgbClr val="00D4AA"/>
              </a:buClr>
              <a:buFont typeface="Inter"/>
              <a:buChar char="•"/>
            </a:pPr>
            <a:r>
              <a:rPr sz="1800" b="0">
                <a:solidFill>
                  <a:srgbClr val="FFFFFF"/>
                </a:solidFill>
                <a:latin typeface="Inter"/>
              </a:rPr>
              <a:t>No 5xx; </a:t>
            </a:r>
            <a:r>
              <a:rPr sz="1656" b="0">
                <a:solidFill>
                  <a:srgbClr val="00D4AA"/>
                </a:solidFill>
                <a:latin typeface="JetBrains Mono"/>
              </a:rPr>
              <a:t>/healthz</a:t>
            </a:r>
            <a:r>
              <a:rPr sz="1800" b="0">
                <a:solidFill>
                  <a:srgbClr val="FFFFFF"/>
                </a:solidFill>
                <a:latin typeface="Inter"/>
              </a:rPr>
              <a:t> green; some requests took over a minute</a:t>
            </a:r>
          </a:p>
          <a:p>
            <a:pPr marL="292608" indent="-292608">
              <a:lnSpc>
                <a:spcPct val="120000"/>
              </a:lnSpc>
              <a:spcAft>
                <a:spcPts val="1260"/>
              </a:spcAft>
              <a:buClr>
                <a:srgbClr val="00D4AA"/>
              </a:buClr>
              <a:buFont typeface="Inter"/>
              <a:buChar char="•"/>
            </a:pPr>
            <a:r>
              <a:rPr sz="1800" b="0">
                <a:solidFill>
                  <a:srgbClr val="FFFFFF"/>
                </a:solidFill>
                <a:latin typeface="Inter"/>
              </a:rPr>
              <a:t>Deploy at 08:55: "retrieval recall improvements" (PR #412)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On-call brief, Incident 1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Dataset: </a:t>
            </a:r>
            <a:r>
              <a:rPr sz="2024" b="0">
                <a:solidFill>
                  <a:srgbClr val="00D4AA"/>
                </a:solidFill>
                <a:latin typeface="JetBrains Mono"/>
              </a:rPr>
              <a:t>incidents/incident-01-cost-spike/</a:t>
            </a:r>
            <a:r>
              <a:rPr sz="2200" b="0">
                <a:solidFill>
                  <a:srgbClr val="FFFFFF"/>
                </a:solidFill>
                <a:latin typeface="Inter"/>
              </a:rPr>
              <a:t>, 300 sessions, seed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eight minutes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Fill in </a:t>
            </a:r>
            <a:r>
              <a:rPr sz="1656" b="0">
                <a:solidFill>
                  <a:srgbClr val="00D4AA"/>
                </a:solidFill>
                <a:latin typeface="JetBrains Mono"/>
              </a:rPr>
              <a:t>10-resources/incident-template.md</a:t>
            </a:r>
          </a:p>
          <a:p>
            <a:pPr marL="292608" indent="-292608">
              <a:lnSpc>
                <a:spcPct val="120000"/>
              </a:lnSpc>
              <a:spcAft>
                <a:spcPts val="1260"/>
              </a:spcAft>
              <a:buClr>
                <a:srgbClr val="00D4AA"/>
              </a:buClr>
              <a:buFont typeface="Inter"/>
              <a:buChar char="•"/>
            </a:pPr>
            <a:r>
              <a:rPr sz="1800" b="0">
                <a:solidFill>
                  <a:srgbClr val="FFFFFF"/>
                </a:solidFill>
                <a:latin typeface="Inter"/>
              </a:rPr>
              <a:t>Timeline: two bends, at 09:00 and 10:00. What changed at each?</a:t>
            </a:r>
          </a:p>
          <a:p>
            <a:pPr marL="292608" indent="-292608">
              <a:lnSpc>
                <a:spcPct val="120000"/>
              </a:lnSpc>
              <a:spcAft>
                <a:spcPts val="1260"/>
              </a:spcAft>
              <a:buClr>
                <a:srgbClr val="00D4AA"/>
              </a:buClr>
              <a:buFont typeface="Inter"/>
              <a:buChar char="•"/>
            </a:pPr>
            <a:r>
              <a:rPr sz="1800" b="0">
                <a:solidFill>
                  <a:srgbClr val="FFFFFF"/>
                </a:solidFill>
                <a:latin typeface="Inter"/>
              </a:rPr>
              <a:t>Blast radius: one tenant. What was done only to that tenant?</a:t>
            </a:r>
          </a:p>
          <a:p>
            <a:pPr marL="292608" indent="-292608">
              <a:lnSpc>
                <a:spcPct val="120000"/>
              </a:lnSpc>
              <a:spcAft>
                <a:spcPts val="1260"/>
              </a:spcAft>
              <a:buClr>
                <a:srgbClr val="00D4AA"/>
              </a:buClr>
              <a:buFont typeface="Inter"/>
              <a:buChar char="•"/>
            </a:pPr>
            <a:r>
              <a:rPr sz="1800" b="0">
                <a:solidFill>
                  <a:srgbClr val="FFFFFF"/>
                </a:solidFill>
                <a:latin typeface="Inter"/>
              </a:rPr>
              <a:t>Two hypotheses with predictions; kill the ones the exhibits kill</a:t>
            </a:r>
          </a:p>
          <a:p>
            <a:pPr marL="292608" indent="-292608">
              <a:lnSpc>
                <a:spcPct val="120000"/>
              </a:lnSpc>
              <a:spcAft>
                <a:spcPts val="1260"/>
              </a:spcAft>
              <a:buClr>
                <a:srgbClr val="00D4AA"/>
              </a:buClr>
              <a:buFont typeface="Inter"/>
              <a:buChar char="•"/>
            </a:pPr>
            <a:r>
              <a:rPr sz="1800" b="0">
                <a:solidFill>
                  <a:srgbClr val="FFFFFF"/>
                </a:solidFill>
                <a:latin typeface="Inter"/>
              </a:rPr>
              <a:t>Root cause in one sentence, and one fix you would ship before lunch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eight minutes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Do not open </a:t>
            </a:r>
            <a:r>
              <a:rPr sz="2024" b="0">
                <a:solidFill>
                  <a:srgbClr val="00D4AA"/>
                </a:solidFill>
                <a:latin typeface="JetBrains Mono"/>
              </a:rPr>
              <a:t>solution.md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session, $0.103</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Three turns, 268,815 input tokens billed</a:t>
            </a:r>
          </a:p>
          <a:p>
            <a:pPr marL="292608" indent="-292608">
              <a:lnSpc>
                <a:spcPct val="120000"/>
              </a:lnSpc>
              <a:spcAft>
                <a:spcPts val="1539"/>
              </a:spcAft>
              <a:buClr>
                <a:srgbClr val="00D4AA"/>
              </a:buClr>
              <a:buFont typeface="Inter"/>
              <a:buChar char="•"/>
            </a:pPr>
            <a:r>
              <a:rPr sz="2200" b="0">
                <a:solidFill>
                  <a:srgbClr val="FFFFFF"/>
                </a:solidFill>
                <a:latin typeface="Inter"/>
              </a:rPr>
              <a:t>Six successful calls: $0.033</a:t>
            </a:r>
          </a:p>
          <a:p>
            <a:pPr marL="292608" indent="-292608">
              <a:lnSpc>
                <a:spcPct val="120000"/>
              </a:lnSpc>
              <a:spcAft>
                <a:spcPts val="1539"/>
              </a:spcAft>
              <a:buClr>
                <a:srgbClr val="00D4AA"/>
              </a:buClr>
              <a:buFont typeface="Inter"/>
              <a:buChar char="•"/>
            </a:pPr>
            <a:r>
              <a:rPr sz="2200" b="0">
                <a:solidFill>
                  <a:srgbClr val="FFFFFF"/>
                </a:solidFill>
                <a:latin typeface="Inter"/>
              </a:rPr>
              <a:t>Twelve timed-out attempts: $0.070, 68% of the bill</a:t>
            </a:r>
          </a:p>
          <a:p>
            <a:pPr marL="292608" indent="-292608">
              <a:lnSpc>
                <a:spcPct val="120000"/>
              </a:lnSpc>
              <a:spcAft>
                <a:spcPts val="1539"/>
              </a:spcAft>
              <a:buClr>
                <a:srgbClr val="00D4AA"/>
              </a:buClr>
              <a:buFont typeface="Inter"/>
              <a:buChar char="•"/>
            </a:pPr>
            <a:r>
              <a:rPr sz="2200" b="0">
                <a:solidFill>
                  <a:srgbClr val="FFFFFF"/>
                </a:solidFill>
                <a:latin typeface="Inter"/>
              </a:rPr>
              <a:t>A normal ops session at 08:00: $0.0035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Hypotheses and verdicts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194560"/>
        </p:xfrm>
        <a:graphic>
          <a:graphicData uri="http://schemas.openxmlformats.org/drawingml/2006/table">
            <a:tbl>
              <a:tblPr firstRow="1" bandRow="1">
                <a:tableStyleId>{5C22544A-7EE6-4342-B048-85BDC9FD1C3A}</a:tableStyleId>
              </a:tblPr>
              <a:tblGrid>
                <a:gridCol w="2606039"/>
                <a:gridCol w="4451984"/>
                <a:gridCol w="760095"/>
                <a:gridCol w="3474720"/>
              </a:tblGrid>
              <a:tr h="438912">
                <a:tc>
                  <a:txBody>
                    <a:bodyPr wrap="square"/>
                    <a:lstStyle/>
                    <a:p>
                      <a:r>
                        <a:rPr sz="1400" b="1">
                          <a:solidFill>
                            <a:srgbClr val="0A1628"/>
                          </a:solidFill>
                          <a:latin typeface="Inter"/>
                        </a:rPr>
                        <a:t>Hypothesis</a:t>
                      </a:r>
                    </a:p>
                  </a:txBody>
                  <a:tcPr marL="91440" marR="91440" marT="45720" marB="45720" anchor="ctr">
                    <a:solidFill>
                      <a:srgbClr val="00D4AA"/>
                    </a:solidFill>
                  </a:tcPr>
                </a:tc>
                <a:tc>
                  <a:txBody>
                    <a:bodyPr wrap="square"/>
                    <a:lstStyle/>
                    <a:p>
                      <a:r>
                        <a:rPr sz="1400" b="1">
                          <a:solidFill>
                            <a:srgbClr val="0A1628"/>
                          </a:solidFill>
                          <a:latin typeface="Inter"/>
                        </a:rPr>
                        <a:t>Prediction</a:t>
                      </a:r>
                    </a:p>
                  </a:txBody>
                  <a:tcPr marL="91440" marR="91440" marT="45720" marB="45720" anchor="ctr">
                    <a:solidFill>
                      <a:srgbClr val="00D4AA"/>
                    </a:solidFill>
                  </a:tcPr>
                </a:tc>
                <a:tc>
                  <a:txBody>
                    <a:bodyPr wrap="square"/>
                    <a:lstStyle/>
                    <a:p>
                      <a:r>
                        <a:rPr sz="1400" b="1">
                          <a:solidFill>
                            <a:srgbClr val="0A1628"/>
                          </a:solidFill>
                          <a:latin typeface="Inter"/>
                        </a:rPr>
                        <a:t>Exhibit</a:t>
                      </a:r>
                    </a:p>
                  </a:txBody>
                  <a:tcPr marL="91440" marR="91440" marT="45720" marB="45720" anchor="ctr">
                    <a:solidFill>
                      <a:srgbClr val="00D4AA"/>
                    </a:solidFill>
                  </a:tcPr>
                </a:tc>
                <a:tc>
                  <a:txBody>
                    <a:bodyPr wrap="square"/>
                    <a:lstStyle/>
                    <a:p>
                      <a:r>
                        <a:rPr sz="1400" b="1">
                          <a:solidFill>
                            <a:srgbClr val="0A1628"/>
                          </a:solidFill>
                          <a:latin typeface="Inter"/>
                        </a:rPr>
                        <a:t>Verdict</a:t>
                      </a:r>
                    </a:p>
                  </a:txBody>
                  <a:tcPr marL="91440" marR="91440" marT="45720" marB="45720" anchor="ctr">
                    <a:solidFill>
                      <a:srgbClr val="00D4AA"/>
                    </a:solidFill>
                  </a:tcPr>
                </a:tc>
              </a:tr>
              <a:tr h="438912">
                <a:tc>
                  <a:txBody>
                    <a:bodyPr wrap="square"/>
                    <a:lstStyle/>
                    <a:p>
                      <a:r>
                        <a:rPr sz="1400" b="1">
                          <a:solidFill>
                            <a:srgbClr val="FFFFFF"/>
                          </a:solidFill>
                          <a:latin typeface="Inter"/>
                        </a:rPr>
                        <a:t>Traffic spike</a:t>
                      </a:r>
                    </a:p>
                  </a:txBody>
                  <a:tcPr marL="91440" marR="91440" marT="45720" marB="45720" anchor="ctr">
                    <a:solidFill>
                      <a:srgbClr val="1A2742"/>
                    </a:solidFill>
                  </a:tcPr>
                </a:tc>
                <a:tc>
                  <a:txBody>
                    <a:bodyPr wrap="square"/>
                    <a:lstStyle/>
                    <a:p>
                      <a:r>
                        <a:rPr sz="1400" b="0">
                          <a:solidFill>
                            <a:srgbClr val="FFFFFF"/>
                          </a:solidFill>
                          <a:latin typeface="Inter"/>
                        </a:rPr>
                        <a:t>ops requests well above the shadow</a:t>
                      </a:r>
                    </a:p>
                  </a:txBody>
                  <a:tcPr marL="91440" marR="91440" marT="45720" marB="45720" anchor="ctr">
                    <a:solidFill>
                      <a:srgbClr val="1A2742"/>
                    </a:solidFill>
                  </a:tcPr>
                </a:tc>
                <a:tc>
                  <a:txBody>
                    <a:bodyPr wrap="square"/>
                    <a:lstStyle/>
                    <a:p>
                      <a:r>
                        <a:rPr sz="1400" b="0">
                          <a:solidFill>
                            <a:srgbClr val="FFFFFF"/>
                          </a:solidFill>
                          <a:latin typeface="Inter"/>
                        </a:rPr>
                        <a:t>2</a:t>
                      </a:r>
                    </a:p>
                  </a:txBody>
                  <a:tcPr marL="91440" marR="91440" marT="45720" marB="45720" anchor="ctr">
                    <a:solidFill>
                      <a:srgbClr val="1A2742"/>
                    </a:solidFill>
                  </a:tcPr>
                </a:tc>
                <a:tc>
                  <a:txBody>
                    <a:bodyPr wrap="square"/>
                    <a:lstStyle/>
                    <a:p>
                      <a:r>
                        <a:rPr sz="1400" b="0">
                          <a:solidFill>
                            <a:srgbClr val="FFFFFF"/>
                          </a:solidFill>
                          <a:latin typeface="Inter"/>
                        </a:rPr>
                        <a:t>Killed: 115 vs 118</a:t>
                      </a:r>
                    </a:p>
                  </a:txBody>
                  <a:tcPr marL="91440" marR="91440" marT="45720" marB="45720" anchor="ctr">
                    <a:solidFill>
                      <a:srgbClr val="1A2742"/>
                    </a:solidFill>
                  </a:tcPr>
                </a:tc>
              </a:tr>
              <a:tr h="438912">
                <a:tc>
                  <a:txBody>
                    <a:bodyPr wrap="square"/>
                    <a:lstStyle/>
                    <a:p>
                      <a:r>
                        <a:rPr sz="1400" b="1">
                          <a:solidFill>
                            <a:srgbClr val="FFFFFF"/>
                          </a:solidFill>
                          <a:latin typeface="Inter"/>
                        </a:rPr>
                        <a:t>Failing tool, retry loop</a:t>
                      </a:r>
                    </a:p>
                  </a:txBody>
                  <a:tcPr marL="91440" marR="91440" marT="45720" marB="45720" anchor="ctr">
                    <a:solidFill>
                      <a:srgbClr val="0F1E35"/>
                    </a:solidFill>
                  </a:tcPr>
                </a:tc>
                <a:tc>
                  <a:txBody>
                    <a:bodyPr wrap="square"/>
                    <a:lstStyle/>
                    <a:p>
                      <a:r>
                        <a:rPr sz="1400" b="0">
                          <a:solidFill>
                            <a:srgbClr val="FFFFFF"/>
                          </a:solidFill>
                          <a:latin typeface="Inter"/>
                        </a:rPr>
                        <a:t>tool error share up</a:t>
                      </a:r>
                    </a:p>
                  </a:txBody>
                  <a:tcPr marL="91440" marR="91440" marT="45720" marB="45720" anchor="ctr">
                    <a:solidFill>
                      <a:srgbClr val="0F1E35"/>
                    </a:solidFill>
                  </a:tcPr>
                </a:tc>
                <a:tc>
                  <a:txBody>
                    <a:bodyPr wrap="square"/>
                    <a:lstStyle/>
                    <a:p>
                      <a:r>
                        <a:rPr sz="1400" b="0">
                          <a:solidFill>
                            <a:srgbClr val="FFFFFF"/>
                          </a:solidFill>
                          <a:latin typeface="Inter"/>
                        </a:rPr>
                        <a:t>4</a:t>
                      </a:r>
                    </a:p>
                  </a:txBody>
                  <a:tcPr marL="91440" marR="91440" marT="45720" marB="45720" anchor="ctr">
                    <a:solidFill>
                      <a:srgbClr val="0F1E35"/>
                    </a:solidFill>
                  </a:tcPr>
                </a:tc>
                <a:tc>
                  <a:txBody>
                    <a:bodyPr wrap="square"/>
                    <a:lstStyle/>
                    <a:p>
                      <a:r>
                        <a:rPr sz="1400" b="0">
                          <a:solidFill>
                            <a:srgbClr val="FFFFFF"/>
                          </a:solidFill>
                          <a:latin typeface="Inter"/>
                        </a:rPr>
                        <a:t>Killed: zero tool errors</a:t>
                      </a:r>
                    </a:p>
                  </a:txBody>
                  <a:tcPr marL="91440" marR="91440" marT="45720" marB="45720" anchor="ctr">
                    <a:solidFill>
                      <a:srgbClr val="0F1E35"/>
                    </a:solidFill>
                  </a:tcPr>
                </a:tc>
              </a:tr>
              <a:tr h="438912">
                <a:tc>
                  <a:txBody>
                    <a:bodyPr wrap="square"/>
                    <a:lstStyle/>
                    <a:p>
                      <a:r>
                        <a:rPr sz="1400" b="1">
                          <a:solidFill>
                            <a:srgbClr val="FFFFFF"/>
                          </a:solidFill>
                          <a:latin typeface="Inter"/>
                        </a:rPr>
                        <a:t>Provider timeouts</a:t>
                      </a:r>
                    </a:p>
                  </a:txBody>
                  <a:tcPr marL="91440" marR="91440" marT="45720" marB="45720" anchor="ctr">
                    <a:solidFill>
                      <a:srgbClr val="1A2742"/>
                    </a:solidFill>
                  </a:tcPr>
                </a:tc>
                <a:tc>
                  <a:txBody>
                    <a:bodyPr wrap="square"/>
                    <a:lstStyle/>
                    <a:p>
                      <a:r>
                        <a:rPr sz="1400" b="0">
                          <a:solidFill>
                            <a:srgbClr val="FFFFFF"/>
                          </a:solidFill>
                          <a:latin typeface="Inter"/>
                        </a:rPr>
                        <a:t>failed attempts from 10:00</a:t>
                      </a:r>
                    </a:p>
                  </a:txBody>
                  <a:tcPr marL="91440" marR="91440" marT="45720" marB="45720" anchor="ctr">
                    <a:solidFill>
                      <a:srgbClr val="1A2742"/>
                    </a:solidFill>
                  </a:tcPr>
                </a:tc>
                <a:tc>
                  <a:txBody>
                    <a:bodyPr wrap="square"/>
                    <a:lstStyle/>
                    <a:p>
                      <a:r>
                        <a:rPr sz="1400" b="0">
                          <a:solidFill>
                            <a:srgbClr val="FFFFFF"/>
                          </a:solidFill>
                          <a:latin typeface="Inter"/>
                        </a:rPr>
                        <a:t>4, 6</a:t>
                      </a:r>
                    </a:p>
                  </a:txBody>
                  <a:tcPr marL="91440" marR="91440" marT="45720" marB="45720" anchor="ctr">
                    <a:solidFill>
                      <a:srgbClr val="1A2742"/>
                    </a:solidFill>
                  </a:tcPr>
                </a:tc>
                <a:tc>
                  <a:txBody>
                    <a:bodyPr wrap="square"/>
                    <a:lstStyle/>
                    <a:p>
                      <a:r>
                        <a:rPr sz="1400" b="0">
                          <a:solidFill>
                            <a:srgbClr val="FFFFFF"/>
                          </a:solidFill>
                          <a:latin typeface="Inter"/>
                        </a:rPr>
                        <a:t>Confirmed: the trigger, ops only</a:t>
                      </a:r>
                    </a:p>
                  </a:txBody>
                  <a:tcPr marL="91440" marR="91440" marT="45720" marB="45720" anchor="ctr">
                    <a:solidFill>
                      <a:srgbClr val="1A2742"/>
                    </a:solidFill>
                  </a:tcPr>
                </a:tc>
              </a:tr>
              <a:tr h="438912">
                <a:tc>
                  <a:txBody>
                    <a:bodyPr wrap="square"/>
                    <a:lstStyle/>
                    <a:p>
                      <a:r>
                        <a:rPr sz="1400" b="1">
                          <a:solidFill>
                            <a:srgbClr val="FFFFFF"/>
                          </a:solidFill>
                          <a:latin typeface="Inter"/>
                        </a:rPr>
                        <a:t>Bigger prompts</a:t>
                      </a:r>
                    </a:p>
                  </a:txBody>
                  <a:tcPr marL="91440" marR="91440" marT="45720" marB="45720" anchor="ctr">
                    <a:solidFill>
                      <a:srgbClr val="0F1E35"/>
                    </a:solidFill>
                  </a:tcPr>
                </a:tc>
                <a:tc>
                  <a:txBody>
                    <a:bodyPr wrap="square"/>
                    <a:lstStyle/>
                    <a:p>
                      <a:r>
                        <a:rPr sz="1400" b="0">
                          <a:solidFill>
                            <a:srgbClr val="FFFFFF"/>
                          </a:solidFill>
                          <a:latin typeface="Inter"/>
                        </a:rPr>
                        <a:t>input tokens per generation up from 09:00</a:t>
                      </a:r>
                    </a:p>
                  </a:txBody>
                  <a:tcPr marL="91440" marR="91440" marT="45720" marB="45720" anchor="ctr">
                    <a:solidFill>
                      <a:srgbClr val="0F1E35"/>
                    </a:solidFill>
                  </a:tcPr>
                </a:tc>
                <a:tc>
                  <a:txBody>
                    <a:bodyPr wrap="square"/>
                    <a:lstStyle/>
                    <a:p>
                      <a:r>
                        <a:rPr sz="1400" b="0">
                          <a:solidFill>
                            <a:srgbClr val="FFFFFF"/>
                          </a:solidFill>
                          <a:latin typeface="Inter"/>
                        </a:rPr>
                        <a:t>3, 5, 6</a:t>
                      </a:r>
                    </a:p>
                  </a:txBody>
                  <a:tcPr marL="91440" marR="91440" marT="45720" marB="45720" anchor="ctr">
                    <a:solidFill>
                      <a:srgbClr val="0F1E35"/>
                    </a:solidFill>
                  </a:tcPr>
                </a:tc>
                <a:tc>
                  <a:txBody>
                    <a:bodyPr wrap="square"/>
                    <a:lstStyle/>
                    <a:p>
                      <a:r>
                        <a:rPr sz="1400" b="0">
                          <a:solidFill>
                            <a:srgbClr val="FFFFFF"/>
                          </a:solidFill>
                          <a:latin typeface="Inter"/>
                        </a:rPr>
                        <a:t>Confirmed: the cause</a:t>
                      </a:r>
                    </a:p>
                  </a:txBody>
                  <a:tcPr marL="91440" marR="91440" marT="45720" marB="45720" anchor="ctr">
                    <a:solidFill>
                      <a:srgbClr val="0F1E3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Root cause, one sentence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607040" cy="4892040"/>
          </a:xfrm>
          <a:prstGeom prst="rect">
            <a:avLst/>
          </a:prstGeom>
          <a:noFill/>
        </p:spPr>
        <p:txBody>
          <a:bodyPr wrap="square" lIns="45720" rIns="45720" tIns="27432" bIns="27432" anchor="t">
            <a:spAutoFit/>
          </a:bodyPr>
          <a:lstStyle/>
          <a:p>
            <a:pPr>
              <a:spcAft>
                <a:spcPts val="600"/>
              </a:spcAft>
            </a:pPr>
            <a:r>
              <a:rPr sz="1500" b="0">
                <a:solidFill>
                  <a:srgbClr val="CBD5E1"/>
                </a:solidFill>
                <a:latin typeface="Inter"/>
              </a:rPr>
              <a:t>PR #412, deployed at 08:55, switched the context diet off and raised retrieval top-k for ops, so from 09:00 ops prompts carried whole articles and untrimmed history; from 10:00 provider timeouts made Atlas send those prompts up to three times, billing input tokens on every failed attempt.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fix this week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Now: </a:t>
            </a:r>
            <a:r>
              <a:rPr sz="1656" b="0">
                <a:solidFill>
                  <a:srgbClr val="00D4AA"/>
                </a:solidFill>
                <a:latin typeface="JetBrains Mono"/>
              </a:rPr>
              <a:t>ATLAS_TOP_K=4</a:t>
            </a:r>
            <a:r>
              <a:rPr sz="1800" b="0">
                <a:solidFill>
                  <a:srgbClr val="FFFFFF"/>
                </a:solidFill>
                <a:latin typeface="Inter"/>
              </a:rPr>
              <a:t>, </a:t>
            </a:r>
            <a:r>
              <a:rPr sz="1656" b="0">
                <a:solidFill>
                  <a:srgbClr val="00D4AA"/>
                </a:solidFill>
                <a:latin typeface="JetBrains Mono"/>
              </a:rPr>
              <a:t>KB_MIN_SCORE=0.5</a:t>
            </a:r>
            <a:r>
              <a:rPr sz="1800" b="0">
                <a:solidFill>
                  <a:srgbClr val="FFFFFF"/>
                </a:solidFill>
                <a:latin typeface="Inter"/>
              </a:rPr>
              <a:t>, </a:t>
            </a:r>
            <a:r>
              <a:rPr sz="1656" b="0">
                <a:solidFill>
                  <a:srgbClr val="00D4AA"/>
                </a:solidFill>
                <a:latin typeface="JetBrains Mono"/>
              </a:rPr>
              <a:t>ATLAS_CONTEXT_DIET=1</a:t>
            </a:r>
          </a:p>
          <a:p>
            <a:pPr marL="292608" indent="-292608">
              <a:lnSpc>
                <a:spcPct val="120000"/>
              </a:lnSpc>
              <a:spcAft>
                <a:spcPts val="1260"/>
              </a:spcAft>
              <a:buClr>
                <a:srgbClr val="00D4AA"/>
              </a:buClr>
              <a:buFont typeface="Inter"/>
              <a:buChar char="•"/>
            </a:pPr>
            <a:r>
              <a:rPr sz="1800" b="0">
                <a:solidFill>
                  <a:srgbClr val="FFFFFF"/>
                </a:solidFill>
                <a:latin typeface="Inter"/>
              </a:rPr>
              <a:t>No per-tenant path that switches the diet off</a:t>
            </a:r>
          </a:p>
          <a:p>
            <a:pPr marL="292608" indent="-292608">
              <a:lnSpc>
                <a:spcPct val="120000"/>
              </a:lnSpc>
              <a:spcAft>
                <a:spcPts val="1260"/>
              </a:spcAft>
              <a:buClr>
                <a:srgbClr val="00D4AA"/>
              </a:buClr>
              <a:buFont typeface="Inter"/>
              <a:buChar char="•"/>
            </a:pPr>
            <a:r>
              <a:rPr sz="1800" b="0">
                <a:solidFill>
                  <a:srgbClr val="FFFFFF"/>
                </a:solidFill>
                <a:latin typeface="Inter"/>
              </a:rPr>
              <a:t>Breaker: three consecutive failures; a success resets it</a:t>
            </a:r>
          </a:p>
          <a:p>
            <a:pPr marL="292608" indent="-292608">
              <a:lnSpc>
                <a:spcPct val="120000"/>
              </a:lnSpc>
              <a:spcAft>
                <a:spcPts val="1260"/>
              </a:spcAft>
              <a:buClr>
                <a:srgbClr val="00D4AA"/>
              </a:buClr>
              <a:buFont typeface="Inter"/>
              <a:buChar char="•"/>
            </a:pPr>
            <a:r>
              <a:rPr sz="1800" b="0">
                <a:solidFill>
                  <a:srgbClr val="FFFFFF"/>
                </a:solidFill>
                <a:latin typeface="Inter"/>
              </a:rPr>
              <a:t>Action: count failures over a window, not in a row</a:t>
            </a:r>
          </a:p>
          <a:p>
            <a:pPr marL="292608" indent="-292608">
              <a:lnSpc>
                <a:spcPct val="120000"/>
              </a:lnSpc>
              <a:spcAft>
                <a:spcPts val="1260"/>
              </a:spcAft>
              <a:buClr>
                <a:srgbClr val="00D4AA"/>
              </a:buClr>
              <a:buFont typeface="Inter"/>
              <a:buChar char="•"/>
            </a:pPr>
            <a:r>
              <a:rPr sz="1800" b="0">
                <a:solidFill>
                  <a:srgbClr val="FFFFFF"/>
                </a:solidFill>
                <a:latin typeface="Inter"/>
              </a:rPr>
              <a:t>Alert: </a:t>
            </a:r>
            <a:r>
              <a:rPr sz="1656" b="0">
                <a:solidFill>
                  <a:srgbClr val="00D4AA"/>
                </a:solidFill>
                <a:latin typeface="JetBrains Mono"/>
              </a:rPr>
              <a:t>AtlasRetryStorm</a:t>
            </a:r>
            <a:r>
              <a:rPr sz="1800" b="0">
                <a:solidFill>
                  <a:srgbClr val="FFFFFF"/>
                </a:solidFill>
                <a:latin typeface="Inter"/>
              </a:rPr>
              <a:t> pages at 0.2 retries per request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would have prevented this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6.5, context diet: a test that 3 turns × 12 articles stays under budget</a:t>
            </a:r>
          </a:p>
          <a:p>
            <a:pPr marL="292608" indent="-292608">
              <a:lnSpc>
                <a:spcPct val="120000"/>
              </a:lnSpc>
              <a:spcAft>
                <a:spcPts val="1260"/>
              </a:spcAft>
              <a:buClr>
                <a:srgbClr val="00D4AA"/>
              </a:buClr>
              <a:buFont typeface="Inter"/>
              <a:buChar char="•"/>
            </a:pPr>
            <a:r>
              <a:rPr sz="1800" b="0">
                <a:solidFill>
                  <a:srgbClr val="FFFFFF"/>
                </a:solidFill>
                <a:latin typeface="Inter"/>
              </a:rPr>
              <a:t>7.3 and 7.4: a retry storm is a cost event; test the breaker against it</a:t>
            </a:r>
          </a:p>
          <a:p>
            <a:pPr marL="292608" indent="-292608">
              <a:lnSpc>
                <a:spcPct val="120000"/>
              </a:lnSpc>
              <a:spcAft>
                <a:spcPts val="1260"/>
              </a:spcAft>
              <a:buClr>
                <a:srgbClr val="00D4AA"/>
              </a:buClr>
              <a:buFont typeface="Inter"/>
              <a:buChar char="•"/>
            </a:pPr>
            <a:r>
              <a:rPr sz="1800" b="0">
                <a:solidFill>
                  <a:srgbClr val="FFFFFF"/>
                </a:solidFill>
                <a:latin typeface="Inter"/>
              </a:rPr>
              <a:t>9.5: </a:t>
            </a:r>
            <a:r>
              <a:rPr sz="1656" b="0">
                <a:solidFill>
                  <a:srgbClr val="00D4AA"/>
                </a:solidFill>
                <a:latin typeface="JetBrains Mono"/>
              </a:rPr>
              <a:t>AtlasRetryStorm</a:t>
            </a:r>
            <a:r>
              <a:rPr sz="1800" b="0">
                <a:solidFill>
                  <a:srgbClr val="FFFFFF"/>
                </a:solidFill>
                <a:latin typeface="Inter"/>
              </a:rPr>
              <a:t> routed to a person</a:t>
            </a:r>
          </a:p>
          <a:p>
            <a:pPr marL="292608" indent="-292608">
              <a:lnSpc>
                <a:spcPct val="120000"/>
              </a:lnSpc>
              <a:spcAft>
                <a:spcPts val="1260"/>
              </a:spcAft>
              <a:buClr>
                <a:srgbClr val="00D4AA"/>
              </a:buClr>
              <a:buFont typeface="Inter"/>
              <a:buChar char="•"/>
            </a:pPr>
            <a:r>
              <a:rPr sz="1800" b="0">
                <a:solidFill>
                  <a:srgbClr val="FFFFFF"/>
                </a:solidFill>
                <a:latin typeface="Inter"/>
              </a:rPr>
              <a:t>13.3: </a:t>
            </a:r>
            <a:r>
              <a:rPr sz="1656" b="0">
                <a:solidFill>
                  <a:srgbClr val="00D4AA"/>
                </a:solidFill>
                <a:latin typeface="JetBrains Mono"/>
              </a:rPr>
              <a:t>ATLAS_TOP_K=12 KB_MIN_SCORE=0 make budget-check</a:t>
            </a:r>
            <a:r>
              <a:rPr sz="1800" b="0">
                <a:solidFill>
                  <a:srgbClr val="FFFFFF"/>
                </a:solidFill>
                <a:latin typeface="Inter"/>
              </a:rPr>
              <a:t> fails the PR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Whole articles from 09:00, timeouts from 10:00</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Failed attempts still bill input tokens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Roll back now; alert on retries per request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Incident 2: p95 doubled after lunch (Part A and Part B)</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Incident 2: Monday afternoon, latency doubles for every tenant at once, and the obvious suspect is only…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INCIDENT LABS: YOU ARE ON CALL</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Incident 2: p95 doubled after lunch (Part A and Part B)</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Separate a provider slowdown from a self-inflicted regression using TTFT, input tokens, span durations and the recovery curve.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On-call brief, Incident 2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Paged 14:20 by </a:t>
            </a:r>
            <a:r>
              <a:rPr sz="1656" b="0">
                <a:solidFill>
                  <a:srgbClr val="00D4AA"/>
                </a:solidFill>
                <a:latin typeface="JetBrains Mono"/>
              </a:rPr>
              <a:t>AtlasLatencyP95High</a:t>
            </a:r>
            <a:r>
              <a:rPr sz="1800" b="0">
                <a:solidFill>
                  <a:srgbClr val="FFFFFF"/>
                </a:solidFill>
                <a:latin typeface="Inter"/>
              </a:rPr>
              <a:t> (p95 above 4 s)</a:t>
            </a:r>
          </a:p>
          <a:p>
            <a:pPr marL="292608" indent="-292608">
              <a:lnSpc>
                <a:spcPct val="120000"/>
              </a:lnSpc>
              <a:spcAft>
                <a:spcPts val="1260"/>
              </a:spcAft>
              <a:buClr>
                <a:srgbClr val="00D4AA"/>
              </a:buClr>
              <a:buFont typeface="Inter"/>
              <a:buChar char="•"/>
            </a:pPr>
            <a:r>
              <a:rPr sz="1800" b="0">
                <a:solidFill>
                  <a:srgbClr val="FFFFFF"/>
                </a:solidFill>
                <a:latin typeface="Inter"/>
              </a:rPr>
              <a:t>All four tenants affected</a:t>
            </a:r>
          </a:p>
          <a:p>
            <a:pPr marL="292608" indent="-292608">
              <a:lnSpc>
                <a:spcPct val="120000"/>
              </a:lnSpc>
              <a:spcAft>
                <a:spcPts val="1260"/>
              </a:spcAft>
              <a:buClr>
                <a:srgbClr val="00D4AA"/>
              </a:buClr>
              <a:buFont typeface="Inter"/>
              <a:buChar char="•"/>
            </a:pPr>
            <a:r>
              <a:rPr sz="1800" b="0">
                <a:solidFill>
                  <a:srgbClr val="FFFFFF"/>
                </a:solidFill>
                <a:latin typeface="Inter"/>
              </a:rPr>
              <a:t>Error rate flat; no retries</a:t>
            </a:r>
          </a:p>
          <a:p>
            <a:pPr marL="292608" indent="-292608">
              <a:lnSpc>
                <a:spcPct val="120000"/>
              </a:lnSpc>
              <a:spcAft>
                <a:spcPts val="1260"/>
              </a:spcAft>
              <a:buClr>
                <a:srgbClr val="00D4AA"/>
              </a:buClr>
              <a:buFont typeface="Inter"/>
              <a:buChar char="•"/>
            </a:pPr>
            <a:r>
              <a:rPr sz="1800" b="0">
                <a:solidFill>
                  <a:srgbClr val="FFFFFF"/>
                </a:solidFill>
                <a:latin typeface="Inter"/>
              </a:rPr>
              <a:t>Provider status page: "elevated latency" in one region from 12:50</a:t>
            </a:r>
          </a:p>
          <a:p>
            <a:pPr marL="292608" indent="-292608">
              <a:lnSpc>
                <a:spcPct val="120000"/>
              </a:lnSpc>
              <a:spcAft>
                <a:spcPts val="1260"/>
              </a:spcAft>
              <a:buClr>
                <a:srgbClr val="00D4AA"/>
              </a:buClr>
              <a:buFont typeface="Inter"/>
              <a:buChar char="•"/>
            </a:pPr>
            <a:r>
              <a:rPr sz="1800" b="0">
                <a:solidFill>
                  <a:srgbClr val="FFFFFF"/>
                </a:solidFill>
                <a:latin typeface="Inter"/>
              </a:rPr>
              <a:t>Someone mentions a 12:30 change: "retrieval top-k to 20 for the FAQ pilot"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On-call brief, Incident 2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Dataset: </a:t>
            </a:r>
            <a:r>
              <a:rPr sz="2024" b="0">
                <a:solidFill>
                  <a:srgbClr val="00D4AA"/>
                </a:solidFill>
                <a:latin typeface="JetBrains Mono"/>
              </a:rPr>
              <a:t>incidents/incident-02-latency-regression/</a:t>
            </a:r>
            <a:r>
              <a:rPr sz="2200" b="0">
                <a:solidFill>
                  <a:srgbClr val="FFFFFF"/>
                </a:solidFill>
                <a:latin typeface="Inter"/>
              </a:rPr>
              <a:t>, 300 sessions, seed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eight minutes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Timeline: when does p95 leave the budget, and when does it come back?</a:t>
            </a:r>
          </a:p>
          <a:p>
            <a:pPr marL="292608" indent="-292608">
              <a:lnSpc>
                <a:spcPct val="120000"/>
              </a:lnSpc>
              <a:spcAft>
                <a:spcPts val="1260"/>
              </a:spcAft>
              <a:buClr>
                <a:srgbClr val="00D4AA"/>
              </a:buClr>
              <a:buFont typeface="Inter"/>
              <a:buChar char="•"/>
            </a:pPr>
            <a:r>
              <a:rPr sz="1800" b="0">
                <a:solidFill>
                  <a:srgbClr val="FFFFFF"/>
                </a:solidFill>
                <a:latin typeface="Inter"/>
              </a:rPr>
              <a:t>Blast radius: everyone. What do all tenants share?</a:t>
            </a:r>
          </a:p>
          <a:p>
            <a:pPr marL="292608" indent="-292608">
              <a:lnSpc>
                <a:spcPct val="120000"/>
              </a:lnSpc>
              <a:spcAft>
                <a:spcPts val="1260"/>
              </a:spcAft>
              <a:buClr>
                <a:srgbClr val="00D4AA"/>
              </a:buClr>
              <a:buFont typeface="Inter"/>
              <a:buChar char="•"/>
            </a:pPr>
            <a:r>
              <a:rPr sz="1800" b="0">
                <a:solidFill>
                  <a:srgbClr val="FFFFFF"/>
                </a:solidFill>
                <a:latin typeface="Inter"/>
              </a:rPr>
              <a:t>Two suspects. What would each one predict for tokens?</a:t>
            </a:r>
          </a:p>
          <a:p>
            <a:pPr marL="292608" indent="-292608">
              <a:lnSpc>
                <a:spcPct val="120000"/>
              </a:lnSpc>
              <a:spcAft>
                <a:spcPts val="1260"/>
              </a:spcAft>
              <a:buClr>
                <a:srgbClr val="00D4AA"/>
              </a:buClr>
              <a:buFont typeface="Inter"/>
              <a:buChar char="•"/>
            </a:pPr>
            <a:r>
              <a:rPr sz="1800" b="0">
                <a:solidFill>
                  <a:srgbClr val="FFFFFF"/>
                </a:solidFill>
                <a:latin typeface="Inter"/>
              </a:rPr>
              <a:t>Is there anything left after the recovery?</a:t>
            </a:r>
          </a:p>
          <a:p>
            <a:pPr marL="292608" indent="-292608">
              <a:lnSpc>
                <a:spcPct val="120000"/>
              </a:lnSpc>
              <a:spcAft>
                <a:spcPts val="1260"/>
              </a:spcAft>
              <a:buClr>
                <a:srgbClr val="00D4AA"/>
              </a:buClr>
              <a:buFont typeface="Inter"/>
              <a:buChar char="•"/>
            </a:pPr>
            <a:r>
              <a:rPr sz="1800" b="0">
                <a:solidFill>
                  <a:srgbClr val="FFFFFF"/>
                </a:solidFill>
                <a:latin typeface="Inter"/>
              </a:rPr>
              <a:t>Root cause in one sentence, and the fix you would ship today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Hypotheses and verdicts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920240"/>
        </p:xfrm>
        <a:graphic>
          <a:graphicData uri="http://schemas.openxmlformats.org/drawingml/2006/table">
            <a:tbl>
              <a:tblPr firstRow="1" bandRow="1">
                <a:tableStyleId>{5C22544A-7EE6-4342-B048-85BDC9FD1C3A}</a:tableStyleId>
              </a:tblPr>
              <a:tblGrid>
                <a:gridCol w="2221542"/>
                <a:gridCol w="4628213"/>
                <a:gridCol w="1666156"/>
                <a:gridCol w="2776927"/>
              </a:tblGrid>
              <a:tr h="384048">
                <a:tc>
                  <a:txBody>
                    <a:bodyPr wrap="square"/>
                    <a:lstStyle/>
                    <a:p>
                      <a:r>
                        <a:rPr sz="1200" b="1">
                          <a:solidFill>
                            <a:srgbClr val="0A1628"/>
                          </a:solidFill>
                          <a:latin typeface="Inter"/>
                        </a:rPr>
                        <a:t>Hypothesis</a:t>
                      </a:r>
                    </a:p>
                  </a:txBody>
                  <a:tcPr marL="91440" marR="91440" marT="45720" marB="45720" anchor="ctr">
                    <a:solidFill>
                      <a:srgbClr val="00D4AA"/>
                    </a:solidFill>
                  </a:tcPr>
                </a:tc>
                <a:tc>
                  <a:txBody>
                    <a:bodyPr wrap="square"/>
                    <a:lstStyle/>
                    <a:p>
                      <a:r>
                        <a:rPr sz="1200" b="1">
                          <a:solidFill>
                            <a:srgbClr val="0A1628"/>
                          </a:solidFill>
                          <a:latin typeface="Inter"/>
                        </a:rPr>
                        <a:t>Prediction</a:t>
                      </a:r>
                    </a:p>
                  </a:txBody>
                  <a:tcPr marL="91440" marR="91440" marT="45720" marB="45720" anchor="ctr">
                    <a:solidFill>
                      <a:srgbClr val="00D4AA"/>
                    </a:solidFill>
                  </a:tcPr>
                </a:tc>
                <a:tc>
                  <a:txBody>
                    <a:bodyPr wrap="square"/>
                    <a:lstStyle/>
                    <a:p>
                      <a:r>
                        <a:rPr sz="1200" b="1">
                          <a:solidFill>
                            <a:srgbClr val="0A1628"/>
                          </a:solidFill>
                          <a:latin typeface="Inter"/>
                        </a:rPr>
                        <a:t>Exhibit</a:t>
                      </a:r>
                    </a:p>
                  </a:txBody>
                  <a:tcPr marL="91440" marR="91440" marT="45720" marB="45720" anchor="ctr">
                    <a:solidFill>
                      <a:srgbClr val="00D4AA"/>
                    </a:solidFill>
                  </a:tcPr>
                </a:tc>
                <a:tc>
                  <a:txBody>
                    <a:bodyPr wrap="square"/>
                    <a:lstStyle/>
                    <a:p>
                      <a:r>
                        <a:rPr sz="1200" b="1">
                          <a:solidFill>
                            <a:srgbClr val="0A1628"/>
                          </a:solidFill>
                          <a:latin typeface="Inter"/>
                        </a:rPr>
                        <a:t>Verdict</a:t>
                      </a:r>
                    </a:p>
                  </a:txBody>
                  <a:tcPr marL="91440" marR="91440" marT="45720" marB="45720" anchor="ctr">
                    <a:solidFill>
                      <a:srgbClr val="00D4AA"/>
                    </a:solidFill>
                  </a:tcPr>
                </a:tc>
              </a:tr>
              <a:tr h="384048">
                <a:tc>
                  <a:txBody>
                    <a:bodyPr wrap="square"/>
                    <a:lstStyle/>
                    <a:p>
                      <a:r>
                        <a:rPr sz="1200" b="1">
                          <a:solidFill>
                            <a:srgbClr val="FFFFFF"/>
                          </a:solidFill>
                          <a:latin typeface="Inter"/>
                        </a:rPr>
                        <a:t>Provider slowdown</a:t>
                      </a:r>
                    </a:p>
                  </a:txBody>
                  <a:tcPr marL="91440" marR="91440" marT="45720" marB="45720" anchor="ctr">
                    <a:solidFill>
                      <a:srgbClr val="1A2742"/>
                    </a:solidFill>
                  </a:tcPr>
                </a:tc>
                <a:tc>
                  <a:txBody>
                    <a:bodyPr wrap="square"/>
                    <a:lstStyle/>
                    <a:p>
                      <a:r>
                        <a:rPr sz="1200" b="0">
                          <a:solidFill>
                            <a:srgbClr val="FFFFFF"/>
                          </a:solidFill>
                          <a:latin typeface="Inter"/>
                        </a:rPr>
                        <a:t>TTFT up, prompt sizes flat, recovers with provider</a:t>
                      </a:r>
                    </a:p>
                  </a:txBody>
                  <a:tcPr marL="91440" marR="91440" marT="45720" marB="45720" anchor="ctr">
                    <a:solidFill>
                      <a:srgbClr val="1A2742"/>
                    </a:solidFill>
                  </a:tcPr>
                </a:tc>
                <a:tc>
                  <a:txBody>
                    <a:bodyPr wrap="square"/>
                    <a:lstStyle/>
                    <a:p>
                      <a:r>
                        <a:rPr sz="1200" b="0">
                          <a:solidFill>
                            <a:srgbClr val="FFFFFF"/>
                          </a:solidFill>
                          <a:latin typeface="Inter"/>
                        </a:rPr>
                        <a:t>3, 4, 6</a:t>
                      </a:r>
                    </a:p>
                  </a:txBody>
                  <a:tcPr marL="91440" marR="91440" marT="45720" marB="45720" anchor="ctr">
                    <a:solidFill>
                      <a:srgbClr val="1A2742"/>
                    </a:solidFill>
                  </a:tcPr>
                </a:tc>
                <a:tc>
                  <a:txBody>
                    <a:bodyPr wrap="square"/>
                    <a:lstStyle/>
                    <a:p>
                      <a:r>
                        <a:rPr sz="1200" b="0">
                          <a:solidFill>
                            <a:srgbClr val="FFFFFF"/>
                          </a:solidFill>
                          <a:latin typeface="Inter"/>
                        </a:rPr>
                        <a:t>Confirmed: the cause</a:t>
                      </a:r>
                    </a:p>
                  </a:txBody>
                  <a:tcPr marL="91440" marR="91440" marT="45720" marB="45720" anchor="ctr">
                    <a:solidFill>
                      <a:srgbClr val="1A2742"/>
                    </a:solidFill>
                  </a:tcPr>
                </a:tc>
              </a:tr>
              <a:tr h="384048">
                <a:tc>
                  <a:txBody>
                    <a:bodyPr wrap="square"/>
                    <a:lstStyle/>
                    <a:p>
                      <a:r>
                        <a:rPr sz="1200" b="1">
                          <a:solidFill>
                            <a:srgbClr val="FFFFFF"/>
                          </a:solidFill>
                          <a:latin typeface="Inter"/>
                        </a:rPr>
                        <a:t>Top-k 20 bloats prompts</a:t>
                      </a:r>
                    </a:p>
                  </a:txBody>
                  <a:tcPr marL="91440" marR="91440" marT="45720" marB="45720" anchor="ctr">
                    <a:solidFill>
                      <a:srgbClr val="0F1E35"/>
                    </a:solidFill>
                  </a:tcPr>
                </a:tc>
                <a:tc>
                  <a:txBody>
                    <a:bodyPr wrap="square"/>
                    <a:lstStyle/>
                    <a:p>
                      <a:r>
                        <a:rPr sz="1200" b="0">
                          <a:solidFill>
                            <a:srgbClr val="FFFFFF"/>
                          </a:solidFill>
                          <a:latin typeface="Inter"/>
                        </a:rPr>
                        <a:t>input tokens up from the change</a:t>
                      </a:r>
                    </a:p>
                  </a:txBody>
                  <a:tcPr marL="91440" marR="91440" marT="45720" marB="45720" anchor="ctr">
                    <a:solidFill>
                      <a:srgbClr val="0F1E35"/>
                    </a:solidFill>
                  </a:tcPr>
                </a:tc>
                <a:tc>
                  <a:txBody>
                    <a:bodyPr wrap="square"/>
                    <a:lstStyle/>
                    <a:p>
                      <a:r>
                        <a:rPr sz="1200" b="0">
                          <a:solidFill>
                            <a:srgbClr val="FFFFFF"/>
                          </a:solidFill>
                          <a:latin typeface="Inter"/>
                        </a:rPr>
                        <a:t>4, 5, 6</a:t>
                      </a:r>
                    </a:p>
                  </a:txBody>
                  <a:tcPr marL="91440" marR="91440" marT="45720" marB="45720" anchor="ctr">
                    <a:solidFill>
                      <a:srgbClr val="0F1E35"/>
                    </a:solidFill>
                  </a:tcPr>
                </a:tc>
                <a:tc>
                  <a:txBody>
                    <a:bodyPr wrap="square"/>
                    <a:lstStyle/>
                    <a:p>
                      <a:r>
                        <a:rPr sz="1200" b="0">
                          <a:solidFill>
                            <a:srgbClr val="FFFFFF"/>
                          </a:solidFill>
                          <a:latin typeface="Inter"/>
                        </a:rPr>
                        <a:t>Killed: diet capped results</a:t>
                      </a:r>
                    </a:p>
                  </a:txBody>
                  <a:tcPr marL="91440" marR="91440" marT="45720" marB="45720" anchor="ctr">
                    <a:solidFill>
                      <a:srgbClr val="0F1E35"/>
                    </a:solidFill>
                  </a:tcPr>
                </a:tc>
              </a:tr>
              <a:tr h="384048">
                <a:tc>
                  <a:txBody>
                    <a:bodyPr wrap="square"/>
                    <a:lstStyle/>
                    <a:p>
                      <a:r>
                        <a:rPr sz="1200" b="1">
                          <a:solidFill>
                            <a:srgbClr val="FFFFFF"/>
                          </a:solidFill>
                          <a:latin typeface="Inter"/>
                        </a:rPr>
                        <a:t>Slow retriever or tool</a:t>
                      </a:r>
                    </a:p>
                  </a:txBody>
                  <a:tcPr marL="91440" marR="91440" marT="45720" marB="45720" anchor="ctr">
                    <a:solidFill>
                      <a:srgbClr val="1A2742"/>
                    </a:solidFill>
                  </a:tcPr>
                </a:tc>
                <a:tc>
                  <a:txBody>
                    <a:bodyPr wrap="square"/>
                    <a:lstStyle/>
                    <a:p>
                      <a:r>
                        <a:rPr sz="1200" b="0">
                          <a:solidFill>
                            <a:srgbClr val="FFFFFF"/>
                          </a:solidFill>
                          <a:latin typeface="Inter"/>
                        </a:rPr>
                        <a:t>retriever or tool p95 up by seconds</a:t>
                      </a:r>
                    </a:p>
                  </a:txBody>
                  <a:tcPr marL="91440" marR="91440" marT="45720" marB="45720" anchor="ctr">
                    <a:solidFill>
                      <a:srgbClr val="1A2742"/>
                    </a:solidFill>
                  </a:tcPr>
                </a:tc>
                <a:tc>
                  <a:txBody>
                    <a:bodyPr wrap="square"/>
                    <a:lstStyle/>
                    <a:p>
                      <a:r>
                        <a:rPr sz="1200" b="0">
                          <a:solidFill>
                            <a:srgbClr val="FFFFFF"/>
                          </a:solidFill>
                          <a:latin typeface="Inter"/>
                        </a:rPr>
                        <a:t>2</a:t>
                      </a:r>
                    </a:p>
                  </a:txBody>
                  <a:tcPr marL="91440" marR="91440" marT="45720" marB="45720" anchor="ctr">
                    <a:solidFill>
                      <a:srgbClr val="1A2742"/>
                    </a:solidFill>
                  </a:tcPr>
                </a:tc>
                <a:tc>
                  <a:txBody>
                    <a:bodyPr wrap="square"/>
                    <a:lstStyle/>
                    <a:p>
                      <a:r>
                        <a:rPr sz="1200" b="0">
                          <a:solidFill>
                            <a:srgbClr val="FFFFFF"/>
                          </a:solidFill>
                          <a:latin typeface="Inter"/>
                        </a:rPr>
                        <a:t>Killed: +65 ms retrieval</a:t>
                      </a:r>
                    </a:p>
                  </a:txBody>
                  <a:tcPr marL="91440" marR="91440" marT="45720" marB="45720" anchor="ctr">
                    <a:solidFill>
                      <a:srgbClr val="1A2742"/>
                    </a:solidFill>
                  </a:tcPr>
                </a:tc>
              </a:tr>
              <a:tr h="384048">
                <a:tc>
                  <a:txBody>
                    <a:bodyPr wrap="square"/>
                    <a:lstStyle/>
                    <a:p>
                      <a:r>
                        <a:rPr sz="1200" b="1">
                          <a:solidFill>
                            <a:srgbClr val="FFFFFF"/>
                          </a:solidFill>
                          <a:latin typeface="Inter"/>
                        </a:rPr>
                        <a:t>Traffic or rate limiting</a:t>
                      </a:r>
                    </a:p>
                  </a:txBody>
                  <a:tcPr marL="91440" marR="91440" marT="45720" marB="45720" anchor="ctr">
                    <a:solidFill>
                      <a:srgbClr val="0F1E35"/>
                    </a:solidFill>
                  </a:tcPr>
                </a:tc>
                <a:tc>
                  <a:txBody>
                    <a:bodyPr wrap="square"/>
                    <a:lstStyle/>
                    <a:p>
                      <a:r>
                        <a:rPr sz="1200" b="0">
                          <a:solidFill>
                            <a:srgbClr val="FFFFFF"/>
                          </a:solidFill>
                          <a:latin typeface="Inter"/>
                        </a:rPr>
                        <a:t>errors, retries, one tenant</a:t>
                      </a:r>
                    </a:p>
                  </a:txBody>
                  <a:tcPr marL="91440" marR="91440" marT="45720" marB="45720" anchor="ctr">
                    <a:solidFill>
                      <a:srgbClr val="0F1E35"/>
                    </a:solidFill>
                  </a:tcPr>
                </a:tc>
                <a:tc>
                  <a:txBody>
                    <a:bodyPr wrap="square"/>
                    <a:lstStyle/>
                    <a:p>
                      <a:r>
                        <a:rPr sz="1200" b="0">
                          <a:solidFill>
                            <a:srgbClr val="FFFFFF"/>
                          </a:solidFill>
                          <a:latin typeface="Inter"/>
                        </a:rPr>
                        <a:t>brief, Reliability</a:t>
                      </a:r>
                    </a:p>
                  </a:txBody>
                  <a:tcPr marL="91440" marR="91440" marT="45720" marB="45720" anchor="ctr">
                    <a:solidFill>
                      <a:srgbClr val="0F1E35"/>
                    </a:solidFill>
                  </a:tcPr>
                </a:tc>
                <a:tc>
                  <a:txBody>
                    <a:bodyPr wrap="square"/>
                    <a:lstStyle/>
                    <a:p>
                      <a:r>
                        <a:rPr sz="1200" b="0">
                          <a:solidFill>
                            <a:srgbClr val="FFFFFF"/>
                          </a:solidFill>
                          <a:latin typeface="Inter"/>
                        </a:rPr>
                        <a:t>Killed: no errors, all tenants</a:t>
                      </a:r>
                    </a:p>
                  </a:txBody>
                  <a:tcPr marL="91440" marR="91440" marT="45720" marB="45720" anchor="ctr">
                    <a:solidFill>
                      <a:srgbClr val="0F1E35"/>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the fallback never fired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ATLAS_REQUEST_TIMEOUT_S</a:t>
            </a:r>
            <a:r>
              <a:rPr sz="1800" b="0">
                <a:solidFill>
                  <a:srgbClr val="FFFFFF"/>
                </a:solidFill>
                <a:latin typeface="Inter"/>
              </a:rPr>
              <a:t>: 20 s; a 5 s generation is a success</a:t>
            </a:r>
          </a:p>
          <a:p>
            <a:pPr marL="292608" indent="-292608">
              <a:lnSpc>
                <a:spcPct val="120000"/>
              </a:lnSpc>
              <a:spcAft>
                <a:spcPts val="1260"/>
              </a:spcAft>
              <a:buClr>
                <a:srgbClr val="00D4AA"/>
              </a:buClr>
              <a:buFont typeface="Inter"/>
              <a:buChar char="•"/>
            </a:pPr>
            <a:r>
              <a:rPr sz="1800" b="0">
                <a:solidFill>
                  <a:srgbClr val="FFFFFF"/>
                </a:solidFill>
                <a:latin typeface="Inter"/>
              </a:rPr>
              <a:t>The breaker counts errors; slowness produces none</a:t>
            </a:r>
          </a:p>
          <a:p>
            <a:pPr marL="292608" indent="-292608">
              <a:lnSpc>
                <a:spcPct val="120000"/>
              </a:lnSpc>
              <a:spcAft>
                <a:spcPts val="1260"/>
              </a:spcAft>
              <a:buClr>
                <a:srgbClr val="00D4AA"/>
              </a:buClr>
              <a:buFont typeface="Inter"/>
              <a:buChar char="•"/>
            </a:pPr>
            <a:r>
              <a:rPr sz="1800" b="0">
                <a:solidFill>
                  <a:srgbClr val="FFFFFF"/>
                </a:solidFill>
                <a:latin typeface="Inter"/>
              </a:rPr>
              <a:t>Reliability page: no failed attempts, no tool errors</a:t>
            </a:r>
          </a:p>
          <a:p>
            <a:pPr marL="292608" indent="-292608">
              <a:lnSpc>
                <a:spcPct val="120000"/>
              </a:lnSpc>
              <a:spcAft>
                <a:spcPts val="1260"/>
              </a:spcAft>
              <a:buClr>
                <a:srgbClr val="00D4AA"/>
              </a:buClr>
              <a:buFont typeface="Inter"/>
              <a:buChar char="•"/>
            </a:pPr>
            <a:r>
              <a:rPr sz="1800" b="0">
                <a:solidFill>
                  <a:srgbClr val="FFFFFF"/>
                </a:solidFill>
                <a:latin typeface="Inter"/>
              </a:rPr>
              <a:t>Fallbacks are process metrics: </a:t>
            </a:r>
            <a:r>
              <a:rPr sz="1656" b="0">
                <a:solidFill>
                  <a:srgbClr val="00D4AA"/>
                </a:solidFill>
                <a:latin typeface="JetBrains Mono"/>
              </a:rPr>
              <a:t>atlas_model_fallbacks_total</a:t>
            </a:r>
            <a:r>
              <a:rPr sz="1800" b="0">
                <a:solidFill>
                  <a:srgbClr val="FFFFFF"/>
                </a:solidFill>
                <a:latin typeface="Inter"/>
              </a:rPr>
              <a:t> in Grafana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Root cause, one sentence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607040" cy="4892040"/>
          </a:xfrm>
          <a:prstGeom prst="rect">
            <a:avLst/>
          </a:prstGeom>
          <a:noFill/>
        </p:spPr>
        <p:txBody>
          <a:bodyPr wrap="square" lIns="45720" rIns="45720" tIns="27432" bIns="27432" anchor="t">
            <a:spAutoFit/>
          </a:bodyPr>
          <a:lstStyle/>
          <a:p>
            <a:pPr>
              <a:spcAft>
                <a:spcPts val="600"/>
              </a:spcAft>
            </a:pPr>
            <a:r>
              <a:rPr sz="1500" b="0">
                <a:solidFill>
                  <a:srgbClr val="CBD5E1"/>
                </a:solidFill>
                <a:latin typeface="Inter"/>
              </a:rPr>
              <a:t>A regional provider slowdown from 13:00 to 17:00 tripled time to first token on about three quarters of requests; prompt sizes did not change, and with a 20-second per-call timeout neither the Router nor the circuit breaker saw a failure, so the fallback never fired.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fix</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ATLAS_REQUEST_TIMEOUT_S=4</a:t>
            </a:r>
            <a:r>
              <a:rPr sz="1800" b="0">
                <a:solidFill>
                  <a:srgbClr val="FFFFFF"/>
                </a:solidFill>
                <a:latin typeface="Inter"/>
              </a:rPr>
              <a:t>, from the step budget, not the default 20</a:t>
            </a:r>
          </a:p>
          <a:p>
            <a:pPr marL="292608" indent="-292608">
              <a:lnSpc>
                <a:spcPct val="120000"/>
              </a:lnSpc>
              <a:spcAft>
                <a:spcPts val="1260"/>
              </a:spcAft>
              <a:buClr>
                <a:srgbClr val="00D4AA"/>
              </a:buClr>
              <a:buFont typeface="Inter"/>
              <a:buChar char="•"/>
            </a:pPr>
            <a:r>
              <a:rPr sz="1800" b="0">
                <a:solidFill>
                  <a:srgbClr val="FFFFFF"/>
                </a:solidFill>
                <a:latin typeface="Inter"/>
              </a:rPr>
              <a:t>A timed-out call is a failure: the breaker opens, </a:t>
            </a:r>
            <a:r>
              <a:rPr sz="1656" b="0">
                <a:solidFill>
                  <a:srgbClr val="00D4AA"/>
                </a:solidFill>
                <a:latin typeface="JetBrains Mono"/>
              </a:rPr>
              <a:t>FALLBACKS</a:t>
            </a:r>
            <a:r>
              <a:rPr sz="1800" b="0">
                <a:solidFill>
                  <a:srgbClr val="FFFFFF"/>
                </a:solidFill>
                <a:latin typeface="Inter"/>
              </a:rPr>
              <a:t> answer</a:t>
            </a:r>
          </a:p>
          <a:p>
            <a:pPr marL="292608" indent="-292608">
              <a:lnSpc>
                <a:spcPct val="120000"/>
              </a:lnSpc>
              <a:spcAft>
                <a:spcPts val="1260"/>
              </a:spcAft>
              <a:buClr>
                <a:srgbClr val="00D4AA"/>
              </a:buClr>
              <a:buFont typeface="Inter"/>
              <a:buChar char="•"/>
            </a:pPr>
            <a:r>
              <a:rPr sz="1800" b="0">
                <a:solidFill>
                  <a:srgbClr val="FFFFFF"/>
                </a:solidFill>
                <a:latin typeface="Inter"/>
              </a:rPr>
              <a:t>Keep </a:t>
            </a:r>
            <a:r>
              <a:rPr sz="1656" b="0">
                <a:solidFill>
                  <a:srgbClr val="00D4AA"/>
                </a:solidFill>
                <a:latin typeface="JetBrains Mono"/>
              </a:rPr>
              <a:t>ATLAS_TOP_K=4</a:t>
            </a:r>
            <a:r>
              <a:rPr sz="1800" b="0">
                <a:solidFill>
                  <a:srgbClr val="FFFFFF"/>
                </a:solidFill>
                <a:latin typeface="Inter"/>
              </a:rPr>
              <a:t> until recall is measured</a:t>
            </a:r>
          </a:p>
          <a:p>
            <a:pPr marL="292608" indent="-292608">
              <a:lnSpc>
                <a:spcPct val="120000"/>
              </a:lnSpc>
              <a:spcAft>
                <a:spcPts val="1260"/>
              </a:spcAft>
              <a:buClr>
                <a:srgbClr val="00D4AA"/>
              </a:buClr>
              <a:buFont typeface="Inter"/>
              <a:buChar char="•"/>
            </a:pPr>
            <a:r>
              <a:rPr sz="1800" b="0">
                <a:solidFill>
                  <a:srgbClr val="FFFFFF"/>
                </a:solidFill>
                <a:latin typeface="Inter"/>
              </a:rPr>
              <a:t>Lab 4: find this config yourself and make the gate pass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would have prevented this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5.3: top-k and hits on every retriever span made the red herring checkable</a:t>
            </a:r>
          </a:p>
          <a:p>
            <a:pPr marL="292608" indent="-292608">
              <a:lnSpc>
                <a:spcPct val="120000"/>
              </a:lnSpc>
              <a:spcAft>
                <a:spcPts val="1260"/>
              </a:spcAft>
              <a:buClr>
                <a:srgbClr val="00D4AA"/>
              </a:buClr>
              <a:buFont typeface="Inter"/>
              <a:buChar char="•"/>
            </a:pPr>
            <a:r>
              <a:rPr sz="1800" b="0">
                <a:solidFill>
                  <a:srgbClr val="FFFFFF"/>
                </a:solidFill>
                <a:latin typeface="Inter"/>
              </a:rPr>
              <a:t>7.1: per-call timeouts from the step budget</a:t>
            </a:r>
          </a:p>
          <a:p>
            <a:pPr marL="292608" indent="-292608">
              <a:lnSpc>
                <a:spcPct val="120000"/>
              </a:lnSpc>
              <a:spcAft>
                <a:spcPts val="1260"/>
              </a:spcAft>
              <a:buClr>
                <a:srgbClr val="00D4AA"/>
              </a:buClr>
              <a:buFont typeface="Inter"/>
              <a:buChar char="•"/>
            </a:pPr>
            <a:r>
              <a:rPr sz="1800" b="0">
                <a:solidFill>
                  <a:srgbClr val="FFFFFF"/>
                </a:solidFill>
                <a:latin typeface="Inter"/>
              </a:rPr>
              <a:t>7.4: a breaker only sees what the timeout turns into failures</a:t>
            </a:r>
          </a:p>
          <a:p>
            <a:pPr marL="292608" indent="-292608">
              <a:lnSpc>
                <a:spcPct val="120000"/>
              </a:lnSpc>
              <a:spcAft>
                <a:spcPts val="1260"/>
              </a:spcAft>
              <a:buClr>
                <a:srgbClr val="00D4AA"/>
              </a:buClr>
              <a:buFont typeface="Inter"/>
              <a:buChar char="•"/>
            </a:pPr>
            <a:r>
              <a:rPr sz="1800" b="0">
                <a:solidFill>
                  <a:srgbClr val="FFFFFF"/>
                </a:solidFill>
                <a:latin typeface="Inter"/>
              </a:rPr>
              <a:t>13.3: </a:t>
            </a:r>
            <a:r>
              <a:rPr sz="1656" b="0">
                <a:solidFill>
                  <a:srgbClr val="00D4AA"/>
                </a:solidFill>
                <a:latin typeface="JetBrains Mono"/>
              </a:rPr>
              <a:t>ATLAS_TOP_K=20 make budget-check</a:t>
            </a:r>
            <a:r>
              <a:rPr sz="1800" b="0">
                <a:solidFill>
                  <a:srgbClr val="FFFFFF"/>
                </a:solidFill>
                <a:latin typeface="Inter"/>
              </a:rPr>
              <a:t> fails on p95 and tokens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TTFT up, prompts flat: the provider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diet made top-k 20 harmless here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Slowness must count as failure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Incident 3: users are unhappy but nothing is red (Part A and Part B)</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Incident 3, the hardest kind: every dashboard is green, and the answers are quietly getting worse.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INCIDENT LABS: YOU ARE ON CALL</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Incident 3: users are unhappy but nothing is red (Part A and Part B)</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Diagnose a quality regression that no latency, error or cost signal shows, using judge scores, feedback and prompt version tags.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On-call brief, Incident 3</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Raised Tuesday 09:10 by the HR business partner: "curt, no source, no next step"</a:t>
            </a:r>
          </a:p>
          <a:p>
            <a:pPr marL="292608" indent="-292608">
              <a:lnSpc>
                <a:spcPct val="120000"/>
              </a:lnSpc>
              <a:spcAft>
                <a:spcPts val="1260"/>
              </a:spcAft>
              <a:buClr>
                <a:srgbClr val="00D4AA"/>
              </a:buClr>
              <a:buFont typeface="Inter"/>
              <a:buChar char="•"/>
            </a:pPr>
            <a:r>
              <a:rPr sz="1800" b="0">
                <a:solidFill>
                  <a:srgbClr val="FFFFFF"/>
                </a:solidFill>
                <a:latin typeface="Inter"/>
              </a:rPr>
              <a:t>Nothing paged; latency, errors and cost green</a:t>
            </a:r>
          </a:p>
          <a:p>
            <a:pPr marL="292608" indent="-292608">
              <a:lnSpc>
                <a:spcPct val="120000"/>
              </a:lnSpc>
              <a:spcAft>
                <a:spcPts val="1260"/>
              </a:spcAft>
              <a:buClr>
                <a:srgbClr val="00D4AA"/>
              </a:buClr>
              <a:buFont typeface="Inter"/>
              <a:buChar char="•"/>
            </a:pPr>
            <a:r>
              <a:rPr sz="1800" b="0">
                <a:solidFill>
                  <a:srgbClr val="FFFFFF"/>
                </a:solidFill>
                <a:latin typeface="Inter"/>
              </a:rPr>
              <a:t>Nobody deployed code on Monday</a:t>
            </a:r>
          </a:p>
          <a:p>
            <a:pPr marL="292608" indent="-292608">
              <a:lnSpc>
                <a:spcPct val="120000"/>
              </a:lnSpc>
              <a:spcAft>
                <a:spcPts val="1260"/>
              </a:spcAft>
              <a:buClr>
                <a:srgbClr val="00D4AA"/>
              </a:buClr>
              <a:buFont typeface="Inter"/>
              <a:buChar char="•"/>
            </a:pPr>
            <a:r>
              <a:rPr sz="1800" b="0">
                <a:solidFill>
                  <a:srgbClr val="FFFFFF"/>
                </a:solidFill>
                <a:latin typeface="Inter"/>
              </a:rPr>
              <a:t>Langfuse prompt </a:t>
            </a:r>
            <a:r>
              <a:rPr sz="1656" b="0">
                <a:solidFill>
                  <a:srgbClr val="00D4AA"/>
                </a:solidFill>
                <a:latin typeface="JetBrains Mono"/>
              </a:rPr>
              <a:t>atlas-system</a:t>
            </a:r>
            <a:r>
              <a:rPr sz="1800" b="0">
                <a:solidFill>
                  <a:srgbClr val="FFFFFF"/>
                </a:solidFill>
                <a:latin typeface="Inter"/>
              </a:rPr>
              <a:t>: versions 1 and 2 exist</a:t>
            </a:r>
          </a:p>
          <a:p>
            <a:pPr marL="292608" indent="-292608">
              <a:lnSpc>
                <a:spcPct val="120000"/>
              </a:lnSpc>
              <a:spcAft>
                <a:spcPts val="1260"/>
              </a:spcAft>
              <a:buClr>
                <a:srgbClr val="00D4AA"/>
              </a:buClr>
              <a:buFont typeface="Inter"/>
              <a:buChar char="•"/>
            </a:pPr>
            <a:r>
              <a:rPr sz="1800" b="0">
                <a:solidFill>
                  <a:srgbClr val="FFFFFF"/>
                </a:solidFill>
                <a:latin typeface="Inter"/>
              </a:rPr>
              <a:t>Dataset: </a:t>
            </a:r>
            <a:r>
              <a:rPr sz="1656" b="0">
                <a:solidFill>
                  <a:srgbClr val="00D4AA"/>
                </a:solidFill>
                <a:latin typeface="JetBrains Mono"/>
              </a:rPr>
              <a:t>incidents/incident-03-quality-drift/</a:t>
            </a:r>
            <a:r>
              <a:rPr sz="1800" b="0">
                <a:solidFill>
                  <a:srgbClr val="FFFFFF"/>
                </a:solidFill>
                <a:latin typeface="Inter"/>
              </a:rPr>
              <a:t>, 300 sessions, seed 33, with judge scores and user feedback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eight minutes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Timeline: when do the scores bend, and what flips at that hour?</a:t>
            </a:r>
          </a:p>
          <a:p>
            <a:pPr marL="292608" indent="-292608">
              <a:lnSpc>
                <a:spcPct val="120000"/>
              </a:lnSpc>
              <a:spcAft>
                <a:spcPts val="1260"/>
              </a:spcAft>
              <a:buClr>
                <a:srgbClr val="00D4AA"/>
              </a:buClr>
              <a:buFont typeface="Inter"/>
              <a:buChar char="•"/>
            </a:pPr>
            <a:r>
              <a:rPr sz="1800" b="0">
                <a:solidFill>
                  <a:srgbClr val="FFFFFF"/>
                </a:solidFill>
                <a:latin typeface="Inter"/>
              </a:rPr>
              <a:t>Blast radius: all tenants, or mostly HR? Why would HR notice first?</a:t>
            </a:r>
          </a:p>
          <a:p>
            <a:pPr marL="292608" indent="-292608">
              <a:lnSpc>
                <a:spcPct val="120000"/>
              </a:lnSpc>
              <a:spcAft>
                <a:spcPts val="1260"/>
              </a:spcAft>
              <a:buClr>
                <a:srgbClr val="00D4AA"/>
              </a:buClr>
              <a:buFont typeface="Inter"/>
              <a:buChar char="•"/>
            </a:pPr>
            <a:r>
              <a:rPr sz="1800" b="0">
                <a:solidFill>
                  <a:srgbClr val="FFFFFF"/>
                </a:solidFill>
                <a:latin typeface="Inter"/>
              </a:rPr>
              <a:t>Same retrieval, different answer: what sits between them?</a:t>
            </a:r>
          </a:p>
          <a:p>
            <a:pPr marL="292608" indent="-292608">
              <a:lnSpc>
                <a:spcPct val="120000"/>
              </a:lnSpc>
              <a:spcAft>
                <a:spcPts val="1260"/>
              </a:spcAft>
              <a:buClr>
                <a:srgbClr val="00D4AA"/>
              </a:buClr>
              <a:buFont typeface="Inter"/>
              <a:buChar char="•"/>
            </a:pPr>
            <a:r>
              <a:rPr sz="1800" b="0">
                <a:solidFill>
                  <a:srgbClr val="FFFFFF"/>
                </a:solidFill>
                <a:latin typeface="Inter"/>
              </a:rPr>
              <a:t>Why did no alert fire, and why did two metrics improve?</a:t>
            </a:r>
          </a:p>
          <a:p>
            <a:pPr marL="292608" indent="-292608">
              <a:lnSpc>
                <a:spcPct val="120000"/>
              </a:lnSpc>
              <a:spcAft>
                <a:spcPts val="1260"/>
              </a:spcAft>
              <a:buClr>
                <a:srgbClr val="00D4AA"/>
              </a:buClr>
              <a:buFont typeface="Inter"/>
              <a:buChar char="•"/>
            </a:pPr>
            <a:r>
              <a:rPr sz="1800" b="0">
                <a:solidFill>
                  <a:srgbClr val="FFFFFF"/>
                </a:solidFill>
                <a:latin typeface="Inter"/>
              </a:rPr>
              <a:t>Root cause in one sentence, the fix (one command) and the gate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Hypotheses and verdicts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194560"/>
        </p:xfrm>
        <a:graphic>
          <a:graphicData uri="http://schemas.openxmlformats.org/drawingml/2006/table">
            <a:tbl>
              <a:tblPr firstRow="1" bandRow="1">
                <a:tableStyleId>{5C22544A-7EE6-4342-B048-85BDC9FD1C3A}</a:tableStyleId>
              </a:tblPr>
              <a:tblGrid>
                <a:gridCol w="3634477"/>
                <a:gridCol w="3374871"/>
                <a:gridCol w="908619"/>
                <a:gridCol w="3374871"/>
              </a:tblGrid>
              <a:tr h="438912">
                <a:tc>
                  <a:txBody>
                    <a:bodyPr wrap="square"/>
                    <a:lstStyle/>
                    <a:p>
                      <a:r>
                        <a:rPr sz="1400" b="1">
                          <a:solidFill>
                            <a:srgbClr val="0A1628"/>
                          </a:solidFill>
                          <a:latin typeface="Inter"/>
                        </a:rPr>
                        <a:t>Hypothesis</a:t>
                      </a:r>
                    </a:p>
                  </a:txBody>
                  <a:tcPr marL="91440" marR="91440" marT="45720" marB="45720" anchor="ctr">
                    <a:solidFill>
                      <a:srgbClr val="00D4AA"/>
                    </a:solidFill>
                  </a:tcPr>
                </a:tc>
                <a:tc>
                  <a:txBody>
                    <a:bodyPr wrap="square"/>
                    <a:lstStyle/>
                    <a:p>
                      <a:r>
                        <a:rPr sz="1400" b="1">
                          <a:solidFill>
                            <a:srgbClr val="0A1628"/>
                          </a:solidFill>
                          <a:latin typeface="Inter"/>
                        </a:rPr>
                        <a:t>Prediction</a:t>
                      </a:r>
                    </a:p>
                  </a:txBody>
                  <a:tcPr marL="91440" marR="91440" marT="45720" marB="45720" anchor="ctr">
                    <a:solidFill>
                      <a:srgbClr val="00D4AA"/>
                    </a:solidFill>
                  </a:tcPr>
                </a:tc>
                <a:tc>
                  <a:txBody>
                    <a:bodyPr wrap="square"/>
                    <a:lstStyle/>
                    <a:p>
                      <a:r>
                        <a:rPr sz="1400" b="1">
                          <a:solidFill>
                            <a:srgbClr val="0A1628"/>
                          </a:solidFill>
                          <a:latin typeface="Inter"/>
                        </a:rPr>
                        <a:t>Exhibit</a:t>
                      </a:r>
                    </a:p>
                  </a:txBody>
                  <a:tcPr marL="91440" marR="91440" marT="45720" marB="45720" anchor="ctr">
                    <a:solidFill>
                      <a:srgbClr val="00D4AA"/>
                    </a:solidFill>
                  </a:tcPr>
                </a:tc>
                <a:tc>
                  <a:txBody>
                    <a:bodyPr wrap="square"/>
                    <a:lstStyle/>
                    <a:p>
                      <a:r>
                        <a:rPr sz="1400" b="1">
                          <a:solidFill>
                            <a:srgbClr val="0A1628"/>
                          </a:solidFill>
                          <a:latin typeface="Inter"/>
                        </a:rPr>
                        <a:t>Verdict</a:t>
                      </a:r>
                    </a:p>
                  </a:txBody>
                  <a:tcPr marL="91440" marR="91440" marT="45720" marB="45720" anchor="ctr">
                    <a:solidFill>
                      <a:srgbClr val="00D4AA"/>
                    </a:solidFill>
                  </a:tcPr>
                </a:tc>
              </a:tr>
              <a:tr h="438912">
                <a:tc>
                  <a:txBody>
                    <a:bodyPr wrap="square"/>
                    <a:lstStyle/>
                    <a:p>
                      <a:r>
                        <a:rPr sz="1400" b="1">
                          <a:solidFill>
                            <a:srgbClr val="FFFFFF"/>
                          </a:solidFill>
                          <a:latin typeface="Inter"/>
                        </a:rPr>
                        <a:t>Model or provider regression</a:t>
                      </a:r>
                    </a:p>
                  </a:txBody>
                  <a:tcPr marL="91440" marR="91440" marT="45720" marB="45720" anchor="ctr">
                    <a:solidFill>
                      <a:srgbClr val="1A2742"/>
                    </a:solidFill>
                  </a:tcPr>
                </a:tc>
                <a:tc>
                  <a:txBody>
                    <a:bodyPr wrap="square"/>
                    <a:lstStyle/>
                    <a:p>
                      <a:r>
                        <a:rPr sz="1400" b="0">
                          <a:solidFill>
                            <a:srgbClr val="FFFFFF"/>
                          </a:solidFill>
                          <a:latin typeface="Inter"/>
                        </a:rPr>
                        <a:t>both prompt versions drop</a:t>
                      </a:r>
                    </a:p>
                  </a:txBody>
                  <a:tcPr marL="91440" marR="91440" marT="45720" marB="45720" anchor="ctr">
                    <a:solidFill>
                      <a:srgbClr val="1A2742"/>
                    </a:solidFill>
                  </a:tcPr>
                </a:tc>
                <a:tc>
                  <a:txBody>
                    <a:bodyPr wrap="square"/>
                    <a:lstStyle/>
                    <a:p>
                      <a:r>
                        <a:rPr sz="1400" b="0">
                          <a:solidFill>
                            <a:srgbClr val="FFFFFF"/>
                          </a:solidFill>
                          <a:latin typeface="Inter"/>
                        </a:rPr>
                        <a:t>3</a:t>
                      </a:r>
                    </a:p>
                  </a:txBody>
                  <a:tcPr marL="91440" marR="91440" marT="45720" marB="45720" anchor="ctr">
                    <a:solidFill>
                      <a:srgbClr val="1A2742"/>
                    </a:solidFill>
                  </a:tcPr>
                </a:tc>
                <a:tc>
                  <a:txBody>
                    <a:bodyPr wrap="square"/>
                    <a:lstStyle/>
                    <a:p>
                      <a:r>
                        <a:rPr sz="1400" b="0">
                          <a:solidFill>
                            <a:srgbClr val="FFFFFF"/>
                          </a:solidFill>
                          <a:latin typeface="Inter"/>
                        </a:rPr>
                        <a:t>Killed: v1 holds at 0.94</a:t>
                      </a:r>
                    </a:p>
                  </a:txBody>
                  <a:tcPr marL="91440" marR="91440" marT="45720" marB="45720" anchor="ctr">
                    <a:solidFill>
                      <a:srgbClr val="1A2742"/>
                    </a:solidFill>
                  </a:tcPr>
                </a:tc>
              </a:tr>
              <a:tr h="438912">
                <a:tc>
                  <a:txBody>
                    <a:bodyPr wrap="square"/>
                    <a:lstStyle/>
                    <a:p>
                      <a:r>
                        <a:rPr sz="1400" b="1">
                          <a:solidFill>
                            <a:srgbClr val="FFFFFF"/>
                          </a:solidFill>
                          <a:latin typeface="Inter"/>
                        </a:rPr>
                        <a:t>Retrieval regression</a:t>
                      </a:r>
                    </a:p>
                  </a:txBody>
                  <a:tcPr marL="91440" marR="91440" marT="45720" marB="45720" anchor="ctr">
                    <a:solidFill>
                      <a:srgbClr val="0F1E35"/>
                    </a:solidFill>
                  </a:tcPr>
                </a:tc>
                <a:tc>
                  <a:txBody>
                    <a:bodyPr wrap="square"/>
                    <a:lstStyle/>
                    <a:p>
                      <a:r>
                        <a:rPr sz="1400" b="0">
                          <a:solidFill>
                            <a:srgbClr val="FFFFFF"/>
                          </a:solidFill>
                          <a:latin typeface="Inter"/>
                        </a:rPr>
                        <a:t>different or empty results</a:t>
                      </a:r>
                    </a:p>
                  </a:txBody>
                  <a:tcPr marL="91440" marR="91440" marT="45720" marB="45720" anchor="ctr">
                    <a:solidFill>
                      <a:srgbClr val="0F1E35"/>
                    </a:solidFill>
                  </a:tcPr>
                </a:tc>
                <a:tc>
                  <a:txBody>
                    <a:bodyPr wrap="square"/>
                    <a:lstStyle/>
                    <a:p>
                      <a:r>
                        <a:rPr sz="1400" b="0">
                          <a:solidFill>
                            <a:srgbClr val="FFFFFF"/>
                          </a:solidFill>
                          <a:latin typeface="Inter"/>
                        </a:rPr>
                        <a:t>5</a:t>
                      </a:r>
                    </a:p>
                  </a:txBody>
                  <a:tcPr marL="91440" marR="91440" marT="45720" marB="45720" anchor="ctr">
                    <a:solidFill>
                      <a:srgbClr val="0F1E35"/>
                    </a:solidFill>
                  </a:tcPr>
                </a:tc>
                <a:tc>
                  <a:txBody>
                    <a:bodyPr wrap="square"/>
                    <a:lstStyle/>
                    <a:p>
                      <a:r>
                        <a:rPr sz="1400" b="0">
                          <a:solidFill>
                            <a:srgbClr val="FFFFFF"/>
                          </a:solidFill>
                          <a:latin typeface="Inter"/>
                        </a:rPr>
                        <a:t>Killed: same article</a:t>
                      </a:r>
                    </a:p>
                  </a:txBody>
                  <a:tcPr marL="91440" marR="91440" marT="45720" marB="45720" anchor="ctr">
                    <a:solidFill>
                      <a:srgbClr val="0F1E35"/>
                    </a:solidFill>
                  </a:tcPr>
                </a:tc>
              </a:tr>
              <a:tr h="438912">
                <a:tc>
                  <a:txBody>
                    <a:bodyPr wrap="square"/>
                    <a:lstStyle/>
                    <a:p>
                      <a:r>
                        <a:rPr sz="1400" b="1">
                          <a:solidFill>
                            <a:srgbClr val="FFFFFF"/>
                          </a:solidFill>
                          <a:latin typeface="Inter"/>
                        </a:rPr>
                        <a:t>Prompt change</a:t>
                      </a:r>
                    </a:p>
                  </a:txBody>
                  <a:tcPr marL="91440" marR="91440" marT="45720" marB="45720" anchor="ctr">
                    <a:solidFill>
                      <a:srgbClr val="1A2742"/>
                    </a:solidFill>
                  </a:tcPr>
                </a:tc>
                <a:tc>
                  <a:txBody>
                    <a:bodyPr wrap="square"/>
                    <a:lstStyle/>
                    <a:p>
                      <a:r>
                        <a:rPr sz="1400" b="0">
                          <a:solidFill>
                            <a:srgbClr val="FFFFFF"/>
                          </a:solidFill>
                          <a:latin typeface="Inter"/>
                        </a:rPr>
                        <a:t>step at 11:00; v2 lower</a:t>
                      </a:r>
                    </a:p>
                  </a:txBody>
                  <a:tcPr marL="91440" marR="91440" marT="45720" marB="45720" anchor="ctr">
                    <a:solidFill>
                      <a:srgbClr val="1A2742"/>
                    </a:solidFill>
                  </a:tcPr>
                </a:tc>
                <a:tc>
                  <a:txBody>
                    <a:bodyPr wrap="square"/>
                    <a:lstStyle/>
                    <a:p>
                      <a:r>
                        <a:rPr sz="1400" b="0">
                          <a:solidFill>
                            <a:srgbClr val="FFFFFF"/>
                          </a:solidFill>
                          <a:latin typeface="Inter"/>
                        </a:rPr>
                        <a:t>1, 3, 6</a:t>
                      </a:r>
                    </a:p>
                  </a:txBody>
                  <a:tcPr marL="91440" marR="91440" marT="45720" marB="45720" anchor="ctr">
                    <a:solidFill>
                      <a:srgbClr val="1A2742"/>
                    </a:solidFill>
                  </a:tcPr>
                </a:tc>
                <a:tc>
                  <a:txBody>
                    <a:bodyPr wrap="square"/>
                    <a:lstStyle/>
                    <a:p>
                      <a:r>
                        <a:rPr sz="1400" b="0">
                          <a:solidFill>
                            <a:srgbClr val="FFFFFF"/>
                          </a:solidFill>
                          <a:latin typeface="Inter"/>
                        </a:rPr>
                        <a:t>Confirmed</a:t>
                      </a:r>
                    </a:p>
                  </a:txBody>
                  <a:tcPr marL="91440" marR="91440" marT="45720" marB="45720" anchor="ctr">
                    <a:solidFill>
                      <a:srgbClr val="1A2742"/>
                    </a:solidFill>
                  </a:tcPr>
                </a:tc>
              </a:tr>
              <a:tr h="438912">
                <a:tc>
                  <a:txBody>
                    <a:bodyPr wrap="square"/>
                    <a:lstStyle/>
                    <a:p>
                      <a:r>
                        <a:rPr sz="1400" b="1">
                          <a:solidFill>
                            <a:srgbClr val="FFFFFF"/>
                          </a:solidFill>
                          <a:latin typeface="Inter"/>
                        </a:rPr>
                        <a:t>HR-only problem</a:t>
                      </a:r>
                    </a:p>
                  </a:txBody>
                  <a:tcPr marL="91440" marR="91440" marT="45720" marB="45720" anchor="ctr">
                    <a:solidFill>
                      <a:srgbClr val="0F1E35"/>
                    </a:solidFill>
                  </a:tcPr>
                </a:tc>
                <a:tc>
                  <a:txBody>
                    <a:bodyPr wrap="square"/>
                    <a:lstStyle/>
                    <a:p>
                      <a:r>
                        <a:rPr sz="1400" b="0">
                          <a:solidFill>
                            <a:srgbClr val="FFFFFF"/>
                          </a:solidFill>
                          <a:latin typeface="Inter"/>
                        </a:rPr>
                        <a:t>only HR scores drop</a:t>
                      </a:r>
                    </a:p>
                  </a:txBody>
                  <a:tcPr marL="91440" marR="91440" marT="45720" marB="45720" anchor="ctr">
                    <a:solidFill>
                      <a:srgbClr val="0F1E35"/>
                    </a:solidFill>
                  </a:tcPr>
                </a:tc>
                <a:tc>
                  <a:txBody>
                    <a:bodyPr wrap="square"/>
                    <a:lstStyle/>
                    <a:p>
                      <a:r>
                        <a:rPr sz="1400" b="0">
                          <a:solidFill>
                            <a:srgbClr val="FFFFFF"/>
                          </a:solidFill>
                          <a:latin typeface="Inter"/>
                        </a:rPr>
                        <a:t>3, 5</a:t>
                      </a:r>
                    </a:p>
                  </a:txBody>
                  <a:tcPr marL="91440" marR="91440" marT="45720" marB="45720" anchor="ctr">
                    <a:solidFill>
                      <a:srgbClr val="0F1E35"/>
                    </a:solidFill>
                  </a:tcPr>
                </a:tc>
                <a:tc>
                  <a:txBody>
                    <a:bodyPr wrap="square"/>
                    <a:lstStyle/>
                    <a:p>
                      <a:r>
                        <a:rPr sz="1400" b="0">
                          <a:solidFill>
                            <a:srgbClr val="FFFFFF"/>
                          </a:solidFill>
                          <a:latin typeface="Inter"/>
                        </a:rPr>
                        <a:t>Killed: every tenant on v2</a:t>
                      </a:r>
                    </a:p>
                  </a:txBody>
                  <a:tcPr marL="91440" marR="91440" marT="45720" marB="45720" anchor="ctr">
                    <a:solidFill>
                      <a:srgbClr val="0F1E35"/>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nothing was 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Grafana: latency, errors and cost all improved</a:t>
            </a:r>
          </a:p>
          <a:p>
            <a:pPr marL="292608" indent="-292608">
              <a:lnSpc>
                <a:spcPct val="120000"/>
              </a:lnSpc>
              <a:spcAft>
                <a:spcPts val="1260"/>
              </a:spcAft>
              <a:buClr>
                <a:srgbClr val="00D4AA"/>
              </a:buClr>
              <a:buFont typeface="Inter"/>
              <a:buChar char="•"/>
            </a:pPr>
            <a:r>
              <a:rPr sz="1656" b="0">
                <a:solidFill>
                  <a:srgbClr val="00D4AA"/>
                </a:solidFill>
                <a:latin typeface="JetBrains Mono"/>
              </a:rPr>
              <a:t>AtlasJudgeScoreLow</a:t>
            </a:r>
            <a:r>
              <a:rPr sz="1800" b="0">
                <a:solidFill>
                  <a:srgbClr val="FFFFFF"/>
                </a:solidFill>
                <a:latin typeface="Inter"/>
              </a:rPr>
              <a:t> exists in </a:t>
            </a:r>
            <a:r>
              <a:rPr sz="1656" b="0">
                <a:solidFill>
                  <a:srgbClr val="00D4AA"/>
                </a:solidFill>
                <a:latin typeface="JetBrains Mono"/>
              </a:rPr>
              <a:t>alerts.yml</a:t>
            </a:r>
            <a:r>
              <a:rPr sz="1800" b="0">
                <a:solidFill>
                  <a:srgbClr val="FFFFFF"/>
                </a:solidFill>
                <a:latin typeface="Inter"/>
              </a:rPr>
              <a:t>, but cannot fire</a:t>
            </a:r>
          </a:p>
          <a:p>
            <a:pPr marL="292608" indent="-292608">
              <a:lnSpc>
                <a:spcPct val="120000"/>
              </a:lnSpc>
              <a:spcAft>
                <a:spcPts val="1260"/>
              </a:spcAft>
              <a:buClr>
                <a:srgbClr val="00D4AA"/>
              </a:buClr>
              <a:buFont typeface="Inter"/>
              <a:buChar char="•"/>
            </a:pPr>
            <a:r>
              <a:rPr sz="1800" b="0">
                <a:solidFill>
                  <a:srgbClr val="FFFFFF"/>
                </a:solidFill>
                <a:latin typeface="Inter"/>
              </a:rPr>
              <a:t>The judge is a batch job; </a:t>
            </a:r>
            <a:r>
              <a:rPr sz="1656" b="0">
                <a:solidFill>
                  <a:srgbClr val="00D4AA"/>
                </a:solidFill>
                <a:latin typeface="JetBrains Mono"/>
              </a:rPr>
              <a:t>atlas_judge_score</a:t>
            </a:r>
            <a:r>
              <a:rPr sz="1800" b="0">
                <a:solidFill>
                  <a:srgbClr val="FFFFFF"/>
                </a:solidFill>
                <a:latin typeface="Inter"/>
              </a:rPr>
              <a:t> is never observed</a:t>
            </a:r>
          </a:p>
          <a:p>
            <a:pPr marL="292608" indent="-292608">
              <a:lnSpc>
                <a:spcPct val="120000"/>
              </a:lnSpc>
              <a:spcAft>
                <a:spcPts val="1260"/>
              </a:spcAft>
              <a:buClr>
                <a:srgbClr val="00D4AA"/>
              </a:buClr>
              <a:buFont typeface="Inter"/>
              <a:buChar char="•"/>
            </a:pPr>
            <a:r>
              <a:rPr sz="1800" b="0">
                <a:solidFill>
                  <a:srgbClr val="FFFFFF"/>
                </a:solidFill>
                <a:latin typeface="Inter"/>
              </a:rPr>
              <a:t>The Ops Console's batch rules did flag it: </a:t>
            </a:r>
            <a:r>
              <a:rPr sz="1656" b="0">
                <a:solidFill>
                  <a:srgbClr val="00D4AA"/>
                </a:solidFill>
                <a:latin typeface="JetBrains Mono"/>
              </a:rPr>
              <a:t>judge_drift</a:t>
            </a:r>
            <a:r>
              <a:rPr sz="1800" b="0">
                <a:solidFill>
                  <a:srgbClr val="FFFFFF"/>
                </a:solidFill>
                <a:latin typeface="Inter"/>
              </a:rPr>
              <a:t>, PSI 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Root cause, one sentence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607040" cy="4892040"/>
          </a:xfrm>
          <a:prstGeom prst="rect">
            <a:avLst/>
          </a:prstGeom>
          <a:noFill/>
        </p:spPr>
        <p:txBody>
          <a:bodyPr wrap="square" lIns="45720" rIns="45720" tIns="27432" bIns="27432" anchor="t">
            <a:spAutoFit/>
          </a:bodyPr>
          <a:lstStyle/>
          <a:p>
            <a:pPr>
              <a:spcAft>
                <a:spcPts val="600"/>
              </a:spcAft>
            </a:pPr>
            <a:r>
              <a:rPr sz="1500" b="0">
                <a:solidFill>
                  <a:srgbClr val="CBD5E1"/>
                </a:solidFill>
                <a:latin typeface="Inter"/>
              </a:rPr>
              <a:t>The </a:t>
            </a:r>
            <a:r>
              <a:rPr sz="1380" b="0">
                <a:solidFill>
                  <a:srgbClr val="00D4AA"/>
                </a:solidFill>
                <a:latin typeface="JetBrains Mono"/>
              </a:rPr>
              <a:t>production</a:t>
            </a:r>
            <a:r>
              <a:rPr sz="1500" b="0">
                <a:solidFill>
                  <a:srgbClr val="CBD5E1"/>
                </a:solidFill>
                <a:latin typeface="Inter"/>
              </a:rPr>
              <a:t> label on </a:t>
            </a:r>
            <a:r>
              <a:rPr sz="1380" b="0">
                <a:solidFill>
                  <a:srgbClr val="00D4AA"/>
                </a:solidFill>
                <a:latin typeface="JetBrains Mono"/>
              </a:rPr>
              <a:t>atlas-system</a:t>
            </a:r>
            <a:r>
              <a:rPr sz="1500" b="0">
                <a:solidFill>
                  <a:srgbClr val="CBD5E1"/>
                </a:solidFill>
                <a:latin typeface="Inter"/>
              </a:rPr>
              <a:t> moved from version 1 to version 2 at 11:00 Monday without an offline eval; version 2 removed the citation and next-step rules, so grounded fell from 0.94 to 0.56 and resolved from 0.89 to 0.63, while cost and latency improved and the only quality alert could not fire.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gate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Promote the failing v2 traces to </a:t>
            </a:r>
            <a:r>
              <a:rPr sz="1656" b="0">
                <a:solidFill>
                  <a:srgbClr val="00D4AA"/>
                </a:solidFill>
                <a:latin typeface="JetBrains Mono"/>
              </a:rPr>
              <a:t>atlas-failures</a:t>
            </a:r>
            <a:r>
              <a:rPr sz="1800" b="0">
                <a:solidFill>
                  <a:srgbClr val="FFFFFF"/>
                </a:solidFill>
                <a:latin typeface="Inter"/>
              </a:rPr>
              <a:t> (</a:t>
            </a:r>
            <a:r>
              <a:rPr sz="1656" b="0">
                <a:solidFill>
                  <a:srgbClr val="00D4AA"/>
                </a:solidFill>
                <a:latin typeface="JetBrains Mono"/>
              </a:rPr>
              <a:t>make dataset</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Promotion runs in CI: offline eval first, label second</a:t>
            </a:r>
          </a:p>
          <a:p>
            <a:pPr marL="292608" indent="-292608">
              <a:lnSpc>
                <a:spcPct val="120000"/>
              </a:lnSpc>
              <a:spcAft>
                <a:spcPts val="1260"/>
              </a:spcAft>
              <a:buClr>
                <a:srgbClr val="00D4AA"/>
              </a:buClr>
              <a:buFont typeface="Inter"/>
              <a:buChar char="•"/>
            </a:pPr>
            <a:r>
              <a:rPr sz="1656" b="0">
                <a:solidFill>
                  <a:srgbClr val="00D4AA"/>
                </a:solidFill>
                <a:latin typeface="JetBrains Mono"/>
              </a:rPr>
              <a:t>promote</a:t>
            </a:r>
            <a:r>
              <a:rPr sz="1800" b="0">
                <a:solidFill>
                  <a:srgbClr val="FFFFFF"/>
                </a:solidFill>
                <a:latin typeface="Inter"/>
              </a:rPr>
              <a:t> refuses below 0.85 grounded (your addition)</a:t>
            </a:r>
          </a:p>
          <a:p>
            <a:pPr marL="292608" indent="-292608">
              <a:lnSpc>
                <a:spcPct val="120000"/>
              </a:lnSpc>
              <a:spcAft>
                <a:spcPts val="1260"/>
              </a:spcAft>
              <a:buClr>
                <a:srgbClr val="00D4AA"/>
              </a:buClr>
              <a:buFont typeface="Inter"/>
              <a:buChar char="•"/>
            </a:pPr>
            <a:r>
              <a:rPr sz="1800" b="0">
                <a:solidFill>
                  <a:srgbClr val="FFFFFF"/>
                </a:solidFill>
                <a:latin typeface="Inter"/>
              </a:rPr>
              <a:t>Production label edits leave the UI; verify your plan's roles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would have prevented this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4.4: a label change is a deploy</a:t>
            </a:r>
          </a:p>
          <a:p>
            <a:pPr marL="292608" indent="-292608">
              <a:lnSpc>
                <a:spcPct val="120000"/>
              </a:lnSpc>
              <a:spcAft>
                <a:spcPts val="1260"/>
              </a:spcAft>
              <a:buClr>
                <a:srgbClr val="00D4AA"/>
              </a:buClr>
              <a:buFont typeface="Inter"/>
              <a:buChar char="•"/>
            </a:pPr>
            <a:r>
              <a:rPr sz="1800" b="0">
                <a:solidFill>
                  <a:srgbClr val="FFFFFF"/>
                </a:solidFill>
                <a:latin typeface="Inter"/>
              </a:rPr>
              <a:t>8.5: </a:t>
            </a:r>
            <a:r>
              <a:rPr sz="1656" b="0">
                <a:solidFill>
                  <a:srgbClr val="00D4AA"/>
                </a:solidFill>
                <a:latin typeface="JetBrains Mono"/>
              </a:rPr>
              <a:t>drift_report.py --store .atlas/incident-03.sqlite --split-hour 11</a:t>
            </a:r>
            <a:r>
              <a:rPr sz="1800" b="0">
                <a:solidFill>
                  <a:srgbClr val="FFFFFF"/>
                </a:solidFill>
                <a:latin typeface="Inter"/>
              </a:rPr>
              <a:t>: grounded PSI 5.5</a:t>
            </a:r>
          </a:p>
          <a:p>
            <a:pPr marL="292608" indent="-292608">
              <a:lnSpc>
                <a:spcPct val="120000"/>
              </a:lnSpc>
              <a:spcAft>
                <a:spcPts val="1260"/>
              </a:spcAft>
              <a:buClr>
                <a:srgbClr val="00D4AA"/>
              </a:buClr>
              <a:buFont typeface="Inter"/>
              <a:buChar char="•"/>
            </a:pPr>
            <a:r>
              <a:rPr sz="1800" b="0">
                <a:solidFill>
                  <a:srgbClr val="FFFFFF"/>
                </a:solidFill>
                <a:latin typeface="Inter"/>
              </a:rPr>
              <a:t>8.6: v2 fails the </a:t>
            </a:r>
            <a:r>
              <a:rPr sz="1656" b="0">
                <a:solidFill>
                  <a:srgbClr val="00D4AA"/>
                </a:solidFill>
                <a:latin typeface="JetBrains Mono"/>
              </a:rPr>
              <a:t>atlas-failures</a:t>
            </a:r>
            <a:r>
              <a:rPr sz="1800" b="0">
                <a:solidFill>
                  <a:srgbClr val="FFFFFF"/>
                </a:solidFill>
                <a:latin typeface="Inter"/>
              </a:rPr>
              <a:t> dataset before it gets a label</a:t>
            </a:r>
          </a:p>
          <a:p>
            <a:pPr marL="292608" indent="-292608">
              <a:lnSpc>
                <a:spcPct val="120000"/>
              </a:lnSpc>
              <a:spcAft>
                <a:spcPts val="1260"/>
              </a:spcAft>
              <a:buClr>
                <a:srgbClr val="00D4AA"/>
              </a:buClr>
              <a:buFont typeface="Inter"/>
              <a:buChar char="•"/>
            </a:pPr>
            <a:r>
              <a:rPr sz="1800" b="0">
                <a:solidFill>
                  <a:srgbClr val="FFFFFF"/>
                </a:solidFill>
                <a:latin typeface="Inter"/>
              </a:rPr>
              <a:t>9.5: a judge alert that can actually fire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Judge by prompt version found it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Cheaper and faster can mean worse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Roll back with </a:t>
            </a:r>
            <a:r>
              <a:rPr sz="1656" b="0">
                <a:solidFill>
                  <a:srgbClr val="00D4AA"/>
                </a:solidFill>
                <a:latin typeface="JetBrains Mono"/>
              </a:rPr>
              <a:t>promote</a:t>
            </a:r>
            <a:r>
              <a:rPr sz="1800" b="1">
                <a:solidFill>
                  <a:srgbClr val="FFFFFF"/>
                </a:solidFill>
                <a:latin typeface="Inter"/>
              </a:rPr>
              <a:t>; gate the label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Writing the postmortem</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writing the postmortem: blameless, specific, with action items that map to instrumentation, budgets and tests.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INCIDENT LABS: YOU ARE ON CALL</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Writing the postmortem</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Write a blameless postmortem using the template: impact in numbers, a sourced timeline, root cause and contributing factors, detection and response gaps.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postmortem template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Summary: three sentences, no jargon</a:t>
            </a:r>
          </a:p>
          <a:p>
            <a:pPr marL="292608" indent="-292608">
              <a:lnSpc>
                <a:spcPct val="120000"/>
              </a:lnSpc>
              <a:spcAft>
                <a:spcPts val="1260"/>
              </a:spcAft>
              <a:buClr>
                <a:srgbClr val="00D4AA"/>
              </a:buClr>
              <a:buFont typeface="Inter"/>
              <a:buChar char="•"/>
            </a:pPr>
            <a:r>
              <a:rPr sz="1800" b="0">
                <a:solidFill>
                  <a:srgbClr val="FFFFFF"/>
                </a:solidFill>
                <a:latin typeface="Inter"/>
              </a:rPr>
              <a:t>Impact: numbers, with the source of each number</a:t>
            </a:r>
          </a:p>
          <a:p>
            <a:pPr marL="292608" indent="-292608">
              <a:lnSpc>
                <a:spcPct val="120000"/>
              </a:lnSpc>
              <a:spcAft>
                <a:spcPts val="1260"/>
              </a:spcAft>
              <a:buClr>
                <a:srgbClr val="00D4AA"/>
              </a:buClr>
              <a:buFont typeface="Inter"/>
              <a:buChar char="•"/>
            </a:pPr>
            <a:r>
              <a:rPr sz="1800" b="0">
                <a:solidFill>
                  <a:srgbClr val="FFFFFF"/>
                </a:solidFill>
                <a:latin typeface="Inter"/>
              </a:rPr>
              <a:t>Timeline: time, event, source; detection and resolution marked</a:t>
            </a:r>
          </a:p>
          <a:p>
            <a:pPr marL="292608" indent="-292608">
              <a:lnSpc>
                <a:spcPct val="120000"/>
              </a:lnSpc>
              <a:spcAft>
                <a:spcPts val="1260"/>
              </a:spcAft>
              <a:buClr>
                <a:srgbClr val="00D4AA"/>
              </a:buClr>
              <a:buFont typeface="Inter"/>
              <a:buChar char="•"/>
            </a:pPr>
            <a:r>
              <a:rPr sz="1800" b="0">
                <a:solidFill>
                  <a:srgbClr val="FFFFFF"/>
                </a:solidFill>
                <a:latin typeface="Inter"/>
              </a:rPr>
              <a:t>Root cause and contributing factors</a:t>
            </a:r>
          </a:p>
          <a:p>
            <a:pPr marL="292608" indent="-292608">
              <a:lnSpc>
                <a:spcPct val="120000"/>
              </a:lnSpc>
              <a:spcAft>
                <a:spcPts val="1260"/>
              </a:spcAft>
              <a:buClr>
                <a:srgbClr val="00D4AA"/>
              </a:buClr>
              <a:buFont typeface="Inter"/>
              <a:buChar char="•"/>
            </a:pPr>
            <a:r>
              <a:rPr sz="1800" b="0">
                <a:solidFill>
                  <a:srgbClr val="FFFFFF"/>
                </a:solidFill>
                <a:latin typeface="Inter"/>
              </a:rPr>
              <a:t>Detection and response: how we found out, what slowed us down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postmortem template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Action items: type, owner, due date, verification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Root cause versus contributing factor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Root cause: removed, the incident does not happen</a:t>
            </a:r>
          </a:p>
          <a:p>
            <a:pPr marL="292608" indent="-292608">
              <a:lnSpc>
                <a:spcPct val="120000"/>
              </a:lnSpc>
              <a:spcAft>
                <a:spcPts val="1260"/>
              </a:spcAft>
              <a:buClr>
                <a:srgbClr val="00D4AA"/>
              </a:buClr>
              <a:buFont typeface="Inter"/>
              <a:buChar char="•"/>
            </a:pPr>
            <a:r>
              <a:rPr sz="1800" b="0">
                <a:solidFill>
                  <a:srgbClr val="FFFFFF"/>
                </a:solidFill>
                <a:latin typeface="Inter"/>
              </a:rPr>
              <a:t>Contributing factor: removed, it is smaller or found sooner</a:t>
            </a:r>
          </a:p>
          <a:p>
            <a:pPr marL="292608" indent="-292608">
              <a:lnSpc>
                <a:spcPct val="120000"/>
              </a:lnSpc>
              <a:spcAft>
                <a:spcPts val="1260"/>
              </a:spcAft>
              <a:buClr>
                <a:srgbClr val="00D4AA"/>
              </a:buClr>
              <a:buFont typeface="Inter"/>
              <a:buChar char="•"/>
            </a:pPr>
            <a:r>
              <a:rPr sz="1800" b="0">
                <a:solidFill>
                  <a:srgbClr val="FFFFFF"/>
                </a:solidFill>
                <a:latin typeface="Inter"/>
              </a:rPr>
              <a:t>Root cause here: the diet and top-k could be overridden per tenant with no gate</a:t>
            </a:r>
          </a:p>
          <a:p>
            <a:pPr marL="292608" indent="-292608">
              <a:lnSpc>
                <a:spcPct val="120000"/>
              </a:lnSpc>
              <a:spcAft>
                <a:spcPts val="1260"/>
              </a:spcAft>
              <a:buClr>
                <a:srgbClr val="00D4AA"/>
              </a:buClr>
              <a:buFont typeface="Inter"/>
              <a:buChar char="•"/>
            </a:pPr>
            <a:r>
              <a:rPr sz="1800" b="0">
                <a:solidFill>
                  <a:srgbClr val="FFFFFF"/>
                </a:solidFill>
                <a:latin typeface="Inter"/>
              </a:rPr>
              <a:t>Contributing: timeout storm, 20 s timeout, breaker blind to intermittent failures, retry-storm rule not routed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anti-patterns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Blame: "the KB team turned it off." Fix the system</a:t>
            </a:r>
          </a:p>
          <a:p>
            <a:pPr marL="292608" indent="-292608">
              <a:lnSpc>
                <a:spcPct val="120000"/>
              </a:lnSpc>
              <a:spcAft>
                <a:spcPts val="1539"/>
              </a:spcAft>
              <a:buClr>
                <a:srgbClr val="00D4AA"/>
              </a:buClr>
              <a:buFont typeface="Inter"/>
              <a:buChar char="•"/>
            </a:pPr>
            <a:r>
              <a:rPr sz="2200" b="0">
                <a:solidFill>
                  <a:srgbClr val="FFFFFF"/>
                </a:solidFill>
                <a:latin typeface="Inter"/>
              </a:rPr>
              <a:t>Vagueness: "improve monitoring." Name the signal and where it pages</a:t>
            </a:r>
          </a:p>
          <a:p>
            <a:pPr marL="292608" indent="-292608">
              <a:lnSpc>
                <a:spcPct val="120000"/>
              </a:lnSpc>
              <a:spcAft>
                <a:spcPts val="1539"/>
              </a:spcAft>
              <a:buClr>
                <a:srgbClr val="00D4AA"/>
              </a:buClr>
              <a:buFont typeface="Inter"/>
              <a:buChar char="•"/>
            </a:pPr>
            <a:r>
              <a:rPr sz="2200" b="0">
                <a:solidFill>
                  <a:srgbClr val="FFFFFF"/>
                </a:solidFill>
                <a:latin typeface="Inter"/>
              </a:rPr>
              <a:t>Unverifiable: "add tests." Name the test and what makes it red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number has a source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Mark detection, resolution and the counterfactual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Typed, owned, verifiable action items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Project 2: Investigate a fourth incident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Project 2: a fourth incident, unrevealed.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INCIDENT LABS: YOU ARE ON CALL</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Project 2: Investigate a fourth incident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a full investigation on an unrevealed incident dataset with no hints.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Project 2 brief</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Dataset: </a:t>
            </a:r>
            <a:r>
              <a:rPr sz="1656" b="0">
                <a:solidFill>
                  <a:srgbClr val="00D4AA"/>
                </a:solidFill>
                <a:latin typeface="JetBrains Mono"/>
              </a:rPr>
              <a:t>incidents/incident-04-project/</a:t>
            </a:r>
            <a:r>
              <a:rPr sz="1800" b="0">
                <a:solidFill>
                  <a:srgbClr val="FFFFFF"/>
                </a:solidFill>
                <a:latin typeface="Inter"/>
              </a:rPr>
              <a:t>, linked from </a:t>
            </a:r>
            <a:r>
              <a:rPr sz="1656" b="0">
                <a:solidFill>
                  <a:srgbClr val="00D4AA"/>
                </a:solidFill>
                <a:latin typeface="JetBrains Mono"/>
              </a:rPr>
              <a:t>05-projects/project-2-incident-postmortem.md</a:t>
            </a:r>
          </a:p>
          <a:p>
            <a:pPr marL="292608" indent="-292608">
              <a:lnSpc>
                <a:spcPct val="120000"/>
              </a:lnSpc>
              <a:spcAft>
                <a:spcPts val="1260"/>
              </a:spcAft>
              <a:buClr>
                <a:srgbClr val="00D4AA"/>
              </a:buClr>
              <a:buFont typeface="Inter"/>
              <a:buChar char="•"/>
            </a:pPr>
            <a:r>
              <a:rPr sz="1800" b="0">
                <a:solidFill>
                  <a:srgbClr val="FFFFFF"/>
                </a:solidFill>
                <a:latin typeface="Inter"/>
              </a:rPr>
              <a:t>Load it: </a:t>
            </a:r>
            <a:r>
              <a:rPr sz="1656" b="0">
                <a:solidFill>
                  <a:srgbClr val="00D4AA"/>
                </a:solidFill>
                <a:latin typeface="JetBrains Mono"/>
              </a:rPr>
              <a:t>make incident N=4</a:t>
            </a:r>
            <a:r>
              <a:rPr sz="1800" b="0">
                <a:solidFill>
                  <a:srgbClr val="FFFFFF"/>
                </a:solidFill>
                <a:latin typeface="Inter"/>
              </a:rPr>
              <a:t>, then </a:t>
            </a:r>
            <a:r>
              <a:rPr sz="1656" b="0">
                <a:solidFill>
                  <a:srgbClr val="00D4AA"/>
                </a:solidFill>
                <a:latin typeface="JetBrains Mono"/>
              </a:rPr>
              <a:t>make console STORE=.atlas/incident-04.sqlite</a:t>
            </a:r>
          </a:p>
          <a:p>
            <a:pPr marL="292608" indent="-292608">
              <a:lnSpc>
                <a:spcPct val="120000"/>
              </a:lnSpc>
              <a:spcAft>
                <a:spcPts val="1260"/>
              </a:spcAft>
              <a:buClr>
                <a:srgbClr val="00D4AA"/>
              </a:buClr>
              <a:buFont typeface="Inter"/>
              <a:buChar char="•"/>
            </a:pPr>
            <a:r>
              <a:rPr sz="1800" b="0">
                <a:solidFill>
                  <a:srgbClr val="FFFFFF"/>
                </a:solidFill>
                <a:latin typeface="Inter"/>
              </a:rPr>
              <a:t>Deliverable: </a:t>
            </a:r>
            <a:r>
              <a:rPr sz="1656" b="0">
                <a:solidFill>
                  <a:srgbClr val="00D4AA"/>
                </a:solidFill>
                <a:latin typeface="JetBrains Mono"/>
              </a:rPr>
              <a:t>postmortem.md</a:t>
            </a:r>
            <a:r>
              <a:rPr sz="1800" b="0">
                <a:solidFill>
                  <a:srgbClr val="FFFFFF"/>
                </a:solidFill>
                <a:latin typeface="Inter"/>
              </a:rPr>
              <a:t> using </a:t>
            </a:r>
            <a:r>
              <a:rPr sz="1656" b="0">
                <a:solidFill>
                  <a:srgbClr val="00D4AA"/>
                </a:solidFill>
                <a:latin typeface="JetBrains Mono"/>
              </a:rPr>
              <a:t>10-resources/postmortem-template.md</a:t>
            </a:r>
          </a:p>
          <a:p>
            <a:pPr marL="292608" indent="-292608">
              <a:lnSpc>
                <a:spcPct val="120000"/>
              </a:lnSpc>
              <a:spcAft>
                <a:spcPts val="1260"/>
              </a:spcAft>
              <a:buClr>
                <a:srgbClr val="00D4AA"/>
              </a:buClr>
              <a:buFont typeface="Inter"/>
              <a:buChar char="•"/>
            </a:pPr>
            <a:r>
              <a:rPr sz="1800" b="0">
                <a:solidFill>
                  <a:srgbClr val="FFFFFF"/>
                </a:solidFill>
                <a:latin typeface="Inter"/>
              </a:rPr>
              <a:t>Time box: 2 to 4 hours, including writing</a:t>
            </a:r>
          </a:p>
          <a:p>
            <a:pPr marL="292608" indent="-292608">
              <a:lnSpc>
                <a:spcPct val="120000"/>
              </a:lnSpc>
              <a:spcAft>
                <a:spcPts val="1260"/>
              </a:spcAft>
              <a:buClr>
                <a:srgbClr val="00D4AA"/>
              </a:buClr>
              <a:buFont typeface="Inter"/>
              <a:buChar char="•"/>
            </a:pPr>
            <a:r>
              <a:rPr sz="1800" b="0">
                <a:solidFill>
                  <a:srgbClr val="FFFFFF"/>
                </a:solidFill>
                <a:latin typeface="Inter"/>
              </a:rPr>
              <a:t>No </a:t>
            </a:r>
            <a:r>
              <a:rPr sz="1656" b="0">
                <a:solidFill>
                  <a:srgbClr val="00D4AA"/>
                </a:solidFill>
                <a:latin typeface="JetBrains Mono"/>
              </a:rPr>
              <a:t>solution.md</a:t>
            </a:r>
            <a:r>
              <a:rPr sz="1800" b="0">
                <a:solidFill>
                  <a:srgbClr val="FFFFFF"/>
                </a:solidFill>
                <a:latin typeface="Inter"/>
              </a:rPr>
              <a:t>; the Q&amp;A thread is for method questions, not answers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Rubric</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304288"/>
        </p:xfrm>
        <a:graphic>
          <a:graphicData uri="http://schemas.openxmlformats.org/drawingml/2006/table">
            <a:tbl>
              <a:tblPr firstRow="1" bandRow="1">
                <a:tableStyleId>{5C22544A-7EE6-4342-B048-85BDC9FD1C3A}</a:tableStyleId>
              </a:tblPr>
              <a:tblGrid>
                <a:gridCol w="10266218"/>
                <a:gridCol w="1026621"/>
              </a:tblGrid>
              <a:tr h="384048">
                <a:tc>
                  <a:txBody>
                    <a:bodyPr wrap="square"/>
                    <a:lstStyle/>
                    <a:p>
                      <a:r>
                        <a:rPr sz="1200" b="1">
                          <a:solidFill>
                            <a:srgbClr val="0A1628"/>
                          </a:solidFill>
                          <a:latin typeface="Inter"/>
                        </a:rPr>
                        <a:t>Criterion</a:t>
                      </a:r>
                    </a:p>
                  </a:txBody>
                  <a:tcPr marL="91440" marR="91440" marT="45720" marB="45720" anchor="ctr">
                    <a:solidFill>
                      <a:srgbClr val="00D4AA"/>
                    </a:solidFill>
                  </a:tcPr>
                </a:tc>
                <a:tc>
                  <a:txBody>
                    <a:bodyPr wrap="square"/>
                    <a:lstStyle/>
                    <a:p>
                      <a:r>
                        <a:rPr sz="1200" b="1">
                          <a:solidFill>
                            <a:srgbClr val="0A1628"/>
                          </a:solidFill>
                          <a:latin typeface="Inter"/>
                        </a:rPr>
                        <a:t>Weight</a:t>
                      </a:r>
                    </a:p>
                  </a:txBody>
                  <a:tcPr marL="91440" marR="91440" marT="45720" marB="45720" anchor="ctr">
                    <a:solidFill>
                      <a:srgbClr val="00D4AA"/>
                    </a:solidFill>
                  </a:tcPr>
                </a:tc>
              </a:tr>
              <a:tr h="384048">
                <a:tc>
                  <a:txBody>
                    <a:bodyPr wrap="square"/>
                    <a:lstStyle/>
                    <a:p>
                      <a:r>
                        <a:rPr sz="1200" b="1">
                          <a:solidFill>
                            <a:srgbClr val="FFFFFF"/>
                          </a:solidFill>
                          <a:latin typeface="Inter"/>
                        </a:rPr>
                        <a:t>Timeline with sources; detection and resolution marked</a:t>
                      </a:r>
                    </a:p>
                  </a:txBody>
                  <a:tcPr marL="91440" marR="91440" marT="45720" marB="45720" anchor="ctr">
                    <a:solidFill>
                      <a:srgbClr val="1A2742"/>
                    </a:solidFill>
                  </a:tcPr>
                </a:tc>
                <a:tc>
                  <a:txBody>
                    <a:bodyPr wrap="square"/>
                    <a:lstStyle/>
                    <a:p>
                      <a:r>
                        <a:rPr sz="1200" b="0">
                          <a:solidFill>
                            <a:srgbClr val="FFFFFF"/>
                          </a:solidFill>
                          <a:latin typeface="Inter"/>
                        </a:rPr>
                        <a:t>20%</a:t>
                      </a:r>
                    </a:p>
                  </a:txBody>
                  <a:tcPr marL="91440" marR="91440" marT="45720" marB="45720" anchor="ctr">
                    <a:solidFill>
                      <a:srgbClr val="1A2742"/>
                    </a:solidFill>
                  </a:tcPr>
                </a:tc>
              </a:tr>
              <a:tr h="384048">
                <a:tc>
                  <a:txBody>
                    <a:bodyPr wrap="square"/>
                    <a:lstStyle/>
                    <a:p>
                      <a:r>
                        <a:rPr sz="1200" b="1">
                          <a:solidFill>
                            <a:srgbClr val="FFFFFF"/>
                          </a:solidFill>
                          <a:latin typeface="Inter"/>
                        </a:rPr>
                        <a:t>Root cause correctly separated from contributing factors</a:t>
                      </a:r>
                    </a:p>
                  </a:txBody>
                  <a:tcPr marL="91440" marR="91440" marT="45720" marB="45720" anchor="ctr">
                    <a:solidFill>
                      <a:srgbClr val="0F1E35"/>
                    </a:solidFill>
                  </a:tcPr>
                </a:tc>
                <a:tc>
                  <a:txBody>
                    <a:bodyPr wrap="square"/>
                    <a:lstStyle/>
                    <a:p>
                      <a:r>
                        <a:rPr sz="1200" b="0">
                          <a:solidFill>
                            <a:srgbClr val="FFFFFF"/>
                          </a:solidFill>
                          <a:latin typeface="Inter"/>
                        </a:rPr>
                        <a:t>25%</a:t>
                      </a:r>
                    </a:p>
                  </a:txBody>
                  <a:tcPr marL="91440" marR="91440" marT="45720" marB="45720" anchor="ctr">
                    <a:solidFill>
                      <a:srgbClr val="0F1E35"/>
                    </a:solidFill>
                  </a:tcPr>
                </a:tc>
              </a:tr>
              <a:tr h="384048">
                <a:tc>
                  <a:txBody>
                    <a:bodyPr wrap="square"/>
                    <a:lstStyle/>
                    <a:p>
                      <a:r>
                        <a:rPr sz="1200" b="1">
                          <a:solidFill>
                            <a:srgbClr val="FFFFFF"/>
                          </a:solidFill>
                          <a:latin typeface="Inter"/>
                        </a:rPr>
                        <a:t>Evidence: each claim points at an exhibit someone else can open</a:t>
                      </a:r>
                    </a:p>
                  </a:txBody>
                  <a:tcPr marL="91440" marR="91440" marT="45720" marB="45720" anchor="ctr">
                    <a:solidFill>
                      <a:srgbClr val="1A2742"/>
                    </a:solidFill>
                  </a:tcPr>
                </a:tc>
                <a:tc>
                  <a:txBody>
                    <a:bodyPr wrap="square"/>
                    <a:lstStyle/>
                    <a:p>
                      <a:r>
                        <a:rPr sz="1200" b="0">
                          <a:solidFill>
                            <a:srgbClr val="FFFFFF"/>
                          </a:solidFill>
                          <a:latin typeface="Inter"/>
                        </a:rPr>
                        <a:t>20%</a:t>
                      </a:r>
                    </a:p>
                  </a:txBody>
                  <a:tcPr marL="91440" marR="91440" marT="45720" marB="45720" anchor="ctr">
                    <a:solidFill>
                      <a:srgbClr val="1A2742"/>
                    </a:solidFill>
                  </a:tcPr>
                </a:tc>
              </a:tr>
              <a:tr h="384048">
                <a:tc>
                  <a:txBody>
                    <a:bodyPr wrap="square"/>
                    <a:lstStyle/>
                    <a:p>
                      <a:r>
                        <a:rPr sz="1200" b="1">
                          <a:solidFill>
                            <a:srgbClr val="FFFFFF"/>
                          </a:solidFill>
                          <a:latin typeface="Inter"/>
                        </a:rPr>
                        <a:t>Action items: typed, owned, dated, verifiable; at least one "would have caught it"</a:t>
                      </a:r>
                    </a:p>
                  </a:txBody>
                  <a:tcPr marL="91440" marR="91440" marT="45720" marB="45720" anchor="ctr">
                    <a:solidFill>
                      <a:srgbClr val="0F1E35"/>
                    </a:solidFill>
                  </a:tcPr>
                </a:tc>
                <a:tc>
                  <a:txBody>
                    <a:bodyPr wrap="square"/>
                    <a:lstStyle/>
                    <a:p>
                      <a:r>
                        <a:rPr sz="1200" b="0">
                          <a:solidFill>
                            <a:srgbClr val="FFFFFF"/>
                          </a:solidFill>
                          <a:latin typeface="Inter"/>
                        </a:rPr>
                        <a:t>25%</a:t>
                      </a:r>
                    </a:p>
                  </a:txBody>
                  <a:tcPr marL="91440" marR="91440" marT="45720" marB="45720" anchor="ctr">
                    <a:solidFill>
                      <a:srgbClr val="0F1E35"/>
                    </a:solidFill>
                  </a:tcPr>
                </a:tc>
              </a:tr>
              <a:tr h="384048">
                <a:tc>
                  <a:txBody>
                    <a:bodyPr wrap="square"/>
                    <a:lstStyle/>
                    <a:p>
                      <a:r>
                        <a:rPr sz="1200" b="1">
                          <a:solidFill>
                            <a:srgbClr val="FFFFFF"/>
                          </a:solidFill>
                          <a:latin typeface="Inter"/>
                        </a:rPr>
                        <a:t>Blameless, plain-language summary</a:t>
                      </a:r>
                    </a:p>
                  </a:txBody>
                  <a:tcPr marL="91440" marR="91440" marT="45720" marB="45720" anchor="ctr">
                    <a:solidFill>
                      <a:srgbClr val="1A2742"/>
                    </a:solidFill>
                  </a:tcPr>
                </a:tc>
                <a:tc>
                  <a:txBody>
                    <a:bodyPr wrap="square"/>
                    <a:lstStyle/>
                    <a:p>
                      <a:r>
                        <a:rPr sz="1200" b="0">
                          <a:solidFill>
                            <a:srgbClr val="FFFFFF"/>
                          </a:solidFill>
                          <a:latin typeface="Inter"/>
                        </a:rPr>
                        <a:t>10%</a:t>
                      </a:r>
                    </a:p>
                  </a:txBody>
                  <a:tcPr marL="91440" marR="91440" marT="45720" marB="45720" anchor="ctr">
                    <a:solidFill>
                      <a:srgbClr val="1A2742"/>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you're stuck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Go back to the page map in Lecture 11.1: which question haven't you asked?</a:t>
            </a:r>
          </a:p>
          <a:p>
            <a:pPr marL="292608" indent="-292608">
              <a:lnSpc>
                <a:spcPct val="120000"/>
              </a:lnSpc>
              <a:spcAft>
                <a:spcPts val="1260"/>
              </a:spcAft>
              <a:buClr>
                <a:srgbClr val="00D4AA"/>
              </a:buClr>
              <a:buFont typeface="Inter"/>
              <a:buChar char="•"/>
            </a:pPr>
            <a:r>
              <a:rPr sz="1800" b="0">
                <a:solidFill>
                  <a:srgbClr val="FFFFFF"/>
                </a:solidFill>
                <a:latin typeface="Inter"/>
              </a:rPr>
              <a:t>Compare a good trace and a bad trace for the same intent</a:t>
            </a:r>
          </a:p>
          <a:p>
            <a:pPr marL="292608" indent="-292608">
              <a:lnSpc>
                <a:spcPct val="120000"/>
              </a:lnSpc>
              <a:spcAft>
                <a:spcPts val="1260"/>
              </a:spcAft>
              <a:buClr>
                <a:srgbClr val="00D4AA"/>
              </a:buClr>
              <a:buFont typeface="Inter"/>
              <a:buChar char="•"/>
            </a:pPr>
            <a:r>
              <a:rPr sz="1800" b="0">
                <a:solidFill>
                  <a:srgbClr val="FFFFFF"/>
                </a:solidFill>
                <a:latin typeface="Inter"/>
              </a:rPr>
              <a:t>Check what changed: </a:t>
            </a:r>
            <a:r>
              <a:rPr sz="1656" b="0">
                <a:solidFill>
                  <a:srgbClr val="00D4AA"/>
                </a:solidFill>
                <a:latin typeface="JetBrains Mono"/>
              </a:rPr>
              <a:t>atlas.prompt_version</a:t>
            </a:r>
            <a:r>
              <a:rPr sz="1800" b="0">
                <a:solidFill>
                  <a:srgbClr val="FFFFFF"/>
                </a:solidFill>
                <a:latin typeface="Inter"/>
              </a:rPr>
              <a:t>, </a:t>
            </a:r>
            <a:r>
              <a:rPr sz="1656" b="0">
                <a:solidFill>
                  <a:srgbClr val="00D4AA"/>
                </a:solidFill>
                <a:latin typeface="JetBrains Mono"/>
              </a:rPr>
              <a:t>atlas.retrieval.top_k</a:t>
            </a:r>
            <a:r>
              <a:rPr sz="1800" b="0">
                <a:solidFill>
                  <a:srgbClr val="FFFFFF"/>
                </a:solidFill>
                <a:latin typeface="Inter"/>
              </a:rPr>
              <a:t>, steps, tool outcomes</a:t>
            </a:r>
          </a:p>
          <a:p>
            <a:pPr marL="292608" indent="-292608">
              <a:lnSpc>
                <a:spcPct val="120000"/>
              </a:lnSpc>
              <a:spcAft>
                <a:spcPts val="1260"/>
              </a:spcAft>
              <a:buClr>
                <a:srgbClr val="00D4AA"/>
              </a:buClr>
              <a:buFont typeface="Inter"/>
              <a:buChar char="•"/>
            </a:pPr>
            <a:r>
              <a:rPr sz="1800" b="0">
                <a:solidFill>
                  <a:srgbClr val="FFFFFF"/>
                </a:solidFill>
                <a:latin typeface="Inter"/>
              </a:rPr>
              <a:t>Ask a method question in the Q&amp;A; don't ask for the answer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dataset, two pages, no reveal</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Exhibits someone else can open</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action item that catches it early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Investigate an agent incident from traces alone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Separate the trigger from the root cause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Write a postmortem with verifiable action items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Incident response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a short quiz on incident response, then Section 12, where you find out what happens to all…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INCIDENT LABS: YOU ARE ON CALL</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Incident response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the investigation order and the page map.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Incident response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6 questions</a:t>
            </a:r>
          </a:p>
          <a:p>
            <a:pPr marL="292608" indent="-292608">
              <a:lnSpc>
                <a:spcPct val="120000"/>
              </a:lnSpc>
              <a:spcAft>
                <a:spcPts val="1539"/>
              </a:spcAft>
              <a:buClr>
                <a:srgbClr val="00D4AA"/>
              </a:buClr>
              <a:buFont typeface="Inter"/>
              <a:buChar char="•"/>
            </a:pPr>
            <a:r>
              <a:rPr sz="2200" b="0">
                <a:solidFill>
                  <a:srgbClr val="FFFFFF"/>
                </a:solidFill>
                <a:latin typeface="Inter"/>
              </a:rPr>
              <a:t>Investigation order and the page map</a:t>
            </a:r>
          </a:p>
          <a:p>
            <a:pPr marL="292608" indent="-292608">
              <a:lnSpc>
                <a:spcPct val="120000"/>
              </a:lnSpc>
              <a:spcAft>
                <a:spcPts val="1539"/>
              </a:spcAft>
              <a:buClr>
                <a:srgbClr val="00D4AA"/>
              </a:buClr>
              <a:buFont typeface="Inter"/>
              <a:buChar char="•"/>
            </a:pPr>
            <a:r>
              <a:rPr sz="2200" b="0">
                <a:solidFill>
                  <a:srgbClr val="FFFFFF"/>
                </a:solidFill>
                <a:latin typeface="Inter"/>
              </a:rPr>
              <a:t>Root cause vs trigger vs contributing factor</a:t>
            </a:r>
          </a:p>
          <a:p>
            <a:pPr marL="292608" indent="-292608">
              <a:lnSpc>
                <a:spcPct val="120000"/>
              </a:lnSpc>
              <a:spcAft>
                <a:spcPts val="1539"/>
              </a:spcAft>
              <a:buClr>
                <a:srgbClr val="00D4AA"/>
              </a:buClr>
              <a:buFont typeface="Inter"/>
              <a:buChar char="•"/>
            </a:pPr>
            <a:r>
              <a:rPr sz="2200" b="0">
                <a:solidFill>
                  <a:srgbClr val="FFFFFF"/>
                </a:solidFill>
                <a:latin typeface="Inter"/>
              </a:rPr>
              <a:t>The three fixes: rollback and retries, timeouts and the breaker, prompt labels</a:t>
            </a:r>
          </a:p>
          <a:p>
            <a:pPr marL="292608" indent="-292608">
              <a:lnSpc>
                <a:spcPct val="120000"/>
              </a:lnSpc>
              <a:spcAft>
                <a:spcPts val="1539"/>
              </a:spcAft>
              <a:buClr>
                <a:srgbClr val="00D4AA"/>
              </a:buClr>
              <a:buFont typeface="Inter"/>
              <a:buChar char="•"/>
            </a:pPr>
            <a:r>
              <a:rPr sz="2200" b="0">
                <a:solidFill>
                  <a:srgbClr val="FFFFFF"/>
                </a:solidFill>
                <a:latin typeface="Inter"/>
              </a:rPr>
              <a:t>Read every explanation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11 · Lecture 11.7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Vendor lock-in and the OTel escape hatch</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Section 12 is next: what stays portable when you swap Langfuse for LangSmith, Phoenix or an enterprise APM…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