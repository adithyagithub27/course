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How to read an incident like an SRE.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questions. Always in this order.</a:t>
            </a:r>
          </a:p>
          <a:p/>
          <a:p>
            <a:r>
              <a:t>First, timeline. When did the symptom start, to the minute? And what changed near that moment? A deploy, a config flag, a prompt label, a provider status, a Monday. Almost every incident you'll ever see has a change within thirty minutes of the first symptom. Find the change and you've found the neighbourhood of the cause.</a:t>
            </a:r>
          </a:p>
          <a:p/>
          <a:p>
            <a:r>
              <a:t>Second, blast radius. Who is affected? One tenant or all four? One tool or every tool? One model or both? And just as important, who is *not* affected? If three departments are fine and one is on fire, the cause lives in something only that department does, or something only that department was given.</a:t>
            </a:r>
          </a:p>
          <a:p/>
          <a:p>
            <a:r>
              <a:t>Third, hypotheses. Plural. Write down two or three, each with a prediction. "If it's a traffic spike, requests per minute will be up." "If it's a runaway loop, steps per session will be up." Writing the prediction first stops you from seeing what you want to see.</a:t>
            </a:r>
          </a:p>
          <a:p/>
          <a:p>
            <a:r>
              <a:t>Fourth, evidence. For each hypothesis, name the exact signal that would prove or kill it. Then go look. Only then do you open the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you'll use in every incident. Each row is a question and the one signal that answers it fastest.</a:t>
            </a:r>
          </a:p>
          <a:p/>
          <a:p>
            <a:r>
              <a:t>Is it traffic? Requests per minute, by tenant. Two clicks in the Ops Console.</a:t>
            </a:r>
          </a:p>
          <a:p/>
          <a:p>
            <a:r>
              <a:t>Is it cost per request? Cost per session and input tokens per generation. If cost is up and traffic is flat, the money is going into bigger requests, not more of them.</a:t>
            </a:r>
          </a:p>
          <a:p/>
          <a:p>
            <a:r>
              <a:t>Is it retries? Attempts per generation. Every retry is a generation span with an error status, and the `atlas.retries` attribute on the root span counts them.</a:t>
            </a:r>
          </a:p>
          <a:p/>
          <a:p>
            <a:r>
              <a:t>Is it one tool? Filter by tool name. Error outcome and duration, per tool.</a:t>
            </a:r>
          </a:p>
          <a:p/>
          <a:p>
            <a:r>
              <a:t>Is it the model or the provider? Look at generation spans. Time to first token is the provider's fingerprint. Model mix tells you whether escalation or degradation is firing.</a:t>
            </a:r>
          </a:p>
          <a:p/>
          <a:p>
            <a:r>
              <a:t>Is it something we changed? Every span carries the release, the prompt version and the retrieval top-k. That's why we tagged them in Sections 3, 4 and 5. This is the payoff.</a:t>
            </a:r>
          </a:p>
          <a:p/>
          <a:p>
            <a:r>
              <a:t>And is it quality? Judge scores and thumbs, sliced by prompt version.</a:t>
            </a:r>
          </a:p>
          <a:p/>
          <a:p>
            <a:r>
              <a:t>Notice what's not on this list. Logs. Logs are where you go once a trace has pointed at a specific span. Not before.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`10-resources/incident-template.md`. It's a one-page markdown file with seven blocks, and you'll fill one in for each incident in this section.</a:t>
            </a:r>
          </a:p>
          <a:p/>
          <a:p>
            <a:r>
              <a:t>The block that matters most is hypotheses. Three columns: the claim, the prediction, and the status. Open, confirmed, or killed. Killing a hypothesis is progress. Write it down and move on.</a:t>
            </a:r>
          </a:p>
          <a:p/>
          <a:p>
            <a:r>
              <a:t>The evidence block is a list of exhibits. Each one says where it lives, so the next person can open it. "Cost page, tenant filter ops, 09:00 to 12:00" is an exhibit. "I looked at the dashboard" is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Open `10-resources/incident-template.md`. It's a one-page markdown file with seven blocks, and you'll fill one in for each incident in this section.</a:t>
            </a:r>
          </a:p>
          <a:p/>
          <a:p>
            <a:r>
              <a:t>The block that matters most is hypotheses. Three 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next three lectures work. Each incident ships as a dataset of spans and scores, a brief written the way your on-call channel would write it, and a solution file. You load the spans into the local store with one make command and open the Ops Console. Everything runs offline. No API key, no cost.</a:t>
            </a:r>
          </a:p>
          <a:p/>
          <a:p>
            <a:r>
              <a:t>Part A of each lecture gives you the brief and shows you the exhibits, without interpreting them. Then you get an eight-minute timer. Pause the video. Fill in the template. Write your root cause in one sentence before you press play.</a:t>
            </a:r>
          </a:p>
          <a:p/>
          <a:p>
            <a:r>
              <a:t>Part B follows the evidence with you. Root cause, fix, and a thirty-second answer to the question that matters most: what would have prevented this, and which lecture taught it?</a:t>
            </a:r>
          </a:p>
          <a:p/>
          <a:p>
            <a:r>
              <a:t>One rule. Don't open `solution.md` before Part B. You'll learn ten times more from being wrong for eight minutes than from being right in ten seconds.</a:t>
            </a:r>
          </a:p>
          <a:p/>
          <a:p>
            <a:r>
              <a:t>Three more things before your first page.</a:t>
            </a:r>
          </a:p>
          <a:p/>
          <a:p>
            <a:r>
              <a:t>One. Root cause is usually two things. A change that made the system fragile, plus a trigger that pushed on it. When you find one cause, ask what made it expensive.</a:t>
            </a:r>
          </a:p>
          <a:p/>
          <a:p>
            <a:r>
              <a:t>Two. Fix now, prevent later. Stop the bleeding first, even if the fix is a rollback or a flag flip. Prevention is for the postmortem.</a:t>
            </a:r>
          </a:p>
          <a:p/>
          <a:p>
            <a:r>
              <a:t>Three. Write it down as you go. Your future self, forty minutes into an incident, doesn't remember what you killed at minute five.</a:t>
            </a:r>
          </a:p>
          <a:p/>
          <a:p>
            <a:r>
              <a:t>Ready? Monday morning. Your phone is ringing.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1: Monday's cost spike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brief tells you. Atlas normally costs about twenty-four dollars a day for the whole company. Logistics-ops is normally nine. Today it hit twenty-five before lunch, and on the trend it will hit the forty-dollar hard cap at twelve forty, at which point Atlas refuses that department entirely. The other three tenants look normal. No code deploy today. The provider says it's investigating elevated error rates since ten fourteen.</a:t>
            </a:r>
          </a:p>
          <a:p/>
          <a:p>
            <a:r>
              <a:t>The soft cap from Lecture 6.7 did what it should. It slowed the bleeding. But it also made the answers worse for a whole department, and it took until eleven twenty to fire. Your job is to explain the sixteen dollars before then, and stop the next fifteen.</a:t>
            </a:r>
          </a:p>
          <a:p/>
          <a:p>
            <a:r>
              <a:t>[SCREEN: Terminal. `make incident N=1`. The Ops Console opens on the cost page.]</a:t>
            </a:r>
          </a:p>
          <a:p/>
          <a:p>
            <a:r>
              <a:t>Load the dataset. One command replays the spans into the local store, one opens the console. Now the exhibits. I'm going to show you six, and I'm not going to interpret any of them. That's your job.</a:t>
            </a:r>
          </a:p>
          <a:p/>
          <a:p>
            <a:r>
              <a:t>[EVIDENCE 1: Ops Console, cost page, cost per hour by tenant, 06:00 to 12:00]</a:t>
            </a:r>
          </a:p>
          <a:p>
            <a:r>
              <a:t>Exhibit one. Cost per hour by tenant. Three flat lines. One line bends at nine and breaks at ten. Two bends. Remember that.</a:t>
            </a:r>
          </a:p>
          <a:p/>
          <a:p>
            <a:r>
              <a:t>[EVIDENCE 2: Ops Console, traffic page, requests per minute by tenant, same window, with last Monday as a shadow line]</a:t>
            </a:r>
          </a:p>
          <a:p>
            <a:r>
              <a:t>Exhibit two. Requests per minute, same window, same tenant filter. Compare ops with last Monday's shadow.</a:t>
            </a:r>
          </a:p>
          <a:p/>
          <a:p>
            <a:r>
              <a:t>[EVIDENCE 3: Ops Console, cost page, cost per session and mean `gen_ai.usage.input_tokens` per generation, ops, hourly]</a:t>
            </a:r>
          </a:p>
          <a:p>
            <a:r>
              <a:t>Exhibit three. Two numbers for ops, hour by hour. Cost per session. And mean input tokens per generation. Look at eight o'clock, nine o'clock and ten o'clock.</a:t>
            </a:r>
          </a:p>
          <a:p/>
          <a:p>
            <a:r>
              <a:t>[EVIDENCE 4: Ops Console, reliability page, `atlas_tool_calls_total` error share per tool, and `atlas_llm_retries_total` by reason, all tenants]</a:t>
            </a:r>
          </a:p>
          <a:p>
            <a:r>
              <a:t>Exhibit four. Two panels. Tool error share, per tool. And LLM retries, by reason. One of these panels does something at ten o'clock. The other doesn't.</a:t>
            </a:r>
          </a:p>
          <a:p/>
          <a:p>
            <a:r>
              <a:t>[EVIDENCE 5: Ops Console, retrieval page, `atlas.retrieval.top_k` and retriever result size in tokens, by tenant]</a:t>
            </a:r>
          </a:p>
          <a:p>
            <a:r>
              <a:t>Exhibit five. The retrieval page. Top-k per retriever span and the size of what came back, in tokens, split by tenant.</a:t>
            </a:r>
          </a:p>
          <a:p/>
          <a:p>
            <a:r>
              <a:t>[EVIDENCE 6: Trace waterfall for session `s07-01843` in the console's trace view (or Langfuse if you replayed there). Two turns. Six generation spans; from 10:00 each generation shows three attempts, two red. One `search_knowledge_base` tool span per turn, one `check_shipment`.]</a:t>
            </a:r>
          </a:p>
          <a:p>
            <a:r>
              <a:t>Exhibit six. One trace. Session `s07-01843`, a dispatcher in ops asking about a delayed shipment and then a follow-up. Two turns, six generations. Open any generation span and read `gen_ai.usage.input_tokens`. Count the attempts under it. Open the `search_knowledge_base` tool span and look at the size of the result and its `atlas.retrieval.top_k`. Then open the *second turn* and read the input tokens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Here's what the brief tells you. Atlas normally costs about twenty-four dollars a day for the whole company. Logistics-ops is normally nine. Today it hit twenty-five before lunch, and on the trend it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exhibits. All of them are in the dataset you just loaded, and you can dig deeper than I showed you. Filter by user. Sort sessions by cost. Compare Friday's spans with Monday's.</a:t>
            </a:r>
          </a:p>
          <a:p/>
          <a:p>
            <a:r>
              <a:t>Two hints. The cost line bends twice, at nine and at ten. Two bends usually means two causes. And the brief says nothing was deployed. Deploys aren't the only way to change a system.</a:t>
            </a:r>
          </a:p>
          <a:p/>
          <a:p>
            <a:r>
              <a:t>Fill in the template. Then write the root cause in one sentence, and one fix you'd ship before lunch.</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exhibits. All of them are in the dataset you just loaded, and you can dig deeper than I showed you. Filter by user. Sort sessions by cost. Compare Friday's spans with Monday's.</a:t>
            </a:r>
          </a:p>
          <a:p/>
          <a:p>
            <a:r>
              <a:t>Two hints. The cos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generations, a hundred and five thousand input tokens, sent three times: three hundred and sixteen thousand billed tokens. At forty cents a million on `gpt-4.1-mini`, thirteen cents. Output is noise. Thirteen cents a session, twenty times normal, and the session took over four minutes because of the timeouts, which is why the lead said "slow all morning".</a:t>
            </a:r>
          </a:p>
          <a:p/>
          <a:p>
            <a:r>
              <a:t>Now the line that matters. Same timeouts, same retries, with the diet on: history trimmed to eight thousand tokens, tool results to fourteen hundred. About thirty-six thousand billed tokens. Two cents. The provider storm alone was a two-cent problem. The override alone was a four-cent problem. Together, thirteen.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 Killed. A failing tool? Killed, and I'm glad the dataset let you kill it, because "retry storm" made most of you look at tools first. The retries were on the model. Provider timeouts? Confirmed, trigger. Bigger prompts? Confirmed, cause. And the nano share rising at eleven twenty is the soft cap doing its job, which is also why the answers got worse.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sentence had the timeouts, good. If it had the retrieval change, very good. If it had both and said which one multiplied the other, you're ready to be on call.</a:t>
            </a:r>
          </a:p>
          <a:p/>
          <a:p>
            <a:r>
              <a:t>Now the fix. Right now, roll the retrieval settings back: `ATLAS_TOP_K=4`, `KB_MIN_SCORE=0.5`, `ATLAS_CONTEXT_DIET=1`, so ops is back on the diet with top-k four. That stops the spend within a minute and undoes the degradation once spend drops below the soft cap at midnight, or sooner if you reset the window. Then four changes for this week.</a:t>
            </a:r>
          </a:p>
          <a:p/>
          <a:p>
            <a:r>
              <a:t>[CODE: `app/tools.py`, `app/agent.py` and `src/northwind/config.py`, the fix]</a:t>
            </a:r>
          </a:p>
          <a:p/>
          <a:p>
            <a:r>
              <a:t>One. The context diet stops being something a tenant override can switch off, and top-k is capped at six no matter what the config says. The knowledge base team's complaint is real, and the answer is a bigger snippet or a better ranking, not whole articles.</a:t>
            </a:r>
          </a:p>
          <a:p/>
          <a:p>
            <a:r>
              <a:t>Two. The timeout goes from twenty seconds to eight. With two retries, a bad provider now costs a step twenty-four seconds at worst, not sixty.</a:t>
            </a:r>
          </a:p>
          <a:p/>
          <a:p>
            <a:r>
              <a:t>Three. The circuit breaker from Lecture 7.4 has a threshold of three consecutive failures. Two timeouts and a success never trip it, so it never opened and the fallback model in `FALLBACKS` never got a call. Now every timeout counts. During this storm the breaker opens within a minute and calls go to the fallback, which wasn't timing out.</a:t>
            </a:r>
          </a:p>
          <a:p/>
          <a:p>
            <a:r>
              <a:t>Four. `BudgetGuard.decide` already computes an EWMA anomaly flag on every request, from Lecture 6.7. It was never wired to a metric. Now it increments the decisions counter with `anomaly`, and an alert rule watches it. In the replay, that alert fires at ten oh nine, seventy-one minutes before the soft cap.</a:t>
            </a:r>
          </a:p>
          <a:p/>
          <a:p>
            <a:r>
              <a:t>[SCREEN: Replay the `cost_spike` preset against the fix. Ops Console cost page: the ops line bends slightly at 10:00 and flattens. Callou...]</a:t>
            </a:r>
          </a:p>
          <a:p/>
          <a:p>
            <a:r>
              <a:t>Replay the same Monday against the fix. Same override attempt, ignored above six. Same provider storm. Cost per session during the storm: two cents. The soft cap is never reached. And the page arrives at ten oh nine with the word "anomaly" in it, not at eleven twenty with the word "degraded".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6.5 gave you the diet. What it didn't insist on, and should have, is a test that a three-turn conversation with twelve articles stays inside the history budget, and no code path that turns the diet off per tenant. Lecture 6.7 gave you the anomaly detector; today you learned it was computing an answer nobody read. Lectures 7.3 and 7.4 gave you timeouts and the breaker; the twenty-second default was inherited, not chosen, and a breaker that only counts exhausted retries is a breaker that never opens. And Lecture 13.3 will give you a CI gate that replays the day with the proposed config and fails when tokens per step move, before an experiment reaches a tenant.</a:t>
            </a:r>
          </a:p>
          <a:p/>
          <a:p>
            <a:r>
              <a:t>Two lessons to carry into the next incident. Config changes are deploys, even when nothing is deployed. And the trigger is rarely the root cause; ask what made it expensive.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2: p95 doubled after lunch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brief. p95 has more than doubled. p50 nearly doubled too. All four tenants. No errors, no rate limits, no timeouts, no retries. Cost per session is up twenty-five percent, which is odd for a latency incident. There was a config-only deploy at twelve thirty from the knowledge base team. And the provider posted "investigating elevated latency" at thirteen oh five.</a:t>
            </a:r>
          </a:p>
          <a:p/>
          <a:p>
            <a:r>
              <a:t>You might think you already know the answer. Hold that thought, and look at the exhibits. The dataset runs to six p.m., and the end of it matters.</a:t>
            </a:r>
          </a:p>
          <a:p/>
          <a:p>
            <a:r>
              <a:t>[SCREEN: `make incident N=2`. Ops Console latency page.]</a:t>
            </a:r>
          </a:p>
          <a:p/>
          <a:p>
            <a:r>
              <a:t>[EVIDENCE 1: Ops Console, latency page, p50 and p95 end-to-end, 10:00 to 18:00, budget line at 4.0 s]</a:t>
            </a:r>
          </a:p>
          <a:p>
            <a:r>
              <a:t>Exhibit one. p50 and p95, end to end, from ten to six. Note the exact minute p95 leaves the budget. And note what happens after sixteen fifty.</a:t>
            </a:r>
          </a:p>
          <a:p/>
          <a:p>
            <a:r>
              <a:t>[EVIDENCE 2: Ops Console, latency page, span duration p95 by observation type: agent, generation, retriever, tool]</a:t>
            </a:r>
          </a:p>
          <a:p>
            <a:r>
              <a:t>Exhibit two. The same window, broken down by span type. Agent, generation, retriever, tool. Which ones move?</a:t>
            </a:r>
          </a:p>
          <a:p/>
          <a:p>
            <a:r>
              <a:t>[EVIDENCE 3: Ops Console, generation detail, `atlas.ttft_ms` p95 and total generation duration p95]</a:t>
            </a:r>
          </a:p>
          <a:p>
            <a:r>
              <a:t>Exhibit three. Two generation metrics side by side. Time to first token, from Lecture 5.4. And total generation duration. Both at p95. Watch how each behaves at thirteen hundred and again at sixteen fifty.</a:t>
            </a:r>
          </a:p>
          <a:p/>
          <a:p>
            <a:r>
              <a:t>[EVIDENCE 4: Ops Console, cost page, mean input tokens and mean output tokens per generation, hourly]</a:t>
            </a:r>
          </a:p>
          <a:p>
            <a:r>
              <a:t>Exhibit four. Tokens per generation, input and output, by the hour. Look at twelve thirty.</a:t>
            </a:r>
          </a:p>
          <a:p/>
          <a:p>
            <a:r>
              <a:t>[EVIDENCE 5: Trace waterfall for session `s07-02290` at 10:15 and session `s07-03118` at 13:41, side by side]</a:t>
            </a:r>
          </a:p>
          <a:p>
            <a:r>
              <a:t>Exhibit five. Two traces for the same question, "how do I request VPN access", one at ten fifteen and one at thirteen forty-one. Open the retriever span in each and compare `atlas.retrieval.top_k` and `atlas.retrieval.hits`. Then compare the generation spans.</a:t>
            </a:r>
          </a:p>
          <a:p/>
          <a:p>
            <a:r>
              <a:t>[EVIDENCE 6: Ops Console, reliability page, `atlas_model_fallbacks_total`, `atlas_llm_retries_total` and the breaker state]</a:t>
            </a:r>
          </a:p>
          <a:p>
            <a:r>
              <a:t>Exhibit six. Fallbacks, retries and the circuit breaker state from Lecture 7.4. Look at the whole window.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Here's the brief. p95 has more than doubled. p50 nearly doubled too. All four tenants. No errors, no rate limits, no timeouts, no retries. Cost per session is up twenty-five percent, which is odd for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hint, because this one is designed to fool you. Two things happened within thirty minutes of each other. The provider status page is one of them. If the provider were the whole story, what should the latency chart do when the provider recovers? Write that prediction down before you look.</a:t>
            </a:r>
          </a:p>
          <a:p/>
          <a:p>
            <a:r>
              <a:t>And explain the cost. A slow provider doesn't charge you more per token. So where is the twenty-five percent coming from?</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A hint, because this one is designed to fool you. Two things happened within thirty minutes of each other. The provider status page is one of them. If the provider were the whole story, what should 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Rate limiting? Killed, no four-two-nines. A slow retriever? Killed. Exhibit two shows the retriever span barely moved, forty to fifty-five milliseconds. It's BM25 on local files. But that fifteen milliseconds is a clue, because the retriever is doing more work. Bigger prompts? Look at exhibit four.</a:t>
            </a:r>
          </a:p>
          <a:p/>
          <a:p>
            <a:r>
              <a:t>[EVIDENCE 4 again: mean input tokens per generation 1,900 → 3,500 from 12:30; output tokens 210 → 230]</a:t>
            </a:r>
          </a:p>
          <a:p/>
          <a:p>
            <a:r>
              <a:t>Input tokens per generation went from nineteen hundred to thirty-five hundred, and it happened at twelve thirty, not thirteen hundred. Thirty minutes before the provider slowed down. Sixteen hundred extra tokens on every generation. That's your twenty-five percent cost increase. And more input tokens means more prefill time, which is why generation duration stayed high after TTFT recovered.</a:t>
            </a:r>
          </a:p>
          <a:p/>
          <a:p>
            <a:r>
              <a:t>Where did sixteen hundred tokens come from? Open the two traces.</a:t>
            </a:r>
          </a:p>
          <a:p/>
          <a:p>
            <a:r>
              <a:t>[SCREEN: Retriever spans side by side. 10:15: `atlas.retrieval.top_k = 4`, `atlas.retrieval.hits = 4`, about 400 tokens of context. 13:41...]</a:t>
            </a:r>
          </a:p>
          <a:p/>
          <a:p>
            <a:r>
              <a:t>Ten fifteen: top-k four. Four snippets, about four hundred tokens of context. Thirteen forty-one: top-k twenty. Twenty snippets, about two thousand tokens. Sixteen extra snippets at roughly a hundred tokens each, title and score included, is sixteen hundred tokens. The arithmetic matches.</a:t>
            </a:r>
          </a:p>
          <a:p/>
          <a:p>
            <a:r>
              <a:t>That's `v1.8.2`. The knowledge base team had a real problem: employees complained that Atlas missed the right policy document. Their fix was to raise `ATLAS_TOP_K` from four to twenty. Config only, no code, no review from anyone who owned the latency budget. And on its own, it would have pushed p95 from three point one to about four point three. Just over budget. It might have taken a day to notice. Then the provider slowed down and turned a small regression into a doubled p95.</a:t>
            </a:r>
          </a:p>
          <a:p/>
          <a:p>
            <a:r>
              <a:t>Now exhibit six, because this is the part that should change how you configure things.</a:t>
            </a:r>
          </a:p>
          <a:p/>
          <a:p>
            <a:r>
              <a:t>[EVIDENCE 6 again: `atlas_model_fallbacks_total` flat at zero; `atlas_llm_retries_total` zero; breaker state "closed" for every model all afternoon]</a:t>
            </a:r>
          </a:p>
          <a:p/>
          <a:p>
            <a:r>
              <a:t>Fallbacks: zero. Retries: zero. Breaker: closed all afternoon. You configured a fallback chain in Lecture 7.4 and it never fired. Why? Look at the Router config.</a:t>
            </a:r>
          </a:p>
          <a:p/>
          <a:p>
            <a:r>
              <a:t>[CODE: `app/agent.py::build_router_config`, as deployed]</a:t>
            </a:r>
          </a:p>
          <a:p/>
          <a:p>
            <a:r>
              <a:t>A twenty-second timeout. A five-second generation is a success as far as the Router is concerned. Fallbacks trigger on errors and timeouts, and the provider produced neither. It was just slow. A fallback that only fires on errors doesn't protect a latency SLO. It protects an availability SLO. Those are different promises.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causes and a missing safety net. If your sentence had all three, excellent. If it had the provider only, go back to exhibit one and look at sixteen fifty again. That recovery curve is the most useful shape in latency debugging: whatever is left after the external cause recovers is yours.</a:t>
            </a:r>
          </a:p>
          <a:p/>
          <a:p>
            <a:r>
              <a:t>The fix, in three parts.</a:t>
            </a:r>
          </a:p>
          <a:p/>
          <a:p>
            <a:r>
              <a:t>[CODE: the fix, `src/northwind/config.py` and `app/agent.py`]</a:t>
            </a:r>
          </a:p>
          <a:p/>
          <a:p>
            <a:r>
              <a:t>Part one, top-k. Not back to four, because the knowledge base team's complaint was real. We ran their query set against the retriever offline. Recall at four: point eight one. Recall at six: point nine zero. Recall at twenty: point nine one. Twenty bought one point of recall for sixteen hundred tokens. Six buys nine points for two hundred. The number comes from a measurement, not a guess, and it goes in `config.py` with the measurement as a comment.</a:t>
            </a:r>
          </a:p>
          <a:p/>
          <a:p>
            <a:r>
              <a:t>Part two, a real timeout. Eight seconds per call, against a four-second step budget with headroom. Now a truly stuck provider *is* a failure.</a:t>
            </a:r>
          </a:p>
          <a:p/>
          <a:p>
            <a:r>
              <a:t>Part three, and this is the one Lecture 7.4 didn't teach you: slowness as failure. Any call over four seconds counts as a breaker failure. Three of those in a row open the circuit, and the next call goes to the fallback model, which wasn't slow. In the replay, the breaker opens at thirteen oh two, about thirty percent of calls go to the fallback during the slowdown, and p95 holds at three point five.</a:t>
            </a:r>
          </a:p>
          <a:p/>
          <a:p>
            <a:r>
              <a:t>And one more, not in the code: config changes that touch tokens go through the same review as code changes. Top-k is a cost and latency setting wearing a quality costume. You saw that yesterday too.</a:t>
            </a:r>
          </a:p>
          <a:p/>
          <a:p>
            <a:r>
              <a:t>[SCREEN: Replay Monday against the fix. p95 curve stays under 4.0 s through the provider slowdown; callout: fallback rate 30% between 13:...]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5.3 put top-k on the retriever span, which is why you could see it. Lecture 7.1 told you to derive timeouts from the budget; the twenty-second default was never chosen, it was inherited, and it hurt you on Monday too. Lecture 7.4 built the breaker; today you learned it needs to count slowness to protect a latency SLO. And the CI budget gate in Lecture 13.3 replays a day of traffic with the proposed config. Top-k twenty fails the p95 assertion on the pull request, and the knowledge base team finds out in four minutes instead of the whole company finding out at lunch.</a:t>
            </a:r>
          </a:p>
          <a:p/>
          <a:p>
            <a:r>
              <a:t>Carry this one forward: when an external cause recovers, whatever latency is left is yours. And a fallback nobody has seen fire is a fallback you don't have.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3: users are unhappy but nothing is red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you'd call an alert. Latency inside budget. Errors near zero. Cost down twelve percent, which finance would call good news. No code deploys this week. But two odd facts: the ticketing system shows forty percent more manually opened tickets since eleven, and the Langfuse prompt `atlas-system` has a version two that was created on Tuesday.</a:t>
            </a:r>
          </a:p>
          <a:p/>
          <a:p>
            <a:r>
              <a:t>This dataset is different from the first two. It includes the judge scores from Lecture 8.2 and the thumbs feedback from Lecture 8.3. Use them.</a:t>
            </a:r>
          </a:p>
          <a:p/>
          <a:p>
            <a:r>
              <a:t>[SCREEN: `make incident N=3`. Ops Console quality page.]</a:t>
            </a:r>
          </a:p>
          <a:p/>
          <a:p>
            <a:r>
              <a:t>[EVIDENCE 1: Ops Console, quality page, judge scores `judge_grounded` and `judge_resolved`, hourly, Monday 08:00 to 17:00]</a:t>
            </a:r>
          </a:p>
          <a:p>
            <a:r>
              <a:t>Exhibit one. The two judge scores from Lecture 8.2. Grounded: did the answer cite and use the retrieved policy. Resolved: did the employee get what they needed, including a next step. Hourly. Find the hour where the lines bend.</a:t>
            </a:r>
          </a:p>
          <a:p/>
          <a:p>
            <a:r>
              <a:t>[EVIDENCE 2: Ops Console, quality page, thumbs-down rate hourly and the ten most common feedback comments since 11:00]</a:t>
            </a:r>
          </a:p>
          <a:p>
            <a:r>
              <a:t>Exhibit two. Thumbs-down rate, hourly, and the ten most common feedback comments since eleven. Read the comments.</a:t>
            </a:r>
          </a:p>
          <a:p/>
          <a:p>
            <a:r>
              <a:t>[EVIDENCE 3: Ops Console, quality page, judge scores split by `atlas.prompt_version`]</a:t>
            </a:r>
          </a:p>
          <a:p>
            <a:r>
              <a:t>Exhibit three. The same judge scores, but split by the prompt version each generation was linked to. You tagged this in Lecture 4.4. Two bars per score.</a:t>
            </a:r>
          </a:p>
          <a:p/>
          <a:p>
            <a:r>
              <a:t>[EVIDENCE 4: Ops Console, cost page, mean output tokens per generation and cost per session, hourly; tools page, calls per hour by tool]</a:t>
            </a:r>
          </a:p>
          <a:p>
            <a:r>
              <a:t>Exhibit four. Output tokens per generation and cost per session, hourly. And, on the tools page, calls per hour by tool. One of these changes shape at eleven. The other doesn't.</a:t>
            </a:r>
          </a:p>
          <a:p/>
          <a:p>
            <a:r>
              <a:t>[EVIDENCE 5: Two traces, same question "how many days of parental leave do I get?", `s07-01120` Monday 09:20 and `s07-02875` Monday 14:05. Show the retriever span, the generation output and the `atlas.prompt_version` attribute.]</a:t>
            </a:r>
          </a:p>
          <a:p>
            <a:r>
              <a:t>Exhibit five. Two traces for the same question, one at nine twenty and one at two oh five. In both, open the retriever span and check what it returned. Then read the final answer, word by word. Then read `atlas.prompt_version` on the root span.</a:t>
            </a:r>
          </a:p>
          <a:p/>
          <a:p>
            <a:r>
              <a:t>[EVIDENCE 6: Langfuse prompt page for `atlas-system`: version list, labels, the diff between v1 and v2, and the label change event at Monday 11:02]</a:t>
            </a:r>
          </a:p>
          <a:p>
            <a:r>
              <a:t>Exhibit six. The prompt page in Langfuse. Versions one and two, their labels, the diff, and the audit entry for when the `production` label moved. Read the diff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Nothing you'd call an alert. Latency inside budget. Errors near zero. Cost down twelve percent, which finance would call good news. No code deploys this week. But two odd facts: the ticketing system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hints. First, the scores in this dataset are the alert you didn't have. Treat the judge like a metric with a timeline. Second, when two traces retrieve the same documents and answer differently, the difference is not in retrieval. Look at what sits between the retrieval and the answer.</a:t>
            </a:r>
          </a:p>
          <a:p/>
          <a:p>
            <a:r>
              <a:t>The fix for this one is a single API call. Finding out *which* call, and why it's safe, is the exercise.</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Two hints. First, the scores in this dataset are the alert you didn't have. Treat the judge like a metric with a timeline. Second, when two traces retrieve the same documents and answer differently, 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Exhibit three is the one that kills the alternatives. Split by prompt version, version one generations still score point nine one grounded right up to the moment there stopped being any. Version two scores point seven two from its first hour. Same model, same retriever, same day. Only the prompt differs. That's as clean as causality gets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fix. One call.</a:t>
            </a:r>
          </a:p>
          <a:p/>
          <a:p>
            <a:r>
              <a:t>[CODE: rollback, a one-off script using the configured client]</a:t>
            </a:r>
          </a:p>
          <a:p/>
          <a:p>
            <a:r>
              <a:t>`update_prompt`, name, version one, new labels production. Labels are unique across versions, so assigning `production` to version one removes it from version two. Atlas calls `get_prompt_text` with the production label and a sixty-second cache on every request, so within a minute every tenant is back on version one. No deploy, no restart. The same property that caused the incident makes the rollback instant.</a:t>
            </a:r>
          </a:p>
          <a:p/>
          <a:p>
            <a:r>
              <a:t>[SCREEN: Ops Console quality page, after the rollback: `judge_grounded` returns to 0.90, `atlas.prompt_version` back to `langfuse:1`; man...]</a:t>
            </a:r>
          </a:p>
          <a:p/>
          <a:p>
            <a:r>
              <a:t>Sixteen fifty-five. Grounded climbs back to point nine within the hour. The HR lead gets a reply that says what happened, in plain language, with a time.</a:t>
            </a:r>
          </a:p>
          <a:p/>
          <a:p>
            <a:r>
              <a:t>But rolling back isn't the fix. The fix is making sure a label can't move without evidence again.</a:t>
            </a:r>
          </a:p>
          <a:p/>
          <a:p>
            <a:r>
              <a:t>[CODE: `evals/to_dataset.py` and the promotion gate, sketched]</a:t>
            </a:r>
          </a:p>
          <a:p/>
          <a:p>
            <a:r>
              <a:t>Three moves. First, promote the failing version-two traces into the `atlas-failures` dataset, Lecture 8.6. Those traces are now the regression suite for the next prompt change. Second, a `promote` function that runs the offline evals for a candidate version and refuses to move the label below point eight five grounded, then calls `push_prompts`, which already exists in `langfuse_setup.py`. Third, take label editing away from the UI for the production label. Whether that's a Langfuse role setting or a team rule, verify what your Langfuse plan supports, but the principle stands: the production label moves through a pull request, with an eval result attached.</a:t>
            </a:r>
          </a:p>
          <a:p/>
          <a:p>
            <a:r>
              <a:t>And add the two signals that were missing from the dashboard. Judge grounded, seven-day rolling, with an SLO. And containment. Both were in `slo.py` from Lecture 9.1. Neither was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4.4 taught you labels; today you learned a label change is a deploy and needs a deploy's discipline. Lectures 8.2 and 8.5 gave you the judge and the drift comparison; run it hourly instead of weekly and it pages at ten past twelve, four and a half hours before the email. Lecture 8.6 gave you the dataset that turns this incident into a test. And Lecture 9.1 named judge score and containment as SLIs. Put them on the dashboard and this stops being the incident where nothing was red.</a:t>
            </a:r>
          </a:p>
          <a:p/>
          <a:p>
            <a:r>
              <a:t>Three incidents. A cost spike, a latency regression, a quality drift. Different symptoms, same method. Timeline, blast radius, hypotheses, evidence. Next, you learn to write it up so the fix outlives the person who found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Writing the postmortem.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`10-resources/postmortem-template.md`. Eight blocks. Most of them you already filled in during the investigation, in the incident template. The postmortem adds three things the investigation didn't need: impact in numbers, the detection gap, and action items with owners.</a:t>
            </a:r>
          </a:p>
          <a:p/>
          <a:p>
            <a:r>
              <a:t>[SCREEN: VS Code, new file `incidents/incident-01-cost-spike/postmortem.md`. Type the summary.]</a:t>
            </a:r>
          </a:p>
          <a:p/>
          <a:p>
            <a:r>
              <a:t>[CODE: summary block]</a:t>
            </a:r>
          </a:p>
          <a:p/>
          <a:p>
            <a:r>
              <a:t>Summary. Three sentences a finance manager can read. What happened, in numbers. Why, in one clause. Who was affected and who wasn't. If the summary needs the word "span", rewrite it.</a:t>
            </a:r>
          </a:p>
          <a:p/>
          <a:p>
            <a:r>
              <a:t>[CODE: impact block]</a:t>
            </a:r>
          </a:p>
          <a:p/>
          <a:p>
            <a:r>
              <a:t>Impact. Every number has a source column. That's not bureaucracy. It means the next person can reproduce the number, and it means you're not guessing. Notice the third row. This was a cost incident, but users experienced it as a latency incident first. Sixty-eight-second p95. Write down every kind of impact, not just the one that paged you.</a:t>
            </a:r>
          </a:p>
          <a:p/>
          <a:p>
            <a:r>
              <a:t>[CODE: timeline block]</a:t>
            </a:r>
          </a:p>
          <a:p/>
          <a:p>
            <a:r>
              <a:t>The timeline. Time, event, source. Mark detection and resolution explicitly, because the gap between the first symptom and detection is the number that matters most. Here: first symptom nine o'clock, detection eleven twenty. One hundred and forty minutes. And look at the ten oh nine row. I've written in the alert that *would* have fired, if the anomaly flag had been wired to anything. Writing the counterfactual into the timeline is how you justify the action item later.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Open `10-resources/postmortem-template.md`. Eight blocks. Most of them you already filled in during the investigation, in the incident template. The postmortem adds three things the investigation didn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Root cause versus contributing factor. The root cause is the thing that, if removed, means the incident doesn't happen. Here that's a retrieval change with no eval, no cost check and no gate. The provider storm is a trigger. If it hadn't happened Monday, the override alone would have cost four cents a session until someone noticed, maybe weeks later. The long timeout, the breaker that ignores timeouts, the unwired anomaly flag and the whole-article tool results are contributing factors. Each one removed makes the incident smaller or shorter, not impossible.</a:t>
            </a:r>
          </a:p>
          <a:p/>
          <a:p>
            <a:r>
              <a:t>Get this distinction right and your action items write themselves.</a:t>
            </a:r>
          </a:p>
          <a:p/>
          <a:p>
            <a:r>
              <a:t>[CODE: action items block]</a:t>
            </a:r>
          </a:p>
          <a:p/>
          <a:p>
            <a:r>
              <a:t>Action items. Every row has a type, and there are only four types allowed: instrumentation, budget, test, or process. If an action item isn't one of those, it's a wish. "Be more careful with experiments" is a wish. "A test that fails when the diet is off" is an action.</a:t>
            </a:r>
          </a:p>
          <a:p/>
          <a:p>
            <a:r>
              <a:t>Every row has an owner who is a person or a team, a date, and a "verified by" column. How will we *know* it's done? Row five says the alert must fire when we replay this exact incident. That's a test for the alert. Row six says the CI gate must go red on the setting that caused the incident. That's the strongest verification there is: the fix would have caught the past.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postmortems go wrong.</a:t>
            </a:r>
          </a:p>
          <a:p/>
          <a:p>
            <a:r>
              <a:t>Blame. "The knowledge base team turned off the diet." True, and useless. They had a real complaint and a lever that looked safe. The question is why a lever that changes cost by six times looked safe. Blameless doesn't mean nobody made a mistake. It means the mistake isn't the interesting part.</a:t>
            </a:r>
          </a:p>
          <a:p/>
          <a:p>
            <a:r>
              <a:t>Vagueness. "Improve cost monitoring." Which signal? What threshold? Where does it page? Row five names all three.</a:t>
            </a:r>
          </a:p>
          <a:p/>
          <a:p>
            <a:r>
              <a:t>Unverifiable. "Add tests around the agent loop." Which test? What input makes it fail? If you can't say what would make the test red, you haven't designed a test.</a:t>
            </a:r>
          </a:p>
          <a:p/>
          <a:p>
            <a:r>
              <a:t>[SCREEN: Scroll the finished postmortem top to bottom in twenty seconds.]</a:t>
            </a:r>
          </a:p>
          <a:p/>
          <a:p>
            <a:r>
              <a:t>One more habit. Read the finished postmortem as the person who caused the incident. If any sentence would make you defensive, rewrite it to be about the system. Then read it as the person who'll be on call next month. If any action item leaves them guessing, add the verification.</a:t>
            </a:r>
          </a:p>
          <a:p/>
          <a:p>
            <a:r>
              <a:t>Your turn. Write the postmortems for Incidents 2 and 3 using the same template. Then you're ready for Project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2: Investigate a fourth incident.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deal. The brief reads like the on-call channel, the way the first three did. Load the spans, open the console, and run the method from Lecture 11.1. Timeline, blast radius, hypotheses with predictions, evidence with exhibit locations. Then write the postmortem with the template from Lecture 11.5.</a:t>
            </a:r>
          </a:p>
          <a:p/>
          <a:p>
            <a:r>
              <a:t>I'll tell you one thing about the dataset and nothing else. It has more than one cause, and they don't affect the same tenants. Every incident in this section had more than one cause. If you find one and stop, you'll have found a trigger, not the root cause.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weights root cause and action items highest, and evidence next. A postmortem with the right root cause and no exhibits scores lower than one with a slightly wrong root cause and a clear evidence trail, because the second one can be checked and corrected. That's how it works on real teams too.</a:t>
            </a:r>
          </a:p>
          <a:p/>
          <a:p>
            <a:r>
              <a:t>For the action items, at least one has to be the kind that would have caught this incident before it happened, with a verification that says how you'd prove it. Reread row six of the Incident 1 postmortem if you need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get stuck, go back to the signal map. There's usually one question you haven't asked yet. Compare a good trace and a bad trace for the same intent side by side, the way we did in Incidents 2 and 3. And check every "what changed" attribute: release, prompt version, top-k, config values on spans.</a:t>
            </a:r>
          </a:p>
          <a:p/>
          <a:p>
            <a:r>
              <a:t>Submit the postmortem through the assignment for this lecture. And post your one-sentence root cause in the project thread after you submit, not before. Reading forty different sentences for the same incident is one of the best lessons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Incident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cover the order you investigate in, which signal answers which question, and the difference between a root cause, a trigger and a contributing factor. Two questions are about the fixes: what `update_prompt` with a new label actually does, and why a breaker that only counts errors never protects a latency SLO.</a:t>
            </a:r>
          </a:p>
          <a:p/>
          <a:p>
            <a:r>
              <a:t>If you miss the root-cause question, rewatch the first two minutes of Lecture 11.5 before Project 2. It'll change your postmortem.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How to read an incident like an SRE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Apply the four-step order of an incident investigation: timeline, blast radius, hypothesis,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four questions, in order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Timeline: when did it start, and what changed near that time?</a:t>
            </a:r>
          </a:p>
          <a:p>
            <a:pPr marL="292608" indent="-292608">
              <a:lnSpc>
                <a:spcPct val="120000"/>
              </a:lnSpc>
              <a:spcAft>
                <a:spcPts val="1120"/>
              </a:spcAft>
              <a:buClr>
                <a:srgbClr val="00D4AA"/>
              </a:buClr>
              <a:buFont typeface="Inter"/>
              <a:buChar char="•"/>
            </a:pPr>
            <a:r>
              <a:rPr sz="1600" b="0">
                <a:solidFill>
                  <a:srgbClr val="FFFFFF"/>
                </a:solidFill>
                <a:latin typeface="Inter"/>
              </a:rPr>
              <a:t>Blast radius: who is affected, and who is not?</a:t>
            </a:r>
          </a:p>
          <a:p>
            <a:pPr marL="292608" indent="-292608">
              <a:lnSpc>
                <a:spcPct val="120000"/>
              </a:lnSpc>
              <a:spcAft>
                <a:spcPts val="1120"/>
              </a:spcAft>
              <a:buClr>
                <a:srgbClr val="00D4AA"/>
              </a:buClr>
              <a:buFont typeface="Inter"/>
              <a:buChar char="•"/>
            </a:pPr>
            <a:r>
              <a:rPr sz="1600" b="0">
                <a:solidFill>
                  <a:srgbClr val="FFFFFF"/>
                </a:solidFill>
                <a:latin typeface="Inter"/>
              </a:rPr>
              <a:t>Hypothesis: write down two or three, with a prediction each</a:t>
            </a:r>
          </a:p>
          <a:p>
            <a:pPr marL="292608" indent="-292608">
              <a:lnSpc>
                <a:spcPct val="120000"/>
              </a:lnSpc>
              <a:spcAft>
                <a:spcPts val="1120"/>
              </a:spcAft>
              <a:buClr>
                <a:srgbClr val="00D4AA"/>
              </a:buClr>
              <a:buFont typeface="Inter"/>
              <a:buChar char="•"/>
            </a:pPr>
            <a:r>
              <a:rPr sz="1600" b="0">
                <a:solidFill>
                  <a:srgbClr val="FFFFFF"/>
                </a:solidFill>
                <a:latin typeface="Inter"/>
              </a:rPr>
              <a:t>Evidence: which trace, metric or score would prove or kill each one?</a:t>
            </a:r>
          </a:p>
        </p:txBody>
      </p:sp>
      <p:pic>
        <p:nvPicPr>
          <p:cNvPr id="6" name="Picture 5" descr="D9-incident-timelin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Which signal answers which question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072384"/>
        </p:xfrm>
        <a:graphic>
          <a:graphicData uri="http://schemas.openxmlformats.org/drawingml/2006/table">
            <a:tbl>
              <a:tblPr firstRow="1" bandRow="1">
                <a:tableStyleId>{5C22544A-7EE6-4342-B048-85BDC9FD1C3A}</a:tableStyleId>
              </a:tblPr>
              <a:tblGrid>
                <a:gridCol w="2529596"/>
                <a:gridCol w="3342680"/>
                <a:gridCol w="5420563"/>
              </a:tblGrid>
              <a:tr h="384048">
                <a:tc>
                  <a:txBody>
                    <a:bodyPr wrap="square"/>
                    <a:lstStyle/>
                    <a:p>
                      <a:r>
                        <a:rPr sz="1200" b="1">
                          <a:solidFill>
                            <a:srgbClr val="0A1628"/>
                          </a:solidFill>
                          <a:latin typeface="Inter"/>
                        </a:rPr>
                        <a:t>Question</a:t>
                      </a:r>
                    </a:p>
                  </a:txBody>
                  <a:tcPr marL="91440" marR="91440" marT="45720" marB="45720" anchor="ctr">
                    <a:solidFill>
                      <a:srgbClr val="00D4AA"/>
                    </a:solidFill>
                  </a:tcPr>
                </a:tc>
                <a:tc>
                  <a:txBody>
                    <a:bodyPr wrap="square"/>
                    <a:lstStyle/>
                    <a:p>
                      <a:r>
                        <a:rPr sz="1200" b="1">
                          <a:solidFill>
                            <a:srgbClr val="0A1628"/>
                          </a:solidFill>
                          <a:latin typeface="Inter"/>
                        </a:rPr>
                        <a:t>Where to look</a:t>
                      </a:r>
                    </a:p>
                  </a:txBody>
                  <a:tcPr marL="91440" marR="91440" marT="45720" marB="45720" anchor="ctr">
                    <a:solidFill>
                      <a:srgbClr val="00D4AA"/>
                    </a:solidFill>
                  </a:tcPr>
                </a:tc>
                <a:tc>
                  <a:txBody>
                    <a:bodyPr wrap="square"/>
                    <a:lstStyle/>
                    <a:p>
                      <a:r>
                        <a:rPr sz="1200" b="1">
                          <a:solidFill>
                            <a:srgbClr val="0A1628"/>
                          </a:solidFill>
                          <a:latin typeface="Inter"/>
                        </a:rPr>
                        <a:t>Signal</a:t>
                      </a:r>
                    </a:p>
                  </a:txBody>
                  <a:tcPr marL="91440" marR="91440" marT="45720" marB="45720" anchor="ctr">
                    <a:solidFill>
                      <a:srgbClr val="00D4AA"/>
                    </a:solidFill>
                  </a:tcPr>
                </a:tc>
              </a:tr>
              <a:tr h="384048">
                <a:tc>
                  <a:txBody>
                    <a:bodyPr wrap="square"/>
                    <a:lstStyle/>
                    <a:p>
                      <a:r>
                        <a:rPr sz="1200" b="1">
                          <a:solidFill>
                            <a:srgbClr val="FFFFFF"/>
                          </a:solidFill>
                          <a:latin typeface="Inter"/>
                        </a:rPr>
                        <a:t>Is it traffic?</a:t>
                      </a:r>
                    </a:p>
                  </a:txBody>
                  <a:tcPr marL="91440" marR="91440" marT="45720" marB="45720" anchor="ctr">
                    <a:solidFill>
                      <a:srgbClr val="1A2742"/>
                    </a:solidFill>
                  </a:tcPr>
                </a:tc>
                <a:tc>
                  <a:txBody>
                    <a:bodyPr wrap="square"/>
                    <a:lstStyle/>
                    <a:p>
                      <a:r>
                        <a:rPr sz="1200" b="0">
                          <a:solidFill>
                            <a:srgbClr val="FFFFFF"/>
                          </a:solidFill>
                          <a:latin typeface="Inter"/>
                        </a:rPr>
                        <a:t>Ops Console, Grafana</a:t>
                      </a:r>
                    </a:p>
                  </a:txBody>
                  <a:tcPr marL="91440" marR="91440" marT="45720" marB="45720" anchor="ctr">
                    <a:solidFill>
                      <a:srgbClr val="1A2742"/>
                    </a:solidFill>
                  </a:tcPr>
                </a:tc>
                <a:tc>
                  <a:txBody>
                    <a:bodyPr wrap="square"/>
                    <a:lstStyle/>
                    <a:p>
                      <a:r>
                        <a:rPr sz="1200" b="0">
                          <a:solidFill>
                            <a:srgbClr val="FFFFFF"/>
                          </a:solidFill>
                          <a:latin typeface="Inter"/>
                        </a:rPr>
                        <a:t>requests per minute by tenant</a:t>
                      </a:r>
                    </a:p>
                  </a:txBody>
                  <a:tcPr marL="91440" marR="91440" marT="45720" marB="45720" anchor="ctr">
                    <a:solidFill>
                      <a:srgbClr val="1A2742"/>
                    </a:solidFill>
                  </a:tcPr>
                </a:tc>
              </a:tr>
              <a:tr h="384048">
                <a:tc>
                  <a:txBody>
                    <a:bodyPr wrap="square"/>
                    <a:lstStyle/>
                    <a:p>
                      <a:r>
                        <a:rPr sz="1200" b="1">
                          <a:solidFill>
                            <a:srgbClr val="FFFFFF"/>
                          </a:solidFill>
                          <a:latin typeface="Inter"/>
                        </a:rPr>
                        <a:t>Is it cost per request?</a:t>
                      </a:r>
                    </a:p>
                  </a:txBody>
                  <a:tcPr marL="91440" marR="91440" marT="45720" marB="45720" anchor="ctr">
                    <a:solidFill>
                      <a:srgbClr val="0F1E35"/>
                    </a:solidFill>
                  </a:tcPr>
                </a:tc>
                <a:tc>
                  <a:txBody>
                    <a:bodyPr wrap="square"/>
                    <a:lstStyle/>
                    <a:p>
                      <a:r>
                        <a:rPr sz="1200" b="0">
                          <a:solidFill>
                            <a:srgbClr val="FFFFFF"/>
                          </a:solidFill>
                          <a:latin typeface="Inter"/>
                        </a:rPr>
                        <a:t>Ops Console cost page</a:t>
                      </a:r>
                    </a:p>
                  </a:txBody>
                  <a:tcPr marL="91440" marR="91440" marT="45720" marB="45720" anchor="ctr">
                    <a:solidFill>
                      <a:srgbClr val="0F1E35"/>
                    </a:solidFill>
                  </a:tcPr>
                </a:tc>
                <a:tc>
                  <a:txBody>
                    <a:bodyPr wrap="square"/>
                    <a:lstStyle/>
                    <a:p>
                      <a:r>
                        <a:rPr sz="1200" b="0">
                          <a:solidFill>
                            <a:srgbClr val="FFFFFF"/>
                          </a:solidFill>
                          <a:latin typeface="Inter"/>
                        </a:rPr>
                        <a:t>cost per session, </a:t>
                      </a:r>
                      <a:r>
                        <a:rPr sz="1104" b="0">
                          <a:solidFill>
                            <a:srgbClr val="00D4AA"/>
                          </a:solidFill>
                          <a:latin typeface="JetBrains Mono"/>
                        </a:rPr>
                        <a:t>gen_ai.usage.input_tokens</a:t>
                      </a:r>
                      <a:r>
                        <a:rPr sz="1200" b="0">
                          <a:solidFill>
                            <a:srgbClr val="FFFFFF"/>
                          </a:solidFill>
                          <a:latin typeface="Inter"/>
                        </a:rPr>
                        <a:t> per generation</a:t>
                      </a:r>
                    </a:p>
                  </a:txBody>
                  <a:tcPr marL="91440" marR="91440" marT="45720" marB="45720" anchor="ctr">
                    <a:solidFill>
                      <a:srgbClr val="0F1E35"/>
                    </a:solidFill>
                  </a:tcPr>
                </a:tc>
              </a:tr>
              <a:tr h="384048">
                <a:tc>
                  <a:txBody>
                    <a:bodyPr wrap="square"/>
                    <a:lstStyle/>
                    <a:p>
                      <a:r>
                        <a:rPr sz="1200" b="1">
                          <a:solidFill>
                            <a:srgbClr val="FFFFFF"/>
                          </a:solidFill>
                          <a:latin typeface="Inter"/>
                        </a:rPr>
                        <a:t>Is it retries?</a:t>
                      </a:r>
                    </a:p>
                  </a:txBody>
                  <a:tcPr marL="91440" marR="91440" marT="45720" marB="45720" anchor="ctr">
                    <a:solidFill>
                      <a:srgbClr val="1A2742"/>
                    </a:solidFill>
                  </a:tcPr>
                </a:tc>
                <a:tc>
                  <a:txBody>
                    <a:bodyPr wrap="square"/>
                    <a:lstStyle/>
                    <a:p>
                      <a:r>
                        <a:rPr sz="1200" b="0">
                          <a:solidFill>
                            <a:srgbClr val="FFFFFF"/>
                          </a:solidFill>
                          <a:latin typeface="Inter"/>
                        </a:rPr>
                        <a:t>generation spans, </a:t>
                      </a:r>
                      <a:r>
                        <a:rPr sz="1104" b="0">
                          <a:solidFill>
                            <a:srgbClr val="00D4AA"/>
                          </a:solidFill>
                          <a:latin typeface="JetBrains Mono"/>
                        </a:rPr>
                        <a:t>/metrics</a:t>
                      </a:r>
                    </a:p>
                  </a:txBody>
                  <a:tcPr marL="91440" marR="91440" marT="45720" marB="45720" anchor="ctr">
                    <a:solidFill>
                      <a:srgbClr val="1A2742"/>
                    </a:solidFill>
                  </a:tcPr>
                </a:tc>
                <a:tc>
                  <a:txBody>
                    <a:bodyPr wrap="square"/>
                    <a:lstStyle/>
                    <a:p>
                      <a:r>
                        <a:rPr sz="1200" b="0">
                          <a:solidFill>
                            <a:srgbClr val="FFFFFF"/>
                          </a:solidFill>
                          <a:latin typeface="Inter"/>
                        </a:rPr>
                        <a:t>attempts per generation, </a:t>
                      </a:r>
                      <a:r>
                        <a:rPr sz="1104" b="0">
                          <a:solidFill>
                            <a:srgbClr val="00D4AA"/>
                          </a:solidFill>
                          <a:latin typeface="JetBrains Mono"/>
                        </a:rPr>
                        <a:t>atlas_llm_retries_total</a:t>
                      </a:r>
                      <a:r>
                        <a:rPr sz="1200" b="0">
                          <a:solidFill>
                            <a:srgbClr val="FFFFFF"/>
                          </a:solidFill>
                          <a:latin typeface="Inter"/>
                        </a:rPr>
                        <a:t>, </a:t>
                      </a:r>
                      <a:r>
                        <a:rPr sz="1104" b="0">
                          <a:solidFill>
                            <a:srgbClr val="00D4AA"/>
                          </a:solidFill>
                          <a:latin typeface="JetBrains Mono"/>
                        </a:rPr>
                        <a:t>atlas.retries</a:t>
                      </a:r>
                    </a:p>
                  </a:txBody>
                  <a:tcPr marL="91440" marR="91440" marT="45720" marB="45720" anchor="ctr">
                    <a:solidFill>
                      <a:srgbClr val="1A2742"/>
                    </a:solidFill>
                  </a:tcPr>
                </a:tc>
              </a:tr>
              <a:tr h="384048">
                <a:tc>
                  <a:txBody>
                    <a:bodyPr wrap="square"/>
                    <a:lstStyle/>
                    <a:p>
                      <a:r>
                        <a:rPr sz="1200" b="1">
                          <a:solidFill>
                            <a:srgbClr val="FFFFFF"/>
                          </a:solidFill>
                          <a:latin typeface="Inter"/>
                        </a:rPr>
                        <a:t>Is it one tool?</a:t>
                      </a:r>
                    </a:p>
                  </a:txBody>
                  <a:tcPr marL="91440" marR="91440" marT="45720" marB="45720" anchor="ctr">
                    <a:solidFill>
                      <a:srgbClr val="0F1E35"/>
                    </a:solidFill>
                  </a:tcPr>
                </a:tc>
                <a:tc>
                  <a:txBody>
                    <a:bodyPr wrap="square"/>
                    <a:lstStyle/>
                    <a:p>
                      <a:r>
                        <a:rPr sz="1200" b="0">
                          <a:solidFill>
                            <a:srgbClr val="FFFFFF"/>
                          </a:solidFill>
                          <a:latin typeface="Inter"/>
                        </a:rPr>
                        <a:t>Langfuse filter by observation name</a:t>
                      </a:r>
                    </a:p>
                  </a:txBody>
                  <a:tcPr marL="91440" marR="91440" marT="45720" marB="45720" anchor="ctr">
                    <a:solidFill>
                      <a:srgbClr val="0F1E35"/>
                    </a:solidFill>
                  </a:tcPr>
                </a:tc>
                <a:tc>
                  <a:txBody>
                    <a:bodyPr wrap="square"/>
                    <a:lstStyle/>
                    <a:p>
                      <a:r>
                        <a:rPr sz="1104" b="0">
                          <a:solidFill>
                            <a:srgbClr val="00D4AA"/>
                          </a:solidFill>
                          <a:latin typeface="JetBrains Mono"/>
                        </a:rPr>
                        <a:t>atlas_tool_calls_total{outcome}</a:t>
                      </a:r>
                      <a:r>
                        <a:rPr sz="1200" b="0">
                          <a:solidFill>
                            <a:srgbClr val="FFFFFF"/>
                          </a:solidFill>
                          <a:latin typeface="Inter"/>
                        </a:rPr>
                        <a:t>, tool duration</a:t>
                      </a:r>
                    </a:p>
                  </a:txBody>
                  <a:tcPr marL="91440" marR="91440" marT="45720" marB="45720" anchor="ctr">
                    <a:solidFill>
                      <a:srgbClr val="0F1E35"/>
                    </a:solidFill>
                  </a:tcPr>
                </a:tc>
              </a:tr>
              <a:tr h="384048">
                <a:tc>
                  <a:txBody>
                    <a:bodyPr wrap="square"/>
                    <a:lstStyle/>
                    <a:p>
                      <a:r>
                        <a:rPr sz="1200" b="1">
                          <a:solidFill>
                            <a:srgbClr val="FFFFFF"/>
                          </a:solidFill>
                          <a:latin typeface="Inter"/>
                        </a:rPr>
                        <a:t>Is it the model or provider?</a:t>
                      </a:r>
                    </a:p>
                  </a:txBody>
                  <a:tcPr marL="91440" marR="91440" marT="45720" marB="45720" anchor="ctr">
                    <a:solidFill>
                      <a:srgbClr val="1A2742"/>
                    </a:solidFill>
                  </a:tcPr>
                </a:tc>
                <a:tc>
                  <a:txBody>
                    <a:bodyPr wrap="square"/>
                    <a:lstStyle/>
                    <a:p>
                      <a:r>
                        <a:rPr sz="1200" b="0">
                          <a:solidFill>
                            <a:srgbClr val="FFFFFF"/>
                          </a:solidFill>
                          <a:latin typeface="Inter"/>
                        </a:rPr>
                        <a:t>generation spans</a:t>
                      </a:r>
                    </a:p>
                  </a:txBody>
                  <a:tcPr marL="91440" marR="91440" marT="45720" marB="45720" anchor="ctr">
                    <a:solidFill>
                      <a:srgbClr val="1A2742"/>
                    </a:solidFill>
                  </a:tcPr>
                </a:tc>
                <a:tc>
                  <a:txBody>
                    <a:bodyPr wrap="square"/>
                    <a:lstStyle/>
                    <a:p>
                      <a:r>
                        <a:rPr sz="1104" b="0">
                          <a:solidFill>
                            <a:srgbClr val="00D4AA"/>
                          </a:solidFill>
                          <a:latin typeface="JetBrains Mono"/>
                        </a:rPr>
                        <a:t>atlas.ttft_ms</a:t>
                      </a:r>
                      <a:r>
                        <a:rPr sz="1200" b="0">
                          <a:solidFill>
                            <a:srgbClr val="FFFFFF"/>
                          </a:solidFill>
                          <a:latin typeface="Inter"/>
                        </a:rPr>
                        <a:t>, </a:t>
                      </a:r>
                      <a:r>
                        <a:rPr sz="1104" b="0">
                          <a:solidFill>
                            <a:srgbClr val="00D4AA"/>
                          </a:solidFill>
                          <a:latin typeface="JetBrains Mono"/>
                        </a:rPr>
                        <a:t>gen_ai.response.model</a:t>
                      </a:r>
                      <a:r>
                        <a:rPr sz="1200" b="0">
                          <a:solidFill>
                            <a:srgbClr val="FFFFFF"/>
                          </a:solidFill>
                          <a:latin typeface="Inter"/>
                        </a:rPr>
                        <a:t>, model mix</a:t>
                      </a:r>
                    </a:p>
                  </a:txBody>
                  <a:tcPr marL="91440" marR="91440" marT="45720" marB="45720" anchor="ctr">
                    <a:solidFill>
                      <a:srgbClr val="1A2742"/>
                    </a:solidFill>
                  </a:tcPr>
                </a:tc>
              </a:tr>
              <a:tr h="384048">
                <a:tc>
                  <a:txBody>
                    <a:bodyPr wrap="square"/>
                    <a:lstStyle/>
                    <a:p>
                      <a:r>
                        <a:rPr sz="1200" b="1">
                          <a:solidFill>
                            <a:srgbClr val="FFFFFF"/>
                          </a:solidFill>
                          <a:latin typeface="Inter"/>
                        </a:rPr>
                        <a:t>Is it a change we made?</a:t>
                      </a:r>
                    </a:p>
                  </a:txBody>
                  <a:tcPr marL="91440" marR="91440" marT="45720" marB="45720" anchor="ctr">
                    <a:solidFill>
                      <a:srgbClr val="0F1E35"/>
                    </a:solidFill>
                  </a:tcPr>
                </a:tc>
                <a:tc>
                  <a:txBody>
                    <a:bodyPr wrap="square"/>
                    <a:lstStyle/>
                    <a:p>
                      <a:r>
                        <a:rPr sz="1200" b="0">
                          <a:solidFill>
                            <a:srgbClr val="FFFFFF"/>
                          </a:solidFill>
                          <a:latin typeface="Inter"/>
                        </a:rPr>
                        <a:t>release, prompt and config attributes</a:t>
                      </a:r>
                    </a:p>
                  </a:txBody>
                  <a:tcPr marL="91440" marR="91440" marT="45720" marB="45720" anchor="ctr">
                    <a:solidFill>
                      <a:srgbClr val="0F1E35"/>
                    </a:solidFill>
                  </a:tcPr>
                </a:tc>
                <a:tc>
                  <a:txBody>
                    <a:bodyPr wrap="square"/>
                    <a:lstStyle/>
                    <a:p>
                      <a:r>
                        <a:rPr sz="1104" b="0">
                          <a:solidFill>
                            <a:srgbClr val="00D4AA"/>
                          </a:solidFill>
                          <a:latin typeface="JetBrains Mono"/>
                        </a:rPr>
                        <a:t>deployment.release</a:t>
                      </a:r>
                      <a:r>
                        <a:rPr sz="1200" b="0">
                          <a:solidFill>
                            <a:srgbClr val="FFFFFF"/>
                          </a:solidFill>
                          <a:latin typeface="Inter"/>
                        </a:rPr>
                        <a:t>, </a:t>
                      </a:r>
                      <a:r>
                        <a:rPr sz="1104" b="0">
                          <a:solidFill>
                            <a:srgbClr val="00D4AA"/>
                          </a:solidFill>
                          <a:latin typeface="JetBrains Mono"/>
                        </a:rPr>
                        <a:t>atlas.prompt_version</a:t>
                      </a:r>
                      <a:r>
                        <a:rPr sz="1200" b="0">
                          <a:solidFill>
                            <a:srgbClr val="FFFFFF"/>
                          </a:solidFill>
                          <a:latin typeface="Inter"/>
                        </a:rPr>
                        <a:t>, </a:t>
                      </a:r>
                      <a:r>
                        <a:rPr sz="1104" b="0">
                          <a:solidFill>
                            <a:srgbClr val="00D4AA"/>
                          </a:solidFill>
                          <a:latin typeface="JetBrains Mono"/>
                        </a:rPr>
                        <a:t>atlas.retrieval.top_k</a:t>
                      </a:r>
                    </a:p>
                  </a:txBody>
                  <a:tcPr marL="91440" marR="91440" marT="45720" marB="45720" anchor="ctr">
                    <a:solidFill>
                      <a:srgbClr val="0F1E35"/>
                    </a:solidFill>
                  </a:tcPr>
                </a:tc>
              </a:tr>
              <a:tr h="384048">
                <a:tc>
                  <a:txBody>
                    <a:bodyPr wrap="square"/>
                    <a:lstStyle/>
                    <a:p>
                      <a:r>
                        <a:rPr sz="1200" b="1">
                          <a:solidFill>
                            <a:srgbClr val="FFFFFF"/>
                          </a:solidFill>
                          <a:latin typeface="Inter"/>
                        </a:rPr>
                        <a:t>Is it quality?</a:t>
                      </a:r>
                    </a:p>
                  </a:txBody>
                  <a:tcPr marL="91440" marR="91440" marT="45720" marB="45720" anchor="ctr">
                    <a:solidFill>
                      <a:srgbClr val="1A2742"/>
                    </a:solidFill>
                  </a:tcPr>
                </a:tc>
                <a:tc>
                  <a:txBody>
                    <a:bodyPr wrap="square"/>
                    <a:lstStyle/>
                    <a:p>
                      <a:r>
                        <a:rPr sz="1200" b="0">
                          <a:solidFill>
                            <a:srgbClr val="FFFFFF"/>
                          </a:solidFill>
                          <a:latin typeface="Inter"/>
                        </a:rPr>
                        <a:t>scores</a:t>
                      </a:r>
                    </a:p>
                  </a:txBody>
                  <a:tcPr marL="91440" marR="91440" marT="45720" marB="45720" anchor="ctr">
                    <a:solidFill>
                      <a:srgbClr val="1A2742"/>
                    </a:solidFill>
                  </a:tcPr>
                </a:tc>
                <a:tc>
                  <a:txBody>
                    <a:bodyPr wrap="square"/>
                    <a:lstStyle/>
                    <a:p>
                      <a:r>
                        <a:rPr sz="1104" b="0">
                          <a:solidFill>
                            <a:srgbClr val="00D4AA"/>
                          </a:solidFill>
                          <a:latin typeface="JetBrains Mono"/>
                        </a:rPr>
                        <a:t>judge_grounded</a:t>
                      </a:r>
                      <a:r>
                        <a:rPr sz="1200" b="0">
                          <a:solidFill>
                            <a:srgbClr val="FFFFFF"/>
                          </a:solidFill>
                          <a:latin typeface="Inter"/>
                        </a:rPr>
                        <a:t>, </a:t>
                      </a:r>
                      <a:r>
                        <a:rPr sz="1104" b="0">
                          <a:solidFill>
                            <a:srgbClr val="00D4AA"/>
                          </a:solidFill>
                          <a:latin typeface="JetBrains Mono"/>
                        </a:rPr>
                        <a:t>judge_resolved</a:t>
                      </a:r>
                      <a:r>
                        <a:rPr sz="1200" b="0">
                          <a:solidFill>
                            <a:srgbClr val="FFFFFF"/>
                          </a:solidFill>
                          <a:latin typeface="Inter"/>
                        </a:rPr>
                        <a:t>, </a:t>
                      </a:r>
                      <a:r>
                        <a:rPr sz="1104" b="0">
                          <a:solidFill>
                            <a:srgbClr val="00D4AA"/>
                          </a:solidFill>
                          <a:latin typeface="JetBrains Mono"/>
                        </a:rPr>
                        <a:t>user_feedback</a:t>
                      </a:r>
                      <a:r>
                        <a:rPr sz="1200" b="0">
                          <a:solidFill>
                            <a:srgbClr val="FFFFFF"/>
                          </a:solidFill>
                          <a:latin typeface="Inter"/>
                        </a:rPr>
                        <a:t>, by prompt version</a:t>
                      </a:r>
                    </a:p>
                  </a:txBody>
                  <a:tcPr marL="91440" marR="91440" marT="45720" marB="45720" anchor="ctr">
                    <a:solidFill>
                      <a:srgbClr val="1A274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incident template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Status line: what is broken, for whom, since when</a:t>
            </a:r>
          </a:p>
          <a:p>
            <a:pPr marL="292608" indent="-292608">
              <a:lnSpc>
                <a:spcPct val="120000"/>
              </a:lnSpc>
              <a:spcAft>
                <a:spcPts val="1260"/>
              </a:spcAft>
              <a:buClr>
                <a:srgbClr val="00D4AA"/>
              </a:buClr>
              <a:buFont typeface="Inter"/>
              <a:buChar char="•"/>
            </a:pPr>
            <a:r>
              <a:rPr sz="1800" b="0">
                <a:solidFill>
                  <a:srgbClr val="FFFFFF"/>
                </a:solidFill>
                <a:latin typeface="Inter"/>
              </a:rPr>
              <a:t>Timeline table: time, event, source</a:t>
            </a:r>
          </a:p>
          <a:p>
            <a:pPr marL="292608" indent="-292608">
              <a:lnSpc>
                <a:spcPct val="120000"/>
              </a:lnSpc>
              <a:spcAft>
                <a:spcPts val="1260"/>
              </a:spcAft>
              <a:buClr>
                <a:srgbClr val="00D4AA"/>
              </a:buClr>
              <a:buFont typeface="Inter"/>
              <a:buChar char="•"/>
            </a:pPr>
            <a:r>
              <a:rPr sz="1800" b="0">
                <a:solidFill>
                  <a:srgbClr val="FFFFFF"/>
                </a:solidFill>
                <a:latin typeface="Inter"/>
              </a:rPr>
              <a:t>Blast radius: affected / not affected</a:t>
            </a:r>
          </a:p>
          <a:p>
            <a:pPr marL="292608" indent="-292608">
              <a:lnSpc>
                <a:spcPct val="120000"/>
              </a:lnSpc>
              <a:spcAft>
                <a:spcPts val="1260"/>
              </a:spcAft>
              <a:buClr>
                <a:srgbClr val="00D4AA"/>
              </a:buClr>
              <a:buFont typeface="Inter"/>
              <a:buChar char="•"/>
            </a:pPr>
            <a:r>
              <a:rPr sz="1800" b="0">
                <a:solidFill>
                  <a:srgbClr val="FFFFFF"/>
                </a:solidFill>
                <a:latin typeface="Inter"/>
              </a:rPr>
              <a:t>Hypotheses: claim, prediction, status (open / confirmed / killed)</a:t>
            </a:r>
          </a:p>
          <a:p>
            <a:pPr marL="292608" indent="-292608">
              <a:lnSpc>
                <a:spcPct val="120000"/>
              </a:lnSpc>
              <a:spcAft>
                <a:spcPts val="1260"/>
              </a:spcAft>
              <a:buClr>
                <a:srgbClr val="00D4AA"/>
              </a:buClr>
              <a:buFont typeface="Inter"/>
              <a:buChar char="•"/>
            </a:pPr>
            <a:r>
              <a:rPr sz="1800" b="0">
                <a:solidFill>
                  <a:srgbClr val="FFFFFF"/>
                </a:solidFill>
                <a:latin typeface="Inter"/>
              </a:rPr>
              <a:t>Evidence: exhibit, where it lives, what it shows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incident template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Root cause and contributing factors</a:t>
            </a:r>
          </a:p>
          <a:p>
            <a:pPr marL="292608" indent="-292608">
              <a:lnSpc>
                <a:spcPct val="120000"/>
              </a:lnSpc>
              <a:spcAft>
                <a:spcPts val="1539"/>
              </a:spcAft>
              <a:buClr>
                <a:srgbClr val="00D4AA"/>
              </a:buClr>
              <a:buFont typeface="Inter"/>
              <a:buChar char="•"/>
            </a:pPr>
            <a:r>
              <a:rPr sz="2200" b="0">
                <a:solidFill>
                  <a:srgbClr val="FFFFFF"/>
                </a:solidFill>
                <a:latin typeface="Inter"/>
              </a:rPr>
              <a:t>Fix (now) and prevention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the incident labs work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Each incident: a dataset in </a:t>
            </a:r>
            <a:r>
              <a:rPr sz="1656" b="0">
                <a:solidFill>
                  <a:srgbClr val="00D4AA"/>
                </a:solidFill>
                <a:latin typeface="JetBrains Mono"/>
              </a:rPr>
              <a:t>incidents/</a:t>
            </a:r>
            <a:r>
              <a:rPr sz="1800" b="0">
                <a:solidFill>
                  <a:srgbClr val="FFFFFF"/>
                </a:solidFill>
                <a:latin typeface="Inter"/>
              </a:rPr>
              <a:t>, a </a:t>
            </a:r>
            <a:r>
              <a:rPr sz="1656" b="0">
                <a:solidFill>
                  <a:srgbClr val="00D4AA"/>
                </a:solidFill>
                <a:latin typeface="JetBrains Mono"/>
              </a:rPr>
              <a:t>brief.md</a:t>
            </a:r>
            <a:r>
              <a:rPr sz="1800" b="0">
                <a:solidFill>
                  <a:srgbClr val="FFFFFF"/>
                </a:solidFill>
                <a:latin typeface="Inter"/>
              </a:rPr>
              <a:t>, and a </a:t>
            </a:r>
            <a:r>
              <a:rPr sz="1656" b="0">
                <a:solidFill>
                  <a:srgbClr val="00D4AA"/>
                </a:solidFill>
                <a:latin typeface="JetBrains Mono"/>
              </a:rPr>
              <a:t>solution.md</a:t>
            </a:r>
          </a:p>
          <a:p>
            <a:pPr marL="292608" indent="-292608">
              <a:lnSpc>
                <a:spcPct val="120000"/>
              </a:lnSpc>
              <a:spcAft>
                <a:spcPts val="1260"/>
              </a:spcAft>
              <a:buClr>
                <a:srgbClr val="00D4AA"/>
              </a:buClr>
              <a:buFont typeface="Inter"/>
              <a:buChar char="•"/>
            </a:pPr>
            <a:r>
              <a:rPr sz="1800" b="0">
                <a:solidFill>
                  <a:srgbClr val="FFFFFF"/>
                </a:solidFill>
                <a:latin typeface="Inter"/>
              </a:rPr>
              <a:t>Load it: </a:t>
            </a:r>
            <a:r>
              <a:rPr sz="1656" b="0">
                <a:solidFill>
                  <a:srgbClr val="00D4AA"/>
                </a:solidFill>
                <a:latin typeface="JetBrains Mono"/>
              </a:rPr>
              <a:t>make incident N=&lt;n&gt;</a:t>
            </a:r>
            <a:r>
              <a:rPr sz="1800" b="0">
                <a:solidFill>
                  <a:srgbClr val="FFFFFF"/>
                </a:solidFill>
                <a:latin typeface="Inter"/>
              </a:rPr>
              <a:t> (imports </a:t>
            </a:r>
            <a:r>
              <a:rPr sz="1656" b="0">
                <a:solidFill>
                  <a:srgbClr val="00D4AA"/>
                </a:solidFill>
                <a:latin typeface="JetBrains Mono"/>
              </a:rPr>
              <a:t>incidents/incident-0&lt;n&gt;-*/spans.jsonl</a:t>
            </a:r>
            <a:r>
              <a:rPr sz="1800" b="0">
                <a:solidFill>
                  <a:srgbClr val="FFFFFF"/>
                </a:solidFill>
                <a:latin typeface="Inter"/>
              </a:rPr>
              <a:t> and </a:t>
            </a:r>
            <a:r>
              <a:rPr sz="1656" b="0">
                <a:solidFill>
                  <a:srgbClr val="00D4AA"/>
                </a:solidFill>
                <a:latin typeface="JetBrains Mono"/>
              </a:rPr>
              <a:t>scores.jsonl</a:t>
            </a:r>
            <a:r>
              <a:rPr sz="1800" b="0">
                <a:solidFill>
                  <a:srgbClr val="FFFFFF"/>
                </a:solidFill>
                <a:latin typeface="Inter"/>
              </a:rPr>
              <a:t> into a temporary store and prints the text console; </a:t>
            </a:r>
            <a:r>
              <a:rPr sz="1656" b="0">
                <a:solidFill>
                  <a:srgbClr val="00D4AA"/>
                </a:solidFill>
                <a:latin typeface="JetBrains Mono"/>
              </a:rPr>
              <a:t>LocalSpanStore.from_jsonl(...)</a:t>
            </a:r>
            <a:r>
              <a:rPr sz="1800" b="0">
                <a:solidFill>
                  <a:srgbClr val="FFFFFF"/>
                </a:solidFill>
                <a:latin typeface="Inter"/>
              </a:rPr>
              <a:t> for your own scripts)</a:t>
            </a:r>
          </a:p>
          <a:p>
            <a:pPr marL="292608" indent="-292608">
              <a:lnSpc>
                <a:spcPct val="120000"/>
              </a:lnSpc>
              <a:spcAft>
                <a:spcPts val="1260"/>
              </a:spcAft>
              <a:buClr>
                <a:srgbClr val="00D4AA"/>
              </a:buClr>
              <a:buFont typeface="Inter"/>
              <a:buChar char="•"/>
            </a:pPr>
            <a:r>
              <a:rPr sz="1800" b="0">
                <a:solidFill>
                  <a:srgbClr val="FFFFFF"/>
                </a:solidFill>
                <a:latin typeface="Inter"/>
              </a:rPr>
              <a:t>Part A gives you the brief and the exhibits, then an eight-minute pause</a:t>
            </a:r>
          </a:p>
          <a:p>
            <a:pPr marL="292608" indent="-292608">
              <a:lnSpc>
                <a:spcPct val="120000"/>
              </a:lnSpc>
              <a:spcAft>
                <a:spcPts val="1260"/>
              </a:spcAft>
              <a:buClr>
                <a:srgbClr val="00D4AA"/>
              </a:buClr>
              <a:buFont typeface="Inter"/>
              <a:buChar char="•"/>
            </a:pPr>
            <a:r>
              <a:rPr sz="1800" b="0">
                <a:solidFill>
                  <a:srgbClr val="FFFFFF"/>
                </a:solidFill>
                <a:latin typeface="Inter"/>
              </a:rPr>
              <a:t>Part B walks the evidence to root cause, the fix and the prevention</a:t>
            </a:r>
          </a:p>
          <a:p>
            <a:pPr marL="292608" indent="-292608">
              <a:lnSpc>
                <a:spcPct val="120000"/>
              </a:lnSpc>
              <a:spcAft>
                <a:spcPts val="1260"/>
              </a:spcAft>
              <a:buClr>
                <a:srgbClr val="00D4AA"/>
              </a:buClr>
              <a:buFont typeface="Inter"/>
              <a:buChar char="•"/>
            </a:pPr>
            <a:r>
              <a:rPr sz="1800" b="0">
                <a:solidFill>
                  <a:srgbClr val="FFFFFF"/>
                </a:solidFill>
                <a:latin typeface="Inter"/>
              </a:rPr>
              <a:t>Rule: do not open </a:t>
            </a:r>
            <a:r>
              <a:rPr sz="1656" b="0">
                <a:solidFill>
                  <a:srgbClr val="00D4AA"/>
                </a:solidFill>
                <a:latin typeface="JetBrains Mono"/>
              </a:rPr>
              <a:t>solution.md</a:t>
            </a:r>
            <a:r>
              <a:rPr sz="1800" b="0">
                <a:solidFill>
                  <a:srgbClr val="FFFFFF"/>
                </a:solidFill>
                <a:latin typeface="Inter"/>
              </a:rPr>
              <a:t> until Part 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1: Monday's cost spike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1: a tenant has hit its soft cap before lunch, and you have eight minutes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1: Monday's cost spike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Find the root cause of a tenant cost spike from cost curves, token counts, retry counts and one trace waterfall, without reading…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1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11:20 Monday: soft-cap alert, tenant </a:t>
            </a:r>
            <a:r>
              <a:rPr sz="1656" b="0">
                <a:solidFill>
                  <a:srgbClr val="00D4AA"/>
                </a:solidFill>
                <a:latin typeface="JetBrains Mono"/>
              </a:rPr>
              <a:t>ops</a:t>
            </a:r>
            <a:r>
              <a:rPr sz="1800" b="0">
                <a:solidFill>
                  <a:srgbClr val="FFFFFF"/>
                </a:solidFill>
                <a:latin typeface="Inter"/>
              </a:rPr>
              <a:t>, $25/day; the budget guard has switched that tenant to the degraded model and two articles</a:t>
            </a:r>
          </a:p>
          <a:p>
            <a:pPr marL="292608" indent="-292608">
              <a:lnSpc>
                <a:spcPct val="120000"/>
              </a:lnSpc>
              <a:spcAft>
                <a:spcPts val="1260"/>
              </a:spcAft>
              <a:buClr>
                <a:srgbClr val="00D4AA"/>
              </a:buClr>
              <a:buFont typeface="Inter"/>
              <a:buChar char="•"/>
            </a:pPr>
            <a:r>
              <a:rPr sz="1800" b="0">
                <a:solidFill>
                  <a:srgbClr val="FFFFFF"/>
                </a:solidFill>
                <a:latin typeface="Inter"/>
              </a:rPr>
              <a:t>On the current trend the $40 hard cap trips at about 12:40, and Atlas will refuse the tenant</a:t>
            </a:r>
          </a:p>
          <a:p>
            <a:pPr marL="292608" indent="-292608">
              <a:lnSpc>
                <a:spcPct val="120000"/>
              </a:lnSpc>
              <a:spcAft>
                <a:spcPts val="1260"/>
              </a:spcAft>
              <a:buClr>
                <a:srgbClr val="00D4AA"/>
              </a:buClr>
              <a:buFont typeface="Inter"/>
              <a:buChar char="•"/>
            </a:pPr>
            <a:r>
              <a:rPr sz="1800" b="0">
                <a:solidFill>
                  <a:srgbClr val="FFFFFF"/>
                </a:solidFill>
                <a:latin typeface="Inter"/>
              </a:rPr>
              <a:t>Normal Atlas spend: about $24 per day across all four tenants; </a:t>
            </a:r>
            <a:r>
              <a:rPr sz="1656" b="0">
                <a:solidFill>
                  <a:srgbClr val="00D4AA"/>
                </a:solidFill>
                <a:latin typeface="JetBrains Mono"/>
              </a:rPr>
              <a:t>ops</a:t>
            </a:r>
            <a:r>
              <a:rPr sz="1800" b="0">
                <a:solidFill>
                  <a:srgbClr val="FFFFFF"/>
                </a:solidFill>
                <a:latin typeface="Inter"/>
              </a:rPr>
              <a:t> about $9 per day</a:t>
            </a:r>
          </a:p>
          <a:p>
            <a:pPr marL="292608" indent="-292608">
              <a:lnSpc>
                <a:spcPct val="120000"/>
              </a:lnSpc>
              <a:spcAft>
                <a:spcPts val="1260"/>
              </a:spcAft>
              <a:buClr>
                <a:srgbClr val="00D4AA"/>
              </a:buClr>
              <a:buFont typeface="Inter"/>
              <a:buChar char="•"/>
            </a:pPr>
            <a:r>
              <a:rPr sz="1800" b="0">
                <a:solidFill>
                  <a:srgbClr val="FFFFFF"/>
                </a:solidFill>
                <a:latin typeface="Inter"/>
              </a:rPr>
              <a:t>Other three tenants: normal</a:t>
            </a:r>
          </a:p>
          <a:p>
            <a:pPr marL="292608" indent="-292608">
              <a:lnSpc>
                <a:spcPct val="120000"/>
              </a:lnSpc>
              <a:spcAft>
                <a:spcPts val="1260"/>
              </a:spcAft>
              <a:buClr>
                <a:srgbClr val="00D4AA"/>
              </a:buClr>
              <a:buFont typeface="Inter"/>
              <a:buChar char="•"/>
            </a:pPr>
            <a:r>
              <a:rPr sz="1800" b="0">
                <a:solidFill>
                  <a:srgbClr val="FFFFFF"/>
                </a:solidFill>
                <a:latin typeface="Inter"/>
              </a:rPr>
              <a:t>Deploy at 08:55 today: "retrieval recall improvements" (PR #412)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1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Provider status page: "investigating elevated error rates" posted at 10:14</a:t>
            </a:r>
          </a:p>
          <a:p>
            <a:pPr marL="292608" indent="-292608">
              <a:lnSpc>
                <a:spcPct val="120000"/>
              </a:lnSpc>
              <a:spcAft>
                <a:spcPts val="1539"/>
              </a:spcAft>
              <a:buClr>
                <a:srgbClr val="00D4AA"/>
              </a:buClr>
              <a:buFont typeface="Inter"/>
              <a:buChar char="•"/>
            </a:pPr>
            <a:r>
              <a:rPr sz="2200" b="0">
                <a:solidFill>
                  <a:srgbClr val="FFFFFF"/>
                </a:solidFill>
                <a:latin typeface="Inter"/>
              </a:rPr>
              <a:t>Dataset: </a:t>
            </a:r>
            <a:r>
              <a:rPr sz="2024" b="0">
                <a:solidFill>
                  <a:srgbClr val="00D4AA"/>
                </a:solidFill>
                <a:latin typeface="JetBrains Mono"/>
              </a:rPr>
              <a:t>incidents/incident-01-cost-spike/spans.jsonl</a:t>
            </a:r>
            <a:r>
              <a:rPr sz="2200" b="0">
                <a:solidFill>
                  <a:srgbClr val="FFFFFF"/>
                </a:solidFill>
                <a:latin typeface="Inter"/>
              </a:rPr>
              <a:t>, Monday 06:00 to 12:00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Fill in </a:t>
            </a:r>
            <a:r>
              <a:rPr sz="1656" b="0">
                <a:solidFill>
                  <a:srgbClr val="00D4AA"/>
                </a:solidFill>
                <a:latin typeface="JetBrains Mono"/>
              </a:rPr>
              <a:t>10-resources/incident-template.md</a:t>
            </a:r>
          </a:p>
          <a:p>
            <a:pPr marL="292608" indent="-292608">
              <a:lnSpc>
                <a:spcPct val="120000"/>
              </a:lnSpc>
              <a:spcAft>
                <a:spcPts val="1260"/>
              </a:spcAft>
              <a:buClr>
                <a:srgbClr val="00D4AA"/>
              </a:buClr>
              <a:buFont typeface="Inter"/>
              <a:buChar char="•"/>
            </a:pPr>
            <a:r>
              <a:rPr sz="1800" b="0">
                <a:solidFill>
                  <a:srgbClr val="FFFFFF"/>
                </a:solidFill>
                <a:latin typeface="Inter"/>
              </a:rPr>
              <a:t>Timeline: two bends, at 09:00 and 10:00. What changed at each?</a:t>
            </a:r>
          </a:p>
          <a:p>
            <a:pPr marL="292608" indent="-292608">
              <a:lnSpc>
                <a:spcPct val="120000"/>
              </a:lnSpc>
              <a:spcAft>
                <a:spcPts val="1260"/>
              </a:spcAft>
              <a:buClr>
                <a:srgbClr val="00D4AA"/>
              </a:buClr>
              <a:buFont typeface="Inter"/>
              <a:buChar char="•"/>
            </a:pPr>
            <a:r>
              <a:rPr sz="1800" b="0">
                <a:solidFill>
                  <a:srgbClr val="FFFFFF"/>
                </a:solidFill>
                <a:latin typeface="Inter"/>
              </a:rPr>
              <a:t>Blast radius: one tenant. What was done only to that tenant?</a:t>
            </a:r>
          </a:p>
          <a:p>
            <a:pPr marL="292608" indent="-292608">
              <a:lnSpc>
                <a:spcPct val="120000"/>
              </a:lnSpc>
              <a:spcAft>
                <a:spcPts val="1260"/>
              </a:spcAft>
              <a:buClr>
                <a:srgbClr val="00D4AA"/>
              </a:buClr>
              <a:buFont typeface="Inter"/>
              <a:buChar char="•"/>
            </a:pPr>
            <a:r>
              <a:rPr sz="1800" b="0">
                <a:solidFill>
                  <a:srgbClr val="FFFFFF"/>
                </a:solidFill>
                <a:latin typeface="Inter"/>
              </a:rPr>
              <a:t>At least two hypotheses with predictions. Kill the ones the exhibits kill.</a:t>
            </a:r>
          </a:p>
          <a:p>
            <a:pPr marL="292608" indent="-292608">
              <a:lnSpc>
                <a:spcPct val="120000"/>
              </a:lnSpc>
              <a:spcAft>
                <a:spcPts val="1260"/>
              </a:spcAft>
              <a:buClr>
                <a:srgbClr val="00D4AA"/>
              </a:buClr>
              <a:buFont typeface="Inter"/>
              <a:buChar char="•"/>
            </a:pPr>
            <a:r>
              <a:rPr sz="1800" b="0">
                <a:solidFill>
                  <a:srgbClr val="FFFFFF"/>
                </a:solidFill>
                <a:latin typeface="Inter"/>
              </a:rPr>
              <a:t>Write root cause in one sentence, and one fix you would ship before lunch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Do not open </a:t>
            </a:r>
            <a:r>
              <a:rPr sz="2024" b="0">
                <a:solidFill>
                  <a:srgbClr val="00D4AA"/>
                </a:solidFill>
                <a:latin typeface="JetBrains Mono"/>
              </a:rPr>
              <a:t>solution.md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session, $0.13</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Six generations, 105,500 input tokens in total, sent 3 times each ≈ 316,000 billed input tokens</a:t>
            </a:r>
          </a:p>
          <a:p>
            <a:pPr marL="292608" indent="-292608">
              <a:lnSpc>
                <a:spcPct val="120000"/>
              </a:lnSpc>
              <a:spcAft>
                <a:spcPts val="1260"/>
              </a:spcAft>
              <a:buClr>
                <a:srgbClr val="00D4AA"/>
              </a:buClr>
              <a:buFont typeface="Inter"/>
              <a:buChar char="•"/>
            </a:pPr>
            <a:r>
              <a:rPr sz="1800" b="0">
                <a:solidFill>
                  <a:srgbClr val="FFFFFF"/>
                </a:solidFill>
                <a:latin typeface="Inter"/>
              </a:rPr>
              <a:t>316,000 × $0.40 per million (</a:t>
            </a:r>
            <a:r>
              <a:rPr sz="1656" b="0">
                <a:solidFill>
                  <a:srgbClr val="00D4AA"/>
                </a:solidFill>
                <a:latin typeface="JetBrains Mono"/>
              </a:rPr>
              <a:t>gpt-4.1-mini</a:t>
            </a:r>
            <a:r>
              <a:rPr sz="1800" b="0">
                <a:solidFill>
                  <a:srgbClr val="FFFFFF"/>
                </a:solidFill>
                <a:latin typeface="Inter"/>
              </a:rPr>
              <a:t>) ≈ $0.127</a:t>
            </a:r>
          </a:p>
          <a:p>
            <a:pPr marL="292608" indent="-292608">
              <a:lnSpc>
                <a:spcPct val="120000"/>
              </a:lnSpc>
              <a:spcAft>
                <a:spcPts val="1260"/>
              </a:spcAft>
              <a:buClr>
                <a:srgbClr val="00D4AA"/>
              </a:buClr>
              <a:buFont typeface="Inter"/>
              <a:buChar char="•"/>
            </a:pPr>
            <a:r>
              <a:rPr sz="1800" b="0">
                <a:solidFill>
                  <a:srgbClr val="FFFFFF"/>
                </a:solidFill>
                <a:latin typeface="Inter"/>
              </a:rPr>
              <a:t>Output: about 1,100 tokens × $1.60 per million ≈ $0.002</a:t>
            </a:r>
          </a:p>
          <a:p>
            <a:pPr marL="292608" indent="-292608">
              <a:lnSpc>
                <a:spcPct val="120000"/>
              </a:lnSpc>
              <a:spcAft>
                <a:spcPts val="1260"/>
              </a:spcAft>
              <a:buClr>
                <a:srgbClr val="00D4AA"/>
              </a:buClr>
              <a:buFont typeface="Inter"/>
              <a:buChar char="•"/>
            </a:pPr>
            <a:r>
              <a:rPr sz="1800" b="0">
                <a:solidFill>
                  <a:srgbClr val="FFFFFF"/>
                </a:solidFill>
                <a:latin typeface="Inter"/>
              </a:rPr>
              <a:t>≈ $0.13 per session, against $0.006 normally: 20x</a:t>
            </a:r>
          </a:p>
          <a:p>
            <a:pPr marL="292608" indent="-292608">
              <a:lnSpc>
                <a:spcPct val="120000"/>
              </a:lnSpc>
              <a:spcAft>
                <a:spcPts val="1260"/>
              </a:spcAft>
              <a:buClr>
                <a:srgbClr val="00D4AA"/>
              </a:buClr>
              <a:buFont typeface="Inter"/>
              <a:buChar char="•"/>
            </a:pPr>
            <a:r>
              <a:rPr sz="1800" b="0">
                <a:solidFill>
                  <a:srgbClr val="FFFFFF"/>
                </a:solidFill>
                <a:latin typeface="Inter"/>
              </a:rPr>
              <a:t>Same timeouts with the diet on (history 3,000, tool results 400): about 36,000 billed tokens ≈ $0.02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304288"/>
        </p:xfrm>
        <a:graphic>
          <a:graphicData uri="http://schemas.openxmlformats.org/drawingml/2006/table">
            <a:tbl>
              <a:tblPr firstRow="1" bandRow="1">
                <a:tableStyleId>{5C22544A-7EE6-4342-B048-85BDC9FD1C3A}</a:tableStyleId>
              </a:tblPr>
              <a:tblGrid>
                <a:gridCol w="2586146"/>
                <a:gridCol w="3534400"/>
                <a:gridCol w="775843"/>
                <a:gridCol w="4396449"/>
              </a:tblGrid>
              <a:tr h="384048">
                <a:tc>
                  <a:txBody>
                    <a:bodyPr wrap="square"/>
                    <a:lstStyle/>
                    <a:p>
                      <a:r>
                        <a:rPr sz="1200" b="1">
                          <a:solidFill>
                            <a:srgbClr val="0A1628"/>
                          </a:solidFill>
                          <a:latin typeface="Inter"/>
                        </a:rPr>
                        <a:t>Hypothesis</a:t>
                      </a:r>
                    </a:p>
                  </a:txBody>
                  <a:tcPr marL="91440" marR="91440" marT="45720" marB="45720" anchor="ctr">
                    <a:solidFill>
                      <a:srgbClr val="00D4AA"/>
                    </a:solidFill>
                  </a:tcPr>
                </a:tc>
                <a:tc>
                  <a:txBody>
                    <a:bodyPr wrap="square"/>
                    <a:lstStyle/>
                    <a:p>
                      <a:r>
                        <a:rPr sz="1200" b="1">
                          <a:solidFill>
                            <a:srgbClr val="0A1628"/>
                          </a:solidFill>
                          <a:latin typeface="Inter"/>
                        </a:rPr>
                        <a:t>Prediction</a:t>
                      </a:r>
                    </a:p>
                  </a:txBody>
                  <a:tcPr marL="91440" marR="91440" marT="45720" marB="45720" anchor="ctr">
                    <a:solidFill>
                      <a:srgbClr val="00D4AA"/>
                    </a:solidFill>
                  </a:tcPr>
                </a:tc>
                <a:tc>
                  <a:txBody>
                    <a:bodyPr wrap="square"/>
                    <a:lstStyle/>
                    <a:p>
                      <a:r>
                        <a:rPr sz="1200" b="1">
                          <a:solidFill>
                            <a:srgbClr val="0A1628"/>
                          </a:solidFill>
                          <a:latin typeface="Inter"/>
                        </a:rPr>
                        <a:t>Exhibit</a:t>
                      </a:r>
                    </a:p>
                  </a:txBody>
                  <a:tcPr marL="91440" marR="91440" marT="45720" marB="45720" anchor="ctr">
                    <a:solidFill>
                      <a:srgbClr val="00D4AA"/>
                    </a:solidFill>
                  </a:tcPr>
                </a:tc>
                <a:tc>
                  <a:txBody>
                    <a:bodyPr wrap="square"/>
                    <a:lstStyle/>
                    <a:p>
                      <a:r>
                        <a:rPr sz="1200" b="1">
                          <a:solidFill>
                            <a:srgbClr val="0A1628"/>
                          </a:solidFill>
                          <a:latin typeface="Inter"/>
                        </a:rPr>
                        <a:t>Verdict</a:t>
                      </a:r>
                    </a:p>
                  </a:txBody>
                  <a:tcPr marL="91440" marR="91440" marT="45720" marB="45720" anchor="ctr">
                    <a:solidFill>
                      <a:srgbClr val="00D4AA"/>
                    </a:solidFill>
                  </a:tcPr>
                </a:tc>
              </a:tr>
              <a:tr h="384048">
                <a:tc>
                  <a:txBody>
                    <a:bodyPr wrap="square"/>
                    <a:lstStyle/>
                    <a:p>
                      <a:r>
                        <a:rPr sz="1200" b="1">
                          <a:solidFill>
                            <a:srgbClr val="FFFFFF"/>
                          </a:solidFill>
                          <a:latin typeface="Inter"/>
                        </a:rPr>
                        <a:t>Traffic spike</a:t>
                      </a:r>
                    </a:p>
                  </a:txBody>
                  <a:tcPr marL="91440" marR="91440" marT="45720" marB="45720" anchor="ctr">
                    <a:solidFill>
                      <a:srgbClr val="1A2742"/>
                    </a:solidFill>
                  </a:tcPr>
                </a:tc>
                <a:tc>
                  <a:txBody>
                    <a:bodyPr wrap="square"/>
                    <a:lstStyle/>
                    <a:p>
                      <a:r>
                        <a:rPr sz="1200" b="0">
                          <a:solidFill>
                            <a:srgbClr val="FFFFFF"/>
                          </a:solidFill>
                          <a:latin typeface="Inter"/>
                        </a:rPr>
                        <a:t>requests/min up several x</a:t>
                      </a:r>
                    </a:p>
                  </a:txBody>
                  <a:tcPr marL="91440" marR="91440" marT="45720" marB="45720" anchor="ctr">
                    <a:solidFill>
                      <a:srgbClr val="1A2742"/>
                    </a:solidFill>
                  </a:tcPr>
                </a:tc>
                <a:tc>
                  <a:txBody>
                    <a:bodyPr wrap="square"/>
                    <a:lstStyle/>
                    <a:p>
                      <a:r>
                        <a:rPr sz="1200" b="0">
                          <a:solidFill>
                            <a:srgbClr val="FFFFFF"/>
                          </a:solidFill>
                          <a:latin typeface="Inter"/>
                        </a:rPr>
                        <a:t>2</a:t>
                      </a:r>
                    </a:p>
                  </a:txBody>
                  <a:tcPr marL="91440" marR="91440" marT="45720" marB="45720" anchor="ctr">
                    <a:solidFill>
                      <a:srgbClr val="1A2742"/>
                    </a:solidFill>
                  </a:tcPr>
                </a:tc>
                <a:tc>
                  <a:txBody>
                    <a:bodyPr wrap="square"/>
                    <a:lstStyle/>
                    <a:p>
                      <a:r>
                        <a:rPr sz="1200" b="0">
                          <a:solidFill>
                            <a:srgbClr val="FFFFFF"/>
                          </a:solidFill>
                          <a:latin typeface="Inter"/>
                        </a:rPr>
                        <a:t>Killed: up 15%, a normal Monday</a:t>
                      </a:r>
                    </a:p>
                  </a:txBody>
                  <a:tcPr marL="91440" marR="91440" marT="45720" marB="45720" anchor="ctr">
                    <a:solidFill>
                      <a:srgbClr val="1A2742"/>
                    </a:solidFill>
                  </a:tcPr>
                </a:tc>
              </a:tr>
              <a:tr h="384048">
                <a:tc>
                  <a:txBody>
                    <a:bodyPr wrap="square"/>
                    <a:lstStyle/>
                    <a:p>
                      <a:r>
                        <a:rPr sz="1200" b="1">
                          <a:solidFill>
                            <a:srgbClr val="FFFFFF"/>
                          </a:solidFill>
                          <a:latin typeface="Inter"/>
                        </a:rPr>
                        <a:t>Failing tool, retry loop</a:t>
                      </a:r>
                    </a:p>
                  </a:txBody>
                  <a:tcPr marL="91440" marR="91440" marT="45720" marB="45720" anchor="ctr">
                    <a:solidFill>
                      <a:srgbClr val="0F1E35"/>
                    </a:solidFill>
                  </a:tcPr>
                </a:tc>
                <a:tc>
                  <a:txBody>
                    <a:bodyPr wrap="square"/>
                    <a:lstStyle/>
                    <a:p>
                      <a:r>
                        <a:rPr sz="1200" b="0">
                          <a:solidFill>
                            <a:srgbClr val="FFFFFF"/>
                          </a:solidFill>
                          <a:latin typeface="Inter"/>
                        </a:rPr>
                        <a:t>tool error share up, steps per session up</a:t>
                      </a:r>
                    </a:p>
                  </a:txBody>
                  <a:tcPr marL="91440" marR="91440" marT="45720" marB="45720" anchor="ctr">
                    <a:solidFill>
                      <a:srgbClr val="0F1E35"/>
                    </a:solidFill>
                  </a:tcPr>
                </a:tc>
                <a:tc>
                  <a:txBody>
                    <a:bodyPr wrap="square"/>
                    <a:lstStyle/>
                    <a:p>
                      <a:r>
                        <a:rPr sz="1200" b="0">
                          <a:solidFill>
                            <a:srgbClr val="FFFFFF"/>
                          </a:solidFill>
                          <a:latin typeface="Inter"/>
                        </a:rPr>
                        <a:t>4, 6</a:t>
                      </a:r>
                    </a:p>
                  </a:txBody>
                  <a:tcPr marL="91440" marR="91440" marT="45720" marB="45720" anchor="ctr">
                    <a:solidFill>
                      <a:srgbClr val="0F1E35"/>
                    </a:solidFill>
                  </a:tcPr>
                </a:tc>
                <a:tc>
                  <a:txBody>
                    <a:bodyPr wrap="square"/>
                    <a:lstStyle/>
                    <a:p>
                      <a:r>
                        <a:rPr sz="1200" b="0">
                          <a:solidFill>
                            <a:srgbClr val="FFFFFF"/>
                          </a:solidFill>
                          <a:latin typeface="Inter"/>
                        </a:rPr>
                        <a:t>Killed: tools healthy, 3 steps per turn</a:t>
                      </a:r>
                    </a:p>
                  </a:txBody>
                  <a:tcPr marL="91440" marR="91440" marT="45720" marB="45720" anchor="ctr">
                    <a:solidFill>
                      <a:srgbClr val="0F1E35"/>
                    </a:solidFill>
                  </a:tcPr>
                </a:tc>
              </a:tr>
              <a:tr h="384048">
                <a:tc>
                  <a:txBody>
                    <a:bodyPr wrap="square"/>
                    <a:lstStyle/>
                    <a:p>
                      <a:r>
                        <a:rPr sz="1200" b="1">
                          <a:solidFill>
                            <a:srgbClr val="FFFFFF"/>
                          </a:solidFill>
                          <a:latin typeface="Inter"/>
                        </a:rPr>
                        <a:t>Provider timeouts, LLM retries</a:t>
                      </a:r>
                    </a:p>
                  </a:txBody>
                  <a:tcPr marL="91440" marR="91440" marT="45720" marB="45720" anchor="ctr">
                    <a:solidFill>
                      <a:srgbClr val="1A2742"/>
                    </a:solidFill>
                  </a:tcPr>
                </a:tc>
                <a:tc>
                  <a:txBody>
                    <a:bodyPr wrap="square"/>
                    <a:lstStyle/>
                    <a:p>
                      <a:r>
                        <a:rPr sz="1200" b="0">
                          <a:solidFill>
                            <a:srgbClr val="FFFFFF"/>
                          </a:solidFill>
                          <a:latin typeface="Inter"/>
                        </a:rPr>
                        <a:t>attempts per generation up from 10:00</a:t>
                      </a:r>
                    </a:p>
                  </a:txBody>
                  <a:tcPr marL="91440" marR="91440" marT="45720" marB="45720" anchor="ctr">
                    <a:solidFill>
                      <a:srgbClr val="1A2742"/>
                    </a:solidFill>
                  </a:tcPr>
                </a:tc>
                <a:tc>
                  <a:txBody>
                    <a:bodyPr wrap="square"/>
                    <a:lstStyle/>
                    <a:p>
                      <a:r>
                        <a:rPr sz="1200" b="0">
                          <a:solidFill>
                            <a:srgbClr val="FFFFFF"/>
                          </a:solidFill>
                          <a:latin typeface="Inter"/>
                        </a:rPr>
                        <a:t>4, 6</a:t>
                      </a:r>
                    </a:p>
                  </a:txBody>
                  <a:tcPr marL="91440" marR="91440" marT="45720" marB="45720" anchor="ctr">
                    <a:solidFill>
                      <a:srgbClr val="1A2742"/>
                    </a:solidFill>
                  </a:tcPr>
                </a:tc>
                <a:tc>
                  <a:txBody>
                    <a:bodyPr wrap="square"/>
                    <a:lstStyle/>
                    <a:p>
                      <a:r>
                        <a:rPr sz="1200" b="0">
                          <a:solidFill>
                            <a:srgbClr val="FFFFFF"/>
                          </a:solidFill>
                          <a:latin typeface="Inter"/>
                        </a:rPr>
                        <a:t>Confirmed: the trigger</a:t>
                      </a:r>
                    </a:p>
                  </a:txBody>
                  <a:tcPr marL="91440" marR="91440" marT="45720" marB="45720" anchor="ctr">
                    <a:solidFill>
                      <a:srgbClr val="1A2742"/>
                    </a:solidFill>
                  </a:tcPr>
                </a:tc>
              </a:tr>
              <a:tr h="384048">
                <a:tc>
                  <a:txBody>
                    <a:bodyPr wrap="square"/>
                    <a:lstStyle/>
                    <a:p>
                      <a:r>
                        <a:rPr sz="1200" b="1">
                          <a:solidFill>
                            <a:srgbClr val="FFFFFF"/>
                          </a:solidFill>
                          <a:latin typeface="Inter"/>
                        </a:rPr>
                        <a:t>Bigger prompts</a:t>
                      </a:r>
                    </a:p>
                  </a:txBody>
                  <a:tcPr marL="91440" marR="91440" marT="45720" marB="45720" anchor="ctr">
                    <a:solidFill>
                      <a:srgbClr val="0F1E35"/>
                    </a:solidFill>
                  </a:tcPr>
                </a:tc>
                <a:tc>
                  <a:txBody>
                    <a:bodyPr wrap="square"/>
                    <a:lstStyle/>
                    <a:p>
                      <a:r>
                        <a:rPr sz="1200" b="0">
                          <a:solidFill>
                            <a:srgbClr val="FFFFFF"/>
                          </a:solidFill>
                          <a:latin typeface="Inter"/>
                        </a:rPr>
                        <a:t>input tokens per generation up from 09:00</a:t>
                      </a:r>
                    </a:p>
                  </a:txBody>
                  <a:tcPr marL="91440" marR="91440" marT="45720" marB="45720" anchor="ctr">
                    <a:solidFill>
                      <a:srgbClr val="0F1E35"/>
                    </a:solidFill>
                  </a:tcPr>
                </a:tc>
                <a:tc>
                  <a:txBody>
                    <a:bodyPr wrap="square"/>
                    <a:lstStyle/>
                    <a:p>
                      <a:r>
                        <a:rPr sz="1200" b="0">
                          <a:solidFill>
                            <a:srgbClr val="FFFFFF"/>
                          </a:solidFill>
                          <a:latin typeface="Inter"/>
                        </a:rPr>
                        <a:t>3, 5, 6</a:t>
                      </a:r>
                    </a:p>
                  </a:txBody>
                  <a:tcPr marL="91440" marR="91440" marT="45720" marB="45720" anchor="ctr">
                    <a:solidFill>
                      <a:srgbClr val="0F1E35"/>
                    </a:solidFill>
                  </a:tcPr>
                </a:tc>
                <a:tc>
                  <a:txBody>
                    <a:bodyPr wrap="square"/>
                    <a:lstStyle/>
                    <a:p>
                      <a:r>
                        <a:rPr sz="1200" b="0">
                          <a:solidFill>
                            <a:srgbClr val="FFFFFF"/>
                          </a:solidFill>
                          <a:latin typeface="Inter"/>
                        </a:rPr>
                        <a:t>Confirmed: the cause</a:t>
                      </a:r>
                    </a:p>
                  </a:txBody>
                  <a:tcPr marL="91440" marR="91440" marT="45720" marB="45720" anchor="ctr">
                    <a:solidFill>
                      <a:srgbClr val="0F1E35"/>
                    </a:solidFill>
                  </a:tcPr>
                </a:tc>
              </a:tr>
              <a:tr h="384048">
                <a:tc>
                  <a:txBody>
                    <a:bodyPr wrap="square"/>
                    <a:lstStyle/>
                    <a:p>
                      <a:r>
                        <a:rPr sz="1200" b="1">
                          <a:solidFill>
                            <a:srgbClr val="FFFFFF"/>
                          </a:solidFill>
                          <a:latin typeface="Inter"/>
                        </a:rPr>
                        <a:t>Degraded model</a:t>
                      </a:r>
                    </a:p>
                  </a:txBody>
                  <a:tcPr marL="91440" marR="91440" marT="45720" marB="45720" anchor="ctr">
                    <a:solidFill>
                      <a:srgbClr val="1A2742"/>
                    </a:solidFill>
                  </a:tcPr>
                </a:tc>
                <a:tc>
                  <a:txBody>
                    <a:bodyPr wrap="square"/>
                    <a:lstStyle/>
                    <a:p>
                      <a:r>
                        <a:rPr sz="1104" b="0">
                          <a:solidFill>
                            <a:srgbClr val="00D4AA"/>
                          </a:solidFill>
                          <a:latin typeface="JetBrains Mono"/>
                        </a:rPr>
                        <a:t>gpt-4.1-nano</a:t>
                      </a:r>
                      <a:r>
                        <a:rPr sz="1200" b="0">
                          <a:solidFill>
                            <a:srgbClr val="FFFFFF"/>
                          </a:solidFill>
                          <a:latin typeface="Inter"/>
                        </a:rPr>
                        <a:t> share up</a:t>
                      </a:r>
                    </a:p>
                  </a:txBody>
                  <a:tcPr marL="91440" marR="91440" marT="45720" marB="45720" anchor="ctr">
                    <a:solidFill>
                      <a:srgbClr val="1A2742"/>
                    </a:solidFill>
                  </a:tcPr>
                </a:tc>
                <a:tc>
                  <a:txBody>
                    <a:bodyPr wrap="square"/>
                    <a:lstStyle/>
                    <a:p>
                      <a:r>
                        <a:rPr sz="1200" b="0">
                          <a:solidFill>
                            <a:srgbClr val="FFFFFF"/>
                          </a:solidFill>
                          <a:latin typeface="Inter"/>
                        </a:rPr>
                        <a:t>model mix</a:t>
                      </a:r>
                    </a:p>
                  </a:txBody>
                  <a:tcPr marL="91440" marR="91440" marT="45720" marB="45720" anchor="ctr">
                    <a:solidFill>
                      <a:srgbClr val="1A2742"/>
                    </a:solidFill>
                  </a:tcPr>
                </a:tc>
                <a:tc>
                  <a:txBody>
                    <a:bodyPr wrap="square"/>
                    <a:lstStyle/>
                    <a:p>
                      <a:r>
                        <a:rPr sz="1200" b="0">
                          <a:solidFill>
                            <a:srgbClr val="FFFFFF"/>
                          </a:solidFill>
                          <a:latin typeface="Inter"/>
                        </a:rPr>
                        <a:t>Confirmed from 11:20, a consequence of the soft cap</a:t>
                      </a:r>
                    </a:p>
                  </a:txBody>
                  <a:tcPr marL="91440" marR="91440" marT="45720" marB="45720" anchor="ctr">
                    <a:solidFill>
                      <a:srgbClr val="1A274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PR #412, deployed at 08:55, switched the context diet off and raised retrieval top-k to 12 for ops, so every generation carried 11,000+ tokens of whole articles and untrimmed history; from 10:00 a provider timeout storm made Atlas send each of those prompts three times, and the soft cap degraded the tenant at 11:20.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Lecture 6.5, context diet: a unit test that a 3-turn conversation with 12 articles stays under </a:t>
            </a:r>
            <a:r>
              <a:rPr sz="1656" b="0">
                <a:solidFill>
                  <a:srgbClr val="00D4AA"/>
                </a:solidFill>
                <a:latin typeface="JetBrains Mono"/>
              </a:rPr>
              <a:t>history_token_budget</a:t>
            </a:r>
            <a:r>
              <a:rPr sz="1800" b="0">
                <a:solidFill>
                  <a:srgbClr val="FFFFFF"/>
                </a:solidFill>
                <a:latin typeface="Inter"/>
              </a:rPr>
              <a:t>, and no override path</a:t>
            </a:r>
          </a:p>
          <a:p>
            <a:pPr marL="292608" indent="-292608">
              <a:lnSpc>
                <a:spcPct val="120000"/>
              </a:lnSpc>
              <a:spcAft>
                <a:spcPts val="1260"/>
              </a:spcAft>
              <a:buClr>
                <a:srgbClr val="00D4AA"/>
              </a:buClr>
              <a:buFont typeface="Inter"/>
              <a:buChar char="•"/>
            </a:pPr>
            <a:r>
              <a:rPr sz="1800" b="0">
                <a:solidFill>
                  <a:srgbClr val="FFFFFF"/>
                </a:solidFill>
                <a:latin typeface="Inter"/>
              </a:rPr>
              <a:t>Lecture 6.7, budgets: the EWMA anomaly flag wired to a metric and a page, 71 minutes earlier</a:t>
            </a:r>
          </a:p>
          <a:p>
            <a:pPr marL="292608" indent="-292608">
              <a:lnSpc>
                <a:spcPct val="120000"/>
              </a:lnSpc>
              <a:spcAft>
                <a:spcPts val="1260"/>
              </a:spcAft>
              <a:buClr>
                <a:srgbClr val="00D4AA"/>
              </a:buClr>
              <a:buFont typeface="Inter"/>
              <a:buChar char="•"/>
            </a:pPr>
            <a:r>
              <a:rPr sz="1800" b="0">
                <a:solidFill>
                  <a:srgbClr val="FFFFFF"/>
                </a:solidFill>
                <a:latin typeface="Inter"/>
              </a:rPr>
              <a:t>Lecture 7.3 and 7.4, timeouts and breakers: an 8 s timeout, and timeouts count as failures so the fallback fires</a:t>
            </a:r>
          </a:p>
          <a:p>
            <a:pPr marL="292608" indent="-292608">
              <a:lnSpc>
                <a:spcPct val="120000"/>
              </a:lnSpc>
              <a:spcAft>
                <a:spcPts val="1260"/>
              </a:spcAft>
              <a:buClr>
                <a:srgbClr val="00D4AA"/>
              </a:buClr>
              <a:buFont typeface="Inter"/>
              <a:buChar char="•"/>
            </a:pPr>
            <a:r>
              <a:rPr sz="1800" b="0">
                <a:solidFill>
                  <a:srgbClr val="FFFFFF"/>
                </a:solidFill>
                <a:latin typeface="Inter"/>
              </a:rPr>
              <a:t>Lecture 13.3, CI budget gate: tokens per step and cost per session checked on every change, including config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2: p95 doubled after lunch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2: Monday afternoon, latency doubles across every tenant at once, and the obvious cause is only…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2: p95 doubled after lunch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Separate a provider slowdown from a self-inflicted regression using TTFT, input tokens and the recovery curve.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2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14:20 Monday: </a:t>
            </a:r>
            <a:r>
              <a:rPr sz="1656" b="0">
                <a:solidFill>
                  <a:srgbClr val="00D4AA"/>
                </a:solidFill>
                <a:latin typeface="JetBrains Mono"/>
              </a:rPr>
              <a:t>latency_p95</a:t>
            </a:r>
            <a:r>
              <a:rPr sz="1800" b="0">
                <a:solidFill>
                  <a:srgbClr val="FFFFFF"/>
                </a:solidFill>
                <a:latin typeface="Inter"/>
              </a:rPr>
              <a:t> alert (p95 above 4 s for 15 minutes); p95 end-to-end 6.4 s against a 4.0 s budget; p50 2.7 s (was 1.4 s)</a:t>
            </a:r>
          </a:p>
          <a:p>
            <a:pPr marL="292608" indent="-292608">
              <a:lnSpc>
                <a:spcPct val="120000"/>
              </a:lnSpc>
              <a:spcAft>
                <a:spcPts val="1260"/>
              </a:spcAft>
              <a:buClr>
                <a:srgbClr val="00D4AA"/>
              </a:buClr>
              <a:buFont typeface="Inter"/>
              <a:buChar char="•"/>
            </a:pPr>
            <a:r>
              <a:rPr sz="1800" b="0">
                <a:solidFill>
                  <a:srgbClr val="FFFFFF"/>
                </a:solidFill>
                <a:latin typeface="Inter"/>
              </a:rPr>
              <a:t>All four tenants affected</a:t>
            </a:r>
          </a:p>
          <a:p>
            <a:pPr marL="292608" indent="-292608">
              <a:lnSpc>
                <a:spcPct val="120000"/>
              </a:lnSpc>
              <a:spcAft>
                <a:spcPts val="1260"/>
              </a:spcAft>
              <a:buClr>
                <a:srgbClr val="00D4AA"/>
              </a:buClr>
              <a:buFont typeface="Inter"/>
              <a:buChar char="•"/>
            </a:pPr>
            <a:r>
              <a:rPr sz="1800" b="0">
                <a:solidFill>
                  <a:srgbClr val="FFFFFF"/>
                </a:solidFill>
                <a:latin typeface="Inter"/>
              </a:rPr>
              <a:t>Error rate flat at 0.3%; no 429s, no timeouts, no retries</a:t>
            </a:r>
          </a:p>
          <a:p>
            <a:pPr marL="292608" indent="-292608">
              <a:lnSpc>
                <a:spcPct val="120000"/>
              </a:lnSpc>
              <a:spcAft>
                <a:spcPts val="1260"/>
              </a:spcAft>
              <a:buClr>
                <a:srgbClr val="00D4AA"/>
              </a:buClr>
              <a:buFont typeface="Inter"/>
              <a:buChar char="•"/>
            </a:pPr>
            <a:r>
              <a:rPr sz="1800" b="0">
                <a:solidFill>
                  <a:srgbClr val="FFFFFF"/>
                </a:solidFill>
                <a:latin typeface="Inter"/>
              </a:rPr>
              <a:t>Cost per session up 25% since 12:30</a:t>
            </a:r>
          </a:p>
          <a:p>
            <a:pPr marL="292608" indent="-292608">
              <a:lnSpc>
                <a:spcPct val="120000"/>
              </a:lnSpc>
              <a:spcAft>
                <a:spcPts val="1260"/>
              </a:spcAft>
              <a:buClr>
                <a:srgbClr val="00D4AA"/>
              </a:buClr>
              <a:buFont typeface="Inter"/>
              <a:buChar char="•"/>
            </a:pPr>
            <a:r>
              <a:rPr sz="1800" b="0">
                <a:solidFill>
                  <a:srgbClr val="FFFFFF"/>
                </a:solidFill>
                <a:latin typeface="Inter"/>
              </a:rPr>
              <a:t>Deploys today: </a:t>
            </a:r>
            <a:r>
              <a:rPr sz="1656" b="0">
                <a:solidFill>
                  <a:srgbClr val="00D4AA"/>
                </a:solidFill>
                <a:latin typeface="JetBrains Mono"/>
              </a:rPr>
              <a:t>v1.8.2</a:t>
            </a:r>
            <a:r>
              <a:rPr sz="1800" b="0">
                <a:solidFill>
                  <a:srgbClr val="FFFFFF"/>
                </a:solidFill>
                <a:latin typeface="Inter"/>
              </a:rPr>
              <a:t> at 12:30, "KB retrieval tuning" (config only, from the knowledge base team)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2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Provider status page: "investigating elevated latency" posted at 13:05</a:t>
            </a:r>
          </a:p>
          <a:p>
            <a:pPr marL="292608" indent="-292608">
              <a:lnSpc>
                <a:spcPct val="120000"/>
              </a:lnSpc>
              <a:spcAft>
                <a:spcPts val="1539"/>
              </a:spcAft>
              <a:buClr>
                <a:srgbClr val="00D4AA"/>
              </a:buClr>
              <a:buFont typeface="Inter"/>
              <a:buChar char="•"/>
            </a:pPr>
            <a:r>
              <a:rPr sz="2200" b="0">
                <a:solidFill>
                  <a:srgbClr val="FFFFFF"/>
                </a:solidFill>
                <a:latin typeface="Inter"/>
              </a:rPr>
              <a:t>Dataset: </a:t>
            </a:r>
            <a:r>
              <a:rPr sz="2024" b="0">
                <a:solidFill>
                  <a:srgbClr val="00D4AA"/>
                </a:solidFill>
                <a:latin typeface="JetBrains Mono"/>
              </a:rPr>
              <a:t>incidents/incident-02-latency-regression/spans.jsonl</a:t>
            </a:r>
            <a:r>
              <a:rPr sz="2200" b="0">
                <a:solidFill>
                  <a:srgbClr val="FFFFFF"/>
                </a:solidFill>
                <a:latin typeface="Inter"/>
              </a:rPr>
              <a:t>, Monday 2026-09-14, 10:00 to 18:00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Timeline: two things happened within thirty minutes of each other. Find both.</a:t>
            </a:r>
          </a:p>
          <a:p>
            <a:pPr marL="292608" indent="-292608">
              <a:lnSpc>
                <a:spcPct val="120000"/>
              </a:lnSpc>
              <a:spcAft>
                <a:spcPts val="1260"/>
              </a:spcAft>
              <a:buClr>
                <a:srgbClr val="00D4AA"/>
              </a:buClr>
              <a:buFont typeface="Inter"/>
              <a:buChar char="•"/>
            </a:pPr>
            <a:r>
              <a:rPr sz="1800" b="0">
                <a:solidFill>
                  <a:srgbClr val="FFFFFF"/>
                </a:solidFill>
                <a:latin typeface="Inter"/>
              </a:rPr>
              <a:t>Blast radius: everyone, so the cause is shared. What do all tenants share?</a:t>
            </a:r>
          </a:p>
          <a:p>
            <a:pPr marL="292608" indent="-292608">
              <a:lnSpc>
                <a:spcPct val="120000"/>
              </a:lnSpc>
              <a:spcAft>
                <a:spcPts val="1260"/>
              </a:spcAft>
              <a:buClr>
                <a:srgbClr val="00D4AA"/>
              </a:buClr>
              <a:buFont typeface="Inter"/>
              <a:buChar char="•"/>
            </a:pPr>
            <a:r>
              <a:rPr sz="1800" b="0">
                <a:solidFill>
                  <a:srgbClr val="FFFFFF"/>
                </a:solidFill>
                <a:latin typeface="Inter"/>
              </a:rPr>
              <a:t>Predict: if this is only the provider, what should p95 do at 16:50?</a:t>
            </a:r>
          </a:p>
          <a:p>
            <a:pPr marL="292608" indent="-292608">
              <a:lnSpc>
                <a:spcPct val="120000"/>
              </a:lnSpc>
              <a:spcAft>
                <a:spcPts val="1260"/>
              </a:spcAft>
              <a:buClr>
                <a:srgbClr val="00D4AA"/>
              </a:buClr>
              <a:buFont typeface="Inter"/>
              <a:buChar char="•"/>
            </a:pPr>
            <a:r>
              <a:rPr sz="1800" b="0">
                <a:solidFill>
                  <a:srgbClr val="FFFFFF"/>
                </a:solidFill>
                <a:latin typeface="Inter"/>
              </a:rPr>
              <a:t>Explain the cost: why is a latency incident 25% more expensive?</a:t>
            </a:r>
          </a:p>
          <a:p>
            <a:pPr marL="292608" indent="-292608">
              <a:lnSpc>
                <a:spcPct val="120000"/>
              </a:lnSpc>
              <a:spcAft>
                <a:spcPts val="1260"/>
              </a:spcAft>
              <a:buClr>
                <a:srgbClr val="00D4AA"/>
              </a:buClr>
              <a:buFont typeface="Inter"/>
              <a:buChar char="•"/>
            </a:pPr>
            <a:r>
              <a:rPr sz="1800" b="0">
                <a:solidFill>
                  <a:srgbClr val="FFFFFF"/>
                </a:solidFill>
                <a:latin typeface="Inter"/>
              </a:rPr>
              <a:t>Root cause in one sentence, fix you would ship today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Do not open </a:t>
            </a:r>
            <a:r>
              <a:rPr sz="2024" b="0">
                <a:solidFill>
                  <a:srgbClr val="00D4AA"/>
                </a:solidFill>
                <a:latin typeface="JetBrains Mono"/>
              </a:rPr>
              <a:t>solution.md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33472"/>
        </p:xfrm>
        <a:graphic>
          <a:graphicData uri="http://schemas.openxmlformats.org/drawingml/2006/table">
            <a:tbl>
              <a:tblPr firstRow="1" bandRow="1">
                <a:tableStyleId>{5C22544A-7EE6-4342-B048-85BDC9FD1C3A}</a:tableStyleId>
              </a:tblPr>
              <a:tblGrid>
                <a:gridCol w="2463892"/>
                <a:gridCol w="4517136"/>
                <a:gridCol w="718635"/>
                <a:gridCol w="3593176"/>
              </a:tblGrid>
              <a:tr h="438912">
                <a:tc>
                  <a:txBody>
                    <a:bodyPr wrap="square"/>
                    <a:lstStyle/>
                    <a:p>
                      <a:r>
                        <a:rPr sz="1400" b="1">
                          <a:solidFill>
                            <a:srgbClr val="0A1628"/>
                          </a:solidFill>
                          <a:latin typeface="Inter"/>
                        </a:rPr>
                        <a:t>Hypothesis</a:t>
                      </a:r>
                    </a:p>
                  </a:txBody>
                  <a:tcPr marL="91440" marR="91440" marT="45720" marB="45720" anchor="ctr">
                    <a:solidFill>
                      <a:srgbClr val="00D4AA"/>
                    </a:solidFill>
                  </a:tcPr>
                </a:tc>
                <a:tc>
                  <a:txBody>
                    <a:bodyPr wrap="square"/>
                    <a:lstStyle/>
                    <a:p>
                      <a:r>
                        <a:rPr sz="1400" b="1">
                          <a:solidFill>
                            <a:srgbClr val="0A1628"/>
                          </a:solidFill>
                          <a:latin typeface="Inter"/>
                        </a:rPr>
                        <a:t>Prediction</a:t>
                      </a:r>
                    </a:p>
                  </a:txBody>
                  <a:tcPr marL="91440" marR="91440" marT="45720" marB="45720" anchor="ctr">
                    <a:solidFill>
                      <a:srgbClr val="00D4AA"/>
                    </a:solidFill>
                  </a:tcPr>
                </a:tc>
                <a:tc>
                  <a:txBody>
                    <a:bodyPr wrap="square"/>
                    <a:lstStyle/>
                    <a:p>
                      <a:r>
                        <a:rPr sz="1400" b="1">
                          <a:solidFill>
                            <a:srgbClr val="0A1628"/>
                          </a:solidFill>
                          <a:latin typeface="Inter"/>
                        </a:rPr>
                        <a:t>Exhibit</a:t>
                      </a:r>
                    </a:p>
                  </a:txBody>
                  <a:tcPr marL="91440" marR="91440" marT="45720" marB="45720" anchor="ctr">
                    <a:solidFill>
                      <a:srgbClr val="00D4AA"/>
                    </a:solidFill>
                  </a:tcPr>
                </a:tc>
                <a:tc>
                  <a:txBody>
                    <a:bodyPr wrap="square"/>
                    <a:lstStyle/>
                    <a:p>
                      <a:r>
                        <a:rPr sz="1400" b="1">
                          <a:solidFill>
                            <a:srgbClr val="0A1628"/>
                          </a:solidFill>
                          <a:latin typeface="Inter"/>
                        </a:rPr>
                        <a:t>Verdict</a:t>
                      </a:r>
                    </a:p>
                  </a:txBody>
                  <a:tcPr marL="91440" marR="91440" marT="45720" marB="45720" anchor="ctr">
                    <a:solidFill>
                      <a:srgbClr val="00D4AA"/>
                    </a:solidFill>
                  </a:tcPr>
                </a:tc>
              </a:tr>
              <a:tr h="438912">
                <a:tc>
                  <a:txBody>
                    <a:bodyPr wrap="square"/>
                    <a:lstStyle/>
                    <a:p>
                      <a:r>
                        <a:rPr sz="1400" b="1">
                          <a:solidFill>
                            <a:srgbClr val="FFFFFF"/>
                          </a:solidFill>
                          <a:latin typeface="Inter"/>
                        </a:rPr>
                        <a:t>Provider slowdown</a:t>
                      </a:r>
                    </a:p>
                  </a:txBody>
                  <a:tcPr marL="91440" marR="91440" marT="45720" marB="45720" anchor="ctr">
                    <a:solidFill>
                      <a:srgbClr val="1A2742"/>
                    </a:solidFill>
                  </a:tcPr>
                </a:tc>
                <a:tc>
                  <a:txBody>
                    <a:bodyPr wrap="square"/>
                    <a:lstStyle/>
                    <a:p>
                      <a:r>
                        <a:rPr sz="1400" b="0">
                          <a:solidFill>
                            <a:srgbClr val="FFFFFF"/>
                          </a:solidFill>
                          <a:latin typeface="Inter"/>
                        </a:rPr>
                        <a:t>TTFT up, all tenants, recovers with provider</a:t>
                      </a:r>
                    </a:p>
                  </a:txBody>
                  <a:tcPr marL="91440" marR="91440" marT="45720" marB="45720" anchor="ctr">
                    <a:solidFill>
                      <a:srgbClr val="1A2742"/>
                    </a:solidFill>
                  </a:tcPr>
                </a:tc>
                <a:tc>
                  <a:txBody>
                    <a:bodyPr wrap="square"/>
                    <a:lstStyle/>
                    <a:p>
                      <a:r>
                        <a:rPr sz="1400" b="0">
                          <a:solidFill>
                            <a:srgbClr val="FFFFFF"/>
                          </a:solidFill>
                          <a:latin typeface="Inter"/>
                        </a:rPr>
                        <a:t>3</a:t>
                      </a:r>
                    </a:p>
                  </a:txBody>
                  <a:tcPr marL="91440" marR="91440" marT="45720" marB="45720" anchor="ctr">
                    <a:solidFill>
                      <a:srgbClr val="1A2742"/>
                    </a:solidFill>
                  </a:tcPr>
                </a:tc>
                <a:tc>
                  <a:txBody>
                    <a:bodyPr wrap="square"/>
                    <a:lstStyle/>
                    <a:p>
                      <a:r>
                        <a:rPr sz="1400" b="0">
                          <a:solidFill>
                            <a:srgbClr val="FFFFFF"/>
                          </a:solidFill>
                          <a:latin typeface="Inter"/>
                        </a:rPr>
                        <a:t>Confirmed, but not sufficient</a:t>
                      </a:r>
                    </a:p>
                  </a:txBody>
                  <a:tcPr marL="91440" marR="91440" marT="45720" marB="45720" anchor="ctr">
                    <a:solidFill>
                      <a:srgbClr val="1A2742"/>
                    </a:solidFill>
                  </a:tcPr>
                </a:tc>
              </a:tr>
              <a:tr h="438912">
                <a:tc>
                  <a:txBody>
                    <a:bodyPr wrap="square"/>
                    <a:lstStyle/>
                    <a:p>
                      <a:r>
                        <a:rPr sz="1400" b="1">
                          <a:solidFill>
                            <a:srgbClr val="FFFFFF"/>
                          </a:solidFill>
                          <a:latin typeface="Inter"/>
                        </a:rPr>
                        <a:t>Traffic or rate limiting</a:t>
                      </a:r>
                    </a:p>
                  </a:txBody>
                  <a:tcPr marL="91440" marR="91440" marT="45720" marB="45720" anchor="ctr">
                    <a:solidFill>
                      <a:srgbClr val="0F1E35"/>
                    </a:solidFill>
                  </a:tcPr>
                </a:tc>
                <a:tc>
                  <a:txBody>
                    <a:bodyPr wrap="square"/>
                    <a:lstStyle/>
                    <a:p>
                      <a:r>
                        <a:rPr sz="1400" b="0">
                          <a:solidFill>
                            <a:srgbClr val="FFFFFF"/>
                          </a:solidFill>
                          <a:latin typeface="Inter"/>
                        </a:rPr>
                        <a:t>429s, queueing, one tenant</a:t>
                      </a:r>
                    </a:p>
                  </a:txBody>
                  <a:tcPr marL="91440" marR="91440" marT="45720" marB="45720" anchor="ctr">
                    <a:solidFill>
                      <a:srgbClr val="0F1E35"/>
                    </a:solidFill>
                  </a:tcPr>
                </a:tc>
                <a:tc>
                  <a:txBody>
                    <a:bodyPr wrap="square"/>
                    <a:lstStyle/>
                    <a:p>
                      <a:r>
                        <a:rPr sz="1400" b="0">
                          <a:solidFill>
                            <a:srgbClr val="FFFFFF"/>
                          </a:solidFill>
                          <a:latin typeface="Inter"/>
                        </a:rPr>
                        <a:t>brief</a:t>
                      </a:r>
                    </a:p>
                  </a:txBody>
                  <a:tcPr marL="91440" marR="91440" marT="45720" marB="45720" anchor="ctr">
                    <a:solidFill>
                      <a:srgbClr val="0F1E35"/>
                    </a:solidFill>
                  </a:tcPr>
                </a:tc>
                <a:tc>
                  <a:txBody>
                    <a:bodyPr wrap="square"/>
                    <a:lstStyle/>
                    <a:p>
                      <a:r>
                        <a:rPr sz="1400" b="0">
                          <a:solidFill>
                            <a:srgbClr val="FFFFFF"/>
                          </a:solidFill>
                          <a:latin typeface="Inter"/>
                        </a:rPr>
                        <a:t>Killed: no 429s, all tenants</a:t>
                      </a:r>
                    </a:p>
                  </a:txBody>
                  <a:tcPr marL="91440" marR="91440" marT="45720" marB="45720" anchor="ctr">
                    <a:solidFill>
                      <a:srgbClr val="0F1E35"/>
                    </a:solidFill>
                  </a:tcPr>
                </a:tc>
              </a:tr>
              <a:tr h="438912">
                <a:tc>
                  <a:txBody>
                    <a:bodyPr wrap="square"/>
                    <a:lstStyle/>
                    <a:p>
                      <a:r>
                        <a:rPr sz="1400" b="1">
                          <a:solidFill>
                            <a:srgbClr val="FFFFFF"/>
                          </a:solidFill>
                          <a:latin typeface="Inter"/>
                        </a:rPr>
                        <a:t>Slow tool or retriever</a:t>
                      </a:r>
                    </a:p>
                  </a:txBody>
                  <a:tcPr marL="91440" marR="91440" marT="45720" marB="45720" anchor="ctr">
                    <a:solidFill>
                      <a:srgbClr val="1A2742"/>
                    </a:solidFill>
                  </a:tcPr>
                </a:tc>
                <a:tc>
                  <a:txBody>
                    <a:bodyPr wrap="square"/>
                    <a:lstStyle/>
                    <a:p>
                      <a:r>
                        <a:rPr sz="1400" b="0">
                          <a:solidFill>
                            <a:srgbClr val="FFFFFF"/>
                          </a:solidFill>
                          <a:latin typeface="Inter"/>
                        </a:rPr>
                        <a:t>tool or retriever span duration up</a:t>
                      </a:r>
                    </a:p>
                  </a:txBody>
                  <a:tcPr marL="91440" marR="91440" marT="45720" marB="45720" anchor="ctr">
                    <a:solidFill>
                      <a:srgbClr val="1A2742"/>
                    </a:solidFill>
                  </a:tcPr>
                </a:tc>
                <a:tc>
                  <a:txBody>
                    <a:bodyPr wrap="square"/>
                    <a:lstStyle/>
                    <a:p>
                      <a:r>
                        <a:rPr sz="1400" b="0">
                          <a:solidFill>
                            <a:srgbClr val="FFFFFF"/>
                          </a:solidFill>
                          <a:latin typeface="Inter"/>
                        </a:rPr>
                        <a:t>2</a:t>
                      </a:r>
                    </a:p>
                  </a:txBody>
                  <a:tcPr marL="91440" marR="91440" marT="45720" marB="45720" anchor="ctr">
                    <a:solidFill>
                      <a:srgbClr val="1A2742"/>
                    </a:solidFill>
                  </a:tcPr>
                </a:tc>
                <a:tc>
                  <a:txBody>
                    <a:bodyPr wrap="square"/>
                    <a:lstStyle/>
                    <a:p>
                      <a:r>
                        <a:rPr sz="1400" b="0">
                          <a:solidFill>
                            <a:srgbClr val="FFFFFF"/>
                          </a:solidFill>
                          <a:latin typeface="Inter"/>
                        </a:rPr>
                        <a:t>Killed: retriever p95 40 ms → 55 ms</a:t>
                      </a:r>
                    </a:p>
                  </a:txBody>
                  <a:tcPr marL="91440" marR="91440" marT="45720" marB="45720" anchor="ctr">
                    <a:solidFill>
                      <a:srgbClr val="1A2742"/>
                    </a:solidFill>
                  </a:tcPr>
                </a:tc>
              </a:tr>
              <a:tr h="438912">
                <a:tc>
                  <a:txBody>
                    <a:bodyPr wrap="square"/>
                    <a:lstStyle/>
                    <a:p>
                      <a:r>
                        <a:rPr sz="1400" b="1">
                          <a:solidFill>
                            <a:srgbClr val="FFFFFF"/>
                          </a:solidFill>
                          <a:latin typeface="Inter"/>
                        </a:rPr>
                        <a:t>Bigger prompts</a:t>
                      </a:r>
                    </a:p>
                  </a:txBody>
                  <a:tcPr marL="91440" marR="91440" marT="45720" marB="45720" anchor="ctr">
                    <a:solidFill>
                      <a:srgbClr val="0F1E35"/>
                    </a:solidFill>
                  </a:tcPr>
                </a:tc>
                <a:tc>
                  <a:txBody>
                    <a:bodyPr wrap="square"/>
                    <a:lstStyle/>
                    <a:p>
                      <a:r>
                        <a:rPr sz="1400" b="0">
                          <a:solidFill>
                            <a:srgbClr val="FFFFFF"/>
                          </a:solidFill>
                          <a:latin typeface="Inter"/>
                        </a:rPr>
                        <a:t>input tokens per generation up from 12:30</a:t>
                      </a:r>
                    </a:p>
                  </a:txBody>
                  <a:tcPr marL="91440" marR="91440" marT="45720" marB="45720" anchor="ctr">
                    <a:solidFill>
                      <a:srgbClr val="0F1E35"/>
                    </a:solidFill>
                  </a:tcPr>
                </a:tc>
                <a:tc>
                  <a:txBody>
                    <a:bodyPr wrap="square"/>
                    <a:lstStyle/>
                    <a:p>
                      <a:r>
                        <a:rPr sz="1400" b="0">
                          <a:solidFill>
                            <a:srgbClr val="FFFFFF"/>
                          </a:solidFill>
                          <a:latin typeface="Inter"/>
                        </a:rPr>
                        <a:t>4, 5</a:t>
                      </a:r>
                    </a:p>
                  </a:txBody>
                  <a:tcPr marL="91440" marR="91440" marT="45720" marB="45720" anchor="ctr">
                    <a:solidFill>
                      <a:srgbClr val="0F1E35"/>
                    </a:solidFill>
                  </a:tcPr>
                </a:tc>
                <a:tc>
                  <a:txBody>
                    <a:bodyPr wrap="square"/>
                    <a:lstStyle/>
                    <a:p>
                      <a:r>
                        <a:rPr sz="1400" b="0">
                          <a:solidFill>
                            <a:srgbClr val="FFFFFF"/>
                          </a:solidFill>
                          <a:latin typeface="Inter"/>
                        </a:rPr>
                        <a:t>Confirmed</a:t>
                      </a:r>
                    </a:p>
                  </a:txBody>
                  <a:tcPr marL="91440" marR="91440" marT="45720" marB="45720" anchor="ctr">
                    <a:solidFill>
                      <a:srgbClr val="0F1E35"/>
                    </a:solidFill>
                  </a:tcPr>
                </a:tc>
              </a:tr>
              <a:tr h="438912">
                <a:tc>
                  <a:txBody>
                    <a:bodyPr wrap="square"/>
                    <a:lstStyle/>
                    <a:p>
                      <a:r>
                        <a:rPr sz="1400" b="1">
                          <a:solidFill>
                            <a:srgbClr val="FFFFFF"/>
                          </a:solidFill>
                          <a:latin typeface="Inter"/>
                        </a:rPr>
                        <a:t>Fallback not firing</a:t>
                      </a:r>
                    </a:p>
                  </a:txBody>
                  <a:tcPr marL="91440" marR="91440" marT="45720" marB="45720" anchor="ctr">
                    <a:solidFill>
                      <a:srgbClr val="1A2742"/>
                    </a:solidFill>
                  </a:tcPr>
                </a:tc>
                <a:tc>
                  <a:txBody>
                    <a:bodyPr wrap="square"/>
                    <a:lstStyle/>
                    <a:p>
                      <a:r>
                        <a:rPr sz="1400" b="0">
                          <a:solidFill>
                            <a:srgbClr val="FFFFFF"/>
                          </a:solidFill>
                          <a:latin typeface="Inter"/>
                        </a:rPr>
                        <a:t>fallback rate zero through the incident</a:t>
                      </a:r>
                    </a:p>
                  </a:txBody>
                  <a:tcPr marL="91440" marR="91440" marT="45720" marB="45720" anchor="ctr">
                    <a:solidFill>
                      <a:srgbClr val="1A2742"/>
                    </a:solidFill>
                  </a:tcPr>
                </a:tc>
                <a:tc>
                  <a:txBody>
                    <a:bodyPr wrap="square"/>
                    <a:lstStyle/>
                    <a:p>
                      <a:r>
                        <a:rPr sz="1400" b="0">
                          <a:solidFill>
                            <a:srgbClr val="FFFFFF"/>
                          </a:solidFill>
                          <a:latin typeface="Inter"/>
                        </a:rPr>
                        <a:t>6</a:t>
                      </a:r>
                    </a:p>
                  </a:txBody>
                  <a:tcPr marL="91440" marR="91440" marT="45720" marB="45720" anchor="ctr">
                    <a:solidFill>
                      <a:srgbClr val="1A2742"/>
                    </a:solidFill>
                  </a:tcPr>
                </a:tc>
                <a:tc>
                  <a:txBody>
                    <a:bodyPr wrap="square"/>
                    <a:lstStyle/>
                    <a:p>
                      <a:r>
                        <a:rPr sz="1400" b="0">
                          <a:solidFill>
                            <a:srgbClr val="FFFFFF"/>
                          </a:solidFill>
                          <a:latin typeface="Inter"/>
                        </a:rPr>
                        <a:t>Confirmed</a:t>
                      </a:r>
                    </a:p>
                  </a:txBody>
                  <a:tcPr marL="91440" marR="91440" marT="45720" marB="45720" anchor="ctr">
                    <a:solidFill>
                      <a:srgbClr val="1A2742"/>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A config change raised retrieval top-k from 4 to 20 at 12:30, adding 1,600 input tokens to every generation and pushing p95 to the edge of budget; a provider slowdown from 13:00 to 16:50 tripled TTFT on top of it; and with a 20-second timeout the Router and the breaker saw no failures, so the fallback never fired.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Lecture 5.3, RAG spans: top-k and hits are attributes on every retriever span, so the change is visible in one filter</a:t>
            </a:r>
          </a:p>
          <a:p>
            <a:pPr marL="292608" indent="-292608">
              <a:lnSpc>
                <a:spcPct val="120000"/>
              </a:lnSpc>
              <a:spcAft>
                <a:spcPts val="1260"/>
              </a:spcAft>
              <a:buClr>
                <a:srgbClr val="00D4AA"/>
              </a:buClr>
              <a:buFont typeface="Inter"/>
              <a:buChar char="•"/>
            </a:pPr>
            <a:r>
              <a:rPr sz="1800" b="0">
                <a:solidFill>
                  <a:srgbClr val="FFFFFF"/>
                </a:solidFill>
                <a:latin typeface="Inter"/>
              </a:rPr>
              <a:t>Lecture 7.1, latency budgets: a per-call timeout derived from the step budget, not a default</a:t>
            </a:r>
          </a:p>
          <a:p>
            <a:pPr marL="292608" indent="-292608">
              <a:lnSpc>
                <a:spcPct val="120000"/>
              </a:lnSpc>
              <a:spcAft>
                <a:spcPts val="1260"/>
              </a:spcAft>
              <a:buClr>
                <a:srgbClr val="00D4AA"/>
              </a:buClr>
              <a:buFont typeface="Inter"/>
              <a:buChar char="•"/>
            </a:pPr>
            <a:r>
              <a:rPr sz="1800" b="0">
                <a:solidFill>
                  <a:srgbClr val="FFFFFF"/>
                </a:solidFill>
                <a:latin typeface="Inter"/>
              </a:rPr>
              <a:t>Lecture 7.4, fallbacks: the breaker must count slow calls, not only errors</a:t>
            </a:r>
          </a:p>
          <a:p>
            <a:pPr marL="292608" indent="-292608">
              <a:lnSpc>
                <a:spcPct val="120000"/>
              </a:lnSpc>
              <a:spcAft>
                <a:spcPts val="1260"/>
              </a:spcAft>
              <a:buClr>
                <a:srgbClr val="00D4AA"/>
              </a:buClr>
              <a:buFont typeface="Inter"/>
              <a:buChar char="•"/>
            </a:pPr>
            <a:r>
              <a:rPr sz="1800" b="0">
                <a:solidFill>
                  <a:srgbClr val="FFFFFF"/>
                </a:solidFill>
                <a:latin typeface="Inter"/>
              </a:rPr>
              <a:t>Lecture 13.3, CI budget gate: replaying the day with </a:t>
            </a:r>
            <a:r>
              <a:rPr sz="1656" b="0">
                <a:solidFill>
                  <a:srgbClr val="00D4AA"/>
                </a:solidFill>
                <a:latin typeface="JetBrains Mono"/>
              </a:rPr>
              <a:t>ATLAS_TOP_K=20</a:t>
            </a:r>
            <a:r>
              <a:rPr sz="1800" b="0">
                <a:solidFill>
                  <a:srgbClr val="FFFFFF"/>
                </a:solidFill>
                <a:latin typeface="Inter"/>
              </a:rPr>
              <a:t> fails the p95 check before it ships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3: users are unhappy but nothing is red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3, the hardest kind: every dashboard is green, and users are quietly giving 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3: users are unhappy but nothing is red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Diagnose a quality regression that no latency, error or cost signal shows, using judge scores, feedback and prompt version tags.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3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Tuesday 09:10: HR business partner reports Atlas answers have been "two lines, no source, no next step" since Monday late morning; employees opening tickets themselves</a:t>
            </a:r>
          </a:p>
          <a:p>
            <a:pPr marL="292608" indent="-292608">
              <a:lnSpc>
                <a:spcPct val="120000"/>
              </a:lnSpc>
              <a:spcAft>
                <a:spcPts val="1260"/>
              </a:spcAft>
              <a:buClr>
                <a:srgbClr val="00D4AA"/>
              </a:buClr>
              <a:buFont typeface="Inter"/>
              <a:buChar char="•"/>
            </a:pPr>
            <a:r>
              <a:rPr sz="1800" b="0">
                <a:solidFill>
                  <a:srgbClr val="FFFFFF"/>
                </a:solidFill>
                <a:latin typeface="Inter"/>
              </a:rPr>
              <a:t>p95 3.0 s (budget 4.0 s), error rate 0.2%, cost per session down 12%: all within SLO</a:t>
            </a:r>
          </a:p>
          <a:p>
            <a:pPr marL="292608" indent="-292608">
              <a:lnSpc>
                <a:spcPct val="120000"/>
              </a:lnSpc>
              <a:spcAft>
                <a:spcPts val="1260"/>
              </a:spcAft>
              <a:buClr>
                <a:srgbClr val="00D4AA"/>
              </a:buClr>
              <a:buFont typeface="Inter"/>
              <a:buChar char="•"/>
            </a:pPr>
            <a:r>
              <a:rPr sz="1800" b="0">
                <a:solidFill>
                  <a:srgbClr val="FFFFFF"/>
                </a:solidFill>
                <a:latin typeface="Inter"/>
              </a:rPr>
              <a:t>ServiceHub: manually opened tickets up 40% since 11:00 (from the ticketing system, not from Atlas)</a:t>
            </a:r>
          </a:p>
          <a:p>
            <a:pPr marL="292608" indent="-292608">
              <a:lnSpc>
                <a:spcPct val="120000"/>
              </a:lnSpc>
              <a:spcAft>
                <a:spcPts val="1260"/>
              </a:spcAft>
              <a:buClr>
                <a:srgbClr val="00D4AA"/>
              </a:buClr>
              <a:buFont typeface="Inter"/>
              <a:buChar char="•"/>
            </a:pPr>
            <a:r>
              <a:rPr sz="1800" b="0">
                <a:solidFill>
                  <a:srgbClr val="FFFFFF"/>
                </a:solidFill>
                <a:latin typeface="Inter"/>
              </a:rPr>
              <a:t>Deploys this week: none</a:t>
            </a:r>
          </a:p>
          <a:p>
            <a:pPr marL="292608" indent="-292608">
              <a:lnSpc>
                <a:spcPct val="120000"/>
              </a:lnSpc>
              <a:spcAft>
                <a:spcPts val="1260"/>
              </a:spcAft>
              <a:buClr>
                <a:srgbClr val="00D4AA"/>
              </a:buClr>
              <a:buFont typeface="Inter"/>
              <a:buChar char="•"/>
            </a:pPr>
            <a:r>
              <a:rPr sz="1800" b="0">
                <a:solidFill>
                  <a:srgbClr val="FFFFFF"/>
                </a:solidFill>
                <a:latin typeface="Inter"/>
              </a:rPr>
              <a:t>Langfuse prompt </a:t>
            </a:r>
            <a:r>
              <a:rPr sz="1656" b="0">
                <a:solidFill>
                  <a:srgbClr val="00D4AA"/>
                </a:solidFill>
                <a:latin typeface="JetBrains Mono"/>
              </a:rPr>
              <a:t>atlas-system</a:t>
            </a:r>
            <a:r>
              <a:rPr sz="1800" b="0">
                <a:solidFill>
                  <a:srgbClr val="FFFFFF"/>
                </a:solidFill>
                <a:latin typeface="Inter"/>
              </a:rPr>
              <a:t>: version 2 created last week; label history visible in the UI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3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Dataset: </a:t>
            </a:r>
            <a:r>
              <a:rPr sz="2024" b="0">
                <a:solidFill>
                  <a:srgbClr val="00D4AA"/>
                </a:solidFill>
                <a:latin typeface="JetBrains Mono"/>
              </a:rPr>
              <a:t>incidents/incident-03-quality-drift/spans.jsonl</a:t>
            </a:r>
            <a:r>
              <a:rPr sz="2200" b="0">
                <a:solidFill>
                  <a:srgbClr val="FFFFFF"/>
                </a:solidFill>
                <a:latin typeface="Inter"/>
              </a:rPr>
              <a:t> and </a:t>
            </a:r>
            <a:r>
              <a:rPr sz="2024" b="0">
                <a:solidFill>
                  <a:srgbClr val="00D4AA"/>
                </a:solidFill>
                <a:latin typeface="JetBrains Mono"/>
              </a:rPr>
              <a:t>scores.jsonl</a:t>
            </a:r>
            <a:r>
              <a:rPr sz="2200" b="0">
                <a:solidFill>
                  <a:srgbClr val="FFFFFF"/>
                </a:solidFill>
                <a:latin typeface="Inter"/>
              </a:rPr>
              <a:t>, Monday 2026-09-14, 08:00 to 17:00, includes judge scores and feedback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Timeline: when do the scores bend, and what happened at that minute?</a:t>
            </a:r>
          </a:p>
          <a:p>
            <a:pPr marL="292608" indent="-292608">
              <a:lnSpc>
                <a:spcPct val="120000"/>
              </a:lnSpc>
              <a:spcAft>
                <a:spcPts val="1260"/>
              </a:spcAft>
              <a:buClr>
                <a:srgbClr val="00D4AA"/>
              </a:buClr>
              <a:buFont typeface="Inter"/>
              <a:buChar char="•"/>
            </a:pPr>
            <a:r>
              <a:rPr sz="1800" b="0">
                <a:solidFill>
                  <a:srgbClr val="FFFFFF"/>
                </a:solidFill>
                <a:latin typeface="Inter"/>
              </a:rPr>
              <a:t>Blast radius: all tenants, or mostly HR? Why might HR notice first?</a:t>
            </a:r>
          </a:p>
          <a:p>
            <a:pPr marL="292608" indent="-292608">
              <a:lnSpc>
                <a:spcPct val="120000"/>
              </a:lnSpc>
              <a:spcAft>
                <a:spcPts val="1260"/>
              </a:spcAft>
              <a:buClr>
                <a:srgbClr val="00D4AA"/>
              </a:buClr>
              <a:buFont typeface="Inter"/>
              <a:buChar char="•"/>
            </a:pPr>
            <a:r>
              <a:rPr sz="1800" b="0">
                <a:solidFill>
                  <a:srgbClr val="FFFFFF"/>
                </a:solidFill>
                <a:latin typeface="Inter"/>
              </a:rPr>
              <a:t>Compare the two traces: same retrieval, different answer. What sits between them?</a:t>
            </a:r>
          </a:p>
          <a:p>
            <a:pPr marL="292608" indent="-292608">
              <a:lnSpc>
                <a:spcPct val="120000"/>
              </a:lnSpc>
              <a:spcAft>
                <a:spcPts val="1260"/>
              </a:spcAft>
              <a:buClr>
                <a:srgbClr val="00D4AA"/>
              </a:buClr>
              <a:buFont typeface="Inter"/>
              <a:buChar char="•"/>
            </a:pPr>
            <a:r>
              <a:rPr sz="1800" b="0">
                <a:solidFill>
                  <a:srgbClr val="FFFFFF"/>
                </a:solidFill>
                <a:latin typeface="Inter"/>
              </a:rPr>
              <a:t>Why did no alert fire, and why did one metric improve?</a:t>
            </a:r>
          </a:p>
          <a:p>
            <a:pPr marL="292608" indent="-292608">
              <a:lnSpc>
                <a:spcPct val="120000"/>
              </a:lnSpc>
              <a:spcAft>
                <a:spcPts val="1260"/>
              </a:spcAft>
              <a:buClr>
                <a:srgbClr val="00D4AA"/>
              </a:buClr>
              <a:buFont typeface="Inter"/>
              <a:buChar char="•"/>
            </a:pPr>
            <a:r>
              <a:rPr sz="1800" b="0">
                <a:solidFill>
                  <a:srgbClr val="FFFFFF"/>
                </a:solidFill>
                <a:latin typeface="Inter"/>
              </a:rPr>
              <a:t>Root cause in one sentence, the fix (it's one API call), and the gate that stops it recurring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Do not open </a:t>
            </a:r>
            <a:r>
              <a:rPr sz="2024" b="0">
                <a:solidFill>
                  <a:srgbClr val="00D4AA"/>
                </a:solidFill>
                <a:latin typeface="JetBrains Mono"/>
              </a:rPr>
              <a:t>solution.md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920240"/>
        </p:xfrm>
        <a:graphic>
          <a:graphicData uri="http://schemas.openxmlformats.org/drawingml/2006/table">
            <a:tbl>
              <a:tblPr firstRow="1" bandRow="1">
                <a:tableStyleId>{5C22544A-7EE6-4342-B048-85BDC9FD1C3A}</a:tableStyleId>
              </a:tblPr>
              <a:tblGrid>
                <a:gridCol w="2377440"/>
                <a:gridCol w="4415245"/>
                <a:gridCol w="594360"/>
                <a:gridCol w="3905794"/>
              </a:tblGrid>
              <a:tr h="384048">
                <a:tc>
                  <a:txBody>
                    <a:bodyPr wrap="square"/>
                    <a:lstStyle/>
                    <a:p>
                      <a:r>
                        <a:rPr sz="1200" b="1">
                          <a:solidFill>
                            <a:srgbClr val="0A1628"/>
                          </a:solidFill>
                          <a:latin typeface="Inter"/>
                        </a:rPr>
                        <a:t>Hypothesis</a:t>
                      </a:r>
                    </a:p>
                  </a:txBody>
                  <a:tcPr marL="91440" marR="91440" marT="45720" marB="45720" anchor="ctr">
                    <a:solidFill>
                      <a:srgbClr val="00D4AA"/>
                    </a:solidFill>
                  </a:tcPr>
                </a:tc>
                <a:tc>
                  <a:txBody>
                    <a:bodyPr wrap="square"/>
                    <a:lstStyle/>
                    <a:p>
                      <a:r>
                        <a:rPr sz="1200" b="1">
                          <a:solidFill>
                            <a:srgbClr val="0A1628"/>
                          </a:solidFill>
                          <a:latin typeface="Inter"/>
                        </a:rPr>
                        <a:t>Prediction</a:t>
                      </a:r>
                    </a:p>
                  </a:txBody>
                  <a:tcPr marL="91440" marR="91440" marT="45720" marB="45720" anchor="ctr">
                    <a:solidFill>
                      <a:srgbClr val="00D4AA"/>
                    </a:solidFill>
                  </a:tcPr>
                </a:tc>
                <a:tc>
                  <a:txBody>
                    <a:bodyPr wrap="square"/>
                    <a:lstStyle/>
                    <a:p>
                      <a:r>
                        <a:rPr sz="1200" b="1">
                          <a:solidFill>
                            <a:srgbClr val="0A1628"/>
                          </a:solidFill>
                          <a:latin typeface="Inter"/>
                        </a:rPr>
                        <a:t>Exhibit</a:t>
                      </a:r>
                    </a:p>
                  </a:txBody>
                  <a:tcPr marL="91440" marR="91440" marT="45720" marB="45720" anchor="ctr">
                    <a:solidFill>
                      <a:srgbClr val="00D4AA"/>
                    </a:solidFill>
                  </a:tcPr>
                </a:tc>
                <a:tc>
                  <a:txBody>
                    <a:bodyPr wrap="square"/>
                    <a:lstStyle/>
                    <a:p>
                      <a:r>
                        <a:rPr sz="1200" b="1">
                          <a:solidFill>
                            <a:srgbClr val="0A1628"/>
                          </a:solidFill>
                          <a:latin typeface="Inter"/>
                        </a:rPr>
                        <a:t>Verdict</a:t>
                      </a:r>
                    </a:p>
                  </a:txBody>
                  <a:tcPr marL="91440" marR="91440" marT="45720" marB="45720" anchor="ctr">
                    <a:solidFill>
                      <a:srgbClr val="00D4AA"/>
                    </a:solidFill>
                  </a:tcPr>
                </a:tc>
              </a:tr>
              <a:tr h="384048">
                <a:tc>
                  <a:txBody>
                    <a:bodyPr wrap="square"/>
                    <a:lstStyle/>
                    <a:p>
                      <a:r>
                        <a:rPr sz="1200" b="1">
                          <a:solidFill>
                            <a:srgbClr val="FFFFFF"/>
                          </a:solidFill>
                          <a:latin typeface="Inter"/>
                        </a:rPr>
                        <a:t>Model or provider regression</a:t>
                      </a:r>
                    </a:p>
                  </a:txBody>
                  <a:tcPr marL="91440" marR="91440" marT="45720" marB="45720" anchor="ctr">
                    <a:solidFill>
                      <a:srgbClr val="1A2742"/>
                    </a:solidFill>
                  </a:tcPr>
                </a:tc>
                <a:tc>
                  <a:txBody>
                    <a:bodyPr wrap="square"/>
                    <a:lstStyle/>
                    <a:p>
                      <a:r>
                        <a:rPr sz="1200" b="0">
                          <a:solidFill>
                            <a:srgbClr val="FFFFFF"/>
                          </a:solidFill>
                          <a:latin typeface="Inter"/>
                        </a:rPr>
                        <a:t>scores drop for both prompt versions</a:t>
                      </a:r>
                    </a:p>
                  </a:txBody>
                  <a:tcPr marL="91440" marR="91440" marT="45720" marB="45720" anchor="ctr">
                    <a:solidFill>
                      <a:srgbClr val="1A2742"/>
                    </a:solidFill>
                  </a:tcPr>
                </a:tc>
                <a:tc>
                  <a:txBody>
                    <a:bodyPr wrap="square"/>
                    <a:lstStyle/>
                    <a:p>
                      <a:r>
                        <a:rPr sz="1200" b="0">
                          <a:solidFill>
                            <a:srgbClr val="FFFFFF"/>
                          </a:solidFill>
                          <a:latin typeface="Inter"/>
                        </a:rPr>
                        <a:t>3</a:t>
                      </a:r>
                    </a:p>
                  </a:txBody>
                  <a:tcPr marL="91440" marR="91440" marT="45720" marB="45720" anchor="ctr">
                    <a:solidFill>
                      <a:srgbClr val="1A2742"/>
                    </a:solidFill>
                  </a:tcPr>
                </a:tc>
                <a:tc>
                  <a:txBody>
                    <a:bodyPr wrap="square"/>
                    <a:lstStyle/>
                    <a:p>
                      <a:r>
                        <a:rPr sz="1200" b="0">
                          <a:solidFill>
                            <a:srgbClr val="FFFFFF"/>
                          </a:solidFill>
                          <a:latin typeface="Inter"/>
                        </a:rPr>
                        <a:t>Killed: v1 generations still score 0.91 / 0.86</a:t>
                      </a:r>
                    </a:p>
                  </a:txBody>
                  <a:tcPr marL="91440" marR="91440" marT="45720" marB="45720" anchor="ctr">
                    <a:solidFill>
                      <a:srgbClr val="1A2742"/>
                    </a:solidFill>
                  </a:tcPr>
                </a:tc>
              </a:tr>
              <a:tr h="384048">
                <a:tc>
                  <a:txBody>
                    <a:bodyPr wrap="square"/>
                    <a:lstStyle/>
                    <a:p>
                      <a:r>
                        <a:rPr sz="1200" b="1">
                          <a:solidFill>
                            <a:srgbClr val="FFFFFF"/>
                          </a:solidFill>
                          <a:latin typeface="Inter"/>
                        </a:rPr>
                        <a:t>Retrieval regression</a:t>
                      </a:r>
                    </a:p>
                  </a:txBody>
                  <a:tcPr marL="91440" marR="91440" marT="45720" marB="45720" anchor="ctr">
                    <a:solidFill>
                      <a:srgbClr val="0F1E35"/>
                    </a:solidFill>
                  </a:tcPr>
                </a:tc>
                <a:tc>
                  <a:txBody>
                    <a:bodyPr wrap="square"/>
                    <a:lstStyle/>
                    <a:p>
                      <a:r>
                        <a:rPr sz="1200" b="0">
                          <a:solidFill>
                            <a:srgbClr val="FFFFFF"/>
                          </a:solidFill>
                          <a:latin typeface="Inter"/>
                        </a:rPr>
                        <a:t>retriever returns wrong or empty chunks</a:t>
                      </a:r>
                    </a:p>
                  </a:txBody>
                  <a:tcPr marL="91440" marR="91440" marT="45720" marB="45720" anchor="ctr">
                    <a:solidFill>
                      <a:srgbClr val="0F1E35"/>
                    </a:solidFill>
                  </a:tcPr>
                </a:tc>
                <a:tc>
                  <a:txBody>
                    <a:bodyPr wrap="square"/>
                    <a:lstStyle/>
                    <a:p>
                      <a:r>
                        <a:rPr sz="1200" b="0">
                          <a:solidFill>
                            <a:srgbClr val="FFFFFF"/>
                          </a:solidFill>
                          <a:latin typeface="Inter"/>
                        </a:rPr>
                        <a:t>5, 4</a:t>
                      </a:r>
                    </a:p>
                  </a:txBody>
                  <a:tcPr marL="91440" marR="91440" marT="45720" marB="45720" anchor="ctr">
                    <a:solidFill>
                      <a:srgbClr val="0F1E35"/>
                    </a:solidFill>
                  </a:tcPr>
                </a:tc>
                <a:tc>
                  <a:txBody>
                    <a:bodyPr wrap="square"/>
                    <a:lstStyle/>
                    <a:p>
                      <a:r>
                        <a:rPr sz="1200" b="0">
                          <a:solidFill>
                            <a:srgbClr val="FFFFFF"/>
                          </a:solidFill>
                          <a:latin typeface="Inter"/>
                        </a:rPr>
                        <a:t>Killed: same article, same tool call rate</a:t>
                      </a:r>
                    </a:p>
                  </a:txBody>
                  <a:tcPr marL="91440" marR="91440" marT="45720" marB="45720" anchor="ctr">
                    <a:solidFill>
                      <a:srgbClr val="0F1E35"/>
                    </a:solidFill>
                  </a:tcPr>
                </a:tc>
              </a:tr>
              <a:tr h="384048">
                <a:tc>
                  <a:txBody>
                    <a:bodyPr wrap="square"/>
                    <a:lstStyle/>
                    <a:p>
                      <a:r>
                        <a:rPr sz="1200" b="1">
                          <a:solidFill>
                            <a:srgbClr val="FFFFFF"/>
                          </a:solidFill>
                          <a:latin typeface="Inter"/>
                        </a:rPr>
                        <a:t>Prompt change</a:t>
                      </a:r>
                    </a:p>
                  </a:txBody>
                  <a:tcPr marL="91440" marR="91440" marT="45720" marB="45720" anchor="ctr">
                    <a:solidFill>
                      <a:srgbClr val="1A2742"/>
                    </a:solidFill>
                  </a:tcPr>
                </a:tc>
                <a:tc>
                  <a:txBody>
                    <a:bodyPr wrap="square"/>
                    <a:lstStyle/>
                    <a:p>
                      <a:r>
                        <a:rPr sz="1200" b="0">
                          <a:solidFill>
                            <a:srgbClr val="FFFFFF"/>
                          </a:solidFill>
                          <a:latin typeface="Inter"/>
                        </a:rPr>
                        <a:t>step change in scores at label move; v2 scores lower</a:t>
                      </a:r>
                    </a:p>
                  </a:txBody>
                  <a:tcPr marL="91440" marR="91440" marT="45720" marB="45720" anchor="ctr">
                    <a:solidFill>
                      <a:srgbClr val="1A2742"/>
                    </a:solidFill>
                  </a:tcPr>
                </a:tc>
                <a:tc>
                  <a:txBody>
                    <a:bodyPr wrap="square"/>
                    <a:lstStyle/>
                    <a:p>
                      <a:r>
                        <a:rPr sz="1200" b="0">
                          <a:solidFill>
                            <a:srgbClr val="FFFFFF"/>
                          </a:solidFill>
                          <a:latin typeface="Inter"/>
                        </a:rPr>
                        <a:t>1, 3, 6</a:t>
                      </a:r>
                    </a:p>
                  </a:txBody>
                  <a:tcPr marL="91440" marR="91440" marT="45720" marB="45720" anchor="ctr">
                    <a:solidFill>
                      <a:srgbClr val="1A2742"/>
                    </a:solidFill>
                  </a:tcPr>
                </a:tc>
                <a:tc>
                  <a:txBody>
                    <a:bodyPr wrap="square"/>
                    <a:lstStyle/>
                    <a:p>
                      <a:r>
                        <a:rPr sz="1200" b="0">
                          <a:solidFill>
                            <a:srgbClr val="FFFFFF"/>
                          </a:solidFill>
                          <a:latin typeface="Inter"/>
                        </a:rPr>
                        <a:t>Confirmed</a:t>
                      </a:r>
                    </a:p>
                  </a:txBody>
                  <a:tcPr marL="91440" marR="91440" marT="45720" marB="45720" anchor="ctr">
                    <a:solidFill>
                      <a:srgbClr val="1A2742"/>
                    </a:solidFill>
                  </a:tcPr>
                </a:tc>
              </a:tr>
              <a:tr h="384048">
                <a:tc>
                  <a:txBody>
                    <a:bodyPr wrap="square"/>
                    <a:lstStyle/>
                    <a:p>
                      <a:r>
                        <a:rPr sz="1200" b="1">
                          <a:solidFill>
                            <a:srgbClr val="FFFFFF"/>
                          </a:solidFill>
                          <a:latin typeface="Inter"/>
                        </a:rPr>
                        <a:t>HR-only data problem</a:t>
                      </a:r>
                    </a:p>
                  </a:txBody>
                  <a:tcPr marL="91440" marR="91440" marT="45720" marB="45720" anchor="ctr">
                    <a:solidFill>
                      <a:srgbClr val="0F1E35"/>
                    </a:solidFill>
                  </a:tcPr>
                </a:tc>
                <a:tc>
                  <a:txBody>
                    <a:bodyPr wrap="square"/>
                    <a:lstStyle/>
                    <a:p>
                      <a:r>
                        <a:rPr sz="1200" b="0">
                          <a:solidFill>
                            <a:srgbClr val="FFFFFF"/>
                          </a:solidFill>
                          <a:latin typeface="Inter"/>
                        </a:rPr>
                        <a:t>only HR scores drop</a:t>
                      </a:r>
                    </a:p>
                  </a:txBody>
                  <a:tcPr marL="91440" marR="91440" marT="45720" marB="45720" anchor="ctr">
                    <a:solidFill>
                      <a:srgbClr val="0F1E35"/>
                    </a:solidFill>
                  </a:tcPr>
                </a:tc>
                <a:tc>
                  <a:txBody>
                    <a:bodyPr wrap="square"/>
                    <a:lstStyle/>
                    <a:p>
                      <a:r>
                        <a:rPr sz="1200" b="0">
                          <a:solidFill>
                            <a:srgbClr val="FFFFFF"/>
                          </a:solidFill>
                          <a:latin typeface="Inter"/>
                        </a:rPr>
                        <a:t>3</a:t>
                      </a:r>
                    </a:p>
                  </a:txBody>
                  <a:tcPr marL="91440" marR="91440" marT="45720" marB="45720" anchor="ctr">
                    <a:solidFill>
                      <a:srgbClr val="0F1E35"/>
                    </a:solidFill>
                  </a:tcPr>
                </a:tc>
                <a:tc>
                  <a:txBody>
                    <a:bodyPr wrap="square"/>
                    <a:lstStyle/>
                    <a:p>
                      <a:r>
                        <a:rPr sz="1200" b="0">
                          <a:solidFill>
                            <a:srgbClr val="FFFFFF"/>
                          </a:solidFill>
                          <a:latin typeface="Inter"/>
                        </a:rPr>
                        <a:t>Killed: all tenants; HR noticed first</a:t>
                      </a:r>
                    </a:p>
                  </a:txBody>
                  <a:tcPr marL="91440" marR="91440" marT="45720" marB="45720" anchor="ctr">
                    <a:solidFill>
                      <a:srgbClr val="0F1E35"/>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Prompt version 2 of </a:t>
            </a:r>
            <a:r>
              <a:rPr sz="1380" b="0">
                <a:solidFill>
                  <a:srgbClr val="00D4AA"/>
                </a:solidFill>
                <a:latin typeface="JetBrains Mono"/>
              </a:rPr>
              <a:t>atlas-system</a:t>
            </a:r>
            <a:r>
              <a:rPr sz="1500" b="0">
                <a:solidFill>
                  <a:srgbClr val="CBD5E1"/>
                </a:solidFill>
                <a:latin typeface="Inter"/>
              </a:rPr>
              <a:t> received the </a:t>
            </a:r>
            <a:r>
              <a:rPr sz="1380" b="0">
                <a:solidFill>
                  <a:srgbClr val="00D4AA"/>
                </a:solidFill>
                <a:latin typeface="JetBrains Mono"/>
              </a:rPr>
              <a:t>production</a:t>
            </a:r>
            <a:r>
              <a:rPr sz="1500" b="0">
                <a:solidFill>
                  <a:srgbClr val="CBD5E1"/>
                </a:solidFill>
                <a:latin typeface="Inter"/>
              </a:rPr>
              <a:t> label through the UI at Monday 11:02 without an offline eval; it removed the citation and next-step rules, so grounded fell from 0.91 to 0.72, resolved from 0.86 to 0.74, containment from 78% to 64%, and every SLO on the dashboard stayed green while cost went down.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Lecture 4.4, prompt labels: the label is a deploy; treat it like one</a:t>
            </a:r>
          </a:p>
          <a:p>
            <a:pPr marL="292608" indent="-292608">
              <a:lnSpc>
                <a:spcPct val="120000"/>
              </a:lnSpc>
              <a:spcAft>
                <a:spcPts val="1260"/>
              </a:spcAft>
              <a:buClr>
                <a:srgbClr val="00D4AA"/>
              </a:buClr>
              <a:buFont typeface="Inter"/>
              <a:buChar char="•"/>
            </a:pPr>
            <a:r>
              <a:rPr sz="1800" b="0">
                <a:solidFill>
                  <a:srgbClr val="FFFFFF"/>
                </a:solidFill>
                <a:latin typeface="Inter"/>
              </a:rPr>
              <a:t>Lecture 8.2 and 8.5, online judge and drift: an hourly drift check on </a:t>
            </a:r>
            <a:r>
              <a:rPr sz="1656" b="0">
                <a:solidFill>
                  <a:srgbClr val="00D4AA"/>
                </a:solidFill>
                <a:latin typeface="JetBrains Mono"/>
              </a:rPr>
              <a:t>judge_grounded</a:t>
            </a:r>
            <a:r>
              <a:rPr sz="1800" b="0">
                <a:solidFill>
                  <a:srgbClr val="FFFFFF"/>
                </a:solidFill>
                <a:latin typeface="Inter"/>
              </a:rPr>
              <a:t> pages at 12:10, not an email the next morning</a:t>
            </a:r>
          </a:p>
          <a:p>
            <a:pPr marL="292608" indent="-292608">
              <a:lnSpc>
                <a:spcPct val="120000"/>
              </a:lnSpc>
              <a:spcAft>
                <a:spcPts val="1260"/>
              </a:spcAft>
              <a:buClr>
                <a:srgbClr val="00D4AA"/>
              </a:buClr>
              <a:buFont typeface="Inter"/>
              <a:buChar char="•"/>
            </a:pPr>
            <a:r>
              <a:rPr sz="1800" b="0">
                <a:solidFill>
                  <a:srgbClr val="FFFFFF"/>
                </a:solidFill>
                <a:latin typeface="Inter"/>
              </a:rPr>
              <a:t>Lecture 8.6, bad trace to regression test: v2 fails the </a:t>
            </a:r>
            <a:r>
              <a:rPr sz="1656" b="0">
                <a:solidFill>
                  <a:srgbClr val="00D4AA"/>
                </a:solidFill>
                <a:latin typeface="JetBrains Mono"/>
              </a:rPr>
              <a:t>atlas-failures</a:t>
            </a:r>
            <a:r>
              <a:rPr sz="1800" b="0">
                <a:solidFill>
                  <a:srgbClr val="FFFFFF"/>
                </a:solidFill>
                <a:latin typeface="Inter"/>
              </a:rPr>
              <a:t> dataset before it ever gets a label</a:t>
            </a:r>
          </a:p>
          <a:p>
            <a:pPr marL="292608" indent="-292608">
              <a:lnSpc>
                <a:spcPct val="120000"/>
              </a:lnSpc>
              <a:spcAft>
                <a:spcPts val="1260"/>
              </a:spcAft>
              <a:buClr>
                <a:srgbClr val="00D4AA"/>
              </a:buClr>
              <a:buFont typeface="Inter"/>
              <a:buChar char="•"/>
            </a:pPr>
            <a:r>
              <a:rPr sz="1800" b="0">
                <a:solidFill>
                  <a:srgbClr val="FFFFFF"/>
                </a:solidFill>
                <a:latin typeface="Inter"/>
              </a:rPr>
              <a:t>Lecture 9.1, SLIs: judge score and containment on the dashboard, with an SLO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Writing the postmortem</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writing the postmortem: blameless, specific, with action items that map to instrumentation, budgets and tests.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Writing the postmortem</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blameless postmortem using the template: impact in numbers, a sourced timeline, root cause and contributing factors, detection and response gaps.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 template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Summary: three sentences, no jargon</a:t>
            </a:r>
          </a:p>
          <a:p>
            <a:pPr marL="292608" indent="-292608">
              <a:lnSpc>
                <a:spcPct val="120000"/>
              </a:lnSpc>
              <a:spcAft>
                <a:spcPts val="1260"/>
              </a:spcAft>
              <a:buClr>
                <a:srgbClr val="00D4AA"/>
              </a:buClr>
              <a:buFont typeface="Inter"/>
              <a:buChar char="•"/>
            </a:pPr>
            <a:r>
              <a:rPr sz="1800" b="0">
                <a:solidFill>
                  <a:srgbClr val="FFFFFF"/>
                </a:solidFill>
                <a:latin typeface="Inter"/>
              </a:rPr>
              <a:t>Impact: numbers, with the source of each number</a:t>
            </a:r>
          </a:p>
          <a:p>
            <a:pPr marL="292608" indent="-292608">
              <a:lnSpc>
                <a:spcPct val="120000"/>
              </a:lnSpc>
              <a:spcAft>
                <a:spcPts val="1260"/>
              </a:spcAft>
              <a:buClr>
                <a:srgbClr val="00D4AA"/>
              </a:buClr>
              <a:buFont typeface="Inter"/>
              <a:buChar char="•"/>
            </a:pPr>
            <a:r>
              <a:rPr sz="1800" b="0">
                <a:solidFill>
                  <a:srgbClr val="FFFFFF"/>
                </a:solidFill>
                <a:latin typeface="Inter"/>
              </a:rPr>
              <a:t>Timeline: time, event, source; detection and resolution marked</a:t>
            </a:r>
          </a:p>
          <a:p>
            <a:pPr marL="292608" indent="-292608">
              <a:lnSpc>
                <a:spcPct val="120000"/>
              </a:lnSpc>
              <a:spcAft>
                <a:spcPts val="1260"/>
              </a:spcAft>
              <a:buClr>
                <a:srgbClr val="00D4AA"/>
              </a:buClr>
              <a:buFont typeface="Inter"/>
              <a:buChar char="•"/>
            </a:pPr>
            <a:r>
              <a:rPr sz="1800" b="0">
                <a:solidFill>
                  <a:srgbClr val="FFFFFF"/>
                </a:solidFill>
                <a:latin typeface="Inter"/>
              </a:rPr>
              <a:t>Root cause and contributing factors</a:t>
            </a:r>
          </a:p>
          <a:p>
            <a:pPr marL="292608" indent="-292608">
              <a:lnSpc>
                <a:spcPct val="120000"/>
              </a:lnSpc>
              <a:spcAft>
                <a:spcPts val="1260"/>
              </a:spcAft>
              <a:buClr>
                <a:srgbClr val="00D4AA"/>
              </a:buClr>
              <a:buFont typeface="Inter"/>
              <a:buChar char="•"/>
            </a:pPr>
            <a:r>
              <a:rPr sz="1800" b="0">
                <a:solidFill>
                  <a:srgbClr val="FFFFFF"/>
                </a:solidFill>
                <a:latin typeface="Inter"/>
              </a:rPr>
              <a:t>Detection: how we found out, how long it took, how we should have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 template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Response: what we did, what worked, what slowed us down</a:t>
            </a:r>
          </a:p>
          <a:p>
            <a:pPr marL="292608" indent="-292608">
              <a:lnSpc>
                <a:spcPct val="120000"/>
              </a:lnSpc>
              <a:spcAft>
                <a:spcPts val="1539"/>
              </a:spcAft>
              <a:buClr>
                <a:srgbClr val="00D4AA"/>
              </a:buClr>
              <a:buFont typeface="Inter"/>
              <a:buChar char="•"/>
            </a:pPr>
            <a:r>
              <a:rPr sz="2200" b="0">
                <a:solidFill>
                  <a:srgbClr val="FFFFFF"/>
                </a:solidFill>
                <a:latin typeface="Inter"/>
              </a:rPr>
              <a:t>Action items: type, owner, due date, verification</a:t>
            </a:r>
          </a:p>
          <a:p>
            <a:pPr marL="292608" indent="-292608">
              <a:lnSpc>
                <a:spcPct val="120000"/>
              </a:lnSpc>
              <a:spcAft>
                <a:spcPts val="1539"/>
              </a:spcAft>
              <a:buClr>
                <a:srgbClr val="00D4AA"/>
              </a:buClr>
              <a:buFont typeface="Inter"/>
              <a:buChar char="•"/>
            </a:pPr>
            <a:r>
              <a:rPr sz="2200" b="0">
                <a:solidFill>
                  <a:srgbClr val="FFFFFF"/>
                </a:solidFill>
                <a:latin typeface="Inter"/>
              </a:rPr>
              <a:t>Lessons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versus contributing factor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Root cause: the thing that, removed, means the incident does not happen</a:t>
            </a:r>
          </a:p>
          <a:p>
            <a:pPr marL="292608" indent="-292608">
              <a:lnSpc>
                <a:spcPct val="120000"/>
              </a:lnSpc>
              <a:spcAft>
                <a:spcPts val="1260"/>
              </a:spcAft>
              <a:buClr>
                <a:srgbClr val="00D4AA"/>
              </a:buClr>
              <a:buFont typeface="Inter"/>
              <a:buChar char="•"/>
            </a:pPr>
            <a:r>
              <a:rPr sz="1800" b="0">
                <a:solidFill>
                  <a:srgbClr val="FFFFFF"/>
                </a:solidFill>
                <a:latin typeface="Inter"/>
              </a:rPr>
              <a:t>Contributing factor: the thing that, removed, means the incident is smaller or found sooner</a:t>
            </a:r>
          </a:p>
          <a:p>
            <a:pPr marL="292608" indent="-292608">
              <a:lnSpc>
                <a:spcPct val="120000"/>
              </a:lnSpc>
              <a:spcAft>
                <a:spcPts val="1260"/>
              </a:spcAft>
              <a:buClr>
                <a:srgbClr val="00D4AA"/>
              </a:buClr>
              <a:buFont typeface="Inter"/>
              <a:buChar char="•"/>
            </a:pPr>
            <a:r>
              <a:rPr sz="1800" b="0">
                <a:solidFill>
                  <a:srgbClr val="FFFFFF"/>
                </a:solidFill>
                <a:latin typeface="Inter"/>
              </a:rPr>
              <a:t>Incident 1 root cause: the context diet and top-k could be overridden per tenant with no review, test or gate</a:t>
            </a:r>
          </a:p>
          <a:p>
            <a:pPr marL="292608" indent="-292608">
              <a:lnSpc>
                <a:spcPct val="120000"/>
              </a:lnSpc>
              <a:spcAft>
                <a:spcPts val="1260"/>
              </a:spcAft>
              <a:buClr>
                <a:srgbClr val="00D4AA"/>
              </a:buClr>
              <a:buFont typeface="Inter"/>
              <a:buChar char="•"/>
            </a:pPr>
            <a:r>
              <a:rPr sz="1800" b="0">
                <a:solidFill>
                  <a:srgbClr val="FFFFFF"/>
                </a:solidFill>
                <a:latin typeface="Inter"/>
              </a:rPr>
              <a:t>Contributing: provider timeout storm (trigger), 20 s timeout with stacked retries, breaker that ignores timeouts, anomaly flag not wired, whole-article tool results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anti-patterns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Blame: "the KB team turned it off." Systems let people turn things off; fix the system</a:t>
            </a:r>
          </a:p>
          <a:p>
            <a:pPr marL="292608" indent="-292608">
              <a:lnSpc>
                <a:spcPct val="120000"/>
              </a:lnSpc>
              <a:spcAft>
                <a:spcPts val="1260"/>
              </a:spcAft>
              <a:buClr>
                <a:srgbClr val="00D4AA"/>
              </a:buClr>
              <a:buFont typeface="Inter"/>
              <a:buChar char="•"/>
            </a:pPr>
            <a:r>
              <a:rPr sz="1800" b="0">
                <a:solidFill>
                  <a:srgbClr val="FFFFFF"/>
                </a:solidFill>
                <a:latin typeface="Inter"/>
              </a:rPr>
              <a:t>Vagueness: "improve monitoring." Name the signal, the threshold and where it pages</a:t>
            </a:r>
          </a:p>
          <a:p>
            <a:pPr marL="292608" indent="-292608">
              <a:lnSpc>
                <a:spcPct val="120000"/>
              </a:lnSpc>
              <a:spcAft>
                <a:spcPts val="1260"/>
              </a:spcAft>
              <a:buClr>
                <a:srgbClr val="00D4AA"/>
              </a:buClr>
              <a:buFont typeface="Inter"/>
              <a:buChar char="•"/>
            </a:pPr>
            <a:r>
              <a:rPr sz="1800" b="0">
                <a:solidFill>
                  <a:srgbClr val="FFFFFF"/>
                </a:solidFill>
                <a:latin typeface="Inter"/>
              </a:rPr>
              <a:t>Unverifiable: "add tests." Name the test and what makes it fail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2: Investigate a fourth incident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Project 2: a fourth incident, unrevealed.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2: Investigate a fourth incident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a full investigation on an unrevealed incident dataset with no hints.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 2 brief</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Dataset: </a:t>
            </a:r>
            <a:r>
              <a:rPr sz="1656" b="0">
                <a:solidFill>
                  <a:srgbClr val="00D4AA"/>
                </a:solidFill>
                <a:latin typeface="JetBrains Mono"/>
              </a:rPr>
              <a:t>incidents/incident-04-project/spans.jsonl</a:t>
            </a:r>
            <a:r>
              <a:rPr sz="1800" b="0">
                <a:solidFill>
                  <a:srgbClr val="FFFFFF"/>
                </a:solidFill>
                <a:latin typeface="Inter"/>
              </a:rPr>
              <a:t> and </a:t>
            </a:r>
            <a:r>
              <a:rPr sz="1656" b="0">
                <a:solidFill>
                  <a:srgbClr val="00D4AA"/>
                </a:solidFill>
                <a:latin typeface="JetBrains Mono"/>
              </a:rPr>
              <a:t>brief.md</a:t>
            </a:r>
            <a:r>
              <a:rPr sz="1800" b="0">
                <a:solidFill>
                  <a:srgbClr val="FFFFFF"/>
                </a:solidFill>
                <a:latin typeface="Inter"/>
              </a:rPr>
              <a:t>, linked from </a:t>
            </a:r>
            <a:r>
              <a:rPr sz="1656" b="0">
                <a:solidFill>
                  <a:srgbClr val="00D4AA"/>
                </a:solidFill>
                <a:latin typeface="JetBrains Mono"/>
              </a:rPr>
              <a:t>05-projects/project-2-incident-postmortem.md</a:t>
            </a:r>
          </a:p>
          <a:p>
            <a:pPr marL="292608" indent="-292608">
              <a:lnSpc>
                <a:spcPct val="120000"/>
              </a:lnSpc>
              <a:spcAft>
                <a:spcPts val="1260"/>
              </a:spcAft>
              <a:buClr>
                <a:srgbClr val="00D4AA"/>
              </a:buClr>
              <a:buFont typeface="Inter"/>
              <a:buChar char="•"/>
            </a:pPr>
            <a:r>
              <a:rPr sz="1800" b="0">
                <a:solidFill>
                  <a:srgbClr val="FFFFFF"/>
                </a:solidFill>
                <a:latin typeface="Inter"/>
              </a:rPr>
              <a:t>Load it the same way: </a:t>
            </a:r>
            <a:r>
              <a:rPr sz="1656" b="0">
                <a:solidFill>
                  <a:srgbClr val="00D4AA"/>
                </a:solidFill>
                <a:latin typeface="JetBrains Mono"/>
              </a:rPr>
              <a:t>make incident N=4</a:t>
            </a:r>
          </a:p>
          <a:p>
            <a:pPr marL="292608" indent="-292608">
              <a:lnSpc>
                <a:spcPct val="120000"/>
              </a:lnSpc>
              <a:spcAft>
                <a:spcPts val="1260"/>
              </a:spcAft>
              <a:buClr>
                <a:srgbClr val="00D4AA"/>
              </a:buClr>
              <a:buFont typeface="Inter"/>
              <a:buChar char="•"/>
            </a:pPr>
            <a:r>
              <a:rPr sz="1800" b="0">
                <a:solidFill>
                  <a:srgbClr val="FFFFFF"/>
                </a:solidFill>
                <a:latin typeface="Inter"/>
              </a:rPr>
              <a:t>Deliverable: </a:t>
            </a:r>
            <a:r>
              <a:rPr sz="1656" b="0">
                <a:solidFill>
                  <a:srgbClr val="00D4AA"/>
                </a:solidFill>
                <a:latin typeface="JetBrains Mono"/>
              </a:rPr>
              <a:t>postmortem.md</a:t>
            </a:r>
            <a:r>
              <a:rPr sz="1800" b="0">
                <a:solidFill>
                  <a:srgbClr val="FFFFFF"/>
                </a:solidFill>
                <a:latin typeface="Inter"/>
              </a:rPr>
              <a:t> using </a:t>
            </a:r>
            <a:r>
              <a:rPr sz="1656" b="0">
                <a:solidFill>
                  <a:srgbClr val="00D4AA"/>
                </a:solidFill>
                <a:latin typeface="JetBrains Mono"/>
              </a:rPr>
              <a:t>10-resources/postmortem-template.md</a:t>
            </a:r>
          </a:p>
          <a:p>
            <a:pPr marL="292608" indent="-292608">
              <a:lnSpc>
                <a:spcPct val="120000"/>
              </a:lnSpc>
              <a:spcAft>
                <a:spcPts val="1260"/>
              </a:spcAft>
              <a:buClr>
                <a:srgbClr val="00D4AA"/>
              </a:buClr>
              <a:buFont typeface="Inter"/>
              <a:buChar char="•"/>
            </a:pPr>
            <a:r>
              <a:rPr sz="1800" b="0">
                <a:solidFill>
                  <a:srgbClr val="FFFFFF"/>
                </a:solidFill>
                <a:latin typeface="Inter"/>
              </a:rPr>
              <a:t>Time box: 2 to 4 hours, including writing</a:t>
            </a:r>
          </a:p>
          <a:p>
            <a:pPr marL="292608" indent="-292608">
              <a:lnSpc>
                <a:spcPct val="120000"/>
              </a:lnSpc>
              <a:spcAft>
                <a:spcPts val="1260"/>
              </a:spcAft>
              <a:buClr>
                <a:srgbClr val="00D4AA"/>
              </a:buClr>
              <a:buFont typeface="Inter"/>
              <a:buChar char="•"/>
            </a:pPr>
            <a:r>
              <a:rPr sz="1800" b="0">
                <a:solidFill>
                  <a:srgbClr val="FFFFFF"/>
                </a:solidFill>
                <a:latin typeface="Inter"/>
              </a:rPr>
              <a:t>No </a:t>
            </a:r>
            <a:r>
              <a:rPr sz="1656" b="0">
                <a:solidFill>
                  <a:srgbClr val="00D4AA"/>
                </a:solidFill>
                <a:latin typeface="JetBrains Mono"/>
              </a:rPr>
              <a:t>solution.md</a:t>
            </a:r>
            <a:r>
              <a:rPr sz="1800" b="0">
                <a:solidFill>
                  <a:srgbClr val="FFFFFF"/>
                </a:solidFill>
                <a:latin typeface="Inter"/>
              </a:rPr>
              <a:t>. The Q&amp;A thread for this project is for method questions, not answers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Rubric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10266218"/>
                <a:gridCol w="1026621"/>
              </a:tblGrid>
              <a:tr h="384048">
                <a:tc>
                  <a:txBody>
                    <a:bodyPr wrap="square"/>
                    <a:lstStyle/>
                    <a:p>
                      <a:r>
                        <a:rPr sz="1200" b="1">
                          <a:solidFill>
                            <a:srgbClr val="0A1628"/>
                          </a:solidFill>
                          <a:latin typeface="Inter"/>
                        </a:rPr>
                        <a:t>Criterion</a:t>
                      </a:r>
                    </a:p>
                  </a:txBody>
                  <a:tcPr marL="91440" marR="91440" marT="45720" marB="45720" anchor="ctr">
                    <a:solidFill>
                      <a:srgbClr val="00D4AA"/>
                    </a:solidFill>
                  </a:tcPr>
                </a:tc>
                <a:tc>
                  <a:txBody>
                    <a:bodyPr wrap="square"/>
                    <a:lstStyle/>
                    <a:p>
                      <a:r>
                        <a:rPr sz="1200" b="1">
                          <a:solidFill>
                            <a:srgbClr val="0A1628"/>
                          </a:solidFill>
                          <a:latin typeface="Inter"/>
                        </a:rPr>
                        <a:t>Weight</a:t>
                      </a:r>
                    </a:p>
                  </a:txBody>
                  <a:tcPr marL="91440" marR="91440" marT="45720" marB="45720" anchor="ctr">
                    <a:solidFill>
                      <a:srgbClr val="00D4AA"/>
                    </a:solidFill>
                  </a:tcPr>
                </a:tc>
              </a:tr>
              <a:tr h="384048">
                <a:tc>
                  <a:txBody>
                    <a:bodyPr wrap="square"/>
                    <a:lstStyle/>
                    <a:p>
                      <a:r>
                        <a:rPr sz="1200" b="1">
                          <a:solidFill>
                            <a:srgbClr val="FFFFFF"/>
                          </a:solidFill>
                          <a:latin typeface="Inter"/>
                        </a:rPr>
                        <a:t>Timeline with sources; detection and resolution marked</a:t>
                      </a:r>
                    </a:p>
                  </a:txBody>
                  <a:tcPr marL="91440" marR="91440" marT="45720" marB="45720" anchor="ctr">
                    <a:solidFill>
                      <a:srgbClr val="1A2742"/>
                    </a:solidFill>
                  </a:tcPr>
                </a:tc>
                <a:tc>
                  <a:txBody>
                    <a:bodyPr wrap="square"/>
                    <a:lstStyle/>
                    <a:p>
                      <a:r>
                        <a:rPr sz="1200" b="0">
                          <a:solidFill>
                            <a:srgbClr val="FFFFFF"/>
                          </a:solidFill>
                          <a:latin typeface="Inter"/>
                        </a:rPr>
                        <a:t>20%</a:t>
                      </a:r>
                    </a:p>
                  </a:txBody>
                  <a:tcPr marL="91440" marR="91440" marT="45720" marB="45720" anchor="ctr">
                    <a:solidFill>
                      <a:srgbClr val="1A2742"/>
                    </a:solidFill>
                  </a:tcPr>
                </a:tc>
              </a:tr>
              <a:tr h="384048">
                <a:tc>
                  <a:txBody>
                    <a:bodyPr wrap="square"/>
                    <a:lstStyle/>
                    <a:p>
                      <a:r>
                        <a:rPr sz="1200" b="1">
                          <a:solidFill>
                            <a:srgbClr val="FFFFFF"/>
                          </a:solidFill>
                          <a:latin typeface="Inter"/>
                        </a:rPr>
                        <a:t>Root cause correctly separated from contributing factors</a:t>
                      </a:r>
                    </a:p>
                  </a:txBody>
                  <a:tcPr marL="91440" marR="91440" marT="45720" marB="45720" anchor="ctr">
                    <a:solidFill>
                      <a:srgbClr val="0F1E35"/>
                    </a:solidFill>
                  </a:tcPr>
                </a:tc>
                <a:tc>
                  <a:txBody>
                    <a:bodyPr wrap="square"/>
                    <a:lstStyle/>
                    <a:p>
                      <a:r>
                        <a:rPr sz="1200" b="0">
                          <a:solidFill>
                            <a:srgbClr val="FFFFFF"/>
                          </a:solidFill>
                          <a:latin typeface="Inter"/>
                        </a:rPr>
                        <a:t>25%</a:t>
                      </a:r>
                    </a:p>
                  </a:txBody>
                  <a:tcPr marL="91440" marR="91440" marT="45720" marB="45720" anchor="ctr">
                    <a:solidFill>
                      <a:srgbClr val="0F1E35"/>
                    </a:solidFill>
                  </a:tcPr>
                </a:tc>
              </a:tr>
              <a:tr h="384048">
                <a:tc>
                  <a:txBody>
                    <a:bodyPr wrap="square"/>
                    <a:lstStyle/>
                    <a:p>
                      <a:r>
                        <a:rPr sz="1200" b="1">
                          <a:solidFill>
                            <a:srgbClr val="FFFFFF"/>
                          </a:solidFill>
                          <a:latin typeface="Inter"/>
                        </a:rPr>
                        <a:t>Evidence: each claim points at an exhibit someone else can open</a:t>
                      </a:r>
                    </a:p>
                  </a:txBody>
                  <a:tcPr marL="91440" marR="91440" marT="45720" marB="45720" anchor="ctr">
                    <a:solidFill>
                      <a:srgbClr val="1A2742"/>
                    </a:solidFill>
                  </a:tcPr>
                </a:tc>
                <a:tc>
                  <a:txBody>
                    <a:bodyPr wrap="square"/>
                    <a:lstStyle/>
                    <a:p>
                      <a:r>
                        <a:rPr sz="1200" b="0">
                          <a:solidFill>
                            <a:srgbClr val="FFFFFF"/>
                          </a:solidFill>
                          <a:latin typeface="Inter"/>
                        </a:rPr>
                        <a:t>20%</a:t>
                      </a:r>
                    </a:p>
                  </a:txBody>
                  <a:tcPr marL="91440" marR="91440" marT="45720" marB="45720" anchor="ctr">
                    <a:solidFill>
                      <a:srgbClr val="1A2742"/>
                    </a:solidFill>
                  </a:tcPr>
                </a:tc>
              </a:tr>
              <a:tr h="384048">
                <a:tc>
                  <a:txBody>
                    <a:bodyPr wrap="square"/>
                    <a:lstStyle/>
                    <a:p>
                      <a:r>
                        <a:rPr sz="1200" b="1">
                          <a:solidFill>
                            <a:srgbClr val="FFFFFF"/>
                          </a:solidFill>
                          <a:latin typeface="Inter"/>
                        </a:rPr>
                        <a:t>Action items: typed, owned, dated, verifiable; at least one "would have caught it"</a:t>
                      </a:r>
                    </a:p>
                  </a:txBody>
                  <a:tcPr marL="91440" marR="91440" marT="45720" marB="45720" anchor="ctr">
                    <a:solidFill>
                      <a:srgbClr val="0F1E35"/>
                    </a:solidFill>
                  </a:tcPr>
                </a:tc>
                <a:tc>
                  <a:txBody>
                    <a:bodyPr wrap="square"/>
                    <a:lstStyle/>
                    <a:p>
                      <a:r>
                        <a:rPr sz="1200" b="0">
                          <a:solidFill>
                            <a:srgbClr val="FFFFFF"/>
                          </a:solidFill>
                          <a:latin typeface="Inter"/>
                        </a:rPr>
                        <a:t>25%</a:t>
                      </a:r>
                    </a:p>
                  </a:txBody>
                  <a:tcPr marL="91440" marR="91440" marT="45720" marB="45720" anchor="ctr">
                    <a:solidFill>
                      <a:srgbClr val="0F1E35"/>
                    </a:solidFill>
                  </a:tcPr>
                </a:tc>
              </a:tr>
              <a:tr h="384048">
                <a:tc>
                  <a:txBody>
                    <a:bodyPr wrap="square"/>
                    <a:lstStyle/>
                    <a:p>
                      <a:r>
                        <a:rPr sz="1200" b="1">
                          <a:solidFill>
                            <a:srgbClr val="FFFFFF"/>
                          </a:solidFill>
                          <a:latin typeface="Inter"/>
                        </a:rPr>
                        <a:t>Blameless, plain-language summary</a:t>
                      </a:r>
                    </a:p>
                  </a:txBody>
                  <a:tcPr marL="91440" marR="91440" marT="45720" marB="45720" anchor="ctr">
                    <a:solidFill>
                      <a:srgbClr val="1A2742"/>
                    </a:solidFill>
                  </a:tcPr>
                </a:tc>
                <a:tc>
                  <a:txBody>
                    <a:bodyPr wrap="square"/>
                    <a:lstStyle/>
                    <a:p>
                      <a:r>
                        <a:rPr sz="1200" b="0">
                          <a:solidFill>
                            <a:srgbClr val="FFFFFF"/>
                          </a:solidFill>
                          <a:latin typeface="Inter"/>
                        </a:rPr>
                        <a:t>10%</a:t>
                      </a:r>
                    </a:p>
                  </a:txBody>
                  <a:tcPr marL="91440" marR="91440" marT="45720" marB="45720" anchor="ctr">
                    <a:solidFill>
                      <a:srgbClr val="1A274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you're stuck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Go back to the signal map in Lecture 11.1: which question haven't you asked?</a:t>
            </a:r>
          </a:p>
          <a:p>
            <a:pPr marL="292608" indent="-292608">
              <a:lnSpc>
                <a:spcPct val="120000"/>
              </a:lnSpc>
              <a:spcAft>
                <a:spcPts val="1260"/>
              </a:spcAft>
              <a:buClr>
                <a:srgbClr val="00D4AA"/>
              </a:buClr>
              <a:buFont typeface="Inter"/>
              <a:buChar char="•"/>
            </a:pPr>
            <a:r>
              <a:rPr sz="1800" b="0">
                <a:solidFill>
                  <a:srgbClr val="FFFFFF"/>
                </a:solidFill>
                <a:latin typeface="Inter"/>
              </a:rPr>
              <a:t>Compare a good trace and a bad trace for the same intent</a:t>
            </a:r>
          </a:p>
          <a:p>
            <a:pPr marL="292608" indent="-292608">
              <a:lnSpc>
                <a:spcPct val="120000"/>
              </a:lnSpc>
              <a:spcAft>
                <a:spcPts val="1260"/>
              </a:spcAft>
              <a:buClr>
                <a:srgbClr val="00D4AA"/>
              </a:buClr>
              <a:buFont typeface="Inter"/>
              <a:buChar char="•"/>
            </a:pPr>
            <a:r>
              <a:rPr sz="1800" b="0">
                <a:solidFill>
                  <a:srgbClr val="FFFFFF"/>
                </a:solidFill>
                <a:latin typeface="Inter"/>
              </a:rPr>
              <a:t>Check what changed: </a:t>
            </a:r>
            <a:r>
              <a:rPr sz="1656" b="0">
                <a:solidFill>
                  <a:srgbClr val="00D4AA"/>
                </a:solidFill>
                <a:latin typeface="JetBrains Mono"/>
              </a:rPr>
              <a:t>deployment.release</a:t>
            </a:r>
            <a:r>
              <a:rPr sz="1800" b="0">
                <a:solidFill>
                  <a:srgbClr val="FFFFFF"/>
                </a:solidFill>
                <a:latin typeface="Inter"/>
              </a:rPr>
              <a:t>, </a:t>
            </a:r>
            <a:r>
              <a:rPr sz="1656" b="0">
                <a:solidFill>
                  <a:srgbClr val="00D4AA"/>
                </a:solidFill>
                <a:latin typeface="JetBrains Mono"/>
              </a:rPr>
              <a:t>atlas.prompt_version</a:t>
            </a:r>
            <a:r>
              <a:rPr sz="1800" b="0">
                <a:solidFill>
                  <a:srgbClr val="FFFFFF"/>
                </a:solidFill>
                <a:latin typeface="Inter"/>
              </a:rPr>
              <a:t>, </a:t>
            </a:r>
            <a:r>
              <a:rPr sz="1656" b="0">
                <a:solidFill>
                  <a:srgbClr val="00D4AA"/>
                </a:solidFill>
                <a:latin typeface="JetBrains Mono"/>
              </a:rPr>
              <a:t>atlas.retrieval.top_k</a:t>
            </a:r>
            <a:r>
              <a:rPr sz="1800" b="0">
                <a:solidFill>
                  <a:srgbClr val="FFFFFF"/>
                </a:solidFill>
                <a:latin typeface="Inter"/>
              </a:rPr>
              <a:t>, config attributes on spans</a:t>
            </a:r>
          </a:p>
          <a:p>
            <a:pPr marL="292608" indent="-292608">
              <a:lnSpc>
                <a:spcPct val="120000"/>
              </a:lnSpc>
              <a:spcAft>
                <a:spcPts val="1260"/>
              </a:spcAft>
              <a:buClr>
                <a:srgbClr val="00D4AA"/>
              </a:buClr>
              <a:buFont typeface="Inter"/>
              <a:buChar char="•"/>
            </a:pPr>
            <a:r>
              <a:rPr sz="1800" b="0">
                <a:solidFill>
                  <a:srgbClr val="FFFFFF"/>
                </a:solidFill>
                <a:latin typeface="Inter"/>
              </a:rPr>
              <a:t>Ask a method question in the Q&amp;A; don't ask for the answer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Incident response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short quiz on incident response, then Section 12, where you learn what happens to all of…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Incident response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the investigation order and the signal map.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Incident response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 questions</a:t>
            </a:r>
          </a:p>
          <a:p>
            <a:pPr marL="292608" indent="-292608">
              <a:lnSpc>
                <a:spcPct val="120000"/>
              </a:lnSpc>
              <a:spcAft>
                <a:spcPts val="1539"/>
              </a:spcAft>
              <a:buClr>
                <a:srgbClr val="00D4AA"/>
              </a:buClr>
              <a:buFont typeface="Inter"/>
              <a:buChar char="•"/>
            </a:pPr>
            <a:r>
              <a:rPr sz="2200" b="0">
                <a:solidFill>
                  <a:srgbClr val="FFFFFF"/>
                </a:solidFill>
                <a:latin typeface="Inter"/>
              </a:rPr>
              <a:t>Investigation order and the signal map</a:t>
            </a:r>
          </a:p>
          <a:p>
            <a:pPr marL="292608" indent="-292608">
              <a:lnSpc>
                <a:spcPct val="120000"/>
              </a:lnSpc>
              <a:spcAft>
                <a:spcPts val="1539"/>
              </a:spcAft>
              <a:buClr>
                <a:srgbClr val="00D4AA"/>
              </a:buClr>
              <a:buFont typeface="Inter"/>
              <a:buChar char="•"/>
            </a:pPr>
            <a:r>
              <a:rPr sz="2200" b="0">
                <a:solidFill>
                  <a:srgbClr val="FFFFFF"/>
                </a:solidFill>
                <a:latin typeface="Inter"/>
              </a:rPr>
              <a:t>Root cause vs trigger vs contributing factor</a:t>
            </a:r>
          </a:p>
          <a:p>
            <a:pPr marL="292608" indent="-292608">
              <a:lnSpc>
                <a:spcPct val="120000"/>
              </a:lnSpc>
              <a:spcAft>
                <a:spcPts val="1539"/>
              </a:spcAft>
              <a:buClr>
                <a:srgbClr val="00D4AA"/>
              </a:buClr>
              <a:buFont typeface="Inter"/>
              <a:buChar char="•"/>
            </a:pPr>
            <a:r>
              <a:rPr sz="2200" b="0">
                <a:solidFill>
                  <a:srgbClr val="FFFFFF"/>
                </a:solidFill>
                <a:latin typeface="Inter"/>
              </a:rPr>
              <a:t>The three fixes: diet and timeouts, top-k and the breaker, prompt labels</a:t>
            </a:r>
          </a:p>
          <a:p>
            <a:pPr marL="292608" indent="-292608">
              <a:lnSpc>
                <a:spcPct val="120000"/>
              </a:lnSpc>
              <a:spcAft>
                <a:spcPts val="1539"/>
              </a:spcAft>
              <a:buClr>
                <a:srgbClr val="00D4AA"/>
              </a:buClr>
              <a:buFont typeface="Inter"/>
              <a:buChar char="•"/>
            </a:pPr>
            <a:r>
              <a:rPr sz="2200" b="0">
                <a:solidFill>
                  <a:srgbClr val="FFFFFF"/>
                </a:solidFill>
                <a:latin typeface="Inter"/>
              </a:rPr>
              <a:t>Read every explanation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Vendor lock-in and the OTel escape hatch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12 is next: what stays portable when you swap Langfuse for LangSmith, Phoenix or an enterprise APM…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