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Where the money goes: token anatomy.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streams. The first three are on every invoice. Uncached input is what you send at full price. Cached input is a prefix the provider has seen in the last few minutes, billed at a quarter of the price. Output is everything the model writes, and that includes the JSON arguments of a tool call. Then three streams people forget. Reasoning tokens, which reasoning models spend thinking and bill as output. Retries, where you pay for the same step twice. And judge calls, which we'll add in Section 8, where you pay a second model to grade the first one.</a:t>
            </a:r>
          </a:p>
          <a:p/>
          <a:p>
            <a:r>
              <a:t>Here's the question for the whole section. Which stream is biggest for Atlas? Let's find out with the numbers you just saw.</a:t>
            </a:r>
          </a:p>
          <a:p/>
          <a:p>
            <a:r>
              <a:t>Slide text (drawn on the diagram): Uncached input: what you send, at full price · Cached input: the same prefix, seen recently, at a discount · Output: what the model writes, including tool-call arguments · Reasoning: hidden thinking on reasoning models, billed as output · Retries: the same step, paid again · Judge calls: the model you pay to grade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Atlas sends the system prompt and the five tool schemas. That prefix is about thirty-two hundred tokens. Plus the thirty-token question. Three thousand two hundred fifty-nine in. The model answers with a forty-two-token tool call.</a:t>
            </a:r>
          </a:p>
          <a:p/>
          <a:p>
            <a:r>
              <a:t>Step two. Here's the part that surprises people. The model has no memory. So Atlas sends everything from step one again, plus the tool call, plus the thirty-four-hundred-token knowledge base result, four passages at the default top-k. Six thousand six hundred sixty-seven in, and finally a two-hundred-eighty-two-token answer for the user.</a:t>
            </a:r>
          </a:p>
          <a:p/>
          <a:p>
            <a:r>
              <a:t>Add it up. Nine thousand nine hundred twenty-six input tokens. Three hundred twenty-four output. The prefix alone was sent twice, and in a multi-turn session it goes again on every follow-up, with the passages riding along: thousands of tokens for thirty tokens of actual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money. At forty cents per million input tokens, the input costs four tenths of a cent. Output is four times the price per token, but there's thirty times less of it, so it's a twentieth of a cent. Total: just under half a cent per request. And eighty-eight percent of it is input.</a:t>
            </a:r>
          </a:p>
          <a:p/>
          <a:p>
            <a:r>
              <a:t>That's the answer to the question. For a tool-calling agent, the bill is input. Not the clever answer at the end. The re-sent context in the middle. Which is why the three levers in this section, caching, the context diet and routing, all attack input first.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it to Atlas's replayed day. Ten thousand requests in four thousand sessions, fifty-six dollars twenty-eight. Almost all of it is gpt-4.1-mini input. The forgotten streams are small today, and that is the point: forty-three requests escalated to gpt-4.1, thirty-eight cents, five times the price per token for less than half a percent of the traffic. And no retries, because nothing failed. On the day a tool or a provider does fail, every retry re-sends the whole prompt and bills it again; that is Incident 1 in Section 11.</a:t>
            </a:r>
          </a:p>
          <a:p/>
          <a:p>
            <a:r>
              <a:t>[B-ROLL: Ops Console, Cost page, "Cost per hour by tenant" for the replayed day: two daytime peaks, the 09:00 bar at $6.02 called out, th...]</a:t>
            </a:r>
          </a:p>
          <a:p/>
          <a:p>
            <a:r>
              <a:t>Fifty-six dollars twenty-eight a day. About a cent and a half per session. About seventeen hundred a month. Not scary yet. The scary number in Section 1 was a loop: five dollars for one conversation, about forty-nine hundred for a weekend of them. This is the normal day, and normal days are where the savings live, because you can plan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numbers come from? Every response carries a usage object. On Chat Completions it's `prompt_tokens` and `completion_tokens`, with a details object underneath. On the Responses API it's `input_tokens` and `output_tokens`. Two traps. `cached_tokens` is part of the input count, not on top of it, so cost is uncached times full price plus cached times the discount. And `reasoning_tokens` is part of the output count, billed at the output price. If you build a price function that forgets either rule, your showback report is wrong, and finance will find out before you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plan. First a price table you can trust, then attribution, so every one of those fifty-six dollars has a tenant and a feature on it. Then the three levers, each measured on the same day of traffic. Then budgets so it can't run away. And in 6.8 you'll take the fifty-six dollar day and cut it by forty percent yourself, before I show you my version. Keep the number in your head: fifty-six twenty-eight.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a price table you can trust.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sources, one function. LiteLLM ships a price table for hundreds of models, updated with the library. We read from it first. Behind it sits our own fallback: a small dictionary with a date in a comment, so offline mode and tests never depend on the network or on a library upgrade. And there's room for overrides, for negotiated rates. Everything funnels into one function, `estimate_cost`. Nothing else in the repo multiplies tokens by prices. That's the rule that would have saved that team.</a:t>
            </a:r>
          </a:p>
          <a:p/>
          <a:p>
            <a:r>
              <a:t>[SCREEN: terminal]</a:t>
            </a:r>
          </a:p>
          <a:p/>
          <a:p>
            <a:r>
              <a:t>Let's look at what LiteLLM knows.</a:t>
            </a:r>
          </a:p>
          <a:p/>
          <a:p>
            <a:r>
              <a:t>[DEMO: prints `{'input_cost_per_token': 4e-07, 'output_cost_per_token': 1.6e-06, 'cache_read_input_token_cost': 1e-07}`]</a:t>
            </a:r>
          </a:p>
          <a:p/>
          <a:p>
            <a:r>
              <a:t>Four times ten to the minus seven per input token. That's forty cents per million. One point six per million out. Ten cents per million cached. Note the key name: `cache_read_input_token_cost`. Now the module.</a:t>
            </a:r>
          </a:p>
          <a:p/>
          <a:p>
            <a:r>
              <a:t>[SCREEN: VS Code, `src/northwind/pricing.py`]</a:t>
            </a:r>
          </a:p>
          <a:p/>
          <a:p>
            <a:r>
              <a:t>[CODE: `src/northwind/pricing.py` (excerpt)]</a:t>
            </a:r>
          </a:p>
          <a:p/>
          <a:p>
            <a:r>
              <a:t>Walk through it. `FALLBACK_PRICES` is per million, because that's how price pages read, with the date and the warning in the module docstring. `ModelPrice` exposes per-token properties, because that's how you multiply. `get_price` asks LiteLLM first when you pass `use_litellm=True`, which production does and the unit tests don't, because importing LiteLLM takes seconds; then it falls back to the pinned table.</a:t>
            </a:r>
          </a:p>
          <a:p/>
          <a:p>
            <a:r>
              <a:t>[SCREEN: zoom on `get_price`; the `raise UnknownModelError(name) from exc` line gets a red callout]</a:t>
            </a:r>
          </a:p>
          <a:p/>
          <a:p>
            <a:r>
              <a:t>[SCREEN: zoom on `estimate_cost`; the three lines `input_usd`, `cached_usd`, `output_usd` highlighted in turn]</a:t>
            </a:r>
          </a:p>
          <a:p/>
          <a:p>
            <a:r>
              <a:t>`estimate_cost` is the whole lesson from last lecture, in `Decimal` so that ten thousand records sum the same way every time. Uncached input at full price. Cached input at the discount. Output at the output price. `reasoning_tokens` is a parameter so the call site is honest about it, and the breakdown reports it, but it adds nothing to the total, because it's already inside `output_tokens`. `cost_usd` is the float wrapper for when you just want the number.</a:t>
            </a:r>
          </a:p>
          <a:p/>
          <a:p>
            <a:r>
              <a:t>[SCREEN: terminal]</a:t>
            </a:r>
          </a:p>
          <a:p/>
          <a:p>
            <a:r>
              <a:t>Let's check it against the numbers from 6.1, and against LiteLLM's own calculator.</a:t>
            </a:r>
          </a:p>
          <a:p/>
          <a:p>
            <a:r>
              <a:t>[DEMO: output:]</a:t>
            </a:r>
          </a:p>
          <a:p/>
          <a:p>
            <a:r>
              <a:t>The first line is step one of the demo request from 6.1: thirty-two fifty-nine in, forty-two out, a seventh of a cent, exactly what the agent printed. A cached example: twelve hundred in, nine hundred of them cached, one eighty out. Twelve hundred minus nine hundred is three hundred uncached at forty cents, nine hundred at ten cents, one eighty at a dollar sixty. About five hundredths of a cent. And LiteLLM agrees: `cost_per_token` returns the input part and the output part as a tuple. The long decimal is ordinary floating-point noise: twenty-one thousandths of a cent input, and the same output figure. Two independent calculators, same answer. That's the moment you can trust the function.</a:t>
            </a:r>
          </a:p>
          <a:p/>
          <a:p>
            <a:r>
              <a:t>The third line is the same step on gpt-4.1, the escalation model. Five times the mini step. Remember that for 6.6.</a:t>
            </a:r>
          </a:p>
          <a:p/>
          <a:p>
            <a:r>
              <a:t>[CODE: `tests/unit/test_pricing.py` (excerpt: four of the sixteen tests)]</a:t>
            </a:r>
          </a:p>
          <a:p/>
          <a:p>
            <a:r>
              <a:t>Four of the sixteen tests in the file, and the first one is the shape check that would have saved that team: for every pinned model, cached is below input is below output, so a typo in a price fails the build. Comparing the table with LiteLLM's is the one-liner you run when you bump the library, `litellm.model_cost["gpt-4.1-mini"]["input_cost_per_token"]` against `get_price("gpt-4.1-mini").input_per_token`; the day the library ships a new price, that check goes red and someone has to look at the price page and update the date. That's a price change becoming a code review instead of a surprise. The second test pins the cached-subset rule. The third pins that reasoning tokens are reported but never charged twice. The fourth pins the loud failure.</a:t>
            </a:r>
          </a:p>
          <a:p/>
          <a:p>
            <a:r>
              <a:t>[SCREEN: terminal, `uv run pytest tests/unit/test_pricing.py -q`]</a:t>
            </a:r>
          </a:p>
          <a:p/>
          <a:p>
            <a:r>
              <a:t>[DEMO: `27 passed` (several tests are parametrized over the five pinned models)]</a:t>
            </a:r>
          </a:p>
          <a:p/>
          <a:p>
            <a:r>
              <a:t>One more thing about rounding. Store cost in USD as a float with eight decimals per generation, and sum before you round for display. Rounding each generation to cents and then summing ten thousand of them gives you a report that is off by dollars. We display cents; we never store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Cost per request, session, user, tenant and feature.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dimensions. Request, session, user, tenant, feature. The trick is that you don't compute five reports. You stamp all five onto every generation, once, at the moment it happens. Then any report is a group-by. Let's see the record.</a:t>
            </a:r>
          </a:p>
          <a:p/>
          <a:p>
            <a:r>
              <a:t>[SCREEN: VS Code, `src/northwind/cost.py`]</a:t>
            </a:r>
          </a:p>
          <a:p/>
          <a:p>
            <a:r>
              <a:t>[CODE: `src/northwind/cost.py` (excerpt)]</a:t>
            </a:r>
          </a:p>
          <a:p/>
          <a:p>
            <a:r>
              <a:t>`CostRecord` is one priced generation, or one whole request when the store aggregates upstream. Tokens, model, `cost_usd`, and the dimensions: tenant, session, user, feature, intent. `CostRecord.from_usage` builds one from token counts and prices it with `estimate_cost` from 6.2, so nobody types a price and nobody stores a stale one.</a:t>
            </a:r>
          </a:p>
          <a:p/>
          <a:p>
            <a:r>
              <a:t>[SCREEN: zoom on `rollup`; the `by not in DIMENSIONS` guard and the `agg.sessions.add` line highlighted]</a:t>
            </a:r>
          </a:p>
          <a:p/>
          <a:p>
            <a:r>
              <a:t>`rollup` groups by any dimension in `DIMENSIONS` and returns a `Rollup` per key: requests, sessions, tokens, cost, and the derived `cost_per_request`, `cost_per_session` and `cache_hit_ratio`. `by="tenant"` gives the CFO's table. `by="feature"` or `by="intent"` tells engineering which question type to optimize first. `by="model"` tells you what the escalation model is really costing. And `by="user_id"` deserves a slide of its own.</a:t>
            </a:r>
          </a:p>
          <a:p/>
          <a:p>
            <a:r>
              <a:t>Slide text (drawn on the diagram): Request: one `trace_id` · Session: one conversation, `session_id` · User: one employee, `user_id` (the collector hashes it before export, Section 10) · Tenant: one department, `tenant` tag · Feature: what Atlas served, from `feature_for_intent` in `app/mock_llm.py`: `policy_question`, `ticket_lookup`, `create_ticket`, `password_reset`, `shipment_status`, `escalation`, `other` (the finer `intent` rides along) · Every generation carries all five plus tokens and `cost_usd`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Eighty employees, and the top twenty spend just over a third of the money. The top five are all dispatchers in ops, two hundred-plus requests each in one day, mostly policy questions. Not misuse. But it's a product signal: those people would rather ask Atlas than search the intranet, and you only see it at the user level. Do that rollup in the report, from the span store. Never as a Prometheus label, because a label with one value per employee is a cardinality bomb. That's the rule from lecture 5.5.</a:t>
            </a:r>
          </a:p>
          <a:p/>
          <a:p>
            <a:r>
              <a:t>Where do the records come from? The agent loop.</a:t>
            </a:r>
          </a:p>
          <a:p/>
          <a:p>
            <a:r>
              <a:t>[SCREEN: `app/agent.py`, the generation step]</a:t>
            </a:r>
          </a:p>
          <a:p/>
          <a:p>
            <a:r>
              <a:t>[CODE: `app/agent.py` (excerpt, inside `_call_model`)]</a:t>
            </a:r>
          </a:p>
          <a:p/>
          <a:p>
            <a:r>
              <a:t>Three destinations, one moment. `usage_numbers` reads the usage object, Chat or Responses shape, and `_price` calls `estimate_cost` once. Just above this excerpt, the generation span also gets `atlas.tenant` and `atlas.feature`, so every generation knows who it was for.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`set_llm_usage` writes the tokens as `gen_ai.usage.*` and as Langfuse's `usage_details`. `set_cost` writes the money twice over: `atlas.cost_usd`, which the local store turns into a `CostRecord` for the console and the reports, and `cost_details`, so the trace UI shows dollars next to tokens. And `metrics.record_generation` increments the Prometheus counter `atlas_cost_usd_total`, for the dashboards in Section 9. Note the labels on the counter: tenant, model, feature. Never user or session.</a:t>
            </a:r>
          </a:p>
          <a:p/>
          <a:p>
            <a:r>
              <a:t>One detail. Langfuse can compute cost itself from its own model price list when you send `usage_details`. We send `cost_details` anyway, because the number in the report must equal the number in the trace, and only our function guarantees that.</a:t>
            </a:r>
          </a:p>
          <a:p/>
          <a:p>
            <a:r>
              <a:t>[SCREEN: terminal]</a:t>
            </a:r>
          </a:p>
          <a:p/>
          <a:p>
            <a:r>
              <a:t>Part B. The report. Let's replay the day and run it.</a:t>
            </a:r>
          </a:p>
          <a:p/>
          <a:p>
            <a:r>
              <a:t>[DEMO: the markdown report renders. On screen, the first three sections (trimmed):]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CFO's table. Ops is thirty-six percent of the bill because it's forty-three percent of the sessions, and its cost per session is the lowest, just over a cent, because dispatchers ask short ticket and shipment questions. Finance is the most expensive per session, one point seven cents, because payroll and expense questions retrieve more policy text. That spread is the interesting finding, and it's small. No department is misusing Atlas. The cost is structural. To cut it, change the agent, not the users.</a:t>
            </a:r>
          </a:p>
          <a:p/>
          <a:p>
            <a:r>
              <a:t>Now slice the same records by feature.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not flat. Policy questions are sixty-three percent of requests and seventy-six percent of the cost, at two thirds of a cent each, more than double a ticket lookup or a shipment check. Why? Policy questions call `search_knowledge_base`, and that tool returns four passages, about thirty-four hundred tokens, that get re-sent on every following step and every follow-up turn. That one row tells you where the context diet in 6.5 will pay off most. And the escalation row: forty-three requests, the most expensive per request by far, and still under half a dollar. Remember that for 6.6.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number, and it's the one finance accepts: cost per resolved session. The report divides the cost of resolved requests by the sessions that got a resolved answer. One point four four cents against one point four one per session, close today, because almost every replayed request resolves. Why report the harsher number? Because when requests start failing, cost per session stays flat and cost per resolved session climbs. It notices when the agent gets worse. The outcome only knows about errors, step limits and timeouts, though. An answer that ended politely and helped nobody still counts as resolved. Section 8 fills that gap with the judge.</a:t>
            </a:r>
          </a:p>
          <a:p/>
          <a:p>
            <a:r>
              <a:t>[SCREEN: Ops Console (`make console`), Cost page: the four tiles (total cost, cost per session, cost per resolved session, cache hit rati...]</a:t>
            </a:r>
          </a:p>
          <a:p/>
          <a:p>
            <a:r>
              <a:t>The Ops Console Cost page shows the same rollups. Same records, same `rollup` function, so the console and the markdown report never disagree. And the bottom table, the ten most expensive conversations, links each one to its trace.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Prompt caching: the cheapest win.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mechanism. When you send a prompt, the provider checks whether it has recently seen a prompt that starts with the same tokens. Exact match, from the first token. If the shared prefix is at least a thousand and twenty-four tokens, those tokens are served from cache, reported as `cached_tokens`, and billed at a quarter of the price. The cache lives for minutes, so it only helps when traffic is steady, which for a helpdesk it is. And `prompt_cache_key` is a hint that sends requests with the same prefix to the same cache machine, which raises your hit rate.</a:t>
            </a:r>
          </a:p>
          <a:p/>
          <a:p>
            <a:r>
              <a:t>So the whole game is: make the front of the prompt identical across as many requests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Atlas version one did wrong, and it's what most agents do. The prompt began with a banner: today's date, the tenant, the user's name. Then the rules and tools. The date changes every day. The user changes every request. One changing token at the front, and nothing behind it can ever match. The fix is a sort: stable first, per-request last.</a:t>
            </a:r>
          </a:p>
          <a:p/>
          <a:p>
            <a:r>
              <a:t>[SCREEN: VS Code, `app/prompts.py` then `app/agent.py`]</a:t>
            </a:r>
          </a:p>
          <a:p/>
          <a:p>
            <a:r>
              <a:t>[CODE: `app/prompts.py` and `app/agent.py` (excerpts): the key, the prompt order and the call]</a:t>
            </a:r>
          </a:p>
          <a:p/>
          <a:p>
            <a:r>
              <a:t>Three layers. The system message is the prompt version's text from `app/prompts.py`, nothing else: no date, no user name, no tenant banner. `TOOL_SCHEMAS`, the five tool definitions, is a constant, so it's part of the prefix too. The history comes next; within a session it only grows at the end, so earlier turns keep matching. Then the question, last, where it can't break anything.</a:t>
            </a:r>
          </a:p>
          <a:p/>
          <a:p>
            <a:r>
              <a:t>The cache key is `atlas-&lt;version&gt;-&lt;tenant&gt;`. One prompt version, four tenants, four keys. Never put the user or session in the key. That would give you four thousand keys a day and almost no hits. And `ATLAS_PROMPT_CACHE=0` makes `_cache_key` return `None`, which is how the baseline replay measures the world without caching.</a:t>
            </a:r>
          </a:p>
          <a:p/>
          <a:p>
            <a:r>
              <a:t>[SCREEN: terminal]</a:t>
            </a:r>
          </a:p>
          <a:p/>
          <a:p>
            <a:r>
              <a:t>Let's prove it. One request, two steps, print `cached_tokens` per step.</a:t>
            </a:r>
          </a:p>
          <a:p/>
          <a:p>
            <a:r>
              <a:t>[DEMO: output:]</a:t>
            </a:r>
          </a:p>
          <a:p/>
          <a:p>
            <a:r>
              <a:t>Step one: thirty-two hundred cached. That's the system prompt plus the tool schemas, rounded down to a cache block, hit because another ops request ran a moment ago. Step two: thirty-two hundred again, the same prefix; the thirty-four hundred tokens of fresh retrieval results can't be cached, because nobody has sent them before. So this request cost forty-three percent less than the four forty-nine it cost uncached. The number you can't control is step one across requests: whether the previous request on this shard shared your prefix. On the replayed day, forty-nine percent of all input tokens come from cache.</a:t>
            </a:r>
          </a:p>
          <a:p/>
          <a:p>
            <a:r>
              <a:t>Now the same day of traffic.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day drops from fifty-six twenty-eight to thirty-seven dollars. Nineteen dollars twenty-eight a day, about five hundred eighty a month, thirty-four percent, with a forty-nine percent hit rate on input tokens that the replay models from the real traffic shape. The answers are byte-for-byte identical, because the model saw the same tokens. Caching changes the bill, not the behavior.</a:t>
            </a:r>
          </a:p>
          <a:p/>
          <a:p>
            <a:r>
              <a:t>[SCREEN: Ops Console (`make console STORE=.atlas/cache.sqlite`), Cost page: the "Cache hit ratio" tile reads 49%; then Compare replays wi...]</a:t>
            </a:r>
          </a:p>
          <a:p/>
          <a:p>
            <a:r>
              <a:t>One tile on the console's Cost page: cache hit ratio, cached tokens over all input tokens. And because both replays went to their own store, the Compare replays page puts them side by side. Watch that tile. If it falls, someone put a timestamp at the front of the prompt again. It's the cheapest regression to catch and the most common one to ship.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of thumb. Sort the prompt. Key on version and tenant. Check your prefix length, because under a thousand and twenty-four tokens nothing happens at all. Dashboard the hit rate. And if you use a provider with explicit cache controls, the sorting lesson is identical; only the API and the prices differ.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context diet.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bloats in four places. History that never gets trimmed. Tool results pasted whole. Retrieval that returns more chunks than the answer needs. And tool schemas, which we'll leave alone today because Atlas has five. The rule is the same as for any performance work: measure per step, cut the biggest, measure again. Let's look at the helpers.</a:t>
            </a:r>
          </a:p>
          <a:p/>
          <a:p>
            <a:r>
              <a:t>[SCREEN: VS Code, `src/northwind/tokens.py`]</a:t>
            </a:r>
          </a:p>
          <a:p/>
          <a:p>
            <a:r>
              <a:t>[CODE: `src/northwind/tokens.py` (excerpt)]</a:t>
            </a:r>
          </a:p>
          <a:p/>
          <a:p>
            <a:r>
              <a:t>Four functions. `count_tokens`, with the alias `estimate_tokens`, uses `tiktoken` only when `ATLAS_USE_TIKTOKEN=1` and the encoding is already on disk; otherwise a word-and-punctuation approximation. That's within about ten percent for English, and it never phones home, so tests and offline mode work.</a:t>
            </a:r>
          </a:p>
          <a:p/>
          <a:p>
            <a:r>
              <a:t>[SCREEN: zoom on `truncate_tool_result` and `trim_history`; the docstring lines "JSON results stay valid JSON" and "Tool-call/tool-result...]</a:t>
            </a:r>
          </a:p>
          <a:p/>
          <a:p>
            <a:r>
              <a:t>`truncate_tool_result` caps a result and keeps JSON valid: long string fields are clipped first, then list items are dropped from the end; plain text keeps the head and the tail with a visible marker, so the model knows it saw a cut and can ask for more. `trim_history` drops the oldest turns until the history fits its budget, always keeps the system prompt and the last two messages, drops tool-call and tool-result pairs together so the API never sees an orphan, and replaces what it dropped with one summary line. `context_diet` runs the two in that order and returns the messages plus a `saved` count. Because it cuts from the oldest end, the cached prefix from 6.4 survives.</a:t>
            </a:r>
          </a:p>
          <a:p/>
          <a:p>
            <a:r>
              <a:t>Now wire them in.</a:t>
            </a:r>
          </a:p>
          <a:p/>
          <a:p>
            <a:r>
              <a:t>[SCREEN: `app/agent.py` and `src/northwind/config.py`]</a:t>
            </a:r>
          </a:p>
          <a:p/>
          <a:p>
            <a:r>
              <a:t>[CODE: `app/agent.py` (excerpts) and `src/northwind/config.py` (excerpt)]</a:t>
            </a:r>
          </a:p>
          <a:p/>
          <a:p>
            <a:r>
              <a:t>Two budgets in config: `history_token_budget`, eight thousand tokens, and `tool_result_token_budget`, fourteen hundred, both from the environment. The diet runs once before the loop, on the history the server kept for the session, and `_run_tool` caps every tool result as it arrives and records what the model actually got as `atlas.tool.result_tokens` on the tool span. An event on the root span, `context.trimmed`, records how many tokens the diet saved, so the saving is visible per trace. The `context_bloat` scenario switches the diet off on purpose; that's how Incident 1 is built. And the Makefile's `DIET` flag is just `ATLAS_CONTEXT_DIET`.</a:t>
            </a:r>
          </a:p>
          <a:p/>
          <a:p>
            <a:r>
              <a:t>[SCREEN: `src/northwind/tokens.py`, `summarise_placeholder` and the `summariser` parameter of `trim_history`]</a:t>
            </a:r>
          </a:p>
          <a:p/>
          <a:p>
            <a:r>
              <a:t>One option the code leaves on a placeholder: the `summariser` callback. The default, `summarise_placeholder`, writes one line: how many messages were dropped, how many user turns, how many tool results, which topics. You can pass a function that asks gpt-4.1-mini to write a two-sentence summary instead. It gives better continuity on long sessions, and it costs a model call, about three hundred input tokens and forty out, a hundredth of a cent. On Atlas, sessions average two and a half requests, so it would fire rarely. Turn it on when your history budget trips often, and measure it like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cut for bigger agents is tool schemas. Atlas's five are about seven hundred fifty tokens; with forty, send only the routed intent's tools. And retrieval top-k stays out of the diet flag on purpose: `ATLAS_TOP_K` is four, and the judge's grounded score from Section 8 is what tells you whether a lower k is safe. Incident 1 shows what twelve looks like.</a:t>
            </a:r>
          </a:p>
          <a:p/>
          <a:p>
            <a:r>
              <a:t>[SCREEN: terminal]</a:t>
            </a:r>
          </a:p>
          <a:p/>
          <a:p>
            <a:r>
              <a:t>Measure it. Same request as last lecture.</a:t>
            </a:r>
          </a:p>
          <a:p/>
          <a:p>
            <a:r>
              <a:t>[DEMO: output:]</a:t>
            </a:r>
          </a:p>
          <a:p/>
          <a:p>
            <a:r>
              <a:t>Nine thousand nine hundred twenty-six becomes seven thousand eight hundred sixty-one. Twenty-one percent fewer input tokens on this request, all of it from the tool result: thirty-four hundred tokens of articles capped to fourteen hundred, JSON still valid. The history was already under budget, so `trim_history` did nothing here; it earns its keep on turn three and four. Now the day.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Fourteen dollars twenty-nine a day, twenty-five percent, on its own. And the last row is the one that makes this responsible: the grounded score on the replay doesn't move. On the mock that is by construction; on a real model it is the number you watch. If it had dropped, the tool budget was too tight and you'd raise it. That's the discipline: every token cut ships with a quality number next to it. Section 8 makes that number automatic.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they stack. Trimming from the oldest end keeps the cached prefix intact on every step, so with caching and the diet together the day comes down to twenty-two seventy-one. Sixty percent. We haven't touched the escalation model or the retries yet. That's the next two lectures.</a:t>
            </a:r>
          </a:p>
          <a:p/>
          <a:p>
            <a:r>
              <a:t>[SCREEN: `tests/unit/test_tokens.py`, `test_truncate_tool_result_keeps_json_valid`, `test_trim_history_keeps_system_and_tail` and `test_c...]</a:t>
            </a:r>
          </a:p>
          <a:p/>
          <a:p>
            <a:r>
              <a:t>The unit tests protect the diet: truncation keeps JSON valid and plain text keeps its marker, trimming keeps the system prompt and the tail, and `test_context_diet_bounds_tokens` pushes three turns of whole articles through the diet and checks the result stays near the history budget. That last one is Incident 1's action item, already written. Run them offline with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Small-model-first routing with LiteLLM Router.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Small-model-first means the cheapest model that can do the job is the default for that job, and moving up is a decision you can point at: an intent, a marker in the model's own output, or the budget guard. And you escalate one step, not the whole conversation. The router also gives us fallbacks and cooldowns, which we'll lean on in Section 7, so model selection lives in exactly one place.</a:t>
            </a:r>
          </a:p>
          <a:p/>
          <a:p>
            <a:r>
              <a:t>[SCREEN: VS Code, `app/agent.py`, router mode]</a:t>
            </a:r>
          </a:p>
          <a:p/>
          <a:p>
            <a:r>
              <a:t>[CODE: `app/agent.py` (excerpt): building the Router]</a:t>
            </a:r>
          </a:p>
          <a:p/>
          <a:p>
            <a:r>
              <a:t>`build_router_config` is pure data, verified against litellm one point one oh three, so it's unit-tested offline. The `model_list` names every deployment Atlas can use, all from settings: the default, gpt-4.1-mini; the escalation model, gpt-4.1; the routing model, gpt-5-mini; the degraded model, gpt-4.1-nano; and gpt-4o-mini as a cross-family fallback. Swapping any of them is an environment variable.</a:t>
            </a:r>
          </a:p>
          <a:p/>
          <a:p>
            <a:r>
              <a:t>[SCREEN: zoom on the `fallbacks`, `num_retries`, `timeout`, `allowed_fails` and `cooldown_time` lines]</a:t>
            </a:r>
          </a:p>
          <a:p/>
          <a:p>
            <a:r>
              <a:t>`fallbacks` comes from the `FALLBACKS` table: if gpt-4.1-mini errors out, try gpt-4o-mini. That's for outages, not for quality; we'll tune it in Section 7. Keep the two ideas apart in your head. A fallback fires when a call fails. An escalation fires when a call succeeds and we don't trust the answer. The Router knows about the first. Only our code can know about the second. Two retries, a twenty-second timeout, and after three failures a deployment cools down for thirty seconds; those last two are `ATLAS_ROUTER_ALLOWED_FAILS` and `ATLAS_ROUTER_COOLDOWN_S`. `RouterClient` puts the Router behind the same `chat()` interface as the OpenAI client and the offline mock, which is why `ATLAS_ROUTER_MODE=1` is the only switch.</a:t>
            </a:r>
          </a:p>
          <a:p/>
          <a:p>
            <a:r>
              <a:t>Now the escalation rule, which is ours, not the router's.</a:t>
            </a:r>
          </a:p>
          <a:p/>
          <a:p>
            <a:r>
              <a:t>[CODE: `app/agent.py` (excerpt): choosing the deployment]</a:t>
            </a:r>
          </a:p>
          <a:p/>
          <a:p>
            <a:r>
              <a:t>Three rules, in order. If the budget guard said degrade, the degraded model, gpt-4.1-nano, full stop; the budget always wins. Without router mode, everything is `settings.model`; that's the baseline. With router mode, a simple intent goes to nano: ticket status, shipment tracking, ticket creation, small talk, the requests where the answer is a tool result read back. The `escalation` intent, an employee asking for a person, goes straight to gpt-4.1. Everything else, every policy question and every password reset, stays on mini.</a:t>
            </a:r>
          </a:p>
          <a:p/>
          <a:p>
            <a:r>
              <a:t>[SCREEN: `app/agent.py`, `_loop`: the `content.startswith(ESCALATE_MARKER)` branch highlighted]</a:t>
            </a:r>
          </a:p>
          <a:p/>
          <a:p>
            <a:r>
              <a:t>Part B. The cost impact.</a:t>
            </a:r>
          </a:p>
          <a:p/>
          <a:p>
            <a:r>
              <a:t>[SCREEN: terminal]</a:t>
            </a:r>
          </a:p>
          <a:p/>
          <a:p>
            <a:r>
              <a:t>[DEMO: the replay summary line `Total cost $47.0666 p95 latency 3827 ms`, then the report's "Cost by model" table:]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third of the generations move to nano, at a quarter of mini's price per token. The mini line falls from fifty-five ninety to forty-three seventy, and nano adds three dollars back. Nine dollars twenty-one a day, sixteen percent. Smaller than caching. But this lever is the one that changes which model answers, so it's the one that needs a quality number next to it, and the one that needs its decisions on the span.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why the intent is on every span. If nano's answers to shipment questions come back with a lower grounded score next week, you'll see it by intent and by model in one filter, and you move that intent back to mini with one line in `SIMPLE_INTENTS`. That's a routing decision you can defend, because it's one you can measure.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held. On the mock that is by construction; on a real model, this is the slide you have to earn, per intent, on the same replayed day. That's the whole idea of small-model-first: not "use the cheap model," but "make each model earn its place, request by request."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Budgets and anomaly alerts per tenant.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caps over a rolling twenty-four hours. At the soft cap, twenty-five dollars by default, degrade: the nano model, top-k two. The tenant keeps getting service, just the economy version. At the hard cap, forty dollars, refuse, politely, before any model call, and point the user at a ticket so nobody is stranded. And separately, a detector that watches each request's cost against the tenant's own smoothed history. A loop shows up as a run of anomalous requests in the first minutes, hours before the daily cap would.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LiteLLM ships a `BudgetManager`: a budget per user with a duration, updated after each call. If you run a LiteLLM gateway, use it. Atlas needs tenants, two levels, a degraded mode and a detector, so it has its own, with the same shape, tested offline.</a:t>
            </a:r>
          </a:p>
          <a:p/>
          <a:p>
            <a:r>
              <a:t>[SCREEN: VS Code, `src/northwind/budget.py`]</a:t>
            </a:r>
          </a:p>
          <a:p/>
          <a:p>
            <a:r>
              <a:t>[CODE: `src/northwind/budget.py` (excerpt)]</a:t>
            </a:r>
          </a:p>
          <a:p/>
          <a:p>
            <a:r>
              <a:t>`BudgetGuard.decide` is three comparisons on the projected spend: the rolling-window total plus an estimate for the request about to run. At or above the hard cap, refuse. At or above the soft cap, degrade. Otherwise allow. The spend comes from a `SpendWindow` per tenant, a rolling sum of the cost records from 6.3, fed by `record` after every request.</a:t>
            </a:r>
          </a:p>
          <a:p/>
          <a:p>
            <a:r>
              <a:t>[SCREEN: zoom on `EWMAAnomalyDetector.update`; the `mean` and `var` lines highlighted]</a:t>
            </a:r>
          </a:p>
          <a:p/>
          <a:p>
            <a:r>
              <a:t>`EWMAAnomalyDetector` is an exponentially weighted moving average with a running variance. Each new cost is compared with the smoothed mean plus three smoothed standard deviations. Five observations of warm-up so it doesn't fire at startup. Alpha zero point three means it forgets in about ten observations, so a slow Tuesday doesn't make Wednesday morning look like an attack. `EwmaAnomaly` is an alias, if you prefer the short name.</a:t>
            </a:r>
          </a:p>
          <a:p/>
          <a:p>
            <a:r>
              <a:t>Now the wiring.</a:t>
            </a:r>
          </a:p>
          <a:p/>
          <a:p>
            <a:r>
              <a:t>[SCREEN: `app/agent.py`, `run()`]</a:t>
            </a:r>
          </a:p>
          <a:p/>
          <a:p>
            <a:r>
              <a:t>[CODE: `app/agent.py` (excerpt): the budget guard in `run()`]</a:t>
            </a:r>
          </a:p>
          <a:p/>
          <a:p>
            <a:r>
              <a:t>Before the loop, right after the injection guardrail, check the budget and count the decision. The estimate for the next request is the tenant's EWMA of past requests, so the projection is honest. Refuse answers with `BUDGET_REFUSAL`, records an event on the root span and never calls the model; the server turns that outcome into a 429. Degrade switches the request to the degraded model, gpt-4.1-nano, and caps top-k at two. `BUDGET_SPENT` is a gauge of the rolling spend per tenant, so Grafana can draw the two caps as lines, and the decision is on the root span as `atlas.budget.decision`. Section 9 turns the counter and the gauge into alerts. Today we just make them exist.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numbers come from? From the showback. Take each tenant's normal day after the levers, and set the budget at one and a half times that. Enough headroom for a busy Monday, tight enough that a loop hits the soft cap in under an hour. The repo ships one pair for every tenant, `TENANT_SOFT_CAP_USD=25` and `TENANT_HARD_CAP_USD=40`, sized for the baseline day so the incident labs can reach them; once your levers are in, tighten them from the report. Budgets you invent get ignored. Budgets derived from the report get approved.</a:t>
            </a:r>
          </a:p>
          <a:p/>
          <a:p>
            <a:r>
              <a:t>[SCREEN: two terminals side by side. Left: Atlas with deliberately tiny caps, two cents soft, four cents hard.]</a:t>
            </a:r>
          </a:p>
          <a:p/>
          <a:p>
            <a:r>
              <a:t>Now break it. Live, with caps small enough to hit in a minute.</a:t>
            </a:r>
          </a:p>
          <a:p/>
          <a:p>
            <a:r>
              <a:t>[DEMO: output (rows 6 to 26 are identical to row 5 and scroll past):]</a:t>
            </a:r>
          </a:p>
          <a:p/>
          <a:p>
            <a:r>
              <a:t>Four requests at full price, under half a cent each. Then the projected spend crosses two cents and the guard degrades: same question, gpt-4.1-nano, a tenth of a cent, still resolved. Twenty-three economy answers later, the projection crosses four cents and the guard refuses before any model call: cost zero, HTTP 429, and the answer tells the user to open a ticket. Nobody in ops was stranded, and the bill stopped where you said it would.</a:t>
            </a:r>
          </a:p>
          <a:p/>
          <a:p>
            <a:r>
              <a:t>[SCREEN: terminal 2, then the Ops Console Budgets page]</a:t>
            </a:r>
          </a:p>
          <a:p/>
          <a:p>
            <a:r>
              <a:t>[DEMO: output:]</a:t>
            </a:r>
          </a:p>
          <a:p/>
          <a:p>
            <a:r>
              <a:t>Four allow, twenty-three degrade, five refuse, and the rolling spend just under four cents. Those are the series Section 9 alerts on. `GET /budget` shows the same state per tenant as JSON.</a:t>
            </a:r>
          </a:p>
          <a:p/>
          <a:p>
            <a:r>
              <a:t>Now the detector's job, on a full day. Replay the cost spike preset and open the Budgets page.</a:t>
            </a:r>
          </a:p>
          <a:p/>
          <a:p>
            <a:r>
              <a:t>[DEMO: Ops Console Budgets page, tenant ops: the cumulative spend line against the $25 soft and $40 hard cap lines; the anomaly table lis...]</a:t>
            </a:r>
          </a:p>
          <a:p/>
          <a:p>
            <a:r>
              <a:t>The console's rule is simple: a fifteen-minute bin whose cost per request is more than twice the tenant's median. Ops lights up from half past nine to eleven, the morning context bloat that Incident 1 is built on. And notice what doesn't happen: the line never bends. The replay writes spans straight into the store; it never goes through `BudgetGuard`. That's your unguarded comparison: ops spends twenty-eight ninety-eight that day against a normal twenty twenty-seven. To see the guard act, you run it live, as we just did.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detectors at three speeds: per request inside the guard, per fifteen minutes on the console, per hour in Prometheus. They answer "is this abnormal?" The caps answer "have we spent the money?" Keep both. And `uv run pytest tests/unit/test_budget.py` pins the guard without the theatre: fourteen tests in a few hundredths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Challenge: cut Atlas's daily cost by 40%.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You can change configuration and agent code. You can't make the day smaller by serving fewer requests or refusing them; the hard cap doesn't count as a saving. And you can't change the seed. Same day, cheaper.</a:t>
            </a:r>
          </a:p>
          <a:p/>
          <a:p>
            <a:r>
              <a:t>One hint. Apply one lever at a time and replay after each. The order you choose will teach you something the final number won't.</a:t>
            </a:r>
          </a:p>
          <a:p/>
          <a:p>
            <a:r>
              <a:t>Pause the video now. Thirty to sixty minutes. Come back when the console says thirty-three seventy-seven or less.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Three rules. You can change configuration and agent code. You can't make the day smaller by serving fewer requests or refusing them; the hard cap doesn't count as a saving. And you can't change the 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back. Here's how I did it, one lever at a time, in the order I'd do it in production.</a:t>
            </a:r>
          </a:p>
          <a:p/>
          <a:p>
            <a:r>
              <a:t>[SCREEN: terminal and Ops Console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Caching first, because it changes nothing about the answers. Thirty-four percent, and every quality score is identical to the decimal. That's why I do it first: it's the lever with no quality risk, and it tells you how much of the remaining bill is genuinely new tokens.</a:t>
            </a:r>
          </a:p>
          <a:p/>
          <a:p>
            <a:r>
              <a:t>Then the diet. Down to twenty-two seventy-one, sixty percent. Target passed.</a:t>
            </a:r>
          </a:p>
          <a:p/>
          <a:p>
            <a:r>
              <a:t>[SCREEN: the Compare replays page, the `cache_diet.sqlite` row highlighted: cost, Δ%, cache ratio 68%, judge unchanged]</a:t>
            </a:r>
          </a:p>
          <a:p/>
          <a:p>
            <a:r>
              <a:t>The grounded score didn't move, because a fourteen-hundred-token cap still holds the passage the answer needs. Push the tool budget to four hundred, or top-k to one, and the mock still answers, but a real model starts missing the exception clauses, and grounded is where you'd see it. That's the lesson the order teaches: the diet is where quality can move, so measure it there.</a:t>
            </a:r>
          </a:p>
          <a:p/>
          <a:p>
            <a:r>
              <a:t>Then routing. Nineteen oh seven, sixty-six percent, and the scores hold, because the requests that moved to nano are the ones where the answer is a tool result read back. Fifty-six dollars to nineteen. About five hundred seventy a month instead of seventeen hundred. About thirteen and a half thousand a year, on a helpdesk for four departments, with the answers as good.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tenant, everyone saved a similar share: ops the most, seventy-one percent, because dispatchers ask the simple questions that now run on nano; the other three sixty-two to sixty-five. By feature, the tool-driven requests saved the most: ticket lookups, ticket creation and shipment checks are down ninety percent, cached prefix plus nano. Policy questions saved the least, fifty-nine percent, because their cost is retrieved policy text that the diet caps but can't remove, on mini on purpose. That table is your one paragraph: the saving is structural, it's largest where the request was simplest, and it cost nothing in quality.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wrong ways to hit the number, and I've seen all of them. Starving retrieval. Putting policy questions on the smallest model. Cutting history so hard that turn three forgets turn one. And the budget trick, where the day looks cheap because sessions got refused. Every one of them passes the cost test and fails the quality test, on a real model. The mock judge won't catch the first three, which is exactly why the rules forbid them instead of trusting the score. Which is why the challenge had two numbers, and why the console shows them side by side.</a:t>
            </a:r>
          </a:p>
          <a:p/>
          <a:p>
            <a:r>
              <a:t>If you got under thirty-three seventy-seven with quality intact, post your before and after in the Q&amp;A with the one-paragraph explanation. If you got there a different way than I did, I especially want to see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1: The showback report.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rubric's biggest points go to the recommendations, because that's the part finance can act on. And ten percent for something small: the prices in your report carry a date and the words "verify current pricing." A report that's honest about its constants is one people trust.</a:t>
            </a:r>
          </a:p>
          <a:p/>
          <a:p>
            <a:r>
              <a:t>Post the markdown, or a screenshot of it, in the Q&amp;A. The best ones get featured.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Cost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tip. When a question gives you a bill, ask first: which token stream is biggest? For an agent, it's almost always input. The answer follows from that.</a:t>
            </a:r>
          </a:p>
          <a:p/>
          <a:p>
            <a:r>
              <a:t>Every answer links back to its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Where the money goes: token anatomy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An agent's bill is made of six token streams, and the biggest one is the input you re-send on every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5-token-anatomy.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06 · Lecture 6.1 · The six token streams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Atlas request, step by step (baseline)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536192"/>
        </p:xfrm>
        <a:graphic>
          <a:graphicData uri="http://schemas.openxmlformats.org/drawingml/2006/table">
            <a:tbl>
              <a:tblPr firstRow="1" bandRow="1">
                <a:tableStyleId>{5C22544A-7EE6-4342-B048-85BDC9FD1C3A}</a:tableStyleId>
              </a:tblPr>
              <a:tblGrid>
                <a:gridCol w="736489"/>
                <a:gridCol w="7364895"/>
                <a:gridCol w="1472979"/>
                <a:gridCol w="1718475"/>
              </a:tblGrid>
              <a:tr h="384048">
                <a:tc>
                  <a:txBody>
                    <a:bodyPr wrap="square"/>
                    <a:lstStyle/>
                    <a:p>
                      <a:r>
                        <a:rPr sz="1200" b="1">
                          <a:solidFill>
                            <a:srgbClr val="0A1628"/>
                          </a:solidFill>
                          <a:latin typeface="Inter"/>
                        </a:rPr>
                        <a:t>Step</a:t>
                      </a:r>
                    </a:p>
                  </a:txBody>
                  <a:tcPr marL="91440" marR="91440" marT="45720" marB="45720" anchor="ctr">
                    <a:solidFill>
                      <a:srgbClr val="00D4AA"/>
                    </a:solidFill>
                  </a:tcPr>
                </a:tc>
                <a:tc>
                  <a:txBody>
                    <a:bodyPr wrap="square"/>
                    <a:lstStyle/>
                    <a:p>
                      <a:r>
                        <a:rPr sz="1200" b="1">
                          <a:solidFill>
                            <a:srgbClr val="0A1628"/>
                          </a:solidFill>
                          <a:latin typeface="Inter"/>
                        </a:rPr>
                        <a:t>What is in the prompt</a:t>
                      </a:r>
                    </a:p>
                  </a:txBody>
                  <a:tcPr marL="91440" marR="91440" marT="45720" marB="45720" anchor="ctr">
                    <a:solidFill>
                      <a:srgbClr val="00D4AA"/>
                    </a:solidFill>
                  </a:tcPr>
                </a:tc>
                <a:tc>
                  <a:txBody>
                    <a:bodyPr wrap="square"/>
                    <a:lstStyle/>
                    <a:p>
                      <a:r>
                        <a:rPr sz="1200" b="1">
                          <a:solidFill>
                            <a:srgbClr val="0A1628"/>
                          </a:solidFill>
                          <a:latin typeface="Inter"/>
                        </a:rPr>
                        <a:t>Input tokens</a:t>
                      </a:r>
                    </a:p>
                  </a:txBody>
                  <a:tcPr marL="91440" marR="91440" marT="45720" marB="45720" anchor="ctr">
                    <a:solidFill>
                      <a:srgbClr val="00D4AA"/>
                    </a:solidFill>
                  </a:tcPr>
                </a:tc>
                <a:tc>
                  <a:txBody>
                    <a:bodyPr wrap="square"/>
                    <a:lstStyle/>
                    <a:p>
                      <a:r>
                        <a:rPr sz="1200" b="1">
                          <a:solidFill>
                            <a:srgbClr val="0A1628"/>
                          </a:solidFill>
                          <a:latin typeface="Inter"/>
                        </a:rPr>
                        <a:t>Output tokens</a:t>
                      </a:r>
                    </a:p>
                  </a:txBody>
                  <a:tcPr marL="91440" marR="91440" marT="45720" marB="45720" anchor="ctr">
                    <a:solidFill>
                      <a:srgbClr val="00D4AA"/>
                    </a:solidFill>
                  </a:tcPr>
                </a:tc>
              </a:tr>
              <a:tr h="384048">
                <a:tc>
                  <a:txBody>
                    <a:bodyPr wrap="square"/>
                    <a:lstStyle/>
                    <a:p>
                      <a:r>
                        <a:rPr sz="1200" b="1">
                          <a:solidFill>
                            <a:srgbClr val="FFFFFF"/>
                          </a:solidFill>
                          <a:latin typeface="Inter"/>
                        </a:rPr>
                        <a:t>1</a:t>
                      </a:r>
                    </a:p>
                  </a:txBody>
                  <a:tcPr marL="91440" marR="91440" marT="45720" marB="45720" anchor="ctr">
                    <a:solidFill>
                      <a:srgbClr val="1A2742"/>
                    </a:solidFill>
                  </a:tcPr>
                </a:tc>
                <a:tc>
                  <a:txBody>
                    <a:bodyPr wrap="square"/>
                    <a:lstStyle/>
                    <a:p>
                      <a:r>
                        <a:rPr sz="1200" b="0">
                          <a:solidFill>
                            <a:srgbClr val="FFFFFF"/>
                          </a:solidFill>
                          <a:latin typeface="Inter"/>
                        </a:rPr>
                        <a:t>system prompt + 5 tool schemas (about 3,200), question (about 30)</a:t>
                      </a:r>
                    </a:p>
                  </a:txBody>
                  <a:tcPr marL="91440" marR="91440" marT="45720" marB="45720" anchor="ctr">
                    <a:solidFill>
                      <a:srgbClr val="1A2742"/>
                    </a:solidFill>
                  </a:tcPr>
                </a:tc>
                <a:tc>
                  <a:txBody>
                    <a:bodyPr wrap="square"/>
                    <a:lstStyle/>
                    <a:p>
                      <a:r>
                        <a:rPr sz="1200" b="0">
                          <a:solidFill>
                            <a:srgbClr val="FFFFFF"/>
                          </a:solidFill>
                          <a:latin typeface="Inter"/>
                        </a:rPr>
                        <a:t>3,259</a:t>
                      </a:r>
                    </a:p>
                  </a:txBody>
                  <a:tcPr marL="91440" marR="91440" marT="45720" marB="45720" anchor="ctr">
                    <a:solidFill>
                      <a:srgbClr val="1A2742"/>
                    </a:solidFill>
                  </a:tcPr>
                </a:tc>
                <a:tc>
                  <a:txBody>
                    <a:bodyPr wrap="square"/>
                    <a:lstStyle/>
                    <a:p>
                      <a:r>
                        <a:rPr sz="1200" b="0">
                          <a:solidFill>
                            <a:srgbClr val="FFFFFF"/>
                          </a:solidFill>
                          <a:latin typeface="Inter"/>
                        </a:rPr>
                        <a:t>42 (tool call)</a:t>
                      </a:r>
                    </a:p>
                  </a:txBody>
                  <a:tcPr marL="91440" marR="91440" marT="45720" marB="45720" anchor="ctr">
                    <a:solidFill>
                      <a:srgbClr val="1A2742"/>
                    </a:solidFill>
                  </a:tcPr>
                </a:tc>
              </a:tr>
              <a:tr h="384048">
                <a:tc>
                  <a:txBody>
                    <a:bodyPr wrap="square"/>
                    <a:lstStyle/>
                    <a:p>
                      <a:r>
                        <a:rPr sz="1200" b="1">
                          <a:solidFill>
                            <a:srgbClr val="FFFFFF"/>
                          </a:solidFill>
                          <a:latin typeface="Inter"/>
                        </a:rPr>
                        <a:t>2</a:t>
                      </a:r>
                    </a:p>
                  </a:txBody>
                  <a:tcPr marL="91440" marR="91440" marT="45720" marB="45720" anchor="ctr">
                    <a:solidFill>
                      <a:srgbClr val="0F1E35"/>
                    </a:solidFill>
                  </a:tcPr>
                </a:tc>
                <a:tc>
                  <a:txBody>
                    <a:bodyPr wrap="square"/>
                    <a:lstStyle/>
                    <a:p>
                      <a:r>
                        <a:rPr sz="1200" b="0">
                          <a:solidFill>
                            <a:srgbClr val="FFFFFF"/>
                          </a:solidFill>
                          <a:latin typeface="Inter"/>
                        </a:rPr>
                        <a:t>step 1 again + tool call + </a:t>
                      </a:r>
                      <a:r>
                        <a:rPr sz="1104" b="0">
                          <a:solidFill>
                            <a:srgbClr val="00D4AA"/>
                          </a:solidFill>
                          <a:latin typeface="JetBrains Mono"/>
                        </a:rPr>
                        <a:t>search_knowledge_base</a:t>
                      </a:r>
                      <a:r>
                        <a:rPr sz="1200" b="0">
                          <a:solidFill>
                            <a:srgbClr val="FFFFFF"/>
                          </a:solidFill>
                          <a:latin typeface="Inter"/>
                        </a:rPr>
                        <a:t> result, 4 passages (about 3,400)</a:t>
                      </a:r>
                    </a:p>
                  </a:txBody>
                  <a:tcPr marL="91440" marR="91440" marT="45720" marB="45720" anchor="ctr">
                    <a:solidFill>
                      <a:srgbClr val="0F1E35"/>
                    </a:solidFill>
                  </a:tcPr>
                </a:tc>
                <a:tc>
                  <a:txBody>
                    <a:bodyPr wrap="square"/>
                    <a:lstStyle/>
                    <a:p>
                      <a:r>
                        <a:rPr sz="1200" b="0">
                          <a:solidFill>
                            <a:srgbClr val="FFFFFF"/>
                          </a:solidFill>
                          <a:latin typeface="Inter"/>
                        </a:rPr>
                        <a:t>6,667</a:t>
                      </a:r>
                    </a:p>
                  </a:txBody>
                  <a:tcPr marL="91440" marR="91440" marT="45720" marB="45720" anchor="ctr">
                    <a:solidFill>
                      <a:srgbClr val="0F1E35"/>
                    </a:solidFill>
                  </a:tcPr>
                </a:tc>
                <a:tc>
                  <a:txBody>
                    <a:bodyPr wrap="square"/>
                    <a:lstStyle/>
                    <a:p>
                      <a:r>
                        <a:rPr sz="1200" b="0">
                          <a:solidFill>
                            <a:srgbClr val="FFFFFF"/>
                          </a:solidFill>
                          <a:latin typeface="Inter"/>
                        </a:rPr>
                        <a:t>282 (answer)</a:t>
                      </a:r>
                    </a:p>
                  </a:txBody>
                  <a:tcPr marL="91440" marR="91440" marT="45720" marB="45720" anchor="ctr">
                    <a:solidFill>
                      <a:srgbClr val="0F1E35"/>
                    </a:solidFill>
                  </a:tcPr>
                </a:tc>
              </a:tr>
              <a:tr h="384048">
                <a:tc>
                  <a:txBody>
                    <a:bodyPr wrap="square"/>
                    <a:lstStyle/>
                    <a:p>
                      <a:r>
                        <a:rPr sz="1200" b="1">
                          <a:solidFill>
                            <a:srgbClr val="FFFFFF"/>
                          </a:solidFill>
                          <a:latin typeface="Inter"/>
                        </a:rPr>
                        <a:t>Total</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200" b="0">
                          <a:solidFill>
                            <a:srgbClr val="FFFFFF"/>
                          </a:solidFill>
                          <a:latin typeface="Inter"/>
                        </a:rPr>
                        <a:t>9,926</a:t>
                      </a:r>
                    </a:p>
                  </a:txBody>
                  <a:tcPr marL="91440" marR="91440" marT="45720" marB="45720" anchor="ctr">
                    <a:solidFill>
                      <a:srgbClr val="1A2742"/>
                    </a:solidFill>
                  </a:tcPr>
                </a:tc>
                <a:tc>
                  <a:txBody>
                    <a:bodyPr wrap="square"/>
                    <a:lstStyle/>
                    <a:p>
                      <a:r>
                        <a:rPr sz="1200" b="0">
                          <a:solidFill>
                            <a:srgbClr val="FFFFFF"/>
                          </a:solidFill>
                          <a:latin typeface="Inter"/>
                        </a:rPr>
                        <a:t>324</a:t>
                      </a:r>
                    </a:p>
                  </a:txBody>
                  <a:tcPr marL="91440" marR="91440" marT="45720" marB="45720" anchor="ctr">
                    <a:solidFill>
                      <a:srgbClr val="1A274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that costs (gpt-4.1-mini, verify current pricing)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Input: 9,926 × $0.40 per million = $0.003970</a:t>
            </a:r>
          </a:p>
          <a:p>
            <a:pPr marL="292608" indent="-292608">
              <a:lnSpc>
                <a:spcPct val="120000"/>
              </a:lnSpc>
              <a:spcAft>
                <a:spcPts val="1539"/>
              </a:spcAft>
              <a:buClr>
                <a:srgbClr val="00D4AA"/>
              </a:buClr>
              <a:buFont typeface="Inter"/>
              <a:buChar char="•"/>
            </a:pPr>
            <a:r>
              <a:rPr sz="2200" b="0">
                <a:solidFill>
                  <a:srgbClr val="FFFFFF"/>
                </a:solidFill>
                <a:latin typeface="Inter"/>
              </a:rPr>
              <a:t>Output: 324 × $1.60 per million = $0.000518</a:t>
            </a:r>
          </a:p>
          <a:p>
            <a:pPr marL="292608" indent="-292608">
              <a:lnSpc>
                <a:spcPct val="120000"/>
              </a:lnSpc>
              <a:spcAft>
                <a:spcPts val="1539"/>
              </a:spcAft>
              <a:buClr>
                <a:srgbClr val="00D4AA"/>
              </a:buClr>
              <a:buFont typeface="Inter"/>
              <a:buChar char="•"/>
            </a:pPr>
            <a:r>
              <a:rPr sz="2200" b="0">
                <a:solidFill>
                  <a:srgbClr val="FFFFFF"/>
                </a:solidFill>
                <a:latin typeface="Inter"/>
              </a:rPr>
              <a:t>Total: $0.00449 per request (step 1 $0.001371, step 2 $0.003118)</a:t>
            </a:r>
          </a:p>
          <a:p>
            <a:pPr marL="292608" indent="-292608">
              <a:lnSpc>
                <a:spcPct val="120000"/>
              </a:lnSpc>
              <a:spcAft>
                <a:spcPts val="1539"/>
              </a:spcAft>
              <a:buClr>
                <a:srgbClr val="00D4AA"/>
              </a:buClr>
              <a:buFont typeface="Inter"/>
              <a:buChar char="•"/>
            </a:pPr>
            <a:r>
              <a:rPr sz="2200" b="0">
                <a:solidFill>
                  <a:srgbClr val="FFFFFF"/>
                </a:solidFill>
                <a:latin typeface="Inter"/>
              </a:rPr>
              <a:t>Input is 88% of the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full day (baseline, </a:t>
            </a:r>
            <a:r>
              <a:rPr sz="2392" b="0">
                <a:solidFill>
                  <a:srgbClr val="00D4AA"/>
                </a:solidFill>
                <a:latin typeface="JetBrains Mono"/>
              </a:rPr>
              <a:t>make replay</a:t>
            </a:r>
            <a:r>
              <a:rPr sz="2600" b="1">
                <a:solidFill>
                  <a:srgbClr val="FFFFFF"/>
                </a:solidFill>
                <a:latin typeface="Inter"/>
              </a:rPr>
              <a:t>, seed 7)</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10,184 requests, 4,000 sessions, 20,130 generations: $56.28</a:t>
            </a:r>
          </a:p>
          <a:p>
            <a:pPr marL="292608" indent="-292608">
              <a:lnSpc>
                <a:spcPct val="120000"/>
              </a:lnSpc>
              <a:spcAft>
                <a:spcPts val="1260"/>
              </a:spcAft>
              <a:buClr>
                <a:srgbClr val="00D4AA"/>
              </a:buClr>
              <a:buFont typeface="Inter"/>
              <a:buChar char="•"/>
            </a:pPr>
            <a:r>
              <a:rPr sz="1800" b="0">
                <a:solidFill>
                  <a:srgbClr val="FFFFFF"/>
                </a:solidFill>
                <a:latin typeface="Inter"/>
              </a:rPr>
              <a:t>Escalations: 43 requests (0.4%) move to gpt-4.1, five times the price per token: $0.38</a:t>
            </a:r>
          </a:p>
          <a:p>
            <a:pPr marL="292608" indent="-292608">
              <a:lnSpc>
                <a:spcPct val="120000"/>
              </a:lnSpc>
              <a:spcAft>
                <a:spcPts val="1260"/>
              </a:spcAft>
              <a:buClr>
                <a:srgbClr val="00D4AA"/>
              </a:buClr>
              <a:buFont typeface="Inter"/>
              <a:buChar char="•"/>
            </a:pPr>
            <a:r>
              <a:rPr sz="1800" b="0">
                <a:solidFill>
                  <a:srgbClr val="FFFFFF"/>
                </a:solidFill>
                <a:latin typeface="Inter"/>
              </a:rPr>
              <a:t>Retries: none on a normal day; a retry storm re-bills the whole prompt (7.3, Incident 1)</a:t>
            </a:r>
          </a:p>
          <a:p>
            <a:pPr marL="292608" indent="-292608">
              <a:lnSpc>
                <a:spcPct val="120000"/>
              </a:lnSpc>
              <a:spcAft>
                <a:spcPts val="1260"/>
              </a:spcAft>
              <a:buClr>
                <a:srgbClr val="00D4AA"/>
              </a:buClr>
              <a:buFont typeface="Inter"/>
              <a:buChar char="•"/>
            </a:pPr>
            <a:r>
              <a:rPr sz="1800" b="0">
                <a:solidFill>
                  <a:srgbClr val="FFFFFF"/>
                </a:solidFill>
                <a:latin typeface="Inter"/>
              </a:rPr>
              <a:t>Day: $56.28 · Request: $0.0055 · Session: $0.0141 · Month: about $1,700 · Year: about $20,500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usage comes from (OpenAI, verified on openai 2.54)</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28800"/>
            <a:ext cx="10881360" cy="448056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Chat Completions: </a:t>
            </a:r>
            <a:r>
              <a:rPr sz="1656" b="0">
                <a:solidFill>
                  <a:srgbClr val="00D4AA"/>
                </a:solidFill>
                <a:latin typeface="JetBrains Mono"/>
              </a:rPr>
              <a:t>usage.prompt_tokens</a:t>
            </a:r>
            <a:r>
              <a:rPr sz="1800" b="0">
                <a:solidFill>
                  <a:srgbClr val="FFFFFF"/>
                </a:solidFill>
                <a:latin typeface="Inter"/>
              </a:rPr>
              <a:t>, </a:t>
            </a:r>
            <a:r>
              <a:rPr sz="1656" b="0">
                <a:solidFill>
                  <a:srgbClr val="00D4AA"/>
                </a:solidFill>
                <a:latin typeface="JetBrains Mono"/>
              </a:rPr>
              <a:t>usage.completion_tokens</a:t>
            </a:r>
            <a:r>
              <a:rPr sz="1800" b="0">
                <a:solidFill>
                  <a:srgbClr val="FFFFFF"/>
                </a:solidFill>
                <a:latin typeface="Inter"/>
              </a:rPr>
              <a:t>, </a:t>
            </a:r>
            <a:r>
              <a:rPr sz="1656" b="0">
                <a:solidFill>
                  <a:srgbClr val="00D4AA"/>
                </a:solidFill>
                <a:latin typeface="JetBrains Mono"/>
              </a:rPr>
              <a:t>usage.prompt_tokens_details.cached_tokens</a:t>
            </a:r>
            <a:r>
              <a:rPr sz="1800" b="0">
                <a:solidFill>
                  <a:srgbClr val="FFFFFF"/>
                </a:solidFill>
                <a:latin typeface="Inter"/>
              </a:rPr>
              <a:t>, </a:t>
            </a:r>
            <a:r>
              <a:rPr sz="1656" b="0">
                <a:solidFill>
                  <a:srgbClr val="00D4AA"/>
                </a:solidFill>
                <a:latin typeface="JetBrains Mono"/>
              </a:rPr>
              <a:t>usage.completion_tokens_details.reasoning_tokens</a:t>
            </a:r>
          </a:p>
          <a:p>
            <a:pPr marL="292608" indent="-292608">
              <a:lnSpc>
                <a:spcPct val="120000"/>
              </a:lnSpc>
              <a:spcAft>
                <a:spcPts val="1260"/>
              </a:spcAft>
              <a:buClr>
                <a:srgbClr val="00D4AA"/>
              </a:buClr>
              <a:buFont typeface="Inter"/>
              <a:buChar char="•"/>
            </a:pPr>
            <a:r>
              <a:rPr sz="1800" b="0">
                <a:solidFill>
                  <a:srgbClr val="FFFFFF"/>
                </a:solidFill>
                <a:latin typeface="Inter"/>
              </a:rPr>
              <a:t>Responses API: </a:t>
            </a:r>
            <a:r>
              <a:rPr sz="1656" b="0">
                <a:solidFill>
                  <a:srgbClr val="00D4AA"/>
                </a:solidFill>
                <a:latin typeface="JetBrains Mono"/>
              </a:rPr>
              <a:t>usage.input_tokens</a:t>
            </a:r>
            <a:r>
              <a:rPr sz="1800" b="0">
                <a:solidFill>
                  <a:srgbClr val="FFFFFF"/>
                </a:solidFill>
                <a:latin typeface="Inter"/>
              </a:rPr>
              <a:t>, </a:t>
            </a:r>
            <a:r>
              <a:rPr sz="1656" b="0">
                <a:solidFill>
                  <a:srgbClr val="00D4AA"/>
                </a:solidFill>
                <a:latin typeface="JetBrains Mono"/>
              </a:rPr>
              <a:t>usage.output_tokens</a:t>
            </a:r>
            <a:r>
              <a:rPr sz="1800" b="0">
                <a:solidFill>
                  <a:srgbClr val="FFFFFF"/>
                </a:solidFill>
                <a:latin typeface="Inter"/>
              </a:rPr>
              <a:t>, </a:t>
            </a:r>
            <a:r>
              <a:rPr sz="1656" b="0">
                <a:solidFill>
                  <a:srgbClr val="00D4AA"/>
                </a:solidFill>
                <a:latin typeface="JetBrains Mono"/>
              </a:rPr>
              <a:t>usage.input_tokens_details.cached_tokens</a:t>
            </a:r>
            <a:r>
              <a:rPr sz="1800" b="0">
                <a:solidFill>
                  <a:srgbClr val="FFFFFF"/>
                </a:solidFill>
                <a:latin typeface="Inter"/>
              </a:rPr>
              <a:t>, </a:t>
            </a:r>
            <a:r>
              <a:rPr sz="1656" b="0">
                <a:solidFill>
                  <a:srgbClr val="00D4AA"/>
                </a:solidFill>
                <a:latin typeface="JetBrains Mono"/>
              </a:rPr>
              <a:t>usage.output_tokens_details.reasoning_tokens</a:t>
            </a:r>
          </a:p>
          <a:p>
            <a:pPr marL="292608" indent="-292608">
              <a:lnSpc>
                <a:spcPct val="120000"/>
              </a:lnSpc>
              <a:spcAft>
                <a:spcPts val="1260"/>
              </a:spcAft>
              <a:buClr>
                <a:srgbClr val="00D4AA"/>
              </a:buClr>
              <a:buFont typeface="Inter"/>
              <a:buChar char="•"/>
            </a:pPr>
            <a:r>
              <a:rPr sz="1656" b="0">
                <a:solidFill>
                  <a:srgbClr val="00D4AA"/>
                </a:solidFill>
                <a:latin typeface="JetBrains Mono"/>
              </a:rPr>
              <a:t>cached_tokens</a:t>
            </a:r>
            <a:r>
              <a:rPr sz="1800" b="0">
                <a:solidFill>
                  <a:srgbClr val="FFFFFF"/>
                </a:solidFill>
                <a:latin typeface="Inter"/>
              </a:rPr>
              <a:t> is a subset of the input count, not an extra</a:t>
            </a:r>
          </a:p>
          <a:p>
            <a:pPr marL="292608" indent="-292608">
              <a:lnSpc>
                <a:spcPct val="120000"/>
              </a:lnSpc>
              <a:spcAft>
                <a:spcPts val="1260"/>
              </a:spcAft>
              <a:buClr>
                <a:srgbClr val="00D4AA"/>
              </a:buClr>
              <a:buFont typeface="Inter"/>
              <a:buChar char="•"/>
            </a:pPr>
            <a:r>
              <a:rPr sz="1656" b="0">
                <a:solidFill>
                  <a:srgbClr val="00D4AA"/>
                </a:solidFill>
                <a:latin typeface="JetBrains Mono"/>
              </a:rPr>
              <a:t>reasoning_tokens</a:t>
            </a:r>
            <a:r>
              <a:rPr sz="1800" b="0">
                <a:solidFill>
                  <a:srgbClr val="FFFFFF"/>
                </a:solidFill>
                <a:latin typeface="Inter"/>
              </a:rPr>
              <a:t> is a subset of the output count, billed as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this section builds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6.2 a price table you can trust</a:t>
            </a:r>
          </a:p>
          <a:p>
            <a:pPr marL="292608" indent="-292608">
              <a:lnSpc>
                <a:spcPct val="120000"/>
              </a:lnSpc>
              <a:spcAft>
                <a:spcPts val="1539"/>
              </a:spcAft>
              <a:buClr>
                <a:srgbClr val="00D4AA"/>
              </a:buClr>
              <a:buFont typeface="Inter"/>
              <a:buChar char="•"/>
            </a:pPr>
            <a:r>
              <a:rPr sz="2200" b="0">
                <a:solidFill>
                  <a:srgbClr val="FFFFFF"/>
                </a:solidFill>
                <a:latin typeface="Inter"/>
              </a:rPr>
              <a:t>6.3 cost per request, session, user, tenant and feature</a:t>
            </a:r>
          </a:p>
          <a:p>
            <a:pPr marL="292608" indent="-292608">
              <a:lnSpc>
                <a:spcPct val="120000"/>
              </a:lnSpc>
              <a:spcAft>
                <a:spcPts val="1539"/>
              </a:spcAft>
              <a:buClr>
                <a:srgbClr val="00D4AA"/>
              </a:buClr>
              <a:buFont typeface="Inter"/>
              <a:buChar char="•"/>
            </a:pPr>
            <a:r>
              <a:rPr sz="2200" b="0">
                <a:solidFill>
                  <a:srgbClr val="FFFFFF"/>
                </a:solidFill>
                <a:latin typeface="Inter"/>
              </a:rPr>
              <a:t>6.4 caching, 6.5 the context diet, 6.6 routing</a:t>
            </a:r>
          </a:p>
          <a:p>
            <a:pPr marL="292608" indent="-292608">
              <a:lnSpc>
                <a:spcPct val="120000"/>
              </a:lnSpc>
              <a:spcAft>
                <a:spcPts val="1539"/>
              </a:spcAft>
              <a:buClr>
                <a:srgbClr val="00D4AA"/>
              </a:buClr>
              <a:buFont typeface="Inter"/>
              <a:buChar char="•"/>
            </a:pPr>
            <a:r>
              <a:rPr sz="2200" b="0">
                <a:solidFill>
                  <a:srgbClr val="FFFFFF"/>
                </a:solidFill>
                <a:latin typeface="Inter"/>
              </a:rPr>
              <a:t>6.7 budgets and anomaly alerts</a:t>
            </a:r>
          </a:p>
          <a:p>
            <a:pPr marL="292608" indent="-292608">
              <a:lnSpc>
                <a:spcPct val="120000"/>
              </a:lnSpc>
              <a:spcAft>
                <a:spcPts val="1539"/>
              </a:spcAft>
              <a:buClr>
                <a:srgbClr val="00D4AA"/>
              </a:buClr>
              <a:buFont typeface="Inter"/>
              <a:buChar char="•"/>
            </a:pPr>
            <a:r>
              <a:rPr sz="2200" b="0">
                <a:solidFill>
                  <a:srgbClr val="FFFFFF"/>
                </a:solidFill>
                <a:latin typeface="Inter"/>
              </a:rPr>
              <a:t>6.8 challenge: cut the day by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token streams make up the bill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step re-sends the whole prompt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For Atlas, input is 88% of cost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a price table you can trust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price 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a price table you can trust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Take prices from </a:t>
            </a:r>
            <a:r>
              <a:rPr sz="1472" b="0">
                <a:solidFill>
                  <a:srgbClr val="00D4AA"/>
                </a:solidFill>
                <a:latin typeface="JetBrains Mono"/>
              </a:rPr>
              <a:t>litellm.model_cost</a:t>
            </a:r>
            <a:r>
              <a:rPr sz="1600" b="0">
                <a:solidFill>
                  <a:srgbClr val="CBD5E1"/>
                </a:solidFill>
                <a:latin typeface="Inter"/>
              </a:rPr>
              <a:t>, pin a fallback table with a date, and put the per-token math in one tested function.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sources of truth for prices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litellm.model_cost</a:t>
            </a:r>
            <a:r>
              <a:rPr sz="1800" b="0">
                <a:solidFill>
                  <a:srgbClr val="FFFFFF"/>
                </a:solidFill>
                <a:latin typeface="Inter"/>
              </a:rPr>
              <a:t>: a maintained JSON of hundreds of models, per-token prices</a:t>
            </a:r>
          </a:p>
          <a:p>
            <a:pPr marL="292608" indent="-292608">
              <a:lnSpc>
                <a:spcPct val="120000"/>
              </a:lnSpc>
              <a:spcAft>
                <a:spcPts val="1260"/>
              </a:spcAft>
              <a:buClr>
                <a:srgbClr val="00D4AA"/>
              </a:buClr>
              <a:buFont typeface="Inter"/>
              <a:buChar char="•"/>
            </a:pPr>
            <a:r>
              <a:rPr sz="1800" b="0">
                <a:solidFill>
                  <a:srgbClr val="FFFFFF"/>
                </a:solidFill>
                <a:latin typeface="Inter"/>
              </a:rPr>
              <a:t>Your pinned fallback: dated, tested, for offline mode and unknown models</a:t>
            </a:r>
          </a:p>
          <a:p>
            <a:pPr marL="292608" indent="-292608">
              <a:lnSpc>
                <a:spcPct val="120000"/>
              </a:lnSpc>
              <a:spcAft>
                <a:spcPts val="1260"/>
              </a:spcAft>
              <a:buClr>
                <a:srgbClr val="00D4AA"/>
              </a:buClr>
              <a:buFont typeface="Inter"/>
              <a:buChar char="•"/>
            </a:pPr>
            <a:r>
              <a:rPr sz="1800" b="0">
                <a:solidFill>
                  <a:srgbClr val="FFFFFF"/>
                </a:solidFill>
                <a:latin typeface="Inter"/>
              </a:rPr>
              <a:t>Your overrides: negotiated rates, private deployments</a:t>
            </a:r>
          </a:p>
          <a:p>
            <a:pPr marL="292608" indent="-292608">
              <a:lnSpc>
                <a:spcPct val="120000"/>
              </a:lnSpc>
              <a:spcAft>
                <a:spcPts val="1260"/>
              </a:spcAft>
              <a:buClr>
                <a:srgbClr val="00D4AA"/>
              </a:buClr>
              <a:buFont typeface="Inter"/>
              <a:buChar char="•"/>
            </a:pPr>
            <a:r>
              <a:rPr sz="1800" b="0">
                <a:solidFill>
                  <a:srgbClr val="FFFFFF"/>
                </a:solidFill>
                <a:latin typeface="Inter"/>
              </a:rPr>
              <a:t>Rule: one function computes cost; nothing else does arithmetic on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prices from LiteLLM, pin a dated fallback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function, </a:t>
            </a:r>
            <a:r>
              <a:rPr sz="1656" b="0">
                <a:solidFill>
                  <a:srgbClr val="00D4AA"/>
                </a:solidFill>
                <a:latin typeface="JetBrains Mono"/>
              </a:rPr>
              <a:t>estimate_cost</a:t>
            </a:r>
            <a:r>
              <a:rPr sz="1800" b="1">
                <a:solidFill>
                  <a:srgbClr val="FFFFFF"/>
                </a:solidFill>
                <a:latin typeface="Inter"/>
              </a:rPr>
              <a:t>, does all the arithmetic</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Cached tokens are a subset of input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Cost per request, session, user, tenant and feature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that every generation can have a price, let's put a tenant, a user and a feature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Cost per request, session, user, tenant and feature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Attach cost to every generation together with tenant, user, session and feature, then roll up, so the same fifty-six dollars can be…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6-cost-rollup-tre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06 · Lecture 6.3 · Five dimensions, one record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392" b="0">
                <a:solidFill>
                  <a:srgbClr val="00D4AA"/>
                </a:solidFill>
                <a:latin typeface="JetBrains Mono"/>
              </a:rPr>
              <a:t>rollup(records, by="user_id")</a:t>
            </a:r>
            <a:r>
              <a:rPr sz="2600" b="1">
                <a:solidFill>
                  <a:srgbClr val="FFFFFF"/>
                </a:solidFill>
                <a:latin typeface="Inter"/>
              </a:rPr>
              <a:t> on the replayed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80 employees used Atlas on the replayed day</a:t>
            </a:r>
          </a:p>
          <a:p>
            <a:pPr marL="292608" indent="-292608">
              <a:lnSpc>
                <a:spcPct val="120000"/>
              </a:lnSpc>
              <a:spcAft>
                <a:spcPts val="1120"/>
              </a:spcAft>
              <a:buClr>
                <a:srgbClr val="00D4AA"/>
              </a:buClr>
              <a:buFont typeface="Inter"/>
              <a:buChar char="•"/>
            </a:pPr>
            <a:r>
              <a:rPr sz="1600" b="0">
                <a:solidFill>
                  <a:srgbClr val="FFFFFF"/>
                </a:solidFill>
                <a:latin typeface="Inter"/>
              </a:rPr>
              <a:t>The top 20 account for just over a third of the spend</a:t>
            </a:r>
          </a:p>
          <a:p>
            <a:pPr marL="292608" indent="-292608">
              <a:lnSpc>
                <a:spcPct val="120000"/>
              </a:lnSpc>
              <a:spcAft>
                <a:spcPts val="1120"/>
              </a:spcAft>
              <a:buClr>
                <a:srgbClr val="00D4AA"/>
              </a:buClr>
              <a:buFont typeface="Inter"/>
              <a:buChar char="•"/>
            </a:pPr>
            <a:r>
              <a:rPr sz="1600" b="0">
                <a:solidFill>
                  <a:srgbClr val="FFFFFF"/>
                </a:solidFill>
                <a:latin typeface="Inter"/>
              </a:rPr>
              <a:t>The top five are all in ops, 200 to 260 requests each, mostly policy questions</a:t>
            </a:r>
          </a:p>
          <a:p>
            <a:pPr marL="292608" indent="-292608">
              <a:lnSpc>
                <a:spcPct val="120000"/>
              </a:lnSpc>
              <a:spcAft>
                <a:spcPts val="1120"/>
              </a:spcAft>
              <a:buClr>
                <a:srgbClr val="00D4AA"/>
              </a:buClr>
              <a:buFont typeface="Inter"/>
              <a:buChar char="•"/>
            </a:pPr>
            <a:r>
              <a:rPr sz="1600" b="0">
                <a:solidFill>
                  <a:srgbClr val="FFFFFF"/>
                </a:solidFill>
                <a:latin typeface="Inter"/>
              </a:rPr>
              <a:t>In the local store the key is the employee ID; exported telemetry carries a hash (Section 10)</a:t>
            </a:r>
          </a:p>
          <a:p>
            <a:pPr marL="292608" indent="-292608">
              <a:lnSpc>
                <a:spcPct val="120000"/>
              </a:lnSpc>
              <a:spcAft>
                <a:spcPts val="1120"/>
              </a:spcAft>
              <a:buClr>
                <a:srgbClr val="00D4AA"/>
              </a:buClr>
              <a:buFont typeface="Inter"/>
              <a:buChar char="•"/>
            </a:pPr>
            <a:r>
              <a:rPr sz="1600" b="0">
                <a:solidFill>
                  <a:srgbClr val="FFFFFF"/>
                </a:solidFill>
                <a:latin typeface="Inter"/>
              </a:rPr>
              <a:t>Do this rollup in the report, from the span store. Never as a Prometheus label</a:t>
            </a:r>
          </a:p>
        </p:txBody>
      </p:sp>
      <p:pic>
        <p:nvPicPr>
          <p:cNvPr id="6" name="Picture 5" descr="D6-cost-rollup-tre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moment, three destinations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536192"/>
        </p:xfrm>
        <a:graphic>
          <a:graphicData uri="http://schemas.openxmlformats.org/drawingml/2006/table">
            <a:tbl>
              <a:tblPr firstRow="1" bandRow="1">
                <a:tableStyleId>{5C22544A-7EE6-4342-B048-85BDC9FD1C3A}</a:tableStyleId>
              </a:tblPr>
              <a:tblGrid>
                <a:gridCol w="1818338"/>
                <a:gridCol w="5742122"/>
                <a:gridCol w="3732379"/>
              </a:tblGrid>
              <a:tr h="384048">
                <a:tc>
                  <a:txBody>
                    <a:bodyPr wrap="square"/>
                    <a:lstStyle/>
                    <a:p>
                      <a:r>
                        <a:rPr sz="1200" b="1">
                          <a:solidFill>
                            <a:srgbClr val="0A1628"/>
                          </a:solidFill>
                          <a:latin typeface="Inter"/>
                        </a:rPr>
                        <a:t>Destination</a:t>
                      </a:r>
                    </a:p>
                  </a:txBody>
                  <a:tcPr marL="91440" marR="91440" marT="45720" marB="45720" anchor="ctr">
                    <a:solidFill>
                      <a:srgbClr val="00D4AA"/>
                    </a:solidFill>
                  </a:tcPr>
                </a:tc>
                <a:tc>
                  <a:txBody>
                    <a:bodyPr wrap="square"/>
                    <a:lstStyle/>
                    <a:p>
                      <a:r>
                        <a:rPr sz="1200" b="1">
                          <a:solidFill>
                            <a:srgbClr val="0A1628"/>
                          </a:solidFill>
                          <a:latin typeface="Inter"/>
                        </a:rPr>
                        <a:t>What it gets</a:t>
                      </a:r>
                    </a:p>
                  </a:txBody>
                  <a:tcPr marL="91440" marR="91440" marT="45720" marB="45720" anchor="ctr">
                    <a:solidFill>
                      <a:srgbClr val="00D4AA"/>
                    </a:solidFill>
                  </a:tcPr>
                </a:tc>
                <a:tc>
                  <a:txBody>
                    <a:bodyPr wrap="square"/>
                    <a:lstStyle/>
                    <a:p>
                      <a:r>
                        <a:rPr sz="1200" b="1">
                          <a:solidFill>
                            <a:srgbClr val="0A1628"/>
                          </a:solidFill>
                          <a:latin typeface="Inter"/>
                        </a:rPr>
                        <a:t>Who reads it</a:t>
                      </a:r>
                    </a:p>
                  </a:txBody>
                  <a:tcPr marL="91440" marR="91440" marT="45720" marB="45720" anchor="ctr">
                    <a:solidFill>
                      <a:srgbClr val="00D4AA"/>
                    </a:solidFill>
                  </a:tcPr>
                </a:tc>
              </a:tr>
              <a:tr h="384048">
                <a:tc>
                  <a:txBody>
                    <a:bodyPr wrap="square"/>
                    <a:lstStyle/>
                    <a:p>
                      <a:r>
                        <a:rPr sz="1200" b="1">
                          <a:solidFill>
                            <a:srgbClr val="FFFFFF"/>
                          </a:solidFill>
                          <a:latin typeface="Inter"/>
                        </a:rPr>
                        <a:t>Span attributes</a:t>
                      </a:r>
                    </a:p>
                  </a:txBody>
                  <a:tcPr marL="91440" marR="91440" marT="45720" marB="45720" anchor="ctr">
                    <a:solidFill>
                      <a:srgbClr val="1A2742"/>
                    </a:solidFill>
                  </a:tcPr>
                </a:tc>
                <a:tc>
                  <a:txBody>
                    <a:bodyPr wrap="square"/>
                    <a:lstStyle/>
                    <a:p>
                      <a:r>
                        <a:rPr sz="1104" b="0">
                          <a:solidFill>
                            <a:srgbClr val="00D4AA"/>
                          </a:solidFill>
                          <a:latin typeface="JetBrains Mono"/>
                        </a:rPr>
                        <a:t>gen_ai.usage.*</a:t>
                      </a:r>
                      <a:r>
                        <a:rPr sz="1200" b="0">
                          <a:solidFill>
                            <a:srgbClr val="FFFFFF"/>
                          </a:solidFill>
                          <a:latin typeface="Inter"/>
                        </a:rPr>
                        <a:t>, </a:t>
                      </a:r>
                      <a:r>
                        <a:rPr sz="1104" b="0">
                          <a:solidFill>
                            <a:srgbClr val="00D4AA"/>
                          </a:solidFill>
                          <a:latin typeface="JetBrains Mono"/>
                        </a:rPr>
                        <a:t>atlas.cost_usd</a:t>
                      </a:r>
                      <a:r>
                        <a:rPr sz="1200" b="0">
                          <a:solidFill>
                            <a:srgbClr val="FFFFFF"/>
                          </a:solidFill>
                          <a:latin typeface="Inter"/>
                        </a:rPr>
                        <a:t>, </a:t>
                      </a:r>
                      <a:r>
                        <a:rPr sz="1104" b="0">
                          <a:solidFill>
                            <a:srgbClr val="00D4AA"/>
                          </a:solidFill>
                          <a:latin typeface="JetBrains Mono"/>
                        </a:rPr>
                        <a:t>atlas.tenant</a:t>
                      </a:r>
                      <a:r>
                        <a:rPr sz="1200" b="0">
                          <a:solidFill>
                            <a:srgbClr val="FFFFFF"/>
                          </a:solidFill>
                          <a:latin typeface="Inter"/>
                        </a:rPr>
                        <a:t>, </a:t>
                      </a:r>
                      <a:r>
                        <a:rPr sz="1104" b="0">
                          <a:solidFill>
                            <a:srgbClr val="00D4AA"/>
                          </a:solidFill>
                          <a:latin typeface="JetBrains Mono"/>
                        </a:rPr>
                        <a:t>atlas.feature</a:t>
                      </a:r>
                    </a:p>
                  </a:txBody>
                  <a:tcPr marL="91440" marR="91440" marT="45720" marB="45720" anchor="ctr">
                    <a:solidFill>
                      <a:srgbClr val="1A2742"/>
                    </a:solidFill>
                  </a:tcPr>
                </a:tc>
                <a:tc>
                  <a:txBody>
                    <a:bodyPr wrap="square"/>
                    <a:lstStyle/>
                    <a:p>
                      <a:r>
                        <a:rPr sz="1200" b="0">
                          <a:solidFill>
                            <a:srgbClr val="FFFFFF"/>
                          </a:solidFill>
                          <a:latin typeface="Inter"/>
                        </a:rPr>
                        <a:t>the local store: console, </a:t>
                      </a:r>
                      <a:r>
                        <a:rPr sz="1104" b="0">
                          <a:solidFill>
                            <a:srgbClr val="00D4AA"/>
                          </a:solidFill>
                          <a:latin typeface="JetBrains Mono"/>
                        </a:rPr>
                        <a:t>make report</a:t>
                      </a:r>
                    </a:p>
                  </a:txBody>
                  <a:tcPr marL="91440" marR="91440" marT="45720" marB="45720" anchor="ctr">
                    <a:solidFill>
                      <a:srgbClr val="1A2742"/>
                    </a:solidFill>
                  </a:tcPr>
                </a:tc>
              </a:tr>
              <a:tr h="384048">
                <a:tc>
                  <a:txBody>
                    <a:bodyPr wrap="square"/>
                    <a:lstStyle/>
                    <a:p>
                      <a:r>
                        <a:rPr sz="1200" b="1">
                          <a:solidFill>
                            <a:srgbClr val="FFFFFF"/>
                          </a:solidFill>
                          <a:latin typeface="Inter"/>
                        </a:rPr>
                        <a:t>Langfuse attributes</a:t>
                      </a:r>
                    </a:p>
                  </a:txBody>
                  <a:tcPr marL="91440" marR="91440" marT="45720" marB="45720" anchor="ctr">
                    <a:solidFill>
                      <a:srgbClr val="0F1E35"/>
                    </a:solidFill>
                  </a:tcPr>
                </a:tc>
                <a:tc>
                  <a:txBody>
                    <a:bodyPr wrap="square"/>
                    <a:lstStyle/>
                    <a:p>
                      <a:r>
                        <a:rPr sz="1104" b="0">
                          <a:solidFill>
                            <a:srgbClr val="00D4AA"/>
                          </a:solidFill>
                          <a:latin typeface="JetBrains Mono"/>
                        </a:rPr>
                        <a:t>langfuse.observation.usage_details</a:t>
                      </a:r>
                      <a:r>
                        <a:rPr sz="1200" b="0">
                          <a:solidFill>
                            <a:srgbClr val="FFFFFF"/>
                          </a:solidFill>
                          <a:latin typeface="Inter"/>
                        </a:rPr>
                        <a:t> and </a:t>
                      </a:r>
                      <a:r>
                        <a:rPr sz="1104" b="0">
                          <a:solidFill>
                            <a:srgbClr val="00D4AA"/>
                          </a:solidFill>
                          <a:latin typeface="JetBrains Mono"/>
                        </a:rPr>
                        <a:t>cost_details</a:t>
                      </a:r>
                    </a:p>
                  </a:txBody>
                  <a:tcPr marL="91440" marR="91440" marT="45720" marB="45720" anchor="ctr">
                    <a:solidFill>
                      <a:srgbClr val="0F1E35"/>
                    </a:solidFill>
                  </a:tcPr>
                </a:tc>
                <a:tc>
                  <a:txBody>
                    <a:bodyPr wrap="square"/>
                    <a:lstStyle/>
                    <a:p>
                      <a:r>
                        <a:rPr sz="1200" b="0">
                          <a:solidFill>
                            <a:srgbClr val="FFFFFF"/>
                          </a:solidFill>
                          <a:latin typeface="Inter"/>
                        </a:rPr>
                        <a:t>the trace UI: dollars next to tokens</a:t>
                      </a:r>
                    </a:p>
                  </a:txBody>
                  <a:tcPr marL="91440" marR="91440" marT="45720" marB="45720" anchor="ctr">
                    <a:solidFill>
                      <a:srgbClr val="0F1E35"/>
                    </a:solidFill>
                  </a:tcPr>
                </a:tc>
              </a:tr>
              <a:tr h="384048">
                <a:tc>
                  <a:txBody>
                    <a:bodyPr wrap="square"/>
                    <a:lstStyle/>
                    <a:p>
                      <a:r>
                        <a:rPr sz="1200" b="1">
                          <a:solidFill>
                            <a:srgbClr val="FFFFFF"/>
                          </a:solidFill>
                          <a:latin typeface="Inter"/>
                        </a:rPr>
                        <a:t>Prometheus</a:t>
                      </a:r>
                    </a:p>
                  </a:txBody>
                  <a:tcPr marL="91440" marR="91440" marT="45720" marB="45720" anchor="ctr">
                    <a:solidFill>
                      <a:srgbClr val="1A2742"/>
                    </a:solidFill>
                  </a:tcPr>
                </a:tc>
                <a:tc>
                  <a:txBody>
                    <a:bodyPr wrap="square"/>
                    <a:lstStyle/>
                    <a:p>
                      <a:r>
                        <a:rPr sz="1104" b="0">
                          <a:solidFill>
                            <a:srgbClr val="00D4AA"/>
                          </a:solidFill>
                          <a:latin typeface="JetBrains Mono"/>
                        </a:rPr>
                        <a:t>atlas_cost_usd_total{tenant,model,feature}</a:t>
                      </a:r>
                      <a:r>
                        <a:rPr sz="1200" b="0">
                          <a:solidFill>
                            <a:srgbClr val="FFFFFF"/>
                          </a:solidFill>
                          <a:latin typeface="Inter"/>
                        </a:rPr>
                        <a:t>, </a:t>
                      </a:r>
                      <a:r>
                        <a:rPr sz="1104" b="0">
                          <a:solidFill>
                            <a:srgbClr val="00D4AA"/>
                          </a:solidFill>
                          <a:latin typeface="JetBrains Mono"/>
                        </a:rPr>
                        <a:t>atlas_tokens_total{tenant,model,kind}</a:t>
                      </a:r>
                    </a:p>
                  </a:txBody>
                  <a:tcPr marL="91440" marR="91440" marT="45720" marB="45720" anchor="ctr">
                    <a:solidFill>
                      <a:srgbClr val="1A2742"/>
                    </a:solidFill>
                  </a:tcPr>
                </a:tc>
                <a:tc>
                  <a:txBody>
                    <a:bodyPr wrap="square"/>
                    <a:lstStyle/>
                    <a:p>
                      <a:r>
                        <a:rPr sz="1200" b="0">
                          <a:solidFill>
                            <a:srgbClr val="FFFFFF"/>
                          </a:solidFill>
                          <a:latin typeface="Inter"/>
                        </a:rPr>
                        <a:t>Grafana and alerts (Section 9)</a:t>
                      </a:r>
                    </a:p>
                  </a:txBody>
                  <a:tcPr marL="91440" marR="91440" marT="45720" marB="45720" anchor="ctr">
                    <a:solidFill>
                      <a:srgbClr val="1A274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Showback by tenant (baseline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33472"/>
        </p:xfrm>
        <a:graphic>
          <a:graphicData uri="http://schemas.openxmlformats.org/drawingml/2006/table">
            <a:tbl>
              <a:tblPr firstRow="1" bandRow="1">
                <a:tableStyleId>{5C22544A-7EE6-4342-B048-85BDC9FD1C3A}</a:tableStyleId>
              </a:tblPr>
              <a:tblGrid>
                <a:gridCol w="1838369"/>
                <a:gridCol w="2100993"/>
                <a:gridCol w="1575745"/>
                <a:gridCol w="4201986"/>
                <a:gridCol w="1575745"/>
              </a:tblGrid>
              <a:tr h="438912">
                <a:tc>
                  <a:txBody>
                    <a:bodyPr wrap="square"/>
                    <a:lstStyle/>
                    <a:p>
                      <a:r>
                        <a:rPr sz="1400" b="1">
                          <a:solidFill>
                            <a:srgbClr val="0A1628"/>
                          </a:solidFill>
                          <a:latin typeface="Inter"/>
                        </a:rPr>
                        <a:t>Tenant</a:t>
                      </a:r>
                    </a:p>
                  </a:txBody>
                  <a:tcPr marL="91440" marR="91440" marT="45720" marB="45720" anchor="ctr">
                    <a:solidFill>
                      <a:srgbClr val="00D4AA"/>
                    </a:solidFill>
                  </a:tcPr>
                </a:tc>
                <a:tc>
                  <a:txBody>
                    <a:bodyPr wrap="square"/>
                    <a:lstStyle/>
                    <a:p>
                      <a:r>
                        <a:rPr sz="1400" b="1">
                          <a:solidFill>
                            <a:srgbClr val="0A1628"/>
                          </a:solidFill>
                          <a:latin typeface="Inter"/>
                        </a:rPr>
                        <a:t>Sessions</a:t>
                      </a:r>
                    </a:p>
                  </a:txBody>
                  <a:tcPr marL="91440" marR="91440" marT="45720" marB="45720" anchor="ctr">
                    <a:solidFill>
                      <a:srgbClr val="00D4AA"/>
                    </a:solidFill>
                  </a:tcPr>
                </a:tc>
                <a:tc>
                  <a:txBody>
                    <a:bodyPr wrap="square"/>
                    <a:lstStyle/>
                    <a:p>
                      <a:r>
                        <a:rPr sz="1400" b="1">
                          <a:solidFill>
                            <a:srgbClr val="0A1628"/>
                          </a:solidFill>
                          <a:latin typeface="Inter"/>
                        </a:rPr>
                        <a:t>Cost</a:t>
                      </a:r>
                    </a:p>
                  </a:txBody>
                  <a:tcPr marL="91440" marR="91440" marT="45720" marB="45720" anchor="ctr">
                    <a:solidFill>
                      <a:srgbClr val="00D4AA"/>
                    </a:solidFill>
                  </a:tcPr>
                </a:tc>
                <a:tc>
                  <a:txBody>
                    <a:bodyPr wrap="square"/>
                    <a:lstStyle/>
                    <a:p>
                      <a:r>
                        <a:rPr sz="1400" b="1">
                          <a:solidFill>
                            <a:srgbClr val="0A1628"/>
                          </a:solidFill>
                          <a:latin typeface="Inter"/>
                        </a:rPr>
                        <a:t>Cost per session</a:t>
                      </a:r>
                    </a:p>
                  </a:txBody>
                  <a:tcPr marL="91440" marR="91440" marT="45720" marB="45720" anchor="ctr">
                    <a:solidFill>
                      <a:srgbClr val="00D4AA"/>
                    </a:solidFill>
                  </a:tcPr>
                </a:tc>
                <a:tc>
                  <a:txBody>
                    <a:bodyPr wrap="square"/>
                    <a:lstStyle/>
                    <a:p>
                      <a:r>
                        <a:rPr sz="1400" b="1">
                          <a:solidFill>
                            <a:srgbClr val="0A1628"/>
                          </a:solidFill>
                          <a:latin typeface="Inter"/>
                        </a:rPr>
                        <a:t>Share</a:t>
                      </a:r>
                    </a:p>
                  </a:txBody>
                  <a:tcPr marL="91440" marR="91440" marT="45720" marB="45720" anchor="ctr">
                    <a:solidFill>
                      <a:srgbClr val="00D4AA"/>
                    </a:solidFill>
                  </a:tcPr>
                </a:tc>
              </a:tr>
              <a:tr h="438912">
                <a:tc>
                  <a:txBody>
                    <a:bodyPr wrap="square"/>
                    <a:lstStyle/>
                    <a:p>
                      <a:r>
                        <a:rPr sz="1400" b="1">
                          <a:solidFill>
                            <a:srgbClr val="FFFFFF"/>
                          </a:solidFill>
                          <a:latin typeface="Inter"/>
                        </a:rPr>
                        <a:t>ops</a:t>
                      </a:r>
                    </a:p>
                  </a:txBody>
                  <a:tcPr marL="91440" marR="91440" marT="45720" marB="45720" anchor="ctr">
                    <a:solidFill>
                      <a:srgbClr val="1A2742"/>
                    </a:solidFill>
                  </a:tcPr>
                </a:tc>
                <a:tc>
                  <a:txBody>
                    <a:bodyPr wrap="square"/>
                    <a:lstStyle/>
                    <a:p>
                      <a:r>
                        <a:rPr sz="1400" b="0">
                          <a:solidFill>
                            <a:srgbClr val="FFFFFF"/>
                          </a:solidFill>
                          <a:latin typeface="Inter"/>
                        </a:rPr>
                        <a:t>1,706</a:t>
                      </a:r>
                    </a:p>
                  </a:txBody>
                  <a:tcPr marL="91440" marR="91440" marT="45720" marB="45720" anchor="ctr">
                    <a:solidFill>
                      <a:srgbClr val="1A2742"/>
                    </a:solidFill>
                  </a:tcPr>
                </a:tc>
                <a:tc>
                  <a:txBody>
                    <a:bodyPr wrap="square"/>
                    <a:lstStyle/>
                    <a:p>
                      <a:r>
                        <a:rPr sz="1400" b="0">
                          <a:solidFill>
                            <a:srgbClr val="FFFFFF"/>
                          </a:solidFill>
                          <a:latin typeface="Inter"/>
                        </a:rPr>
                        <a:t>$20.27</a:t>
                      </a:r>
                    </a:p>
                  </a:txBody>
                  <a:tcPr marL="91440" marR="91440" marT="45720" marB="45720" anchor="ctr">
                    <a:solidFill>
                      <a:srgbClr val="1A2742"/>
                    </a:solidFill>
                  </a:tcPr>
                </a:tc>
                <a:tc>
                  <a:txBody>
                    <a:bodyPr wrap="square"/>
                    <a:lstStyle/>
                    <a:p>
                      <a:r>
                        <a:rPr sz="1400" b="0">
                          <a:solidFill>
                            <a:srgbClr val="FFFFFF"/>
                          </a:solidFill>
                          <a:latin typeface="Inter"/>
                        </a:rPr>
                        <a:t>$0.0119</a:t>
                      </a:r>
                    </a:p>
                  </a:txBody>
                  <a:tcPr marL="91440" marR="91440" marT="45720" marB="45720" anchor="ctr">
                    <a:solidFill>
                      <a:srgbClr val="1A2742"/>
                    </a:solidFill>
                  </a:tcPr>
                </a:tc>
                <a:tc>
                  <a:txBody>
                    <a:bodyPr wrap="square"/>
                    <a:lstStyle/>
                    <a:p>
                      <a:r>
                        <a:rPr sz="1400" b="0">
                          <a:solidFill>
                            <a:srgbClr val="FFFFFF"/>
                          </a:solidFill>
                          <a:latin typeface="Inter"/>
                        </a:rPr>
                        <a:t>36.0%</a:t>
                      </a:r>
                    </a:p>
                  </a:txBody>
                  <a:tcPr marL="91440" marR="91440" marT="45720" marB="45720" anchor="ctr">
                    <a:solidFill>
                      <a:srgbClr val="1A2742"/>
                    </a:solidFill>
                  </a:tcPr>
                </a:tc>
              </a:tr>
              <a:tr h="438912">
                <a:tc>
                  <a:txBody>
                    <a:bodyPr wrap="square"/>
                    <a:lstStyle/>
                    <a:p>
                      <a:r>
                        <a:rPr sz="1400" b="1">
                          <a:solidFill>
                            <a:srgbClr val="FFFFFF"/>
                          </a:solidFill>
                          <a:latin typeface="Inter"/>
                        </a:rPr>
                        <a:t>eng</a:t>
                      </a:r>
                    </a:p>
                  </a:txBody>
                  <a:tcPr marL="91440" marR="91440" marT="45720" marB="45720" anchor="ctr">
                    <a:solidFill>
                      <a:srgbClr val="0F1E35"/>
                    </a:solidFill>
                  </a:tcPr>
                </a:tc>
                <a:tc>
                  <a:txBody>
                    <a:bodyPr wrap="square"/>
                    <a:lstStyle/>
                    <a:p>
                      <a:r>
                        <a:rPr sz="1400" b="0">
                          <a:solidFill>
                            <a:srgbClr val="FFFFFF"/>
                          </a:solidFill>
                          <a:latin typeface="Inter"/>
                        </a:rPr>
                        <a:t>839</a:t>
                      </a:r>
                    </a:p>
                  </a:txBody>
                  <a:tcPr marL="91440" marR="91440" marT="45720" marB="45720" anchor="ctr">
                    <a:solidFill>
                      <a:srgbClr val="0F1E35"/>
                    </a:solidFill>
                  </a:tcPr>
                </a:tc>
                <a:tc>
                  <a:txBody>
                    <a:bodyPr wrap="square"/>
                    <a:lstStyle/>
                    <a:p>
                      <a:r>
                        <a:rPr sz="1400" b="0">
                          <a:solidFill>
                            <a:srgbClr val="FFFFFF"/>
                          </a:solidFill>
                          <a:latin typeface="Inter"/>
                        </a:rPr>
                        <a:t>$12.50</a:t>
                      </a:r>
                    </a:p>
                  </a:txBody>
                  <a:tcPr marL="91440" marR="91440" marT="45720" marB="45720" anchor="ctr">
                    <a:solidFill>
                      <a:srgbClr val="0F1E35"/>
                    </a:solidFill>
                  </a:tcPr>
                </a:tc>
                <a:tc>
                  <a:txBody>
                    <a:bodyPr wrap="square"/>
                    <a:lstStyle/>
                    <a:p>
                      <a:r>
                        <a:rPr sz="1400" b="0">
                          <a:solidFill>
                            <a:srgbClr val="FFFFFF"/>
                          </a:solidFill>
                          <a:latin typeface="Inter"/>
                        </a:rPr>
                        <a:t>$0.0149</a:t>
                      </a:r>
                    </a:p>
                  </a:txBody>
                  <a:tcPr marL="91440" marR="91440" marT="45720" marB="45720" anchor="ctr">
                    <a:solidFill>
                      <a:srgbClr val="0F1E35"/>
                    </a:solidFill>
                  </a:tcPr>
                </a:tc>
                <a:tc>
                  <a:txBody>
                    <a:bodyPr wrap="square"/>
                    <a:lstStyle/>
                    <a:p>
                      <a:r>
                        <a:rPr sz="1400" b="0">
                          <a:solidFill>
                            <a:srgbClr val="FFFFFF"/>
                          </a:solidFill>
                          <a:latin typeface="Inter"/>
                        </a:rPr>
                        <a:t>22.2%</a:t>
                      </a:r>
                    </a:p>
                  </a:txBody>
                  <a:tcPr marL="91440" marR="91440" marT="45720" marB="45720" anchor="ctr">
                    <a:solidFill>
                      <a:srgbClr val="0F1E35"/>
                    </a:solidFill>
                  </a:tcPr>
                </a:tc>
              </a:tr>
              <a:tr h="438912">
                <a:tc>
                  <a:txBody>
                    <a:bodyPr wrap="square"/>
                    <a:lstStyle/>
                    <a:p>
                      <a:r>
                        <a:rPr sz="1400" b="1">
                          <a:solidFill>
                            <a:srgbClr val="FFFFFF"/>
                          </a:solidFill>
                          <a:latin typeface="Inter"/>
                        </a:rPr>
                        <a:t>finance</a:t>
                      </a:r>
                    </a:p>
                  </a:txBody>
                  <a:tcPr marL="91440" marR="91440" marT="45720" marB="45720" anchor="ctr">
                    <a:solidFill>
                      <a:srgbClr val="1A2742"/>
                    </a:solidFill>
                  </a:tcPr>
                </a:tc>
                <a:tc>
                  <a:txBody>
                    <a:bodyPr wrap="square"/>
                    <a:lstStyle/>
                    <a:p>
                      <a:r>
                        <a:rPr sz="1400" b="0">
                          <a:solidFill>
                            <a:srgbClr val="FFFFFF"/>
                          </a:solidFill>
                          <a:latin typeface="Inter"/>
                        </a:rPr>
                        <a:t>719</a:t>
                      </a:r>
                    </a:p>
                  </a:txBody>
                  <a:tcPr marL="91440" marR="91440" marT="45720" marB="45720" anchor="ctr">
                    <a:solidFill>
                      <a:srgbClr val="1A2742"/>
                    </a:solidFill>
                  </a:tcPr>
                </a:tc>
                <a:tc>
                  <a:txBody>
                    <a:bodyPr wrap="square"/>
                    <a:lstStyle/>
                    <a:p>
                      <a:r>
                        <a:rPr sz="1400" b="0">
                          <a:solidFill>
                            <a:srgbClr val="FFFFFF"/>
                          </a:solidFill>
                          <a:latin typeface="Inter"/>
                        </a:rPr>
                        <a:t>$11.91</a:t>
                      </a:r>
                    </a:p>
                  </a:txBody>
                  <a:tcPr marL="91440" marR="91440" marT="45720" marB="45720" anchor="ctr">
                    <a:solidFill>
                      <a:srgbClr val="1A2742"/>
                    </a:solidFill>
                  </a:tcPr>
                </a:tc>
                <a:tc>
                  <a:txBody>
                    <a:bodyPr wrap="square"/>
                    <a:lstStyle/>
                    <a:p>
                      <a:r>
                        <a:rPr sz="1400" b="0">
                          <a:solidFill>
                            <a:srgbClr val="FFFFFF"/>
                          </a:solidFill>
                          <a:latin typeface="Inter"/>
                        </a:rPr>
                        <a:t>$0.0166</a:t>
                      </a:r>
                    </a:p>
                  </a:txBody>
                  <a:tcPr marL="91440" marR="91440" marT="45720" marB="45720" anchor="ctr">
                    <a:solidFill>
                      <a:srgbClr val="1A2742"/>
                    </a:solidFill>
                  </a:tcPr>
                </a:tc>
                <a:tc>
                  <a:txBody>
                    <a:bodyPr wrap="square"/>
                    <a:lstStyle/>
                    <a:p>
                      <a:r>
                        <a:rPr sz="1400" b="0">
                          <a:solidFill>
                            <a:srgbClr val="FFFFFF"/>
                          </a:solidFill>
                          <a:latin typeface="Inter"/>
                        </a:rPr>
                        <a:t>21.2%</a:t>
                      </a:r>
                    </a:p>
                  </a:txBody>
                  <a:tcPr marL="91440" marR="91440" marT="45720" marB="45720" anchor="ctr">
                    <a:solidFill>
                      <a:srgbClr val="1A2742"/>
                    </a:solidFill>
                  </a:tcPr>
                </a:tc>
              </a:tr>
              <a:tr h="438912">
                <a:tc>
                  <a:txBody>
                    <a:bodyPr wrap="square"/>
                    <a:lstStyle/>
                    <a:p>
                      <a:r>
                        <a:rPr sz="1400" b="1">
                          <a:solidFill>
                            <a:srgbClr val="FFFFFF"/>
                          </a:solidFill>
                          <a:latin typeface="Inter"/>
                        </a:rPr>
                        <a:t>hr</a:t>
                      </a:r>
                    </a:p>
                  </a:txBody>
                  <a:tcPr marL="91440" marR="91440" marT="45720" marB="45720" anchor="ctr">
                    <a:solidFill>
                      <a:srgbClr val="0F1E35"/>
                    </a:solidFill>
                  </a:tcPr>
                </a:tc>
                <a:tc>
                  <a:txBody>
                    <a:bodyPr wrap="square"/>
                    <a:lstStyle/>
                    <a:p>
                      <a:r>
                        <a:rPr sz="1400" b="0">
                          <a:solidFill>
                            <a:srgbClr val="FFFFFF"/>
                          </a:solidFill>
                          <a:latin typeface="Inter"/>
                        </a:rPr>
                        <a:t>736</a:t>
                      </a:r>
                    </a:p>
                  </a:txBody>
                  <a:tcPr marL="91440" marR="91440" marT="45720" marB="45720" anchor="ctr">
                    <a:solidFill>
                      <a:srgbClr val="0F1E35"/>
                    </a:solidFill>
                  </a:tcPr>
                </a:tc>
                <a:tc>
                  <a:txBody>
                    <a:bodyPr wrap="square"/>
                    <a:lstStyle/>
                    <a:p>
                      <a:r>
                        <a:rPr sz="1400" b="0">
                          <a:solidFill>
                            <a:srgbClr val="FFFFFF"/>
                          </a:solidFill>
                          <a:latin typeface="Inter"/>
                        </a:rPr>
                        <a:t>$11.59</a:t>
                      </a:r>
                    </a:p>
                  </a:txBody>
                  <a:tcPr marL="91440" marR="91440" marT="45720" marB="45720" anchor="ctr">
                    <a:solidFill>
                      <a:srgbClr val="0F1E35"/>
                    </a:solidFill>
                  </a:tcPr>
                </a:tc>
                <a:tc>
                  <a:txBody>
                    <a:bodyPr wrap="square"/>
                    <a:lstStyle/>
                    <a:p>
                      <a:r>
                        <a:rPr sz="1400" b="0">
                          <a:solidFill>
                            <a:srgbClr val="FFFFFF"/>
                          </a:solidFill>
                          <a:latin typeface="Inter"/>
                        </a:rPr>
                        <a:t>$0.0157</a:t>
                      </a:r>
                    </a:p>
                  </a:txBody>
                  <a:tcPr marL="91440" marR="91440" marT="45720" marB="45720" anchor="ctr">
                    <a:solidFill>
                      <a:srgbClr val="0F1E35"/>
                    </a:solidFill>
                  </a:tcPr>
                </a:tc>
                <a:tc>
                  <a:txBody>
                    <a:bodyPr wrap="square"/>
                    <a:lstStyle/>
                    <a:p>
                      <a:r>
                        <a:rPr sz="1400" b="0">
                          <a:solidFill>
                            <a:srgbClr val="FFFFFF"/>
                          </a:solidFill>
                          <a:latin typeface="Inter"/>
                        </a:rPr>
                        <a:t>20.6%</a:t>
                      </a:r>
                    </a:p>
                  </a:txBody>
                  <a:tcPr marL="91440" marR="91440" marT="45720" marB="45720" anchor="ctr">
                    <a:solidFill>
                      <a:srgbClr val="0F1E35"/>
                    </a:solidFill>
                  </a:tcPr>
                </a:tc>
              </a:tr>
              <a:tr h="438912">
                <a:tc>
                  <a:txBody>
                    <a:bodyPr wrap="square"/>
                    <a:lstStyle/>
                    <a:p>
                      <a:r>
                        <a:rPr sz="1400" b="1">
                          <a:solidFill>
                            <a:srgbClr val="FFFFFF"/>
                          </a:solidFill>
                          <a:latin typeface="Inter"/>
                        </a:rPr>
                        <a:t>Total</a:t>
                      </a:r>
                    </a:p>
                  </a:txBody>
                  <a:tcPr marL="91440" marR="91440" marT="45720" marB="45720" anchor="ctr">
                    <a:solidFill>
                      <a:srgbClr val="1A2742"/>
                    </a:solidFill>
                  </a:tcPr>
                </a:tc>
                <a:tc>
                  <a:txBody>
                    <a:bodyPr wrap="square"/>
                    <a:lstStyle/>
                    <a:p>
                      <a:r>
                        <a:rPr sz="1400" b="0">
                          <a:solidFill>
                            <a:srgbClr val="FFFFFF"/>
                          </a:solidFill>
                          <a:latin typeface="Inter"/>
                        </a:rPr>
                        <a:t>4,000</a:t>
                      </a:r>
                    </a:p>
                  </a:txBody>
                  <a:tcPr marL="91440" marR="91440" marT="45720" marB="45720" anchor="ctr">
                    <a:solidFill>
                      <a:srgbClr val="1A2742"/>
                    </a:solidFill>
                  </a:tcPr>
                </a:tc>
                <a:tc>
                  <a:txBody>
                    <a:bodyPr wrap="square"/>
                    <a:lstStyle/>
                    <a:p>
                      <a:r>
                        <a:rPr sz="1400" b="0">
                          <a:solidFill>
                            <a:srgbClr val="FFFFFF"/>
                          </a:solidFill>
                          <a:latin typeface="Inter"/>
                        </a:rPr>
                        <a:t>$56.28</a:t>
                      </a:r>
                    </a:p>
                  </a:txBody>
                  <a:tcPr marL="91440" marR="91440" marT="45720" marB="45720" anchor="ctr">
                    <a:solidFill>
                      <a:srgbClr val="1A2742"/>
                    </a:solidFill>
                  </a:tcPr>
                </a:tc>
                <a:tc>
                  <a:txBody>
                    <a:bodyPr wrap="square"/>
                    <a:lstStyle/>
                    <a:p>
                      <a:r>
                        <a:rPr sz="1400" b="0">
                          <a:solidFill>
                            <a:srgbClr val="FFFFFF"/>
                          </a:solidFill>
                          <a:latin typeface="Inter"/>
                        </a:rPr>
                        <a:t>$0.0141</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Showback by feature (baseline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3072384"/>
        </p:xfrm>
        <a:graphic>
          <a:graphicData uri="http://schemas.openxmlformats.org/drawingml/2006/table">
            <a:tbl>
              <a:tblPr firstRow="1" bandRow="1">
                <a:tableStyleId>{5C22544A-7EE6-4342-B048-85BDC9FD1C3A}</a:tableStyleId>
              </a:tblPr>
              <a:tblGrid>
                <a:gridCol w="3136900"/>
                <a:gridCol w="3555153"/>
                <a:gridCol w="1254759"/>
                <a:gridCol w="3346026"/>
              </a:tblGrid>
              <a:tr h="384048">
                <a:tc>
                  <a:txBody>
                    <a:bodyPr wrap="square"/>
                    <a:lstStyle/>
                    <a:p>
                      <a:r>
                        <a:rPr sz="1200" b="1">
                          <a:solidFill>
                            <a:srgbClr val="0A1628"/>
                          </a:solidFill>
                          <a:latin typeface="Inter"/>
                        </a:rPr>
                        <a:t>Feature</a:t>
                      </a:r>
                    </a:p>
                  </a:txBody>
                  <a:tcPr marL="91440" marR="91440" marT="45720" marB="45720" anchor="ctr">
                    <a:solidFill>
                      <a:srgbClr val="00D4AA"/>
                    </a:solidFill>
                  </a:tcPr>
                </a:tc>
                <a:tc>
                  <a:txBody>
                    <a:bodyPr wrap="square"/>
                    <a:lstStyle/>
                    <a:p>
                      <a:r>
                        <a:rPr sz="1200" b="1">
                          <a:solidFill>
                            <a:srgbClr val="0A1628"/>
                          </a:solidFill>
                          <a:latin typeface="Inter"/>
                        </a:rPr>
                        <a:t>Share of requests</a:t>
                      </a:r>
                    </a:p>
                  </a:txBody>
                  <a:tcPr marL="91440" marR="91440" marT="45720" marB="45720" anchor="ctr">
                    <a:solidFill>
                      <a:srgbClr val="00D4AA"/>
                    </a:solidFill>
                  </a:tcPr>
                </a:tc>
                <a:tc>
                  <a:txBody>
                    <a:bodyPr wrap="square"/>
                    <a:lstStyle/>
                    <a:p>
                      <a:r>
                        <a:rPr sz="1200" b="1">
                          <a:solidFill>
                            <a:srgbClr val="0A1628"/>
                          </a:solidFill>
                          <a:latin typeface="Inter"/>
                        </a:rPr>
                        <a:t>Cost</a:t>
                      </a:r>
                    </a:p>
                  </a:txBody>
                  <a:tcPr marL="91440" marR="91440" marT="45720" marB="45720" anchor="ctr">
                    <a:solidFill>
                      <a:srgbClr val="00D4AA"/>
                    </a:solidFill>
                  </a:tcPr>
                </a:tc>
                <a:tc>
                  <a:txBody>
                    <a:bodyPr wrap="square"/>
                    <a:lstStyle/>
                    <a:p>
                      <a:r>
                        <a:rPr sz="1200" b="1">
                          <a:solidFill>
                            <a:srgbClr val="0A1628"/>
                          </a:solidFill>
                          <a:latin typeface="Inter"/>
                        </a:rPr>
                        <a:t>Cost per request</a:t>
                      </a:r>
                    </a:p>
                  </a:txBody>
                  <a:tcPr marL="91440" marR="91440" marT="45720" marB="45720" anchor="ctr">
                    <a:solidFill>
                      <a:srgbClr val="00D4AA"/>
                    </a:solidFill>
                  </a:tcPr>
                </a:tc>
              </a:tr>
              <a:tr h="384048">
                <a:tc>
                  <a:txBody>
                    <a:bodyPr wrap="square"/>
                    <a:lstStyle/>
                    <a:p>
                      <a:r>
                        <a:rPr sz="1200" b="1">
                          <a:solidFill>
                            <a:srgbClr val="FFFFFF"/>
                          </a:solidFill>
                          <a:latin typeface="Inter"/>
                        </a:rPr>
                        <a:t>policy_question</a:t>
                      </a:r>
                    </a:p>
                  </a:txBody>
                  <a:tcPr marL="91440" marR="91440" marT="45720" marB="45720" anchor="ctr">
                    <a:solidFill>
                      <a:srgbClr val="1A2742"/>
                    </a:solidFill>
                  </a:tcPr>
                </a:tc>
                <a:tc>
                  <a:txBody>
                    <a:bodyPr wrap="square"/>
                    <a:lstStyle/>
                    <a:p>
                      <a:r>
                        <a:rPr sz="1200" b="0">
                          <a:solidFill>
                            <a:srgbClr val="FFFFFF"/>
                          </a:solidFill>
                          <a:latin typeface="Inter"/>
                        </a:rPr>
                        <a:t>63%</a:t>
                      </a:r>
                    </a:p>
                  </a:txBody>
                  <a:tcPr marL="91440" marR="91440" marT="45720" marB="45720" anchor="ctr">
                    <a:solidFill>
                      <a:srgbClr val="1A2742"/>
                    </a:solidFill>
                  </a:tcPr>
                </a:tc>
                <a:tc>
                  <a:txBody>
                    <a:bodyPr wrap="square"/>
                    <a:lstStyle/>
                    <a:p>
                      <a:r>
                        <a:rPr sz="1200" b="0">
                          <a:solidFill>
                            <a:srgbClr val="FFFFFF"/>
                          </a:solidFill>
                          <a:latin typeface="Inter"/>
                        </a:rPr>
                        <a:t>$42.91</a:t>
                      </a:r>
                    </a:p>
                  </a:txBody>
                  <a:tcPr marL="91440" marR="91440" marT="45720" marB="45720" anchor="ctr">
                    <a:solidFill>
                      <a:srgbClr val="1A2742"/>
                    </a:solidFill>
                  </a:tcPr>
                </a:tc>
                <a:tc>
                  <a:txBody>
                    <a:bodyPr wrap="square"/>
                    <a:lstStyle/>
                    <a:p>
                      <a:r>
                        <a:rPr sz="1200" b="0">
                          <a:solidFill>
                            <a:srgbClr val="FFFFFF"/>
                          </a:solidFill>
                          <a:latin typeface="Inter"/>
                        </a:rPr>
                        <a:t>$0.0067</a:t>
                      </a:r>
                    </a:p>
                  </a:txBody>
                  <a:tcPr marL="91440" marR="91440" marT="45720" marB="45720" anchor="ctr">
                    <a:solidFill>
                      <a:srgbClr val="1A2742"/>
                    </a:solidFill>
                  </a:tcPr>
                </a:tc>
              </a:tr>
              <a:tr h="384048">
                <a:tc>
                  <a:txBody>
                    <a:bodyPr wrap="square"/>
                    <a:lstStyle/>
                    <a:p>
                      <a:r>
                        <a:rPr sz="1200" b="1">
                          <a:solidFill>
                            <a:srgbClr val="FFFFFF"/>
                          </a:solidFill>
                          <a:latin typeface="Inter"/>
                        </a:rPr>
                        <a:t>create_ticket</a:t>
                      </a:r>
                    </a:p>
                  </a:txBody>
                  <a:tcPr marL="91440" marR="91440" marT="45720" marB="45720" anchor="ctr">
                    <a:solidFill>
                      <a:srgbClr val="0F1E35"/>
                    </a:solidFill>
                  </a:tcPr>
                </a:tc>
                <a:tc>
                  <a:txBody>
                    <a:bodyPr wrap="square"/>
                    <a:lstStyle/>
                    <a:p>
                      <a:r>
                        <a:rPr sz="1200" b="0">
                          <a:solidFill>
                            <a:srgbClr val="FFFFFF"/>
                          </a:solidFill>
                          <a:latin typeface="Inter"/>
                        </a:rPr>
                        <a:t>15%</a:t>
                      </a:r>
                    </a:p>
                  </a:txBody>
                  <a:tcPr marL="91440" marR="91440" marT="45720" marB="45720" anchor="ctr">
                    <a:solidFill>
                      <a:srgbClr val="0F1E35"/>
                    </a:solidFill>
                  </a:tcPr>
                </a:tc>
                <a:tc>
                  <a:txBody>
                    <a:bodyPr wrap="square"/>
                    <a:lstStyle/>
                    <a:p>
                      <a:r>
                        <a:rPr sz="1200" b="0">
                          <a:solidFill>
                            <a:srgbClr val="FFFFFF"/>
                          </a:solidFill>
                          <a:latin typeface="Inter"/>
                        </a:rPr>
                        <a:t>$6.66</a:t>
                      </a:r>
                    </a:p>
                  </a:txBody>
                  <a:tcPr marL="91440" marR="91440" marT="45720" marB="45720" anchor="ctr">
                    <a:solidFill>
                      <a:srgbClr val="0F1E35"/>
                    </a:solidFill>
                  </a:tcPr>
                </a:tc>
                <a:tc>
                  <a:txBody>
                    <a:bodyPr wrap="square"/>
                    <a:lstStyle/>
                    <a:p>
                      <a:r>
                        <a:rPr sz="1200" b="0">
                          <a:solidFill>
                            <a:srgbClr val="FFFFFF"/>
                          </a:solidFill>
                          <a:latin typeface="Inter"/>
                        </a:rPr>
                        <a:t>$0.0043</a:t>
                      </a:r>
                    </a:p>
                  </a:txBody>
                  <a:tcPr marL="91440" marR="91440" marT="45720" marB="45720" anchor="ctr">
                    <a:solidFill>
                      <a:srgbClr val="0F1E35"/>
                    </a:solidFill>
                  </a:tcPr>
                </a:tc>
              </a:tr>
              <a:tr h="384048">
                <a:tc>
                  <a:txBody>
                    <a:bodyPr wrap="square"/>
                    <a:lstStyle/>
                    <a:p>
                      <a:r>
                        <a:rPr sz="1200" b="1">
                          <a:solidFill>
                            <a:srgbClr val="FFFFFF"/>
                          </a:solidFill>
                          <a:latin typeface="Inter"/>
                        </a:rPr>
                        <a:t>ticket_lookup</a:t>
                      </a:r>
                    </a:p>
                  </a:txBody>
                  <a:tcPr marL="91440" marR="91440" marT="45720" marB="45720" anchor="ctr">
                    <a:solidFill>
                      <a:srgbClr val="1A2742"/>
                    </a:solidFill>
                  </a:tcPr>
                </a:tc>
                <a:tc>
                  <a:txBody>
                    <a:bodyPr wrap="square"/>
                    <a:lstStyle/>
                    <a:p>
                      <a:r>
                        <a:rPr sz="1200" b="0">
                          <a:solidFill>
                            <a:srgbClr val="FFFFFF"/>
                          </a:solidFill>
                          <a:latin typeface="Inter"/>
                        </a:rPr>
                        <a:t>10%</a:t>
                      </a:r>
                    </a:p>
                  </a:txBody>
                  <a:tcPr marL="91440" marR="91440" marT="45720" marB="45720" anchor="ctr">
                    <a:solidFill>
                      <a:srgbClr val="1A2742"/>
                    </a:solidFill>
                  </a:tcPr>
                </a:tc>
                <a:tc>
                  <a:txBody>
                    <a:bodyPr wrap="square"/>
                    <a:lstStyle/>
                    <a:p>
                      <a:r>
                        <a:rPr sz="1200" b="0">
                          <a:solidFill>
                            <a:srgbClr val="FFFFFF"/>
                          </a:solidFill>
                          <a:latin typeface="Inter"/>
                        </a:rPr>
                        <a:t>$3.21</a:t>
                      </a:r>
                    </a:p>
                  </a:txBody>
                  <a:tcPr marL="91440" marR="91440" marT="45720" marB="45720" anchor="ctr">
                    <a:solidFill>
                      <a:srgbClr val="1A2742"/>
                    </a:solidFill>
                  </a:tcPr>
                </a:tc>
                <a:tc>
                  <a:txBody>
                    <a:bodyPr wrap="square"/>
                    <a:lstStyle/>
                    <a:p>
                      <a:r>
                        <a:rPr sz="1200" b="0">
                          <a:solidFill>
                            <a:srgbClr val="FFFFFF"/>
                          </a:solidFill>
                          <a:latin typeface="Inter"/>
                        </a:rPr>
                        <a:t>$0.0031</a:t>
                      </a:r>
                    </a:p>
                  </a:txBody>
                  <a:tcPr marL="91440" marR="91440" marT="45720" marB="45720" anchor="ctr">
                    <a:solidFill>
                      <a:srgbClr val="1A2742"/>
                    </a:solidFill>
                  </a:tcPr>
                </a:tc>
              </a:tr>
              <a:tr h="384048">
                <a:tc>
                  <a:txBody>
                    <a:bodyPr wrap="square"/>
                    <a:lstStyle/>
                    <a:p>
                      <a:r>
                        <a:rPr sz="1200" b="1">
                          <a:solidFill>
                            <a:srgbClr val="FFFFFF"/>
                          </a:solidFill>
                          <a:latin typeface="Inter"/>
                        </a:rPr>
                        <a:t>shipment_status</a:t>
                      </a:r>
                    </a:p>
                  </a:txBody>
                  <a:tcPr marL="91440" marR="91440" marT="45720" marB="45720" anchor="ctr">
                    <a:solidFill>
                      <a:srgbClr val="0F1E35"/>
                    </a:solidFill>
                  </a:tcPr>
                </a:tc>
                <a:tc>
                  <a:txBody>
                    <a:bodyPr wrap="square"/>
                    <a:lstStyle/>
                    <a:p>
                      <a:r>
                        <a:rPr sz="1200" b="0">
                          <a:solidFill>
                            <a:srgbClr val="FFFFFF"/>
                          </a:solidFill>
                          <a:latin typeface="Inter"/>
                        </a:rPr>
                        <a:t>7%</a:t>
                      </a:r>
                    </a:p>
                  </a:txBody>
                  <a:tcPr marL="91440" marR="91440" marT="45720" marB="45720" anchor="ctr">
                    <a:solidFill>
                      <a:srgbClr val="0F1E35"/>
                    </a:solidFill>
                  </a:tcPr>
                </a:tc>
                <a:tc>
                  <a:txBody>
                    <a:bodyPr wrap="square"/>
                    <a:lstStyle/>
                    <a:p>
                      <a:r>
                        <a:rPr sz="1200" b="0">
                          <a:solidFill>
                            <a:srgbClr val="FFFFFF"/>
                          </a:solidFill>
                          <a:latin typeface="Inter"/>
                        </a:rPr>
                        <a:t>$2.21</a:t>
                      </a:r>
                    </a:p>
                  </a:txBody>
                  <a:tcPr marL="91440" marR="91440" marT="45720" marB="45720" anchor="ctr">
                    <a:solidFill>
                      <a:srgbClr val="0F1E35"/>
                    </a:solidFill>
                  </a:tcPr>
                </a:tc>
                <a:tc>
                  <a:txBody>
                    <a:bodyPr wrap="square"/>
                    <a:lstStyle/>
                    <a:p>
                      <a:r>
                        <a:rPr sz="1200" b="0">
                          <a:solidFill>
                            <a:srgbClr val="FFFFFF"/>
                          </a:solidFill>
                          <a:latin typeface="Inter"/>
                        </a:rPr>
                        <a:t>$0.0031</a:t>
                      </a:r>
                    </a:p>
                  </a:txBody>
                  <a:tcPr marL="91440" marR="91440" marT="45720" marB="45720" anchor="ctr">
                    <a:solidFill>
                      <a:srgbClr val="0F1E35"/>
                    </a:solidFill>
                  </a:tcPr>
                </a:tc>
              </a:tr>
              <a:tr h="384048">
                <a:tc>
                  <a:txBody>
                    <a:bodyPr wrap="square"/>
                    <a:lstStyle/>
                    <a:p>
                      <a:r>
                        <a:rPr sz="1200" b="1">
                          <a:solidFill>
                            <a:srgbClr val="FFFFFF"/>
                          </a:solidFill>
                          <a:latin typeface="Inter"/>
                        </a:rPr>
                        <a:t>password_reset</a:t>
                      </a:r>
                    </a:p>
                  </a:txBody>
                  <a:tcPr marL="91440" marR="91440" marT="45720" marB="45720" anchor="ctr">
                    <a:solidFill>
                      <a:srgbClr val="1A2742"/>
                    </a:solidFill>
                  </a:tcPr>
                </a:tc>
                <a:tc>
                  <a:txBody>
                    <a:bodyPr wrap="square"/>
                    <a:lstStyle/>
                    <a:p>
                      <a:r>
                        <a:rPr sz="1200" b="0">
                          <a:solidFill>
                            <a:srgbClr val="FFFFFF"/>
                          </a:solidFill>
                          <a:latin typeface="Inter"/>
                        </a:rPr>
                        <a:t>3%</a:t>
                      </a:r>
                    </a:p>
                  </a:txBody>
                  <a:tcPr marL="91440" marR="91440" marT="45720" marB="45720" anchor="ctr">
                    <a:solidFill>
                      <a:srgbClr val="1A2742"/>
                    </a:solidFill>
                  </a:tcPr>
                </a:tc>
                <a:tc>
                  <a:txBody>
                    <a:bodyPr wrap="square"/>
                    <a:lstStyle/>
                    <a:p>
                      <a:r>
                        <a:rPr sz="1200" b="0">
                          <a:solidFill>
                            <a:srgbClr val="FFFFFF"/>
                          </a:solidFill>
                          <a:latin typeface="Inter"/>
                        </a:rPr>
                        <a:t>$0.78</a:t>
                      </a:r>
                    </a:p>
                  </a:txBody>
                  <a:tcPr marL="91440" marR="91440" marT="45720" marB="45720" anchor="ctr">
                    <a:solidFill>
                      <a:srgbClr val="1A2742"/>
                    </a:solidFill>
                  </a:tcPr>
                </a:tc>
                <a:tc>
                  <a:txBody>
                    <a:bodyPr wrap="square"/>
                    <a:lstStyle/>
                    <a:p>
                      <a:r>
                        <a:rPr sz="1200" b="0">
                          <a:solidFill>
                            <a:srgbClr val="FFFFFF"/>
                          </a:solidFill>
                          <a:latin typeface="Inter"/>
                        </a:rPr>
                        <a:t>$0.0028</a:t>
                      </a:r>
                    </a:p>
                  </a:txBody>
                  <a:tcPr marL="91440" marR="91440" marT="45720" marB="45720" anchor="ctr">
                    <a:solidFill>
                      <a:srgbClr val="1A2742"/>
                    </a:solidFill>
                  </a:tcPr>
                </a:tc>
              </a:tr>
              <a:tr h="384048">
                <a:tc>
                  <a:txBody>
                    <a:bodyPr wrap="square"/>
                    <a:lstStyle/>
                    <a:p>
                      <a:r>
                        <a:rPr sz="1200" b="1">
                          <a:solidFill>
                            <a:srgbClr val="FFFFFF"/>
                          </a:solidFill>
                          <a:latin typeface="Inter"/>
                        </a:rPr>
                        <a:t>escalation</a:t>
                      </a:r>
                    </a:p>
                  </a:txBody>
                  <a:tcPr marL="91440" marR="91440" marT="45720" marB="45720" anchor="ctr">
                    <a:solidFill>
                      <a:srgbClr val="0F1E35"/>
                    </a:solidFill>
                  </a:tcPr>
                </a:tc>
                <a:tc>
                  <a:txBody>
                    <a:bodyPr wrap="square"/>
                    <a:lstStyle/>
                    <a:p>
                      <a:r>
                        <a:rPr sz="1200" b="0">
                          <a:solidFill>
                            <a:srgbClr val="FFFFFF"/>
                          </a:solidFill>
                          <a:latin typeface="Inter"/>
                        </a:rPr>
                        <a:t>0.4%</a:t>
                      </a:r>
                    </a:p>
                  </a:txBody>
                  <a:tcPr marL="91440" marR="91440" marT="45720" marB="45720" anchor="ctr">
                    <a:solidFill>
                      <a:srgbClr val="0F1E35"/>
                    </a:solidFill>
                  </a:tcPr>
                </a:tc>
                <a:tc>
                  <a:txBody>
                    <a:bodyPr wrap="square"/>
                    <a:lstStyle/>
                    <a:p>
                      <a:r>
                        <a:rPr sz="1200" b="0">
                          <a:solidFill>
                            <a:srgbClr val="FFFFFF"/>
                          </a:solidFill>
                          <a:latin typeface="Inter"/>
                        </a:rPr>
                        <a:t>$0.38</a:t>
                      </a:r>
                    </a:p>
                  </a:txBody>
                  <a:tcPr marL="91440" marR="91440" marT="45720" marB="45720" anchor="ctr">
                    <a:solidFill>
                      <a:srgbClr val="0F1E35"/>
                    </a:solidFill>
                  </a:tcPr>
                </a:tc>
                <a:tc>
                  <a:txBody>
                    <a:bodyPr wrap="square"/>
                    <a:lstStyle/>
                    <a:p>
                      <a:r>
                        <a:rPr sz="1200" b="0">
                          <a:solidFill>
                            <a:srgbClr val="FFFFFF"/>
                          </a:solidFill>
                          <a:latin typeface="Inter"/>
                        </a:rPr>
                        <a:t>$0.0088</a:t>
                      </a:r>
                    </a:p>
                  </a:txBody>
                  <a:tcPr marL="91440" marR="91440" marT="45720" marB="45720" anchor="ctr">
                    <a:solidFill>
                      <a:srgbClr val="0F1E35"/>
                    </a:solidFill>
                  </a:tcPr>
                </a:tc>
              </a:tr>
              <a:tr h="384048">
                <a:tc>
                  <a:txBody>
                    <a:bodyPr wrap="square"/>
                    <a:lstStyle/>
                    <a:p>
                      <a:r>
                        <a:rPr sz="1200" b="1">
                          <a:solidFill>
                            <a:srgbClr val="FFFFFF"/>
                          </a:solidFill>
                          <a:latin typeface="Inter"/>
                        </a:rPr>
                        <a:t>other</a:t>
                      </a:r>
                    </a:p>
                  </a:txBody>
                  <a:tcPr marL="91440" marR="91440" marT="45720" marB="45720" anchor="ctr">
                    <a:solidFill>
                      <a:srgbClr val="1A2742"/>
                    </a:solidFill>
                  </a:tcPr>
                </a:tc>
                <a:tc>
                  <a:txBody>
                    <a:bodyPr wrap="square"/>
                    <a:lstStyle/>
                    <a:p>
                      <a:r>
                        <a:rPr sz="1200" b="0">
                          <a:solidFill>
                            <a:srgbClr val="FFFFFF"/>
                          </a:solidFill>
                          <a:latin typeface="Inter"/>
                        </a:rPr>
                        <a:t>1%</a:t>
                      </a:r>
                    </a:p>
                  </a:txBody>
                  <a:tcPr marL="91440" marR="91440" marT="45720" marB="45720" anchor="ctr">
                    <a:solidFill>
                      <a:srgbClr val="1A2742"/>
                    </a:solidFill>
                  </a:tcPr>
                </a:tc>
                <a:tc>
                  <a:txBody>
                    <a:bodyPr wrap="square"/>
                    <a:lstStyle/>
                    <a:p>
                      <a:r>
                        <a:rPr sz="1200" b="0">
                          <a:solidFill>
                            <a:srgbClr val="FFFFFF"/>
                          </a:solidFill>
                          <a:latin typeface="Inter"/>
                        </a:rPr>
                        <a:t>$0.13</a:t>
                      </a:r>
                    </a:p>
                  </a:txBody>
                  <a:tcPr marL="91440" marR="91440" marT="45720" marB="45720" anchor="ctr">
                    <a:solidFill>
                      <a:srgbClr val="1A2742"/>
                    </a:solidFill>
                  </a:tcPr>
                </a:tc>
                <a:tc>
                  <a:txBody>
                    <a:bodyPr wrap="square"/>
                    <a:lstStyle/>
                    <a:p>
                      <a:r>
                        <a:rPr sz="1200" b="0">
                          <a:solidFill>
                            <a:srgbClr val="FFFFFF"/>
                          </a:solidFill>
                          <a:latin typeface="Inter"/>
                        </a:rPr>
                        <a:t>$0.0009</a:t>
                      </a:r>
                    </a:p>
                  </a:txBody>
                  <a:tcPr marL="91440" marR="91440" marT="45720" marB="45720" anchor="ctr">
                    <a:solidFill>
                      <a:srgbClr val="1A274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number finance accepts: cost per resolved session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Cost per session: total ÷ sessions = $0.0141</a:t>
            </a:r>
          </a:p>
          <a:p>
            <a:pPr marL="292608" indent="-292608">
              <a:lnSpc>
                <a:spcPct val="120000"/>
              </a:lnSpc>
              <a:spcAft>
                <a:spcPts val="1120"/>
              </a:spcAft>
              <a:buClr>
                <a:srgbClr val="00D4AA"/>
              </a:buClr>
              <a:buFont typeface="Inter"/>
              <a:buChar char="•"/>
            </a:pPr>
            <a:r>
              <a:rPr sz="1600" b="0">
                <a:solidFill>
                  <a:srgbClr val="FFFFFF"/>
                </a:solidFill>
                <a:latin typeface="Inter"/>
              </a:rPr>
              <a:t>Cost per resolved session: cost of resolved requests ÷ sessions with a resolved answer = $0.0144</a:t>
            </a:r>
          </a:p>
          <a:p>
            <a:pPr marL="292608" indent="-292608">
              <a:lnSpc>
                <a:spcPct val="120000"/>
              </a:lnSpc>
              <a:spcAft>
                <a:spcPts val="1120"/>
              </a:spcAft>
              <a:buClr>
                <a:srgbClr val="00D4AA"/>
              </a:buClr>
              <a:buFont typeface="Inter"/>
              <a:buChar char="•"/>
            </a:pPr>
            <a:r>
              <a:rPr sz="1600" b="0">
                <a:solidFill>
                  <a:srgbClr val="FFFFFF"/>
                </a:solidFill>
                <a:latin typeface="Inter"/>
              </a:rPr>
              <a:t>On the replay 10,069 of 10,184 requests end </a:t>
            </a:r>
            <a:r>
              <a:rPr sz="1472" b="0">
                <a:solidFill>
                  <a:srgbClr val="00D4AA"/>
                </a:solidFill>
                <a:latin typeface="JetBrains Mono"/>
              </a:rPr>
              <a:t>resolved</a:t>
            </a:r>
            <a:r>
              <a:rPr sz="1600" b="0">
                <a:solidFill>
                  <a:srgbClr val="FFFFFF"/>
                </a:solidFill>
                <a:latin typeface="Inter"/>
              </a:rPr>
              <a:t>, so the two are close</a:t>
            </a:r>
          </a:p>
          <a:p>
            <a:pPr marL="292608" indent="-292608">
              <a:lnSpc>
                <a:spcPct val="120000"/>
              </a:lnSpc>
              <a:spcAft>
                <a:spcPts val="1120"/>
              </a:spcAft>
              <a:buClr>
                <a:srgbClr val="00D4AA"/>
              </a:buClr>
              <a:buFont typeface="Inter"/>
              <a:buChar char="•"/>
            </a:pPr>
            <a:r>
              <a:rPr sz="1600" b="0">
                <a:solidFill>
                  <a:srgbClr val="FFFFFF"/>
                </a:solidFill>
                <a:latin typeface="Inter"/>
              </a:rPr>
              <a:t>Errors, step limits and timeouts push them apart: cost per session stays flat, cost per resolved session climbs</a:t>
            </a:r>
          </a:p>
          <a:p>
            <a:pPr marL="292608" indent="-292608">
              <a:lnSpc>
                <a:spcPct val="120000"/>
              </a:lnSpc>
              <a:spcAft>
                <a:spcPts val="1120"/>
              </a:spcAft>
              <a:buClr>
                <a:srgbClr val="00D4AA"/>
              </a:buClr>
              <a:buFont typeface="Inter"/>
              <a:buChar char="•"/>
            </a:pPr>
            <a:r>
              <a:rPr sz="1600" b="0">
                <a:solidFill>
                  <a:srgbClr val="FFFFFF"/>
                </a:solidFill>
                <a:latin typeface="Inter"/>
              </a:rPr>
              <a:t>Section 8 adds the judge's </a:t>
            </a:r>
            <a:r>
              <a:rPr sz="1472" b="0">
                <a:solidFill>
                  <a:srgbClr val="00D4AA"/>
                </a:solidFill>
                <a:latin typeface="JetBrains Mono"/>
              </a:rPr>
              <a:t>resolved</a:t>
            </a:r>
            <a:r>
              <a:rPr sz="1600" b="0">
                <a:solidFill>
                  <a:srgbClr val="FFFFFF"/>
                </a:solidFill>
                <a:latin typeface="Inter"/>
              </a:rPr>
              <a:t> score for answers that ended but didn't help</a:t>
            </a:r>
          </a:p>
        </p:txBody>
      </p:sp>
      <p:pic>
        <p:nvPicPr>
          <p:cNvPr id="6" name="Picture 5" descr="D6-cost-rollup-tre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Stamp five dimensions on every generation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numbers go to spans, Langfuse and Prometheus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report is a group-by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Prompt caching: the cheapest win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Attribution tells you where the money goes.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Prompt caching: the cheapest win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Put everything stable at the front of the prompt, set a </a:t>
            </a:r>
            <a:r>
              <a:rPr sz="1472" b="0">
                <a:solidFill>
                  <a:srgbClr val="00D4AA"/>
                </a:solidFill>
                <a:latin typeface="JetBrains Mono"/>
              </a:rPr>
              <a:t>prompt_cache_key</a:t>
            </a:r>
            <a:r>
              <a:rPr sz="1600" b="0">
                <a:solidFill>
                  <a:srgbClr val="CBD5E1"/>
                </a:solidFill>
                <a:latin typeface="Inter"/>
              </a:rPr>
              <a:t>, and the same day of traffic costs 34% less with…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prompt caching works (OpenAI, verify current terms)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Provider caches the prefix of a prompt it has seen recently; exact match, from the start</a:t>
            </a:r>
          </a:p>
          <a:p>
            <a:pPr marL="292608" indent="-292608">
              <a:lnSpc>
                <a:spcPct val="120000"/>
              </a:lnSpc>
              <a:spcAft>
                <a:spcPts val="1260"/>
              </a:spcAft>
              <a:buClr>
                <a:srgbClr val="00D4AA"/>
              </a:buClr>
              <a:buFont typeface="Inter"/>
              <a:buChar char="•"/>
            </a:pPr>
            <a:r>
              <a:rPr sz="1800" b="0">
                <a:solidFill>
                  <a:srgbClr val="FFFFFF"/>
                </a:solidFill>
                <a:latin typeface="Inter"/>
              </a:rPr>
              <a:t>Minimum 1,024 tokens; hits are reported in </a:t>
            </a:r>
            <a:r>
              <a:rPr sz="1656" b="0">
                <a:solidFill>
                  <a:srgbClr val="00D4AA"/>
                </a:solidFill>
                <a:latin typeface="JetBrains Mono"/>
              </a:rPr>
              <a:t>usage.prompt_tokens_details.cached_tokens</a:t>
            </a:r>
          </a:p>
          <a:p>
            <a:pPr marL="292608" indent="-292608">
              <a:lnSpc>
                <a:spcPct val="120000"/>
              </a:lnSpc>
              <a:spcAft>
                <a:spcPts val="1260"/>
              </a:spcAft>
              <a:buClr>
                <a:srgbClr val="00D4AA"/>
              </a:buClr>
              <a:buFont typeface="Inter"/>
              <a:buChar char="•"/>
            </a:pPr>
            <a:r>
              <a:rPr sz="1800" b="0">
                <a:solidFill>
                  <a:srgbClr val="FFFFFF"/>
                </a:solidFill>
                <a:latin typeface="Inter"/>
              </a:rPr>
              <a:t>Cached input is billed at $0.10/M instead of $0.40/M on gpt-4.1-mini (a quarter of the price)</a:t>
            </a:r>
          </a:p>
          <a:p>
            <a:pPr marL="292608" indent="-292608">
              <a:lnSpc>
                <a:spcPct val="120000"/>
              </a:lnSpc>
              <a:spcAft>
                <a:spcPts val="1260"/>
              </a:spcAft>
              <a:buClr>
                <a:srgbClr val="00D4AA"/>
              </a:buClr>
              <a:buFont typeface="Inter"/>
              <a:buChar char="•"/>
            </a:pPr>
            <a:r>
              <a:rPr sz="1800" b="0">
                <a:solidFill>
                  <a:srgbClr val="FFFFFF"/>
                </a:solidFill>
                <a:latin typeface="Inter"/>
              </a:rPr>
              <a:t>Cache lives minutes, not hours; hit rate depends on traffic and routing</a:t>
            </a:r>
          </a:p>
          <a:p>
            <a:pPr marL="292608" indent="-292608">
              <a:lnSpc>
                <a:spcPct val="120000"/>
              </a:lnSpc>
              <a:spcAft>
                <a:spcPts val="1260"/>
              </a:spcAft>
              <a:buClr>
                <a:srgbClr val="00D4AA"/>
              </a:buClr>
              <a:buFont typeface="Inter"/>
              <a:buChar char="•"/>
            </a:pPr>
            <a:r>
              <a:rPr sz="1656" b="0">
                <a:solidFill>
                  <a:srgbClr val="00D4AA"/>
                </a:solidFill>
                <a:latin typeface="JetBrains Mono"/>
              </a:rPr>
              <a:t>prompt_cache_key</a:t>
            </a:r>
            <a:r>
              <a:rPr sz="1800" b="0">
                <a:solidFill>
                  <a:srgbClr val="FFFFFF"/>
                </a:solidFill>
                <a:latin typeface="Inter"/>
              </a:rPr>
              <a:t> routes requests with the same prefix to the same cache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Order matters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BEFORE: </a:t>
            </a:r>
            <a:r>
              <a:rPr sz="1656" b="0">
                <a:solidFill>
                  <a:srgbClr val="00D4AA"/>
                </a:solidFill>
                <a:latin typeface="JetBrains Mono"/>
              </a:rPr>
              <a:t>[date and tenant banner] [user question] [system rules] [tools] [policy snippets] [history]</a:t>
            </a:r>
          </a:p>
          <a:p>
            <a:pPr marL="292608" indent="-292608">
              <a:lnSpc>
                <a:spcPct val="120000"/>
              </a:lnSpc>
              <a:spcAft>
                <a:spcPts val="1260"/>
              </a:spcAft>
              <a:buClr>
                <a:srgbClr val="00D4AA"/>
              </a:buClr>
              <a:buFont typeface="Inter"/>
              <a:buChar char="•"/>
            </a:pPr>
            <a:r>
              <a:rPr sz="1800" b="0">
                <a:solidFill>
                  <a:srgbClr val="FFFFFF"/>
                </a:solidFill>
                <a:latin typeface="Inter"/>
              </a:rPr>
              <a:t>One changing token at the front breaks the match for everything behind it</a:t>
            </a:r>
          </a:p>
          <a:p>
            <a:pPr marL="292608" indent="-292608">
              <a:lnSpc>
                <a:spcPct val="120000"/>
              </a:lnSpc>
              <a:spcAft>
                <a:spcPts val="1260"/>
              </a:spcAft>
              <a:buClr>
                <a:srgbClr val="00D4AA"/>
              </a:buClr>
              <a:buFont typeface="Inter"/>
              <a:buChar char="•"/>
            </a:pPr>
            <a:r>
              <a:rPr sz="1800" b="0">
                <a:solidFill>
                  <a:srgbClr val="FFFFFF"/>
                </a:solidFill>
                <a:latin typeface="Inter"/>
              </a:rPr>
              <a:t>AFTER: </a:t>
            </a:r>
            <a:r>
              <a:rPr sz="1656" b="0">
                <a:solidFill>
                  <a:srgbClr val="00D4AA"/>
                </a:solidFill>
                <a:latin typeface="JetBrains Mono"/>
              </a:rPr>
              <a:t>[system rules] [tools] [policy snippets for tenant] [history] [user question]</a:t>
            </a:r>
          </a:p>
          <a:p>
            <a:pPr marL="292608" indent="-292608">
              <a:lnSpc>
                <a:spcPct val="120000"/>
              </a:lnSpc>
              <a:spcAft>
                <a:spcPts val="1260"/>
              </a:spcAft>
              <a:buClr>
                <a:srgbClr val="00D4AA"/>
              </a:buClr>
              <a:buFont typeface="Inter"/>
              <a:buChar char="•"/>
            </a:pPr>
            <a:r>
              <a:rPr sz="1800" b="0">
                <a:solidFill>
                  <a:srgbClr val="FFFFFF"/>
                </a:solidFill>
                <a:latin typeface="Inter"/>
              </a:rPr>
              <a:t>Stable first, per-request last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Before and after on the same day (verify current pricing)</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737360"/>
          <a:ext cx="11292838" cy="3072384"/>
        </p:xfrm>
        <a:graphic>
          <a:graphicData uri="http://schemas.openxmlformats.org/drawingml/2006/table">
            <a:tbl>
              <a:tblPr firstRow="1" bandRow="1">
                <a:tableStyleId>{5C22544A-7EE6-4342-B048-85BDC9FD1C3A}</a:tableStyleId>
              </a:tblPr>
              <a:tblGrid>
                <a:gridCol w="6080759"/>
                <a:gridCol w="1116874"/>
                <a:gridCol w="4095205"/>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Before</a:t>
                      </a:r>
                    </a:p>
                  </a:txBody>
                  <a:tcPr marL="91440" marR="91440" marT="45720" marB="45720" anchor="ctr">
                    <a:solidFill>
                      <a:srgbClr val="00D4AA"/>
                    </a:solidFill>
                  </a:tcPr>
                </a:tc>
                <a:tc>
                  <a:txBody>
                    <a:bodyPr wrap="square"/>
                    <a:lstStyle/>
                    <a:p>
                      <a:r>
                        <a:rPr sz="1200" b="1">
                          <a:solidFill>
                            <a:srgbClr val="0A1628"/>
                          </a:solidFill>
                          <a:latin typeface="Inter"/>
                        </a:rPr>
                        <a:t>After</a:t>
                      </a:r>
                    </a:p>
                  </a:txBody>
                  <a:tcPr marL="91440" marR="91440" marT="45720" marB="45720" anchor="ctr">
                    <a:solidFill>
                      <a:srgbClr val="00D4AA"/>
                    </a:solidFill>
                  </a:tcPr>
                </a:tc>
              </a:tr>
              <a:tr h="384048">
                <a:tc>
                  <a:txBody>
                    <a:bodyPr wrap="square"/>
                    <a:lstStyle/>
                    <a:p>
                      <a:r>
                        <a:rPr sz="1200" b="1">
                          <a:solidFill>
                            <a:srgbClr val="FFFFFF"/>
                          </a:solidFill>
                          <a:latin typeface="Inter"/>
                        </a:rPr>
                        <a:t>Uncached input, demo request</a:t>
                      </a:r>
                    </a:p>
                  </a:txBody>
                  <a:tcPr marL="91440" marR="91440" marT="45720" marB="45720" anchor="ctr">
                    <a:solidFill>
                      <a:srgbClr val="1A2742"/>
                    </a:solidFill>
                  </a:tcPr>
                </a:tc>
                <a:tc>
                  <a:txBody>
                    <a:bodyPr wrap="square"/>
                    <a:lstStyle/>
                    <a:p>
                      <a:r>
                        <a:rPr sz="1200" b="0">
                          <a:solidFill>
                            <a:srgbClr val="FFFFFF"/>
                          </a:solidFill>
                          <a:latin typeface="Inter"/>
                        </a:rPr>
                        <a:t>9,926</a:t>
                      </a:r>
                    </a:p>
                  </a:txBody>
                  <a:tcPr marL="91440" marR="91440" marT="45720" marB="45720" anchor="ctr">
                    <a:solidFill>
                      <a:srgbClr val="1A2742"/>
                    </a:solidFill>
                  </a:tcPr>
                </a:tc>
                <a:tc>
                  <a:txBody>
                    <a:bodyPr wrap="square"/>
                    <a:lstStyle/>
                    <a:p>
                      <a:r>
                        <a:rPr sz="1200" b="0">
                          <a:solidFill>
                            <a:srgbClr val="FFFFFF"/>
                          </a:solidFill>
                          <a:latin typeface="Inter"/>
                        </a:rPr>
                        <a:t>3,526</a:t>
                      </a:r>
                    </a:p>
                  </a:txBody>
                  <a:tcPr marL="91440" marR="91440" marT="45720" marB="45720" anchor="ctr">
                    <a:solidFill>
                      <a:srgbClr val="1A2742"/>
                    </a:solidFill>
                  </a:tcPr>
                </a:tc>
              </a:tr>
              <a:tr h="384048">
                <a:tc>
                  <a:txBody>
                    <a:bodyPr wrap="square"/>
                    <a:lstStyle/>
                    <a:p>
                      <a:r>
                        <a:rPr sz="1200" b="1">
                          <a:solidFill>
                            <a:srgbClr val="FFFFFF"/>
                          </a:solidFill>
                          <a:latin typeface="Inter"/>
                        </a:rPr>
                        <a:t>Cached input, demo request</a:t>
                      </a:r>
                    </a:p>
                  </a:txBody>
                  <a:tcPr marL="91440" marR="91440" marT="45720" marB="45720" anchor="ctr">
                    <a:solidFill>
                      <a:srgbClr val="0F1E35"/>
                    </a:solidFill>
                  </a:tcPr>
                </a:tc>
                <a:tc>
                  <a:txBody>
                    <a:bodyPr wrap="square"/>
                    <a:lstStyle/>
                    <a:p>
                      <a:r>
                        <a:rPr sz="1200" b="0">
                          <a:solidFill>
                            <a:srgbClr val="FFFFFF"/>
                          </a:solidFill>
                          <a:latin typeface="Inter"/>
                        </a:rPr>
                        <a:t>0</a:t>
                      </a:r>
                    </a:p>
                  </a:txBody>
                  <a:tcPr marL="91440" marR="91440" marT="45720" marB="45720" anchor="ctr">
                    <a:solidFill>
                      <a:srgbClr val="0F1E35"/>
                    </a:solidFill>
                  </a:tcPr>
                </a:tc>
                <a:tc>
                  <a:txBody>
                    <a:bodyPr wrap="square"/>
                    <a:lstStyle/>
                    <a:p>
                      <a:r>
                        <a:rPr sz="1200" b="0">
                          <a:solidFill>
                            <a:srgbClr val="FFFFFF"/>
                          </a:solidFill>
                          <a:latin typeface="Inter"/>
                        </a:rPr>
                        <a:t>6,400</a:t>
                      </a:r>
                    </a:p>
                  </a:txBody>
                  <a:tcPr marL="91440" marR="91440" marT="45720" marB="45720" anchor="ctr">
                    <a:solidFill>
                      <a:srgbClr val="0F1E35"/>
                    </a:solidFill>
                  </a:tcPr>
                </a:tc>
              </a:tr>
              <a:tr h="384048">
                <a:tc>
                  <a:txBody>
                    <a:bodyPr wrap="square"/>
                    <a:lstStyle/>
                    <a:p>
                      <a:r>
                        <a:rPr sz="1200" b="1">
                          <a:solidFill>
                            <a:srgbClr val="FFFFFF"/>
                          </a:solidFill>
                          <a:latin typeface="Inter"/>
                        </a:rPr>
                        <a:t>Input cost, demo request</a:t>
                      </a:r>
                    </a:p>
                  </a:txBody>
                  <a:tcPr marL="91440" marR="91440" marT="45720" marB="45720" anchor="ctr">
                    <a:solidFill>
                      <a:srgbClr val="1A2742"/>
                    </a:solidFill>
                  </a:tcPr>
                </a:tc>
                <a:tc>
                  <a:txBody>
                    <a:bodyPr wrap="square"/>
                    <a:lstStyle/>
                    <a:p>
                      <a:r>
                        <a:rPr sz="1200" b="0">
                          <a:solidFill>
                            <a:srgbClr val="FFFFFF"/>
                          </a:solidFill>
                          <a:latin typeface="Inter"/>
                        </a:rPr>
                        <a:t>$0.003970</a:t>
                      </a:r>
                    </a:p>
                  </a:txBody>
                  <a:tcPr marL="91440" marR="91440" marT="45720" marB="45720" anchor="ctr">
                    <a:solidFill>
                      <a:srgbClr val="1A2742"/>
                    </a:solidFill>
                  </a:tcPr>
                </a:tc>
                <a:tc>
                  <a:txBody>
                    <a:bodyPr wrap="square"/>
                    <a:lstStyle/>
                    <a:p>
                      <a:r>
                        <a:rPr sz="1200" b="0">
                          <a:solidFill>
                            <a:srgbClr val="FFFFFF"/>
                          </a:solidFill>
                          <a:latin typeface="Inter"/>
                        </a:rPr>
                        <a:t>$0.001410 + $0.000640 = $0.002050</a:t>
                      </a:r>
                    </a:p>
                  </a:txBody>
                  <a:tcPr marL="91440" marR="91440" marT="45720" marB="45720" anchor="ctr">
                    <a:solidFill>
                      <a:srgbClr val="1A2742"/>
                    </a:solidFill>
                  </a:tcPr>
                </a:tc>
              </a:tr>
              <a:tr h="384048">
                <a:tc>
                  <a:txBody>
                    <a:bodyPr wrap="square"/>
                    <a:lstStyle/>
                    <a:p>
                      <a:r>
                        <a:rPr sz="1200" b="1">
                          <a:solidFill>
                            <a:srgbClr val="FFFFFF"/>
                          </a:solidFill>
                          <a:latin typeface="Inter"/>
                        </a:rPr>
                        <a:t>Cost per request (demo, mini)</a:t>
                      </a:r>
                    </a:p>
                  </a:txBody>
                  <a:tcPr marL="91440" marR="91440" marT="45720" marB="45720" anchor="ctr">
                    <a:solidFill>
                      <a:srgbClr val="0F1E35"/>
                    </a:solidFill>
                  </a:tcPr>
                </a:tc>
                <a:tc>
                  <a:txBody>
                    <a:bodyPr wrap="square"/>
                    <a:lstStyle/>
                    <a:p>
                      <a:r>
                        <a:rPr sz="1200" b="0">
                          <a:solidFill>
                            <a:srgbClr val="FFFFFF"/>
                          </a:solidFill>
                          <a:latin typeface="Inter"/>
                        </a:rPr>
                        <a:t>$0.00449</a:t>
                      </a:r>
                    </a:p>
                  </a:txBody>
                  <a:tcPr marL="91440" marR="91440" marT="45720" marB="45720" anchor="ctr">
                    <a:solidFill>
                      <a:srgbClr val="0F1E35"/>
                    </a:solidFill>
                  </a:tcPr>
                </a:tc>
                <a:tc>
                  <a:txBody>
                    <a:bodyPr wrap="square"/>
                    <a:lstStyle/>
                    <a:p>
                      <a:r>
                        <a:rPr sz="1200" b="0">
                          <a:solidFill>
                            <a:srgbClr val="FFFFFF"/>
                          </a:solidFill>
                          <a:latin typeface="Inter"/>
                        </a:rPr>
                        <a:t>$0.00257</a:t>
                      </a:r>
                    </a:p>
                  </a:txBody>
                  <a:tcPr marL="91440" marR="91440" marT="45720" marB="45720" anchor="ctr">
                    <a:solidFill>
                      <a:srgbClr val="0F1E35"/>
                    </a:solidFill>
                  </a:tcPr>
                </a:tc>
              </a:tr>
              <a:tr h="384048">
                <a:tc>
                  <a:txBody>
                    <a:bodyPr wrap="square"/>
                    <a:lstStyle/>
                    <a:p>
                      <a:r>
                        <a:rPr sz="1200" b="1">
                          <a:solidFill>
                            <a:srgbClr val="FFFFFF"/>
                          </a:solidFill>
                          <a:latin typeface="Inter"/>
                        </a:rPr>
                        <a:t>Share of the day's input tokens served from cache</a:t>
                      </a:r>
                    </a:p>
                  </a:txBody>
                  <a:tcPr marL="91440" marR="91440" marT="45720" marB="45720" anchor="ctr">
                    <a:solidFill>
                      <a:srgbClr val="1A2742"/>
                    </a:solidFill>
                  </a:tcPr>
                </a:tc>
                <a:tc>
                  <a:txBody>
                    <a:bodyPr wrap="square"/>
                    <a:lstStyle/>
                    <a:p>
                      <a:r>
                        <a:rPr sz="1200" b="0">
                          <a:solidFill>
                            <a:srgbClr val="FFFFFF"/>
                          </a:solidFill>
                          <a:latin typeface="Inter"/>
                        </a:rPr>
                        <a:t>0%</a:t>
                      </a:r>
                    </a:p>
                  </a:txBody>
                  <a:tcPr marL="91440" marR="91440" marT="45720" marB="45720" anchor="ctr">
                    <a:solidFill>
                      <a:srgbClr val="1A2742"/>
                    </a:solidFill>
                  </a:tcPr>
                </a:tc>
                <a:tc>
                  <a:txBody>
                    <a:bodyPr wrap="square"/>
                    <a:lstStyle/>
                    <a:p>
                      <a:r>
                        <a:rPr sz="1200" b="0">
                          <a:solidFill>
                            <a:srgbClr val="FFFFFF"/>
                          </a:solidFill>
                          <a:latin typeface="Inter"/>
                        </a:rPr>
                        <a:t>49.3%</a:t>
                      </a:r>
                    </a:p>
                  </a:txBody>
                  <a:tcPr marL="91440" marR="91440" marT="45720" marB="45720" anchor="ctr">
                    <a:solidFill>
                      <a:srgbClr val="1A2742"/>
                    </a:solidFill>
                  </a:tcPr>
                </a:tc>
              </a:tr>
              <a:tr h="384048">
                <a:tc>
                  <a:txBody>
                    <a:bodyPr wrap="square"/>
                    <a:lstStyle/>
                    <a:p>
                      <a:r>
                        <a:rPr sz="1200" b="1">
                          <a:solidFill>
                            <a:srgbClr val="FFFFFF"/>
                          </a:solidFill>
                          <a:latin typeface="Inter"/>
                        </a:rPr>
                        <a:t>Day</a:t>
                      </a:r>
                    </a:p>
                  </a:txBody>
                  <a:tcPr marL="91440" marR="91440" marT="45720" marB="45720" anchor="ctr">
                    <a:solidFill>
                      <a:srgbClr val="0F1E35"/>
                    </a:solidFill>
                  </a:tcPr>
                </a:tc>
                <a:tc>
                  <a:txBody>
                    <a:bodyPr wrap="square"/>
                    <a:lstStyle/>
                    <a:p>
                      <a:r>
                        <a:rPr sz="1200" b="0">
                          <a:solidFill>
                            <a:srgbClr val="FFFFFF"/>
                          </a:solidFill>
                          <a:latin typeface="Inter"/>
                        </a:rPr>
                        <a:t>$56.28</a:t>
                      </a:r>
                    </a:p>
                  </a:txBody>
                  <a:tcPr marL="91440" marR="91440" marT="45720" marB="45720" anchor="ctr">
                    <a:solidFill>
                      <a:srgbClr val="0F1E35"/>
                    </a:solidFill>
                  </a:tcPr>
                </a:tc>
                <a:tc>
                  <a:txBody>
                    <a:bodyPr wrap="square"/>
                    <a:lstStyle/>
                    <a:p>
                      <a:r>
                        <a:rPr sz="1200" b="0">
                          <a:solidFill>
                            <a:srgbClr val="FFFFFF"/>
                          </a:solidFill>
                          <a:latin typeface="Inter"/>
                        </a:rPr>
                        <a:t>$37.00</a:t>
                      </a:r>
                    </a:p>
                  </a:txBody>
                  <a:tcPr marL="91440" marR="91440" marT="45720" marB="45720" anchor="ctr">
                    <a:solidFill>
                      <a:srgbClr val="0F1E35"/>
                    </a:solidFill>
                  </a:tcPr>
                </a:tc>
              </a:tr>
              <a:tr h="384048">
                <a:tc>
                  <a:txBody>
                    <a:bodyPr wrap="square"/>
                    <a:lstStyle/>
                    <a:p>
                      <a:r>
                        <a:rPr sz="1200" b="1">
                          <a:solidFill>
                            <a:srgbClr val="FFFFFF"/>
                          </a:solidFill>
                          <a:latin typeface="Inter"/>
                        </a:rPr>
                        <a:t>Saving</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200" b="0">
                          <a:solidFill>
                            <a:srgbClr val="FFFFFF"/>
                          </a:solidFill>
                          <a:latin typeface="Inter"/>
                        </a:rPr>
                        <a:t>$19.28 a day, 34.3%</a:t>
                      </a:r>
                    </a:p>
                  </a:txBody>
                  <a:tcPr marL="91440" marR="91440" marT="45720" marB="45720" anchor="ctr">
                    <a:solidFill>
                      <a:srgbClr val="1A274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Caching rules of thumb</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Sort: stable, slow, volatile</a:t>
            </a:r>
          </a:p>
          <a:p>
            <a:pPr marL="292608" indent="-292608">
              <a:lnSpc>
                <a:spcPct val="120000"/>
              </a:lnSpc>
              <a:spcAft>
                <a:spcPts val="1260"/>
              </a:spcAft>
              <a:buClr>
                <a:srgbClr val="00D4AA"/>
              </a:buClr>
              <a:buFont typeface="Inter"/>
              <a:buChar char="•"/>
            </a:pPr>
            <a:r>
              <a:rPr sz="1800" b="0">
                <a:solidFill>
                  <a:srgbClr val="FFFFFF"/>
                </a:solidFill>
                <a:latin typeface="Inter"/>
              </a:rPr>
              <a:t>Key on version and tenant, never user</a:t>
            </a:r>
          </a:p>
          <a:p>
            <a:pPr marL="292608" indent="-292608">
              <a:lnSpc>
                <a:spcPct val="120000"/>
              </a:lnSpc>
              <a:spcAft>
                <a:spcPts val="1260"/>
              </a:spcAft>
              <a:buClr>
                <a:srgbClr val="00D4AA"/>
              </a:buClr>
              <a:buFont typeface="Inter"/>
              <a:buChar char="•"/>
            </a:pPr>
            <a:r>
              <a:rPr sz="1800" b="0">
                <a:solidFill>
                  <a:srgbClr val="FFFFFF"/>
                </a:solidFill>
                <a:latin typeface="Inter"/>
              </a:rPr>
              <a:t>Prefix under 1,024 tokens? Nothing caches; measure before you celebrate</a:t>
            </a:r>
          </a:p>
          <a:p>
            <a:pPr marL="292608" indent="-292608">
              <a:lnSpc>
                <a:spcPct val="120000"/>
              </a:lnSpc>
              <a:spcAft>
                <a:spcPts val="1260"/>
              </a:spcAft>
              <a:buClr>
                <a:srgbClr val="00D4AA"/>
              </a:buClr>
              <a:buFont typeface="Inter"/>
              <a:buChar char="•"/>
            </a:pPr>
            <a:r>
              <a:rPr sz="1800" b="0">
                <a:solidFill>
                  <a:srgbClr val="FFFFFF"/>
                </a:solidFill>
                <a:latin typeface="Inter"/>
              </a:rPr>
              <a:t>Hit rate lives in </a:t>
            </a:r>
            <a:r>
              <a:rPr sz="1656" b="0">
                <a:solidFill>
                  <a:srgbClr val="00D4AA"/>
                </a:solidFill>
                <a:latin typeface="JetBrains Mono"/>
              </a:rPr>
              <a:t>cached_tokens</a:t>
            </a:r>
            <a:r>
              <a:rPr sz="1800" b="0">
                <a:solidFill>
                  <a:srgbClr val="FFFFFF"/>
                </a:solidFill>
                <a:latin typeface="Inter"/>
              </a:rPr>
              <a:t>; put it on a dashboard</a:t>
            </a:r>
          </a:p>
          <a:p>
            <a:pPr marL="292608" indent="-292608">
              <a:lnSpc>
                <a:spcPct val="120000"/>
              </a:lnSpc>
              <a:spcAft>
                <a:spcPts val="1260"/>
              </a:spcAft>
              <a:buClr>
                <a:srgbClr val="00D4AA"/>
              </a:buClr>
              <a:buFont typeface="Inter"/>
              <a:buChar char="•"/>
            </a:pPr>
            <a:r>
              <a:rPr sz="1800" b="0">
                <a:solidFill>
                  <a:srgbClr val="FFFFFF"/>
                </a:solidFill>
                <a:latin typeface="Inter"/>
              </a:rPr>
              <a:t>Other providers: explicit cache blocks and different prices; same sort, different API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Stable prefix first, volatile content last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Cache key: prompt version plus tenant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day: $56.28 becomes $37.00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context diet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Caching makes re-sent tokens cheaper.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context diet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Truncate tool results and trim history, measure tokens per step before and after, and cut the input bill by a quarter without…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places context bloats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History: every past turn, forever</a:t>
            </a:r>
          </a:p>
          <a:p>
            <a:pPr marL="292608" indent="-292608">
              <a:lnSpc>
                <a:spcPct val="120000"/>
              </a:lnSpc>
              <a:spcAft>
                <a:spcPts val="1260"/>
              </a:spcAft>
              <a:buClr>
                <a:srgbClr val="00D4AA"/>
              </a:buClr>
              <a:buFont typeface="Inter"/>
              <a:buChar char="•"/>
            </a:pPr>
            <a:r>
              <a:rPr sz="1800" b="0">
                <a:solidFill>
                  <a:srgbClr val="FFFFFF"/>
                </a:solidFill>
                <a:latin typeface="Inter"/>
              </a:rPr>
              <a:t>Tool results: whole documents when a paragraph would do</a:t>
            </a:r>
          </a:p>
          <a:p>
            <a:pPr marL="292608" indent="-292608">
              <a:lnSpc>
                <a:spcPct val="120000"/>
              </a:lnSpc>
              <a:spcAft>
                <a:spcPts val="1260"/>
              </a:spcAft>
              <a:buClr>
                <a:srgbClr val="00D4AA"/>
              </a:buClr>
              <a:buFont typeface="Inter"/>
              <a:buChar char="•"/>
            </a:pPr>
            <a:r>
              <a:rPr sz="1800" b="0">
                <a:solidFill>
                  <a:srgbClr val="FFFFFF"/>
                </a:solidFill>
                <a:latin typeface="Inter"/>
              </a:rPr>
              <a:t>Retrieval: top-k of 12 (Incident 1) when 4 answers the question</a:t>
            </a:r>
          </a:p>
          <a:p>
            <a:pPr marL="292608" indent="-292608">
              <a:lnSpc>
                <a:spcPct val="120000"/>
              </a:lnSpc>
              <a:spcAft>
                <a:spcPts val="1260"/>
              </a:spcAft>
              <a:buClr>
                <a:srgbClr val="00D4AA"/>
              </a:buClr>
              <a:buFont typeface="Inter"/>
              <a:buChar char="•"/>
            </a:pPr>
            <a:r>
              <a:rPr sz="1800" b="0">
                <a:solidFill>
                  <a:srgbClr val="FFFFFF"/>
                </a:solidFill>
                <a:latin typeface="Inter"/>
              </a:rPr>
              <a:t>Tool schemas: fifty tools when the request needs five</a:t>
            </a:r>
          </a:p>
          <a:p>
            <a:pPr marL="292608" indent="-292608">
              <a:lnSpc>
                <a:spcPct val="120000"/>
              </a:lnSpc>
              <a:spcAft>
                <a:spcPts val="1260"/>
              </a:spcAft>
              <a:buClr>
                <a:srgbClr val="00D4AA"/>
              </a:buClr>
              <a:buFont typeface="Inter"/>
              <a:buChar char="•"/>
            </a:pPr>
            <a:r>
              <a:rPr sz="1800" b="0">
                <a:solidFill>
                  <a:srgbClr val="FFFFFF"/>
                </a:solidFill>
                <a:latin typeface="Inter"/>
              </a:rPr>
              <a:t>Rule: measure tokens per step first; cut the biggest, re-measure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knobs the diet flag leaves alone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summariser</a:t>
            </a:r>
            <a:r>
              <a:rPr sz="1800" b="0">
                <a:solidFill>
                  <a:srgbClr val="FFFFFF"/>
                </a:solidFill>
                <a:latin typeface="Inter"/>
              </a:rPr>
              <a:t>: one placeholder line by default; an LLM summary costs a model call</a:t>
            </a:r>
          </a:p>
          <a:p>
            <a:pPr marL="292608" indent="-292608">
              <a:lnSpc>
                <a:spcPct val="120000"/>
              </a:lnSpc>
              <a:spcAft>
                <a:spcPts val="1260"/>
              </a:spcAft>
              <a:buClr>
                <a:srgbClr val="00D4AA"/>
              </a:buClr>
              <a:buFont typeface="Inter"/>
              <a:buChar char="•"/>
            </a:pPr>
            <a:r>
              <a:rPr sz="1800" b="0">
                <a:solidFill>
                  <a:srgbClr val="FFFFFF"/>
                </a:solidFill>
                <a:latin typeface="Inter"/>
              </a:rPr>
              <a:t>Tool schemas: Atlas sends 5; with 40, send only the routed intent's tools</a:t>
            </a:r>
          </a:p>
          <a:p>
            <a:pPr marL="292608" indent="-292608">
              <a:lnSpc>
                <a:spcPct val="120000"/>
              </a:lnSpc>
              <a:spcAft>
                <a:spcPts val="1260"/>
              </a:spcAft>
              <a:buClr>
                <a:srgbClr val="00D4AA"/>
              </a:buClr>
              <a:buFont typeface="Inter"/>
              <a:buChar char="•"/>
            </a:pPr>
            <a:r>
              <a:rPr sz="1800" b="0">
                <a:solidFill>
                  <a:srgbClr val="FFFFFF"/>
                </a:solidFill>
                <a:latin typeface="Inter"/>
              </a:rPr>
              <a:t>Retrieval top-k: </a:t>
            </a:r>
            <a:r>
              <a:rPr sz="1656" b="0">
                <a:solidFill>
                  <a:srgbClr val="00D4AA"/>
                </a:solidFill>
                <a:latin typeface="JetBrains Mono"/>
              </a:rPr>
              <a:t>ATLAS_TOP_K=4</a:t>
            </a:r>
            <a:r>
              <a:rPr sz="1800" b="0">
                <a:solidFill>
                  <a:srgbClr val="FFFFFF"/>
                </a:solidFill>
                <a:latin typeface="Inter"/>
              </a:rPr>
              <a:t>, measured separately against the grounded score</a:t>
            </a:r>
          </a:p>
          <a:p>
            <a:pPr marL="292608" indent="-292608">
              <a:lnSpc>
                <a:spcPct val="120000"/>
              </a:lnSpc>
              <a:spcAft>
                <a:spcPts val="1260"/>
              </a:spcAft>
              <a:buClr>
                <a:srgbClr val="00D4AA"/>
              </a:buClr>
              <a:buFont typeface="Inter"/>
              <a:buChar char="•"/>
            </a:pPr>
            <a:r>
              <a:rPr sz="1800" b="0">
                <a:solidFill>
                  <a:srgbClr val="FFFFFF"/>
                </a:solidFill>
                <a:latin typeface="Inter"/>
              </a:rPr>
              <a:t>Incident 1 is what top-k 12 with the diet off looks like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Before and after on the same day (diet only, caching off, verify current pricing)</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667021"/>
          <a:ext cx="11292839" cy="3072384"/>
        </p:xfrm>
        <a:graphic>
          <a:graphicData uri="http://schemas.openxmlformats.org/drawingml/2006/table">
            <a:tbl>
              <a:tblPr firstRow="1" bandRow="1">
                <a:tableStyleId>{5C22544A-7EE6-4342-B048-85BDC9FD1C3A}</a:tableStyleId>
              </a:tblPr>
              <a:tblGrid>
                <a:gridCol w="6831471"/>
                <a:gridCol w="1812431"/>
                <a:gridCol w="2648937"/>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Before</a:t>
                      </a:r>
                    </a:p>
                  </a:txBody>
                  <a:tcPr marL="91440" marR="91440" marT="45720" marB="45720" anchor="ctr">
                    <a:solidFill>
                      <a:srgbClr val="00D4AA"/>
                    </a:solidFill>
                  </a:tcPr>
                </a:tc>
                <a:tc>
                  <a:txBody>
                    <a:bodyPr wrap="square"/>
                    <a:lstStyle/>
                    <a:p>
                      <a:r>
                        <a:rPr sz="1200" b="1">
                          <a:solidFill>
                            <a:srgbClr val="0A1628"/>
                          </a:solidFill>
                          <a:latin typeface="Inter"/>
                        </a:rPr>
                        <a:t>After</a:t>
                      </a:r>
                    </a:p>
                  </a:txBody>
                  <a:tcPr marL="91440" marR="91440" marT="45720" marB="45720" anchor="ctr">
                    <a:solidFill>
                      <a:srgbClr val="00D4AA"/>
                    </a:solidFill>
                  </a:tcPr>
                </a:tc>
              </a:tr>
              <a:tr h="384048">
                <a:tc>
                  <a:txBody>
                    <a:bodyPr wrap="square"/>
                    <a:lstStyle/>
                    <a:p>
                      <a:r>
                        <a:rPr sz="1200" b="1">
                          <a:solidFill>
                            <a:srgbClr val="FFFFFF"/>
                          </a:solidFill>
                          <a:latin typeface="Inter"/>
                        </a:rPr>
                        <a:t>Input tokens, demo request</a:t>
                      </a:r>
                    </a:p>
                  </a:txBody>
                  <a:tcPr marL="91440" marR="91440" marT="45720" marB="45720" anchor="ctr">
                    <a:solidFill>
                      <a:srgbClr val="1A2742"/>
                    </a:solidFill>
                  </a:tcPr>
                </a:tc>
                <a:tc>
                  <a:txBody>
                    <a:bodyPr wrap="square"/>
                    <a:lstStyle/>
                    <a:p>
                      <a:r>
                        <a:rPr sz="1200" b="0">
                          <a:solidFill>
                            <a:srgbClr val="FFFFFF"/>
                          </a:solidFill>
                          <a:latin typeface="Inter"/>
                        </a:rPr>
                        <a:t>9,926</a:t>
                      </a:r>
                    </a:p>
                  </a:txBody>
                  <a:tcPr marL="91440" marR="91440" marT="45720" marB="45720" anchor="ctr">
                    <a:solidFill>
                      <a:srgbClr val="1A2742"/>
                    </a:solidFill>
                  </a:tcPr>
                </a:tc>
                <a:tc>
                  <a:txBody>
                    <a:bodyPr wrap="square"/>
                    <a:lstStyle/>
                    <a:p>
                      <a:r>
                        <a:rPr sz="1200" b="0">
                          <a:solidFill>
                            <a:srgbClr val="FFFFFF"/>
                          </a:solidFill>
                          <a:latin typeface="Inter"/>
                        </a:rPr>
                        <a:t>7,861</a:t>
                      </a:r>
                    </a:p>
                  </a:txBody>
                  <a:tcPr marL="91440" marR="91440" marT="45720" marB="45720" anchor="ctr">
                    <a:solidFill>
                      <a:srgbClr val="1A2742"/>
                    </a:solidFill>
                  </a:tcPr>
                </a:tc>
              </a:tr>
              <a:tr h="384048">
                <a:tc>
                  <a:txBody>
                    <a:bodyPr wrap="square"/>
                    <a:lstStyle/>
                    <a:p>
                      <a:r>
                        <a:rPr sz="1200" b="1">
                          <a:solidFill>
                            <a:srgbClr val="FFFFFF"/>
                          </a:solidFill>
                          <a:latin typeface="Inter"/>
                        </a:rPr>
                        <a:t>Steps</a:t>
                      </a:r>
                    </a:p>
                  </a:txBody>
                  <a:tcPr marL="91440" marR="91440" marT="45720" marB="45720" anchor="ctr">
                    <a:solidFill>
                      <a:srgbClr val="0F1E35"/>
                    </a:solidFill>
                  </a:tcPr>
                </a:tc>
                <a:tc>
                  <a:txBody>
                    <a:bodyPr wrap="square"/>
                    <a:lstStyle/>
                    <a:p>
                      <a:r>
                        <a:rPr sz="1200" b="0">
                          <a:solidFill>
                            <a:srgbClr val="FFFFFF"/>
                          </a:solidFill>
                          <a:latin typeface="Inter"/>
                        </a:rPr>
                        <a:t>3,259 / 6,667</a:t>
                      </a:r>
                    </a:p>
                  </a:txBody>
                  <a:tcPr marL="91440" marR="91440" marT="45720" marB="45720" anchor="ctr">
                    <a:solidFill>
                      <a:srgbClr val="0F1E35"/>
                    </a:solidFill>
                  </a:tcPr>
                </a:tc>
                <a:tc>
                  <a:txBody>
                    <a:bodyPr wrap="square"/>
                    <a:lstStyle/>
                    <a:p>
                      <a:r>
                        <a:rPr sz="1200" b="0">
                          <a:solidFill>
                            <a:srgbClr val="FFFFFF"/>
                          </a:solidFill>
                          <a:latin typeface="Inter"/>
                        </a:rPr>
                        <a:t>3,259 / 4,602</a:t>
                      </a:r>
                    </a:p>
                  </a:txBody>
                  <a:tcPr marL="91440" marR="91440" marT="45720" marB="45720" anchor="ctr">
                    <a:solidFill>
                      <a:srgbClr val="0F1E35"/>
                    </a:solidFill>
                  </a:tcPr>
                </a:tc>
              </a:tr>
              <a:tr h="384048">
                <a:tc>
                  <a:txBody>
                    <a:bodyPr wrap="square"/>
                    <a:lstStyle/>
                    <a:p>
                      <a:r>
                        <a:rPr sz="1200" b="1">
                          <a:solidFill>
                            <a:srgbClr val="FFFFFF"/>
                          </a:solidFill>
                          <a:latin typeface="Inter"/>
                        </a:rPr>
                        <a:t>Cost per request (demo, mini)</a:t>
                      </a:r>
                    </a:p>
                  </a:txBody>
                  <a:tcPr marL="91440" marR="91440" marT="45720" marB="45720" anchor="ctr">
                    <a:solidFill>
                      <a:srgbClr val="1A2742"/>
                    </a:solidFill>
                  </a:tcPr>
                </a:tc>
                <a:tc>
                  <a:txBody>
                    <a:bodyPr wrap="square"/>
                    <a:lstStyle/>
                    <a:p>
                      <a:r>
                        <a:rPr sz="1200" b="0">
                          <a:solidFill>
                            <a:srgbClr val="FFFFFF"/>
                          </a:solidFill>
                          <a:latin typeface="Inter"/>
                        </a:rPr>
                        <a:t>$0.00449</a:t>
                      </a:r>
                    </a:p>
                  </a:txBody>
                  <a:tcPr marL="91440" marR="91440" marT="45720" marB="45720" anchor="ctr">
                    <a:solidFill>
                      <a:srgbClr val="1A2742"/>
                    </a:solidFill>
                  </a:tcPr>
                </a:tc>
                <a:tc>
                  <a:txBody>
                    <a:bodyPr wrap="square"/>
                    <a:lstStyle/>
                    <a:p>
                      <a:r>
                        <a:rPr sz="1200" b="0">
                          <a:solidFill>
                            <a:srgbClr val="FFFFFF"/>
                          </a:solidFill>
                          <a:latin typeface="Inter"/>
                        </a:rPr>
                        <a:t>$0.00366</a:t>
                      </a:r>
                    </a:p>
                  </a:txBody>
                  <a:tcPr marL="91440" marR="91440" marT="45720" marB="45720" anchor="ctr">
                    <a:solidFill>
                      <a:srgbClr val="1A2742"/>
                    </a:solidFill>
                  </a:tcPr>
                </a:tc>
              </a:tr>
              <a:tr h="384048">
                <a:tc>
                  <a:txBody>
                    <a:bodyPr wrap="square"/>
                    <a:lstStyle/>
                    <a:p>
                      <a:r>
                        <a:rPr sz="1200" b="1">
                          <a:solidFill>
                            <a:srgbClr val="FFFFFF"/>
                          </a:solidFill>
                          <a:latin typeface="Inter"/>
                        </a:rPr>
                        <a:t>Input tokens, whole day</a:t>
                      </a:r>
                    </a:p>
                  </a:txBody>
                  <a:tcPr marL="91440" marR="91440" marT="45720" marB="45720" anchor="ctr">
                    <a:solidFill>
                      <a:srgbClr val="0F1E35"/>
                    </a:solidFill>
                  </a:tcPr>
                </a:tc>
                <a:tc>
                  <a:txBody>
                    <a:bodyPr wrap="square"/>
                    <a:lstStyle/>
                    <a:p>
                      <a:r>
                        <a:rPr sz="1200" b="0">
                          <a:solidFill>
                            <a:srgbClr val="FFFFFF"/>
                          </a:solidFill>
                          <a:latin typeface="Inter"/>
                        </a:rPr>
                        <a:t>130.4M</a:t>
                      </a:r>
                    </a:p>
                  </a:txBody>
                  <a:tcPr marL="91440" marR="91440" marT="45720" marB="45720" anchor="ctr">
                    <a:solidFill>
                      <a:srgbClr val="0F1E35"/>
                    </a:solidFill>
                  </a:tcPr>
                </a:tc>
                <a:tc>
                  <a:txBody>
                    <a:bodyPr wrap="square"/>
                    <a:lstStyle/>
                    <a:p>
                      <a:r>
                        <a:rPr sz="1200" b="0">
                          <a:solidFill>
                            <a:srgbClr val="FFFFFF"/>
                          </a:solidFill>
                          <a:latin typeface="Inter"/>
                        </a:rPr>
                        <a:t>94.7M (−27%)</a:t>
                      </a:r>
                    </a:p>
                  </a:txBody>
                  <a:tcPr marL="91440" marR="91440" marT="45720" marB="45720" anchor="ctr">
                    <a:solidFill>
                      <a:srgbClr val="0F1E35"/>
                    </a:solidFill>
                  </a:tcPr>
                </a:tc>
              </a:tr>
              <a:tr h="384048">
                <a:tc>
                  <a:txBody>
                    <a:bodyPr wrap="square"/>
                    <a:lstStyle/>
                    <a:p>
                      <a:r>
                        <a:rPr sz="1200" b="1">
                          <a:solidFill>
                            <a:srgbClr val="FFFFFF"/>
                          </a:solidFill>
                          <a:latin typeface="Inter"/>
                        </a:rPr>
                        <a:t>Day</a:t>
                      </a:r>
                    </a:p>
                  </a:txBody>
                  <a:tcPr marL="91440" marR="91440" marT="45720" marB="45720" anchor="ctr">
                    <a:solidFill>
                      <a:srgbClr val="1A2742"/>
                    </a:solidFill>
                  </a:tcPr>
                </a:tc>
                <a:tc>
                  <a:txBody>
                    <a:bodyPr wrap="square"/>
                    <a:lstStyle/>
                    <a:p>
                      <a:r>
                        <a:rPr sz="1200" b="0">
                          <a:solidFill>
                            <a:srgbClr val="FFFFFF"/>
                          </a:solidFill>
                          <a:latin typeface="Inter"/>
                        </a:rPr>
                        <a:t>$56.28</a:t>
                      </a:r>
                    </a:p>
                  </a:txBody>
                  <a:tcPr marL="91440" marR="91440" marT="45720" marB="45720" anchor="ctr">
                    <a:solidFill>
                      <a:srgbClr val="1A2742"/>
                    </a:solidFill>
                  </a:tcPr>
                </a:tc>
                <a:tc>
                  <a:txBody>
                    <a:bodyPr wrap="square"/>
                    <a:lstStyle/>
                    <a:p>
                      <a:r>
                        <a:rPr sz="1200" b="0">
                          <a:solidFill>
                            <a:srgbClr val="FFFFFF"/>
                          </a:solidFill>
                          <a:latin typeface="Inter"/>
                        </a:rPr>
                        <a:t>$41.99</a:t>
                      </a:r>
                    </a:p>
                  </a:txBody>
                  <a:tcPr marL="91440" marR="91440" marT="45720" marB="45720" anchor="ctr">
                    <a:solidFill>
                      <a:srgbClr val="1A2742"/>
                    </a:solidFill>
                  </a:tcPr>
                </a:tc>
              </a:tr>
              <a:tr h="384048">
                <a:tc>
                  <a:txBody>
                    <a:bodyPr wrap="square"/>
                    <a:lstStyle/>
                    <a:p>
                      <a:r>
                        <a:rPr sz="1200" b="1">
                          <a:solidFill>
                            <a:srgbClr val="FFFFFF"/>
                          </a:solidFill>
                          <a:latin typeface="Inter"/>
                        </a:rPr>
                        <a:t>Saving</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c>
                  <a:txBody>
                    <a:bodyPr wrap="square"/>
                    <a:lstStyle/>
                    <a:p>
                      <a:r>
                        <a:rPr sz="1200" b="0">
                          <a:solidFill>
                            <a:srgbClr val="FFFFFF"/>
                          </a:solidFill>
                          <a:latin typeface="Inter"/>
                        </a:rPr>
                        <a:t>$14.29 a day, 25.4%</a:t>
                      </a:r>
                    </a:p>
                  </a:txBody>
                  <a:tcPr marL="91440" marR="91440" marT="45720" marB="45720" anchor="ctr">
                    <a:solidFill>
                      <a:srgbClr val="0F1E35"/>
                    </a:solidFill>
                  </a:tcPr>
                </a:tc>
              </a:tr>
              <a:tr h="384048">
                <a:tc>
                  <a:txBody>
                    <a:bodyPr wrap="square"/>
                    <a:lstStyle/>
                    <a:p>
                      <a:r>
                        <a:rPr sz="1200" b="1">
                          <a:solidFill>
                            <a:srgbClr val="FFFFFF"/>
                          </a:solidFill>
                          <a:latin typeface="Inter"/>
                        </a:rPr>
                        <a:t>Judge "grounded" score (replay, Section 8 metric)</a:t>
                      </a:r>
                    </a:p>
                  </a:txBody>
                  <a:tcPr marL="91440" marR="91440" marT="45720" marB="45720" anchor="ctr">
                    <a:solidFill>
                      <a:srgbClr val="1A2742"/>
                    </a:solidFill>
                  </a:tcPr>
                </a:tc>
                <a:tc>
                  <a:txBody>
                    <a:bodyPr wrap="square"/>
                    <a:lstStyle/>
                    <a:p>
                      <a:r>
                        <a:rPr sz="1200" b="0">
                          <a:solidFill>
                            <a:srgbClr val="FFFFFF"/>
                          </a:solidFill>
                          <a:latin typeface="Inter"/>
                        </a:rPr>
                        <a:t>0.943</a:t>
                      </a:r>
                    </a:p>
                  </a:txBody>
                  <a:tcPr marL="91440" marR="91440" marT="45720" marB="45720" anchor="ctr">
                    <a:solidFill>
                      <a:srgbClr val="1A2742"/>
                    </a:solidFill>
                  </a:tcPr>
                </a:tc>
                <a:tc>
                  <a:txBody>
                    <a:bodyPr wrap="square"/>
                    <a:lstStyle/>
                    <a:p>
                      <a:r>
                        <a:rPr sz="1200" b="0">
                          <a:solidFill>
                            <a:srgbClr val="FFFFFF"/>
                          </a:solidFill>
                          <a:latin typeface="Inter"/>
                        </a:rPr>
                        <a:t>0.943</a:t>
                      </a:r>
                    </a:p>
                  </a:txBody>
                  <a:tcPr marL="91440" marR="91440" marT="45720" marB="45720" anchor="ctr">
                    <a:solidFill>
                      <a:srgbClr val="1A2742"/>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Diet plus caching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two levers stack: fewer tokens, and the ones left are cheaper</a:t>
            </a:r>
          </a:p>
          <a:p>
            <a:pPr marL="292608" indent="-292608">
              <a:lnSpc>
                <a:spcPct val="120000"/>
              </a:lnSpc>
              <a:spcAft>
                <a:spcPts val="1260"/>
              </a:spcAft>
              <a:buClr>
                <a:srgbClr val="00D4AA"/>
              </a:buClr>
              <a:buFont typeface="Inter"/>
              <a:buChar char="•"/>
            </a:pPr>
            <a:r>
              <a:rPr sz="1800" b="0">
                <a:solidFill>
                  <a:srgbClr val="FFFFFF"/>
                </a:solidFill>
                <a:latin typeface="Inter"/>
              </a:rPr>
              <a:t>Trim from the oldest end, whole turns at a time, so the prefix still matches</a:t>
            </a:r>
          </a:p>
          <a:p>
            <a:pPr marL="292608" indent="-292608">
              <a:lnSpc>
                <a:spcPct val="120000"/>
              </a:lnSpc>
              <a:spcAft>
                <a:spcPts val="1260"/>
              </a:spcAft>
              <a:buClr>
                <a:srgbClr val="00D4AA"/>
              </a:buClr>
              <a:buFont typeface="Inter"/>
              <a:buChar char="•"/>
            </a:pPr>
            <a:r>
              <a:rPr sz="1800" b="0">
                <a:solidFill>
                  <a:srgbClr val="FFFFFF"/>
                </a:solidFill>
                <a:latin typeface="Inter"/>
              </a:rPr>
              <a:t>Diet + caching on the same day: $56.28 → $22.71 (−59.6%)</a:t>
            </a:r>
          </a:p>
          <a:p>
            <a:pPr marL="292608" indent="-292608">
              <a:lnSpc>
                <a:spcPct val="120000"/>
              </a:lnSpc>
              <a:spcAft>
                <a:spcPts val="1260"/>
              </a:spcAft>
              <a:buClr>
                <a:srgbClr val="00D4AA"/>
              </a:buClr>
              <a:buFont typeface="Inter"/>
              <a:buChar char="•"/>
            </a:pPr>
            <a:r>
              <a:rPr sz="1800" b="0">
                <a:solidFill>
                  <a:srgbClr val="FFFFFF"/>
                </a:solidFill>
                <a:latin typeface="Inter"/>
              </a:rPr>
              <a:t>Retries and escalations still at baseline rates; that's 6.6 and 6.7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Cap tool results; JSON stays valid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Trim history from the oldest end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Day falls 25% alone, 60% with caching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Small-model-first routing with LiteLLM Router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 one of those tokens still goes to gpt-4.1-mini, even when the answer is a ticket status read…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Small-model-first routing with LiteLLM Router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Send the simple intents to gpt-4.1-nano, keep gpt-4.1-mini as the default and gpt-4.1 for escalation, and cut the day by 16% with…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Small-model-first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Default: gpt-4.1-mini for every step</a:t>
            </a:r>
          </a:p>
          <a:p>
            <a:pPr marL="292608" indent="-292608">
              <a:lnSpc>
                <a:spcPct val="120000"/>
              </a:lnSpc>
              <a:spcAft>
                <a:spcPts val="1260"/>
              </a:spcAft>
              <a:buClr>
                <a:srgbClr val="00D4AA"/>
              </a:buClr>
              <a:buFont typeface="Inter"/>
              <a:buChar char="•"/>
            </a:pPr>
            <a:r>
              <a:rPr sz="1800" b="0">
                <a:solidFill>
                  <a:srgbClr val="FFFFFF"/>
                </a:solidFill>
                <a:latin typeface="Inter"/>
              </a:rPr>
              <a:t>Simple intents (</a:t>
            </a:r>
            <a:r>
              <a:rPr sz="1656" b="0">
                <a:solidFill>
                  <a:srgbClr val="00D4AA"/>
                </a:solidFill>
                <a:latin typeface="JetBrains Mono"/>
              </a:rPr>
              <a:t>SIMPLE_INTENTS</a:t>
            </a:r>
            <a:r>
              <a:rPr sz="1800" b="0">
                <a:solidFill>
                  <a:srgbClr val="FFFFFF"/>
                </a:solidFill>
                <a:latin typeface="Inter"/>
              </a:rPr>
              <a:t>: </a:t>
            </a:r>
            <a:r>
              <a:rPr sz="1656" b="0">
                <a:solidFill>
                  <a:srgbClr val="00D4AA"/>
                </a:solidFill>
                <a:latin typeface="JetBrains Mono"/>
              </a:rPr>
              <a:t>ticket_status</a:t>
            </a:r>
            <a:r>
              <a:rPr sz="1800" b="0">
                <a:solidFill>
                  <a:srgbClr val="FFFFFF"/>
                </a:solidFill>
                <a:latin typeface="Inter"/>
              </a:rPr>
              <a:t>, </a:t>
            </a:r>
            <a:r>
              <a:rPr sz="1656" b="0">
                <a:solidFill>
                  <a:srgbClr val="00D4AA"/>
                </a:solidFill>
                <a:latin typeface="JetBrains Mono"/>
              </a:rPr>
              <a:t>shipment</a:t>
            </a:r>
            <a:r>
              <a:rPr sz="1800" b="0">
                <a:solidFill>
                  <a:srgbClr val="FFFFFF"/>
                </a:solidFill>
                <a:latin typeface="Inter"/>
              </a:rPr>
              <a:t>, </a:t>
            </a:r>
            <a:r>
              <a:rPr sz="1656" b="0">
                <a:solidFill>
                  <a:srgbClr val="00D4AA"/>
                </a:solidFill>
                <a:latin typeface="JetBrains Mono"/>
              </a:rPr>
              <a:t>create_ticket</a:t>
            </a:r>
            <a:r>
              <a:rPr sz="1800" b="0">
                <a:solidFill>
                  <a:srgbClr val="FFFFFF"/>
                </a:solidFill>
                <a:latin typeface="Inter"/>
              </a:rPr>
              <a:t>, </a:t>
            </a:r>
            <a:r>
              <a:rPr sz="1656" b="0">
                <a:solidFill>
                  <a:srgbClr val="00D4AA"/>
                </a:solidFill>
                <a:latin typeface="JetBrains Mono"/>
              </a:rPr>
              <a:t>smalltalk</a:t>
            </a:r>
            <a:r>
              <a:rPr sz="1800" b="0">
                <a:solidFill>
                  <a:srgbClr val="FFFFFF"/>
                </a:solidFill>
                <a:latin typeface="Inter"/>
              </a:rPr>
              <a:t>) go to gpt-4.1-nano</a:t>
            </a:r>
          </a:p>
          <a:p>
            <a:pPr marL="292608" indent="-292608">
              <a:lnSpc>
                <a:spcPct val="120000"/>
              </a:lnSpc>
              <a:spcAft>
                <a:spcPts val="1260"/>
              </a:spcAft>
              <a:buClr>
                <a:srgbClr val="00D4AA"/>
              </a:buClr>
              <a:buFont typeface="Inter"/>
              <a:buChar char="•"/>
            </a:pPr>
            <a:r>
              <a:rPr sz="1800" b="0">
                <a:solidFill>
                  <a:srgbClr val="FFFFFF"/>
                </a:solidFill>
                <a:latin typeface="Inter"/>
              </a:rPr>
              <a:t>The </a:t>
            </a:r>
            <a:r>
              <a:rPr sz="1656" b="0">
                <a:solidFill>
                  <a:srgbClr val="00D4AA"/>
                </a:solidFill>
                <a:latin typeface="JetBrains Mono"/>
              </a:rPr>
              <a:t>escalation</a:t>
            </a:r>
            <a:r>
              <a:rPr sz="1800" b="0">
                <a:solidFill>
                  <a:srgbClr val="FFFFFF"/>
                </a:solidFill>
                <a:latin typeface="Inter"/>
              </a:rPr>
              <a:t> intent goes straight to gpt-4.1; the model can also ask for one step on gpt-4.1 with the </a:t>
            </a:r>
            <a:r>
              <a:rPr sz="1656" b="0">
                <a:solidFill>
                  <a:srgbClr val="00D4AA"/>
                </a:solidFill>
                <a:latin typeface="JetBrains Mono"/>
              </a:rPr>
              <a:t>[ESCALATE]</a:t>
            </a:r>
            <a:r>
              <a:rPr sz="1800" b="0">
                <a:solidFill>
                  <a:srgbClr val="FFFFFF"/>
                </a:solidFill>
                <a:latin typeface="Inter"/>
              </a:rPr>
              <a:t> marker</a:t>
            </a:r>
          </a:p>
          <a:p>
            <a:pPr marL="292608" indent="-292608">
              <a:lnSpc>
                <a:spcPct val="120000"/>
              </a:lnSpc>
              <a:spcAft>
                <a:spcPts val="1260"/>
              </a:spcAft>
              <a:buClr>
                <a:srgbClr val="00D4AA"/>
              </a:buClr>
              <a:buFont typeface="Inter"/>
              <a:buChar char="•"/>
            </a:pPr>
            <a:r>
              <a:rPr sz="1800" b="0">
                <a:solidFill>
                  <a:srgbClr val="FFFFFF"/>
                </a:solidFill>
                <a:latin typeface="Inter"/>
              </a:rPr>
              <a:t>The budget guard's degrade decision always wins</a:t>
            </a:r>
          </a:p>
          <a:p>
            <a:pPr marL="292608" indent="-292608">
              <a:lnSpc>
                <a:spcPct val="120000"/>
              </a:lnSpc>
              <a:spcAft>
                <a:spcPts val="1260"/>
              </a:spcAft>
              <a:buClr>
                <a:srgbClr val="00D4AA"/>
              </a:buClr>
              <a:buFont typeface="Inter"/>
              <a:buChar char="•"/>
            </a:pPr>
            <a:r>
              <a:rPr sz="1800" b="0">
                <a:solidFill>
                  <a:srgbClr val="FFFFFF"/>
                </a:solidFill>
                <a:latin typeface="Inter"/>
              </a:rPr>
              <a:t>Also use the Router for fallbacks (Section 7) so there's one place for model selection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Before and after on the same day (routing only, verify current pricing)</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667021"/>
          <a:ext cx="11292840" cy="1316736"/>
        </p:xfrm>
        <a:graphic>
          <a:graphicData uri="http://schemas.openxmlformats.org/drawingml/2006/table">
            <a:tbl>
              <a:tblPr firstRow="1" bandRow="1">
                <a:tableStyleId>{5C22544A-7EE6-4342-B048-85BDC9FD1C3A}</a:tableStyleId>
              </a:tblPr>
              <a:tblGrid>
                <a:gridCol w="5733288"/>
                <a:gridCol w="2432304"/>
                <a:gridCol w="3127248"/>
              </a:tblGrid>
              <a:tr h="438912">
                <a:tc>
                  <a:txBody>
                    <a:bodyPr wrap="square"/>
                    <a:lstStyle/>
                    <a:p>
                      <a:r>
                        <a:rPr sz="1400" b="1">
                          <a:solidFill>
                            <a:srgbClr val="0A1628"/>
                          </a:solidFill>
                          <a:latin typeface="Inter"/>
                        </a:rPr>
                        <a:t>Requests answered on gpt-4.1-mini</a:t>
                      </a:r>
                    </a:p>
                  </a:txBody>
                  <a:tcPr marL="91440" marR="91440" marT="45720" marB="45720" anchor="ctr">
                    <a:solidFill>
                      <a:srgbClr val="00D4AA"/>
                    </a:solidFill>
                  </a:tcPr>
                </a:tc>
                <a:tc>
                  <a:txBody>
                    <a:bodyPr wrap="square"/>
                    <a:lstStyle/>
                    <a:p>
                      <a:r>
                        <a:rPr sz="1400" b="1">
                          <a:solidFill>
                            <a:srgbClr val="0A1628"/>
                          </a:solidFill>
                          <a:latin typeface="Inter"/>
                        </a:rPr>
                        <a:t>10,141, $55.90</a:t>
                      </a:r>
                    </a:p>
                  </a:txBody>
                  <a:tcPr marL="91440" marR="91440" marT="45720" marB="45720" anchor="ctr">
                    <a:solidFill>
                      <a:srgbClr val="00D4AA"/>
                    </a:solidFill>
                  </a:tcPr>
                </a:tc>
                <a:tc>
                  <a:txBody>
                    <a:bodyPr wrap="square"/>
                    <a:lstStyle/>
                    <a:p>
                      <a:r>
                        <a:rPr sz="1400" b="1">
                          <a:solidFill>
                            <a:srgbClr val="0A1628"/>
                          </a:solidFill>
                          <a:latin typeface="Inter"/>
                        </a:rPr>
                        <a:t>6,744, $43.70</a:t>
                      </a:r>
                    </a:p>
                  </a:txBody>
                  <a:tcPr marL="91440" marR="91440" marT="45720" marB="45720" anchor="ctr">
                    <a:solidFill>
                      <a:srgbClr val="00D4AA"/>
                    </a:solidFill>
                  </a:tcPr>
                </a:tc>
              </a:tr>
              <a:tr h="438912">
                <a:tc>
                  <a:txBody>
                    <a:bodyPr wrap="square"/>
                    <a:lstStyle/>
                    <a:p>
                      <a:r>
                        <a:rPr sz="1400" b="1">
                          <a:solidFill>
                            <a:srgbClr val="FFFFFF"/>
                          </a:solidFill>
                          <a:latin typeface="Inter"/>
                        </a:rPr>
                        <a:t>Day</a:t>
                      </a:r>
                    </a:p>
                  </a:txBody>
                  <a:tcPr marL="91440" marR="91440" marT="45720" marB="45720" anchor="ctr">
                    <a:solidFill>
                      <a:srgbClr val="1A2742"/>
                    </a:solidFill>
                  </a:tcPr>
                </a:tc>
                <a:tc>
                  <a:txBody>
                    <a:bodyPr wrap="square"/>
                    <a:lstStyle/>
                    <a:p>
                      <a:r>
                        <a:rPr sz="1400" b="0">
                          <a:solidFill>
                            <a:srgbClr val="FFFFFF"/>
                          </a:solidFill>
                          <a:latin typeface="Inter"/>
                        </a:rPr>
                        <a:t>$56.28</a:t>
                      </a:r>
                    </a:p>
                  </a:txBody>
                  <a:tcPr marL="91440" marR="91440" marT="45720" marB="45720" anchor="ctr">
                    <a:solidFill>
                      <a:srgbClr val="1A2742"/>
                    </a:solidFill>
                  </a:tcPr>
                </a:tc>
                <a:tc>
                  <a:txBody>
                    <a:bodyPr wrap="square"/>
                    <a:lstStyle/>
                    <a:p>
                      <a:r>
                        <a:rPr sz="1400" b="0">
                          <a:solidFill>
                            <a:srgbClr val="FFFFFF"/>
                          </a:solidFill>
                          <a:latin typeface="Inter"/>
                        </a:rPr>
                        <a:t>$47.07</a:t>
                      </a:r>
                    </a:p>
                  </a:txBody>
                  <a:tcPr marL="91440" marR="91440" marT="45720" marB="45720" anchor="ctr">
                    <a:solidFill>
                      <a:srgbClr val="1A2742"/>
                    </a:solidFill>
                  </a:tcPr>
                </a:tc>
              </a:tr>
              <a:tr h="438912">
                <a:tc>
                  <a:txBody>
                    <a:bodyPr wrap="square"/>
                    <a:lstStyle/>
                    <a:p>
                      <a:r>
                        <a:rPr sz="1400" b="1">
                          <a:solidFill>
                            <a:srgbClr val="FFFFFF"/>
                          </a:solidFill>
                          <a:latin typeface="Inter"/>
                        </a:rPr>
                        <a:t>Saving</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c>
                  <a:txBody>
                    <a:bodyPr wrap="square"/>
                    <a:lstStyle/>
                    <a:p>
                      <a:r>
                        <a:rPr sz="1400" b="0">
                          <a:solidFill>
                            <a:srgbClr val="FFFFFF"/>
                          </a:solidFill>
                          <a:latin typeface="Inter"/>
                        </a:rPr>
                        <a:t>$9.21 a day, 16.4%</a:t>
                      </a:r>
                    </a:p>
                  </a:txBody>
                  <a:tcPr marL="91440" marR="91440" marT="45720" marB="45720" anchor="ctr">
                    <a:solidFill>
                      <a:srgbClr val="0F1E35"/>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went where on the replayed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536192"/>
        </p:xfrm>
        <a:graphic>
          <a:graphicData uri="http://schemas.openxmlformats.org/drawingml/2006/table">
            <a:tbl>
              <a:tblPr firstRow="1" bandRow="1">
                <a:tableStyleId>{5C22544A-7EE6-4342-B048-85BDC9FD1C3A}</a:tableStyleId>
              </a:tblPr>
              <a:tblGrid>
                <a:gridCol w="7285703"/>
                <a:gridCol w="1457140"/>
                <a:gridCol w="2549996"/>
              </a:tblGrid>
              <a:tr h="384048">
                <a:tc>
                  <a:txBody>
                    <a:bodyPr wrap="square"/>
                    <a:lstStyle/>
                    <a:p>
                      <a:r>
                        <a:rPr sz="1200" b="1">
                          <a:solidFill>
                            <a:srgbClr val="0A1628"/>
                          </a:solidFill>
                          <a:latin typeface="Inter"/>
                        </a:rPr>
                        <a:t>Intent group</a:t>
                      </a:r>
                    </a:p>
                  </a:txBody>
                  <a:tcPr marL="91440" marR="91440" marT="45720" marB="45720" anchor="ctr">
                    <a:solidFill>
                      <a:srgbClr val="00D4AA"/>
                    </a:solidFill>
                  </a:tcPr>
                </a:tc>
                <a:tc>
                  <a:txBody>
                    <a:bodyPr wrap="square"/>
                    <a:lstStyle/>
                    <a:p>
                      <a:r>
                        <a:rPr sz="1200" b="1">
                          <a:solidFill>
                            <a:srgbClr val="0A1628"/>
                          </a:solidFill>
                          <a:latin typeface="Inter"/>
                        </a:rPr>
                        <a:t>Generations</a:t>
                      </a:r>
                    </a:p>
                  </a:txBody>
                  <a:tcPr marL="91440" marR="91440" marT="45720" marB="45720" anchor="ctr">
                    <a:solidFill>
                      <a:srgbClr val="00D4AA"/>
                    </a:solidFill>
                  </a:tcPr>
                </a:tc>
                <a:tc>
                  <a:txBody>
                    <a:bodyPr wrap="square"/>
                    <a:lstStyle/>
                    <a:p>
                      <a:r>
                        <a:rPr sz="1200" b="1">
                          <a:solidFill>
                            <a:srgbClr val="0A1628"/>
                          </a:solidFill>
                          <a:latin typeface="Inter"/>
                        </a:rPr>
                        <a:t>Model with </a:t>
                      </a:r>
                      <a:r>
                        <a:rPr sz="1104" b="0">
                          <a:solidFill>
                            <a:srgbClr val="0A1628"/>
                          </a:solidFill>
                          <a:latin typeface="JetBrains Mono"/>
                        </a:rPr>
                        <a:t>ROUTER=1</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ticket_status</a:t>
                      </a:r>
                      <a:r>
                        <a:rPr sz="1200" b="1">
                          <a:solidFill>
                            <a:srgbClr val="FFFFFF"/>
                          </a:solidFill>
                          <a:latin typeface="Inter"/>
                        </a:rPr>
                        <a:t>, </a:t>
                      </a:r>
                      <a:r>
                        <a:rPr sz="1104" b="0">
                          <a:solidFill>
                            <a:srgbClr val="00D4AA"/>
                          </a:solidFill>
                          <a:latin typeface="JetBrains Mono"/>
                        </a:rPr>
                        <a:t>shipment</a:t>
                      </a:r>
                      <a:r>
                        <a:rPr sz="1200" b="1">
                          <a:solidFill>
                            <a:srgbClr val="FFFFFF"/>
                          </a:solidFill>
                          <a:latin typeface="Inter"/>
                        </a:rPr>
                        <a:t>, </a:t>
                      </a:r>
                      <a:r>
                        <a:rPr sz="1104" b="0">
                          <a:solidFill>
                            <a:srgbClr val="00D4AA"/>
                          </a:solidFill>
                          <a:latin typeface="JetBrains Mono"/>
                        </a:rPr>
                        <a:t>create_ticket</a:t>
                      </a:r>
                      <a:r>
                        <a:rPr sz="1200" b="1">
                          <a:solidFill>
                            <a:srgbClr val="FFFFFF"/>
                          </a:solidFill>
                          <a:latin typeface="Inter"/>
                        </a:rPr>
                        <a:t>, </a:t>
                      </a:r>
                      <a:r>
                        <a:rPr sz="1104" b="0">
                          <a:solidFill>
                            <a:srgbClr val="00D4AA"/>
                          </a:solidFill>
                          <a:latin typeface="JetBrains Mono"/>
                        </a:rPr>
                        <a:t>smalltalk</a:t>
                      </a:r>
                      <a:r>
                        <a:rPr sz="1200" b="1">
                          <a:solidFill>
                            <a:srgbClr val="FFFFFF"/>
                          </a:solidFill>
                          <a:latin typeface="Inter"/>
                        </a:rPr>
                        <a:t> (</a:t>
                      </a:r>
                      <a:r>
                        <a:rPr sz="1104" b="0">
                          <a:solidFill>
                            <a:srgbClr val="00D4AA"/>
                          </a:solidFill>
                          <a:latin typeface="JetBrains Mono"/>
                        </a:rPr>
                        <a:t>SIMPLE_INTENTS</a:t>
                      </a:r>
                      <a:r>
                        <a:rPr sz="1200" b="1">
                          <a:solidFill>
                            <a:srgbClr val="FFFFFF"/>
                          </a:solidFill>
                          <a:latin typeface="Inter"/>
                        </a:rPr>
                        <a:t>)</a:t>
                      </a:r>
                    </a:p>
                  </a:txBody>
                  <a:tcPr marL="91440" marR="91440" marT="45720" marB="45720" anchor="ctr">
                    <a:solidFill>
                      <a:srgbClr val="1A2742"/>
                    </a:solidFill>
                  </a:tcPr>
                </a:tc>
                <a:tc>
                  <a:txBody>
                    <a:bodyPr wrap="square"/>
                    <a:lstStyle/>
                    <a:p>
                      <a:r>
                        <a:rPr sz="1200" b="0">
                          <a:solidFill>
                            <a:srgbClr val="FFFFFF"/>
                          </a:solidFill>
                          <a:latin typeface="Inter"/>
                        </a:rPr>
                        <a:t>6,700 (33%)</a:t>
                      </a:r>
                    </a:p>
                  </a:txBody>
                  <a:tcPr marL="91440" marR="91440" marT="45720" marB="45720" anchor="ctr">
                    <a:solidFill>
                      <a:srgbClr val="1A2742"/>
                    </a:solidFill>
                  </a:tcPr>
                </a:tc>
                <a:tc>
                  <a:txBody>
                    <a:bodyPr wrap="square"/>
                    <a:lstStyle/>
                    <a:p>
                      <a:r>
                        <a:rPr sz="1200" b="0">
                          <a:solidFill>
                            <a:srgbClr val="FFFFFF"/>
                          </a:solidFill>
                          <a:latin typeface="Inter"/>
                        </a:rPr>
                        <a:t>gpt-4.1-nano</a:t>
                      </a:r>
                    </a:p>
                  </a:txBody>
                  <a:tcPr marL="91440" marR="91440" marT="45720" marB="45720" anchor="ctr">
                    <a:solidFill>
                      <a:srgbClr val="1A2742"/>
                    </a:solidFill>
                  </a:tcPr>
                </a:tc>
              </a:tr>
              <a:tr h="384048">
                <a:tc>
                  <a:txBody>
                    <a:bodyPr wrap="square"/>
                    <a:lstStyle/>
                    <a:p>
                      <a:r>
                        <a:rPr sz="1200" b="1">
                          <a:solidFill>
                            <a:srgbClr val="FFFFFF"/>
                          </a:solidFill>
                          <a:latin typeface="Inter"/>
                        </a:rPr>
                        <a:t>policy questions (</a:t>
                      </a:r>
                      <a:r>
                        <a:rPr sz="1104" b="0">
                          <a:solidFill>
                            <a:srgbClr val="00D4AA"/>
                          </a:solidFill>
                          <a:latin typeface="JetBrains Mono"/>
                        </a:rPr>
                        <a:t>general</a:t>
                      </a:r>
                      <a:r>
                        <a:rPr sz="1200" b="1">
                          <a:solidFill>
                            <a:srgbClr val="FFFFFF"/>
                          </a:solidFill>
                          <a:latin typeface="Inter"/>
                        </a:rPr>
                        <a:t>, </a:t>
                      </a:r>
                      <a:r>
                        <a:rPr sz="1104" b="0">
                          <a:solidFill>
                            <a:srgbClr val="00D4AA"/>
                          </a:solidFill>
                          <a:latin typeface="JetBrains Mono"/>
                        </a:rPr>
                        <a:t>payroll</a:t>
                      </a:r>
                      <a:r>
                        <a:rPr sz="1200" b="1">
                          <a:solidFill>
                            <a:srgbClr val="FFFFFF"/>
                          </a:solidFill>
                          <a:latin typeface="Inter"/>
                        </a:rPr>
                        <a:t>, </a:t>
                      </a:r>
                      <a:r>
                        <a:rPr sz="1104" b="0">
                          <a:solidFill>
                            <a:srgbClr val="00D4AA"/>
                          </a:solidFill>
                          <a:latin typeface="JetBrains Mono"/>
                        </a:rPr>
                        <a:t>leave</a:t>
                      </a:r>
                      <a:r>
                        <a:rPr sz="1200" b="1">
                          <a:solidFill>
                            <a:srgbClr val="FFFFFF"/>
                          </a:solidFill>
                          <a:latin typeface="Inter"/>
                        </a:rPr>
                        <a:t>, </a:t>
                      </a:r>
                      <a:r>
                        <a:rPr sz="1104" b="0">
                          <a:solidFill>
                            <a:srgbClr val="00D4AA"/>
                          </a:solidFill>
                          <a:latin typeface="JetBrains Mono"/>
                        </a:rPr>
                        <a:t>vpn</a:t>
                      </a:r>
                      <a:r>
                        <a:rPr sz="1200" b="1">
                          <a:solidFill>
                            <a:srgbClr val="FFFFFF"/>
                          </a:solidFill>
                          <a:latin typeface="Inter"/>
                        </a:rPr>
                        <a:t>, ...) and </a:t>
                      </a:r>
                      <a:r>
                        <a:rPr sz="1104" b="0">
                          <a:solidFill>
                            <a:srgbClr val="00D4AA"/>
                          </a:solidFill>
                          <a:latin typeface="JetBrains Mono"/>
                        </a:rPr>
                        <a:t>password_reset</a:t>
                      </a:r>
                    </a:p>
                  </a:txBody>
                  <a:tcPr marL="91440" marR="91440" marT="45720" marB="45720" anchor="ctr">
                    <a:solidFill>
                      <a:srgbClr val="0F1E35"/>
                    </a:solidFill>
                  </a:tcPr>
                </a:tc>
                <a:tc>
                  <a:txBody>
                    <a:bodyPr wrap="square"/>
                    <a:lstStyle/>
                    <a:p>
                      <a:r>
                        <a:rPr sz="1200" b="0">
                          <a:solidFill>
                            <a:srgbClr val="FFFFFF"/>
                          </a:solidFill>
                          <a:latin typeface="Inter"/>
                        </a:rPr>
                        <a:t>13,344 (66%)</a:t>
                      </a:r>
                    </a:p>
                  </a:txBody>
                  <a:tcPr marL="91440" marR="91440" marT="45720" marB="45720" anchor="ctr">
                    <a:solidFill>
                      <a:srgbClr val="0F1E35"/>
                    </a:solidFill>
                  </a:tcPr>
                </a:tc>
                <a:tc>
                  <a:txBody>
                    <a:bodyPr wrap="square"/>
                    <a:lstStyle/>
                    <a:p>
                      <a:r>
                        <a:rPr sz="1200" b="0">
                          <a:solidFill>
                            <a:srgbClr val="FFFFFF"/>
                          </a:solidFill>
                          <a:latin typeface="Inter"/>
                        </a:rPr>
                        <a:t>gpt-4.1-mini</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escalation</a:t>
                      </a:r>
                      <a:r>
                        <a:rPr sz="1200" b="1">
                          <a:solidFill>
                            <a:srgbClr val="FFFFFF"/>
                          </a:solidFill>
                          <a:latin typeface="Inter"/>
                        </a:rPr>
                        <a:t> (starts on gpt-4.1, so the replay reports 0 </a:t>
                      </a:r>
                      <a:r>
                        <a:rPr sz="1104" b="0">
                          <a:solidFill>
                            <a:srgbClr val="00D4AA"/>
                          </a:solidFill>
                          <a:latin typeface="JetBrains Mono"/>
                        </a:rPr>
                        <a:t>escalated</a:t>
                      </a:r>
                      <a:r>
                        <a:rPr sz="1200" b="1">
                          <a:solidFill>
                            <a:srgbClr val="FFFFFF"/>
                          </a:solidFill>
                          <a:latin typeface="Inter"/>
                        </a:rPr>
                        <a:t> outcomes)</a:t>
                      </a:r>
                    </a:p>
                  </a:txBody>
                  <a:tcPr marL="91440" marR="91440" marT="45720" marB="45720" anchor="ctr">
                    <a:solidFill>
                      <a:srgbClr val="1A2742"/>
                    </a:solidFill>
                  </a:tcPr>
                </a:tc>
                <a:tc>
                  <a:txBody>
                    <a:bodyPr wrap="square"/>
                    <a:lstStyle/>
                    <a:p>
                      <a:r>
                        <a:rPr sz="1200" b="0">
                          <a:solidFill>
                            <a:srgbClr val="FFFFFF"/>
                          </a:solidFill>
                          <a:latin typeface="Inter"/>
                        </a:rPr>
                        <a:t>43 (0.2%)</a:t>
                      </a:r>
                    </a:p>
                  </a:txBody>
                  <a:tcPr marL="91440" marR="91440" marT="45720" marB="45720" anchor="ctr">
                    <a:solidFill>
                      <a:srgbClr val="1A2742"/>
                    </a:solidFill>
                  </a:tcPr>
                </a:tc>
                <a:tc>
                  <a:txBody>
                    <a:bodyPr wrap="square"/>
                    <a:lstStyle/>
                    <a:p>
                      <a:r>
                        <a:rPr sz="1200" b="0">
                          <a:solidFill>
                            <a:srgbClr val="FFFFFF"/>
                          </a:solidFill>
                          <a:latin typeface="Inter"/>
                        </a:rPr>
                        <a:t>gpt-4.1</a:t>
                      </a:r>
                    </a:p>
                  </a:txBody>
                  <a:tcPr marL="91440" marR="91440" marT="45720" marB="45720" anchor="ctr">
                    <a:solidFill>
                      <a:srgbClr val="1A2742"/>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Did quality hold?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Judge </a:t>
            </a:r>
            <a:r>
              <a:rPr sz="1656" b="0">
                <a:solidFill>
                  <a:srgbClr val="00D4AA"/>
                </a:solidFill>
                <a:latin typeface="JetBrains Mono"/>
              </a:rPr>
              <a:t>resolved</a:t>
            </a:r>
            <a:r>
              <a:rPr sz="1800" b="0">
                <a:solidFill>
                  <a:srgbClr val="FFFFFF"/>
                </a:solidFill>
                <a:latin typeface="Inter"/>
              </a:rPr>
              <a:t> on the replay: 0.892 before, 0.892 after; </a:t>
            </a:r>
            <a:r>
              <a:rPr sz="1656" b="0">
                <a:solidFill>
                  <a:srgbClr val="00D4AA"/>
                </a:solidFill>
                <a:latin typeface="JetBrains Mono"/>
              </a:rPr>
              <a:t>grounded</a:t>
            </a:r>
            <a:r>
              <a:rPr sz="1800" b="0">
                <a:solidFill>
                  <a:srgbClr val="FFFFFF"/>
                </a:solidFill>
                <a:latin typeface="Inter"/>
              </a:rPr>
              <a:t> 0.943 both</a:t>
            </a:r>
          </a:p>
          <a:p>
            <a:pPr marL="292608" indent="-292608">
              <a:lnSpc>
                <a:spcPct val="120000"/>
              </a:lnSpc>
              <a:spcAft>
                <a:spcPts val="1260"/>
              </a:spcAft>
              <a:buClr>
                <a:srgbClr val="00D4AA"/>
              </a:buClr>
              <a:buFont typeface="Inter"/>
              <a:buChar char="•"/>
            </a:pPr>
            <a:r>
              <a:rPr sz="1800" b="0">
                <a:solidFill>
                  <a:srgbClr val="FFFFFF"/>
                </a:solidFill>
                <a:latin typeface="Inter"/>
              </a:rPr>
              <a:t>6,700 generations that used to run on mini ran on nano at the same score</a:t>
            </a:r>
          </a:p>
          <a:p>
            <a:pPr marL="292608" indent="-292608">
              <a:lnSpc>
                <a:spcPct val="120000"/>
              </a:lnSpc>
              <a:spcAft>
                <a:spcPts val="1260"/>
              </a:spcAft>
              <a:buClr>
                <a:srgbClr val="00D4AA"/>
              </a:buClr>
              <a:buFont typeface="Inter"/>
              <a:buChar char="•"/>
            </a:pPr>
            <a:r>
              <a:rPr sz="1800" b="0">
                <a:solidFill>
                  <a:srgbClr val="FFFFFF"/>
                </a:solidFill>
                <a:latin typeface="Inter"/>
              </a:rPr>
              <a:t>Routing moved the cheap model to where it changed nothing but the bill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Simple intents go to gpt-4.1-nano</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Budget's degrade decision always wins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day: $56.28 becomes $47.07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Budgets and anomaly alerts per tenant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Three levers, each measured.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Budgets and anomaly alerts per tenant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Give every tenant a daily budget with a soft cap that degrades and a hard cap that refuses politely, and flag 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caps and a detector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Soft cap ($25 by default, rolling 24 h): degrade. Nano model, top-k 2. Users barely notice.</a:t>
            </a:r>
          </a:p>
          <a:p>
            <a:pPr marL="292608" indent="-292608">
              <a:lnSpc>
                <a:spcPct val="120000"/>
              </a:lnSpc>
              <a:spcAft>
                <a:spcPts val="1260"/>
              </a:spcAft>
              <a:buClr>
                <a:srgbClr val="00D4AA"/>
              </a:buClr>
              <a:buFont typeface="Inter"/>
              <a:buChar char="•"/>
            </a:pPr>
            <a:r>
              <a:rPr sz="1800" b="0">
                <a:solidFill>
                  <a:srgbClr val="FFFFFF"/>
                </a:solidFill>
                <a:latin typeface="Inter"/>
              </a:rPr>
              <a:t>Hard cap ($40 by default): refuse politely, before any model call. "Atlas has reached the budget for your department today; please open a ticket."</a:t>
            </a:r>
          </a:p>
          <a:p>
            <a:pPr marL="292608" indent="-292608">
              <a:lnSpc>
                <a:spcPct val="120000"/>
              </a:lnSpc>
              <a:spcAft>
                <a:spcPts val="1260"/>
              </a:spcAft>
              <a:buClr>
                <a:srgbClr val="00D4AA"/>
              </a:buClr>
              <a:buFont typeface="Inter"/>
              <a:buChar char="•"/>
            </a:pPr>
            <a:r>
              <a:rPr sz="1800" b="0">
                <a:solidFill>
                  <a:srgbClr val="FFFFFF"/>
                </a:solidFill>
                <a:latin typeface="Inter"/>
              </a:rPr>
              <a:t>EWMA anomaly: each request's cost vs. the tenant's smoothed history; </a:t>
            </a:r>
            <a:r>
              <a:rPr sz="1656" b="0">
                <a:solidFill>
                  <a:srgbClr val="00D4AA"/>
                </a:solidFill>
                <a:latin typeface="JetBrains Mono"/>
              </a:rPr>
              <a:t>BudgetDecision.anomaly</a:t>
            </a:r>
            <a:r>
              <a:rPr sz="1800" b="0">
                <a:solidFill>
                  <a:srgbClr val="FFFFFF"/>
                </a:solidFill>
                <a:latin typeface="Inter"/>
              </a:rPr>
              <a:t> is true above 3 standard deviations</a:t>
            </a:r>
          </a:p>
          <a:p>
            <a:pPr marL="292608" indent="-292608">
              <a:lnSpc>
                <a:spcPct val="120000"/>
              </a:lnSpc>
              <a:spcAft>
                <a:spcPts val="1260"/>
              </a:spcAft>
              <a:buClr>
                <a:srgbClr val="00D4AA"/>
              </a:buClr>
              <a:buFont typeface="Inter"/>
              <a:buChar char="•"/>
            </a:pPr>
            <a:r>
              <a:rPr sz="1800" b="0">
                <a:solidFill>
                  <a:srgbClr val="FFFFFF"/>
                </a:solidFill>
                <a:latin typeface="Inter"/>
              </a:rPr>
              <a:t>Everything emits a counter: </a:t>
            </a:r>
            <a:r>
              <a:rPr sz="1656" b="0">
                <a:solidFill>
                  <a:srgbClr val="00D4AA"/>
                </a:solidFill>
                <a:latin typeface="JetBrains Mono"/>
              </a:rPr>
              <a:t>atlas_budget_decisions_total{tenant, decision}</a:t>
            </a:r>
            <a:r>
              <a:rPr sz="1800" b="0">
                <a:solidFill>
                  <a:srgbClr val="FFFFFF"/>
                </a:solidFill>
                <a:latin typeface="Inter"/>
              </a:rPr>
              <a:t>, plus the gauge </a:t>
            </a:r>
            <a:r>
              <a:rPr sz="1656" b="0">
                <a:solidFill>
                  <a:srgbClr val="00D4AA"/>
                </a:solidFill>
                <a:latin typeface="JetBrains Mono"/>
              </a:rPr>
              <a:t>atlas_budget_spent_usd{tenant}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LiteLLM </a:t>
            </a:r>
            <a:r>
              <a:rPr sz="2392" b="0">
                <a:solidFill>
                  <a:srgbClr val="00D4AA"/>
                </a:solidFill>
                <a:latin typeface="JetBrains Mono"/>
              </a:rPr>
              <a:t>BudgetManager</a:t>
            </a:r>
            <a:r>
              <a:rPr sz="2600" b="1">
                <a:solidFill>
                  <a:srgbClr val="FFFFFF"/>
                </a:solidFill>
                <a:latin typeface="Inter"/>
              </a:rPr>
              <a:t> (concept) vs our </a:t>
            </a:r>
            <a:r>
              <a:rPr sz="2392" b="0">
                <a:solidFill>
                  <a:srgbClr val="00D4AA"/>
                </a:solidFill>
                <a:latin typeface="JetBrains Mono"/>
              </a:rPr>
              <a:t>budget.py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BudgetManager(project_name=...)</a:t>
            </a:r>
            <a:r>
              <a:rPr sz="1800" b="0">
                <a:solidFill>
                  <a:srgbClr val="FFFFFF"/>
                </a:solidFill>
                <a:latin typeface="Inter"/>
              </a:rPr>
              <a:t>: </a:t>
            </a:r>
            <a:r>
              <a:rPr sz="1656" b="0">
                <a:solidFill>
                  <a:srgbClr val="00D4AA"/>
                </a:solidFill>
                <a:latin typeface="JetBrains Mono"/>
              </a:rPr>
              <a:t>create_budget(total_budget, user, duration)</a:t>
            </a:r>
            <a:r>
              <a:rPr sz="1800" b="0">
                <a:solidFill>
                  <a:srgbClr val="FFFFFF"/>
                </a:solidFill>
                <a:latin typeface="Inter"/>
              </a:rPr>
              <a:t>, </a:t>
            </a:r>
            <a:r>
              <a:rPr sz="1656" b="0">
                <a:solidFill>
                  <a:srgbClr val="00D4AA"/>
                </a:solidFill>
                <a:latin typeface="JetBrains Mono"/>
              </a:rPr>
              <a:t>update_cost(...)</a:t>
            </a:r>
            <a:r>
              <a:rPr sz="1800" b="0">
                <a:solidFill>
                  <a:srgbClr val="FFFFFF"/>
                </a:solidFill>
                <a:latin typeface="Inter"/>
              </a:rPr>
              <a:t>, </a:t>
            </a:r>
            <a:r>
              <a:rPr sz="1656" b="0">
                <a:solidFill>
                  <a:srgbClr val="00D4AA"/>
                </a:solidFill>
                <a:latin typeface="JetBrains Mono"/>
              </a:rPr>
              <a:t>get_current_cost(user)</a:t>
            </a:r>
            <a:r>
              <a:rPr sz="1800" b="0">
                <a:solidFill>
                  <a:srgbClr val="FFFFFF"/>
                </a:solidFill>
                <a:latin typeface="Inter"/>
              </a:rPr>
              <a:t>, </a:t>
            </a:r>
            <a:r>
              <a:rPr sz="1656" b="0">
                <a:solidFill>
                  <a:srgbClr val="00D4AA"/>
                </a:solidFill>
                <a:latin typeface="JetBrains Mono"/>
              </a:rPr>
              <a:t>projected_cost(...)</a:t>
            </a:r>
          </a:p>
          <a:p>
            <a:pPr marL="292608" indent="-292608">
              <a:lnSpc>
                <a:spcPct val="120000"/>
              </a:lnSpc>
              <a:spcAft>
                <a:spcPts val="1260"/>
              </a:spcAft>
              <a:buClr>
                <a:srgbClr val="00D4AA"/>
              </a:buClr>
              <a:buFont typeface="Inter"/>
              <a:buChar char="•"/>
            </a:pPr>
            <a:r>
              <a:rPr sz="1800" b="0">
                <a:solidFill>
                  <a:srgbClr val="FFFFFF"/>
                </a:solidFill>
                <a:latin typeface="Inter"/>
              </a:rPr>
              <a:t>Great for per-user caps on a LiteLLM gateway</a:t>
            </a:r>
          </a:p>
          <a:p>
            <a:pPr marL="292608" indent="-292608">
              <a:lnSpc>
                <a:spcPct val="120000"/>
              </a:lnSpc>
              <a:spcAft>
                <a:spcPts val="1260"/>
              </a:spcAft>
              <a:buClr>
                <a:srgbClr val="00D4AA"/>
              </a:buClr>
              <a:buFont typeface="Inter"/>
              <a:buChar char="•"/>
            </a:pPr>
            <a:r>
              <a:rPr sz="1800" b="0">
                <a:solidFill>
                  <a:srgbClr val="FFFFFF"/>
                </a:solidFill>
                <a:latin typeface="Inter"/>
              </a:rPr>
              <a:t>Atlas needs: per-tenant, soft and hard levels, degraded mode, anomaly detection, offline tests</a:t>
            </a:r>
          </a:p>
          <a:p>
            <a:pPr marL="292608" indent="-292608">
              <a:lnSpc>
                <a:spcPct val="120000"/>
              </a:lnSpc>
              <a:spcAft>
                <a:spcPts val="1260"/>
              </a:spcAft>
              <a:buClr>
                <a:srgbClr val="00D4AA"/>
              </a:buClr>
              <a:buFont typeface="Inter"/>
              <a:buChar char="•"/>
            </a:pPr>
            <a:r>
              <a:rPr sz="1800" b="0">
                <a:solidFill>
                  <a:srgbClr val="FFFFFF"/>
                </a:solidFill>
                <a:latin typeface="Inter"/>
              </a:rPr>
              <a:t>So: same idea, our own </a:t>
            </a:r>
            <a:r>
              <a:rPr sz="1656" b="0">
                <a:solidFill>
                  <a:srgbClr val="00D4AA"/>
                </a:solidFill>
                <a:latin typeface="JetBrains Mono"/>
              </a:rPr>
              <a:t>budget.py</a:t>
            </a:r>
            <a:r>
              <a:rPr sz="1800" b="0">
                <a:solidFill>
                  <a:srgbClr val="FFFFFF"/>
                </a:solidFill>
                <a:latin typeface="Inter"/>
              </a:rPr>
              <a:t>, about 250 lines, unit-tested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Setting the budgets (from the showback, 6.3)</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194560"/>
        </p:xfrm>
        <a:graphic>
          <a:graphicData uri="http://schemas.openxmlformats.org/drawingml/2006/table">
            <a:tbl>
              <a:tblPr firstRow="1" bandRow="1">
                <a:tableStyleId>{5C22544A-7EE6-4342-B048-85BDC9FD1C3A}</a:tableStyleId>
              </a:tblPr>
              <a:tblGrid>
                <a:gridCol w="988123"/>
                <a:gridCol w="1693925"/>
                <a:gridCol w="3105531"/>
                <a:gridCol w="3529012"/>
                <a:gridCol w="1976247"/>
              </a:tblGrid>
              <a:tr h="438912">
                <a:tc>
                  <a:txBody>
                    <a:bodyPr wrap="square"/>
                    <a:lstStyle/>
                    <a:p>
                      <a:r>
                        <a:rPr sz="1400" b="1">
                          <a:solidFill>
                            <a:srgbClr val="0A1628"/>
                          </a:solidFill>
                          <a:latin typeface="Inter"/>
                        </a:rPr>
                        <a:t>Tenant</a:t>
                      </a:r>
                    </a:p>
                  </a:txBody>
                  <a:tcPr marL="91440" marR="91440" marT="45720" marB="45720" anchor="ctr">
                    <a:solidFill>
                      <a:srgbClr val="00D4AA"/>
                    </a:solidFill>
                  </a:tcPr>
                </a:tc>
                <a:tc>
                  <a:txBody>
                    <a:bodyPr wrap="square"/>
                    <a:lstStyle/>
                    <a:p>
                      <a:r>
                        <a:rPr sz="1400" b="1">
                          <a:solidFill>
                            <a:srgbClr val="0A1628"/>
                          </a:solidFill>
                          <a:latin typeface="Inter"/>
                        </a:rPr>
                        <a:t>Baseline day</a:t>
                      </a:r>
                    </a:p>
                  </a:txBody>
                  <a:tcPr marL="91440" marR="91440" marT="45720" marB="45720" anchor="ctr">
                    <a:solidFill>
                      <a:srgbClr val="00D4AA"/>
                    </a:solidFill>
                  </a:tcPr>
                </a:tc>
                <a:tc>
                  <a:txBody>
                    <a:bodyPr wrap="square"/>
                    <a:lstStyle/>
                    <a:p>
                      <a:r>
                        <a:rPr sz="1400" b="1">
                          <a:solidFill>
                            <a:srgbClr val="0A1628"/>
                          </a:solidFill>
                          <a:latin typeface="Inter"/>
                        </a:rPr>
                        <a:t>After the three levers</a:t>
                      </a:r>
                    </a:p>
                  </a:txBody>
                  <a:tcPr marL="91440" marR="91440" marT="45720" marB="45720" anchor="ctr">
                    <a:solidFill>
                      <a:srgbClr val="00D4AA"/>
                    </a:solidFill>
                  </a:tcPr>
                </a:tc>
                <a:tc>
                  <a:txBody>
                    <a:bodyPr wrap="square"/>
                    <a:lstStyle/>
                    <a:p>
                      <a:r>
                        <a:rPr sz="1400" b="1">
                          <a:solidFill>
                            <a:srgbClr val="0A1628"/>
                          </a:solidFill>
                          <a:latin typeface="Inter"/>
                        </a:rPr>
                        <a:t>Daily budget (1.5× after)</a:t>
                      </a:r>
                    </a:p>
                  </a:txBody>
                  <a:tcPr marL="91440" marR="91440" marT="45720" marB="45720" anchor="ctr">
                    <a:solidFill>
                      <a:srgbClr val="00D4AA"/>
                    </a:solidFill>
                  </a:tcPr>
                </a:tc>
                <a:tc>
                  <a:txBody>
                    <a:bodyPr wrap="square"/>
                    <a:lstStyle/>
                    <a:p>
                      <a:r>
                        <a:rPr sz="1400" b="1">
                          <a:solidFill>
                            <a:srgbClr val="0A1628"/>
                          </a:solidFill>
                          <a:latin typeface="Inter"/>
                        </a:rPr>
                        <a:t>Soft cap (80%)</a:t>
                      </a:r>
                    </a:p>
                  </a:txBody>
                  <a:tcPr marL="91440" marR="91440" marT="45720" marB="45720" anchor="ctr">
                    <a:solidFill>
                      <a:srgbClr val="00D4AA"/>
                    </a:solidFill>
                  </a:tcPr>
                </a:tc>
              </a:tr>
              <a:tr h="438912">
                <a:tc>
                  <a:txBody>
                    <a:bodyPr wrap="square"/>
                    <a:lstStyle/>
                    <a:p>
                      <a:r>
                        <a:rPr sz="1400" b="1">
                          <a:solidFill>
                            <a:srgbClr val="FFFFFF"/>
                          </a:solidFill>
                          <a:latin typeface="Inter"/>
                        </a:rPr>
                        <a:t>ops</a:t>
                      </a:r>
                    </a:p>
                  </a:txBody>
                  <a:tcPr marL="91440" marR="91440" marT="45720" marB="45720" anchor="ctr">
                    <a:solidFill>
                      <a:srgbClr val="1A2742"/>
                    </a:solidFill>
                  </a:tcPr>
                </a:tc>
                <a:tc>
                  <a:txBody>
                    <a:bodyPr wrap="square"/>
                    <a:lstStyle/>
                    <a:p>
                      <a:r>
                        <a:rPr sz="1400" b="0">
                          <a:solidFill>
                            <a:srgbClr val="FFFFFF"/>
                          </a:solidFill>
                          <a:latin typeface="Inter"/>
                        </a:rPr>
                        <a:t>$20.27</a:t>
                      </a:r>
                    </a:p>
                  </a:txBody>
                  <a:tcPr marL="91440" marR="91440" marT="45720" marB="45720" anchor="ctr">
                    <a:solidFill>
                      <a:srgbClr val="1A2742"/>
                    </a:solidFill>
                  </a:tcPr>
                </a:tc>
                <a:tc>
                  <a:txBody>
                    <a:bodyPr wrap="square"/>
                    <a:lstStyle/>
                    <a:p>
                      <a:r>
                        <a:rPr sz="1400" b="0">
                          <a:solidFill>
                            <a:srgbClr val="FFFFFF"/>
                          </a:solidFill>
                          <a:latin typeface="Inter"/>
                        </a:rPr>
                        <a:t>$5.97</a:t>
                      </a:r>
                    </a:p>
                  </a:txBody>
                  <a:tcPr marL="91440" marR="91440" marT="45720" marB="45720" anchor="ctr">
                    <a:solidFill>
                      <a:srgbClr val="1A2742"/>
                    </a:solidFill>
                  </a:tcPr>
                </a:tc>
                <a:tc>
                  <a:txBody>
                    <a:bodyPr wrap="square"/>
                    <a:lstStyle/>
                    <a:p>
                      <a:r>
                        <a:rPr sz="1400" b="0">
                          <a:solidFill>
                            <a:srgbClr val="FFFFFF"/>
                          </a:solidFill>
                          <a:latin typeface="Inter"/>
                        </a:rPr>
                        <a:t>$9.00</a:t>
                      </a:r>
                    </a:p>
                  </a:txBody>
                  <a:tcPr marL="91440" marR="91440" marT="45720" marB="45720" anchor="ctr">
                    <a:solidFill>
                      <a:srgbClr val="1A2742"/>
                    </a:solidFill>
                  </a:tcPr>
                </a:tc>
                <a:tc>
                  <a:txBody>
                    <a:bodyPr wrap="square"/>
                    <a:lstStyle/>
                    <a:p>
                      <a:r>
                        <a:rPr sz="1400" b="0">
                          <a:solidFill>
                            <a:srgbClr val="FFFFFF"/>
                          </a:solidFill>
                          <a:latin typeface="Inter"/>
                        </a:rPr>
                        <a:t>$7.20</a:t>
                      </a:r>
                    </a:p>
                  </a:txBody>
                  <a:tcPr marL="91440" marR="91440" marT="45720" marB="45720" anchor="ctr">
                    <a:solidFill>
                      <a:srgbClr val="1A2742"/>
                    </a:solidFill>
                  </a:tcPr>
                </a:tc>
              </a:tr>
              <a:tr h="438912">
                <a:tc>
                  <a:txBody>
                    <a:bodyPr wrap="square"/>
                    <a:lstStyle/>
                    <a:p>
                      <a:r>
                        <a:rPr sz="1400" b="1">
                          <a:solidFill>
                            <a:srgbClr val="FFFFFF"/>
                          </a:solidFill>
                          <a:latin typeface="Inter"/>
                        </a:rPr>
                        <a:t>eng</a:t>
                      </a:r>
                    </a:p>
                  </a:txBody>
                  <a:tcPr marL="91440" marR="91440" marT="45720" marB="45720" anchor="ctr">
                    <a:solidFill>
                      <a:srgbClr val="0F1E35"/>
                    </a:solidFill>
                  </a:tcPr>
                </a:tc>
                <a:tc>
                  <a:txBody>
                    <a:bodyPr wrap="square"/>
                    <a:lstStyle/>
                    <a:p>
                      <a:r>
                        <a:rPr sz="1400" b="0">
                          <a:solidFill>
                            <a:srgbClr val="FFFFFF"/>
                          </a:solidFill>
                          <a:latin typeface="Inter"/>
                        </a:rPr>
                        <a:t>$12.50</a:t>
                      </a:r>
                    </a:p>
                  </a:txBody>
                  <a:tcPr marL="91440" marR="91440" marT="45720" marB="45720" anchor="ctr">
                    <a:solidFill>
                      <a:srgbClr val="0F1E35"/>
                    </a:solidFill>
                  </a:tcPr>
                </a:tc>
                <a:tc>
                  <a:txBody>
                    <a:bodyPr wrap="square"/>
                    <a:lstStyle/>
                    <a:p>
                      <a:r>
                        <a:rPr sz="1400" b="0">
                          <a:solidFill>
                            <a:srgbClr val="FFFFFF"/>
                          </a:solidFill>
                          <a:latin typeface="Inter"/>
                        </a:rPr>
                        <a:t>$4.32</a:t>
                      </a:r>
                    </a:p>
                  </a:txBody>
                  <a:tcPr marL="91440" marR="91440" marT="45720" marB="45720" anchor="ctr">
                    <a:solidFill>
                      <a:srgbClr val="0F1E35"/>
                    </a:solidFill>
                  </a:tcPr>
                </a:tc>
                <a:tc>
                  <a:txBody>
                    <a:bodyPr wrap="square"/>
                    <a:lstStyle/>
                    <a:p>
                      <a:r>
                        <a:rPr sz="1400" b="0">
                          <a:solidFill>
                            <a:srgbClr val="FFFFFF"/>
                          </a:solidFill>
                          <a:latin typeface="Inter"/>
                        </a:rPr>
                        <a:t>$6.50</a:t>
                      </a:r>
                    </a:p>
                  </a:txBody>
                  <a:tcPr marL="91440" marR="91440" marT="45720" marB="45720" anchor="ctr">
                    <a:solidFill>
                      <a:srgbClr val="0F1E35"/>
                    </a:solidFill>
                  </a:tcPr>
                </a:tc>
                <a:tc>
                  <a:txBody>
                    <a:bodyPr wrap="square"/>
                    <a:lstStyle/>
                    <a:p>
                      <a:r>
                        <a:rPr sz="1400" b="0">
                          <a:solidFill>
                            <a:srgbClr val="FFFFFF"/>
                          </a:solidFill>
                          <a:latin typeface="Inter"/>
                        </a:rPr>
                        <a:t>$5.20</a:t>
                      </a:r>
                    </a:p>
                  </a:txBody>
                  <a:tcPr marL="91440" marR="91440" marT="45720" marB="45720" anchor="ctr">
                    <a:solidFill>
                      <a:srgbClr val="0F1E35"/>
                    </a:solidFill>
                  </a:tcPr>
                </a:tc>
              </a:tr>
              <a:tr h="438912">
                <a:tc>
                  <a:txBody>
                    <a:bodyPr wrap="square"/>
                    <a:lstStyle/>
                    <a:p>
                      <a:r>
                        <a:rPr sz="1400" b="1">
                          <a:solidFill>
                            <a:srgbClr val="FFFFFF"/>
                          </a:solidFill>
                          <a:latin typeface="Inter"/>
                        </a:rPr>
                        <a:t>finance</a:t>
                      </a:r>
                    </a:p>
                  </a:txBody>
                  <a:tcPr marL="91440" marR="91440" marT="45720" marB="45720" anchor="ctr">
                    <a:solidFill>
                      <a:srgbClr val="1A2742"/>
                    </a:solidFill>
                  </a:tcPr>
                </a:tc>
                <a:tc>
                  <a:txBody>
                    <a:bodyPr wrap="square"/>
                    <a:lstStyle/>
                    <a:p>
                      <a:r>
                        <a:rPr sz="1400" b="0">
                          <a:solidFill>
                            <a:srgbClr val="FFFFFF"/>
                          </a:solidFill>
                          <a:latin typeface="Inter"/>
                        </a:rPr>
                        <a:t>$11.91</a:t>
                      </a:r>
                    </a:p>
                  </a:txBody>
                  <a:tcPr marL="91440" marR="91440" marT="45720" marB="45720" anchor="ctr">
                    <a:solidFill>
                      <a:srgbClr val="1A2742"/>
                    </a:solidFill>
                  </a:tcPr>
                </a:tc>
                <a:tc>
                  <a:txBody>
                    <a:bodyPr wrap="square"/>
                    <a:lstStyle/>
                    <a:p>
                      <a:r>
                        <a:rPr sz="1400" b="0">
                          <a:solidFill>
                            <a:srgbClr val="FFFFFF"/>
                          </a:solidFill>
                          <a:latin typeface="Inter"/>
                        </a:rPr>
                        <a:t>$4.49</a:t>
                      </a:r>
                    </a:p>
                  </a:txBody>
                  <a:tcPr marL="91440" marR="91440" marT="45720" marB="45720" anchor="ctr">
                    <a:solidFill>
                      <a:srgbClr val="1A2742"/>
                    </a:solidFill>
                  </a:tcPr>
                </a:tc>
                <a:tc>
                  <a:txBody>
                    <a:bodyPr wrap="square"/>
                    <a:lstStyle/>
                    <a:p>
                      <a:r>
                        <a:rPr sz="1400" b="0">
                          <a:solidFill>
                            <a:srgbClr val="FFFFFF"/>
                          </a:solidFill>
                          <a:latin typeface="Inter"/>
                        </a:rPr>
                        <a:t>$6.75</a:t>
                      </a:r>
                    </a:p>
                  </a:txBody>
                  <a:tcPr marL="91440" marR="91440" marT="45720" marB="45720" anchor="ctr">
                    <a:solidFill>
                      <a:srgbClr val="1A2742"/>
                    </a:solidFill>
                  </a:tcPr>
                </a:tc>
                <a:tc>
                  <a:txBody>
                    <a:bodyPr wrap="square"/>
                    <a:lstStyle/>
                    <a:p>
                      <a:r>
                        <a:rPr sz="1400" b="0">
                          <a:solidFill>
                            <a:srgbClr val="FFFFFF"/>
                          </a:solidFill>
                          <a:latin typeface="Inter"/>
                        </a:rPr>
                        <a:t>$5.40</a:t>
                      </a:r>
                    </a:p>
                  </a:txBody>
                  <a:tcPr marL="91440" marR="91440" marT="45720" marB="45720" anchor="ctr">
                    <a:solidFill>
                      <a:srgbClr val="1A2742"/>
                    </a:solidFill>
                  </a:tcPr>
                </a:tc>
              </a:tr>
              <a:tr h="438912">
                <a:tc>
                  <a:txBody>
                    <a:bodyPr wrap="square"/>
                    <a:lstStyle/>
                    <a:p>
                      <a:r>
                        <a:rPr sz="1400" b="1">
                          <a:solidFill>
                            <a:srgbClr val="FFFFFF"/>
                          </a:solidFill>
                          <a:latin typeface="Inter"/>
                        </a:rPr>
                        <a:t>hr</a:t>
                      </a:r>
                    </a:p>
                  </a:txBody>
                  <a:tcPr marL="91440" marR="91440" marT="45720" marB="45720" anchor="ctr">
                    <a:solidFill>
                      <a:srgbClr val="0F1E35"/>
                    </a:solidFill>
                  </a:tcPr>
                </a:tc>
                <a:tc>
                  <a:txBody>
                    <a:bodyPr wrap="square"/>
                    <a:lstStyle/>
                    <a:p>
                      <a:r>
                        <a:rPr sz="1400" b="0">
                          <a:solidFill>
                            <a:srgbClr val="FFFFFF"/>
                          </a:solidFill>
                          <a:latin typeface="Inter"/>
                        </a:rPr>
                        <a:t>$11.59</a:t>
                      </a:r>
                    </a:p>
                  </a:txBody>
                  <a:tcPr marL="91440" marR="91440" marT="45720" marB="45720" anchor="ctr">
                    <a:solidFill>
                      <a:srgbClr val="0F1E35"/>
                    </a:solidFill>
                  </a:tcPr>
                </a:tc>
                <a:tc>
                  <a:txBody>
                    <a:bodyPr wrap="square"/>
                    <a:lstStyle/>
                    <a:p>
                      <a:r>
                        <a:rPr sz="1400" b="0">
                          <a:solidFill>
                            <a:srgbClr val="FFFFFF"/>
                          </a:solidFill>
                          <a:latin typeface="Inter"/>
                        </a:rPr>
                        <a:t>$4.28</a:t>
                      </a:r>
                    </a:p>
                  </a:txBody>
                  <a:tcPr marL="91440" marR="91440" marT="45720" marB="45720" anchor="ctr">
                    <a:solidFill>
                      <a:srgbClr val="0F1E35"/>
                    </a:solidFill>
                  </a:tcPr>
                </a:tc>
                <a:tc>
                  <a:txBody>
                    <a:bodyPr wrap="square"/>
                    <a:lstStyle/>
                    <a:p>
                      <a:r>
                        <a:rPr sz="1400" b="0">
                          <a:solidFill>
                            <a:srgbClr val="FFFFFF"/>
                          </a:solidFill>
                          <a:latin typeface="Inter"/>
                        </a:rPr>
                        <a:t>$6.40</a:t>
                      </a:r>
                    </a:p>
                  </a:txBody>
                  <a:tcPr marL="91440" marR="91440" marT="45720" marB="45720" anchor="ctr">
                    <a:solidFill>
                      <a:srgbClr val="0F1E35"/>
                    </a:solidFill>
                  </a:tcPr>
                </a:tc>
                <a:tc>
                  <a:txBody>
                    <a:bodyPr wrap="square"/>
                    <a:lstStyle/>
                    <a:p>
                      <a:r>
                        <a:rPr sz="1400" b="0">
                          <a:solidFill>
                            <a:srgbClr val="FFFFFF"/>
                          </a:solidFill>
                          <a:latin typeface="Inter"/>
                        </a:rPr>
                        <a:t>$5.10</a:t>
                      </a:r>
                    </a:p>
                  </a:txBody>
                  <a:tcPr marL="91440" marR="91440" marT="45720" marB="45720" anchor="ctr">
                    <a:solidFill>
                      <a:srgbClr val="0F1E35"/>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kinds of "abnormal"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BudgetDecision.anomaly</a:t>
            </a:r>
            <a:r>
              <a:rPr sz="1800" b="0">
                <a:solidFill>
                  <a:srgbClr val="FFFFFF"/>
                </a:solidFill>
                <a:latin typeface="Inter"/>
              </a:rPr>
              <a:t>: per request, EWMA, inside the guard; attach it to the span if you want it per trace</a:t>
            </a:r>
          </a:p>
          <a:p>
            <a:pPr marL="292608" indent="-292608">
              <a:lnSpc>
                <a:spcPct val="120000"/>
              </a:lnSpc>
              <a:spcAft>
                <a:spcPts val="1260"/>
              </a:spcAft>
              <a:buClr>
                <a:srgbClr val="00D4AA"/>
              </a:buClr>
              <a:buFont typeface="Inter"/>
              <a:buChar char="•"/>
            </a:pPr>
            <a:r>
              <a:rPr sz="1800" b="0">
                <a:solidFill>
                  <a:srgbClr val="FFFFFF"/>
                </a:solidFill>
                <a:latin typeface="Inter"/>
              </a:rPr>
              <a:t>Console Budgets page: 15-minute bins above 2× the tenant's median cost per request</a:t>
            </a:r>
          </a:p>
          <a:p>
            <a:pPr marL="292608" indent="-292608">
              <a:lnSpc>
                <a:spcPct val="120000"/>
              </a:lnSpc>
              <a:spcAft>
                <a:spcPts val="1260"/>
              </a:spcAft>
              <a:buClr>
                <a:srgbClr val="00D4AA"/>
              </a:buClr>
              <a:buFont typeface="Inter"/>
              <a:buChar char="•"/>
            </a:pPr>
            <a:r>
              <a:rPr sz="1800" b="0">
                <a:solidFill>
                  <a:srgbClr val="FFFFFF"/>
                </a:solidFill>
                <a:latin typeface="Inter"/>
              </a:rPr>
              <a:t>Prometheus (9.5): </a:t>
            </a:r>
            <a:r>
              <a:rPr sz="1656" b="0">
                <a:solidFill>
                  <a:srgbClr val="00D4AA"/>
                </a:solidFill>
                <a:latin typeface="JetBrains Mono"/>
              </a:rPr>
              <a:t>AtlasTenantCostAnomaly</a:t>
            </a:r>
            <a:r>
              <a:rPr sz="1800" b="0">
                <a:solidFill>
                  <a:srgbClr val="FFFFFF"/>
                </a:solidFill>
                <a:latin typeface="Inter"/>
              </a:rPr>
              <a:t>, hourly spend above 2.5× the previous day's average hour</a:t>
            </a:r>
          </a:p>
          <a:p>
            <a:pPr marL="292608" indent="-292608">
              <a:lnSpc>
                <a:spcPct val="120000"/>
              </a:lnSpc>
              <a:spcAft>
                <a:spcPts val="1260"/>
              </a:spcAft>
              <a:buClr>
                <a:srgbClr val="00D4AA"/>
              </a:buClr>
              <a:buFont typeface="Inter"/>
              <a:buChar char="•"/>
            </a:pPr>
            <a:r>
              <a:rPr sz="1800" b="0">
                <a:solidFill>
                  <a:srgbClr val="FFFFFF"/>
                </a:solidFill>
                <a:latin typeface="Inter"/>
              </a:rPr>
              <a:t>All three answer "is this abnormal?"; the caps answer "have we spent the money?"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Soft cap degrades to the nano model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Hard cap refuses politely, before any model call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decision is a Prometheus counter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Challenge: cut Atlas's daily cost by 40%</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now have four measured tools: caching, the diet, routing and budgets.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Challenge: cut Atlas's daily cost by 40%</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Take the $56.28 replayed day below $33.77 using the levers from this section, prove it in the Ops Console, and prove quality…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challenge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Start: </a:t>
            </a:r>
            <a:r>
              <a:rPr sz="1656" b="0">
                <a:solidFill>
                  <a:srgbClr val="00D4AA"/>
                </a:solidFill>
                <a:latin typeface="JetBrains Mono"/>
              </a:rPr>
              <a:t>OFFLINE=1 make replay</a:t>
            </a:r>
            <a:r>
              <a:rPr sz="1800" b="0">
                <a:solidFill>
                  <a:srgbClr val="FFFFFF"/>
                </a:solidFill>
                <a:latin typeface="Inter"/>
              </a:rPr>
              <a:t> on seed 7 → $56.28, resolved 0.892, grounded 0.943</a:t>
            </a:r>
          </a:p>
          <a:p>
            <a:pPr marL="292608" indent="-292608">
              <a:lnSpc>
                <a:spcPct val="120000"/>
              </a:lnSpc>
              <a:spcAft>
                <a:spcPts val="1260"/>
              </a:spcAft>
              <a:buClr>
                <a:srgbClr val="00D4AA"/>
              </a:buClr>
              <a:buFont typeface="Inter"/>
              <a:buChar char="•"/>
            </a:pPr>
            <a:r>
              <a:rPr sz="1800" b="0">
                <a:solidFill>
                  <a:srgbClr val="FFFFFF"/>
                </a:solidFill>
                <a:latin typeface="Inter"/>
              </a:rPr>
              <a:t>Target: ≤ $33.77 (−40%), resolved ≥ 0.872, grounded ≥ 0.923</a:t>
            </a:r>
          </a:p>
          <a:p>
            <a:pPr marL="292608" indent="-292608">
              <a:lnSpc>
                <a:spcPct val="120000"/>
              </a:lnSpc>
              <a:spcAft>
                <a:spcPts val="1260"/>
              </a:spcAft>
              <a:buClr>
                <a:srgbClr val="00D4AA"/>
              </a:buClr>
              <a:buFont typeface="Inter"/>
              <a:buChar char="•"/>
            </a:pPr>
            <a:r>
              <a:rPr sz="1800" b="0">
                <a:solidFill>
                  <a:srgbClr val="FFFFFF"/>
                </a:solidFill>
                <a:latin typeface="Inter"/>
              </a:rPr>
              <a:t>Allowed: anything in </a:t>
            </a:r>
            <a:r>
              <a:rPr sz="1656" b="0">
                <a:solidFill>
                  <a:srgbClr val="00D4AA"/>
                </a:solidFill>
                <a:latin typeface="JetBrains Mono"/>
              </a:rPr>
              <a:t>src/northwind/config.py</a:t>
            </a:r>
            <a:r>
              <a:rPr sz="1800" b="0">
                <a:solidFill>
                  <a:srgbClr val="FFFFFF"/>
                </a:solidFill>
                <a:latin typeface="Inter"/>
              </a:rPr>
              <a:t> and </a:t>
            </a:r>
            <a:r>
              <a:rPr sz="1656" b="0">
                <a:solidFill>
                  <a:srgbClr val="00D4AA"/>
                </a:solidFill>
                <a:latin typeface="JetBrains Mono"/>
              </a:rPr>
              <a:t>app/</a:t>
            </a:r>
            <a:r>
              <a:rPr sz="1800" b="0">
                <a:solidFill>
                  <a:srgbClr val="FFFFFF"/>
                </a:solidFill>
                <a:latin typeface="Inter"/>
              </a:rPr>
              <a:t>: caching, history and tool budgets, top-k, routing thresholds, budgets</a:t>
            </a:r>
          </a:p>
          <a:p>
            <a:pPr marL="292608" indent="-292608">
              <a:lnSpc>
                <a:spcPct val="120000"/>
              </a:lnSpc>
              <a:spcAft>
                <a:spcPts val="1260"/>
              </a:spcAft>
              <a:buClr>
                <a:srgbClr val="00D4AA"/>
              </a:buClr>
              <a:buFont typeface="Inter"/>
              <a:buChar char="•"/>
            </a:pPr>
            <a:r>
              <a:rPr sz="1800" b="0">
                <a:solidFill>
                  <a:srgbClr val="FFFFFF"/>
                </a:solidFill>
                <a:latin typeface="Inter"/>
              </a:rPr>
              <a:t>Not allowed: dropping traffic, refusing requests, changing the seed</a:t>
            </a:r>
          </a:p>
          <a:p>
            <a:pPr marL="292608" indent="-292608">
              <a:lnSpc>
                <a:spcPct val="120000"/>
              </a:lnSpc>
              <a:spcAft>
                <a:spcPts val="1260"/>
              </a:spcAft>
              <a:buClr>
                <a:srgbClr val="00D4AA"/>
              </a:buClr>
              <a:buFont typeface="Inter"/>
              <a:buChar char="•"/>
            </a:pPr>
            <a:r>
              <a:rPr sz="1800" b="0">
                <a:solidFill>
                  <a:srgbClr val="FFFFFF"/>
                </a:solidFill>
                <a:latin typeface="Inter"/>
              </a:rPr>
              <a:t>Deliver: a screenshot of the console's Compare replays page (one </a:t>
            </a:r>
            <a:r>
              <a:rPr sz="1656" b="0">
                <a:solidFill>
                  <a:srgbClr val="00D4AA"/>
                </a:solidFill>
                <a:latin typeface="JetBrains Mono"/>
              </a:rPr>
              <a:t>.atlas/*.sqlite</a:t>
            </a:r>
            <a:r>
              <a:rPr sz="1800" b="0">
                <a:solidFill>
                  <a:srgbClr val="FFFFFF"/>
                </a:solidFill>
                <a:latin typeface="Inter"/>
              </a:rPr>
              <a:t> per configuration) and one paragraph on what you changed and why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challenge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Full spec: </a:t>
            </a:r>
            <a:r>
              <a:rPr sz="2024" b="0">
                <a:solidFill>
                  <a:srgbClr val="00D4AA"/>
                </a:solidFill>
                <a:latin typeface="JetBrains Mono"/>
              </a:rPr>
              <a:t>05-projects/challenges.md</a:t>
            </a:r>
            <a:r>
              <a:rPr sz="2200" b="0">
                <a:solidFill>
                  <a:srgbClr val="FFFFFF"/>
                </a:solidFill>
                <a:latin typeface="Inter"/>
              </a:rPr>
              <a:t>, Challenge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PAUSE. Come back with a number.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Reference solution, one lever at a time (verify current pricing)</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667021"/>
          <a:ext cx="11292839" cy="1920240"/>
        </p:xfrm>
        <a:graphic>
          <a:graphicData uri="http://schemas.openxmlformats.org/drawingml/2006/table">
            <a:tbl>
              <a:tblPr firstRow="1" bandRow="1">
                <a:tableStyleId>{5C22544A-7EE6-4342-B048-85BDC9FD1C3A}</a:tableStyleId>
              </a:tblPr>
              <a:tblGrid>
                <a:gridCol w="6775704"/>
                <a:gridCol w="677570"/>
                <a:gridCol w="2032711"/>
                <a:gridCol w="903427"/>
                <a:gridCol w="903427"/>
              </a:tblGrid>
              <a:tr h="384048">
                <a:tc>
                  <a:txBody>
                    <a:bodyPr wrap="square"/>
                    <a:lstStyle/>
                    <a:p>
                      <a:r>
                        <a:rPr sz="1200" b="1">
                          <a:solidFill>
                            <a:srgbClr val="0A1628"/>
                          </a:solidFill>
                          <a:latin typeface="Inter"/>
                        </a:rPr>
                        <a:t>Step</a:t>
                      </a:r>
                    </a:p>
                  </a:txBody>
                  <a:tcPr marL="91440" marR="91440" marT="45720" marB="45720" anchor="ctr">
                    <a:solidFill>
                      <a:srgbClr val="00D4AA"/>
                    </a:solidFill>
                  </a:tcPr>
                </a:tc>
                <a:tc>
                  <a:txBody>
                    <a:bodyPr wrap="square"/>
                    <a:lstStyle/>
                    <a:p>
                      <a:r>
                        <a:rPr sz="1200" b="1">
                          <a:solidFill>
                            <a:srgbClr val="0A1628"/>
                          </a:solidFill>
                          <a:latin typeface="Inter"/>
                        </a:rPr>
                        <a:t>Day</a:t>
                      </a:r>
                    </a:p>
                  </a:txBody>
                  <a:tcPr marL="91440" marR="91440" marT="45720" marB="45720" anchor="ctr">
                    <a:solidFill>
                      <a:srgbClr val="00D4AA"/>
                    </a:solidFill>
                  </a:tcPr>
                </a:tc>
                <a:tc>
                  <a:txBody>
                    <a:bodyPr wrap="square"/>
                    <a:lstStyle/>
                    <a:p>
                      <a:r>
                        <a:rPr sz="1200" b="1">
                          <a:solidFill>
                            <a:srgbClr val="0A1628"/>
                          </a:solidFill>
                          <a:latin typeface="Inter"/>
                        </a:rPr>
                        <a:t>Saving vs baseline</a:t>
                      </a:r>
                    </a:p>
                  </a:txBody>
                  <a:tcPr marL="91440" marR="91440" marT="45720" marB="45720" anchor="ctr">
                    <a:solidFill>
                      <a:srgbClr val="00D4AA"/>
                    </a:solidFill>
                  </a:tcPr>
                </a:tc>
                <a:tc>
                  <a:txBody>
                    <a:bodyPr wrap="square"/>
                    <a:lstStyle/>
                    <a:p>
                      <a:r>
                        <a:rPr sz="1200" b="1">
                          <a:solidFill>
                            <a:srgbClr val="0A1628"/>
                          </a:solidFill>
                          <a:latin typeface="Inter"/>
                        </a:rPr>
                        <a:t>Resolved</a:t>
                      </a:r>
                    </a:p>
                  </a:txBody>
                  <a:tcPr marL="91440" marR="91440" marT="45720" marB="45720" anchor="ctr">
                    <a:solidFill>
                      <a:srgbClr val="00D4AA"/>
                    </a:solidFill>
                  </a:tcPr>
                </a:tc>
                <a:tc>
                  <a:txBody>
                    <a:bodyPr wrap="square"/>
                    <a:lstStyle/>
                    <a:p>
                      <a:r>
                        <a:rPr sz="1200" b="1">
                          <a:solidFill>
                            <a:srgbClr val="0A1628"/>
                          </a:solidFill>
                          <a:latin typeface="Inter"/>
                        </a:rPr>
                        <a:t>Grounded</a:t>
                      </a:r>
                    </a:p>
                  </a:txBody>
                  <a:tcPr marL="91440" marR="91440" marT="45720" marB="45720" anchor="ctr">
                    <a:solidFill>
                      <a:srgbClr val="00D4AA"/>
                    </a:solidFill>
                  </a:tcPr>
                </a:tc>
              </a:tr>
              <a:tr h="384048">
                <a:tc>
                  <a:txBody>
                    <a:bodyPr wrap="square"/>
                    <a:lstStyle/>
                    <a:p>
                      <a:r>
                        <a:rPr sz="1200" b="1">
                          <a:solidFill>
                            <a:srgbClr val="FFFFFF"/>
                          </a:solidFill>
                          <a:latin typeface="Inter"/>
                        </a:rPr>
                        <a:t>Baseline</a:t>
                      </a:r>
                    </a:p>
                  </a:txBody>
                  <a:tcPr marL="91440" marR="91440" marT="45720" marB="45720" anchor="ctr">
                    <a:solidFill>
                      <a:srgbClr val="1A2742"/>
                    </a:solidFill>
                  </a:tcPr>
                </a:tc>
                <a:tc>
                  <a:txBody>
                    <a:bodyPr wrap="square"/>
                    <a:lstStyle/>
                    <a:p>
                      <a:r>
                        <a:rPr sz="1200" b="0">
                          <a:solidFill>
                            <a:srgbClr val="FFFFFF"/>
                          </a:solidFill>
                          <a:latin typeface="Inter"/>
                        </a:rPr>
                        <a:t>$56.28</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200" b="0">
                          <a:solidFill>
                            <a:srgbClr val="FFFFFF"/>
                          </a:solidFill>
                          <a:latin typeface="Inter"/>
                        </a:rPr>
                        <a:t>0.892</a:t>
                      </a:r>
                    </a:p>
                  </a:txBody>
                  <a:tcPr marL="91440" marR="91440" marT="45720" marB="45720" anchor="ctr">
                    <a:solidFill>
                      <a:srgbClr val="1A2742"/>
                    </a:solidFill>
                  </a:tcPr>
                </a:tc>
                <a:tc>
                  <a:txBody>
                    <a:bodyPr wrap="square"/>
                    <a:lstStyle/>
                    <a:p>
                      <a:r>
                        <a:rPr sz="1200" b="0">
                          <a:solidFill>
                            <a:srgbClr val="FFFFFF"/>
                          </a:solidFill>
                          <a:latin typeface="Inter"/>
                        </a:rPr>
                        <a:t>0.943</a:t>
                      </a:r>
                    </a:p>
                  </a:txBody>
                  <a:tcPr marL="91440" marR="91440" marT="45720" marB="45720" anchor="ctr">
                    <a:solidFill>
                      <a:srgbClr val="1A2742"/>
                    </a:solidFill>
                  </a:tcPr>
                </a:tc>
              </a:tr>
              <a:tr h="384048">
                <a:tc>
                  <a:txBody>
                    <a:bodyPr wrap="square"/>
                    <a:lstStyle/>
                    <a:p>
                      <a:r>
                        <a:rPr sz="1200" b="1">
                          <a:solidFill>
                            <a:srgbClr val="FFFFFF"/>
                          </a:solidFill>
                          <a:latin typeface="Inter"/>
                        </a:rPr>
                        <a:t>+ Caching (</a:t>
                      </a:r>
                      <a:r>
                        <a:rPr sz="1104" b="0">
                          <a:solidFill>
                            <a:srgbClr val="00D4AA"/>
                          </a:solidFill>
                          <a:latin typeface="JetBrains Mono"/>
                        </a:rPr>
                        <a:t>CACHE=1</a:t>
                      </a:r>
                      <a:r>
                        <a:rPr sz="1200" b="1">
                          <a:solidFill>
                            <a:srgbClr val="FFFFFF"/>
                          </a:solidFill>
                          <a:latin typeface="Inter"/>
                        </a:rPr>
                        <a:t>: </a:t>
                      </a:r>
                      <a:r>
                        <a:rPr sz="1104" b="0">
                          <a:solidFill>
                            <a:srgbClr val="00D4AA"/>
                          </a:solidFill>
                          <a:latin typeface="JetBrains Mono"/>
                        </a:rPr>
                        <a:t>prompt_cache_key</a:t>
                      </a:r>
                      <a:r>
                        <a:rPr sz="1200" b="1">
                          <a:solidFill>
                            <a:srgbClr val="FFFFFF"/>
                          </a:solidFill>
                          <a:latin typeface="Inter"/>
                        </a:rPr>
                        <a:t>, stable prefix)</a:t>
                      </a:r>
                    </a:p>
                  </a:txBody>
                  <a:tcPr marL="91440" marR="91440" marT="45720" marB="45720" anchor="ctr">
                    <a:solidFill>
                      <a:srgbClr val="0F1E35"/>
                    </a:solidFill>
                  </a:tcPr>
                </a:tc>
                <a:tc>
                  <a:txBody>
                    <a:bodyPr wrap="square"/>
                    <a:lstStyle/>
                    <a:p>
                      <a:r>
                        <a:rPr sz="1200" b="0">
                          <a:solidFill>
                            <a:srgbClr val="FFFFFF"/>
                          </a:solidFill>
                          <a:latin typeface="Inter"/>
                        </a:rPr>
                        <a:t>$37.00</a:t>
                      </a:r>
                    </a:p>
                  </a:txBody>
                  <a:tcPr marL="91440" marR="91440" marT="45720" marB="45720" anchor="ctr">
                    <a:solidFill>
                      <a:srgbClr val="0F1E35"/>
                    </a:solidFill>
                  </a:tcPr>
                </a:tc>
                <a:tc>
                  <a:txBody>
                    <a:bodyPr wrap="square"/>
                    <a:lstStyle/>
                    <a:p>
                      <a:r>
                        <a:rPr sz="1200" b="0">
                          <a:solidFill>
                            <a:srgbClr val="FFFFFF"/>
                          </a:solidFill>
                          <a:latin typeface="Inter"/>
                        </a:rPr>
                        <a:t>−34.3%</a:t>
                      </a:r>
                    </a:p>
                  </a:txBody>
                  <a:tcPr marL="91440" marR="91440" marT="45720" marB="45720" anchor="ctr">
                    <a:solidFill>
                      <a:srgbClr val="0F1E35"/>
                    </a:solidFill>
                  </a:tcPr>
                </a:tc>
                <a:tc>
                  <a:txBody>
                    <a:bodyPr wrap="square"/>
                    <a:lstStyle/>
                    <a:p>
                      <a:r>
                        <a:rPr sz="1200" b="0">
                          <a:solidFill>
                            <a:srgbClr val="FFFFFF"/>
                          </a:solidFill>
                          <a:latin typeface="Inter"/>
                        </a:rPr>
                        <a:t>0.892</a:t>
                      </a:r>
                    </a:p>
                  </a:txBody>
                  <a:tcPr marL="91440" marR="91440" marT="45720" marB="45720" anchor="ctr">
                    <a:solidFill>
                      <a:srgbClr val="0F1E35"/>
                    </a:solidFill>
                  </a:tcPr>
                </a:tc>
                <a:tc>
                  <a:txBody>
                    <a:bodyPr wrap="square"/>
                    <a:lstStyle/>
                    <a:p>
                      <a:r>
                        <a:rPr sz="1200" b="0">
                          <a:solidFill>
                            <a:srgbClr val="FFFFFF"/>
                          </a:solidFill>
                          <a:latin typeface="Inter"/>
                        </a:rPr>
                        <a:t>0.943</a:t>
                      </a:r>
                    </a:p>
                  </a:txBody>
                  <a:tcPr marL="91440" marR="91440" marT="45720" marB="45720" anchor="ctr">
                    <a:solidFill>
                      <a:srgbClr val="0F1E35"/>
                    </a:solidFill>
                  </a:tcPr>
                </a:tc>
              </a:tr>
              <a:tr h="384048">
                <a:tc>
                  <a:txBody>
                    <a:bodyPr wrap="square"/>
                    <a:lstStyle/>
                    <a:p>
                      <a:r>
                        <a:rPr sz="1200" b="1">
                          <a:solidFill>
                            <a:srgbClr val="FFFFFF"/>
                          </a:solidFill>
                          <a:latin typeface="Inter"/>
                        </a:rPr>
                        <a:t>+ Context diet (</a:t>
                      </a:r>
                      <a:r>
                        <a:rPr sz="1104" b="0">
                          <a:solidFill>
                            <a:srgbClr val="00D4AA"/>
                          </a:solidFill>
                          <a:latin typeface="JetBrains Mono"/>
                        </a:rPr>
                        <a:t>DIET=1</a:t>
                      </a:r>
                      <a:r>
                        <a:rPr sz="1200" b="1">
                          <a:solidFill>
                            <a:srgbClr val="FFFFFF"/>
                          </a:solidFill>
                          <a:latin typeface="Inter"/>
                        </a:rPr>
                        <a:t>: tool results 1,400, history 8,000)</a:t>
                      </a:r>
                    </a:p>
                  </a:txBody>
                  <a:tcPr marL="91440" marR="91440" marT="45720" marB="45720" anchor="ctr">
                    <a:solidFill>
                      <a:srgbClr val="1A2742"/>
                    </a:solidFill>
                  </a:tcPr>
                </a:tc>
                <a:tc>
                  <a:txBody>
                    <a:bodyPr wrap="square"/>
                    <a:lstStyle/>
                    <a:p>
                      <a:r>
                        <a:rPr sz="1200" b="0">
                          <a:solidFill>
                            <a:srgbClr val="FFFFFF"/>
                          </a:solidFill>
                          <a:latin typeface="Inter"/>
                        </a:rPr>
                        <a:t>$22.71</a:t>
                      </a:r>
                    </a:p>
                  </a:txBody>
                  <a:tcPr marL="91440" marR="91440" marT="45720" marB="45720" anchor="ctr">
                    <a:solidFill>
                      <a:srgbClr val="1A2742"/>
                    </a:solidFill>
                  </a:tcPr>
                </a:tc>
                <a:tc>
                  <a:txBody>
                    <a:bodyPr wrap="square"/>
                    <a:lstStyle/>
                    <a:p>
                      <a:r>
                        <a:rPr sz="1200" b="0">
                          <a:solidFill>
                            <a:srgbClr val="FFFFFF"/>
                          </a:solidFill>
                          <a:latin typeface="Inter"/>
                        </a:rPr>
                        <a:t>−59.6%</a:t>
                      </a:r>
                    </a:p>
                  </a:txBody>
                  <a:tcPr marL="91440" marR="91440" marT="45720" marB="45720" anchor="ctr">
                    <a:solidFill>
                      <a:srgbClr val="1A2742"/>
                    </a:solidFill>
                  </a:tcPr>
                </a:tc>
                <a:tc>
                  <a:txBody>
                    <a:bodyPr wrap="square"/>
                    <a:lstStyle/>
                    <a:p>
                      <a:r>
                        <a:rPr sz="1200" b="0">
                          <a:solidFill>
                            <a:srgbClr val="FFFFFF"/>
                          </a:solidFill>
                          <a:latin typeface="Inter"/>
                        </a:rPr>
                        <a:t>0.892</a:t>
                      </a:r>
                    </a:p>
                  </a:txBody>
                  <a:tcPr marL="91440" marR="91440" marT="45720" marB="45720" anchor="ctr">
                    <a:solidFill>
                      <a:srgbClr val="1A2742"/>
                    </a:solidFill>
                  </a:tcPr>
                </a:tc>
                <a:tc>
                  <a:txBody>
                    <a:bodyPr wrap="square"/>
                    <a:lstStyle/>
                    <a:p>
                      <a:r>
                        <a:rPr sz="1200" b="0">
                          <a:solidFill>
                            <a:srgbClr val="FFFFFF"/>
                          </a:solidFill>
                          <a:latin typeface="Inter"/>
                        </a:rPr>
                        <a:t>0.943</a:t>
                      </a:r>
                    </a:p>
                  </a:txBody>
                  <a:tcPr marL="91440" marR="91440" marT="45720" marB="45720" anchor="ctr">
                    <a:solidFill>
                      <a:srgbClr val="1A2742"/>
                    </a:solidFill>
                  </a:tcPr>
                </a:tc>
              </a:tr>
              <a:tr h="384048">
                <a:tc>
                  <a:txBody>
                    <a:bodyPr wrap="square"/>
                    <a:lstStyle/>
                    <a:p>
                      <a:r>
                        <a:rPr sz="1200" b="1">
                          <a:solidFill>
                            <a:srgbClr val="FFFFFF"/>
                          </a:solidFill>
                          <a:latin typeface="Inter"/>
                        </a:rPr>
                        <a:t>+ Routing (</a:t>
                      </a:r>
                      <a:r>
                        <a:rPr sz="1104" b="0">
                          <a:solidFill>
                            <a:srgbClr val="00D4AA"/>
                          </a:solidFill>
                          <a:latin typeface="JetBrains Mono"/>
                        </a:rPr>
                        <a:t>ROUTER=1</a:t>
                      </a:r>
                      <a:r>
                        <a:rPr sz="1200" b="1">
                          <a:solidFill>
                            <a:srgbClr val="FFFFFF"/>
                          </a:solidFill>
                          <a:latin typeface="Inter"/>
                        </a:rPr>
                        <a:t>: nano for simple intents)</a:t>
                      </a:r>
                    </a:p>
                  </a:txBody>
                  <a:tcPr marL="91440" marR="91440" marT="45720" marB="45720" anchor="ctr">
                    <a:solidFill>
                      <a:srgbClr val="0F1E35"/>
                    </a:solidFill>
                  </a:tcPr>
                </a:tc>
                <a:tc>
                  <a:txBody>
                    <a:bodyPr wrap="square"/>
                    <a:lstStyle/>
                    <a:p>
                      <a:r>
                        <a:rPr sz="1200" b="0">
                          <a:solidFill>
                            <a:srgbClr val="FFFFFF"/>
                          </a:solidFill>
                          <a:latin typeface="Inter"/>
                        </a:rPr>
                        <a:t>$19.07</a:t>
                      </a:r>
                    </a:p>
                  </a:txBody>
                  <a:tcPr marL="91440" marR="91440" marT="45720" marB="45720" anchor="ctr">
                    <a:solidFill>
                      <a:srgbClr val="0F1E35"/>
                    </a:solidFill>
                  </a:tcPr>
                </a:tc>
                <a:tc>
                  <a:txBody>
                    <a:bodyPr wrap="square"/>
                    <a:lstStyle/>
                    <a:p>
                      <a:r>
                        <a:rPr sz="1200" b="0">
                          <a:solidFill>
                            <a:srgbClr val="FFFFFF"/>
                          </a:solidFill>
                          <a:latin typeface="Inter"/>
                        </a:rPr>
                        <a:t>−66.1%</a:t>
                      </a:r>
                    </a:p>
                  </a:txBody>
                  <a:tcPr marL="91440" marR="91440" marT="45720" marB="45720" anchor="ctr">
                    <a:solidFill>
                      <a:srgbClr val="0F1E35"/>
                    </a:solidFill>
                  </a:tcPr>
                </a:tc>
                <a:tc>
                  <a:txBody>
                    <a:bodyPr wrap="square"/>
                    <a:lstStyle/>
                    <a:p>
                      <a:r>
                        <a:rPr sz="1200" b="0">
                          <a:solidFill>
                            <a:srgbClr val="FFFFFF"/>
                          </a:solidFill>
                          <a:latin typeface="Inter"/>
                        </a:rPr>
                        <a:t>0.892</a:t>
                      </a:r>
                    </a:p>
                  </a:txBody>
                  <a:tcPr marL="91440" marR="91440" marT="45720" marB="45720" anchor="ctr">
                    <a:solidFill>
                      <a:srgbClr val="0F1E35"/>
                    </a:solidFill>
                  </a:tcPr>
                </a:tc>
                <a:tc>
                  <a:txBody>
                    <a:bodyPr wrap="square"/>
                    <a:lstStyle/>
                    <a:p>
                      <a:r>
                        <a:rPr sz="1200" b="0">
                          <a:solidFill>
                            <a:srgbClr val="FFFFFF"/>
                          </a:solidFill>
                          <a:latin typeface="Inter"/>
                        </a:rPr>
                        <a:t>0.943</a:t>
                      </a:r>
                    </a:p>
                  </a:txBody>
                  <a:tcPr marL="91440" marR="91440" marT="45720" marB="45720" anchor="ctr">
                    <a:solidFill>
                      <a:srgbClr val="0F1E35"/>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After, by tenant and by feature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5" cy="2633472"/>
        </p:xfrm>
        <a:graphic>
          <a:graphicData uri="http://schemas.openxmlformats.org/drawingml/2006/table">
            <a:tbl>
              <a:tblPr firstRow="1" bandRow="1">
                <a:tableStyleId>{5C22544A-7EE6-4342-B048-85BDC9FD1C3A}</a:tableStyleId>
              </a:tblPr>
              <a:tblGrid>
                <a:gridCol w="1520190"/>
                <a:gridCol w="1303019"/>
                <a:gridCol w="1303019"/>
                <a:gridCol w="1303019"/>
                <a:gridCol w="3257550"/>
                <a:gridCol w="1303019"/>
                <a:gridCol w="1303019"/>
              </a:tblGrid>
              <a:tr h="438912">
                <a:tc>
                  <a:txBody>
                    <a:bodyPr wrap="square"/>
                    <a:lstStyle/>
                    <a:p>
                      <a:r>
                        <a:rPr sz="1400" b="1">
                          <a:solidFill>
                            <a:srgbClr val="0A1628"/>
                          </a:solidFill>
                          <a:latin typeface="Inter"/>
                        </a:rPr>
                        <a:t>Tenant</a:t>
                      </a:r>
                    </a:p>
                  </a:txBody>
                  <a:tcPr marL="91440" marR="91440" marT="45720" marB="45720" anchor="ctr">
                    <a:solidFill>
                      <a:srgbClr val="00D4AA"/>
                    </a:solidFill>
                  </a:tcPr>
                </a:tc>
                <a:tc>
                  <a:txBody>
                    <a:bodyPr wrap="square"/>
                    <a:lstStyle/>
                    <a:p>
                      <a:r>
                        <a:rPr sz="1400" b="1">
                          <a:solidFill>
                            <a:srgbClr val="0A1628"/>
                          </a:solidFill>
                          <a:latin typeface="Inter"/>
                        </a:rPr>
                        <a:t>Before</a:t>
                      </a:r>
                    </a:p>
                  </a:txBody>
                  <a:tcPr marL="91440" marR="91440" marT="45720" marB="45720" anchor="ctr">
                    <a:solidFill>
                      <a:srgbClr val="00D4AA"/>
                    </a:solidFill>
                  </a:tcPr>
                </a:tc>
                <a:tc>
                  <a:txBody>
                    <a:bodyPr wrap="square"/>
                    <a:lstStyle/>
                    <a:p>
                      <a:r>
                        <a:rPr sz="1400" b="1">
                          <a:solidFill>
                            <a:srgbClr val="0A1628"/>
                          </a:solidFill>
                          <a:latin typeface="Inter"/>
                        </a:rPr>
                        <a:t>After</a:t>
                      </a:r>
                    </a:p>
                  </a:txBody>
                  <a:tcPr marL="91440" marR="91440" marT="45720" marB="45720" anchor="ctr">
                    <a:solidFill>
                      <a:srgbClr val="00D4AA"/>
                    </a:solidFill>
                  </a:tcPr>
                </a:tc>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Feature</a:t>
                      </a:r>
                    </a:p>
                  </a:txBody>
                  <a:tcPr marL="91440" marR="91440" marT="45720" marB="45720" anchor="ctr">
                    <a:solidFill>
                      <a:srgbClr val="00D4AA"/>
                    </a:solidFill>
                  </a:tcPr>
                </a:tc>
                <a:tc>
                  <a:txBody>
                    <a:bodyPr wrap="square"/>
                    <a:lstStyle/>
                    <a:p>
                      <a:r>
                        <a:rPr sz="1400" b="1">
                          <a:solidFill>
                            <a:srgbClr val="0A1628"/>
                          </a:solidFill>
                          <a:latin typeface="Inter"/>
                        </a:rPr>
                        <a:t>Before</a:t>
                      </a:r>
                    </a:p>
                  </a:txBody>
                  <a:tcPr marL="91440" marR="91440" marT="45720" marB="45720" anchor="ctr">
                    <a:solidFill>
                      <a:srgbClr val="00D4AA"/>
                    </a:solidFill>
                  </a:tcPr>
                </a:tc>
                <a:tc>
                  <a:txBody>
                    <a:bodyPr wrap="square"/>
                    <a:lstStyle/>
                    <a:p>
                      <a:r>
                        <a:rPr sz="1400" b="1">
                          <a:solidFill>
                            <a:srgbClr val="0A1628"/>
                          </a:solidFill>
                          <a:latin typeface="Inter"/>
                        </a:rPr>
                        <a:t>After</a:t>
                      </a:r>
                    </a:p>
                  </a:txBody>
                  <a:tcPr marL="91440" marR="91440" marT="45720" marB="45720" anchor="ctr">
                    <a:solidFill>
                      <a:srgbClr val="00D4AA"/>
                    </a:solidFill>
                  </a:tcPr>
                </a:tc>
              </a:tr>
              <a:tr h="438912">
                <a:tc>
                  <a:txBody>
                    <a:bodyPr wrap="square"/>
                    <a:lstStyle/>
                    <a:p>
                      <a:r>
                        <a:rPr sz="1400" b="1">
                          <a:solidFill>
                            <a:srgbClr val="FFFFFF"/>
                          </a:solidFill>
                          <a:latin typeface="Inter"/>
                        </a:rPr>
                        <a:t>ops</a:t>
                      </a:r>
                    </a:p>
                  </a:txBody>
                  <a:tcPr marL="91440" marR="91440" marT="45720" marB="45720" anchor="ctr">
                    <a:solidFill>
                      <a:srgbClr val="1A2742"/>
                    </a:solidFill>
                  </a:tcPr>
                </a:tc>
                <a:tc>
                  <a:txBody>
                    <a:bodyPr wrap="square"/>
                    <a:lstStyle/>
                    <a:p>
                      <a:r>
                        <a:rPr sz="1400" b="0">
                          <a:solidFill>
                            <a:srgbClr val="FFFFFF"/>
                          </a:solidFill>
                          <a:latin typeface="Inter"/>
                        </a:rPr>
                        <a:t>$20.27</a:t>
                      </a:r>
                    </a:p>
                  </a:txBody>
                  <a:tcPr marL="91440" marR="91440" marT="45720" marB="45720" anchor="ctr">
                    <a:solidFill>
                      <a:srgbClr val="1A2742"/>
                    </a:solidFill>
                  </a:tcPr>
                </a:tc>
                <a:tc>
                  <a:txBody>
                    <a:bodyPr wrap="square"/>
                    <a:lstStyle/>
                    <a:p>
                      <a:r>
                        <a:rPr sz="1400" b="0">
                          <a:solidFill>
                            <a:srgbClr val="FFFFFF"/>
                          </a:solidFill>
                          <a:latin typeface="Inter"/>
                        </a:rPr>
                        <a:t>$5.97</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400" b="0">
                          <a:solidFill>
                            <a:srgbClr val="FFFFFF"/>
                          </a:solidFill>
                          <a:latin typeface="Inter"/>
                        </a:rPr>
                        <a:t>policy_question</a:t>
                      </a:r>
                    </a:p>
                  </a:txBody>
                  <a:tcPr marL="91440" marR="91440" marT="45720" marB="45720" anchor="ctr">
                    <a:solidFill>
                      <a:srgbClr val="1A2742"/>
                    </a:solidFill>
                  </a:tcPr>
                </a:tc>
                <a:tc>
                  <a:txBody>
                    <a:bodyPr wrap="square"/>
                    <a:lstStyle/>
                    <a:p>
                      <a:r>
                        <a:rPr sz="1400" b="0">
                          <a:solidFill>
                            <a:srgbClr val="FFFFFF"/>
                          </a:solidFill>
                          <a:latin typeface="Inter"/>
                        </a:rPr>
                        <a:t>$42.91</a:t>
                      </a:r>
                    </a:p>
                  </a:txBody>
                  <a:tcPr marL="91440" marR="91440" marT="45720" marB="45720" anchor="ctr">
                    <a:solidFill>
                      <a:srgbClr val="1A2742"/>
                    </a:solidFill>
                  </a:tcPr>
                </a:tc>
                <a:tc>
                  <a:txBody>
                    <a:bodyPr wrap="square"/>
                    <a:lstStyle/>
                    <a:p>
                      <a:r>
                        <a:rPr sz="1400" b="0">
                          <a:solidFill>
                            <a:srgbClr val="FFFFFF"/>
                          </a:solidFill>
                          <a:latin typeface="Inter"/>
                        </a:rPr>
                        <a:t>$17.56</a:t>
                      </a:r>
                    </a:p>
                  </a:txBody>
                  <a:tcPr marL="91440" marR="91440" marT="45720" marB="45720" anchor="ctr">
                    <a:solidFill>
                      <a:srgbClr val="1A2742"/>
                    </a:solidFill>
                  </a:tcPr>
                </a:tc>
              </a:tr>
              <a:tr h="438912">
                <a:tc>
                  <a:txBody>
                    <a:bodyPr wrap="square"/>
                    <a:lstStyle/>
                    <a:p>
                      <a:r>
                        <a:rPr sz="1400" b="1">
                          <a:solidFill>
                            <a:srgbClr val="FFFFFF"/>
                          </a:solidFill>
                          <a:latin typeface="Inter"/>
                        </a:rPr>
                        <a:t>eng</a:t>
                      </a:r>
                    </a:p>
                  </a:txBody>
                  <a:tcPr marL="91440" marR="91440" marT="45720" marB="45720" anchor="ctr">
                    <a:solidFill>
                      <a:srgbClr val="0F1E35"/>
                    </a:solidFill>
                  </a:tcPr>
                </a:tc>
                <a:tc>
                  <a:txBody>
                    <a:bodyPr wrap="square"/>
                    <a:lstStyle/>
                    <a:p>
                      <a:r>
                        <a:rPr sz="1400" b="0">
                          <a:solidFill>
                            <a:srgbClr val="FFFFFF"/>
                          </a:solidFill>
                          <a:latin typeface="Inter"/>
                        </a:rPr>
                        <a:t>$12.50</a:t>
                      </a:r>
                    </a:p>
                  </a:txBody>
                  <a:tcPr marL="91440" marR="91440" marT="45720" marB="45720" anchor="ctr">
                    <a:solidFill>
                      <a:srgbClr val="0F1E35"/>
                    </a:solidFill>
                  </a:tcPr>
                </a:tc>
                <a:tc>
                  <a:txBody>
                    <a:bodyPr wrap="square"/>
                    <a:lstStyle/>
                    <a:p>
                      <a:r>
                        <a:rPr sz="1400" b="0">
                          <a:solidFill>
                            <a:srgbClr val="FFFFFF"/>
                          </a:solidFill>
                          <a:latin typeface="Inter"/>
                        </a:rPr>
                        <a:t>$4.32</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c>
                  <a:txBody>
                    <a:bodyPr wrap="square"/>
                    <a:lstStyle/>
                    <a:p>
                      <a:r>
                        <a:rPr sz="1400" b="0">
                          <a:solidFill>
                            <a:srgbClr val="FFFFFF"/>
                          </a:solidFill>
                          <a:latin typeface="Inter"/>
                        </a:rPr>
                        <a:t>create_ticket</a:t>
                      </a:r>
                    </a:p>
                  </a:txBody>
                  <a:tcPr marL="91440" marR="91440" marT="45720" marB="45720" anchor="ctr">
                    <a:solidFill>
                      <a:srgbClr val="0F1E35"/>
                    </a:solidFill>
                  </a:tcPr>
                </a:tc>
                <a:tc>
                  <a:txBody>
                    <a:bodyPr wrap="square"/>
                    <a:lstStyle/>
                    <a:p>
                      <a:r>
                        <a:rPr sz="1400" b="0">
                          <a:solidFill>
                            <a:srgbClr val="FFFFFF"/>
                          </a:solidFill>
                          <a:latin typeface="Inter"/>
                        </a:rPr>
                        <a:t>$6.66</a:t>
                      </a:r>
                    </a:p>
                  </a:txBody>
                  <a:tcPr marL="91440" marR="91440" marT="45720" marB="45720" anchor="ctr">
                    <a:solidFill>
                      <a:srgbClr val="0F1E35"/>
                    </a:solidFill>
                  </a:tcPr>
                </a:tc>
                <a:tc>
                  <a:txBody>
                    <a:bodyPr wrap="square"/>
                    <a:lstStyle/>
                    <a:p>
                      <a:r>
                        <a:rPr sz="1400" b="0">
                          <a:solidFill>
                            <a:srgbClr val="FFFFFF"/>
                          </a:solidFill>
                          <a:latin typeface="Inter"/>
                        </a:rPr>
                        <a:t>$0.64</a:t>
                      </a:r>
                    </a:p>
                  </a:txBody>
                  <a:tcPr marL="91440" marR="91440" marT="45720" marB="45720" anchor="ctr">
                    <a:solidFill>
                      <a:srgbClr val="0F1E35"/>
                    </a:solidFill>
                  </a:tcPr>
                </a:tc>
              </a:tr>
              <a:tr h="438912">
                <a:tc>
                  <a:txBody>
                    <a:bodyPr wrap="square"/>
                    <a:lstStyle/>
                    <a:p>
                      <a:r>
                        <a:rPr sz="1400" b="1">
                          <a:solidFill>
                            <a:srgbClr val="FFFFFF"/>
                          </a:solidFill>
                          <a:latin typeface="Inter"/>
                        </a:rPr>
                        <a:t>finance</a:t>
                      </a:r>
                    </a:p>
                  </a:txBody>
                  <a:tcPr marL="91440" marR="91440" marT="45720" marB="45720" anchor="ctr">
                    <a:solidFill>
                      <a:srgbClr val="1A2742"/>
                    </a:solidFill>
                  </a:tcPr>
                </a:tc>
                <a:tc>
                  <a:txBody>
                    <a:bodyPr wrap="square"/>
                    <a:lstStyle/>
                    <a:p>
                      <a:r>
                        <a:rPr sz="1400" b="0">
                          <a:solidFill>
                            <a:srgbClr val="FFFFFF"/>
                          </a:solidFill>
                          <a:latin typeface="Inter"/>
                        </a:rPr>
                        <a:t>$11.91</a:t>
                      </a:r>
                    </a:p>
                  </a:txBody>
                  <a:tcPr marL="91440" marR="91440" marT="45720" marB="45720" anchor="ctr">
                    <a:solidFill>
                      <a:srgbClr val="1A2742"/>
                    </a:solidFill>
                  </a:tcPr>
                </a:tc>
                <a:tc>
                  <a:txBody>
                    <a:bodyPr wrap="square"/>
                    <a:lstStyle/>
                    <a:p>
                      <a:r>
                        <a:rPr sz="1400" b="0">
                          <a:solidFill>
                            <a:srgbClr val="FFFFFF"/>
                          </a:solidFill>
                          <a:latin typeface="Inter"/>
                        </a:rPr>
                        <a:t>$4.49</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400" b="0">
                          <a:solidFill>
                            <a:srgbClr val="FFFFFF"/>
                          </a:solidFill>
                          <a:latin typeface="Inter"/>
                        </a:rPr>
                        <a:t>ticket_lookup</a:t>
                      </a:r>
                    </a:p>
                  </a:txBody>
                  <a:tcPr marL="91440" marR="91440" marT="45720" marB="45720" anchor="ctr">
                    <a:solidFill>
                      <a:srgbClr val="1A2742"/>
                    </a:solidFill>
                  </a:tcPr>
                </a:tc>
                <a:tc>
                  <a:txBody>
                    <a:bodyPr wrap="square"/>
                    <a:lstStyle/>
                    <a:p>
                      <a:r>
                        <a:rPr sz="1400" b="0">
                          <a:solidFill>
                            <a:srgbClr val="FFFFFF"/>
                          </a:solidFill>
                          <a:latin typeface="Inter"/>
                        </a:rPr>
                        <a:t>$3.21</a:t>
                      </a:r>
                    </a:p>
                  </a:txBody>
                  <a:tcPr marL="91440" marR="91440" marT="45720" marB="45720" anchor="ctr">
                    <a:solidFill>
                      <a:srgbClr val="1A2742"/>
                    </a:solidFill>
                  </a:tcPr>
                </a:tc>
                <a:tc>
                  <a:txBody>
                    <a:bodyPr wrap="square"/>
                    <a:lstStyle/>
                    <a:p>
                      <a:r>
                        <a:rPr sz="1400" b="0">
                          <a:solidFill>
                            <a:srgbClr val="FFFFFF"/>
                          </a:solidFill>
                          <a:latin typeface="Inter"/>
                        </a:rPr>
                        <a:t>$0.30</a:t>
                      </a:r>
                    </a:p>
                  </a:txBody>
                  <a:tcPr marL="91440" marR="91440" marT="45720" marB="45720" anchor="ctr">
                    <a:solidFill>
                      <a:srgbClr val="1A2742"/>
                    </a:solidFill>
                  </a:tcPr>
                </a:tc>
              </a:tr>
              <a:tr h="438912">
                <a:tc>
                  <a:txBody>
                    <a:bodyPr wrap="square"/>
                    <a:lstStyle/>
                    <a:p>
                      <a:r>
                        <a:rPr sz="1400" b="1">
                          <a:solidFill>
                            <a:srgbClr val="FFFFFF"/>
                          </a:solidFill>
                          <a:latin typeface="Inter"/>
                        </a:rPr>
                        <a:t>hr</a:t>
                      </a:r>
                    </a:p>
                  </a:txBody>
                  <a:tcPr marL="91440" marR="91440" marT="45720" marB="45720" anchor="ctr">
                    <a:solidFill>
                      <a:srgbClr val="0F1E35"/>
                    </a:solidFill>
                  </a:tcPr>
                </a:tc>
                <a:tc>
                  <a:txBody>
                    <a:bodyPr wrap="square"/>
                    <a:lstStyle/>
                    <a:p>
                      <a:r>
                        <a:rPr sz="1400" b="0">
                          <a:solidFill>
                            <a:srgbClr val="FFFFFF"/>
                          </a:solidFill>
                          <a:latin typeface="Inter"/>
                        </a:rPr>
                        <a:t>$11.59</a:t>
                      </a:r>
                    </a:p>
                  </a:txBody>
                  <a:tcPr marL="91440" marR="91440" marT="45720" marB="45720" anchor="ctr">
                    <a:solidFill>
                      <a:srgbClr val="0F1E35"/>
                    </a:solidFill>
                  </a:tcPr>
                </a:tc>
                <a:tc>
                  <a:txBody>
                    <a:bodyPr wrap="square"/>
                    <a:lstStyle/>
                    <a:p>
                      <a:r>
                        <a:rPr sz="1400" b="0">
                          <a:solidFill>
                            <a:srgbClr val="FFFFFF"/>
                          </a:solidFill>
                          <a:latin typeface="Inter"/>
                        </a:rPr>
                        <a:t>$4.28</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c>
                  <a:txBody>
                    <a:bodyPr wrap="square"/>
                    <a:lstStyle/>
                    <a:p>
                      <a:r>
                        <a:rPr sz="1400" b="0">
                          <a:solidFill>
                            <a:srgbClr val="FFFFFF"/>
                          </a:solidFill>
                          <a:latin typeface="Inter"/>
                        </a:rPr>
                        <a:t>shipment_status</a:t>
                      </a:r>
                    </a:p>
                  </a:txBody>
                  <a:tcPr marL="91440" marR="91440" marT="45720" marB="45720" anchor="ctr">
                    <a:solidFill>
                      <a:srgbClr val="0F1E35"/>
                    </a:solidFill>
                  </a:tcPr>
                </a:tc>
                <a:tc>
                  <a:txBody>
                    <a:bodyPr wrap="square"/>
                    <a:lstStyle/>
                    <a:p>
                      <a:r>
                        <a:rPr sz="1400" b="0">
                          <a:solidFill>
                            <a:srgbClr val="FFFFFF"/>
                          </a:solidFill>
                          <a:latin typeface="Inter"/>
                        </a:rPr>
                        <a:t>$2.21</a:t>
                      </a:r>
                    </a:p>
                  </a:txBody>
                  <a:tcPr marL="91440" marR="91440" marT="45720" marB="45720" anchor="ctr">
                    <a:solidFill>
                      <a:srgbClr val="0F1E35"/>
                    </a:solidFill>
                  </a:tcPr>
                </a:tc>
                <a:tc>
                  <a:txBody>
                    <a:bodyPr wrap="square"/>
                    <a:lstStyle/>
                    <a:p>
                      <a:r>
                        <a:rPr sz="1400" b="0">
                          <a:solidFill>
                            <a:srgbClr val="FFFFFF"/>
                          </a:solidFill>
                          <a:latin typeface="Inter"/>
                        </a:rPr>
                        <a:t>$0.19</a:t>
                      </a:r>
                    </a:p>
                  </a:txBody>
                  <a:tcPr marL="91440" marR="91440" marT="45720" marB="45720" anchor="ctr">
                    <a:solidFill>
                      <a:srgbClr val="0F1E35"/>
                    </a:solidFill>
                  </a:tcPr>
                </a:tc>
              </a:tr>
              <a:tr h="438912">
                <a:tc>
                  <a:txBody>
                    <a:bodyPr wrap="square"/>
                    <a:lstStyle/>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400" b="0">
                          <a:solidFill>
                            <a:srgbClr val="FFFFFF"/>
                          </a:solidFill>
                          <a:latin typeface="Inter"/>
                        </a:rPr>
                        <a:t>password_reset</a:t>
                      </a:r>
                    </a:p>
                  </a:txBody>
                  <a:tcPr marL="91440" marR="91440" marT="45720" marB="45720" anchor="ctr">
                    <a:solidFill>
                      <a:srgbClr val="1A2742"/>
                    </a:solidFill>
                  </a:tcPr>
                </a:tc>
                <a:tc>
                  <a:txBody>
                    <a:bodyPr wrap="square"/>
                    <a:lstStyle/>
                    <a:p>
                      <a:r>
                        <a:rPr sz="1400" b="0">
                          <a:solidFill>
                            <a:srgbClr val="FFFFFF"/>
                          </a:solidFill>
                          <a:latin typeface="Inter"/>
                        </a:rPr>
                        <a:t>$0.78</a:t>
                      </a:r>
                    </a:p>
                  </a:txBody>
                  <a:tcPr marL="91440" marR="91440" marT="45720" marB="45720" anchor="ctr">
                    <a:solidFill>
                      <a:srgbClr val="1A2742"/>
                    </a:solidFill>
                  </a:tcPr>
                </a:tc>
                <a:tc>
                  <a:txBody>
                    <a:bodyPr wrap="square"/>
                    <a:lstStyle/>
                    <a:p>
                      <a:r>
                        <a:rPr sz="1400" b="0">
                          <a:solidFill>
                            <a:srgbClr val="FFFFFF"/>
                          </a:solidFill>
                          <a:latin typeface="Inter"/>
                        </a:rPr>
                        <a:t>$0.25</a:t>
                      </a:r>
                    </a:p>
                  </a:txBody>
                  <a:tcPr marL="91440" marR="91440" marT="45720" marB="45720" anchor="ctr">
                    <a:solidFill>
                      <a:srgbClr val="1A2742"/>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Common ways to hit 40% the wrong way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Top-k 1 or a 200-token tool budget: cost drops; on a real model, grounded drops with it</a:t>
            </a:r>
          </a:p>
          <a:p>
            <a:pPr marL="292608" indent="-292608">
              <a:lnSpc>
                <a:spcPct val="120000"/>
              </a:lnSpc>
              <a:spcAft>
                <a:spcPts val="1260"/>
              </a:spcAft>
              <a:buClr>
                <a:srgbClr val="00D4AA"/>
              </a:buClr>
              <a:buFont typeface="Inter"/>
              <a:buChar char="•"/>
            </a:pPr>
            <a:r>
              <a:rPr sz="1800" b="0">
                <a:solidFill>
                  <a:srgbClr val="FFFFFF"/>
                </a:solidFill>
                <a:latin typeface="Inter"/>
              </a:rPr>
              <a:t>Policy questions on nano too: more saved, and the exception clauses go missing on a real model</a:t>
            </a:r>
          </a:p>
          <a:p>
            <a:pPr marL="292608" indent="-292608">
              <a:lnSpc>
                <a:spcPct val="120000"/>
              </a:lnSpc>
              <a:spcAft>
                <a:spcPts val="1260"/>
              </a:spcAft>
              <a:buClr>
                <a:srgbClr val="00D4AA"/>
              </a:buClr>
              <a:buFont typeface="Inter"/>
              <a:buChar char="•"/>
            </a:pPr>
            <a:r>
              <a:rPr sz="1800" b="0">
                <a:solidFill>
                  <a:srgbClr val="FFFFFF"/>
                </a:solidFill>
                <a:latin typeface="Inter"/>
              </a:rPr>
              <a:t>A 300-token history budget: sessions lose the thread on turn 3; multi-turn resolved drops</a:t>
            </a:r>
          </a:p>
          <a:p>
            <a:pPr marL="292608" indent="-292608">
              <a:lnSpc>
                <a:spcPct val="120000"/>
              </a:lnSpc>
              <a:spcAft>
                <a:spcPts val="1260"/>
              </a:spcAft>
              <a:buClr>
                <a:srgbClr val="00D4AA"/>
              </a:buClr>
              <a:buFont typeface="Inter"/>
              <a:buChar char="•"/>
            </a:pPr>
            <a:r>
              <a:rPr sz="1800" b="0">
                <a:solidFill>
                  <a:srgbClr val="FFFFFF"/>
                </a:solidFill>
                <a:latin typeface="Inter"/>
              </a:rPr>
              <a:t>Tiny hard caps: the day "costs" less because sessions got refused (not allowed)</a:t>
            </a:r>
          </a:p>
          <a:p>
            <a:pPr marL="292608" indent="-292608">
              <a:lnSpc>
                <a:spcPct val="120000"/>
              </a:lnSpc>
              <a:spcAft>
                <a:spcPts val="1260"/>
              </a:spcAft>
              <a:buClr>
                <a:srgbClr val="00D4AA"/>
              </a:buClr>
              <a:buFont typeface="Inter"/>
              <a:buChar char="•"/>
            </a:pPr>
            <a:r>
              <a:rPr sz="1800" b="0">
                <a:solidFill>
                  <a:srgbClr val="FFFFFF"/>
                </a:solidFill>
                <a:latin typeface="Inter"/>
              </a:rPr>
              <a:t>Illustrative: the mock scores answer text, so these failures show on a real model, not on the replay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Caching first: no quality risk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Then the diet, where quality can move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Then routing: $56.28 becomes $19.07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1: The showback report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You've done the engineering.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6.9</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6.9</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1: The showback report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Produce the weekly cost report by tenant and feature, with cost per resolved session and three recommendations, in a form finance would…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Project 1 rubric</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Report by tenant and by feature, with the trend across configurations: 40%</a:t>
            </a:r>
          </a:p>
          <a:p>
            <a:pPr marL="292608" indent="-292608">
              <a:lnSpc>
                <a:spcPct val="120000"/>
              </a:lnSpc>
              <a:spcAft>
                <a:spcPts val="1260"/>
              </a:spcAft>
              <a:buClr>
                <a:srgbClr val="00D4AA"/>
              </a:buClr>
              <a:buFont typeface="Inter"/>
              <a:buChar char="•"/>
            </a:pPr>
            <a:r>
              <a:rPr sz="1800" b="0">
                <a:solidFill>
                  <a:srgbClr val="FFFFFF"/>
                </a:solidFill>
                <a:latin typeface="Inter"/>
              </a:rPr>
              <a:t>Cost per resolved session as headline, with the resolved rate stated: 20%</a:t>
            </a:r>
          </a:p>
          <a:p>
            <a:pPr marL="292608" indent="-292608">
              <a:lnSpc>
                <a:spcPct val="120000"/>
              </a:lnSpc>
              <a:spcAft>
                <a:spcPts val="1260"/>
              </a:spcAft>
              <a:buClr>
                <a:srgbClr val="00D4AA"/>
              </a:buClr>
              <a:buFont typeface="Inter"/>
              <a:buChar char="•"/>
            </a:pPr>
            <a:r>
              <a:rPr sz="1800" b="0">
                <a:solidFill>
                  <a:srgbClr val="FFFFFF"/>
                </a:solidFill>
                <a:latin typeface="Inter"/>
              </a:rPr>
              <a:t>Three recommendations, each with a cited number and a monthly saving: 30%</a:t>
            </a:r>
          </a:p>
          <a:p>
            <a:pPr marL="292608" indent="-292608">
              <a:lnSpc>
                <a:spcPct val="120000"/>
              </a:lnSpc>
              <a:spcAft>
                <a:spcPts val="1260"/>
              </a:spcAft>
              <a:buClr>
                <a:srgbClr val="00D4AA"/>
              </a:buClr>
              <a:buFont typeface="Inter"/>
              <a:buChar char="•"/>
            </a:pPr>
            <a:r>
              <a:rPr sz="1800" b="0">
                <a:solidFill>
                  <a:srgbClr val="FFFFFF"/>
                </a:solidFill>
                <a:latin typeface="Inter"/>
              </a:rPr>
              <a:t>Prices marked with a date and "verify current pricing": 10%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Price every generation and trace every dollar to a tenant and feature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Cut a day's cost 66% with caching, the diet and routing</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Cap a tenant's spend without stranding its users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6.9</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Cost engineering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you start the project, check your understanding with the Section 6 quiz.</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6.10</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6 · COST ENGINEERING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6.10</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Cost engineering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compute a cost from usage fields, and choose and justify each cost lever.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6.10</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8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Cost arithmetic with cached and reasoning tokens</a:t>
            </a:r>
          </a:p>
          <a:p>
            <a:pPr marL="292608" indent="-292608">
              <a:lnSpc>
                <a:spcPct val="120000"/>
              </a:lnSpc>
              <a:spcAft>
                <a:spcPts val="1539"/>
              </a:spcAft>
              <a:buClr>
                <a:srgbClr val="00D4AA"/>
              </a:buClr>
              <a:buFont typeface="Inter"/>
              <a:buChar char="•"/>
            </a:pPr>
            <a:r>
              <a:rPr sz="2200" b="0">
                <a:solidFill>
                  <a:srgbClr val="FFFFFF"/>
                </a:solidFill>
                <a:latin typeface="Inter"/>
              </a:rPr>
              <a:t>Caching: prefix order and cache keys</a:t>
            </a:r>
          </a:p>
          <a:p>
            <a:pPr marL="292608" indent="-292608">
              <a:lnSpc>
                <a:spcPct val="120000"/>
              </a:lnSpc>
              <a:spcAft>
                <a:spcPts val="1539"/>
              </a:spcAft>
              <a:buClr>
                <a:srgbClr val="00D4AA"/>
              </a:buClr>
              <a:buFont typeface="Inter"/>
              <a:buChar char="•"/>
            </a:pPr>
            <a:r>
              <a:rPr sz="2200" b="0">
                <a:solidFill>
                  <a:srgbClr val="FFFFFF"/>
                </a:solidFill>
                <a:latin typeface="Inter"/>
              </a:rPr>
              <a:t>Diet vs routing: matching symptom to lever</a:t>
            </a:r>
          </a:p>
          <a:p>
            <a:pPr marL="292608" indent="-292608">
              <a:lnSpc>
                <a:spcPct val="120000"/>
              </a:lnSpc>
              <a:spcAft>
                <a:spcPts val="1539"/>
              </a:spcAft>
              <a:buClr>
                <a:srgbClr val="00D4AA"/>
              </a:buClr>
              <a:buFont typeface="Inter"/>
              <a:buChar char="•"/>
            </a:pPr>
            <a:r>
              <a:rPr sz="2200" b="0">
                <a:solidFill>
                  <a:srgbClr val="FFFFFF"/>
                </a:solidFill>
                <a:latin typeface="Inter"/>
              </a:rPr>
              <a:t>Budgets: soft, hard and anomaly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06 · Lecture 6.10</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Latency budgets for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Cost is one half of the operating bill.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