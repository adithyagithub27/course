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Capstone brief and acceptance criteria.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Raman runs engineering at Northwind. Atlas has been in pilot with one department, and she won't roll it out to all four until she gets four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her sentence like an engineer. "Cost per resolved question" is cost attribution joined with a resolution signal. "Better or worse week over week" is drift. "Paged before finance" is anomaly alerts with owners. "A number telling us so" is the CI budget gate. And "show me the console, the report, the pull request" are three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brief's requirements fall into five pillars. Traces, tagged and masked. Cost, attributed at every level and cut with the three techniques. Reliability, holding p95 under four seconds while the provider is slow. Quality: the judge, feedback, drift and the dataset loop. And operations: metrics, dashboard, alerts, the stack, the gate and the report.</a:t>
            </a:r>
          </a:p>
          <a:p/>
          <a:p>
            <a:r>
              <a:t>You've built every one of these. The capstone is assembling them so they agree with each other. The cost on the span, the cost in Prometheus and the cost in the report must be the same number. That's harder than it sounds and it's where most of the marks are.</a:t>
            </a:r>
          </a:p>
          <a:p/>
          <a:p>
            <a:r>
              <a:t>[SCREEN: Terminal in your fork of `03-code/`: `make test` → `419 passed`; `make budget-check` → `5 passed`.]</a:t>
            </a:r>
          </a:p>
          <a:p/>
          <a:p>
            <a:r>
              <a:t>Here's your starting line. Fork the repo, run the tests, run the gate. Four hundred and one passed, five passed. Every change you make this week keeps both green.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Twenty-four acceptance tests in five areas, each with a layer that says how it's verified. Some are tests: an integration test asserts every generation carries usage and model attributes. Some are replays: run the slow-provider day and read p95. Some are evidence you record: a screenshot of an alert firing, a link to a red CI run on a top-k change.</a:t>
            </a:r>
          </a:p>
          <a:p/>
          <a:p>
            <a:r>
              <a:t>The one I'd look at first as a reviewer is AT-09. Total cost must agree within two percent across the span store, the Prometheus counter and the weekly report. If those three disagree, one of them is lying, and finance will find out which.</a:t>
            </a:r>
          </a:p>
          <a:p/>
          <a:p>
            <a:r>
              <a:t>Fifteen of twenty-four passes. Twenty or more is excellent. And write your budgets and thresholds down before you measure. Moving the target after the fact is the first thing a reviewer notices.</a:t>
            </a:r>
          </a:p>
          <a:p/>
          <a:p>
            <a:r>
              <a:t>Now the shape of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architecture on one slide. Employees and the swarm hit the FastAPI endpoints. The agent runs in router mode with budgets and a step limit. Tools call into the pure-Python core. Telemetry goes out over OTLP to the Collector, which masks and samples, then to your self-hosted Langfuse. Metrics go to Prometheus and Grafana, with alert rules linked to runbooks. The judge and feedback write scores, the drift report reads them weekly, failures become dataset items. CI gates every pull request. And `report.py` turns the week into one page for Priya.</a:t>
            </a:r>
          </a:p>
          <a:p/>
          <a:p>
            <a:r>
              <a:t>Slide text (drawn on the diagram): Employees (4 tenants) and the swarm → FastAPI `/chat`, `/feedback` → `AtlasAgent` (router mode, budgets, step limit) · Tools → `src/northwind` (pricing, cost, budget, tokens, latency, pii); KB retriever · Telemetry: OTel SDK + `genai_attrs` → OTLP → Collector (mask, tail sample) → Langfuse (self-hosted) and optional second backend · `/metrics` → Prometheus → Grafana `atlas-ops` dashboard + alert rules → runbooks · Evals: `online_judge` (sampled) and `feedback` → Langfuse scores → `drift_report` weekly → `to_dataset` · CI: unit + integration + budget gate on every PR; live evals on main; release tag on every trace · `report.py` → weekly markdown to the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deliverables. Your repository. An acceptance report with evidence per test. The weekly report your code generated. Notes on how your stack detected and contained each of the five failure scenarios. Screenshots or a short recording, and your own architecture diagram. Diff notes, which the next lecture explains. And a portfolio write-up.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Eight deliverables. Your repository. An acceptance report with evidence per test. The weekly report your code generated. Notes on how your stack detected and contained each of the five failure scenari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has a suggested week plan. Day one is an audit, not a rewrite. Then cost, reliability and budgets, quality, dashboards and alerts, the stack and the gate, and on day seven the report and the write-up.</a:t>
            </a:r>
          </a:p>
          <a:p/>
          <a:p>
            <a:r>
              <a:t>And there's a minimum viable capstone if the week runs short: full instrumentation, cost per tenant and per resolved session, caching and the diet measured, a hard cap that refuses, metrics and the dashboard, one alert with a runbook, the CI gate, and the report. At least fifteen tests. A finished smaller scope beats an unfinished big one.</a:t>
            </a:r>
          </a:p>
          <a:p/>
          <a:p>
            <a:r>
              <a:t>The full brief, all twenty-four tests and the rubric are in `05-projects/capstone-atlas-ops.md`. Read it before the next lecture, because in the next lecture I'm going to ask you to stop watching.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Build it yourself first: the capstone gate.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Watching someone assemble a system teaches you what the answer looks like. Building it from the brief teaches you why. Why the cost on the span and the cost in Prometheus drift apart. Why the alert fires twice. Why the judge's own tokens show up in the tenant's bill. You only learn those by hitting them, and you only hit them by building.</a:t>
            </a:r>
          </a:p>
          <a:p/>
          <a:p>
            <a:r>
              <a:t>And there's a career reason. In Section 15 I'll give you twelve interview questions. Every one of them is easier to answer with a story that starts "when I built this, the hard part was". You don't get that story from typing along.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deal. One week, end date in your calendar. Build from the brief in your own branch, with your own console module.</a:t>
            </a:r>
          </a:p>
          <a:p/>
          <a:p>
            <a:r>
              <a:t>You can use everything you've built so far: every module from Sections 3 through 13, your labs, your projects, the docs, and the Q&amp;A for concept questions. What you can't open yet is the next three lectures, or the internals of the reference console.</a:t>
            </a:r>
          </a:p>
          <a:p/>
          <a:p>
            <a:r>
              <a:t>If you're stuck on one thing for more than ninety minutes, don't burn a day on it. Write down what you tried, use the minimum viable capstone list in the brief to cut scope, and move on. Unfinished but honest beats finished but copied.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week is up, whatever state you're in, come back and watch the reference as a code reviewer. Then write `DIFF_NOTES.md`: three things the reference does differently from yours, and whether you adopted each one. Some of mine will be better. Some of yours will be. That comparison is often the most valuable hour of the course. And wherever your version passes the criteria, keep it. It's yours.</a:t>
            </a:r>
          </a:p>
          <a:p/>
          <a:p>
            <a:r>
              <a:t>I know it's tempting to click next. Close this video, open the brief, and start with day one.</a:t>
            </a:r>
          </a:p>
          <a:p/>
          <a:p>
            <a:r>
              <a:t>I'll see you in a week.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Reference solution part A: instrumentation and cost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Switch to Part B title 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levers don't add up to sixty-six, because they overlap: the diet shrinks the very prompts that caching discounts. That's why you report each lever alone *and* the combination. "We saved money" is a claim. This table is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your branch. The three most common diff notes from beta: two tracer providers, cost computed in two places, and savings measured on different days. If you had none of them, you're ahead of my first draft.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Reference solution part B: quality, dashboards, alerts, CI (Part A and Part 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Switch to Part B title card.]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panels in four rows, every one backed by a metric from `metrics.py`. Four SLI tiles across the top. Traffic and latency. Cost, including the cache hit ratio and budget decisions. Quality and safety, including the telemetry export failures from Lecture 13.5. Two variables, tenant and feature, because Priya's first question is always "which department". And a release annotation, so a deploy draws a vertical line.</a:t>
            </a:r>
          </a:p>
          <a:p/>
          <a:p>
            <a:r>
              <a:t>One honest gap: the judge panel stays empty. The judge runs as a batch job and never writes the Prometheus histogram. If you wire it in your capstone, that's a diff note in your favour.</a:t>
            </a:r>
          </a:p>
          <a:p/>
          <a:p>
            <a:r>
              <a:t>[CODE: `deploy/alerts.yml`, three of the ten rules]</a:t>
            </a:r>
          </a:p>
          <a:p/>
          <a:p>
            <a:r>
              <a:t>Three of the ten rules, read exactly as written. Latency: p95 above four seconds for ten minutes pages someone. Cost: a tenant's spend in the last hour above two and a half times its average hour over the previous day, and above a dollar, for fifteen minutes, raises a ticket. Tool errors: any tool above five percent errors for ten minutes raises a ticket, not a page, because with bounded retries a failing tool at two a.m. is a morning problem.</a:t>
            </a:r>
          </a:p>
          <a:p/>
          <a:p>
            <a:r>
              <a:t>Two gaps to close in your capstone. Only the latency rule carries a runbook link. And none carries an owner. AT-22 asks for both.</a:t>
            </a:r>
          </a:p>
          <a:p/>
          <a:p>
            <a:r>
              <a:t>[SCREEN: `OFFLINE=1 make replay SCENARIO=context_bloat`, then the Ops Console Alerts page: `[PAGE] latency_p95 p95 6560 ms &gt; 4000 ms` and...]</a:t>
            </a:r>
          </a:p>
          <a:p/>
          <a:p>
            <a:r>
              <a:t>Now make one fire. Replay the context-bloat day and open the console's Alerts page. A page for latency at six and a half seconds, and a ticket because ops has used seventy-three percent of its hard cap. And the Budgets page flags ops's cost per request as anomalous from nine thirty, thirty minutes after the bloat starts. That's AT-15's detection half, offline. The Grafana version needs history: the cost-anomaly rule compares against the previous day, so on a fresh stack it has nothing to compare with. Run the stack for a day, then record it firing.</a:t>
            </a:r>
          </a:p>
          <a:p/>
          <a:p>
            <a:r>
              <a:t>Last, the pull request.</a:t>
            </a:r>
          </a:p>
          <a:p/>
          <a:p>
            <a:r>
              <a:t>[DEMO: Branch `faq-pilot-topk-20`; in `.github/workflows/ci.yml` add `ATLAS_TOP_K: "20"` to the `budget-gate` job's `env`; push and open...]</a:t>
            </a:r>
          </a:p>
          <a:p/>
          <a:p>
            <a:r>
              <a:t>Branch, set top-k to twenty in the gate's environment, push, open the pull request. Tests pass. The budget gate fails twice, each time with a number. And because the gate is a required check in branch protection, the merge button is grey. That screenshot is AT-24, and it's the one Priya asked for by name: the pull request that failed.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diff notes to look for in your branch. Did your judge's cost make it into the report? Do your alerts have owners and runbooks? And is the gate *required*, or merely present? A gate that isn't required is a suggestion.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weekly ops report your manager reads.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Headline numbers with comparison and budget. Outcomes and money up top. Same aggregation code as the console. Three recommendations, each with a number and an action, plus an owner when you send it. And generated, dated and committed, never hand-edited, because the moment someone edits a report by hand it stops being evidence.</a:t>
            </a:r>
          </a:p>
          <a:p/>
          <a:p>
            <a:r>
              <a:t>Send this every Monday morning. After three weeks, the manager starts forwarding it to their manager. That's how observability gets budget.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Capstone submission and portfolio.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README first. What Atlas is, in two sentences. Then three numbers before anything else: cost per resolved session and the saving against baseline, p95 under the slow-provider scenario, and your acceptance score. Then how to run it offline in five commands, because a reviewer who can't run it in five minutes won't. Then screenshots: console, Grafana, an alert firing, a red pull request.</a:t>
            </a:r>
          </a:p>
          <a:p/>
          <a:p>
            <a:r>
              <a:t>`ACCEPTANCE.md` is the second thing they open. Twenty-four rows, pass or fail, and every pass links to evidence: a test name, a screenshot file, a CI run. A fail with an honest reason scores better than a pass without evidence.</a:t>
            </a:r>
          </a:p>
          <a:p/>
          <a:p>
            <a:r>
              <a:t>Then the reports folder, the postmortems, and your diff notes.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README first. What Atlas is, in two sentences. Then three numbers before anything else: cost per resolved session and the saving against baseline, p95 under the slow-provider scenario, and your ac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with numbers. "Comprehensive observability" tells a reader nothing. "Every span carries GenAI attributes, forty integration tests in CI" tells them you know what the attributes are and that you tested them. "Significantly reduced costs" is marketing. "Sixty-six percent on a replayed day, broken down by lever" is engineering. Every line in the right-hand column comes from something measured in this course. Use your own numbers, not mine.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makes this portfolio different from a thousand "I built a RAG chatbot" repositories. The postmortems. Most portfolios show things that work. Yours shows how you find out why something broke, and what you changed so it can't break the same way. Put an "Incident response" section in the README with one line per incident and a link. When an interviewer asks "tell me about a time something broke in production", you have three stories with timelines and numbers. Say that they were simulated incidents on a replayed dataset. The method is real, and interviewers know the difference between method and luck.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write-up, on GitHub, LinkedIn or your blog. A title with a number in it. Three paragraphs: the problem, what you built with the architecture diagram, what you measured. One incident story in four sentences. A link to the repo with a note that it runs offline, so anyone can try it. And credit the tools. Nobody hires the person who trashes Langfuse in public.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 the repository link through the assignment. Paste your acceptance summary and the report into the submission text so a reviewer sees them without cloning. And post your three headline numbers in the Q&amp;A. The rubric in the brief is out of a hundred, pass at seventy, with the most points on cost engineering, instrumentation and quality.</a:t>
            </a:r>
          </a:p>
          <a:p/>
          <a:p>
            <a:r>
              <a:t>One last thing. Add the domain-swap project from the next lecture before you publish the portfolio post. Two agents observed with the same stack is a much stronger story than 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Domain swap: observe a different agent.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options. Option A is Riley, the voice receptionist from the voice course, if you took it. Voice changes almost every SLI: the latency budget is voice-to-voice at about one point six seconds, cost is per minute of call rather than per session, and time to first token matters more than total p95 because the caller is waiting in silence.</a:t>
            </a:r>
          </a:p>
          <a:p/>
          <a:p>
            <a:r>
              <a:t>Option B is your own agent, in any framework with any provider. You define the SLIs using the instrumentation template.</a:t>
            </a:r>
          </a:p>
          <a:p/>
          <a:p>
            <a:r>
              <a:t>Option C, if you have neither, is a coding or data agent with long tool loops, where steps per task and tool error rate dominate and the cost unit is a completed task.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changes and what stays. The agent, its tools and its traffic are new. The SLIs, budgets, thresholds and the unit of cost change, and you must justify each one in a sentence. The judge criteria change with the domain.</a:t>
            </a:r>
          </a:p>
          <a:p/>
          <a:p>
            <a:r>
              <a:t>What stays is most of the hard work. The telemetry modules. The whole pure-Python core: pricing, cost, budgets, latency, SLOs, drift, PII masking. The dashboard structure. The judge pipeline. The CI gate pattern. The report structure. That's the point of the assignment. The architecture is reusable. The domain is a layer on top.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deliverables. The instrumented agent with the telemetry reused and an `OBSERVABILITY.md`. An SLI table with a justification per row. Three screenshots: a trace, a dashboard, an alert. The CI gate adapted to the new cost unit. And a "What changed from Atlas" table.</a:t>
            </a:r>
          </a:p>
          <a:p/>
          <a:p>
            <a:r>
              <a:t>The bar: every span attributed, cost agreeing in two places, and one alert that fires in a scenario you inject.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Five deliverables. The instrumented agent with the telemetry reused and an `OBSERVABILITY.md`. An SLI table with a justification per row. Three screenshots: a trace, a dashboard, an alert. The CI gate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tips. Start with the template; it asks the SLI questions before you write any code. Instrument the model call first, then tools, then the agent span, verifying with the console exporter each time, exactly like Section 3. Copy the telemetry folder wholesale and change only the service name on day one. And decide the unit of cost before you build the dashboard, because every panel depends on it.</a:t>
            </a:r>
          </a:p>
          <a:p/>
          <a:p>
            <a:r>
              <a:t>When you're done, you'll have two agents in two domains observed with one method. Submit through the assignment in this lecture and tell us in the Q&amp;A which agent you picked.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Capstone review.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cover the startup order and why it matters, the one-place cost rule, the quality loop from judge to drift report to dataset, what the CI gate can and cannot catch, and which numbers belong at the top of the weekly report. If you miss the gate question, rewatch the last slide of Lecture 13.3; it comes up in interviews.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They cover the startup order and why it matters, the one-place cost rule, the quality loop from judge to drift report to dataset, what the CI gate can and cannot catch, and which numbers belong at the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Capstone brief and acceptance criteria</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Turn the engineering manager's request into requirements by pillar: traces, cost, reliability, quality,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request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"Before I put Atlas in front of all four departments I need to know: what it costs per resolved question, by department; whether it's getting better or worse week over week; that someone gets paged before finance does; and that a bad change can't reach production without a number telling us so. Show me the console, show me the report, show me the pull request that failed."</a:t>
            </a:r>
          </a:p>
          <a:p>
            <a:pPr>
              <a:spcAft>
                <a:spcPts val="600"/>
              </a:spcAft>
            </a:pPr>
            <a:r>
              <a:rPr sz="1500" b="0">
                <a:solidFill>
                  <a:srgbClr val="CBD5E1"/>
                </a:solidFill>
                <a:latin typeface="Inter"/>
              </a:rPr>
              <a:t>Priya Raman, Engineering Manager, Northwind Logistics (fictional)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Her sentence, read by an engineer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per resolved question": cost joined with resolution (Sections 6, 8)</a:t>
            </a:r>
          </a:p>
          <a:p>
            <a:pPr marL="292608" indent="-292608">
              <a:lnSpc>
                <a:spcPct val="120000"/>
              </a:lnSpc>
              <a:spcAft>
                <a:spcPts val="1260"/>
              </a:spcAft>
              <a:buClr>
                <a:srgbClr val="00D4AA"/>
              </a:buClr>
              <a:buFont typeface="Inter"/>
              <a:buChar char="•"/>
            </a:pPr>
            <a:r>
              <a:rPr sz="1800" b="0">
                <a:solidFill>
                  <a:srgbClr val="FFFFFF"/>
                </a:solidFill>
                <a:latin typeface="Inter"/>
              </a:rPr>
              <a:t>"Better or worse week over week": drift (8.5)</a:t>
            </a:r>
          </a:p>
          <a:p>
            <a:pPr marL="292608" indent="-292608">
              <a:lnSpc>
                <a:spcPct val="120000"/>
              </a:lnSpc>
              <a:spcAft>
                <a:spcPts val="1260"/>
              </a:spcAft>
              <a:buClr>
                <a:srgbClr val="00D4AA"/>
              </a:buClr>
              <a:buFont typeface="Inter"/>
              <a:buChar char="•"/>
            </a:pPr>
            <a:r>
              <a:rPr sz="1800" b="0">
                <a:solidFill>
                  <a:srgbClr val="FFFFFF"/>
                </a:solidFill>
                <a:latin typeface="Inter"/>
              </a:rPr>
              <a:t>"Paged before finance": anomaly alerts with owners (6.7, 9.5)</a:t>
            </a:r>
          </a:p>
          <a:p>
            <a:pPr marL="292608" indent="-292608">
              <a:lnSpc>
                <a:spcPct val="120000"/>
              </a:lnSpc>
              <a:spcAft>
                <a:spcPts val="1260"/>
              </a:spcAft>
              <a:buClr>
                <a:srgbClr val="00D4AA"/>
              </a:buClr>
              <a:buFont typeface="Inter"/>
              <a:buChar char="•"/>
            </a:pPr>
            <a:r>
              <a:rPr sz="1800" b="0">
                <a:solidFill>
                  <a:srgbClr val="FFFFFF"/>
                </a:solidFill>
                <a:latin typeface="Inter"/>
              </a:rPr>
              <a:t>"A number telling us so": the CI budget gate (13.3)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Requirements by pillar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Traces: every LLM, tool, retriever and agent span with GenAI attributes; sessions, users, tenants; release tag; masking</a:t>
            </a:r>
          </a:p>
          <a:p>
            <a:pPr marL="292608" indent="-292608">
              <a:lnSpc>
                <a:spcPct val="120000"/>
              </a:lnSpc>
              <a:spcAft>
                <a:spcPts val="1260"/>
              </a:spcAft>
              <a:buClr>
                <a:srgbClr val="00D4AA"/>
              </a:buClr>
              <a:buFont typeface="Inter"/>
              <a:buChar char="•"/>
            </a:pPr>
            <a:r>
              <a:rPr sz="1800" b="0">
                <a:solidFill>
                  <a:srgbClr val="FFFFFF"/>
                </a:solidFill>
                <a:latin typeface="Inter"/>
              </a:rPr>
              <a:t>Cost: price table with fallback; cost per request, session, user, tenant, feature; caching, context diet, small-model-first routing; per-tenant budgets</a:t>
            </a:r>
          </a:p>
          <a:p>
            <a:pPr marL="292608" indent="-292608">
              <a:lnSpc>
                <a:spcPct val="120000"/>
              </a:lnSpc>
              <a:spcAft>
                <a:spcPts val="1260"/>
              </a:spcAft>
              <a:buClr>
                <a:srgbClr val="00D4AA"/>
              </a:buClr>
              <a:buFont typeface="Inter"/>
              <a:buChar char="•"/>
            </a:pPr>
            <a:r>
              <a:rPr sz="1800" b="0">
                <a:solidFill>
                  <a:srgbClr val="FFFFFF"/>
                </a:solidFill>
                <a:latin typeface="Inter"/>
              </a:rPr>
              <a:t>Reliability: TTFT and p95 measured; timeouts, bounded retries, fallback; p95 ≤ 4 s during the </a:t>
            </a:r>
            <a:r>
              <a:rPr sz="1656" b="0">
                <a:solidFill>
                  <a:srgbClr val="00D4AA"/>
                </a:solidFill>
                <a:latin typeface="JetBrains Mono"/>
              </a:rPr>
              <a:t>slow_provider</a:t>
            </a:r>
            <a:r>
              <a:rPr sz="1800" b="0">
                <a:solidFill>
                  <a:srgbClr val="FFFFFF"/>
                </a:solidFill>
                <a:latin typeface="Inter"/>
              </a:rPr>
              <a:t> scenario</a:t>
            </a:r>
          </a:p>
          <a:p>
            <a:pPr marL="292608" indent="-292608">
              <a:lnSpc>
                <a:spcPct val="120000"/>
              </a:lnSpc>
              <a:spcAft>
                <a:spcPts val="1260"/>
              </a:spcAft>
              <a:buClr>
                <a:srgbClr val="00D4AA"/>
              </a:buClr>
              <a:buFont typeface="Inter"/>
              <a:buChar char="•"/>
            </a:pPr>
            <a:r>
              <a:rPr sz="1800" b="0">
                <a:solidFill>
                  <a:srgbClr val="FFFFFF"/>
                </a:solidFill>
                <a:latin typeface="Inter"/>
              </a:rPr>
              <a:t>Quality: sampled online judge; feedback endpoint; weekly drift; failures promoted to a dataset</a:t>
            </a:r>
          </a:p>
          <a:p>
            <a:pPr marL="292608" indent="-292608">
              <a:lnSpc>
                <a:spcPct val="120000"/>
              </a:lnSpc>
              <a:spcAft>
                <a:spcPts val="1260"/>
              </a:spcAft>
              <a:buClr>
                <a:srgbClr val="00D4AA"/>
              </a:buClr>
              <a:buFont typeface="Inter"/>
              <a:buChar char="•"/>
            </a:pPr>
            <a:r>
              <a:rPr sz="1800" b="0">
                <a:solidFill>
                  <a:srgbClr val="FFFFFF"/>
                </a:solidFill>
                <a:latin typeface="Inter"/>
              </a:rPr>
              <a:t>Operations: Prometheus metrics, Grafana dashboard, three alert rules with runbooks; self-hosted stack; CI budget gate; weekly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24 acceptance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11247120" cy="731520"/>
          </a:xfrm>
          <a:prstGeom prst="rect">
            <a:avLst/>
          </a:prstGeom>
          <a:noFill/>
        </p:spPr>
        <p:txBody>
          <a:bodyPr wrap="square" lIns="45720" rIns="45720" tIns="27432" bIns="27432" anchor="t">
            <a:spAutoFit/>
          </a:bodyPr>
          <a:lstStyle/>
          <a:p>
            <a:pPr>
              <a:spcAft>
                <a:spcPts val="600"/>
              </a:spcAft>
            </a:pPr>
            <a:r>
              <a:rPr sz="1400" b="0">
                <a:solidFill>
                  <a:srgbClr val="CBD5E1"/>
                </a:solidFill>
                <a:latin typeface="Inter"/>
              </a:rPr>
              <a:t>Pass: 15 of 24; excellent evidence: 20 or more</a:t>
            </a:r>
          </a:p>
        </p:txBody>
      </p:sp>
      <p:graphicFrame>
        <p:nvGraphicFramePr>
          <p:cNvPr id="6" name="Table 5"/>
          <p:cNvGraphicFramePr>
            <a:graphicFrameLocks noGrp="1"/>
          </p:cNvGraphicFramePr>
          <p:nvPr/>
        </p:nvGraphicFramePr>
        <p:xfrm>
          <a:off x="457200" y="2011680"/>
          <a:ext cx="11292838" cy="2304288"/>
        </p:xfrm>
        <a:graphic>
          <a:graphicData uri="http://schemas.openxmlformats.org/drawingml/2006/table">
            <a:tbl>
              <a:tblPr firstRow="1" bandRow="1">
                <a:tableStyleId>{5C22544A-7EE6-4342-B048-85BDC9FD1C3A}</a:tableStyleId>
              </a:tblPr>
              <a:tblGrid>
                <a:gridCol w="3764279"/>
                <a:gridCol w="5646420"/>
                <a:gridCol w="1882139"/>
              </a:tblGrid>
              <a:tr h="384048">
                <a:tc>
                  <a:txBody>
                    <a:bodyPr wrap="square"/>
                    <a:lstStyle/>
                    <a:p>
                      <a:r>
                        <a:rPr sz="1200" b="1">
                          <a:solidFill>
                            <a:srgbClr val="0A1628"/>
                          </a:solidFill>
                          <a:latin typeface="Inter"/>
                        </a:rPr>
                        <a:t>Area</a:t>
                      </a:r>
                    </a:p>
                  </a:txBody>
                  <a:tcPr marL="91440" marR="91440" marT="45720" marB="45720" anchor="ctr">
                    <a:solidFill>
                      <a:srgbClr val="00D4AA"/>
                    </a:solidFill>
                  </a:tcPr>
                </a:tc>
                <a:tc>
                  <a:txBody>
                    <a:bodyPr wrap="square"/>
                    <a:lstStyle/>
                    <a:p>
                      <a:r>
                        <a:rPr sz="1200" b="1">
                          <a:solidFill>
                            <a:srgbClr val="0A1628"/>
                          </a:solidFill>
                          <a:latin typeface="Inter"/>
                        </a:rPr>
                        <a:t>Examples</a:t>
                      </a:r>
                    </a:p>
                  </a:txBody>
                  <a:tcPr marL="91440" marR="91440" marT="45720" marB="45720" anchor="ctr">
                    <a:solidFill>
                      <a:srgbClr val="00D4AA"/>
                    </a:solidFill>
                  </a:tcPr>
                </a:tc>
                <a:tc>
                  <a:txBody>
                    <a:bodyPr wrap="square"/>
                    <a:lstStyle/>
                    <a:p>
                      <a:r>
                        <a:rPr sz="1200" b="1">
                          <a:solidFill>
                            <a:srgbClr val="0A1628"/>
                          </a:solidFill>
                          <a:latin typeface="Inter"/>
                        </a:rPr>
                        <a:t>Layer</a:t>
                      </a:r>
                    </a:p>
                  </a:txBody>
                  <a:tcPr marL="91440" marR="91440" marT="45720" marB="45720" anchor="ctr">
                    <a:solidFill>
                      <a:srgbClr val="00D4AA"/>
                    </a:solidFill>
                  </a:tcPr>
                </a:tc>
              </a:tr>
              <a:tr h="384048">
                <a:tc>
                  <a:txBody>
                    <a:bodyPr wrap="square"/>
                    <a:lstStyle/>
                    <a:p>
                      <a:r>
                        <a:rPr sz="1200" b="1">
                          <a:solidFill>
                            <a:srgbClr val="FFFFFF"/>
                          </a:solidFill>
                          <a:latin typeface="Inter"/>
                        </a:rPr>
                        <a:t>Instrumentation (AT-01 to AT-06)</a:t>
                      </a:r>
                    </a:p>
                  </a:txBody>
                  <a:tcPr marL="91440" marR="91440" marT="45720" marB="45720" anchor="ctr">
                    <a:solidFill>
                      <a:srgbClr val="1A2742"/>
                    </a:solidFill>
                  </a:tcPr>
                </a:tc>
                <a:tc>
                  <a:txBody>
                    <a:bodyPr wrap="square"/>
                    <a:lstStyle/>
                    <a:p>
                      <a:r>
                        <a:rPr sz="1200" b="0">
                          <a:solidFill>
                            <a:srgbClr val="FFFFFF"/>
                          </a:solidFill>
                          <a:latin typeface="Inter"/>
                        </a:rPr>
                        <a:t>AT-02 every generation carries </a:t>
                      </a:r>
                      <a:r>
                        <a:rPr sz="1104" b="0">
                          <a:solidFill>
                            <a:srgbClr val="00D4AA"/>
                          </a:solidFill>
                          <a:latin typeface="JetBrains Mono"/>
                        </a:rPr>
                        <a:t>gen_ai.usage.*</a:t>
                      </a:r>
                      <a:r>
                        <a:rPr sz="1200" b="0">
                          <a:solidFill>
                            <a:srgbClr val="FFFFFF"/>
                          </a:solidFill>
                          <a:latin typeface="Inter"/>
                        </a:rPr>
                        <a:t>; AT-06 an email, phone and employee ID are masked</a:t>
                      </a:r>
                    </a:p>
                  </a:txBody>
                  <a:tcPr marL="91440" marR="91440" marT="45720" marB="45720" anchor="ctr">
                    <a:solidFill>
                      <a:srgbClr val="1A2742"/>
                    </a:solidFill>
                  </a:tcPr>
                </a:tc>
                <a:tc>
                  <a:txBody>
                    <a:bodyPr wrap="square"/>
                    <a:lstStyle/>
                    <a:p>
                      <a:r>
                        <a:rPr sz="1200" b="0">
                          <a:solidFill>
                            <a:srgbClr val="FFFFFF"/>
                          </a:solidFill>
                          <a:latin typeface="Inter"/>
                        </a:rPr>
                        <a:t>integration</a:t>
                      </a:r>
                    </a:p>
                  </a:txBody>
                  <a:tcPr marL="91440" marR="91440" marT="45720" marB="45720" anchor="ctr">
                    <a:solidFill>
                      <a:srgbClr val="1A2742"/>
                    </a:solidFill>
                  </a:tcPr>
                </a:tc>
              </a:tr>
              <a:tr h="384048">
                <a:tc>
                  <a:txBody>
                    <a:bodyPr wrap="square"/>
                    <a:lstStyle/>
                    <a:p>
                      <a:r>
                        <a:rPr sz="1200" b="1">
                          <a:solidFill>
                            <a:srgbClr val="FFFFFF"/>
                          </a:solidFill>
                          <a:latin typeface="Inter"/>
                        </a:rPr>
                        <a:t>Cost (AT-07 to AT-12)</a:t>
                      </a:r>
                    </a:p>
                  </a:txBody>
                  <a:tcPr marL="91440" marR="91440" marT="45720" marB="45720" anchor="ctr">
                    <a:solidFill>
                      <a:srgbClr val="0F1E35"/>
                    </a:solidFill>
                  </a:tcPr>
                </a:tc>
                <a:tc>
                  <a:txBody>
                    <a:bodyPr wrap="square"/>
                    <a:lstStyle/>
                    <a:p>
                      <a:r>
                        <a:rPr sz="1200" b="0">
                          <a:solidFill>
                            <a:srgbClr val="FFFFFF"/>
                          </a:solidFill>
                          <a:latin typeface="Inter"/>
                        </a:rPr>
                        <a:t>AT-09 total cost agrees within 2% across the store, </a:t>
                      </a:r>
                      <a:r>
                        <a:rPr sz="1104" b="0">
                          <a:solidFill>
                            <a:srgbClr val="00D4AA"/>
                          </a:solidFill>
                          <a:latin typeface="JetBrains Mono"/>
                        </a:rPr>
                        <a:t>/metrics</a:t>
                      </a:r>
                      <a:r>
                        <a:rPr sz="1200" b="0">
                          <a:solidFill>
                            <a:srgbClr val="FFFFFF"/>
                          </a:solidFill>
                          <a:latin typeface="Inter"/>
                        </a:rPr>
                        <a:t> and the report; AT-10 caching cuts input-token cost by 30%+</a:t>
                      </a:r>
                    </a:p>
                  </a:txBody>
                  <a:tcPr marL="91440" marR="91440" marT="45720" marB="45720" anchor="ctr">
                    <a:solidFill>
                      <a:srgbClr val="0F1E35"/>
                    </a:solidFill>
                  </a:tcPr>
                </a:tc>
                <a:tc>
                  <a:txBody>
                    <a:bodyPr wrap="square"/>
                    <a:lstStyle/>
                    <a:p>
                      <a:r>
                        <a:rPr sz="1200" b="0">
                          <a:solidFill>
                            <a:srgbClr val="FFFFFF"/>
                          </a:solidFill>
                          <a:latin typeface="Inter"/>
                        </a:rPr>
                        <a:t>unit, replay</a:t>
                      </a:r>
                    </a:p>
                  </a:txBody>
                  <a:tcPr marL="91440" marR="91440" marT="45720" marB="45720" anchor="ctr">
                    <a:solidFill>
                      <a:srgbClr val="0F1E35"/>
                    </a:solidFill>
                  </a:tcPr>
                </a:tc>
              </a:tr>
              <a:tr h="384048">
                <a:tc>
                  <a:txBody>
                    <a:bodyPr wrap="square"/>
                    <a:lstStyle/>
                    <a:p>
                      <a:r>
                        <a:rPr sz="1200" b="1">
                          <a:solidFill>
                            <a:srgbClr val="FFFFFF"/>
                          </a:solidFill>
                          <a:latin typeface="Inter"/>
                        </a:rPr>
                        <a:t>Containment (AT-13 to AT-17)</a:t>
                      </a:r>
                    </a:p>
                  </a:txBody>
                  <a:tcPr marL="91440" marR="91440" marT="45720" marB="45720" anchor="ctr">
                    <a:solidFill>
                      <a:srgbClr val="1A2742"/>
                    </a:solidFill>
                  </a:tcPr>
                </a:tc>
                <a:tc>
                  <a:txBody>
                    <a:bodyPr wrap="square"/>
                    <a:lstStyle/>
                    <a:p>
                      <a:r>
                        <a:rPr sz="1200" b="0">
                          <a:solidFill>
                            <a:srgbClr val="FFFFFF"/>
                          </a:solidFill>
                          <a:latin typeface="Inter"/>
                        </a:rPr>
                        <a:t>AT-14 the hard cap refuses with no LLM call; AT-15 the anomaly fires on </a:t>
                      </a:r>
                      <a:r>
                        <a:rPr sz="1104" b="0">
                          <a:solidFill>
                            <a:srgbClr val="00D4AA"/>
                          </a:solidFill>
                          <a:latin typeface="JetBrains Mono"/>
                        </a:rPr>
                        <a:t>context_bloat</a:t>
                      </a:r>
                    </a:p>
                  </a:txBody>
                  <a:tcPr marL="91440" marR="91440" marT="45720" marB="45720" anchor="ctr">
                    <a:solidFill>
                      <a:srgbClr val="1A2742"/>
                    </a:solidFill>
                  </a:tcPr>
                </a:tc>
                <a:tc>
                  <a:txBody>
                    <a:bodyPr wrap="square"/>
                    <a:lstStyle/>
                    <a:p>
                      <a:r>
                        <a:rPr sz="1200" b="0">
                          <a:solidFill>
                            <a:srgbClr val="FFFFFF"/>
                          </a:solidFill>
                          <a:latin typeface="Inter"/>
                        </a:rPr>
                        <a:t>integration, replay</a:t>
                      </a:r>
                    </a:p>
                  </a:txBody>
                  <a:tcPr marL="91440" marR="91440" marT="45720" marB="45720" anchor="ctr">
                    <a:solidFill>
                      <a:srgbClr val="1A2742"/>
                    </a:solidFill>
                  </a:tcPr>
                </a:tc>
              </a:tr>
              <a:tr h="384048">
                <a:tc>
                  <a:txBody>
                    <a:bodyPr wrap="square"/>
                    <a:lstStyle/>
                    <a:p>
                      <a:r>
                        <a:rPr sz="1200" b="1">
                          <a:solidFill>
                            <a:srgbClr val="FFFFFF"/>
                          </a:solidFill>
                          <a:latin typeface="Inter"/>
                        </a:rPr>
                        <a:t>Reliability and quality (AT-18 to AT-20)</a:t>
                      </a:r>
                    </a:p>
                  </a:txBody>
                  <a:tcPr marL="91440" marR="91440" marT="45720" marB="45720" anchor="ctr">
                    <a:solidFill>
                      <a:srgbClr val="0F1E35"/>
                    </a:solidFill>
                  </a:tcPr>
                </a:tc>
                <a:tc>
                  <a:txBody>
                    <a:bodyPr wrap="square"/>
                    <a:lstStyle/>
                    <a:p>
                      <a:r>
                        <a:rPr sz="1200" b="0">
                          <a:solidFill>
                            <a:srgbClr val="FFFFFF"/>
                          </a:solidFill>
                          <a:latin typeface="Inter"/>
                        </a:rPr>
                        <a:t>AT-18 p95 ≤ 4,000 ms on </a:t>
                      </a:r>
                      <a:r>
                        <a:rPr sz="1104" b="0">
                          <a:solidFill>
                            <a:srgbClr val="00D4AA"/>
                          </a:solidFill>
                          <a:latin typeface="JetBrains Mono"/>
                        </a:rPr>
                        <a:t>slow_provider</a:t>
                      </a:r>
                      <a:r>
                        <a:rPr sz="1200" b="0">
                          <a:solidFill>
                            <a:srgbClr val="FFFFFF"/>
                          </a:solidFill>
                          <a:latin typeface="Inter"/>
                        </a:rPr>
                        <a:t>; AT-19 drift isolates prompt v2</a:t>
                      </a:r>
                    </a:p>
                  </a:txBody>
                  <a:tcPr marL="91440" marR="91440" marT="45720" marB="45720" anchor="ctr">
                    <a:solidFill>
                      <a:srgbClr val="0F1E35"/>
                    </a:solidFill>
                  </a:tcPr>
                </a:tc>
                <a:tc>
                  <a:txBody>
                    <a:bodyPr wrap="square"/>
                    <a:lstStyle/>
                    <a:p>
                      <a:r>
                        <a:rPr sz="1200" b="0">
                          <a:solidFill>
                            <a:srgbClr val="FFFFFF"/>
                          </a:solidFill>
                          <a:latin typeface="Inter"/>
                        </a:rPr>
                        <a:t>replay, eval</a:t>
                      </a:r>
                    </a:p>
                  </a:txBody>
                  <a:tcPr marL="91440" marR="91440" marT="45720" marB="45720" anchor="ctr">
                    <a:solidFill>
                      <a:srgbClr val="0F1E35"/>
                    </a:solidFill>
                  </a:tcPr>
                </a:tc>
              </a:tr>
              <a:tr h="384048">
                <a:tc>
                  <a:txBody>
                    <a:bodyPr wrap="square"/>
                    <a:lstStyle/>
                    <a:p>
                      <a:r>
                        <a:rPr sz="1200" b="1">
                          <a:solidFill>
                            <a:srgbClr val="FFFFFF"/>
                          </a:solidFill>
                          <a:latin typeface="Inter"/>
                        </a:rPr>
                        <a:t>Operations (AT-21 to AT-24)</a:t>
                      </a:r>
                    </a:p>
                  </a:txBody>
                  <a:tcPr marL="91440" marR="91440" marT="45720" marB="45720" anchor="ctr">
                    <a:solidFill>
                      <a:srgbClr val="1A2742"/>
                    </a:solidFill>
                  </a:tcPr>
                </a:tc>
                <a:tc>
                  <a:txBody>
                    <a:bodyPr wrap="square"/>
                    <a:lstStyle/>
                    <a:p>
                      <a:r>
                        <a:rPr sz="1200" b="0">
                          <a:solidFill>
                            <a:srgbClr val="FFFFFF"/>
                          </a:solidFill>
                          <a:latin typeface="Inter"/>
                        </a:rPr>
                        <a:t>AT-22 three alerts seen firing; AT-24 the gate goes red on a top-k change</a:t>
                      </a:r>
                    </a:p>
                  </a:txBody>
                  <a:tcPr marL="91440" marR="91440" marT="45720" marB="45720" anchor="ctr">
                    <a:solidFill>
                      <a:srgbClr val="1A2742"/>
                    </a:solidFill>
                  </a:tcPr>
                </a:tc>
                <a:tc>
                  <a:txBody>
                    <a:bodyPr wrap="square"/>
                    <a:lstStyle/>
                    <a:p>
                      <a:r>
                        <a:rPr sz="1200" b="0">
                          <a:solidFill>
                            <a:srgbClr val="FFFFFF"/>
                          </a:solidFill>
                          <a:latin typeface="Inter"/>
                        </a:rPr>
                        <a:t>manual with evidence</a:t>
                      </a:r>
                    </a:p>
                  </a:txBody>
                  <a:tcPr marL="91440" marR="91440" marT="45720" marB="45720" anchor="ctr">
                    <a:solidFill>
                      <a:srgbClr val="1A274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2-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14 · Lecture 14.1 ·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D1 Repository: your fork with </a:t>
            </a:r>
            <a:r>
              <a:rPr sz="1656" b="0">
                <a:solidFill>
                  <a:srgbClr val="00D4AA"/>
                </a:solidFill>
                <a:latin typeface="JetBrains Mono"/>
              </a:rPr>
              <a:t>console/my_ops_console.py</a:t>
            </a:r>
            <a:r>
              <a:rPr sz="1800" b="0">
                <a:solidFill>
                  <a:srgbClr val="FFFFFF"/>
                </a:solidFill>
                <a:latin typeface="Inter"/>
              </a:rPr>
              <a:t>, tests, deploy files, CI</a:t>
            </a:r>
          </a:p>
          <a:p>
            <a:pPr marL="292608" indent="-292608">
              <a:lnSpc>
                <a:spcPct val="120000"/>
              </a:lnSpc>
              <a:spcAft>
                <a:spcPts val="1260"/>
              </a:spcAft>
              <a:buClr>
                <a:srgbClr val="00D4AA"/>
              </a:buClr>
              <a:buFont typeface="Inter"/>
              <a:buChar char="•"/>
            </a:pPr>
            <a:r>
              <a:rPr sz="1800" b="0">
                <a:solidFill>
                  <a:srgbClr val="FFFFFF"/>
                </a:solidFill>
                <a:latin typeface="Inter"/>
              </a:rPr>
              <a:t>D2 </a:t>
            </a:r>
            <a:r>
              <a:rPr sz="1656" b="0">
                <a:solidFill>
                  <a:srgbClr val="00D4AA"/>
                </a:solidFill>
                <a:latin typeface="JetBrains Mono"/>
              </a:rPr>
              <a:t>ACCEPTANCE.md</a:t>
            </a:r>
            <a:r>
              <a:rPr sz="1800" b="0">
                <a:solidFill>
                  <a:srgbClr val="FFFFFF"/>
                </a:solidFill>
                <a:latin typeface="Inter"/>
              </a:rPr>
              <a:t>: 24 tests, PASS or FAIL, evidence for each</a:t>
            </a:r>
          </a:p>
          <a:p>
            <a:pPr marL="292608" indent="-292608">
              <a:lnSpc>
                <a:spcPct val="120000"/>
              </a:lnSpc>
              <a:spcAft>
                <a:spcPts val="1260"/>
              </a:spcAft>
              <a:buClr>
                <a:srgbClr val="00D4AA"/>
              </a:buClr>
              <a:buFont typeface="Inter"/>
              <a:buChar char="•"/>
            </a:pPr>
            <a:r>
              <a:rPr sz="1800" b="0">
                <a:solidFill>
                  <a:srgbClr val="FFFFFF"/>
                </a:solidFill>
                <a:latin typeface="Inter"/>
              </a:rPr>
              <a:t>D3 </a:t>
            </a:r>
            <a:r>
              <a:rPr sz="1656" b="0">
                <a:solidFill>
                  <a:srgbClr val="00D4AA"/>
                </a:solidFill>
                <a:latin typeface="JetBrains Mono"/>
              </a:rPr>
              <a:t>REPORT-week.md</a:t>
            </a:r>
            <a:r>
              <a:rPr sz="1800" b="0">
                <a:solidFill>
                  <a:srgbClr val="FFFFFF"/>
                </a:solidFill>
                <a:latin typeface="Inter"/>
              </a:rPr>
              <a:t> from your own report function</a:t>
            </a:r>
          </a:p>
          <a:p>
            <a:pPr marL="292608" indent="-292608">
              <a:lnSpc>
                <a:spcPct val="120000"/>
              </a:lnSpc>
              <a:spcAft>
                <a:spcPts val="1260"/>
              </a:spcAft>
              <a:buClr>
                <a:srgbClr val="00D4AA"/>
              </a:buClr>
              <a:buFont typeface="Inter"/>
              <a:buChar char="•"/>
            </a:pPr>
            <a:r>
              <a:rPr sz="1800" b="0">
                <a:solidFill>
                  <a:srgbClr val="FFFFFF"/>
                </a:solidFill>
                <a:latin typeface="Inter"/>
              </a:rPr>
              <a:t>D4 </a:t>
            </a:r>
            <a:r>
              <a:rPr sz="1656" b="0">
                <a:solidFill>
                  <a:srgbClr val="00D4AA"/>
                </a:solidFill>
                <a:latin typeface="JetBrains Mono"/>
              </a:rPr>
              <a:t>INCIDENTS.md</a:t>
            </a:r>
            <a:r>
              <a:rPr sz="1800" b="0">
                <a:solidFill>
                  <a:srgbClr val="FFFFFF"/>
                </a:solidFill>
                <a:latin typeface="Inter"/>
              </a:rPr>
              <a:t>: five scenarios, detection and containment</a:t>
            </a:r>
          </a:p>
          <a:p>
            <a:pPr marL="292608" indent="-292608">
              <a:lnSpc>
                <a:spcPct val="120000"/>
              </a:lnSpc>
              <a:spcAft>
                <a:spcPts val="1260"/>
              </a:spcAft>
              <a:buClr>
                <a:srgbClr val="00D4AA"/>
              </a:buClr>
              <a:buFont typeface="Inter"/>
              <a:buChar char="•"/>
            </a:pPr>
            <a:r>
              <a:rPr sz="1800" b="0">
                <a:solidFill>
                  <a:srgbClr val="FFFFFF"/>
                </a:solidFill>
                <a:latin typeface="Inter"/>
              </a:rPr>
              <a:t>D5 Screenshots or a short recording; D6 architecture diagram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D7 </a:t>
            </a:r>
            <a:r>
              <a:rPr sz="2024" b="0">
                <a:solidFill>
                  <a:srgbClr val="00D4AA"/>
                </a:solidFill>
                <a:latin typeface="JetBrains Mono"/>
              </a:rPr>
              <a:t>DIFF_NOTES.md</a:t>
            </a:r>
            <a:r>
              <a:rPr sz="2200" b="0">
                <a:solidFill>
                  <a:srgbClr val="FFFFFF"/>
                </a:solidFill>
                <a:latin typeface="Inter"/>
              </a:rPr>
              <a:t>; D8 portfolio write-up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week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Day 1 audit and instrumentation; Day 2 cost</a:t>
            </a:r>
          </a:p>
          <a:p>
            <a:pPr marL="292608" indent="-292608">
              <a:lnSpc>
                <a:spcPct val="120000"/>
              </a:lnSpc>
              <a:spcAft>
                <a:spcPts val="1539"/>
              </a:spcAft>
              <a:buClr>
                <a:srgbClr val="00D4AA"/>
              </a:buClr>
              <a:buFont typeface="Inter"/>
              <a:buChar char="•"/>
            </a:pPr>
            <a:r>
              <a:rPr sz="2200" b="0">
                <a:solidFill>
                  <a:srgbClr val="FFFFFF"/>
                </a:solidFill>
                <a:latin typeface="Inter"/>
              </a:rPr>
              <a:t>Day 3 reliability and budgets; Day 4 quality</a:t>
            </a:r>
          </a:p>
          <a:p>
            <a:pPr marL="292608" indent="-292608">
              <a:lnSpc>
                <a:spcPct val="120000"/>
              </a:lnSpc>
              <a:spcAft>
                <a:spcPts val="1539"/>
              </a:spcAft>
              <a:buClr>
                <a:srgbClr val="00D4AA"/>
              </a:buClr>
              <a:buFont typeface="Inter"/>
              <a:buChar char="•"/>
            </a:pPr>
            <a:r>
              <a:rPr sz="2200" b="0">
                <a:solidFill>
                  <a:srgbClr val="FFFFFF"/>
                </a:solidFill>
                <a:latin typeface="Inter"/>
              </a:rPr>
              <a:t>Day 5 dashboards and alerts; Day 6 deploy and gate</a:t>
            </a:r>
          </a:p>
          <a:p>
            <a:pPr marL="292608" indent="-292608">
              <a:lnSpc>
                <a:spcPct val="120000"/>
              </a:lnSpc>
              <a:spcAft>
                <a:spcPts val="1539"/>
              </a:spcAft>
              <a:buClr>
                <a:srgbClr val="00D4AA"/>
              </a:buClr>
              <a:buFont typeface="Inter"/>
              <a:buChar char="•"/>
            </a:pPr>
            <a:r>
              <a:rPr sz="2200" b="0">
                <a:solidFill>
                  <a:srgbClr val="FFFFFF"/>
                </a:solidFill>
                <a:latin typeface="Inter"/>
              </a:rPr>
              <a:t>Day 7 report, acceptance and write-up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questions become five pillars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24 acceptance tests; pass at 15</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Cost must agree in three places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Build it yourself first: the capstone gate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capstone gate: why you should build this from the brief before you watch the reference.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14.1a</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Build it yourself first: the capstone gate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Commit to a one-week, time-boxed attempt at the capstone from the brief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build first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Watching teaches what the answer looks like</a:t>
            </a:r>
          </a:p>
          <a:p>
            <a:pPr marL="292608" indent="-292608">
              <a:lnSpc>
                <a:spcPct val="120000"/>
              </a:lnSpc>
              <a:spcAft>
                <a:spcPts val="1539"/>
              </a:spcAft>
              <a:buClr>
                <a:srgbClr val="00D4AA"/>
              </a:buClr>
              <a:buFont typeface="Inter"/>
              <a:buChar char="•"/>
            </a:pPr>
            <a:r>
              <a:rPr sz="2200" b="0">
                <a:solidFill>
                  <a:srgbClr val="FFFFFF"/>
                </a:solidFill>
                <a:latin typeface="Inter"/>
              </a:rPr>
              <a:t>Building teaches why it looks like that</a:t>
            </a:r>
          </a:p>
          <a:p>
            <a:pPr marL="292608" indent="-292608">
              <a:lnSpc>
                <a:spcPct val="120000"/>
              </a:lnSpc>
              <a:spcAft>
                <a:spcPts val="1539"/>
              </a:spcAft>
              <a:buClr>
                <a:srgbClr val="00D4AA"/>
              </a:buClr>
              <a:buFont typeface="Inter"/>
              <a:buChar char="•"/>
            </a:pPr>
            <a:r>
              <a:rPr sz="2200" b="0">
                <a:solidFill>
                  <a:srgbClr val="FFFFFF"/>
                </a:solidFill>
                <a:latin typeface="Inter"/>
              </a:rPr>
              <a:t>Interviews ask for the "why"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capstone gate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Time box: one week. Put the end date in your calendar now</a:t>
            </a:r>
          </a:p>
          <a:p>
            <a:pPr marL="292608" indent="-292608">
              <a:lnSpc>
                <a:spcPct val="120000"/>
              </a:lnSpc>
              <a:spcAft>
                <a:spcPts val="1260"/>
              </a:spcAft>
              <a:buClr>
                <a:srgbClr val="00D4AA"/>
              </a:buClr>
              <a:buFont typeface="Inter"/>
              <a:buChar char="•"/>
            </a:pPr>
            <a:r>
              <a:rPr sz="1800" b="0">
                <a:solidFill>
                  <a:srgbClr val="FFFFFF"/>
                </a:solidFill>
                <a:latin typeface="Inter"/>
              </a:rPr>
              <a:t>Build from </a:t>
            </a:r>
            <a:r>
              <a:rPr sz="1656" b="0">
                <a:solidFill>
                  <a:srgbClr val="00D4AA"/>
                </a:solidFill>
                <a:latin typeface="JetBrains Mono"/>
              </a:rPr>
              <a:t>05-projects/capstone-atlas-ops.md</a:t>
            </a:r>
            <a:r>
              <a:rPr sz="1800" b="0">
                <a:solidFill>
                  <a:srgbClr val="FFFFFF"/>
                </a:solidFill>
                <a:latin typeface="Inter"/>
              </a:rPr>
              <a:t> in your own branch: </a:t>
            </a:r>
            <a:r>
              <a:rPr sz="1656" b="0">
                <a:solidFill>
                  <a:srgbClr val="00D4AA"/>
                </a:solidFill>
                <a:latin typeface="JetBrains Mono"/>
              </a:rPr>
              <a:t>console/my_ops_console.py</a:t>
            </a:r>
          </a:p>
          <a:p>
            <a:pPr marL="292608" indent="-292608">
              <a:lnSpc>
                <a:spcPct val="120000"/>
              </a:lnSpc>
              <a:spcAft>
                <a:spcPts val="1260"/>
              </a:spcAft>
              <a:buClr>
                <a:srgbClr val="00D4AA"/>
              </a:buClr>
              <a:buFont typeface="Inter"/>
              <a:buChar char="•"/>
            </a:pPr>
            <a:r>
              <a:rPr sz="1800" b="0">
                <a:solidFill>
                  <a:srgbClr val="FFFFFF"/>
                </a:solidFill>
                <a:latin typeface="Inter"/>
              </a:rPr>
              <a:t>Allowed: everything from Sections 3 to 13, your labs and projects, the docs, the Q&amp;A for concepts</a:t>
            </a:r>
          </a:p>
          <a:p>
            <a:pPr marL="292608" indent="-292608">
              <a:lnSpc>
                <a:spcPct val="120000"/>
              </a:lnSpc>
              <a:spcAft>
                <a:spcPts val="1260"/>
              </a:spcAft>
              <a:buClr>
                <a:srgbClr val="00D4AA"/>
              </a:buClr>
              <a:buFont typeface="Inter"/>
              <a:buChar char="•"/>
            </a:pPr>
            <a:r>
              <a:rPr sz="1800" b="0">
                <a:solidFill>
                  <a:srgbClr val="FFFFFF"/>
                </a:solidFill>
                <a:latin typeface="Inter"/>
              </a:rPr>
              <a:t>Not yet: lectures 14.2 to 14.4 and the reference </a:t>
            </a:r>
            <a:r>
              <a:rPr sz="1656" b="0">
                <a:solidFill>
                  <a:srgbClr val="00D4AA"/>
                </a:solidFill>
                <a:latin typeface="JetBrains Mono"/>
              </a:rPr>
              <a:t>console/ops_console.py</a:t>
            </a:r>
            <a:r>
              <a:rPr sz="1800" b="0">
                <a:solidFill>
                  <a:srgbClr val="FFFFFF"/>
                </a:solidFill>
                <a:latin typeface="Inter"/>
              </a:rPr>
              <a:t> internals</a:t>
            </a:r>
          </a:p>
          <a:p>
            <a:pPr marL="292608" indent="-292608">
              <a:lnSpc>
                <a:spcPct val="120000"/>
              </a:lnSpc>
              <a:spcAft>
                <a:spcPts val="1260"/>
              </a:spcAft>
              <a:buClr>
                <a:srgbClr val="00D4AA"/>
              </a:buClr>
              <a:buFont typeface="Inter"/>
              <a:buChar char="•"/>
            </a:pPr>
            <a:r>
              <a:rPr sz="1800" b="0">
                <a:solidFill>
                  <a:srgbClr val="FFFFFF"/>
                </a:solidFill>
                <a:latin typeface="Inter"/>
              </a:rPr>
              <a:t>Stuck for more than 90 minutes? Write down what you tried, cut scope, move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you come 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Watch 14.2 to 14.4 as a code reviewer</a:t>
            </a:r>
          </a:p>
          <a:p>
            <a:pPr marL="292608" indent="-292608">
              <a:lnSpc>
                <a:spcPct val="120000"/>
              </a:lnSpc>
              <a:spcAft>
                <a:spcPts val="1539"/>
              </a:spcAft>
              <a:buClr>
                <a:srgbClr val="00D4AA"/>
              </a:buClr>
              <a:buFont typeface="Inter"/>
              <a:buChar char="•"/>
            </a:pPr>
            <a:r>
              <a:rPr sz="2200" b="0">
                <a:solidFill>
                  <a:srgbClr val="FFFFFF"/>
                </a:solidFill>
                <a:latin typeface="Inter"/>
              </a:rPr>
              <a:t>Write </a:t>
            </a:r>
            <a:r>
              <a:rPr sz="2024" b="0">
                <a:solidFill>
                  <a:srgbClr val="00D4AA"/>
                </a:solidFill>
                <a:latin typeface="JetBrains Mono"/>
              </a:rPr>
              <a:t>DIFF_NOTES.md</a:t>
            </a:r>
            <a:r>
              <a:rPr sz="2200" b="0">
                <a:solidFill>
                  <a:srgbClr val="FFFFFF"/>
                </a:solidFill>
                <a:latin typeface="Inter"/>
              </a:rPr>
              <a:t>: three things the reference does differently, and whether you adopted each</a:t>
            </a:r>
          </a:p>
          <a:p>
            <a:pPr marL="292608" indent="-292608">
              <a:lnSpc>
                <a:spcPct val="120000"/>
              </a:lnSpc>
              <a:spcAft>
                <a:spcPts val="1539"/>
              </a:spcAft>
              <a:buClr>
                <a:srgbClr val="00D4AA"/>
              </a:buClr>
              <a:buFont typeface="Inter"/>
              <a:buChar char="•"/>
            </a:pPr>
            <a:r>
              <a:rPr sz="2200" b="0">
                <a:solidFill>
                  <a:srgbClr val="FFFFFF"/>
                </a:solidFill>
                <a:latin typeface="Inter"/>
              </a:rPr>
              <a:t>Keep your version wherever it passes the acceptance criteria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week, from the brief alone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Then watch the reference as a reviewer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a:t>
            </a:r>
            <a:r>
              <a:rPr sz="1656" b="0">
                <a:solidFill>
                  <a:srgbClr val="00D4AA"/>
                </a:solidFill>
                <a:latin typeface="JetBrains Mono"/>
              </a:rPr>
              <a:t>DIFF_NOTES.md</a:t>
            </a:r>
            <a:r>
              <a:rPr sz="1800" b="1">
                <a:solidFill>
                  <a:srgbClr val="FFFFFF"/>
                </a:solidFill>
                <a:latin typeface="Inter"/>
              </a:rPr>
              <a:t>: three differences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14.1a</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Reference solution part A: instrumentation and cost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When you're back, the next lecture is the reference solution, starting with instrumentation and cost.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Reference solution part A: instrumentation and cost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Assemble the telemetry stack in one startup call: OTel provider, exporters, local store, Langfuse client with masking and release.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a:t>
            </a:r>
            <a:r>
              <a:rPr sz="1656" b="0">
                <a:solidFill>
                  <a:srgbClr val="00D4AA"/>
                </a:solidFill>
                <a:latin typeface="JetBrains Mono"/>
              </a:rPr>
              <a:t>configure_tracing</a:t>
            </a:r>
            <a:r>
              <a:rPr sz="1800" b="1">
                <a:solidFill>
                  <a:srgbClr val="FFFFFF"/>
                </a:solidFill>
                <a:latin typeface="Inter"/>
              </a:rPr>
              <a:t> call, one provider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Cost computed once, written three ways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agreement: swarm, </a:t>
            </a:r>
            <a:r>
              <a:rPr sz="1656" b="0">
                <a:solidFill>
                  <a:srgbClr val="00D4AA"/>
                </a:solidFill>
                <a:latin typeface="JetBrains Mono"/>
              </a:rPr>
              <a:t>/metrics</a:t>
            </a:r>
            <a:r>
              <a:rPr sz="1800" b="1">
                <a:solidFill>
                  <a:srgbClr val="FFFFFF"/>
                </a:solidFill>
                <a:latin typeface="Inter"/>
              </a:rPr>
              <a:t>, console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saving, by lever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3176111"/>
                <a:gridCol w="3529012"/>
                <a:gridCol w="4587716"/>
              </a:tblGrid>
              <a:tr h="438912">
                <a:tc>
                  <a:txBody>
                    <a:bodyPr wrap="square"/>
                    <a:lstStyle/>
                    <a:p>
                      <a:r>
                        <a:rPr sz="1400" b="1">
                          <a:solidFill>
                            <a:srgbClr val="0A1628"/>
                          </a:solidFill>
                          <a:latin typeface="Inter"/>
                        </a:rPr>
                        <a:t>Lever</a:t>
                      </a:r>
                    </a:p>
                  </a:txBody>
                  <a:tcPr marL="91440" marR="91440" marT="45720" marB="45720" anchor="ctr">
                    <a:solidFill>
                      <a:srgbClr val="00D4AA"/>
                    </a:solidFill>
                  </a:tcPr>
                </a:tc>
                <a:tc>
                  <a:txBody>
                    <a:bodyPr wrap="square"/>
                    <a:lstStyle/>
                    <a:p>
                      <a:r>
                        <a:rPr sz="1400" b="1">
                          <a:solidFill>
                            <a:srgbClr val="0A1628"/>
                          </a:solidFill>
                          <a:latin typeface="Inter"/>
                        </a:rPr>
                        <a:t>Daily cost</a:t>
                      </a:r>
                    </a:p>
                  </a:txBody>
                  <a:tcPr marL="91440" marR="91440" marT="45720" marB="45720" anchor="ctr">
                    <a:solidFill>
                      <a:srgbClr val="00D4AA"/>
                    </a:solidFill>
                  </a:tcPr>
                </a:tc>
                <a:tc>
                  <a:txBody>
                    <a:bodyPr wrap="square"/>
                    <a:lstStyle/>
                    <a:p>
                      <a:r>
                        <a:rPr sz="1400" b="1">
                          <a:solidFill>
                            <a:srgbClr val="0A1628"/>
                          </a:solidFill>
                          <a:latin typeface="Inter"/>
                        </a:rPr>
                        <a:t>Δ vs baseline</a:t>
                      </a:r>
                    </a:p>
                  </a:txBody>
                  <a:tcPr marL="91440" marR="91440" marT="45720" marB="45720" anchor="ctr">
                    <a:solidFill>
                      <a:srgbClr val="00D4AA"/>
                    </a:solidFill>
                  </a:tcPr>
                </a:tc>
              </a:tr>
              <a:tr h="438912">
                <a:tc>
                  <a:txBody>
                    <a:bodyPr wrap="square"/>
                    <a:lstStyle/>
                    <a:p>
                      <a:r>
                        <a:rPr sz="1400" b="1">
                          <a:solidFill>
                            <a:srgbClr val="FFFFFF"/>
                          </a:solidFill>
                          <a:latin typeface="Inter"/>
                        </a:rPr>
                        <a:t>Baseline</a:t>
                      </a:r>
                    </a:p>
                  </a:txBody>
                  <a:tcPr marL="91440" marR="91440" marT="45720" marB="45720" anchor="ctr">
                    <a:solidFill>
                      <a:srgbClr val="1A2742"/>
                    </a:solidFill>
                  </a:tcPr>
                </a:tc>
                <a:tc>
                  <a:txBody>
                    <a:bodyPr wrap="square"/>
                    <a:lstStyle/>
                    <a:p>
                      <a:r>
                        <a:rPr sz="1400" b="0">
                          <a:solidFill>
                            <a:srgbClr val="FFFFFF"/>
                          </a:solidFill>
                          <a:latin typeface="Inter"/>
                        </a:rPr>
                        <a:t>$56.28</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r h="438912">
                <a:tc>
                  <a:txBody>
                    <a:bodyPr wrap="square"/>
                    <a:lstStyle/>
                    <a:p>
                      <a:r>
                        <a:rPr sz="1400" b="1">
                          <a:solidFill>
                            <a:srgbClr val="FFFFFF"/>
                          </a:solidFill>
                          <a:latin typeface="Inter"/>
                        </a:rPr>
                        <a:t>Caching</a:t>
                      </a:r>
                    </a:p>
                  </a:txBody>
                  <a:tcPr marL="91440" marR="91440" marT="45720" marB="45720" anchor="ctr">
                    <a:solidFill>
                      <a:srgbClr val="0F1E35"/>
                    </a:solidFill>
                  </a:tcPr>
                </a:tc>
                <a:tc>
                  <a:txBody>
                    <a:bodyPr wrap="square"/>
                    <a:lstStyle/>
                    <a:p>
                      <a:r>
                        <a:rPr sz="1400" b="0">
                          <a:solidFill>
                            <a:srgbClr val="FFFFFF"/>
                          </a:solidFill>
                          <a:latin typeface="Inter"/>
                        </a:rPr>
                        <a:t>$37.00</a:t>
                      </a:r>
                    </a:p>
                  </a:txBody>
                  <a:tcPr marL="91440" marR="91440" marT="45720" marB="45720" anchor="ctr">
                    <a:solidFill>
                      <a:srgbClr val="0F1E35"/>
                    </a:solidFill>
                  </a:tcPr>
                </a:tc>
                <a:tc>
                  <a:txBody>
                    <a:bodyPr wrap="square"/>
                    <a:lstStyle/>
                    <a:p>
                      <a:r>
                        <a:rPr sz="1400" b="0">
                          <a:solidFill>
                            <a:srgbClr val="FFFFFF"/>
                          </a:solidFill>
                          <a:latin typeface="Inter"/>
                        </a:rPr>
                        <a:t>−34.3%</a:t>
                      </a:r>
                    </a:p>
                  </a:txBody>
                  <a:tcPr marL="91440" marR="91440" marT="45720" marB="45720" anchor="ctr">
                    <a:solidFill>
                      <a:srgbClr val="0F1E35"/>
                    </a:solidFill>
                  </a:tcPr>
                </a:tc>
              </a:tr>
              <a:tr h="438912">
                <a:tc>
                  <a:txBody>
                    <a:bodyPr wrap="square"/>
                    <a:lstStyle/>
                    <a:p>
                      <a:r>
                        <a:rPr sz="1400" b="1">
                          <a:solidFill>
                            <a:srgbClr val="FFFFFF"/>
                          </a:solidFill>
                          <a:latin typeface="Inter"/>
                        </a:rPr>
                        <a:t>Diet</a:t>
                      </a:r>
                    </a:p>
                  </a:txBody>
                  <a:tcPr marL="91440" marR="91440" marT="45720" marB="45720" anchor="ctr">
                    <a:solidFill>
                      <a:srgbClr val="1A2742"/>
                    </a:solidFill>
                  </a:tcPr>
                </a:tc>
                <a:tc>
                  <a:txBody>
                    <a:bodyPr wrap="square"/>
                    <a:lstStyle/>
                    <a:p>
                      <a:r>
                        <a:rPr sz="1400" b="0">
                          <a:solidFill>
                            <a:srgbClr val="FFFFFF"/>
                          </a:solidFill>
                          <a:latin typeface="Inter"/>
                        </a:rPr>
                        <a:t>$41.99</a:t>
                      </a:r>
                    </a:p>
                  </a:txBody>
                  <a:tcPr marL="91440" marR="91440" marT="45720" marB="45720" anchor="ctr">
                    <a:solidFill>
                      <a:srgbClr val="1A2742"/>
                    </a:solidFill>
                  </a:tcPr>
                </a:tc>
                <a:tc>
                  <a:txBody>
                    <a:bodyPr wrap="square"/>
                    <a:lstStyle/>
                    <a:p>
                      <a:r>
                        <a:rPr sz="1400" b="0">
                          <a:solidFill>
                            <a:srgbClr val="FFFFFF"/>
                          </a:solidFill>
                          <a:latin typeface="Inter"/>
                        </a:rPr>
                        <a:t>−25.4%</a:t>
                      </a:r>
                    </a:p>
                  </a:txBody>
                  <a:tcPr marL="91440" marR="91440" marT="45720" marB="45720" anchor="ctr">
                    <a:solidFill>
                      <a:srgbClr val="1A2742"/>
                    </a:solidFill>
                  </a:tcPr>
                </a:tc>
              </a:tr>
              <a:tr h="438912">
                <a:tc>
                  <a:txBody>
                    <a:bodyPr wrap="square"/>
                    <a:lstStyle/>
                    <a:p>
                      <a:r>
                        <a:rPr sz="1400" b="1">
                          <a:solidFill>
                            <a:srgbClr val="FFFFFF"/>
                          </a:solidFill>
                          <a:latin typeface="Inter"/>
                        </a:rPr>
                        <a:t>Routing</a:t>
                      </a:r>
                    </a:p>
                  </a:txBody>
                  <a:tcPr marL="91440" marR="91440" marT="45720" marB="45720" anchor="ctr">
                    <a:solidFill>
                      <a:srgbClr val="0F1E35"/>
                    </a:solidFill>
                  </a:tcPr>
                </a:tc>
                <a:tc>
                  <a:txBody>
                    <a:bodyPr wrap="square"/>
                    <a:lstStyle/>
                    <a:p>
                      <a:r>
                        <a:rPr sz="1400" b="0">
                          <a:solidFill>
                            <a:srgbClr val="FFFFFF"/>
                          </a:solidFill>
                          <a:latin typeface="Inter"/>
                        </a:rPr>
                        <a:t>$47.07</a:t>
                      </a:r>
                    </a:p>
                  </a:txBody>
                  <a:tcPr marL="91440" marR="91440" marT="45720" marB="45720" anchor="ctr">
                    <a:solidFill>
                      <a:srgbClr val="0F1E35"/>
                    </a:solidFill>
                  </a:tcPr>
                </a:tc>
                <a:tc>
                  <a:txBody>
                    <a:bodyPr wrap="square"/>
                    <a:lstStyle/>
                    <a:p>
                      <a:r>
                        <a:rPr sz="1400" b="0">
                          <a:solidFill>
                            <a:srgbClr val="FFFFFF"/>
                          </a:solidFill>
                          <a:latin typeface="Inter"/>
                        </a:rPr>
                        <a:t>−16.4%</a:t>
                      </a:r>
                    </a:p>
                  </a:txBody>
                  <a:tcPr marL="91440" marR="91440" marT="45720" marB="45720" anchor="ctr">
                    <a:solidFill>
                      <a:srgbClr val="0F1E35"/>
                    </a:solidFill>
                  </a:tcPr>
                </a:tc>
              </a:tr>
              <a:tr h="438912">
                <a:tc>
                  <a:txBody>
                    <a:bodyPr wrap="square"/>
                    <a:lstStyle/>
                    <a:p>
                      <a:r>
                        <a:rPr sz="1400" b="1">
                          <a:solidFill>
                            <a:srgbClr val="FFFFFF"/>
                          </a:solidFill>
                          <a:latin typeface="Inter"/>
                        </a:rPr>
                        <a:t>All three</a:t>
                      </a:r>
                    </a:p>
                  </a:txBody>
                  <a:tcPr marL="91440" marR="91440" marT="45720" marB="45720" anchor="ctr">
                    <a:solidFill>
                      <a:srgbClr val="1A2742"/>
                    </a:solidFill>
                  </a:tcPr>
                </a:tc>
                <a:tc>
                  <a:txBody>
                    <a:bodyPr wrap="square"/>
                    <a:lstStyle/>
                    <a:p>
                      <a:r>
                        <a:rPr sz="1400" b="0">
                          <a:solidFill>
                            <a:srgbClr val="FFFFFF"/>
                          </a:solidFill>
                          <a:latin typeface="Inter"/>
                        </a:rPr>
                        <a:t>$19.07</a:t>
                      </a:r>
                    </a:p>
                  </a:txBody>
                  <a:tcPr marL="91440" marR="91440" marT="45720" marB="45720" anchor="ctr">
                    <a:solidFill>
                      <a:srgbClr val="1A2742"/>
                    </a:solidFill>
                  </a:tcPr>
                </a:tc>
                <a:tc>
                  <a:txBody>
                    <a:bodyPr wrap="square"/>
                    <a:lstStyle/>
                    <a:p>
                      <a:r>
                        <a:rPr sz="1400" b="0">
                          <a:solidFill>
                            <a:srgbClr val="FFFFFF"/>
                          </a:solidFill>
                          <a:latin typeface="Inter"/>
                        </a:rPr>
                        <a:t>−66.1%</a:t>
                      </a:r>
                    </a:p>
                  </a:txBody>
                  <a:tcPr marL="91440" marR="91440" marT="45720" marB="45720" anchor="ctr">
                    <a:solidFill>
                      <a:srgbClr val="1A274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A and B against the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AT-02, AT-06: attributes and masking, integration tests green</a:t>
            </a:r>
          </a:p>
          <a:p>
            <a:pPr marL="292608" indent="-292608">
              <a:lnSpc>
                <a:spcPct val="120000"/>
              </a:lnSpc>
              <a:spcAft>
                <a:spcPts val="1539"/>
              </a:spcAft>
              <a:buClr>
                <a:srgbClr val="00D4AA"/>
              </a:buClr>
              <a:buFont typeface="Inter"/>
              <a:buChar char="•"/>
            </a:pPr>
            <a:r>
              <a:rPr sz="2200" b="0">
                <a:solidFill>
                  <a:srgbClr val="FFFFFF"/>
                </a:solidFill>
                <a:latin typeface="Inter"/>
              </a:rPr>
              <a:t>AT-09: one cost in three places</a:t>
            </a:r>
          </a:p>
          <a:p>
            <a:pPr marL="292608" indent="-292608">
              <a:lnSpc>
                <a:spcPct val="120000"/>
              </a:lnSpc>
              <a:spcAft>
                <a:spcPts val="1539"/>
              </a:spcAft>
              <a:buClr>
                <a:srgbClr val="00D4AA"/>
              </a:buClr>
              <a:buFont typeface="Inter"/>
              <a:buChar char="•"/>
            </a:pPr>
            <a:r>
              <a:rPr sz="2200" b="0">
                <a:solidFill>
                  <a:srgbClr val="FFFFFF"/>
                </a:solidFill>
                <a:latin typeface="Inter"/>
              </a:rPr>
              <a:t>AT-10 to AT-12: caching, diet, routing measured on one seed</a:t>
            </a:r>
          </a:p>
          <a:p>
            <a:pPr marL="292608" indent="-292608">
              <a:lnSpc>
                <a:spcPct val="120000"/>
              </a:lnSpc>
              <a:spcAft>
                <a:spcPts val="1539"/>
              </a:spcAft>
              <a:buClr>
                <a:srgbClr val="00D4AA"/>
              </a:buClr>
              <a:buFont typeface="Inter"/>
              <a:buChar char="•"/>
            </a:pPr>
            <a:r>
              <a:rPr sz="2200" b="0">
                <a:solidFill>
                  <a:srgbClr val="FFFFFF"/>
                </a:solidFill>
                <a:latin typeface="Inter"/>
              </a:rPr>
              <a:t>AT-13, AT-14: degrade and refuse, 429 tested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Startup order: provider, Langfuse, instrumentor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Cost once, written everywhere, proven equal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Each lever measured alone and combined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Reference solution part B: quality, dashboards, alerts, CI (Part A and Part B)</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part B of the reference: the judge, drift, the dashboard, alerts and the CI gate.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Reference solution part B: quality, dashboards, alerts, CI (Part A and Part B)</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sampled online judge and feedback loop so scores land in Langfuse with prompt version metadata, and produce the weekly drift…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a sample; report what judging costs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Drift by window and by prompt version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Failures become the regression dataset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Atlas Ops dashboard, as shipped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Variables: </a:t>
            </a:r>
            <a:r>
              <a:rPr sz="1472" b="0">
                <a:solidFill>
                  <a:srgbClr val="00D4AA"/>
                </a:solidFill>
                <a:latin typeface="JetBrains Mono"/>
              </a:rPr>
              <a:t>tenant</a:t>
            </a:r>
            <a:r>
              <a:rPr sz="1600" b="0">
                <a:solidFill>
                  <a:srgbClr val="FFFFFF"/>
                </a:solidFill>
                <a:latin typeface="Inter"/>
              </a:rPr>
              <a:t>, </a:t>
            </a:r>
            <a:r>
              <a:rPr sz="1472" b="0">
                <a:solidFill>
                  <a:srgbClr val="00D4AA"/>
                </a:solidFill>
                <a:latin typeface="JetBrains Mono"/>
              </a:rPr>
              <a:t>feature</a:t>
            </a:r>
            <a:r>
              <a:rPr sz="1600" b="0">
                <a:solidFill>
                  <a:srgbClr val="FFFFFF"/>
                </a:solidFill>
                <a:latin typeface="Inter"/>
              </a:rPr>
              <a:t>; annotation: releases from </a:t>
            </a:r>
            <a:r>
              <a:rPr sz="1472" b="0">
                <a:solidFill>
                  <a:srgbClr val="00D4AA"/>
                </a:solidFill>
                <a:latin typeface="JetBrains Mono"/>
              </a:rPr>
              <a:t>atlas_build_info</a:t>
            </a:r>
          </a:p>
          <a:p>
            <a:pPr marL="292608" indent="-292608">
              <a:lnSpc>
                <a:spcPct val="120000"/>
              </a:lnSpc>
              <a:spcAft>
                <a:spcPts val="1120"/>
              </a:spcAft>
              <a:buClr>
                <a:srgbClr val="00D4AA"/>
              </a:buClr>
              <a:buFont typeface="Inter"/>
              <a:buChar char="•"/>
            </a:pPr>
            <a:r>
              <a:rPr sz="1600" b="0">
                <a:solidFill>
                  <a:srgbClr val="FFFFFF"/>
                </a:solidFill>
                <a:latin typeface="Inter"/>
              </a:rPr>
              <a:t>SLIs: task success, containment, p95 latency, cost per resolved session</a:t>
            </a:r>
          </a:p>
          <a:p>
            <a:pPr marL="292608" indent="-292608">
              <a:lnSpc>
                <a:spcPct val="120000"/>
              </a:lnSpc>
              <a:spcAft>
                <a:spcPts val="1120"/>
              </a:spcAft>
              <a:buClr>
                <a:srgbClr val="00D4AA"/>
              </a:buClr>
              <a:buFont typeface="Inter"/>
              <a:buChar char="•"/>
            </a:pPr>
            <a:r>
              <a:rPr sz="1600" b="0">
                <a:solidFill>
                  <a:srgbClr val="FFFFFF"/>
                </a:solidFill>
                <a:latin typeface="Inter"/>
              </a:rPr>
              <a:t>Traffic and latency: requests, p50/p95/p99, TTFT by model, outcomes, steps, tool errors</a:t>
            </a:r>
          </a:p>
          <a:p>
            <a:pPr marL="292608" indent="-292608">
              <a:lnSpc>
                <a:spcPct val="120000"/>
              </a:lnSpc>
              <a:spcAft>
                <a:spcPts val="1120"/>
              </a:spcAft>
              <a:buClr>
                <a:srgbClr val="00D4AA"/>
              </a:buClr>
              <a:buFont typeface="Inter"/>
              <a:buChar char="•"/>
            </a:pPr>
            <a:r>
              <a:rPr sz="1600" b="0">
                <a:solidFill>
                  <a:srgbClr val="FFFFFF"/>
                </a:solidFill>
                <a:latin typeface="Inter"/>
              </a:rPr>
              <a:t>Cost: per tenant, per feature, tokens, cache hit ratio, retries, budget decisions</a:t>
            </a:r>
          </a:p>
          <a:p>
            <a:pPr marL="292608" indent="-292608">
              <a:lnSpc>
                <a:spcPct val="120000"/>
              </a:lnSpc>
              <a:spcAft>
                <a:spcPts val="1120"/>
              </a:spcAft>
              <a:buClr>
                <a:srgbClr val="00D4AA"/>
              </a:buClr>
              <a:buFont typeface="Inter"/>
              <a:buChar char="•"/>
            </a:pPr>
            <a:r>
              <a:rPr sz="1600" b="0">
                <a:solidFill>
                  <a:srgbClr val="FFFFFF"/>
                </a:solidFill>
                <a:latin typeface="Inter"/>
              </a:rPr>
              <a:t>Quality and safety: judge mean, feedback, guardrail events, export failures</a:t>
            </a:r>
          </a:p>
        </p:txBody>
      </p:sp>
      <p:pic>
        <p:nvPicPr>
          <p:cNvPr id="6" name="Picture 5" descr="D11-ops-dashboar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B against the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AT-19, AT-20: drift isolates v2; judge cost reported</a:t>
            </a:r>
          </a:p>
          <a:p>
            <a:pPr marL="292608" indent="-292608">
              <a:lnSpc>
                <a:spcPct val="120000"/>
              </a:lnSpc>
              <a:spcAft>
                <a:spcPts val="1539"/>
              </a:spcAft>
              <a:buClr>
                <a:srgbClr val="00D4AA"/>
              </a:buClr>
              <a:buFont typeface="Inter"/>
              <a:buChar char="•"/>
            </a:pPr>
            <a:r>
              <a:rPr sz="2200" b="0">
                <a:solidFill>
                  <a:srgbClr val="FFFFFF"/>
                </a:solidFill>
                <a:latin typeface="Inter"/>
              </a:rPr>
              <a:t>AT-21: no user or session labels on </a:t>
            </a:r>
            <a:r>
              <a:rPr sz="2024" b="0">
                <a:solidFill>
                  <a:srgbClr val="00D4AA"/>
                </a:solidFill>
                <a:latin typeface="JetBrains Mono"/>
              </a:rPr>
              <a:t>/metrics</a:t>
            </a:r>
          </a:p>
          <a:p>
            <a:pPr marL="292608" indent="-292608">
              <a:lnSpc>
                <a:spcPct val="120000"/>
              </a:lnSpc>
              <a:spcAft>
                <a:spcPts val="1539"/>
              </a:spcAft>
              <a:buClr>
                <a:srgbClr val="00D4AA"/>
              </a:buClr>
              <a:buFont typeface="Inter"/>
              <a:buChar char="•"/>
            </a:pPr>
            <a:r>
              <a:rPr sz="2200" b="0">
                <a:solidFill>
                  <a:srgbClr val="FFFFFF"/>
                </a:solidFill>
                <a:latin typeface="Inter"/>
              </a:rPr>
              <a:t>AT-22: three alerts, each with runbook, owner, a firing screenshot</a:t>
            </a:r>
          </a:p>
          <a:p>
            <a:pPr marL="292608" indent="-292608">
              <a:lnSpc>
                <a:spcPct val="120000"/>
              </a:lnSpc>
              <a:spcAft>
                <a:spcPts val="1539"/>
              </a:spcAft>
              <a:buClr>
                <a:srgbClr val="00D4AA"/>
              </a:buClr>
              <a:buFont typeface="Inter"/>
              <a:buChar char="•"/>
            </a:pPr>
            <a:r>
              <a:rPr sz="2200" b="0">
                <a:solidFill>
                  <a:srgbClr val="FFFFFF"/>
                </a:solidFill>
                <a:latin typeface="Inter"/>
              </a:rPr>
              <a:t>AT-24: gate red on a top-k change, required for merge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feedback, drift, dataset: one loop</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Dashboard and alerts are code; add owners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gate is required, and red with a number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weekly ops report your manager reads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last deliverable: the weekly ops report that turns all of this into one page a manager…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weekly ops report your manager reads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Generate a one-page weekly markdown report from cost records, latency samples, judge scores, feedback and incidents with </a:t>
            </a:r>
            <a:r>
              <a:rPr sz="1472" b="0">
                <a:solidFill>
                  <a:srgbClr val="00D4AA"/>
                </a:solidFill>
                <a:latin typeface="JetBrains Mono"/>
              </a:rPr>
              <a:t>northwind.report.weekly_report</a:t>
            </a:r>
            <a:r>
              <a:rPr sz="1600" b="0">
                <a:solidFill>
                  <a:srgbClr val="CBD5E1"/>
                </a:solidFill>
                <a:latin typeface="Inter"/>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Rules for the one-pager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Headline numbers with last week and the budget beside each</a:t>
            </a:r>
          </a:p>
          <a:p>
            <a:pPr marL="292608" indent="-292608">
              <a:lnSpc>
                <a:spcPct val="120000"/>
              </a:lnSpc>
              <a:spcAft>
                <a:spcPts val="1260"/>
              </a:spcAft>
              <a:buClr>
                <a:srgbClr val="00D4AA"/>
              </a:buClr>
              <a:buFont typeface="Inter"/>
              <a:buChar char="•"/>
            </a:pPr>
            <a:r>
              <a:rPr sz="1800" b="0">
                <a:solidFill>
                  <a:srgbClr val="FFFFFF"/>
                </a:solidFill>
                <a:latin typeface="Inter"/>
              </a:rPr>
              <a:t>Outcomes and money for the manager; tokens and model mix stay in the console</a:t>
            </a:r>
          </a:p>
          <a:p>
            <a:pPr marL="292608" indent="-292608">
              <a:lnSpc>
                <a:spcPct val="120000"/>
              </a:lnSpc>
              <a:spcAft>
                <a:spcPts val="1260"/>
              </a:spcAft>
              <a:buClr>
                <a:srgbClr val="00D4AA"/>
              </a:buClr>
              <a:buFont typeface="Inter"/>
              <a:buChar char="•"/>
            </a:pPr>
            <a:r>
              <a:rPr sz="1800" b="0">
                <a:solidFill>
                  <a:srgbClr val="FFFFFF"/>
                </a:solidFill>
                <a:latin typeface="Inter"/>
              </a:rPr>
              <a:t>Same aggregation code as the console, so the numbers cannot disagree</a:t>
            </a:r>
          </a:p>
          <a:p>
            <a:pPr marL="292608" indent="-292608">
              <a:lnSpc>
                <a:spcPct val="120000"/>
              </a:lnSpc>
              <a:spcAft>
                <a:spcPts val="1260"/>
              </a:spcAft>
              <a:buClr>
                <a:srgbClr val="00D4AA"/>
              </a:buClr>
              <a:buFont typeface="Inter"/>
              <a:buChar char="•"/>
            </a:pPr>
            <a:r>
              <a:rPr sz="1800" b="0">
                <a:solidFill>
                  <a:srgbClr val="FFFFFF"/>
                </a:solidFill>
                <a:latin typeface="Inter"/>
              </a:rPr>
              <a:t>Recommendations: at most three, each with a number and an action; add the owner when you send it</a:t>
            </a:r>
          </a:p>
          <a:p>
            <a:pPr marL="292608" indent="-292608">
              <a:lnSpc>
                <a:spcPct val="120000"/>
              </a:lnSpc>
              <a:spcAft>
                <a:spcPts val="1260"/>
              </a:spcAft>
              <a:buClr>
                <a:srgbClr val="00D4AA"/>
              </a:buClr>
              <a:buFont typeface="Inter"/>
              <a:buChar char="•"/>
            </a:pPr>
            <a:r>
              <a:rPr sz="1800" b="0">
                <a:solidFill>
                  <a:srgbClr val="FFFFFF"/>
                </a:solidFill>
                <a:latin typeface="Inter"/>
              </a:rPr>
              <a:t>Generated, dated, committed to </a:t>
            </a:r>
            <a:r>
              <a:rPr sz="1656" b="0">
                <a:solidFill>
                  <a:srgbClr val="00D4AA"/>
                </a:solidFill>
                <a:latin typeface="JetBrains Mono"/>
              </a:rPr>
              <a:t>reports/</a:t>
            </a:r>
            <a:r>
              <a:rPr sz="1800" b="0">
                <a:solidFill>
                  <a:srgbClr val="FFFFFF"/>
                </a:solidFill>
                <a:latin typeface="Inter"/>
              </a:rPr>
              <a:t>; never hand-edited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page: outcomes and money first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aggregation code as the console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At most three recommendations, with numbers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Capstone submission and portfolio</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submitting the capstone and turning it into a portfolio piece that gets you interviews.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Capstone submission and portfolio</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Assemble the seven deliverables into a repository a reviewer can evaluate in fifteen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Repository structure a reviewer can navigate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README.md</a:t>
            </a:r>
            <a:r>
              <a:rPr sz="1800" b="0">
                <a:solidFill>
                  <a:srgbClr val="FFFFFF"/>
                </a:solidFill>
                <a:latin typeface="Inter"/>
              </a:rPr>
              <a:t>: what it is, three numbers, how to run it offline in five commands, screenshots</a:t>
            </a:r>
          </a:p>
          <a:p>
            <a:pPr marL="292608" indent="-292608">
              <a:lnSpc>
                <a:spcPct val="120000"/>
              </a:lnSpc>
              <a:spcAft>
                <a:spcPts val="1260"/>
              </a:spcAft>
              <a:buClr>
                <a:srgbClr val="00D4AA"/>
              </a:buClr>
              <a:buFont typeface="Inter"/>
              <a:buChar char="•"/>
            </a:pPr>
            <a:r>
              <a:rPr sz="1656" b="0">
                <a:solidFill>
                  <a:srgbClr val="00D4AA"/>
                </a:solidFill>
                <a:latin typeface="JetBrains Mono"/>
              </a:rPr>
              <a:t>ACCEPTANCE.md</a:t>
            </a:r>
            <a:r>
              <a:rPr sz="1800" b="0">
                <a:solidFill>
                  <a:srgbClr val="FFFFFF"/>
                </a:solidFill>
                <a:latin typeface="Inter"/>
              </a:rPr>
              <a:t>: 24 tests, PASS or FAIL, evidence link per row</a:t>
            </a:r>
          </a:p>
          <a:p>
            <a:pPr marL="292608" indent="-292608">
              <a:lnSpc>
                <a:spcPct val="120000"/>
              </a:lnSpc>
              <a:spcAft>
                <a:spcPts val="1260"/>
              </a:spcAft>
              <a:buClr>
                <a:srgbClr val="00D4AA"/>
              </a:buClr>
              <a:buFont typeface="Inter"/>
              <a:buChar char="•"/>
            </a:pPr>
            <a:r>
              <a:rPr sz="1656" b="0">
                <a:solidFill>
                  <a:srgbClr val="00D4AA"/>
                </a:solidFill>
                <a:latin typeface="JetBrains Mono"/>
              </a:rPr>
              <a:t>REPORT-week.md</a:t>
            </a:r>
            <a:r>
              <a:rPr sz="1800" b="0">
                <a:solidFill>
                  <a:srgbClr val="FFFFFF"/>
                </a:solidFill>
                <a:latin typeface="Inter"/>
              </a:rPr>
              <a:t>: the generated weekly report</a:t>
            </a:r>
          </a:p>
          <a:p>
            <a:pPr marL="292608" indent="-292608">
              <a:lnSpc>
                <a:spcPct val="120000"/>
              </a:lnSpc>
              <a:spcAft>
                <a:spcPts val="1260"/>
              </a:spcAft>
              <a:buClr>
                <a:srgbClr val="00D4AA"/>
              </a:buClr>
              <a:buFont typeface="Inter"/>
              <a:buChar char="•"/>
            </a:pPr>
            <a:r>
              <a:rPr sz="1656" b="0">
                <a:solidFill>
                  <a:srgbClr val="00D4AA"/>
                </a:solidFill>
                <a:latin typeface="JetBrains Mono"/>
              </a:rPr>
              <a:t>INCIDENTS.md</a:t>
            </a:r>
            <a:r>
              <a:rPr sz="1800" b="0">
                <a:solidFill>
                  <a:srgbClr val="FFFFFF"/>
                </a:solidFill>
                <a:latin typeface="Inter"/>
              </a:rPr>
              <a:t> and </a:t>
            </a:r>
            <a:r>
              <a:rPr sz="1656" b="0">
                <a:solidFill>
                  <a:srgbClr val="00D4AA"/>
                </a:solidFill>
                <a:latin typeface="JetBrains Mono"/>
              </a:rPr>
              <a:t>postmortems/</a:t>
            </a:r>
            <a:r>
              <a:rPr sz="1800" b="0">
                <a:solidFill>
                  <a:srgbClr val="FFFFFF"/>
                </a:solidFill>
                <a:latin typeface="Inter"/>
              </a:rPr>
              <a:t>: five scenarios, plus Section 11 and Project 2</a:t>
            </a:r>
          </a:p>
          <a:p>
            <a:pPr marL="292608" indent="-292608">
              <a:lnSpc>
                <a:spcPct val="120000"/>
              </a:lnSpc>
              <a:spcAft>
                <a:spcPts val="1260"/>
              </a:spcAft>
              <a:buClr>
                <a:srgbClr val="00D4AA"/>
              </a:buClr>
              <a:buFont typeface="Inter"/>
              <a:buChar char="•"/>
            </a:pPr>
            <a:r>
              <a:rPr sz="1656" b="0">
                <a:solidFill>
                  <a:srgbClr val="00D4AA"/>
                </a:solidFill>
                <a:latin typeface="JetBrains Mono"/>
              </a:rPr>
              <a:t>DIFF_NOTES.md</a:t>
            </a:r>
            <a:r>
              <a:rPr sz="1800" b="0">
                <a:solidFill>
                  <a:srgbClr val="FFFFFF"/>
                </a:solidFill>
                <a:latin typeface="Inter"/>
              </a:rPr>
              <a:t>: three differences from the reference and what you did about each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Repository structure a reviewer can navigate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deploy/</a:t>
            </a:r>
            <a:r>
              <a:rPr sz="2200" b="0">
                <a:solidFill>
                  <a:srgbClr val="FFFFFF"/>
                </a:solidFill>
                <a:latin typeface="Inter"/>
              </a:rPr>
              <a:t>, </a:t>
            </a:r>
            <a:r>
              <a:rPr sz="2024" b="0">
                <a:solidFill>
                  <a:srgbClr val="00D4AA"/>
                </a:solidFill>
                <a:latin typeface="JetBrains Mono"/>
              </a:rPr>
              <a:t>tests/</a:t>
            </a:r>
            <a:r>
              <a:rPr sz="2200" b="0">
                <a:solidFill>
                  <a:srgbClr val="FFFFFF"/>
                </a:solidFill>
                <a:latin typeface="Inter"/>
              </a:rPr>
              <a:t>, </a:t>
            </a:r>
            <a:r>
              <a:rPr sz="2024" b="0">
                <a:solidFill>
                  <a:srgbClr val="00D4AA"/>
                </a:solidFill>
                <a:latin typeface="JetBrains Mono"/>
              </a:rPr>
              <a:t>.github/workflows/</a:t>
            </a:r>
            <a:r>
              <a:rPr sz="2200" b="0">
                <a:solidFill>
                  <a:srgbClr val="FFFFFF"/>
                </a:solidFill>
                <a:latin typeface="Inter"/>
              </a:rPr>
              <a:t>: the stack and the gate, unchanged in shape from the course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Numbers beat adjectives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3679689"/>
                <a:gridCol w="7613150"/>
              </a:tblGrid>
              <a:tr h="384048">
                <a:tc>
                  <a:txBody>
                    <a:bodyPr wrap="square"/>
                    <a:lstStyle/>
                    <a:p>
                      <a:r>
                        <a:rPr sz="1200" b="1">
                          <a:solidFill>
                            <a:srgbClr val="0A1628"/>
                          </a:solidFill>
                          <a:latin typeface="Inter"/>
                        </a:rPr>
                        <a:t>Weak</a:t>
                      </a:r>
                    </a:p>
                  </a:txBody>
                  <a:tcPr marL="91440" marR="91440" marT="45720" marB="45720" anchor="ctr">
                    <a:solidFill>
                      <a:srgbClr val="00D4AA"/>
                    </a:solidFill>
                  </a:tcPr>
                </a:tc>
                <a:tc>
                  <a:txBody>
                    <a:bodyPr wrap="square"/>
                    <a:lstStyle/>
                    <a:p>
                      <a:r>
                        <a:rPr sz="1200" b="1">
                          <a:solidFill>
                            <a:srgbClr val="0A1628"/>
                          </a:solidFill>
                          <a:latin typeface="Inter"/>
                        </a:rPr>
                        <a:t>Strong</a:t>
                      </a:r>
                    </a:p>
                  </a:txBody>
                  <a:tcPr marL="91440" marR="91440" marT="45720" marB="45720" anchor="ctr">
                    <a:solidFill>
                      <a:srgbClr val="00D4AA"/>
                    </a:solidFill>
                  </a:tcPr>
                </a:tc>
              </a:tr>
              <a:tr h="384048">
                <a:tc>
                  <a:txBody>
                    <a:bodyPr wrap="square"/>
                    <a:lstStyle/>
                    <a:p>
                      <a:r>
                        <a:rPr sz="1200" b="1">
                          <a:solidFill>
                            <a:srgbClr val="FFFFFF"/>
                          </a:solidFill>
                          <a:latin typeface="Inter"/>
                        </a:rPr>
                        <a:t>"Comprehensive observability"</a:t>
                      </a:r>
                    </a:p>
                  </a:txBody>
                  <a:tcPr marL="91440" marR="91440" marT="45720" marB="45720" anchor="ctr">
                    <a:solidFill>
                      <a:srgbClr val="1A2742"/>
                    </a:solidFill>
                  </a:tcPr>
                </a:tc>
                <a:tc>
                  <a:txBody>
                    <a:bodyPr wrap="square"/>
                    <a:lstStyle/>
                    <a:p>
                      <a:r>
                        <a:rPr sz="1200" b="0">
                          <a:solidFill>
                            <a:srgbClr val="FFFFFF"/>
                          </a:solidFill>
                          <a:latin typeface="Inter"/>
                        </a:rPr>
                        <a:t>"Every generation, tool and retriever span carries GenAI attributes; 40 integration tests in CI"</a:t>
                      </a:r>
                    </a:p>
                  </a:txBody>
                  <a:tcPr marL="91440" marR="91440" marT="45720" marB="45720" anchor="ctr">
                    <a:solidFill>
                      <a:srgbClr val="1A2742"/>
                    </a:solidFill>
                  </a:tcPr>
                </a:tc>
              </a:tr>
              <a:tr h="384048">
                <a:tc>
                  <a:txBody>
                    <a:bodyPr wrap="square"/>
                    <a:lstStyle/>
                    <a:p>
                      <a:r>
                        <a:rPr sz="1200" b="1">
                          <a:solidFill>
                            <a:srgbClr val="FFFFFF"/>
                          </a:solidFill>
                          <a:latin typeface="Inter"/>
                        </a:rPr>
                        <a:t>"Significantly reduced costs"</a:t>
                      </a:r>
                    </a:p>
                  </a:txBody>
                  <a:tcPr marL="91440" marR="91440" marT="45720" marB="45720" anchor="ctr">
                    <a:solidFill>
                      <a:srgbClr val="0F1E35"/>
                    </a:solidFill>
                  </a:tcPr>
                </a:tc>
                <a:tc>
                  <a:txBody>
                    <a:bodyPr wrap="square"/>
                    <a:lstStyle/>
                    <a:p>
                      <a:r>
                        <a:rPr sz="1200" b="0">
                          <a:solidFill>
                            <a:srgbClr val="FFFFFF"/>
                          </a:solidFill>
                          <a:latin typeface="Inter"/>
                        </a:rPr>
                        <a:t>"Daily cost $56.28 → $19.07 on a replayed day (−66%); caching −34%, diet −25%, routing −16% alone"</a:t>
                      </a:r>
                    </a:p>
                  </a:txBody>
                  <a:tcPr marL="91440" marR="91440" marT="45720" marB="45720" anchor="ctr">
                    <a:solidFill>
                      <a:srgbClr val="0F1E35"/>
                    </a:solidFill>
                  </a:tcPr>
                </a:tc>
              </a:tr>
              <a:tr h="384048">
                <a:tc>
                  <a:txBody>
                    <a:bodyPr wrap="square"/>
                    <a:lstStyle/>
                    <a:p>
                      <a:r>
                        <a:rPr sz="1200" b="1">
                          <a:solidFill>
                            <a:srgbClr val="FFFFFF"/>
                          </a:solidFill>
                          <a:latin typeface="Inter"/>
                        </a:rPr>
                        <a:t>"Robust to failures"</a:t>
                      </a:r>
                    </a:p>
                  </a:txBody>
                  <a:tcPr marL="91440" marR="91440" marT="45720" marB="45720" anchor="ctr">
                    <a:solidFill>
                      <a:srgbClr val="1A2742"/>
                    </a:solidFill>
                  </a:tcPr>
                </a:tc>
                <a:tc>
                  <a:txBody>
                    <a:bodyPr wrap="square"/>
                    <a:lstStyle/>
                    <a:p>
                      <a:r>
                        <a:rPr sz="1200" b="0">
                          <a:solidFill>
                            <a:srgbClr val="FFFFFF"/>
                          </a:solidFill>
                          <a:latin typeface="Inter"/>
                        </a:rPr>
                        <a:t>"Collector down under load: spans dropped, every request served; 3 exporter-failure tests"</a:t>
                      </a:r>
                    </a:p>
                  </a:txBody>
                  <a:tcPr marL="91440" marR="91440" marT="45720" marB="45720" anchor="ctr">
                    <a:solidFill>
                      <a:srgbClr val="1A2742"/>
                    </a:solidFill>
                  </a:tcPr>
                </a:tc>
              </a:tr>
              <a:tr h="384048">
                <a:tc>
                  <a:txBody>
                    <a:bodyPr wrap="square"/>
                    <a:lstStyle/>
                    <a:p>
                      <a:r>
                        <a:rPr sz="1200" b="1">
                          <a:solidFill>
                            <a:srgbClr val="FFFFFF"/>
                          </a:solidFill>
                          <a:latin typeface="Inter"/>
                        </a:rPr>
                        <a:t>"Monitoring and alerting"</a:t>
                      </a:r>
                    </a:p>
                  </a:txBody>
                  <a:tcPr marL="91440" marR="91440" marT="45720" marB="45720" anchor="ctr">
                    <a:solidFill>
                      <a:srgbClr val="0F1E35"/>
                    </a:solidFill>
                  </a:tcPr>
                </a:tc>
                <a:tc>
                  <a:txBody>
                    <a:bodyPr wrap="square"/>
                    <a:lstStyle/>
                    <a:p>
                      <a:r>
                        <a:rPr sz="1200" b="0">
                          <a:solidFill>
                            <a:srgbClr val="FFFFFF"/>
                          </a:solidFill>
                          <a:latin typeface="Inter"/>
                        </a:rPr>
                        <a:t>"21-panel Grafana dashboard as code; 3 owned alerts with runbooks; anomaly flagged 30 min after onset"</a:t>
                      </a:r>
                    </a:p>
                  </a:txBody>
                  <a:tcPr marL="91440" marR="91440" marT="45720" marB="45720" anchor="ctr">
                    <a:solidFill>
                      <a:srgbClr val="0F1E35"/>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postmortems are the differentiator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Most portfolios show things that work; yours shows how you find out why things broke</a:t>
            </a:r>
          </a:p>
          <a:p>
            <a:pPr marL="292608" indent="-292608">
              <a:lnSpc>
                <a:spcPct val="120000"/>
              </a:lnSpc>
              <a:spcAft>
                <a:spcPts val="1260"/>
              </a:spcAft>
              <a:buClr>
                <a:srgbClr val="00D4AA"/>
              </a:buClr>
              <a:buFont typeface="Inter"/>
              <a:buChar char="•"/>
            </a:pPr>
            <a:r>
              <a:rPr sz="1800" b="0">
                <a:solidFill>
                  <a:srgbClr val="FFFFFF"/>
                </a:solidFill>
                <a:latin typeface="Inter"/>
              </a:rPr>
              <a:t>Include two postmortems from Section 11, written in your words, with the action items</a:t>
            </a:r>
          </a:p>
          <a:p>
            <a:pPr marL="292608" indent="-292608">
              <a:lnSpc>
                <a:spcPct val="120000"/>
              </a:lnSpc>
              <a:spcAft>
                <a:spcPts val="1260"/>
              </a:spcAft>
              <a:buClr>
                <a:srgbClr val="00D4AA"/>
              </a:buClr>
              <a:buFont typeface="Inter"/>
              <a:buChar char="•"/>
            </a:pPr>
            <a:r>
              <a:rPr sz="1800" b="0">
                <a:solidFill>
                  <a:srgbClr val="FFFFFF"/>
                </a:solidFill>
                <a:latin typeface="Inter"/>
              </a:rPr>
              <a:t>In the README: "Incident response" section, one line per incident, link to the postmortem</a:t>
            </a:r>
          </a:p>
          <a:p>
            <a:pPr marL="292608" indent="-292608">
              <a:lnSpc>
                <a:spcPct val="120000"/>
              </a:lnSpc>
              <a:spcAft>
                <a:spcPts val="1260"/>
              </a:spcAft>
              <a:buClr>
                <a:srgbClr val="00D4AA"/>
              </a:buClr>
              <a:buFont typeface="Inter"/>
              <a:buChar char="•"/>
            </a:pPr>
            <a:r>
              <a:rPr sz="1800" b="0">
                <a:solidFill>
                  <a:srgbClr val="FFFFFF"/>
                </a:solidFill>
                <a:latin typeface="Inter"/>
              </a:rPr>
              <a:t>Interviewers ask "tell me about a time something broke": now you have three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portfolio post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Title with a number: "Cutting an AI agent's daily cost by 66% without moving its quality scores"</a:t>
            </a:r>
          </a:p>
          <a:p>
            <a:pPr marL="292608" indent="-292608">
              <a:lnSpc>
                <a:spcPct val="120000"/>
              </a:lnSpc>
              <a:spcAft>
                <a:spcPts val="1260"/>
              </a:spcAft>
              <a:buClr>
                <a:srgbClr val="00D4AA"/>
              </a:buClr>
              <a:buFont typeface="Inter"/>
              <a:buChar char="•"/>
            </a:pPr>
            <a:r>
              <a:rPr sz="1800" b="0">
                <a:solidFill>
                  <a:srgbClr val="FFFFFF"/>
                </a:solidFill>
                <a:latin typeface="Inter"/>
              </a:rPr>
              <a:t>Three paragraphs: the problem, what you built (with the architecture diagram), what you measured</a:t>
            </a:r>
          </a:p>
          <a:p>
            <a:pPr marL="292608" indent="-292608">
              <a:lnSpc>
                <a:spcPct val="120000"/>
              </a:lnSpc>
              <a:spcAft>
                <a:spcPts val="1260"/>
              </a:spcAft>
              <a:buClr>
                <a:srgbClr val="00D4AA"/>
              </a:buClr>
              <a:buFont typeface="Inter"/>
              <a:buChar char="•"/>
            </a:pPr>
            <a:r>
              <a:rPr sz="1800" b="0">
                <a:solidFill>
                  <a:srgbClr val="FFFFFF"/>
                </a:solidFill>
                <a:latin typeface="Inter"/>
              </a:rPr>
              <a:t>One incident story in four sentences</a:t>
            </a:r>
          </a:p>
          <a:p>
            <a:pPr marL="292608" indent="-292608">
              <a:lnSpc>
                <a:spcPct val="120000"/>
              </a:lnSpc>
              <a:spcAft>
                <a:spcPts val="1260"/>
              </a:spcAft>
              <a:buClr>
                <a:srgbClr val="00D4AA"/>
              </a:buClr>
              <a:buFont typeface="Inter"/>
              <a:buChar char="•"/>
            </a:pPr>
            <a:r>
              <a:rPr sz="1800" b="0">
                <a:solidFill>
                  <a:srgbClr val="FFFFFF"/>
                </a:solidFill>
                <a:latin typeface="Inter"/>
              </a:rPr>
              <a:t>Link to the repo; mention offline mode so anyone can run it</a:t>
            </a:r>
          </a:p>
          <a:p>
            <a:pPr marL="292608" indent="-292608">
              <a:lnSpc>
                <a:spcPct val="120000"/>
              </a:lnSpc>
              <a:spcAft>
                <a:spcPts val="1260"/>
              </a:spcAft>
              <a:buClr>
                <a:srgbClr val="00D4AA"/>
              </a:buClr>
              <a:buFont typeface="Inter"/>
              <a:buChar char="•"/>
            </a:pPr>
            <a:r>
              <a:rPr sz="1800" b="0">
                <a:solidFill>
                  <a:srgbClr val="FFFFFF"/>
                </a:solidFill>
                <a:latin typeface="Inter"/>
              </a:rPr>
              <a:t>No vendor bashing; credit the tools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Submission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Submit the repo link through the capstone assignment in this lecture</a:t>
            </a:r>
          </a:p>
          <a:p>
            <a:pPr marL="292608" indent="-292608">
              <a:lnSpc>
                <a:spcPct val="120000"/>
              </a:lnSpc>
              <a:spcAft>
                <a:spcPts val="1260"/>
              </a:spcAft>
              <a:buClr>
                <a:srgbClr val="00D4AA"/>
              </a:buClr>
              <a:buFont typeface="Inter"/>
              <a:buChar char="•"/>
            </a:pPr>
            <a:r>
              <a:rPr sz="1800" b="0">
                <a:solidFill>
                  <a:srgbClr val="FFFFFF"/>
                </a:solidFill>
                <a:latin typeface="Inter"/>
              </a:rPr>
              <a:t>Include </a:t>
            </a:r>
            <a:r>
              <a:rPr sz="1656" b="0">
                <a:solidFill>
                  <a:srgbClr val="00D4AA"/>
                </a:solidFill>
                <a:latin typeface="JetBrains Mono"/>
              </a:rPr>
              <a:t>ACCEPTANCE.md</a:t>
            </a:r>
            <a:r>
              <a:rPr sz="1800" b="0">
                <a:solidFill>
                  <a:srgbClr val="FFFFFF"/>
                </a:solidFill>
                <a:latin typeface="Inter"/>
              </a:rPr>
              <a:t> and the report in the submission text</a:t>
            </a:r>
          </a:p>
          <a:p>
            <a:pPr marL="292608" indent="-292608">
              <a:lnSpc>
                <a:spcPct val="120000"/>
              </a:lnSpc>
              <a:spcAft>
                <a:spcPts val="1260"/>
              </a:spcAft>
              <a:buClr>
                <a:srgbClr val="00D4AA"/>
              </a:buClr>
              <a:buFont typeface="Inter"/>
              <a:buChar char="•"/>
            </a:pPr>
            <a:r>
              <a:rPr sz="1800" b="0">
                <a:solidFill>
                  <a:srgbClr val="FFFFFF"/>
                </a:solidFill>
                <a:latin typeface="Inter"/>
              </a:rPr>
              <a:t>Post your three headline numbers in the Q&amp;A thread "Capstone results"</a:t>
            </a:r>
          </a:p>
          <a:p>
            <a:pPr marL="292608" indent="-292608">
              <a:lnSpc>
                <a:spcPct val="120000"/>
              </a:lnSpc>
              <a:spcAft>
                <a:spcPts val="1260"/>
              </a:spcAft>
              <a:buClr>
                <a:srgbClr val="00D4AA"/>
              </a:buClr>
              <a:buFont typeface="Inter"/>
              <a:buChar char="•"/>
            </a:pPr>
            <a:r>
              <a:rPr sz="1800" b="0">
                <a:solidFill>
                  <a:srgbClr val="FFFFFF"/>
                </a:solidFill>
                <a:latin typeface="Inter"/>
              </a:rPr>
              <a:t>Rubric: 100 points in the brief; pass 70, distinction 90 with 22 tests passing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Three numbers before the architecture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Measurements, not adjectives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Postmortems are the differentiator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Domain swap: observe a different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domain swap: point the same observability stack at a different agent and adapt the SLIs.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Domain swap: observe a different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Instrument a different agent, the Course 3 voice receptionist or your own, with the same OTel, Langfuse, metrics and CI stack.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Pick one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536192"/>
        </p:xfrm>
        <a:graphic>
          <a:graphicData uri="http://schemas.openxmlformats.org/drawingml/2006/table">
            <a:tbl>
              <a:tblPr firstRow="1" bandRow="1">
                <a:tableStyleId>{5C22544A-7EE6-4342-B048-85BDC9FD1C3A}</a:tableStyleId>
              </a:tblPr>
              <a:tblGrid>
                <a:gridCol w="537754"/>
                <a:gridCol w="5377542"/>
                <a:gridCol w="5377542"/>
              </a:tblGrid>
              <a:tr h="384048">
                <a:tc>
                  <a:txBody>
                    <a:bodyPr wrap="square"/>
                    <a:lstStyle/>
                    <a:p>
                      <a:r>
                        <a:rPr sz="1200" b="1">
                          <a:solidFill>
                            <a:srgbClr val="0A1628"/>
                          </a:solidFill>
                          <a:latin typeface="Inter"/>
                        </a:rPr>
                        <a:t>Option</a:t>
                      </a:r>
                    </a:p>
                  </a:txBody>
                  <a:tcPr marL="91440" marR="91440" marT="45720" marB="45720" anchor="ctr">
                    <a:solidFill>
                      <a:srgbClr val="00D4AA"/>
                    </a:solidFill>
                  </a:tcPr>
                </a:tc>
                <a:tc>
                  <a:txBody>
                    <a:bodyPr wrap="square"/>
                    <a:lstStyle/>
                    <a:p>
                      <a:r>
                        <a:rPr sz="1200" b="1">
                          <a:solidFill>
                            <a:srgbClr val="0A1628"/>
                          </a:solidFill>
                          <a:latin typeface="Inter"/>
                        </a:rPr>
                        <a:t>Agent</a:t>
                      </a:r>
                    </a:p>
                  </a:txBody>
                  <a:tcPr marL="91440" marR="91440" marT="45720" marB="45720" anchor="ctr">
                    <a:solidFill>
                      <a:srgbClr val="00D4AA"/>
                    </a:solidFill>
                  </a:tcPr>
                </a:tc>
                <a:tc>
                  <a:txBody>
                    <a:bodyPr wrap="square"/>
                    <a:lstStyle/>
                    <a:p>
                      <a:r>
                        <a:rPr sz="1200" b="1">
                          <a:solidFill>
                            <a:srgbClr val="0A1628"/>
                          </a:solidFill>
                          <a:latin typeface="Inter"/>
                        </a:rPr>
                        <a:t>What changes about the SLIs</a:t>
                      </a:r>
                    </a:p>
                  </a:txBody>
                  <a:tcPr marL="91440" marR="91440" marT="45720" marB="45720" anchor="ctr">
                    <a:solidFill>
                      <a:srgbClr val="00D4AA"/>
                    </a:solidFill>
                  </a:tcPr>
                </a:tc>
              </a:tr>
              <a:tr h="384048">
                <a:tc>
                  <a:txBody>
                    <a:bodyPr wrap="square"/>
                    <a:lstStyle/>
                    <a:p>
                      <a:r>
                        <a:rPr sz="1200" b="1">
                          <a:solidFill>
                            <a:srgbClr val="FFFFFF"/>
                          </a:solidFill>
                          <a:latin typeface="Inter"/>
                        </a:rPr>
                        <a:t>A</a:t>
                      </a:r>
                    </a:p>
                  </a:txBody>
                  <a:tcPr marL="91440" marR="91440" marT="45720" marB="45720" anchor="ctr">
                    <a:solidFill>
                      <a:srgbClr val="1A2742"/>
                    </a:solidFill>
                  </a:tcPr>
                </a:tc>
                <a:tc>
                  <a:txBody>
                    <a:bodyPr wrap="square"/>
                    <a:lstStyle/>
                    <a:p>
                      <a:r>
                        <a:rPr sz="1200" b="0">
                          <a:solidFill>
                            <a:srgbClr val="FFFFFF"/>
                          </a:solidFill>
                          <a:latin typeface="Inter"/>
                        </a:rPr>
                        <a:t>Riley, the voice receptionist from Production Voice AI Agents</a:t>
                      </a:r>
                    </a:p>
                  </a:txBody>
                  <a:tcPr marL="91440" marR="91440" marT="45720" marB="45720" anchor="ctr">
                    <a:solidFill>
                      <a:srgbClr val="1A2742"/>
                    </a:solidFill>
                  </a:tcPr>
                </a:tc>
                <a:tc>
                  <a:txBody>
                    <a:bodyPr wrap="square"/>
                    <a:lstStyle/>
                    <a:p>
                      <a:r>
                        <a:rPr sz="1200" b="0">
                          <a:solidFill>
                            <a:srgbClr val="FFFFFF"/>
                          </a:solidFill>
                          <a:latin typeface="Inter"/>
                        </a:rPr>
                        <a:t>Latency budget is voice-to-voice, about 1.6 s; cost per minute, not per session; TTFT matters more than p95 total</a:t>
                      </a:r>
                    </a:p>
                  </a:txBody>
                  <a:tcPr marL="91440" marR="91440" marT="45720" marB="45720" anchor="ctr">
                    <a:solidFill>
                      <a:srgbClr val="1A2742"/>
                    </a:solidFill>
                  </a:tcPr>
                </a:tc>
              </a:tr>
              <a:tr h="384048">
                <a:tc>
                  <a:txBody>
                    <a:bodyPr wrap="square"/>
                    <a:lstStyle/>
                    <a:p>
                      <a:r>
                        <a:rPr sz="1200" b="1">
                          <a:solidFill>
                            <a:srgbClr val="FFFFFF"/>
                          </a:solidFill>
                          <a:latin typeface="Inter"/>
                        </a:rPr>
                        <a:t>B</a:t>
                      </a:r>
                    </a:p>
                  </a:txBody>
                  <a:tcPr marL="91440" marR="91440" marT="45720" marB="45720" anchor="ctr">
                    <a:solidFill>
                      <a:srgbClr val="0F1E35"/>
                    </a:solidFill>
                  </a:tcPr>
                </a:tc>
                <a:tc>
                  <a:txBody>
                    <a:bodyPr wrap="square"/>
                    <a:lstStyle/>
                    <a:p>
                      <a:r>
                        <a:rPr sz="1200" b="0">
                          <a:solidFill>
                            <a:srgbClr val="FFFFFF"/>
                          </a:solidFill>
                          <a:latin typeface="Inter"/>
                        </a:rPr>
                        <a:t>Your own agent (any framework, any provider)</a:t>
                      </a:r>
                    </a:p>
                  </a:txBody>
                  <a:tcPr marL="91440" marR="91440" marT="45720" marB="45720" anchor="ctr">
                    <a:solidFill>
                      <a:srgbClr val="0F1E35"/>
                    </a:solidFill>
                  </a:tcPr>
                </a:tc>
                <a:tc>
                  <a:txBody>
                    <a:bodyPr wrap="square"/>
                    <a:lstStyle/>
                    <a:p>
                      <a:r>
                        <a:rPr sz="1200" b="0">
                          <a:solidFill>
                            <a:srgbClr val="FFFFFF"/>
                          </a:solidFill>
                          <a:latin typeface="Inter"/>
                        </a:rPr>
                        <a:t>You define the SLIs from the instrumentation template</a:t>
                      </a:r>
                    </a:p>
                  </a:txBody>
                  <a:tcPr marL="91440" marR="91440" marT="45720" marB="45720" anchor="ctr">
                    <a:solidFill>
                      <a:srgbClr val="0F1E35"/>
                    </a:solidFill>
                  </a:tcPr>
                </a:tc>
              </a:tr>
              <a:tr h="384048">
                <a:tc>
                  <a:txBody>
                    <a:bodyPr wrap="square"/>
                    <a:lstStyle/>
                    <a:p>
                      <a:r>
                        <a:rPr sz="1200" b="1">
                          <a:solidFill>
                            <a:srgbClr val="FFFFFF"/>
                          </a:solidFill>
                          <a:latin typeface="Inter"/>
                        </a:rPr>
                        <a:t>C</a:t>
                      </a:r>
                    </a:p>
                  </a:txBody>
                  <a:tcPr marL="91440" marR="91440" marT="45720" marB="45720" anchor="ctr">
                    <a:solidFill>
                      <a:srgbClr val="1A2742"/>
                    </a:solidFill>
                  </a:tcPr>
                </a:tc>
                <a:tc>
                  <a:txBody>
                    <a:bodyPr wrap="square"/>
                    <a:lstStyle/>
                    <a:p>
                      <a:r>
                        <a:rPr sz="1200" b="0">
                          <a:solidFill>
                            <a:srgbClr val="FFFFFF"/>
                          </a:solidFill>
                          <a:latin typeface="Inter"/>
                        </a:rPr>
                        <a:t>A coding or data agent with long tool loops</a:t>
                      </a:r>
                    </a:p>
                  </a:txBody>
                  <a:tcPr marL="91440" marR="91440" marT="45720" marB="45720" anchor="ctr">
                    <a:solidFill>
                      <a:srgbClr val="1A2742"/>
                    </a:solidFill>
                  </a:tcPr>
                </a:tc>
                <a:tc>
                  <a:txBody>
                    <a:bodyPr wrap="square"/>
                    <a:lstStyle/>
                    <a:p>
                      <a:r>
                        <a:rPr sz="1200" b="0">
                          <a:solidFill>
                            <a:srgbClr val="FFFFFF"/>
                          </a:solidFill>
                          <a:latin typeface="Inter"/>
                        </a:rPr>
                        <a:t>Steps per task and tool error rate dominate; cost per completed task</a:t>
                      </a:r>
                    </a:p>
                  </a:txBody>
                  <a:tcPr marL="91440" marR="91440" marT="45720" marB="45720" anchor="ctr">
                    <a:solidFill>
                      <a:srgbClr val="1A274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changes, what stays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40" cy="2304288"/>
        </p:xfrm>
        <a:graphic>
          <a:graphicData uri="http://schemas.openxmlformats.org/drawingml/2006/table">
            <a:tbl>
              <a:tblPr firstRow="1" bandRow="1">
                <a:tableStyleId>{5C22544A-7EE6-4342-B048-85BDC9FD1C3A}</a:tableStyleId>
              </a:tblPr>
              <a:tblGrid>
                <a:gridCol w="4517136"/>
                <a:gridCol w="6775704"/>
              </a:tblGrid>
              <a:tr h="384048">
                <a:tc>
                  <a:txBody>
                    <a:bodyPr wrap="square"/>
                    <a:lstStyle/>
                    <a:p>
                      <a:r>
                        <a:rPr sz="1200" b="1">
                          <a:solidFill>
                            <a:srgbClr val="0A1628"/>
                          </a:solidFill>
                          <a:latin typeface="Inter"/>
                        </a:rPr>
                        <a:t>Changes</a:t>
                      </a:r>
                    </a:p>
                  </a:txBody>
                  <a:tcPr marL="91440" marR="91440" marT="45720" marB="45720" anchor="ctr">
                    <a:solidFill>
                      <a:srgbClr val="00D4AA"/>
                    </a:solidFill>
                  </a:tcPr>
                </a:tc>
                <a:tc>
                  <a:txBody>
                    <a:bodyPr wrap="square"/>
                    <a:lstStyle/>
                    <a:p>
                      <a:r>
                        <a:rPr sz="1200" b="1">
                          <a:solidFill>
                            <a:srgbClr val="0A1628"/>
                          </a:solidFill>
                          <a:latin typeface="Inter"/>
                        </a:rPr>
                        <a:t>Stays</a:t>
                      </a:r>
                    </a:p>
                  </a:txBody>
                  <a:tcPr marL="91440" marR="91440" marT="45720" marB="45720" anchor="ctr">
                    <a:solidFill>
                      <a:srgbClr val="00D4AA"/>
                    </a:solidFill>
                  </a:tcPr>
                </a:tc>
              </a:tr>
              <a:tr h="384048">
                <a:tc>
                  <a:txBody>
                    <a:bodyPr wrap="square"/>
                    <a:lstStyle/>
                    <a:p>
                      <a:r>
                        <a:rPr sz="1200" b="1">
                          <a:solidFill>
                            <a:srgbClr val="FFFFFF"/>
                          </a:solidFill>
                          <a:latin typeface="Inter"/>
                        </a:rPr>
                        <a:t>The agent code and its tools</a:t>
                      </a:r>
                    </a:p>
                  </a:txBody>
                  <a:tcPr marL="91440" marR="91440" marT="45720" marB="45720" anchor="ctr">
                    <a:solidFill>
                      <a:srgbClr val="1A2742"/>
                    </a:solidFill>
                  </a:tcPr>
                </a:tc>
                <a:tc>
                  <a:txBody>
                    <a:bodyPr wrap="square"/>
                    <a:lstStyle/>
                    <a:p>
                      <a:r>
                        <a:rPr sz="1104" b="0">
                          <a:solidFill>
                            <a:srgbClr val="00D4AA"/>
                          </a:solidFill>
                          <a:latin typeface="JetBrains Mono"/>
                        </a:rPr>
                        <a:t>telemetry/otel_setup.py</a:t>
                      </a:r>
                      <a:r>
                        <a:rPr sz="1200" b="0">
                          <a:solidFill>
                            <a:srgbClr val="FFFFFF"/>
                          </a:solidFill>
                          <a:latin typeface="Inter"/>
                        </a:rPr>
                        <a:t>, </a:t>
                      </a:r>
                      <a:r>
                        <a:rPr sz="1104" b="0">
                          <a:solidFill>
                            <a:srgbClr val="00D4AA"/>
                          </a:solidFill>
                          <a:latin typeface="JetBrains Mono"/>
                        </a:rPr>
                        <a:t>genai_attrs.py</a:t>
                      </a:r>
                      <a:r>
                        <a:rPr sz="1200" b="0">
                          <a:solidFill>
                            <a:srgbClr val="FFFFFF"/>
                          </a:solidFill>
                          <a:latin typeface="Inter"/>
                        </a:rPr>
                        <a:t>, </a:t>
                      </a:r>
                      <a:r>
                        <a:rPr sz="1104" b="0">
                          <a:solidFill>
                            <a:srgbClr val="00D4AA"/>
                          </a:solidFill>
                          <a:latin typeface="JetBrains Mono"/>
                        </a:rPr>
                        <a:t>langfuse_setup.py</a:t>
                      </a:r>
                      <a:r>
                        <a:rPr sz="1200" b="0">
                          <a:solidFill>
                            <a:srgbClr val="FFFFFF"/>
                          </a:solidFill>
                          <a:latin typeface="Inter"/>
                        </a:rPr>
                        <a:t>, the Collector config</a:t>
                      </a:r>
                    </a:p>
                  </a:txBody>
                  <a:tcPr marL="91440" marR="91440" marT="45720" marB="45720" anchor="ctr">
                    <a:solidFill>
                      <a:srgbClr val="1A2742"/>
                    </a:solidFill>
                  </a:tcPr>
                </a:tc>
              </a:tr>
              <a:tr h="384048">
                <a:tc>
                  <a:txBody>
                    <a:bodyPr wrap="square"/>
                    <a:lstStyle/>
                    <a:p>
                      <a:r>
                        <a:rPr sz="1200" b="1">
                          <a:solidFill>
                            <a:srgbClr val="FFFFFF"/>
                          </a:solidFill>
                          <a:latin typeface="Inter"/>
                        </a:rPr>
                        <a:t>SLIs, budgets and alert thresholds</a:t>
                      </a:r>
                    </a:p>
                  </a:txBody>
                  <a:tcPr marL="91440" marR="91440" marT="45720" marB="45720" anchor="ctr">
                    <a:solidFill>
                      <a:srgbClr val="0F1E35"/>
                    </a:solidFill>
                  </a:tcPr>
                </a:tc>
                <a:tc>
                  <a:txBody>
                    <a:bodyPr wrap="square"/>
                    <a:lstStyle/>
                    <a:p>
                      <a:r>
                        <a:rPr sz="1104" b="0">
                          <a:solidFill>
                            <a:srgbClr val="00D4AA"/>
                          </a:solidFill>
                          <a:latin typeface="JetBrains Mono"/>
                        </a:rPr>
                        <a:t>pricing.py</a:t>
                      </a:r>
                      <a:r>
                        <a:rPr sz="1200" b="0">
                          <a:solidFill>
                            <a:srgbClr val="FFFFFF"/>
                          </a:solidFill>
                          <a:latin typeface="Inter"/>
                        </a:rPr>
                        <a:t>, </a:t>
                      </a:r>
                      <a:r>
                        <a:rPr sz="1104" b="0">
                          <a:solidFill>
                            <a:srgbClr val="00D4AA"/>
                          </a:solidFill>
                          <a:latin typeface="JetBrains Mono"/>
                        </a:rPr>
                        <a:t>cost.py</a:t>
                      </a:r>
                      <a:r>
                        <a:rPr sz="1200" b="0">
                          <a:solidFill>
                            <a:srgbClr val="FFFFFF"/>
                          </a:solidFill>
                          <a:latin typeface="Inter"/>
                        </a:rPr>
                        <a:t>, </a:t>
                      </a:r>
                      <a:r>
                        <a:rPr sz="1104" b="0">
                          <a:solidFill>
                            <a:srgbClr val="00D4AA"/>
                          </a:solidFill>
                          <a:latin typeface="JetBrains Mono"/>
                        </a:rPr>
                        <a:t>budget.py</a:t>
                      </a:r>
                      <a:r>
                        <a:rPr sz="1200" b="0">
                          <a:solidFill>
                            <a:srgbClr val="FFFFFF"/>
                          </a:solidFill>
                          <a:latin typeface="Inter"/>
                        </a:rPr>
                        <a:t>, </a:t>
                      </a:r>
                      <a:r>
                        <a:rPr sz="1104" b="0">
                          <a:solidFill>
                            <a:srgbClr val="00D4AA"/>
                          </a:solidFill>
                          <a:latin typeface="JetBrains Mono"/>
                        </a:rPr>
                        <a:t>latency.py</a:t>
                      </a:r>
                      <a:r>
                        <a:rPr sz="1200" b="0">
                          <a:solidFill>
                            <a:srgbClr val="FFFFFF"/>
                          </a:solidFill>
                          <a:latin typeface="Inter"/>
                        </a:rPr>
                        <a:t>, </a:t>
                      </a:r>
                      <a:r>
                        <a:rPr sz="1104" b="0">
                          <a:solidFill>
                            <a:srgbClr val="00D4AA"/>
                          </a:solidFill>
                          <a:latin typeface="JetBrains Mono"/>
                        </a:rPr>
                        <a:t>slo.py</a:t>
                      </a:r>
                      <a:r>
                        <a:rPr sz="1200" b="0">
                          <a:solidFill>
                            <a:srgbClr val="FFFFFF"/>
                          </a:solidFill>
                          <a:latin typeface="Inter"/>
                        </a:rPr>
                        <a:t>, </a:t>
                      </a:r>
                      <a:r>
                        <a:rPr sz="1104" b="0">
                          <a:solidFill>
                            <a:srgbClr val="00D4AA"/>
                          </a:solidFill>
                          <a:latin typeface="JetBrains Mono"/>
                        </a:rPr>
                        <a:t>drift.py</a:t>
                      </a:r>
                      <a:r>
                        <a:rPr sz="1200" b="0">
                          <a:solidFill>
                            <a:srgbClr val="FFFFFF"/>
                          </a:solidFill>
                          <a:latin typeface="Inter"/>
                        </a:rPr>
                        <a:t>, </a:t>
                      </a:r>
                      <a:r>
                        <a:rPr sz="1104" b="0">
                          <a:solidFill>
                            <a:srgbClr val="00D4AA"/>
                          </a:solidFill>
                          <a:latin typeface="JetBrains Mono"/>
                        </a:rPr>
                        <a:t>pii.py</a:t>
                      </a:r>
                    </a:p>
                  </a:txBody>
                  <a:tcPr marL="91440" marR="91440" marT="45720" marB="45720" anchor="ctr">
                    <a:solidFill>
                      <a:srgbClr val="0F1E35"/>
                    </a:solidFill>
                  </a:tcPr>
                </a:tc>
              </a:tr>
              <a:tr h="384048">
                <a:tc>
                  <a:txBody>
                    <a:bodyPr wrap="square"/>
                    <a:lstStyle/>
                    <a:p>
                      <a:r>
                        <a:rPr sz="1200" b="1">
                          <a:solidFill>
                            <a:srgbClr val="FFFFFF"/>
                          </a:solidFill>
                          <a:latin typeface="Inter"/>
                        </a:rPr>
                        <a:t>The unit of cost (session, minute, task)</a:t>
                      </a:r>
                    </a:p>
                  </a:txBody>
                  <a:tcPr marL="91440" marR="91440" marT="45720" marB="45720" anchor="ctr">
                    <a:solidFill>
                      <a:srgbClr val="1A2742"/>
                    </a:solidFill>
                  </a:tcPr>
                </a:tc>
                <a:tc>
                  <a:txBody>
                    <a:bodyPr wrap="square"/>
                    <a:lstStyle/>
                    <a:p>
                      <a:r>
                        <a:rPr sz="1200" b="0">
                          <a:solidFill>
                            <a:srgbClr val="FFFFFF"/>
                          </a:solidFill>
                          <a:latin typeface="Inter"/>
                        </a:rPr>
                        <a:t>The dashboard structure, one panel per SLI; the alert rule shape</a:t>
                      </a:r>
                    </a:p>
                  </a:txBody>
                  <a:tcPr marL="91440" marR="91440" marT="45720" marB="45720" anchor="ctr">
                    <a:solidFill>
                      <a:srgbClr val="1A2742"/>
                    </a:solidFill>
                  </a:tcPr>
                </a:tc>
              </a:tr>
              <a:tr h="384048">
                <a:tc>
                  <a:txBody>
                    <a:bodyPr wrap="square"/>
                    <a:lstStyle/>
                    <a:p>
                      <a:r>
                        <a:rPr sz="1200" b="1">
                          <a:solidFill>
                            <a:srgbClr val="FFFFFF"/>
                          </a:solidFill>
                          <a:latin typeface="Inter"/>
                        </a:rPr>
                        <a:t>Judge criteria for the domain</a:t>
                      </a:r>
                    </a:p>
                  </a:txBody>
                  <a:tcPr marL="91440" marR="91440" marT="45720" marB="45720" anchor="ctr">
                    <a:solidFill>
                      <a:srgbClr val="0F1E35"/>
                    </a:solidFill>
                  </a:tcPr>
                </a:tc>
                <a:tc>
                  <a:txBody>
                    <a:bodyPr wrap="square"/>
                    <a:lstStyle/>
                    <a:p>
                      <a:r>
                        <a:rPr sz="1200" b="0">
                          <a:solidFill>
                            <a:srgbClr val="FFFFFF"/>
                          </a:solidFill>
                          <a:latin typeface="Inter"/>
                        </a:rPr>
                        <a:t>The judge pipeline, feedback loop, dataset promotion</a:t>
                      </a:r>
                    </a:p>
                  </a:txBody>
                  <a:tcPr marL="91440" marR="91440" marT="45720" marB="45720" anchor="ctr">
                    <a:solidFill>
                      <a:srgbClr val="0F1E35"/>
                    </a:solidFill>
                  </a:tcPr>
                </a:tc>
              </a:tr>
              <a:tr h="384048">
                <a:tc>
                  <a:txBody>
                    <a:bodyPr wrap="square"/>
                    <a:lstStyle/>
                    <a:p>
                      <a:r>
                        <a:rPr sz="1200" b="1">
                          <a:solidFill>
                            <a:srgbClr val="FFFFFF"/>
                          </a:solidFill>
                          <a:latin typeface="Inter"/>
                        </a:rPr>
                        <a:t>The traffic generator or replay</a:t>
                      </a:r>
                    </a:p>
                  </a:txBody>
                  <a:tcPr marL="91440" marR="91440" marT="45720" marB="45720" anchor="ctr">
                    <a:solidFill>
                      <a:srgbClr val="1A2742"/>
                    </a:solidFill>
                  </a:tcPr>
                </a:tc>
                <a:tc>
                  <a:txBody>
                    <a:bodyPr wrap="square"/>
                    <a:lstStyle/>
                    <a:p>
                      <a:r>
                        <a:rPr sz="1200" b="0">
                          <a:solidFill>
                            <a:srgbClr val="FFFFFF"/>
                          </a:solidFill>
                          <a:latin typeface="Inter"/>
                        </a:rPr>
                        <a:t>The CI budget gate pattern and the weekly report structure</a:t>
                      </a:r>
                    </a:p>
                  </a:txBody>
                  <a:tcPr marL="91440" marR="91440" marT="45720" marB="45720" anchor="ctr">
                    <a:solidFill>
                      <a:srgbClr val="1A274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D1 A separate repo or clearly separate folder: the instrumented agent, </a:t>
            </a:r>
            <a:r>
              <a:rPr sz="1656" b="0">
                <a:solidFill>
                  <a:srgbClr val="00D4AA"/>
                </a:solidFill>
                <a:latin typeface="JetBrains Mono"/>
              </a:rPr>
              <a:t>telemetry/</a:t>
            </a:r>
            <a:r>
              <a:rPr sz="1800" b="0">
                <a:solidFill>
                  <a:srgbClr val="FFFFFF"/>
                </a:solidFill>
                <a:latin typeface="Inter"/>
              </a:rPr>
              <a:t> reused, </a:t>
            </a:r>
            <a:r>
              <a:rPr sz="1656" b="0">
                <a:solidFill>
                  <a:srgbClr val="00D4AA"/>
                </a:solidFill>
                <a:latin typeface="JetBrains Mono"/>
              </a:rPr>
              <a:t>OBSERVABILITY.md</a:t>
            </a:r>
          </a:p>
          <a:p>
            <a:pPr marL="292608" indent="-292608">
              <a:lnSpc>
                <a:spcPct val="120000"/>
              </a:lnSpc>
              <a:spcAft>
                <a:spcPts val="1260"/>
              </a:spcAft>
              <a:buClr>
                <a:srgbClr val="00D4AA"/>
              </a:buClr>
              <a:buFont typeface="Inter"/>
              <a:buChar char="•"/>
            </a:pPr>
            <a:r>
              <a:rPr sz="1800" b="0">
                <a:solidFill>
                  <a:srgbClr val="FFFFFF"/>
                </a:solidFill>
                <a:latin typeface="Inter"/>
              </a:rPr>
              <a:t>D2 SLI table: each SLI, its budget, and one sentence on why the number differs from Atlas</a:t>
            </a:r>
          </a:p>
          <a:p>
            <a:pPr marL="292608" indent="-292608">
              <a:lnSpc>
                <a:spcPct val="120000"/>
              </a:lnSpc>
              <a:spcAft>
                <a:spcPts val="1260"/>
              </a:spcAft>
              <a:buClr>
                <a:srgbClr val="00D4AA"/>
              </a:buClr>
              <a:buFont typeface="Inter"/>
              <a:buChar char="•"/>
            </a:pPr>
            <a:r>
              <a:rPr sz="1800" b="0">
                <a:solidFill>
                  <a:srgbClr val="FFFFFF"/>
                </a:solidFill>
                <a:latin typeface="Inter"/>
              </a:rPr>
              <a:t>D3 One trace screenshot with GenAI attributes; one dashboard screenshot; one alert</a:t>
            </a:r>
          </a:p>
          <a:p>
            <a:pPr marL="292608" indent="-292608">
              <a:lnSpc>
                <a:spcPct val="120000"/>
              </a:lnSpc>
              <a:spcAft>
                <a:spcPts val="1260"/>
              </a:spcAft>
              <a:buClr>
                <a:srgbClr val="00D4AA"/>
              </a:buClr>
              <a:buFont typeface="Inter"/>
              <a:buChar char="•"/>
            </a:pPr>
            <a:r>
              <a:rPr sz="1800" b="0">
                <a:solidFill>
                  <a:srgbClr val="FFFFFF"/>
                </a:solidFill>
                <a:latin typeface="Inter"/>
              </a:rPr>
              <a:t>D4 CI budget gate adapted to the new unit of cost, green on a run</a:t>
            </a:r>
          </a:p>
          <a:p>
            <a:pPr marL="292608" indent="-292608">
              <a:lnSpc>
                <a:spcPct val="120000"/>
              </a:lnSpc>
              <a:spcAft>
                <a:spcPts val="1260"/>
              </a:spcAft>
              <a:buClr>
                <a:srgbClr val="00D4AA"/>
              </a:buClr>
              <a:buFont typeface="Inter"/>
              <a:buChar char="•"/>
            </a:pPr>
            <a:r>
              <a:rPr sz="1800" b="0">
                <a:solidFill>
                  <a:srgbClr val="FFFFFF"/>
                </a:solidFill>
                <a:latin typeface="Inter"/>
              </a:rPr>
              <a:t>D5 A "What changed from Atlas" table in the README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Bar: every generation, tool and agent span attributed; cost agrees in two places; one alert fires in a test scenario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Tips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Start with </a:t>
            </a:r>
            <a:r>
              <a:rPr sz="1656" b="0">
                <a:solidFill>
                  <a:srgbClr val="00D4AA"/>
                </a:solidFill>
                <a:latin typeface="JetBrains Mono"/>
              </a:rPr>
              <a:t>instrumentation-template.md</a:t>
            </a:r>
            <a:r>
              <a:rPr sz="1800" b="0">
                <a:solidFill>
                  <a:srgbClr val="FFFFFF"/>
                </a:solidFill>
                <a:latin typeface="Inter"/>
              </a:rPr>
              <a:t>: it asks the SLI questions before you write code</a:t>
            </a:r>
          </a:p>
          <a:p>
            <a:pPr marL="292608" indent="-292608">
              <a:lnSpc>
                <a:spcPct val="120000"/>
              </a:lnSpc>
              <a:spcAft>
                <a:spcPts val="1260"/>
              </a:spcAft>
              <a:buClr>
                <a:srgbClr val="00D4AA"/>
              </a:buClr>
              <a:buFont typeface="Inter"/>
              <a:buChar char="•"/>
            </a:pPr>
            <a:r>
              <a:rPr sz="1800" b="0">
                <a:solidFill>
                  <a:srgbClr val="FFFFFF"/>
                </a:solidFill>
                <a:latin typeface="Inter"/>
              </a:rPr>
              <a:t>Instrument the model call first, then tools, then the agent span; verify each with the console exporter</a:t>
            </a:r>
          </a:p>
          <a:p>
            <a:pPr marL="292608" indent="-292608">
              <a:lnSpc>
                <a:spcPct val="120000"/>
              </a:lnSpc>
              <a:spcAft>
                <a:spcPts val="1260"/>
              </a:spcAft>
              <a:buClr>
                <a:srgbClr val="00D4AA"/>
              </a:buClr>
              <a:buFont typeface="Inter"/>
              <a:buChar char="•"/>
            </a:pPr>
            <a:r>
              <a:rPr sz="1800" b="0">
                <a:solidFill>
                  <a:srgbClr val="FFFFFF"/>
                </a:solidFill>
                <a:latin typeface="Inter"/>
              </a:rPr>
              <a:t>Copy </a:t>
            </a:r>
            <a:r>
              <a:rPr sz="1656" b="0">
                <a:solidFill>
                  <a:srgbClr val="00D4AA"/>
                </a:solidFill>
                <a:latin typeface="JetBrains Mono"/>
              </a:rPr>
              <a:t>telemetry/</a:t>
            </a:r>
            <a:r>
              <a:rPr sz="1800" b="0">
                <a:solidFill>
                  <a:srgbClr val="FFFFFF"/>
                </a:solidFill>
                <a:latin typeface="Inter"/>
              </a:rPr>
              <a:t> wholesale; change </a:t>
            </a:r>
            <a:r>
              <a:rPr sz="1656" b="0">
                <a:solidFill>
                  <a:srgbClr val="00D4AA"/>
                </a:solidFill>
                <a:latin typeface="JetBrains Mono"/>
              </a:rPr>
              <a:t>service.name</a:t>
            </a:r>
            <a:r>
              <a:rPr sz="1800" b="0">
                <a:solidFill>
                  <a:srgbClr val="FFFFFF"/>
                </a:solidFill>
                <a:latin typeface="Inter"/>
              </a:rPr>
              <a:t> and nothing else on day one</a:t>
            </a:r>
          </a:p>
          <a:p>
            <a:pPr marL="292608" indent="-292608">
              <a:lnSpc>
                <a:spcPct val="120000"/>
              </a:lnSpc>
              <a:spcAft>
                <a:spcPts val="1260"/>
              </a:spcAft>
              <a:buClr>
                <a:srgbClr val="00D4AA"/>
              </a:buClr>
              <a:buFont typeface="Inter"/>
              <a:buChar char="•"/>
            </a:pPr>
            <a:r>
              <a:rPr sz="1800" b="0">
                <a:solidFill>
                  <a:srgbClr val="FFFFFF"/>
                </a:solidFill>
                <a:latin typeface="Inter"/>
              </a:rPr>
              <a:t>The hardest part is usually the unit of cost; decide it before the dashboard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Swap the agent, keep the stack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Justify every changed SLI and budget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second project proves the method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Assemble tracing, cost, quality and alerts into one system</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a saving and a gate with replayed data</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Report it on one page a manager reads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Capstone review</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short quiz to review the capstone, then Section 15: what you can now do, and the…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CAPSTONE: THE ATLAS OPS CONSOLE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Capstone review</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the assembly order and the single-cost-computation rule.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Capstone review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6 questions</a:t>
            </a:r>
          </a:p>
          <a:p>
            <a:pPr marL="292608" indent="-292608">
              <a:lnSpc>
                <a:spcPct val="120000"/>
              </a:lnSpc>
              <a:spcAft>
                <a:spcPts val="1539"/>
              </a:spcAft>
              <a:buClr>
                <a:srgbClr val="00D4AA"/>
              </a:buClr>
              <a:buFont typeface="Inter"/>
              <a:buChar char="•"/>
            </a:pPr>
            <a:r>
              <a:rPr sz="2200" b="0">
                <a:solidFill>
                  <a:srgbClr val="FFFFFF"/>
                </a:solidFill>
                <a:latin typeface="Inter"/>
              </a:rPr>
              <a:t>Startup order: provider, Langfuse, instrumentor, metrics</a:t>
            </a:r>
          </a:p>
          <a:p>
            <a:pPr marL="292608" indent="-292608">
              <a:lnSpc>
                <a:spcPct val="120000"/>
              </a:lnSpc>
              <a:spcAft>
                <a:spcPts val="1539"/>
              </a:spcAft>
              <a:buClr>
                <a:srgbClr val="00D4AA"/>
              </a:buClr>
              <a:buFont typeface="Inter"/>
              <a:buChar char="•"/>
            </a:pPr>
            <a:r>
              <a:rPr sz="2200" b="0">
                <a:solidFill>
                  <a:srgbClr val="FFFFFF"/>
                </a:solidFill>
                <a:latin typeface="Inter"/>
              </a:rPr>
              <a:t>Cost computed once; where it is written</a:t>
            </a:r>
          </a:p>
          <a:p>
            <a:pPr marL="292608" indent="-292608">
              <a:lnSpc>
                <a:spcPct val="120000"/>
              </a:lnSpc>
              <a:spcAft>
                <a:spcPts val="1539"/>
              </a:spcAft>
              <a:buClr>
                <a:srgbClr val="00D4AA"/>
              </a:buClr>
              <a:buFont typeface="Inter"/>
              <a:buChar char="•"/>
            </a:pPr>
            <a:r>
              <a:rPr sz="2200" b="0">
                <a:solidFill>
                  <a:srgbClr val="FFFFFF"/>
                </a:solidFill>
                <a:latin typeface="Inter"/>
              </a:rPr>
              <a:t>Judge, drift, dataset: the loop</a:t>
            </a:r>
          </a:p>
          <a:p>
            <a:pPr marL="292608" indent="-292608">
              <a:lnSpc>
                <a:spcPct val="120000"/>
              </a:lnSpc>
              <a:spcAft>
                <a:spcPts val="1539"/>
              </a:spcAft>
              <a:buClr>
                <a:srgbClr val="00D4AA"/>
              </a:buClr>
              <a:buFont typeface="Inter"/>
              <a:buChar char="•"/>
            </a:pPr>
            <a:r>
              <a:rPr sz="2200" b="0">
                <a:solidFill>
                  <a:srgbClr val="FFFFFF"/>
                </a:solidFill>
                <a:latin typeface="Inter"/>
              </a:rPr>
              <a:t>What the budget gate catches and what it does not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Capstone review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headline numbers in the weekly report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14 · Lecture 14.7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you can now do</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Section 15 is next: what you can now do, the roles that hire for it, and twelve interview…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