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Capstone brief and acceptance criteria.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scenario. Priya Raman runs engineering at Northwind. Atlas has been in pilot with one department. She wants to roll it out to all four, and she won't until she gets four things. Cost per resolved question, by department. A week-over-week quality trend. Paging before finance notices. And a gate that stops bad changes with a number.</a:t>
            </a:r>
          </a:p>
          <a:p/>
          <a:p>
            <a:r>
              <a:t>Read her sentence like an engineer. "Cost per resolved question" means cost attribution joined with a resolution signal: Sections 6 and 8. "Better or worse week over week" means drift: Lecture 8.5. "Paged before finance" means anomaly alerts with owners: Lectures 6.7 and 9.5. "A number telling us so" means the CI budget gate: Lecture 13.3. And "show me the console, the report, the pull request" are three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requirements table in the brief has five pillars. Traces: everything tagged, sessioned, released and masked. Cost: attribution at every level, plus the three savings techniques and per-tenant budgets. Reliability: measured latency and the fallbacks, holding p95 under four seconds while the provider is slow. Quality: the judge, feedback, drift and the dataset loop. Operations: metrics, a dashboard, alerts, the self-hosted stack, the CI gate and the weekly report.</a:t>
            </a:r>
          </a:p>
          <a:p/>
          <a:p>
            <a:r>
              <a:t>You've built every one of these. The capstone is assembling them so they agree with each other. The cost on the span, the cost in Prometheus and the cost in the report must be the same number. That's harder than it sounds and it's where most of the marks are.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 14 of 20. Excellent: 18 or more.</a:t>
            </a:r>
          </a:p>
          <a:p/>
          <a:p>
            <a:r>
              <a:t>Twenty acceptance criteria, four per pillar, each with a way to verify it. Some are tests: an integration test asserts every generation span carries usage and model attributes. Some are replays: run the slow-provider scenario and read p95 from the console. Some are artefacts: a screenshot of an alert firing during the context-bloat scenario, a link to a red CI run on the top-k change, the generated report.</a:t>
            </a:r>
          </a:p>
          <a:p/>
          <a:p>
            <a:r>
              <a:t>The one I'd look at first as a reviewer is AC-05. Cost per session must agree within two percent across the span attribute, the Prometheus counter and the weekly report. If those three disagree, one of them is lying, and finance will find out which.</a:t>
            </a:r>
          </a:p>
          <a:p/>
          <a:p>
            <a:r>
              <a:t>Fourteen of twenty passes. Eighteen or more is excellent. And write your budgets and thresholds down before you measure. Moving the target after the fact is the first thing a reviewer notices.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architecture on one slide. Employees and the swarm hit the FastAPI endpoints. The agent runs in router mode with budgets and a step limit. Tools call into the pure-Python core. Telemetry goes out over OTLP to the Collector, which masks and samples, then to your self-hosted Langfuse. Metrics go to Prometheus and Grafana, with alert rules linked to runbooks. The judge and feedback write scores, the drift report reads them weekly, failures become dataset items. CI gates every pull request. And `report.py` turns the week into one page for Priya.</a:t>
            </a:r>
          </a:p>
          <a:p/>
          <a:p>
            <a:r>
              <a:t>Slide text (drawn on the diagram): Employees (4 tenants) and the swarm → FastAPI `/chat`, `/feedback` → `AtlasAgent` (router mode, budgets, step limit) · Tools → `src/northwind` (pricing, cost, budget, tokens, latency, pii); KB retriever · Telemetry: OTel SDK + `genai_attrs` → OTLP → Collector (mask, tail sample) → Langfuse (self-hosted) and optional second backend · `/metrics` → Prometheus → Grafana `atlas-ops` dashboard + alert rules → runbooks · Evals: `online_judge` (sampled) and `feedback` → Langfuse scores → `drift_report` weekly → `to_dataset` · CI: unit + integration + budget gate on every PR; live evals on main; release tag on every trace · `report.py` → weekly markdown to the manager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deliverables. Your repository. An acceptance report with evidence per criterion. Screenshots. The weekly report your code generated. Two postmortems from Section 11. Diff notes, which the next lecture explains. And a portfolio write-up.</a:t>
            </a:r>
          </a:p>
          <a:p/>
          <a:p>
            <a:r>
              <a:t>The brief has a suggested week plan. Day one, telemetry and attributes clean. Day two, cost agreement across span, metrics and report. Day three, budgets, routing and the forty percent saving. Day four, reliability under the slow-provider scenario. Day five, judge, feedback and drift. Day six, dashboard, alerts and CI gate. Day seven, the report and the write-up.</a:t>
            </a:r>
          </a:p>
          <a:p/>
          <a:p>
            <a:r>
              <a:t>And there's a minimum viable capstone if the week runs short: traces with attributes, cost per session agreeing in two places, one budget, one alert, the CI gate, and the report. Fourteen criteria. A finished smaller scope beats an unfinished big one.</a:t>
            </a:r>
          </a:p>
          <a:p/>
          <a:p>
            <a:r>
              <a:t>The full brief, all twenty criteria and the rubric are in `05-projects/capstone-atlas-ops.md`. Read it before the next lecture, because in the next lecture I'm going to ask you to stop watching.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Seven deliverables. Your repository. An acceptance report with evidence per criterion. Screenshots. The weekly report your code generated. Two postmortems from Section 11. Diff notes, which the next 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Build it yourself first: the capstone gate.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deal. One week, end date in your calendar. Build from the brief in your own branch, with your own console module.</a:t>
            </a:r>
          </a:p>
          <a:p/>
          <a:p>
            <a:r>
              <a:t>You can use everything you've built so far: every module from Sections 3 through 13, your labs, your projects, the docs, and the Q&amp;A for concept questions. What you can't open yet is the next three lectures, or the internals of the reference console.</a:t>
            </a:r>
          </a:p>
          <a:p/>
          <a:p>
            <a:r>
              <a:t>If you're stuck on one thing for more than ninety minutes, don't burn a day on it. Write down what you tried, use the minimum viable capstone list in the brief to cut scope, and move on. Unfinished but honest beats finished but copied.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week is up, whatever state you're in, come back and watch the reference as a code reviewer. Then write `DIFF_NOTES.md`: three things the reference does differently from yours, and whether you adopted each one. Some of mine will be better. Some of yours will be. That comparison is often the most valuable hour of the course. And wherever your version passes the criteria, keep it. It's yours.</a:t>
            </a:r>
          </a:p>
          <a:p/>
          <a:p>
            <a:r>
              <a:t>I know it's tempting to click next. Close this video, open the brief, and start with day one.</a:t>
            </a:r>
          </a:p>
          <a:p/>
          <a:p>
            <a:r>
              <a:t>I'll see you in a week.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Reference solution part A: instrumentation and cost (Part A and Part 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this leaves you against the criteria. Traces one through three, green. Cost five through eight, green, with the forty-three percent. Reliability ten and eleven, green from the slow-provider replay, same numbers as Incident 2's fix.</a:t>
            </a:r>
          </a:p>
          <a:p/>
          <a:p>
            <a:r>
              <a:t>Compare with your branch. The three most common diff notes from beta: two tracer providers, cost computed in two places, and a breaker that only counts exhausted retries. If you had none of them, you're ahead of my first draft.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Where this leaves you against the criteria. Traces one through three, green. Cost five through eight, green, with the forty-three percent. Reliability ten and eleven, green from the slow-provider repl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Reference solution part B: quality, dashboards, alerts, CI (Part A and Part 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panels, one per SLI from Lecture 9.1, in four rows, every one backed by a metric from `metrics.py`. Traffic and latency. Cost and budget decisions. Quality: judge, thumbs, containment, drift. Reliability: tool errors, fallbacks and telemetry export failures from Lecture 13.5. A tenant variable at the top, because Priya's first question is always "which department." And annotations for release changes and prompt label changes, so every incident from Section 11 would show a vertical line at its cause.</a:t>
            </a:r>
          </a:p>
          <a:p/>
          <a:p>
            <a:r>
              <a:t>The dashboard JSON is provisioned from the repo, Lecture 13.4 item ten. Verify the provisioning config against current Grafana docs; the mechanism is stable, the file format details move.</a:t>
            </a:r>
          </a:p>
          <a:p/>
          <a:p>
            <a:r>
              <a:t>[CODE: `deploy/alerts.yml`, three of the ten rules]</a:t>
            </a:r>
          </a:p>
          <a:p/>
          <a:p>
            <a:r>
              <a:t>Three alert rules, from Lecture 9.5. Latency burn rate above fourteen point four for fifteen minutes, which is the fast-burn threshold from `slo.py`. Tenant spend anomaly or degradation, from the budget decisions counter you saw in Part A of 14.2; this is the one that would have paged at ten oh nine on Monday. And a tool error spike above twenty percent, which is a ticket, not a page, because a failing tool at two a.m. with bounded retries is a morning problem now.</a:t>
            </a:r>
          </a:p>
          <a:p/>
          <a:p>
            <a:r>
              <a:t>Every rule has an owner label and a runbook. That's checklist item twelve.</a:t>
            </a:r>
          </a:p>
          <a:p/>
          <a:p>
            <a:r>
              <a:t>[DEMO: `make langfuse-up` and `make stack`, then `make run PROM=1 SCENARIO=context_bloat` and `make swarm RPS=5 DURATION=1200 SCENARIO=co...]</a:t>
            </a:r>
          </a:p>
          <a:p/>
          <a:p>
            <a:r>
              <a:t>Drive the context-bloat scenario. Within the first hour of traffic, the cost anomaly alert fires for ops. That screenshot is AC-18. And it's Incident 1 detected in the first hour instead of the third.</a:t>
            </a:r>
          </a:p>
          <a:p/>
          <a:p>
            <a:r>
              <a:t>Last, the pull request.</a:t>
            </a:r>
          </a:p>
          <a:p/>
          <a:p>
            <a:r>
              <a:t>[DEMO: Create branch `kb-topk-20`, set `ATLAS_TOP_K=20` in the CI env for the budget gate (or change the `Settings` default), push, open...]</a:t>
            </a:r>
          </a:p>
          <a:p/>
          <a:p>
            <a:r>
              <a:t>Branch, change the top-k default to twenty, push, open the pull request. Unit tests pass. The budget gate fails with a number. And because the gate is a required check in branch protection, the merge button is grey. That screenshot is AC-19, and it's the one Priya asked for by name: the pull request that failed.</a:t>
            </a:r>
          </a:p>
          <a:p/>
          <a:p>
            <a:r>
              <a:t>Slide text (drawn on the diagram): Variable: `tenant` (all, ops, finance, hr, eng) · Row 1: `atlas_requests_total` rate, p95 from `atlas_request_latency_seconds` vs 4 s budget, `atlas_ttft_seconds` p95, error outcome share · Row 2: `atlas_cost_usd_total` per hour and per session, model mix, `atlas_budget_decisions_total` by decision · Row 3: `atlas_judge_score` (7-day), `atlas_feedback_total` thumbs-down rate, containment, drift gauge · Row 4: `atlas_tool_calls_total` error share by tool, `atlas_model_fallbacks_total`, `atlas_telemetry_export_failures_total` · Annotations: `deployment.release` changes and prompt label changes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this leaves you. Quality thirteen through sixteen, green. Operations seventeen through nineteen, green. Twenty is the report, next lecture.</a:t>
            </a:r>
          </a:p>
          <a:p/>
          <a:p>
            <a:r>
              <a:t>Three more diff notes to look for in your branch: did your judge charge its own cost to the tenant? Do your alerts have owners? And is the gate *required*, or merely present? A gate that isn't required is a suggestion.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Where this leaves you. Quality thirteen through sixteen, green. Operations seventeen through nineteen, green. Twenty is the report, next lecture.</a:t>
            </a:r>
          </a:p>
          <a:p/>
          <a:p>
            <a:r>
              <a:t>Three more diff notes to look for in your branch: did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The weekly ops report your manager reads.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rules. Headline numbers with comparison and budget. Outcomes and money up top. Same aggregation code as the console. Three recommendations, each with a number and an action, plus an owner when you send it. And generated, dated and committed, never hand-edited, because the moment someone edits a report by hand it stops being evidence.</a:t>
            </a:r>
          </a:p>
          <a:p/>
          <a:p>
            <a:r>
              <a:t>Send this every Monday morning. After three weeks, the manager starts forwarding it to their manager. That's how observability gets budget.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Capstone submission and portfolio.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README first. What Atlas is, in two sentences. Then three numbers before anything else: cost per resolved session and the saving against baseline, p95 under the slow-provider scenario, and your acceptance score. Then how to run it offline in five commands, because a reviewer who can't run it in five minutes won't. Then screenshots: console, Grafana, an alert firing, a red pull request.</a:t>
            </a:r>
          </a:p>
          <a:p/>
          <a:p>
            <a:r>
              <a:t>`ACCEPTANCE.md` is the second thing they open. Twenty rows, pass or fail, and every pass links to evidence: a test name, a screenshot file, a CI run. A fail with an honest reason scores better than a pass without evidence.</a:t>
            </a:r>
          </a:p>
          <a:p/>
          <a:p>
            <a:r>
              <a:t>Then the reports folder, the postmortems, and your diff notes.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The README first. What Atlas is, in two sentences. Then three numbers before anything else: cost per resolved session and the saving against baseline, p95 under the slow-provider scenario, and your ac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with numbers. "Comprehensive observability" tells a reader nothing. "Every span carries GenAI attributes, forty-one integration assertions" tells them you know what the attributes are and that you tested them. "Significantly reduced costs" is marketing. "Forty-three percent on a replayed day, broken down by technique" is engineering. Every line in the right-hand column comes from something you measured in this course. Use your own numbers, not mine.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makes this portfolio different from a thousand "I built a RAG chatbot" repositories. The postmortems. Most portfolios show things that work. Yours shows how you find out why something broke, and what you changed so it can't break the same way. Put an "Incident response" section in the README with one line per incident and a link. When an interviewer asks "tell me about a time something broke in production", you have three stories with timelines and numbers. Say that they were simulated incidents on a replayed dataset. The method is real, and interviewers know the difference between method and luck.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write-up, on GitHub, LinkedIn or your blog. A title with a number in it. Three paragraphs: the problem, what you built with the architecture diagram, what you measured. One incident story in four sentences. A link to the repo with a note that it runs offline, so anyone can try it. And credit the tools. Nobody hires the person who trashes Langfuse in public.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repository link through the assignment. Paste your acceptance summary and the report into the submission text so a reviewer sees them without cloning. And post your three headline numbers in the Q&amp;A. The rubric weights the acceptance score at half, evidence quality at twenty percent, postmortems at fifteen and the write-up at fifteen.</a:t>
            </a:r>
          </a:p>
          <a:p/>
          <a:p>
            <a:r>
              <a:t>One last thing. Add the domain-swap project from the next lecture before you publish the portfolio post. Two agents observed with the same stack is a much stronger story than 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Domain swap: observe a different agent.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Option A is Riley, the voice receptionist from the voice course, if you took it. Voice changes almost every SLI: the latency budget is voice-to-voice at about one point six seconds, cost is per minute of call rather than per session, and time to first token matters more than total p95 because the caller is waiting in silence.</a:t>
            </a:r>
          </a:p>
          <a:p/>
          <a:p>
            <a:r>
              <a:t>Option B is your own agent, in any framework with any provider. You define the SLIs using the instrumentation template.</a:t>
            </a:r>
          </a:p>
          <a:p/>
          <a:p>
            <a:r>
              <a:t>Option C, if you have neither, is a coding or data agent with long tool loops, where steps per task and tool error rate dominate and the cost unit is a completed task.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changes and what stays. The agent, its tools and its traffic are new. The SLIs, budgets, thresholds and the unit of cost change, and you must justify each one in a sentence. The judge criteria change with the domain.</a:t>
            </a:r>
          </a:p>
          <a:p/>
          <a:p>
            <a:r>
              <a:t>What stays is most of the hard work. The telemetry modules. The whole pure-Python core: pricing, cost, budgets, latency, SLOs, drift, PII masking. The dashboard structure. The judge pipeline. The CI gate pattern. The report structure. That's the point of the assignment. The architecture is reusable. The domain is a layer on top.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deliverables. The instrumented agent with the telemetry reused and an `OBSERVABILITY.md`. An SLI table with a justification per row. Three screenshots: a trace, a dashboard, an alert. The CI gate adapted to the new cost unit. And a "What changed from Atlas" table.</a:t>
            </a:r>
          </a:p>
          <a:p/>
          <a:p>
            <a:r>
              <a:t>The bar: every span attributed, cost agreeing in two places, and one alert that fires in a scenario you inject.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Five deliverables. The instrumented agent with the telemetry reused and an `OBSERVABILITY.md`. An SLI table with a justification per row. Three screenshots: a trace, a dashboard, an alert. The CI gate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tips. Start with the template; it asks the SLI questions before you write any code. Instrument the model call first, then tools, then the agent span, verifying with the console exporter each time, exactly like Section 3. Copy the telemetry folder wholesale and change only the service name on day one. And decide the unit of cost before you build the dashboard, because every panel depends on it.</a:t>
            </a:r>
          </a:p>
          <a:p/>
          <a:p>
            <a:r>
              <a:t>When you're done, you'll have two agents in two domains observed with one method. Submit through the assignment in this lecture and tell us in the Q&amp;A which agent you picked.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Capstone review.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cover the startup order and why it matters, the one-place cost rule, the quality loop from judge to drift report to dataset, what the CI gate can and cannot catch, and which six numbers belong at the top of the weekly report. If you miss the gate question, rewatch the last slide of Lecture 13.3; it comes up in interviews.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They cover the startup order and why it matters, the one-place cost rule, the quality loop from judge to drift report to dataset, what the CI gate can and cannot catch, and which six numbers belong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14 · CAPSTONE: THE ATLAS OPS CONSOLE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14.1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Capstone brief and acceptance criteria</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Turn the engineering manager's request into requirements by pillar: traces, cost, reliability, quality,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request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607040" cy="4892040"/>
          </a:xfrm>
          <a:prstGeom prst="rect">
            <a:avLst/>
          </a:prstGeom>
          <a:noFill/>
        </p:spPr>
        <p:txBody>
          <a:bodyPr wrap="square" lIns="45720" rIns="45720" tIns="27432" bIns="27432" anchor="t">
            <a:spAutoFit/>
          </a:bodyPr>
          <a:lstStyle/>
          <a:p>
            <a:pPr>
              <a:spcAft>
                <a:spcPts val="600"/>
              </a:spcAft>
            </a:pPr>
            <a:r>
              <a:rPr sz="1500" b="0">
                <a:solidFill>
                  <a:srgbClr val="CBD5E1"/>
                </a:solidFill>
                <a:latin typeface="Inter"/>
              </a:rPr>
              <a:t>"Before I put Atlas in front of all four departments I need to know: what it costs per resolved question, by department; whether it's getting better or worse week over week; that someone gets paged before finance does; and that a bad change can't reach production without a number telling us so. Show me the console, show me the report, show me the pull request that failed."</a:t>
            </a:r>
          </a:p>
          <a:p>
            <a:pPr>
              <a:spcAft>
                <a:spcPts val="600"/>
              </a:spcAft>
            </a:pPr>
            <a:r>
              <a:rPr sz="1500" b="0">
                <a:solidFill>
                  <a:srgbClr val="CBD5E1"/>
                </a:solidFill>
                <a:latin typeface="Inter"/>
              </a:rPr>
              <a:t>Priya Raman, Engineering Manager, Northwind Logistics (fictional)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Requirements by pillar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Traces: every LLM, tool, retriever and agent span with GenAI attributes; sessions, users, tenants; release tag; masking</a:t>
            </a:r>
          </a:p>
          <a:p>
            <a:pPr marL="292608" indent="-292608">
              <a:lnSpc>
                <a:spcPct val="120000"/>
              </a:lnSpc>
              <a:spcAft>
                <a:spcPts val="1260"/>
              </a:spcAft>
              <a:buClr>
                <a:srgbClr val="00D4AA"/>
              </a:buClr>
              <a:buFont typeface="Inter"/>
              <a:buChar char="•"/>
            </a:pPr>
            <a:r>
              <a:rPr sz="1800" b="0">
                <a:solidFill>
                  <a:srgbClr val="FFFFFF"/>
                </a:solidFill>
                <a:latin typeface="Inter"/>
              </a:rPr>
              <a:t>Cost: price table with fallback; cost per request, session, user, tenant, feature; caching, context diet, small-model-first routing; per-tenant budgets</a:t>
            </a:r>
          </a:p>
          <a:p>
            <a:pPr marL="292608" indent="-292608">
              <a:lnSpc>
                <a:spcPct val="120000"/>
              </a:lnSpc>
              <a:spcAft>
                <a:spcPts val="1260"/>
              </a:spcAft>
              <a:buClr>
                <a:srgbClr val="00D4AA"/>
              </a:buClr>
              <a:buFont typeface="Inter"/>
              <a:buChar char="•"/>
            </a:pPr>
            <a:r>
              <a:rPr sz="1800" b="0">
                <a:solidFill>
                  <a:srgbClr val="FFFFFF"/>
                </a:solidFill>
                <a:latin typeface="Inter"/>
              </a:rPr>
              <a:t>Reliability: TTFT and p95 measured; timeouts, bounded retries, fallback; p95 ≤ 4 s during the </a:t>
            </a:r>
            <a:r>
              <a:rPr sz="1656" b="0">
                <a:solidFill>
                  <a:srgbClr val="00D4AA"/>
                </a:solidFill>
                <a:latin typeface="JetBrains Mono"/>
              </a:rPr>
              <a:t>slow_provider</a:t>
            </a:r>
            <a:r>
              <a:rPr sz="1800" b="0">
                <a:solidFill>
                  <a:srgbClr val="FFFFFF"/>
                </a:solidFill>
                <a:latin typeface="Inter"/>
              </a:rPr>
              <a:t> scenario</a:t>
            </a:r>
          </a:p>
          <a:p>
            <a:pPr marL="292608" indent="-292608">
              <a:lnSpc>
                <a:spcPct val="120000"/>
              </a:lnSpc>
              <a:spcAft>
                <a:spcPts val="1260"/>
              </a:spcAft>
              <a:buClr>
                <a:srgbClr val="00D4AA"/>
              </a:buClr>
              <a:buFont typeface="Inter"/>
              <a:buChar char="•"/>
            </a:pPr>
            <a:r>
              <a:rPr sz="1800" b="0">
                <a:solidFill>
                  <a:srgbClr val="FFFFFF"/>
                </a:solidFill>
                <a:latin typeface="Inter"/>
              </a:rPr>
              <a:t>Quality: sampled online judge; feedback endpoint; weekly drift; failures promoted to a dataset</a:t>
            </a:r>
          </a:p>
          <a:p>
            <a:pPr marL="292608" indent="-292608">
              <a:lnSpc>
                <a:spcPct val="120000"/>
              </a:lnSpc>
              <a:spcAft>
                <a:spcPts val="1260"/>
              </a:spcAft>
              <a:buClr>
                <a:srgbClr val="00D4AA"/>
              </a:buClr>
              <a:buFont typeface="Inter"/>
              <a:buChar char="•"/>
            </a:pPr>
            <a:r>
              <a:rPr sz="1800" b="0">
                <a:solidFill>
                  <a:srgbClr val="FFFFFF"/>
                </a:solidFill>
                <a:latin typeface="Inter"/>
              </a:rPr>
              <a:t>Operations: Prometheus metrics, Grafana dashboard, three alert rules with runbooks; self-hosted stack; CI budget gate; weekly report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20 acceptance criteria</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304288"/>
        </p:xfrm>
        <a:graphic>
          <a:graphicData uri="http://schemas.openxmlformats.org/drawingml/2006/table">
            <a:tbl>
              <a:tblPr firstRow="1" bandRow="1">
                <a:tableStyleId>{5C22544A-7EE6-4342-B048-85BDC9FD1C3A}</a:tableStyleId>
              </a:tblPr>
              <a:tblGrid>
                <a:gridCol w="2432304"/>
                <a:gridCol w="5212080"/>
                <a:gridCol w="3648455"/>
              </a:tblGrid>
              <a:tr h="384048">
                <a:tc>
                  <a:txBody>
                    <a:bodyPr wrap="square"/>
                    <a:lstStyle/>
                    <a:p>
                      <a:r>
                        <a:rPr sz="1200" b="1">
                          <a:solidFill>
                            <a:srgbClr val="0A1628"/>
                          </a:solidFill>
                          <a:latin typeface="Inter"/>
                        </a:rPr>
                        <a:t>Pillar</a:t>
                      </a:r>
                    </a:p>
                  </a:txBody>
                  <a:tcPr marL="91440" marR="91440" marT="45720" marB="45720" anchor="ctr">
                    <a:solidFill>
                      <a:srgbClr val="00D4AA"/>
                    </a:solidFill>
                  </a:tcPr>
                </a:tc>
                <a:tc>
                  <a:txBody>
                    <a:bodyPr wrap="square"/>
                    <a:lstStyle/>
                    <a:p>
                      <a:r>
                        <a:rPr sz="1200" b="1">
                          <a:solidFill>
                            <a:srgbClr val="0A1628"/>
                          </a:solidFill>
                          <a:latin typeface="Inter"/>
                        </a:rPr>
                        <a:t>Examples</a:t>
                      </a:r>
                    </a:p>
                  </a:txBody>
                  <a:tcPr marL="91440" marR="91440" marT="45720" marB="45720" anchor="ctr">
                    <a:solidFill>
                      <a:srgbClr val="00D4AA"/>
                    </a:solidFill>
                  </a:tcPr>
                </a:tc>
                <a:tc>
                  <a:txBody>
                    <a:bodyPr wrap="square"/>
                    <a:lstStyle/>
                    <a:p>
                      <a:r>
                        <a:rPr sz="1200" b="1">
                          <a:solidFill>
                            <a:srgbClr val="0A1628"/>
                          </a:solidFill>
                          <a:latin typeface="Inter"/>
                        </a:rPr>
                        <a:t>Verified by</a:t>
                      </a:r>
                    </a:p>
                  </a:txBody>
                  <a:tcPr marL="91440" marR="91440" marT="45720" marB="45720" anchor="ctr">
                    <a:solidFill>
                      <a:srgbClr val="00D4AA"/>
                    </a:solidFill>
                  </a:tcPr>
                </a:tc>
              </a:tr>
              <a:tr h="384048">
                <a:tc>
                  <a:txBody>
                    <a:bodyPr wrap="square"/>
                    <a:lstStyle/>
                    <a:p>
                      <a:r>
                        <a:rPr sz="1200" b="1">
                          <a:solidFill>
                            <a:srgbClr val="FFFFFF"/>
                          </a:solidFill>
                          <a:latin typeface="Inter"/>
                        </a:rPr>
                        <a:t>Traces (AC-01 to AC-04)</a:t>
                      </a:r>
                    </a:p>
                  </a:txBody>
                  <a:tcPr marL="91440" marR="91440" marT="45720" marB="45720" anchor="ctr">
                    <a:solidFill>
                      <a:srgbClr val="1A2742"/>
                    </a:solidFill>
                  </a:tcPr>
                </a:tc>
                <a:tc>
                  <a:txBody>
                    <a:bodyPr wrap="square"/>
                    <a:lstStyle/>
                    <a:p>
                      <a:r>
                        <a:rPr sz="1200" b="0">
                          <a:solidFill>
                            <a:srgbClr val="FFFFFF"/>
                          </a:solidFill>
                          <a:latin typeface="Inter"/>
                        </a:rPr>
                        <a:t>AC-01 every generation carries </a:t>
                      </a:r>
                      <a:r>
                        <a:rPr sz="1104" b="0">
                          <a:solidFill>
                            <a:srgbClr val="00D4AA"/>
                          </a:solidFill>
                          <a:latin typeface="JetBrains Mono"/>
                        </a:rPr>
                        <a:t>gen_ai.usage.*</a:t>
                      </a:r>
                      <a:r>
                        <a:rPr sz="1200" b="0">
                          <a:solidFill>
                            <a:srgbClr val="FFFFFF"/>
                          </a:solidFill>
                          <a:latin typeface="Inter"/>
                        </a:rPr>
                        <a:t> and </a:t>
                      </a:r>
                      <a:r>
                        <a:rPr sz="1104" b="0">
                          <a:solidFill>
                            <a:srgbClr val="00D4AA"/>
                          </a:solidFill>
                          <a:latin typeface="JetBrains Mono"/>
                        </a:rPr>
                        <a:t>gen_ai.request.model</a:t>
                      </a:r>
                      <a:r>
                        <a:rPr sz="1200" b="0">
                          <a:solidFill>
                            <a:srgbClr val="FFFFFF"/>
                          </a:solidFill>
                          <a:latin typeface="Inter"/>
                        </a:rPr>
                        <a:t>; AC-03 tool result masked</a:t>
                      </a:r>
                    </a:p>
                  </a:txBody>
                  <a:tcPr marL="91440" marR="91440" marT="45720" marB="45720" anchor="ctr">
                    <a:solidFill>
                      <a:srgbClr val="1A2742"/>
                    </a:solidFill>
                  </a:tcPr>
                </a:tc>
                <a:tc>
                  <a:txBody>
                    <a:bodyPr wrap="square"/>
                    <a:lstStyle/>
                    <a:p>
                      <a:r>
                        <a:rPr sz="1200" b="0">
                          <a:solidFill>
                            <a:srgbClr val="FFFFFF"/>
                          </a:solidFill>
                          <a:latin typeface="Inter"/>
                        </a:rPr>
                        <a:t>integration test with in-memory exporter</a:t>
                      </a:r>
                    </a:p>
                  </a:txBody>
                  <a:tcPr marL="91440" marR="91440" marT="45720" marB="45720" anchor="ctr">
                    <a:solidFill>
                      <a:srgbClr val="1A2742"/>
                    </a:solidFill>
                  </a:tcPr>
                </a:tc>
              </a:tr>
              <a:tr h="384048">
                <a:tc>
                  <a:txBody>
                    <a:bodyPr wrap="square"/>
                    <a:lstStyle/>
                    <a:p>
                      <a:r>
                        <a:rPr sz="1200" b="1">
                          <a:solidFill>
                            <a:srgbClr val="FFFFFF"/>
                          </a:solidFill>
                          <a:latin typeface="Inter"/>
                        </a:rPr>
                        <a:t>Cost (AC-05 to AC-09)</a:t>
                      </a:r>
                    </a:p>
                  </a:txBody>
                  <a:tcPr marL="91440" marR="91440" marT="45720" marB="45720" anchor="ctr">
                    <a:solidFill>
                      <a:srgbClr val="0F1E35"/>
                    </a:solidFill>
                  </a:tcPr>
                </a:tc>
                <a:tc>
                  <a:txBody>
                    <a:bodyPr wrap="square"/>
                    <a:lstStyle/>
                    <a:p>
                      <a:r>
                        <a:rPr sz="1200" b="0">
                          <a:solidFill>
                            <a:srgbClr val="FFFFFF"/>
                          </a:solidFill>
                          <a:latin typeface="Inter"/>
                        </a:rPr>
                        <a:t>AC-05 cost per session within 2% across span, </a:t>
                      </a:r>
                      <a:r>
                        <a:rPr sz="1104" b="0">
                          <a:solidFill>
                            <a:srgbClr val="00D4AA"/>
                          </a:solidFill>
                          <a:latin typeface="JetBrains Mono"/>
                        </a:rPr>
                        <a:t>/metrics</a:t>
                      </a:r>
                      <a:r>
                        <a:rPr sz="1200" b="0">
                          <a:solidFill>
                            <a:srgbClr val="FFFFFF"/>
                          </a:solidFill>
                          <a:latin typeface="Inter"/>
                        </a:rPr>
                        <a:t> and report; AC-08 40% saving on the replayed day vs baseline</a:t>
                      </a:r>
                    </a:p>
                  </a:txBody>
                  <a:tcPr marL="91440" marR="91440" marT="45720" marB="45720" anchor="ctr">
                    <a:solidFill>
                      <a:srgbClr val="0F1E35"/>
                    </a:solidFill>
                  </a:tcPr>
                </a:tc>
                <a:tc>
                  <a:txBody>
                    <a:bodyPr wrap="square"/>
                    <a:lstStyle/>
                    <a:p>
                      <a:r>
                        <a:rPr sz="1200" b="0">
                          <a:solidFill>
                            <a:srgbClr val="FFFFFF"/>
                          </a:solidFill>
                          <a:latin typeface="Inter"/>
                        </a:rPr>
                        <a:t>replay comparison in Ops Console</a:t>
                      </a:r>
                    </a:p>
                  </a:txBody>
                  <a:tcPr marL="91440" marR="91440" marT="45720" marB="45720" anchor="ctr">
                    <a:solidFill>
                      <a:srgbClr val="0F1E35"/>
                    </a:solidFill>
                  </a:tcPr>
                </a:tc>
              </a:tr>
              <a:tr h="384048">
                <a:tc>
                  <a:txBody>
                    <a:bodyPr wrap="square"/>
                    <a:lstStyle/>
                    <a:p>
                      <a:r>
                        <a:rPr sz="1200" b="1">
                          <a:solidFill>
                            <a:srgbClr val="FFFFFF"/>
                          </a:solidFill>
                          <a:latin typeface="Inter"/>
                        </a:rPr>
                        <a:t>Reliability (AC-10 to AC-12)</a:t>
                      </a:r>
                    </a:p>
                  </a:txBody>
                  <a:tcPr marL="91440" marR="91440" marT="45720" marB="45720" anchor="ctr">
                    <a:solidFill>
                      <a:srgbClr val="1A2742"/>
                    </a:solidFill>
                  </a:tcPr>
                </a:tc>
                <a:tc>
                  <a:txBody>
                    <a:bodyPr wrap="square"/>
                    <a:lstStyle/>
                    <a:p>
                      <a:r>
                        <a:rPr sz="1200" b="0">
                          <a:solidFill>
                            <a:srgbClr val="FFFFFF"/>
                          </a:solidFill>
                          <a:latin typeface="Inter"/>
                        </a:rPr>
                        <a:t>AC-10 p95 ≤ 4,000 ms in </a:t>
                      </a:r>
                      <a:r>
                        <a:rPr sz="1104" b="0">
                          <a:solidFill>
                            <a:srgbClr val="00D4AA"/>
                          </a:solidFill>
                          <a:latin typeface="JetBrains Mono"/>
                        </a:rPr>
                        <a:t>slow_provider</a:t>
                      </a:r>
                      <a:r>
                        <a:rPr sz="1200" b="0">
                          <a:solidFill>
                            <a:srgbClr val="FFFFFF"/>
                          </a:solidFill>
                          <a:latin typeface="Inter"/>
                        </a:rPr>
                        <a:t>; AC-11 fallback rate &gt; 0 in that scenario</a:t>
                      </a:r>
                    </a:p>
                  </a:txBody>
                  <a:tcPr marL="91440" marR="91440" marT="45720" marB="45720" anchor="ctr">
                    <a:solidFill>
                      <a:srgbClr val="1A2742"/>
                    </a:solidFill>
                  </a:tcPr>
                </a:tc>
                <a:tc>
                  <a:txBody>
                    <a:bodyPr wrap="square"/>
                    <a:lstStyle/>
                    <a:p>
                      <a:r>
                        <a:rPr sz="1104" b="0">
                          <a:solidFill>
                            <a:srgbClr val="00D4AA"/>
                          </a:solidFill>
                          <a:latin typeface="JetBrains Mono"/>
                        </a:rPr>
                        <a:t>ATLAS_SCENARIO=slow_provider make replay</a:t>
                      </a:r>
                    </a:p>
                  </a:txBody>
                  <a:tcPr marL="91440" marR="91440" marT="45720" marB="45720" anchor="ctr">
                    <a:solidFill>
                      <a:srgbClr val="1A2742"/>
                    </a:solidFill>
                  </a:tcPr>
                </a:tc>
              </a:tr>
              <a:tr h="384048">
                <a:tc>
                  <a:txBody>
                    <a:bodyPr wrap="square"/>
                    <a:lstStyle/>
                    <a:p>
                      <a:r>
                        <a:rPr sz="1200" b="1">
                          <a:solidFill>
                            <a:srgbClr val="FFFFFF"/>
                          </a:solidFill>
                          <a:latin typeface="Inter"/>
                        </a:rPr>
                        <a:t>Quality (AC-13 to AC-16)</a:t>
                      </a:r>
                    </a:p>
                  </a:txBody>
                  <a:tcPr marL="91440" marR="91440" marT="45720" marB="45720" anchor="ctr">
                    <a:solidFill>
                      <a:srgbClr val="0F1E35"/>
                    </a:solidFill>
                  </a:tcPr>
                </a:tc>
                <a:tc>
                  <a:txBody>
                    <a:bodyPr wrap="square"/>
                    <a:lstStyle/>
                    <a:p>
                      <a:r>
                        <a:rPr sz="1200" b="0">
                          <a:solidFill>
                            <a:srgbClr val="FFFFFF"/>
                          </a:solidFill>
                          <a:latin typeface="Inter"/>
                        </a:rPr>
                        <a:t>AC-13 judge on ≥ 5% of traces (</a:t>
                      </a:r>
                      <a:r>
                        <a:rPr sz="1104" b="0">
                          <a:solidFill>
                            <a:srgbClr val="00D4AA"/>
                          </a:solidFill>
                          <a:latin typeface="JetBrains Mono"/>
                        </a:rPr>
                        <a:t>JUDGE_SAMPLE_RATE</a:t>
                      </a:r>
                      <a:r>
                        <a:rPr sz="1200" b="0">
                          <a:solidFill>
                            <a:srgbClr val="FFFFFF"/>
                          </a:solidFill>
                          <a:latin typeface="Inter"/>
                        </a:rPr>
                        <a:t>); AC-15 drift report flags </a:t>
                      </a:r>
                      <a:r>
                        <a:rPr sz="1104" b="0">
                          <a:solidFill>
                            <a:srgbClr val="00D4AA"/>
                          </a:solidFill>
                          <a:latin typeface="JetBrains Mono"/>
                        </a:rPr>
                        <a:t>prompt_regression</a:t>
                      </a:r>
                      <a:r>
                        <a:rPr sz="1200" b="0">
                          <a:solidFill>
                            <a:srgbClr val="FFFFFF"/>
                          </a:solidFill>
                          <a:latin typeface="Inter"/>
                        </a:rPr>
                        <a:t> scenario</a:t>
                      </a:r>
                    </a:p>
                  </a:txBody>
                  <a:tcPr marL="91440" marR="91440" marT="45720" marB="45720" anchor="ctr">
                    <a:solidFill>
                      <a:srgbClr val="0F1E35"/>
                    </a:solidFill>
                  </a:tcPr>
                </a:tc>
                <a:tc>
                  <a:txBody>
                    <a:bodyPr wrap="square"/>
                    <a:lstStyle/>
                    <a:p>
                      <a:r>
                        <a:rPr sz="1104" b="0">
                          <a:solidFill>
                            <a:srgbClr val="00D4AA"/>
                          </a:solidFill>
                          <a:latin typeface="JetBrains Mono"/>
                        </a:rPr>
                        <a:t>evals/drift_report.py</a:t>
                      </a:r>
                      <a:r>
                        <a:rPr sz="1200" b="0">
                          <a:solidFill>
                            <a:srgbClr val="FFFFFF"/>
                          </a:solidFill>
                          <a:latin typeface="Inter"/>
                        </a:rPr>
                        <a:t> output</a:t>
                      </a:r>
                    </a:p>
                  </a:txBody>
                  <a:tcPr marL="91440" marR="91440" marT="45720" marB="45720" anchor="ctr">
                    <a:solidFill>
                      <a:srgbClr val="0F1E35"/>
                    </a:solidFill>
                  </a:tcPr>
                </a:tc>
              </a:tr>
              <a:tr h="384048">
                <a:tc>
                  <a:txBody>
                    <a:bodyPr wrap="square"/>
                    <a:lstStyle/>
                    <a:p>
                      <a:r>
                        <a:rPr sz="1200" b="1">
                          <a:solidFill>
                            <a:srgbClr val="FFFFFF"/>
                          </a:solidFill>
                          <a:latin typeface="Inter"/>
                        </a:rPr>
                        <a:t>Operations (AC-17 to AC-20)</a:t>
                      </a:r>
                    </a:p>
                  </a:txBody>
                  <a:tcPr marL="91440" marR="91440" marT="45720" marB="45720" anchor="ctr">
                    <a:solidFill>
                      <a:srgbClr val="1A2742"/>
                    </a:solidFill>
                  </a:tcPr>
                </a:tc>
                <a:tc>
                  <a:txBody>
                    <a:bodyPr wrap="square"/>
                    <a:lstStyle/>
                    <a:p>
                      <a:r>
                        <a:rPr sz="1200" b="0">
                          <a:solidFill>
                            <a:srgbClr val="FFFFFF"/>
                          </a:solidFill>
                          <a:latin typeface="Inter"/>
                        </a:rPr>
                        <a:t>AC-17 dashboard with tenant variable; AC-18 an alert fires during </a:t>
                      </a:r>
                      <a:r>
                        <a:rPr sz="1104" b="0">
                          <a:solidFill>
                            <a:srgbClr val="00D4AA"/>
                          </a:solidFill>
                          <a:latin typeface="JetBrains Mono"/>
                        </a:rPr>
                        <a:t>context_bloat</a:t>
                      </a:r>
                      <a:r>
                        <a:rPr sz="1200" b="0">
                          <a:solidFill>
                            <a:srgbClr val="FFFFFF"/>
                          </a:solidFill>
                          <a:latin typeface="Inter"/>
                        </a:rPr>
                        <a:t>; AC-19 CI gate red on </a:t>
                      </a:r>
                      <a:r>
                        <a:rPr sz="1104" b="0">
                          <a:solidFill>
                            <a:srgbClr val="00D4AA"/>
                          </a:solidFill>
                          <a:latin typeface="JetBrains Mono"/>
                        </a:rPr>
                        <a:t>ATLAS_TOP_K=20</a:t>
                      </a:r>
                      <a:r>
                        <a:rPr sz="1200" b="0">
                          <a:solidFill>
                            <a:srgbClr val="FFFFFF"/>
                          </a:solidFill>
                          <a:latin typeface="Inter"/>
                        </a:rPr>
                        <a:t>; AC-20 weekly report generated</a:t>
                      </a:r>
                    </a:p>
                  </a:txBody>
                  <a:tcPr marL="91440" marR="91440" marT="45720" marB="45720" anchor="ctr">
                    <a:solidFill>
                      <a:srgbClr val="1A2742"/>
                    </a:solidFill>
                  </a:tcPr>
                </a:tc>
                <a:tc>
                  <a:txBody>
                    <a:bodyPr wrap="square"/>
                    <a:lstStyle/>
                    <a:p>
                      <a:r>
                        <a:rPr sz="1200" b="0">
                          <a:solidFill>
                            <a:srgbClr val="FFFFFF"/>
                          </a:solidFill>
                          <a:latin typeface="Inter"/>
                        </a:rPr>
                        <a:t>screenshots, CI link, report file</a:t>
                      </a:r>
                    </a:p>
                  </a:txBody>
                  <a:tcPr marL="91440" marR="91440" marT="45720" marB="45720" anchor="ctr">
                    <a:solidFill>
                      <a:srgbClr val="1A2742"/>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pic>
        <p:nvPicPr>
          <p:cNvPr id="2" name="Picture 1" descr="D2-architecture.png"/>
          <p:cNvPicPr>
            <a:picLocks noChangeAspect="1"/>
          </p:cNvPicPr>
          <p:nvPr/>
        </p:nvPicPr>
        <p:blipFill>
          <a:blip r:embed="rId3"/>
          <a:stretch>
            <a:fillRect/>
          </a:stretch>
        </p:blipFill>
        <p:spPr>
          <a:xfrm>
            <a:off x="0" y="0"/>
            <a:ext cx="12191695" cy="6857828"/>
          </a:xfrm>
          <a:prstGeom prst="rect">
            <a:avLst/>
          </a:prstGeom>
        </p:spPr>
      </p:pic>
      <p:sp>
        <p:nvSpPr>
          <p:cNvPr id="3" name="TextBox 2"/>
          <p:cNvSpPr txBox="1"/>
          <p:nvPr/>
        </p:nvSpPr>
        <p:spPr>
          <a:xfrm>
            <a:off x="6217920" y="109728"/>
            <a:ext cx="5806440" cy="274320"/>
          </a:xfrm>
          <a:prstGeom prst="rect">
            <a:avLst/>
          </a:prstGeom>
          <a:noFill/>
        </p:spPr>
        <p:txBody>
          <a:bodyPr wrap="square" lIns="45720" rIns="45720" tIns="27432" bIns="27432" anchor="t">
            <a:spAutoFit/>
          </a:bodyPr>
          <a:lstStyle/>
          <a:p>
            <a:pPr algn="r"/>
            <a:r>
              <a:rPr sz="900" b="0">
                <a:solidFill>
                  <a:srgbClr val="64748B"/>
                </a:solidFill>
                <a:latin typeface="Inter"/>
              </a:rPr>
              <a:t>Section 14 · Lecture 14.1 · Architecture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Deliverables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D1 Repository: your branch of </a:t>
            </a:r>
            <a:r>
              <a:rPr sz="1656" b="0">
                <a:solidFill>
                  <a:srgbClr val="00D4AA"/>
                </a:solidFill>
                <a:latin typeface="JetBrains Mono"/>
              </a:rPr>
              <a:t>03-code/</a:t>
            </a:r>
            <a:r>
              <a:rPr sz="1800" b="0">
                <a:solidFill>
                  <a:srgbClr val="FFFFFF"/>
                </a:solidFill>
                <a:latin typeface="Inter"/>
              </a:rPr>
              <a:t> with </a:t>
            </a:r>
            <a:r>
              <a:rPr sz="1656" b="0">
                <a:solidFill>
                  <a:srgbClr val="00D4AA"/>
                </a:solidFill>
                <a:latin typeface="JetBrains Mono"/>
              </a:rPr>
              <a:t>console/my_ops_console.py</a:t>
            </a:r>
            <a:r>
              <a:rPr sz="1800" b="0">
                <a:solidFill>
                  <a:srgbClr val="FFFFFF"/>
                </a:solidFill>
                <a:latin typeface="Inter"/>
              </a:rPr>
              <a:t>, tests, deploy files, CI</a:t>
            </a:r>
          </a:p>
          <a:p>
            <a:pPr marL="292608" indent="-292608">
              <a:lnSpc>
                <a:spcPct val="120000"/>
              </a:lnSpc>
              <a:spcAft>
                <a:spcPts val="1260"/>
              </a:spcAft>
              <a:buClr>
                <a:srgbClr val="00D4AA"/>
              </a:buClr>
              <a:buFont typeface="Inter"/>
              <a:buChar char="•"/>
            </a:pPr>
            <a:r>
              <a:rPr sz="1800" b="0">
                <a:solidFill>
                  <a:srgbClr val="FFFFFF"/>
                </a:solidFill>
                <a:latin typeface="Inter"/>
              </a:rPr>
              <a:t>D2 </a:t>
            </a:r>
            <a:r>
              <a:rPr sz="1656" b="0">
                <a:solidFill>
                  <a:srgbClr val="00D4AA"/>
                </a:solidFill>
                <a:latin typeface="JetBrains Mono"/>
              </a:rPr>
              <a:t>ACCEPTANCE.md</a:t>
            </a:r>
            <a:r>
              <a:rPr sz="1800" b="0">
                <a:solidFill>
                  <a:srgbClr val="FFFFFF"/>
                </a:solidFill>
                <a:latin typeface="Inter"/>
              </a:rPr>
              <a:t>: 20 criteria, PASS or FAIL, evidence for each</a:t>
            </a:r>
          </a:p>
          <a:p>
            <a:pPr marL="292608" indent="-292608">
              <a:lnSpc>
                <a:spcPct val="120000"/>
              </a:lnSpc>
              <a:spcAft>
                <a:spcPts val="1260"/>
              </a:spcAft>
              <a:buClr>
                <a:srgbClr val="00D4AA"/>
              </a:buClr>
              <a:buFont typeface="Inter"/>
              <a:buChar char="•"/>
            </a:pPr>
            <a:r>
              <a:rPr sz="1800" b="0">
                <a:solidFill>
                  <a:srgbClr val="FFFFFF"/>
                </a:solidFill>
                <a:latin typeface="Inter"/>
              </a:rPr>
              <a:t>D3 Screenshots: Ops Console (cost, latency, quality), Grafana, one alert, one red CI run</a:t>
            </a:r>
          </a:p>
          <a:p>
            <a:pPr marL="292608" indent="-292608">
              <a:lnSpc>
                <a:spcPct val="120000"/>
              </a:lnSpc>
              <a:spcAft>
                <a:spcPts val="1260"/>
              </a:spcAft>
              <a:buClr>
                <a:srgbClr val="00D4AA"/>
              </a:buClr>
              <a:buFont typeface="Inter"/>
              <a:buChar char="•"/>
            </a:pPr>
            <a:r>
              <a:rPr sz="1800" b="0">
                <a:solidFill>
                  <a:srgbClr val="FFFFFF"/>
                </a:solidFill>
                <a:latin typeface="Inter"/>
              </a:rPr>
              <a:t>D4 Weekly report generated by your </a:t>
            </a:r>
            <a:r>
              <a:rPr sz="1656" b="0">
                <a:solidFill>
                  <a:srgbClr val="00D4AA"/>
                </a:solidFill>
                <a:latin typeface="JetBrains Mono"/>
              </a:rPr>
              <a:t>report.py</a:t>
            </a:r>
            <a:r>
              <a:rPr sz="1800" b="0">
                <a:solidFill>
                  <a:srgbClr val="FFFFFF"/>
                </a:solidFill>
                <a:latin typeface="Inter"/>
              </a:rPr>
              <a:t> for the replayed week</a:t>
            </a:r>
          </a:p>
          <a:p>
            <a:pPr marL="292608" indent="-292608">
              <a:lnSpc>
                <a:spcPct val="120000"/>
              </a:lnSpc>
              <a:spcAft>
                <a:spcPts val="1260"/>
              </a:spcAft>
              <a:buClr>
                <a:srgbClr val="00D4AA"/>
              </a:buClr>
              <a:buFont typeface="Inter"/>
              <a:buChar char="•"/>
            </a:pPr>
            <a:r>
              <a:rPr sz="1800" b="0">
                <a:solidFill>
                  <a:srgbClr val="FFFFFF"/>
                </a:solidFill>
                <a:latin typeface="Inter"/>
              </a:rPr>
              <a:t>D5 Incident postmortems from Section 11 (at least two)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Deliverables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D6 </a:t>
            </a:r>
            <a:r>
              <a:rPr sz="2024" b="0">
                <a:solidFill>
                  <a:srgbClr val="00D4AA"/>
                </a:solidFill>
                <a:latin typeface="JetBrains Mono"/>
              </a:rPr>
              <a:t>DIFF_NOTES.md</a:t>
            </a:r>
            <a:r>
              <a:rPr sz="2200" b="0">
                <a:solidFill>
                  <a:srgbClr val="FFFFFF"/>
                </a:solidFill>
                <a:latin typeface="Inter"/>
              </a:rPr>
              <a:t>, written after the reference solution</a:t>
            </a:r>
          </a:p>
          <a:p>
            <a:pPr marL="292608" indent="-292608">
              <a:lnSpc>
                <a:spcPct val="120000"/>
              </a:lnSpc>
              <a:spcAft>
                <a:spcPts val="1539"/>
              </a:spcAft>
              <a:buClr>
                <a:srgbClr val="00D4AA"/>
              </a:buClr>
              <a:buFont typeface="Inter"/>
              <a:buChar char="•"/>
            </a:pPr>
            <a:r>
              <a:rPr sz="2200" b="0">
                <a:solidFill>
                  <a:srgbClr val="FFFFFF"/>
                </a:solidFill>
                <a:latin typeface="Inter"/>
              </a:rPr>
              <a:t>D7 Portfolio write-up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Build it yourself first: the capstone gate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capstone gate: why you should build this from the brief before you watch the reference.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14 · CAPSTONE: THE ATLAS OPS CONSOLE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14.1a</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Build it yourself first: the capstone gate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Commit to a one-week, time-boxed attempt at the capstone from the brief alone.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capstone gate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Time box: one week. Put the end date in your calendar now</a:t>
            </a:r>
          </a:p>
          <a:p>
            <a:pPr marL="292608" indent="-292608">
              <a:lnSpc>
                <a:spcPct val="120000"/>
              </a:lnSpc>
              <a:spcAft>
                <a:spcPts val="1260"/>
              </a:spcAft>
              <a:buClr>
                <a:srgbClr val="00D4AA"/>
              </a:buClr>
              <a:buFont typeface="Inter"/>
              <a:buChar char="•"/>
            </a:pPr>
            <a:r>
              <a:rPr sz="1800" b="0">
                <a:solidFill>
                  <a:srgbClr val="FFFFFF"/>
                </a:solidFill>
                <a:latin typeface="Inter"/>
              </a:rPr>
              <a:t>Build from </a:t>
            </a:r>
            <a:r>
              <a:rPr sz="1656" b="0">
                <a:solidFill>
                  <a:srgbClr val="00D4AA"/>
                </a:solidFill>
                <a:latin typeface="JetBrains Mono"/>
              </a:rPr>
              <a:t>05-projects/capstone-atlas-ops.md</a:t>
            </a:r>
            <a:r>
              <a:rPr sz="1800" b="0">
                <a:solidFill>
                  <a:srgbClr val="FFFFFF"/>
                </a:solidFill>
                <a:latin typeface="Inter"/>
              </a:rPr>
              <a:t> in your own branch: </a:t>
            </a:r>
            <a:r>
              <a:rPr sz="1656" b="0">
                <a:solidFill>
                  <a:srgbClr val="00D4AA"/>
                </a:solidFill>
                <a:latin typeface="JetBrains Mono"/>
              </a:rPr>
              <a:t>console/my_ops_console.py</a:t>
            </a:r>
          </a:p>
          <a:p>
            <a:pPr marL="292608" indent="-292608">
              <a:lnSpc>
                <a:spcPct val="120000"/>
              </a:lnSpc>
              <a:spcAft>
                <a:spcPts val="1260"/>
              </a:spcAft>
              <a:buClr>
                <a:srgbClr val="00D4AA"/>
              </a:buClr>
              <a:buFont typeface="Inter"/>
              <a:buChar char="•"/>
            </a:pPr>
            <a:r>
              <a:rPr sz="1800" b="0">
                <a:solidFill>
                  <a:srgbClr val="FFFFFF"/>
                </a:solidFill>
                <a:latin typeface="Inter"/>
              </a:rPr>
              <a:t>Allowed: everything from Sections 3 to 13, your labs and projects, the docs, the Q&amp;A for concepts</a:t>
            </a:r>
          </a:p>
          <a:p>
            <a:pPr marL="292608" indent="-292608">
              <a:lnSpc>
                <a:spcPct val="120000"/>
              </a:lnSpc>
              <a:spcAft>
                <a:spcPts val="1260"/>
              </a:spcAft>
              <a:buClr>
                <a:srgbClr val="00D4AA"/>
              </a:buClr>
              <a:buFont typeface="Inter"/>
              <a:buChar char="•"/>
            </a:pPr>
            <a:r>
              <a:rPr sz="1800" b="0">
                <a:solidFill>
                  <a:srgbClr val="FFFFFF"/>
                </a:solidFill>
                <a:latin typeface="Inter"/>
              </a:rPr>
              <a:t>Not yet: lectures 14.2 to 14.4 and the reference </a:t>
            </a:r>
            <a:r>
              <a:rPr sz="1656" b="0">
                <a:solidFill>
                  <a:srgbClr val="00D4AA"/>
                </a:solidFill>
                <a:latin typeface="JetBrains Mono"/>
              </a:rPr>
              <a:t>console/ops_console.py</a:t>
            </a:r>
            <a:r>
              <a:rPr sz="1800" b="0">
                <a:solidFill>
                  <a:srgbClr val="FFFFFF"/>
                </a:solidFill>
                <a:latin typeface="Inter"/>
              </a:rPr>
              <a:t> internals</a:t>
            </a:r>
          </a:p>
          <a:p>
            <a:pPr marL="292608" indent="-292608">
              <a:lnSpc>
                <a:spcPct val="120000"/>
              </a:lnSpc>
              <a:spcAft>
                <a:spcPts val="1260"/>
              </a:spcAft>
              <a:buClr>
                <a:srgbClr val="00D4AA"/>
              </a:buClr>
              <a:buFont typeface="Inter"/>
              <a:buChar char="•"/>
            </a:pPr>
            <a:r>
              <a:rPr sz="1800" b="0">
                <a:solidFill>
                  <a:srgbClr val="FFFFFF"/>
                </a:solidFill>
                <a:latin typeface="Inter"/>
              </a:rPr>
              <a:t>Stuck for more than 90 minutes? Write down what you tried, cut scope, move 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When you come back</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Watch 14.2 to 14.4 as a code reviewer</a:t>
            </a:r>
          </a:p>
          <a:p>
            <a:pPr marL="292608" indent="-292608">
              <a:lnSpc>
                <a:spcPct val="120000"/>
              </a:lnSpc>
              <a:spcAft>
                <a:spcPts val="1539"/>
              </a:spcAft>
              <a:buClr>
                <a:srgbClr val="00D4AA"/>
              </a:buClr>
              <a:buFont typeface="Inter"/>
              <a:buChar char="•"/>
            </a:pPr>
            <a:r>
              <a:rPr sz="2200" b="0">
                <a:solidFill>
                  <a:srgbClr val="FFFFFF"/>
                </a:solidFill>
                <a:latin typeface="Inter"/>
              </a:rPr>
              <a:t>Write </a:t>
            </a:r>
            <a:r>
              <a:rPr sz="2024" b="0">
                <a:solidFill>
                  <a:srgbClr val="00D4AA"/>
                </a:solidFill>
                <a:latin typeface="JetBrains Mono"/>
              </a:rPr>
              <a:t>DIFF_NOTES.md</a:t>
            </a:r>
            <a:r>
              <a:rPr sz="2200" b="0">
                <a:solidFill>
                  <a:srgbClr val="FFFFFF"/>
                </a:solidFill>
                <a:latin typeface="Inter"/>
              </a:rPr>
              <a:t>: three things the reference does differently, and whether you adopted each</a:t>
            </a:r>
          </a:p>
          <a:p>
            <a:pPr marL="292608" indent="-292608">
              <a:lnSpc>
                <a:spcPct val="120000"/>
              </a:lnSpc>
              <a:spcAft>
                <a:spcPts val="1539"/>
              </a:spcAft>
              <a:buClr>
                <a:srgbClr val="00D4AA"/>
              </a:buClr>
              <a:buFont typeface="Inter"/>
              <a:buChar char="•"/>
            </a:pPr>
            <a:r>
              <a:rPr sz="2200" b="0">
                <a:solidFill>
                  <a:srgbClr val="FFFFFF"/>
                </a:solidFill>
                <a:latin typeface="Inter"/>
              </a:rPr>
              <a:t>Keep your version wherever it passes the acceptance criteria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Reference solution part A: instrumentation and cost (Part A and Part B)</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When you're back, the next lecture is the reference solution, starting with instrumentation and cost.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14 · CAPSTONE: THE ATLAS OPS CONSOLE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14.2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Reference solution part A: instrumentation and cost (Part A and Part B)</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Assemble the telemetry stack in one startup call: OTel provider, exporters, local store, Langfuse client with masking and release.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Part A checklist against the criteria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AC-01, AC-02: every generation and tool span carries </a:t>
            </a:r>
            <a:r>
              <a:rPr sz="1656" b="0">
                <a:solidFill>
                  <a:srgbClr val="00D4AA"/>
                </a:solidFill>
                <a:latin typeface="JetBrains Mono"/>
              </a:rPr>
              <a:t>gen_ai.*</a:t>
            </a:r>
            <a:r>
              <a:rPr sz="1800" b="0">
                <a:solidFill>
                  <a:srgbClr val="FFFFFF"/>
                </a:solidFill>
                <a:latin typeface="Inter"/>
              </a:rPr>
              <a:t>; integration test green</a:t>
            </a:r>
          </a:p>
          <a:p>
            <a:pPr marL="292608" indent="-292608">
              <a:lnSpc>
                <a:spcPct val="120000"/>
              </a:lnSpc>
              <a:spcAft>
                <a:spcPts val="1260"/>
              </a:spcAft>
              <a:buClr>
                <a:srgbClr val="00D4AA"/>
              </a:buClr>
              <a:buFont typeface="Inter"/>
              <a:buChar char="•"/>
            </a:pPr>
            <a:r>
              <a:rPr sz="1800" b="0">
                <a:solidFill>
                  <a:srgbClr val="FFFFFF"/>
                </a:solidFill>
                <a:latin typeface="Inter"/>
              </a:rPr>
              <a:t>AC-03: tool results masked in SDK (</a:t>
            </a:r>
            <a:r>
              <a:rPr sz="1656" b="0">
                <a:solidFill>
                  <a:srgbClr val="00D4AA"/>
                </a:solidFill>
                <a:latin typeface="JetBrains Mono"/>
              </a:rPr>
              <a:t>langfuse_mask</a:t>
            </a:r>
            <a:r>
              <a:rPr sz="1800" b="0">
                <a:solidFill>
                  <a:srgbClr val="FFFFFF"/>
                </a:solidFill>
                <a:latin typeface="Inter"/>
              </a:rPr>
              <a:t>) and Collector</a:t>
            </a:r>
          </a:p>
          <a:p>
            <a:pPr marL="292608" indent="-292608">
              <a:lnSpc>
                <a:spcPct val="120000"/>
              </a:lnSpc>
              <a:spcAft>
                <a:spcPts val="1260"/>
              </a:spcAft>
              <a:buClr>
                <a:srgbClr val="00D4AA"/>
              </a:buClr>
              <a:buFont typeface="Inter"/>
              <a:buChar char="•"/>
            </a:pPr>
            <a:r>
              <a:rPr sz="1800" b="0">
                <a:solidFill>
                  <a:srgbClr val="FFFFFF"/>
                </a:solidFill>
                <a:latin typeface="Inter"/>
              </a:rPr>
              <a:t>AC-05: cost agrees across span, </a:t>
            </a:r>
            <a:r>
              <a:rPr sz="1656" b="0">
                <a:solidFill>
                  <a:srgbClr val="00D4AA"/>
                </a:solidFill>
                <a:latin typeface="JetBrains Mono"/>
              </a:rPr>
              <a:t>/metrics</a:t>
            </a:r>
            <a:r>
              <a:rPr sz="1800" b="0">
                <a:solidFill>
                  <a:srgbClr val="FFFFFF"/>
                </a:solidFill>
                <a:latin typeface="Inter"/>
              </a:rPr>
              <a:t>, report: $2.41 on the 400-session day</a:t>
            </a:r>
          </a:p>
          <a:p>
            <a:pPr marL="292608" indent="-292608">
              <a:lnSpc>
                <a:spcPct val="120000"/>
              </a:lnSpc>
              <a:spcAft>
                <a:spcPts val="1260"/>
              </a:spcAft>
              <a:buClr>
                <a:srgbClr val="00D4AA"/>
              </a:buClr>
              <a:buFont typeface="Inter"/>
              <a:buChar char="•"/>
            </a:pPr>
            <a:r>
              <a:rPr sz="1800" b="0">
                <a:solidFill>
                  <a:srgbClr val="FFFFFF"/>
                </a:solidFill>
                <a:latin typeface="Inter"/>
              </a:rPr>
              <a:t>AC-06, AC-07: per-tenant budgets with degrade and refuse events; anomaly counter</a:t>
            </a:r>
          </a:p>
          <a:p>
            <a:pPr marL="292608" indent="-292608">
              <a:lnSpc>
                <a:spcPct val="120000"/>
              </a:lnSpc>
              <a:spcAft>
                <a:spcPts val="1260"/>
              </a:spcAft>
              <a:buClr>
                <a:srgbClr val="00D4AA"/>
              </a:buClr>
              <a:buFont typeface="Inter"/>
              <a:buChar char="•"/>
            </a:pPr>
            <a:r>
              <a:rPr sz="1800" b="0">
                <a:solidFill>
                  <a:srgbClr val="FFFFFF"/>
                </a:solidFill>
                <a:latin typeface="Inter"/>
              </a:rPr>
              <a:t>AC-08: 43% saving on the replayed day, broken down by technique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Part A checklist against the criteria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AC-10, AC-11: </a:t>
            </a:r>
            <a:r>
              <a:rPr sz="2024" b="0">
                <a:solidFill>
                  <a:srgbClr val="00D4AA"/>
                </a:solidFill>
                <a:latin typeface="JetBrains Mono"/>
              </a:rPr>
              <a:t>slow_provider</a:t>
            </a:r>
            <a:r>
              <a:rPr sz="2200" b="0">
                <a:solidFill>
                  <a:srgbClr val="FFFFFF"/>
                </a:solidFill>
                <a:latin typeface="Inter"/>
              </a:rPr>
              <a:t> replay p95 3.5 s, fallback rate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Reference solution part B: quality, dashboards, alerts, CI (Part A and Part B)</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part B of the reference: the judge, drift, the dashboard, alerts and the CI gate.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14 · CAPSTONE: THE ATLAS OPS CONSOLE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14.3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Reference solution part B: quality, dashboards, alerts, CI (Part A and Part B)</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Run the sampled online judge and feedback loop so scores land in Langfuse with prompt version metadata, and produce the weekly drift…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pic>
        <p:nvPicPr>
          <p:cNvPr id="2" name="Picture 1" descr="D11-ops-dashboard.png"/>
          <p:cNvPicPr>
            <a:picLocks noChangeAspect="1"/>
          </p:cNvPicPr>
          <p:nvPr/>
        </p:nvPicPr>
        <p:blipFill>
          <a:blip r:embed="rId3"/>
          <a:stretch>
            <a:fillRect/>
          </a:stretch>
        </p:blipFill>
        <p:spPr>
          <a:xfrm>
            <a:off x="0" y="0"/>
            <a:ext cx="12191695" cy="6857828"/>
          </a:xfrm>
          <a:prstGeom prst="rect">
            <a:avLst/>
          </a:prstGeom>
        </p:spPr>
      </p:pic>
      <p:sp>
        <p:nvSpPr>
          <p:cNvPr id="3" name="TextBox 2"/>
          <p:cNvSpPr txBox="1"/>
          <p:nvPr/>
        </p:nvSpPr>
        <p:spPr>
          <a:xfrm>
            <a:off x="6217920" y="109728"/>
            <a:ext cx="5806440" cy="274320"/>
          </a:xfrm>
          <a:prstGeom prst="rect">
            <a:avLst/>
          </a:prstGeom>
          <a:noFill/>
        </p:spPr>
        <p:txBody>
          <a:bodyPr wrap="square" lIns="45720" rIns="45720" tIns="27432" bIns="27432" anchor="t">
            <a:spAutoFit/>
          </a:bodyPr>
          <a:lstStyle/>
          <a:p>
            <a:pPr algn="r"/>
            <a:r>
              <a:rPr sz="900" b="0">
                <a:solidFill>
                  <a:srgbClr val="64748B"/>
                </a:solidFill>
                <a:latin typeface="Inter"/>
              </a:rPr>
              <a:t>Section 14 · Lecture 14.3 · The Atlas Ops dashboard, one panel per SLI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Part B checklist against the criteria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AC-13, AC-14: judge on 10% plus errors and thumbs-down; feedback correlated</a:t>
            </a:r>
          </a:p>
          <a:p>
            <a:pPr marL="292608" indent="-292608">
              <a:lnSpc>
                <a:spcPct val="120000"/>
              </a:lnSpc>
              <a:spcAft>
                <a:spcPts val="1260"/>
              </a:spcAft>
              <a:buClr>
                <a:srgbClr val="00D4AA"/>
              </a:buClr>
              <a:buFont typeface="Inter"/>
              <a:buChar char="•"/>
            </a:pPr>
            <a:r>
              <a:rPr sz="1800" b="0">
                <a:solidFill>
                  <a:srgbClr val="FFFFFF"/>
                </a:solidFill>
                <a:latin typeface="Inter"/>
              </a:rPr>
              <a:t>AC-15: drift report flags </a:t>
            </a:r>
            <a:r>
              <a:rPr sz="1656" b="0">
                <a:solidFill>
                  <a:srgbClr val="00D4AA"/>
                </a:solidFill>
                <a:latin typeface="JetBrains Mono"/>
              </a:rPr>
              <a:t>prompt_regression</a:t>
            </a:r>
            <a:r>
              <a:rPr sz="1800" b="0">
                <a:solidFill>
                  <a:srgbClr val="FFFFFF"/>
                </a:solidFill>
                <a:latin typeface="Inter"/>
              </a:rPr>
              <a:t>, by prompt version</a:t>
            </a:r>
          </a:p>
          <a:p>
            <a:pPr marL="292608" indent="-292608">
              <a:lnSpc>
                <a:spcPct val="120000"/>
              </a:lnSpc>
              <a:spcAft>
                <a:spcPts val="1260"/>
              </a:spcAft>
              <a:buClr>
                <a:srgbClr val="00D4AA"/>
              </a:buClr>
              <a:buFont typeface="Inter"/>
              <a:buChar char="•"/>
            </a:pPr>
            <a:r>
              <a:rPr sz="1800" b="0">
                <a:solidFill>
                  <a:srgbClr val="FFFFFF"/>
                </a:solidFill>
                <a:latin typeface="Inter"/>
              </a:rPr>
              <a:t>AC-16: failures promoted to </a:t>
            </a:r>
            <a:r>
              <a:rPr sz="1656" b="0">
                <a:solidFill>
                  <a:srgbClr val="00D4AA"/>
                </a:solidFill>
                <a:latin typeface="JetBrains Mono"/>
              </a:rPr>
              <a:t>atlas-failures</a:t>
            </a:r>
          </a:p>
          <a:p>
            <a:pPr marL="292608" indent="-292608">
              <a:lnSpc>
                <a:spcPct val="120000"/>
              </a:lnSpc>
              <a:spcAft>
                <a:spcPts val="1260"/>
              </a:spcAft>
              <a:buClr>
                <a:srgbClr val="00D4AA"/>
              </a:buClr>
              <a:buFont typeface="Inter"/>
              <a:buChar char="•"/>
            </a:pPr>
            <a:r>
              <a:rPr sz="1800" b="0">
                <a:solidFill>
                  <a:srgbClr val="FFFFFF"/>
                </a:solidFill>
                <a:latin typeface="Inter"/>
              </a:rPr>
              <a:t>AC-17: dashboard provisioned, tenant variable, release annotations</a:t>
            </a:r>
          </a:p>
          <a:p>
            <a:pPr marL="292608" indent="-292608">
              <a:lnSpc>
                <a:spcPct val="120000"/>
              </a:lnSpc>
              <a:spcAft>
                <a:spcPts val="1260"/>
              </a:spcAft>
              <a:buClr>
                <a:srgbClr val="00D4AA"/>
              </a:buClr>
              <a:buFont typeface="Inter"/>
              <a:buChar char="•"/>
            </a:pPr>
            <a:r>
              <a:rPr sz="1800" b="0">
                <a:solidFill>
                  <a:srgbClr val="FFFFFF"/>
                </a:solidFill>
                <a:latin typeface="Inter"/>
              </a:rPr>
              <a:t>AC-18: spend anomaly alert fires during </a:t>
            </a:r>
            <a:r>
              <a:rPr sz="1656" b="0">
                <a:solidFill>
                  <a:srgbClr val="00D4AA"/>
                </a:solidFill>
                <a:latin typeface="JetBrains Mono"/>
              </a:rPr>
              <a:t>context_bloat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Part B checklist against the criteria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AC-19: CI gate red on </a:t>
            </a:r>
            <a:r>
              <a:rPr sz="2024" b="0">
                <a:solidFill>
                  <a:srgbClr val="00D4AA"/>
                </a:solidFill>
                <a:latin typeface="JetBrains Mono"/>
              </a:rPr>
              <a:t>ATLAS_TOP_K=20</a:t>
            </a:r>
            <a:r>
              <a:rPr sz="2200" b="0">
                <a:solidFill>
                  <a:srgbClr val="FFFFFF"/>
                </a:solidFill>
                <a:latin typeface="Inter"/>
              </a:rPr>
              <a:t>, required for merge</a:t>
            </a:r>
          </a:p>
          <a:p>
            <a:pPr marL="292608" indent="-292608">
              <a:lnSpc>
                <a:spcPct val="120000"/>
              </a:lnSpc>
              <a:spcAft>
                <a:spcPts val="1539"/>
              </a:spcAft>
              <a:buClr>
                <a:srgbClr val="00D4AA"/>
              </a:buClr>
              <a:buFont typeface="Inter"/>
              <a:buChar char="•"/>
            </a:pPr>
            <a:r>
              <a:rPr sz="2200" b="0">
                <a:solidFill>
                  <a:srgbClr val="FFFFFF"/>
                </a:solidFill>
                <a:latin typeface="Inter"/>
              </a:rPr>
              <a:t>AC-20: weekly report (next lecture)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The weekly ops report your manager reads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last deliverable: the weekly ops report that turns all of this into one page a manager…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14 · CAPSTONE: THE ATLAS OPS CONSOLE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14.4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The weekly ops report your manager reads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Generate a one-page weekly markdown report from cost records, latency samples, judge scores, feedback and incidents with </a:t>
            </a:r>
            <a:r>
              <a:rPr sz="1472" b="0">
                <a:solidFill>
                  <a:srgbClr val="00D4AA"/>
                </a:solidFill>
                <a:latin typeface="JetBrains Mono"/>
              </a:rPr>
              <a:t>northwind.report.weekly_report</a:t>
            </a:r>
            <a:r>
              <a:rPr sz="1600" b="0">
                <a:solidFill>
                  <a:srgbClr val="CBD5E1"/>
                </a:solidFill>
                <a:latin typeface="Inter"/>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Rules for the one-pager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Headline numbers with last week and the budget beside each</a:t>
            </a:r>
          </a:p>
          <a:p>
            <a:pPr marL="292608" indent="-292608">
              <a:lnSpc>
                <a:spcPct val="120000"/>
              </a:lnSpc>
              <a:spcAft>
                <a:spcPts val="1260"/>
              </a:spcAft>
              <a:buClr>
                <a:srgbClr val="00D4AA"/>
              </a:buClr>
              <a:buFont typeface="Inter"/>
              <a:buChar char="•"/>
            </a:pPr>
            <a:r>
              <a:rPr sz="1800" b="0">
                <a:solidFill>
                  <a:srgbClr val="FFFFFF"/>
                </a:solidFill>
                <a:latin typeface="Inter"/>
              </a:rPr>
              <a:t>Outcomes and money for the manager; tokens and model mix stay in the console</a:t>
            </a:r>
          </a:p>
          <a:p>
            <a:pPr marL="292608" indent="-292608">
              <a:lnSpc>
                <a:spcPct val="120000"/>
              </a:lnSpc>
              <a:spcAft>
                <a:spcPts val="1260"/>
              </a:spcAft>
              <a:buClr>
                <a:srgbClr val="00D4AA"/>
              </a:buClr>
              <a:buFont typeface="Inter"/>
              <a:buChar char="•"/>
            </a:pPr>
            <a:r>
              <a:rPr sz="1800" b="0">
                <a:solidFill>
                  <a:srgbClr val="FFFFFF"/>
                </a:solidFill>
                <a:latin typeface="Inter"/>
              </a:rPr>
              <a:t>Same aggregation code as the console, so the numbers cannot disagree</a:t>
            </a:r>
          </a:p>
          <a:p>
            <a:pPr marL="292608" indent="-292608">
              <a:lnSpc>
                <a:spcPct val="120000"/>
              </a:lnSpc>
              <a:spcAft>
                <a:spcPts val="1260"/>
              </a:spcAft>
              <a:buClr>
                <a:srgbClr val="00D4AA"/>
              </a:buClr>
              <a:buFont typeface="Inter"/>
              <a:buChar char="•"/>
            </a:pPr>
            <a:r>
              <a:rPr sz="1800" b="0">
                <a:solidFill>
                  <a:srgbClr val="FFFFFF"/>
                </a:solidFill>
                <a:latin typeface="Inter"/>
              </a:rPr>
              <a:t>Recommendations: at most three, each with a number and an action; add the owner when you send it</a:t>
            </a:r>
          </a:p>
          <a:p>
            <a:pPr marL="292608" indent="-292608">
              <a:lnSpc>
                <a:spcPct val="120000"/>
              </a:lnSpc>
              <a:spcAft>
                <a:spcPts val="1260"/>
              </a:spcAft>
              <a:buClr>
                <a:srgbClr val="00D4AA"/>
              </a:buClr>
              <a:buFont typeface="Inter"/>
              <a:buChar char="•"/>
            </a:pPr>
            <a:r>
              <a:rPr sz="1800" b="0">
                <a:solidFill>
                  <a:srgbClr val="FFFFFF"/>
                </a:solidFill>
                <a:latin typeface="Inter"/>
              </a:rPr>
              <a:t>Generated, dated, committed to </a:t>
            </a:r>
            <a:r>
              <a:rPr sz="1656" b="0">
                <a:solidFill>
                  <a:srgbClr val="00D4AA"/>
                </a:solidFill>
                <a:latin typeface="JetBrains Mono"/>
              </a:rPr>
              <a:t>reports/</a:t>
            </a:r>
            <a:r>
              <a:rPr sz="1800" b="0">
                <a:solidFill>
                  <a:srgbClr val="FFFFFF"/>
                </a:solidFill>
                <a:latin typeface="Inter"/>
              </a:rPr>
              <a:t>; never hand-edited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Capstone submission and portfolio</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submitting the capstone and turning it into a portfolio piece that gets you interviews.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14 · CAPSTONE: THE ATLAS OPS CONSOLE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14.5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Capstone submission and portfolio</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Assemble the seven deliverables into a repository a reviewer can evaluate in fifteen minutes.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Repository structure a reviewer can navigate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README.md</a:t>
            </a:r>
            <a:r>
              <a:rPr sz="1800" b="0">
                <a:solidFill>
                  <a:srgbClr val="FFFFFF"/>
                </a:solidFill>
                <a:latin typeface="Inter"/>
              </a:rPr>
              <a:t>: what it is, three numbers, how to run it offline in five commands, screenshots</a:t>
            </a:r>
          </a:p>
          <a:p>
            <a:pPr marL="292608" indent="-292608">
              <a:lnSpc>
                <a:spcPct val="120000"/>
              </a:lnSpc>
              <a:spcAft>
                <a:spcPts val="1260"/>
              </a:spcAft>
              <a:buClr>
                <a:srgbClr val="00D4AA"/>
              </a:buClr>
              <a:buFont typeface="Inter"/>
              <a:buChar char="•"/>
            </a:pPr>
            <a:r>
              <a:rPr sz="1656" b="0">
                <a:solidFill>
                  <a:srgbClr val="00D4AA"/>
                </a:solidFill>
                <a:latin typeface="JetBrains Mono"/>
              </a:rPr>
              <a:t>ACCEPTANCE.md</a:t>
            </a:r>
            <a:r>
              <a:rPr sz="1800" b="0">
                <a:solidFill>
                  <a:srgbClr val="FFFFFF"/>
                </a:solidFill>
                <a:latin typeface="Inter"/>
              </a:rPr>
              <a:t>: 20 criteria, PASS or FAIL, evidence link per row</a:t>
            </a:r>
          </a:p>
          <a:p>
            <a:pPr marL="292608" indent="-292608">
              <a:lnSpc>
                <a:spcPct val="120000"/>
              </a:lnSpc>
              <a:spcAft>
                <a:spcPts val="1260"/>
              </a:spcAft>
              <a:buClr>
                <a:srgbClr val="00D4AA"/>
              </a:buClr>
              <a:buFont typeface="Inter"/>
              <a:buChar char="•"/>
            </a:pPr>
            <a:r>
              <a:rPr sz="1656" b="0">
                <a:solidFill>
                  <a:srgbClr val="00D4AA"/>
                </a:solidFill>
                <a:latin typeface="JetBrains Mono"/>
              </a:rPr>
              <a:t>reports/</a:t>
            </a:r>
            <a:r>
              <a:rPr sz="1800" b="0">
                <a:solidFill>
                  <a:srgbClr val="FFFFFF"/>
                </a:solidFill>
                <a:latin typeface="Inter"/>
              </a:rPr>
              <a:t>: the generated weekly report</a:t>
            </a:r>
          </a:p>
          <a:p>
            <a:pPr marL="292608" indent="-292608">
              <a:lnSpc>
                <a:spcPct val="120000"/>
              </a:lnSpc>
              <a:spcAft>
                <a:spcPts val="1260"/>
              </a:spcAft>
              <a:buClr>
                <a:srgbClr val="00D4AA"/>
              </a:buClr>
              <a:buFont typeface="Inter"/>
              <a:buChar char="•"/>
            </a:pPr>
            <a:r>
              <a:rPr sz="1656" b="0">
                <a:solidFill>
                  <a:srgbClr val="00D4AA"/>
                </a:solidFill>
                <a:latin typeface="JetBrains Mono"/>
              </a:rPr>
              <a:t>postmortems/</a:t>
            </a:r>
            <a:r>
              <a:rPr sz="1800" b="0">
                <a:solidFill>
                  <a:srgbClr val="FFFFFF"/>
                </a:solidFill>
                <a:latin typeface="Inter"/>
              </a:rPr>
              <a:t>: at least two from Section 11, plus Project 2 if you did it</a:t>
            </a:r>
          </a:p>
          <a:p>
            <a:pPr marL="292608" indent="-292608">
              <a:lnSpc>
                <a:spcPct val="120000"/>
              </a:lnSpc>
              <a:spcAft>
                <a:spcPts val="1260"/>
              </a:spcAft>
              <a:buClr>
                <a:srgbClr val="00D4AA"/>
              </a:buClr>
              <a:buFont typeface="Inter"/>
              <a:buChar char="•"/>
            </a:pPr>
            <a:r>
              <a:rPr sz="1656" b="0">
                <a:solidFill>
                  <a:srgbClr val="00D4AA"/>
                </a:solidFill>
                <a:latin typeface="JetBrains Mono"/>
              </a:rPr>
              <a:t>DIFF_NOTES.md</a:t>
            </a:r>
            <a:r>
              <a:rPr sz="1800" b="0">
                <a:solidFill>
                  <a:srgbClr val="FFFFFF"/>
                </a:solidFill>
                <a:latin typeface="Inter"/>
              </a:rPr>
              <a:t>: three differences from the reference and what you did about each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Repository structure a reviewer can navigate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024" b="0">
                <a:solidFill>
                  <a:srgbClr val="00D4AA"/>
                </a:solidFill>
                <a:latin typeface="JetBrains Mono"/>
              </a:rPr>
              <a:t>deploy/</a:t>
            </a:r>
            <a:r>
              <a:rPr sz="2200" b="0">
                <a:solidFill>
                  <a:srgbClr val="FFFFFF"/>
                </a:solidFill>
                <a:latin typeface="Inter"/>
              </a:rPr>
              <a:t>, </a:t>
            </a:r>
            <a:r>
              <a:rPr sz="2024" b="0">
                <a:solidFill>
                  <a:srgbClr val="00D4AA"/>
                </a:solidFill>
                <a:latin typeface="JetBrains Mono"/>
              </a:rPr>
              <a:t>tests/</a:t>
            </a:r>
            <a:r>
              <a:rPr sz="2200" b="0">
                <a:solidFill>
                  <a:srgbClr val="FFFFFF"/>
                </a:solidFill>
                <a:latin typeface="Inter"/>
              </a:rPr>
              <a:t>, </a:t>
            </a:r>
            <a:r>
              <a:rPr sz="2024" b="0">
                <a:solidFill>
                  <a:srgbClr val="00D4AA"/>
                </a:solidFill>
                <a:latin typeface="JetBrains Mono"/>
              </a:rPr>
              <a:t>.github/workflows/</a:t>
            </a:r>
            <a:r>
              <a:rPr sz="2200" b="0">
                <a:solidFill>
                  <a:srgbClr val="FFFFFF"/>
                </a:solidFill>
                <a:latin typeface="Inter"/>
              </a:rPr>
              <a:t>: the stack and the gate, unchanged in shape from the course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Numbers beat adjectives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1920240"/>
        </p:xfrm>
        <a:graphic>
          <a:graphicData uri="http://schemas.openxmlformats.org/drawingml/2006/table">
            <a:tbl>
              <a:tblPr firstRow="1" bandRow="1">
                <a:tableStyleId>{5C22544A-7EE6-4342-B048-85BDC9FD1C3A}</a:tableStyleId>
              </a:tblPr>
              <a:tblGrid>
                <a:gridCol w="3679689"/>
                <a:gridCol w="7613150"/>
              </a:tblGrid>
              <a:tr h="384048">
                <a:tc>
                  <a:txBody>
                    <a:bodyPr wrap="square"/>
                    <a:lstStyle/>
                    <a:p>
                      <a:r>
                        <a:rPr sz="1200" b="1">
                          <a:solidFill>
                            <a:srgbClr val="0A1628"/>
                          </a:solidFill>
                          <a:latin typeface="Inter"/>
                        </a:rPr>
                        <a:t>Weak</a:t>
                      </a:r>
                    </a:p>
                  </a:txBody>
                  <a:tcPr marL="91440" marR="91440" marT="45720" marB="45720" anchor="ctr">
                    <a:solidFill>
                      <a:srgbClr val="00D4AA"/>
                    </a:solidFill>
                  </a:tcPr>
                </a:tc>
                <a:tc>
                  <a:txBody>
                    <a:bodyPr wrap="square"/>
                    <a:lstStyle/>
                    <a:p>
                      <a:r>
                        <a:rPr sz="1200" b="1">
                          <a:solidFill>
                            <a:srgbClr val="0A1628"/>
                          </a:solidFill>
                          <a:latin typeface="Inter"/>
                        </a:rPr>
                        <a:t>Strong</a:t>
                      </a:r>
                    </a:p>
                  </a:txBody>
                  <a:tcPr marL="91440" marR="91440" marT="45720" marB="45720" anchor="ctr">
                    <a:solidFill>
                      <a:srgbClr val="00D4AA"/>
                    </a:solidFill>
                  </a:tcPr>
                </a:tc>
              </a:tr>
              <a:tr h="384048">
                <a:tc>
                  <a:txBody>
                    <a:bodyPr wrap="square"/>
                    <a:lstStyle/>
                    <a:p>
                      <a:r>
                        <a:rPr sz="1200" b="1">
                          <a:solidFill>
                            <a:srgbClr val="FFFFFF"/>
                          </a:solidFill>
                          <a:latin typeface="Inter"/>
                        </a:rPr>
                        <a:t>"Comprehensive observability"</a:t>
                      </a:r>
                    </a:p>
                  </a:txBody>
                  <a:tcPr marL="91440" marR="91440" marT="45720" marB="45720" anchor="ctr">
                    <a:solidFill>
                      <a:srgbClr val="1A2742"/>
                    </a:solidFill>
                  </a:tcPr>
                </a:tc>
                <a:tc>
                  <a:txBody>
                    <a:bodyPr wrap="square"/>
                    <a:lstStyle/>
                    <a:p>
                      <a:r>
                        <a:rPr sz="1200" b="0">
                          <a:solidFill>
                            <a:srgbClr val="FFFFFF"/>
                          </a:solidFill>
                          <a:latin typeface="Inter"/>
                        </a:rPr>
                        <a:t>"Every generation, tool and retriever span carries GenAI attributes; 41 integration assertions"</a:t>
                      </a:r>
                    </a:p>
                  </a:txBody>
                  <a:tcPr marL="91440" marR="91440" marT="45720" marB="45720" anchor="ctr">
                    <a:solidFill>
                      <a:srgbClr val="1A2742"/>
                    </a:solidFill>
                  </a:tcPr>
                </a:tc>
              </a:tr>
              <a:tr h="384048">
                <a:tc>
                  <a:txBody>
                    <a:bodyPr wrap="square"/>
                    <a:lstStyle/>
                    <a:p>
                      <a:r>
                        <a:rPr sz="1200" b="1">
                          <a:solidFill>
                            <a:srgbClr val="FFFFFF"/>
                          </a:solidFill>
                          <a:latin typeface="Inter"/>
                        </a:rPr>
                        <a:t>"Significantly reduced costs"</a:t>
                      </a:r>
                    </a:p>
                  </a:txBody>
                  <a:tcPr marL="91440" marR="91440" marT="45720" marB="45720" anchor="ctr">
                    <a:solidFill>
                      <a:srgbClr val="0F1E35"/>
                    </a:solidFill>
                  </a:tcPr>
                </a:tc>
                <a:tc>
                  <a:txBody>
                    <a:bodyPr wrap="square"/>
                    <a:lstStyle/>
                    <a:p>
                      <a:r>
                        <a:rPr sz="1200" b="0">
                          <a:solidFill>
                            <a:srgbClr val="FFFFFF"/>
                          </a:solidFill>
                          <a:latin typeface="Inter"/>
                        </a:rPr>
                        <a:t>"Cost per resolved session $0.0061, down 43% on a replayed day; caching 18%, context diet 14%, routing 11%"</a:t>
                      </a:r>
                    </a:p>
                  </a:txBody>
                  <a:tcPr marL="91440" marR="91440" marT="45720" marB="45720" anchor="ctr">
                    <a:solidFill>
                      <a:srgbClr val="0F1E35"/>
                    </a:solidFill>
                  </a:tcPr>
                </a:tc>
              </a:tr>
              <a:tr h="384048">
                <a:tc>
                  <a:txBody>
                    <a:bodyPr wrap="square"/>
                    <a:lstStyle/>
                    <a:p>
                      <a:r>
                        <a:rPr sz="1200" b="1">
                          <a:solidFill>
                            <a:srgbClr val="FFFFFF"/>
                          </a:solidFill>
                          <a:latin typeface="Inter"/>
                        </a:rPr>
                        <a:t>"Robust to failures"</a:t>
                      </a:r>
                    </a:p>
                  </a:txBody>
                  <a:tcPr marL="91440" marR="91440" marT="45720" marB="45720" anchor="ctr">
                    <a:solidFill>
                      <a:srgbClr val="1A2742"/>
                    </a:solidFill>
                  </a:tcPr>
                </a:tc>
                <a:tc>
                  <a:txBody>
                    <a:bodyPr wrap="square"/>
                    <a:lstStyle/>
                    <a:p>
                      <a:r>
                        <a:rPr sz="1200" b="0">
                          <a:solidFill>
                            <a:srgbClr val="FFFFFF"/>
                          </a:solidFill>
                          <a:latin typeface="Inter"/>
                        </a:rPr>
                        <a:t>"p95 3.4 s with 31% fallback rate during a simulated provider slowdown; backend outage drops spans, not requests"</a:t>
                      </a:r>
                    </a:p>
                  </a:txBody>
                  <a:tcPr marL="91440" marR="91440" marT="45720" marB="45720" anchor="ctr">
                    <a:solidFill>
                      <a:srgbClr val="1A2742"/>
                    </a:solidFill>
                  </a:tcPr>
                </a:tc>
              </a:tr>
              <a:tr h="384048">
                <a:tc>
                  <a:txBody>
                    <a:bodyPr wrap="square"/>
                    <a:lstStyle/>
                    <a:p>
                      <a:r>
                        <a:rPr sz="1200" b="1">
                          <a:solidFill>
                            <a:srgbClr val="FFFFFF"/>
                          </a:solidFill>
                          <a:latin typeface="Inter"/>
                        </a:rPr>
                        <a:t>"Monitoring and alerting"</a:t>
                      </a:r>
                    </a:p>
                  </a:txBody>
                  <a:tcPr marL="91440" marR="91440" marT="45720" marB="45720" anchor="ctr">
                    <a:solidFill>
                      <a:srgbClr val="0F1E35"/>
                    </a:solidFill>
                  </a:tcPr>
                </a:tc>
                <a:tc>
                  <a:txBody>
                    <a:bodyPr wrap="square"/>
                    <a:lstStyle/>
                    <a:p>
                      <a:r>
                        <a:rPr sz="1200" b="0">
                          <a:solidFill>
                            <a:srgbClr val="FFFFFF"/>
                          </a:solidFill>
                          <a:latin typeface="Inter"/>
                        </a:rPr>
                        <a:t>"12-panel Grafana dashboard as code; 3 owned alerts; spend anomaly fires within the first hour of the context-bloat scenario"</a:t>
                      </a:r>
                    </a:p>
                  </a:txBody>
                  <a:tcPr marL="91440" marR="91440" marT="45720" marB="45720" anchor="ctr">
                    <a:solidFill>
                      <a:srgbClr val="0F1E35"/>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postmortems are the differentiator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Most portfolios show things that work; yours shows how you find out why things broke</a:t>
            </a:r>
          </a:p>
          <a:p>
            <a:pPr marL="292608" indent="-292608">
              <a:lnSpc>
                <a:spcPct val="120000"/>
              </a:lnSpc>
              <a:spcAft>
                <a:spcPts val="1260"/>
              </a:spcAft>
              <a:buClr>
                <a:srgbClr val="00D4AA"/>
              </a:buClr>
              <a:buFont typeface="Inter"/>
              <a:buChar char="•"/>
            </a:pPr>
            <a:r>
              <a:rPr sz="1800" b="0">
                <a:solidFill>
                  <a:srgbClr val="FFFFFF"/>
                </a:solidFill>
                <a:latin typeface="Inter"/>
              </a:rPr>
              <a:t>Include two postmortems from Section 11, written in your words, with the action items</a:t>
            </a:r>
          </a:p>
          <a:p>
            <a:pPr marL="292608" indent="-292608">
              <a:lnSpc>
                <a:spcPct val="120000"/>
              </a:lnSpc>
              <a:spcAft>
                <a:spcPts val="1260"/>
              </a:spcAft>
              <a:buClr>
                <a:srgbClr val="00D4AA"/>
              </a:buClr>
              <a:buFont typeface="Inter"/>
              <a:buChar char="•"/>
            </a:pPr>
            <a:r>
              <a:rPr sz="1800" b="0">
                <a:solidFill>
                  <a:srgbClr val="FFFFFF"/>
                </a:solidFill>
                <a:latin typeface="Inter"/>
              </a:rPr>
              <a:t>In the README: "Incident response" section, one line per incident, link to the postmortem</a:t>
            </a:r>
          </a:p>
          <a:p>
            <a:pPr marL="292608" indent="-292608">
              <a:lnSpc>
                <a:spcPct val="120000"/>
              </a:lnSpc>
              <a:spcAft>
                <a:spcPts val="1260"/>
              </a:spcAft>
              <a:buClr>
                <a:srgbClr val="00D4AA"/>
              </a:buClr>
              <a:buFont typeface="Inter"/>
              <a:buChar char="•"/>
            </a:pPr>
            <a:r>
              <a:rPr sz="1800" b="0">
                <a:solidFill>
                  <a:srgbClr val="FFFFFF"/>
                </a:solidFill>
                <a:latin typeface="Inter"/>
              </a:rPr>
              <a:t>Interviewers ask "tell me about a time something broke": now you have three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portfolio post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Title with a number: "Cutting an AI agent's cost per resolved question by 43% while holding p95 under 4 s"</a:t>
            </a:r>
          </a:p>
          <a:p>
            <a:pPr marL="292608" indent="-292608">
              <a:lnSpc>
                <a:spcPct val="120000"/>
              </a:lnSpc>
              <a:spcAft>
                <a:spcPts val="1260"/>
              </a:spcAft>
              <a:buClr>
                <a:srgbClr val="00D4AA"/>
              </a:buClr>
              <a:buFont typeface="Inter"/>
              <a:buChar char="•"/>
            </a:pPr>
            <a:r>
              <a:rPr sz="1800" b="0">
                <a:solidFill>
                  <a:srgbClr val="FFFFFF"/>
                </a:solidFill>
                <a:latin typeface="Inter"/>
              </a:rPr>
              <a:t>Three paragraphs: the problem, what you built (with the architecture diagram), what you measured</a:t>
            </a:r>
          </a:p>
          <a:p>
            <a:pPr marL="292608" indent="-292608">
              <a:lnSpc>
                <a:spcPct val="120000"/>
              </a:lnSpc>
              <a:spcAft>
                <a:spcPts val="1260"/>
              </a:spcAft>
              <a:buClr>
                <a:srgbClr val="00D4AA"/>
              </a:buClr>
              <a:buFont typeface="Inter"/>
              <a:buChar char="•"/>
            </a:pPr>
            <a:r>
              <a:rPr sz="1800" b="0">
                <a:solidFill>
                  <a:srgbClr val="FFFFFF"/>
                </a:solidFill>
                <a:latin typeface="Inter"/>
              </a:rPr>
              <a:t>One incident story in four sentences</a:t>
            </a:r>
          </a:p>
          <a:p>
            <a:pPr marL="292608" indent="-292608">
              <a:lnSpc>
                <a:spcPct val="120000"/>
              </a:lnSpc>
              <a:spcAft>
                <a:spcPts val="1260"/>
              </a:spcAft>
              <a:buClr>
                <a:srgbClr val="00D4AA"/>
              </a:buClr>
              <a:buFont typeface="Inter"/>
              <a:buChar char="•"/>
            </a:pPr>
            <a:r>
              <a:rPr sz="1800" b="0">
                <a:solidFill>
                  <a:srgbClr val="FFFFFF"/>
                </a:solidFill>
                <a:latin typeface="Inter"/>
              </a:rPr>
              <a:t>Link to the repo; mention offline mode so anyone can run it</a:t>
            </a:r>
          </a:p>
          <a:p>
            <a:pPr marL="292608" indent="-292608">
              <a:lnSpc>
                <a:spcPct val="120000"/>
              </a:lnSpc>
              <a:spcAft>
                <a:spcPts val="1260"/>
              </a:spcAft>
              <a:buClr>
                <a:srgbClr val="00D4AA"/>
              </a:buClr>
              <a:buFont typeface="Inter"/>
              <a:buChar char="•"/>
            </a:pPr>
            <a:r>
              <a:rPr sz="1800" b="0">
                <a:solidFill>
                  <a:srgbClr val="FFFFFF"/>
                </a:solidFill>
                <a:latin typeface="Inter"/>
              </a:rPr>
              <a:t>No vendor bashing; credit the tools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Submission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Submit the repo link through the capstone assignment in this lecture</a:t>
            </a:r>
          </a:p>
          <a:p>
            <a:pPr marL="292608" indent="-292608">
              <a:lnSpc>
                <a:spcPct val="120000"/>
              </a:lnSpc>
              <a:spcAft>
                <a:spcPts val="1260"/>
              </a:spcAft>
              <a:buClr>
                <a:srgbClr val="00D4AA"/>
              </a:buClr>
              <a:buFont typeface="Inter"/>
              <a:buChar char="•"/>
            </a:pPr>
            <a:r>
              <a:rPr sz="1800" b="0">
                <a:solidFill>
                  <a:srgbClr val="FFFFFF"/>
                </a:solidFill>
                <a:latin typeface="Inter"/>
              </a:rPr>
              <a:t>Include </a:t>
            </a:r>
            <a:r>
              <a:rPr sz="1656" b="0">
                <a:solidFill>
                  <a:srgbClr val="00D4AA"/>
                </a:solidFill>
                <a:latin typeface="JetBrains Mono"/>
              </a:rPr>
              <a:t>ACCEPTANCE.md</a:t>
            </a:r>
            <a:r>
              <a:rPr sz="1800" b="0">
                <a:solidFill>
                  <a:srgbClr val="FFFFFF"/>
                </a:solidFill>
                <a:latin typeface="Inter"/>
              </a:rPr>
              <a:t> and the report in the submission text</a:t>
            </a:r>
          </a:p>
          <a:p>
            <a:pPr marL="292608" indent="-292608">
              <a:lnSpc>
                <a:spcPct val="120000"/>
              </a:lnSpc>
              <a:spcAft>
                <a:spcPts val="1260"/>
              </a:spcAft>
              <a:buClr>
                <a:srgbClr val="00D4AA"/>
              </a:buClr>
              <a:buFont typeface="Inter"/>
              <a:buChar char="•"/>
            </a:pPr>
            <a:r>
              <a:rPr sz="1800" b="0">
                <a:solidFill>
                  <a:srgbClr val="FFFFFF"/>
                </a:solidFill>
                <a:latin typeface="Inter"/>
              </a:rPr>
              <a:t>Post your three headline numbers in the Q&amp;A thread "Capstone results"</a:t>
            </a:r>
          </a:p>
          <a:p>
            <a:pPr marL="292608" indent="-292608">
              <a:lnSpc>
                <a:spcPct val="120000"/>
              </a:lnSpc>
              <a:spcAft>
                <a:spcPts val="1260"/>
              </a:spcAft>
              <a:buClr>
                <a:srgbClr val="00D4AA"/>
              </a:buClr>
              <a:buFont typeface="Inter"/>
              <a:buChar char="•"/>
            </a:pPr>
            <a:r>
              <a:rPr sz="1800" b="0">
                <a:solidFill>
                  <a:srgbClr val="FFFFFF"/>
                </a:solidFill>
                <a:latin typeface="Inter"/>
              </a:rPr>
              <a:t>Rubric: acceptance score 50%, evidence quality 20%, postmortems 15%, README and write-up 15%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Domain swap: observe a different agent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domain swap: point the same observability stack at a different agent and adapt the SLIs.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14 · CAPSTONE: THE ATLAS OPS CONSOLE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14.6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Domain swap: observe a different agent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Instrument a different agent, the Course 3 voice receptionist or your own, with the same OTel, Langfuse, metrics and CI stack.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Pick one agent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1536192"/>
        </p:xfrm>
        <a:graphic>
          <a:graphicData uri="http://schemas.openxmlformats.org/drawingml/2006/table">
            <a:tbl>
              <a:tblPr firstRow="1" bandRow="1">
                <a:tableStyleId>{5C22544A-7EE6-4342-B048-85BDC9FD1C3A}</a:tableStyleId>
              </a:tblPr>
              <a:tblGrid>
                <a:gridCol w="537754"/>
                <a:gridCol w="5377542"/>
                <a:gridCol w="5377542"/>
              </a:tblGrid>
              <a:tr h="384048">
                <a:tc>
                  <a:txBody>
                    <a:bodyPr wrap="square"/>
                    <a:lstStyle/>
                    <a:p>
                      <a:r>
                        <a:rPr sz="1200" b="1">
                          <a:solidFill>
                            <a:srgbClr val="0A1628"/>
                          </a:solidFill>
                          <a:latin typeface="Inter"/>
                        </a:rPr>
                        <a:t>Option</a:t>
                      </a:r>
                    </a:p>
                  </a:txBody>
                  <a:tcPr marL="91440" marR="91440" marT="45720" marB="45720" anchor="ctr">
                    <a:solidFill>
                      <a:srgbClr val="00D4AA"/>
                    </a:solidFill>
                  </a:tcPr>
                </a:tc>
                <a:tc>
                  <a:txBody>
                    <a:bodyPr wrap="square"/>
                    <a:lstStyle/>
                    <a:p>
                      <a:r>
                        <a:rPr sz="1200" b="1">
                          <a:solidFill>
                            <a:srgbClr val="0A1628"/>
                          </a:solidFill>
                          <a:latin typeface="Inter"/>
                        </a:rPr>
                        <a:t>Agent</a:t>
                      </a:r>
                    </a:p>
                  </a:txBody>
                  <a:tcPr marL="91440" marR="91440" marT="45720" marB="45720" anchor="ctr">
                    <a:solidFill>
                      <a:srgbClr val="00D4AA"/>
                    </a:solidFill>
                  </a:tcPr>
                </a:tc>
                <a:tc>
                  <a:txBody>
                    <a:bodyPr wrap="square"/>
                    <a:lstStyle/>
                    <a:p>
                      <a:r>
                        <a:rPr sz="1200" b="1">
                          <a:solidFill>
                            <a:srgbClr val="0A1628"/>
                          </a:solidFill>
                          <a:latin typeface="Inter"/>
                        </a:rPr>
                        <a:t>What changes about the SLIs</a:t>
                      </a:r>
                    </a:p>
                  </a:txBody>
                  <a:tcPr marL="91440" marR="91440" marT="45720" marB="45720" anchor="ctr">
                    <a:solidFill>
                      <a:srgbClr val="00D4AA"/>
                    </a:solidFill>
                  </a:tcPr>
                </a:tc>
              </a:tr>
              <a:tr h="384048">
                <a:tc>
                  <a:txBody>
                    <a:bodyPr wrap="square"/>
                    <a:lstStyle/>
                    <a:p>
                      <a:r>
                        <a:rPr sz="1200" b="1">
                          <a:solidFill>
                            <a:srgbClr val="FFFFFF"/>
                          </a:solidFill>
                          <a:latin typeface="Inter"/>
                        </a:rPr>
                        <a:t>A</a:t>
                      </a:r>
                    </a:p>
                  </a:txBody>
                  <a:tcPr marL="91440" marR="91440" marT="45720" marB="45720" anchor="ctr">
                    <a:solidFill>
                      <a:srgbClr val="1A2742"/>
                    </a:solidFill>
                  </a:tcPr>
                </a:tc>
                <a:tc>
                  <a:txBody>
                    <a:bodyPr wrap="square"/>
                    <a:lstStyle/>
                    <a:p>
                      <a:r>
                        <a:rPr sz="1200" b="0">
                          <a:solidFill>
                            <a:srgbClr val="FFFFFF"/>
                          </a:solidFill>
                          <a:latin typeface="Inter"/>
                        </a:rPr>
                        <a:t>Riley, the voice receptionist from Production Voice AI Agents</a:t>
                      </a:r>
                    </a:p>
                  </a:txBody>
                  <a:tcPr marL="91440" marR="91440" marT="45720" marB="45720" anchor="ctr">
                    <a:solidFill>
                      <a:srgbClr val="1A2742"/>
                    </a:solidFill>
                  </a:tcPr>
                </a:tc>
                <a:tc>
                  <a:txBody>
                    <a:bodyPr wrap="square"/>
                    <a:lstStyle/>
                    <a:p>
                      <a:r>
                        <a:rPr sz="1200" b="0">
                          <a:solidFill>
                            <a:srgbClr val="FFFFFF"/>
                          </a:solidFill>
                          <a:latin typeface="Inter"/>
                        </a:rPr>
                        <a:t>Latency budget is voice-to-voice, about 1.6 s; cost per minute, not per session; TTFT matters more than p95 total</a:t>
                      </a:r>
                    </a:p>
                  </a:txBody>
                  <a:tcPr marL="91440" marR="91440" marT="45720" marB="45720" anchor="ctr">
                    <a:solidFill>
                      <a:srgbClr val="1A2742"/>
                    </a:solidFill>
                  </a:tcPr>
                </a:tc>
              </a:tr>
              <a:tr h="384048">
                <a:tc>
                  <a:txBody>
                    <a:bodyPr wrap="square"/>
                    <a:lstStyle/>
                    <a:p>
                      <a:r>
                        <a:rPr sz="1200" b="1">
                          <a:solidFill>
                            <a:srgbClr val="FFFFFF"/>
                          </a:solidFill>
                          <a:latin typeface="Inter"/>
                        </a:rPr>
                        <a:t>B</a:t>
                      </a:r>
                    </a:p>
                  </a:txBody>
                  <a:tcPr marL="91440" marR="91440" marT="45720" marB="45720" anchor="ctr">
                    <a:solidFill>
                      <a:srgbClr val="0F1E35"/>
                    </a:solidFill>
                  </a:tcPr>
                </a:tc>
                <a:tc>
                  <a:txBody>
                    <a:bodyPr wrap="square"/>
                    <a:lstStyle/>
                    <a:p>
                      <a:r>
                        <a:rPr sz="1200" b="0">
                          <a:solidFill>
                            <a:srgbClr val="FFFFFF"/>
                          </a:solidFill>
                          <a:latin typeface="Inter"/>
                        </a:rPr>
                        <a:t>Your own agent (any framework, any provider)</a:t>
                      </a:r>
                    </a:p>
                  </a:txBody>
                  <a:tcPr marL="91440" marR="91440" marT="45720" marB="45720" anchor="ctr">
                    <a:solidFill>
                      <a:srgbClr val="0F1E35"/>
                    </a:solidFill>
                  </a:tcPr>
                </a:tc>
                <a:tc>
                  <a:txBody>
                    <a:bodyPr wrap="square"/>
                    <a:lstStyle/>
                    <a:p>
                      <a:r>
                        <a:rPr sz="1200" b="0">
                          <a:solidFill>
                            <a:srgbClr val="FFFFFF"/>
                          </a:solidFill>
                          <a:latin typeface="Inter"/>
                        </a:rPr>
                        <a:t>You define the SLIs from the instrumentation template</a:t>
                      </a:r>
                    </a:p>
                  </a:txBody>
                  <a:tcPr marL="91440" marR="91440" marT="45720" marB="45720" anchor="ctr">
                    <a:solidFill>
                      <a:srgbClr val="0F1E35"/>
                    </a:solidFill>
                  </a:tcPr>
                </a:tc>
              </a:tr>
              <a:tr h="384048">
                <a:tc>
                  <a:txBody>
                    <a:bodyPr wrap="square"/>
                    <a:lstStyle/>
                    <a:p>
                      <a:r>
                        <a:rPr sz="1200" b="1">
                          <a:solidFill>
                            <a:srgbClr val="FFFFFF"/>
                          </a:solidFill>
                          <a:latin typeface="Inter"/>
                        </a:rPr>
                        <a:t>C</a:t>
                      </a:r>
                    </a:p>
                  </a:txBody>
                  <a:tcPr marL="91440" marR="91440" marT="45720" marB="45720" anchor="ctr">
                    <a:solidFill>
                      <a:srgbClr val="1A2742"/>
                    </a:solidFill>
                  </a:tcPr>
                </a:tc>
                <a:tc>
                  <a:txBody>
                    <a:bodyPr wrap="square"/>
                    <a:lstStyle/>
                    <a:p>
                      <a:r>
                        <a:rPr sz="1200" b="0">
                          <a:solidFill>
                            <a:srgbClr val="FFFFFF"/>
                          </a:solidFill>
                          <a:latin typeface="Inter"/>
                        </a:rPr>
                        <a:t>A coding or data agent with long tool loops</a:t>
                      </a:r>
                    </a:p>
                  </a:txBody>
                  <a:tcPr marL="91440" marR="91440" marT="45720" marB="45720" anchor="ctr">
                    <a:solidFill>
                      <a:srgbClr val="1A2742"/>
                    </a:solidFill>
                  </a:tcPr>
                </a:tc>
                <a:tc>
                  <a:txBody>
                    <a:bodyPr wrap="square"/>
                    <a:lstStyle/>
                    <a:p>
                      <a:r>
                        <a:rPr sz="1200" b="0">
                          <a:solidFill>
                            <a:srgbClr val="FFFFFF"/>
                          </a:solidFill>
                          <a:latin typeface="Inter"/>
                        </a:rPr>
                        <a:t>Steps per task and tool error rate dominate; cost per completed task</a:t>
                      </a:r>
                    </a:p>
                  </a:txBody>
                  <a:tcPr marL="91440" marR="91440" marT="45720" marB="45720" anchor="ctr">
                    <a:solidFill>
                      <a:srgbClr val="1A2742"/>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changes, what stays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40" cy="2304288"/>
        </p:xfrm>
        <a:graphic>
          <a:graphicData uri="http://schemas.openxmlformats.org/drawingml/2006/table">
            <a:tbl>
              <a:tblPr firstRow="1" bandRow="1">
                <a:tableStyleId>{5C22544A-7EE6-4342-B048-85BDC9FD1C3A}</a:tableStyleId>
              </a:tblPr>
              <a:tblGrid>
                <a:gridCol w="4517136"/>
                <a:gridCol w="6775704"/>
              </a:tblGrid>
              <a:tr h="384048">
                <a:tc>
                  <a:txBody>
                    <a:bodyPr wrap="square"/>
                    <a:lstStyle/>
                    <a:p>
                      <a:r>
                        <a:rPr sz="1200" b="1">
                          <a:solidFill>
                            <a:srgbClr val="0A1628"/>
                          </a:solidFill>
                          <a:latin typeface="Inter"/>
                        </a:rPr>
                        <a:t>Changes</a:t>
                      </a:r>
                    </a:p>
                  </a:txBody>
                  <a:tcPr marL="91440" marR="91440" marT="45720" marB="45720" anchor="ctr">
                    <a:solidFill>
                      <a:srgbClr val="00D4AA"/>
                    </a:solidFill>
                  </a:tcPr>
                </a:tc>
                <a:tc>
                  <a:txBody>
                    <a:bodyPr wrap="square"/>
                    <a:lstStyle/>
                    <a:p>
                      <a:r>
                        <a:rPr sz="1200" b="1">
                          <a:solidFill>
                            <a:srgbClr val="0A1628"/>
                          </a:solidFill>
                          <a:latin typeface="Inter"/>
                        </a:rPr>
                        <a:t>Stays</a:t>
                      </a:r>
                    </a:p>
                  </a:txBody>
                  <a:tcPr marL="91440" marR="91440" marT="45720" marB="45720" anchor="ctr">
                    <a:solidFill>
                      <a:srgbClr val="00D4AA"/>
                    </a:solidFill>
                  </a:tcPr>
                </a:tc>
              </a:tr>
              <a:tr h="384048">
                <a:tc>
                  <a:txBody>
                    <a:bodyPr wrap="square"/>
                    <a:lstStyle/>
                    <a:p>
                      <a:r>
                        <a:rPr sz="1200" b="1">
                          <a:solidFill>
                            <a:srgbClr val="FFFFFF"/>
                          </a:solidFill>
                          <a:latin typeface="Inter"/>
                        </a:rPr>
                        <a:t>The agent code and its tools</a:t>
                      </a:r>
                    </a:p>
                  </a:txBody>
                  <a:tcPr marL="91440" marR="91440" marT="45720" marB="45720" anchor="ctr">
                    <a:solidFill>
                      <a:srgbClr val="1A2742"/>
                    </a:solidFill>
                  </a:tcPr>
                </a:tc>
                <a:tc>
                  <a:txBody>
                    <a:bodyPr wrap="square"/>
                    <a:lstStyle/>
                    <a:p>
                      <a:r>
                        <a:rPr sz="1104" b="0">
                          <a:solidFill>
                            <a:srgbClr val="00D4AA"/>
                          </a:solidFill>
                          <a:latin typeface="JetBrains Mono"/>
                        </a:rPr>
                        <a:t>telemetry/otel_setup.py</a:t>
                      </a:r>
                      <a:r>
                        <a:rPr sz="1200" b="0">
                          <a:solidFill>
                            <a:srgbClr val="FFFFFF"/>
                          </a:solidFill>
                          <a:latin typeface="Inter"/>
                        </a:rPr>
                        <a:t>, </a:t>
                      </a:r>
                      <a:r>
                        <a:rPr sz="1104" b="0">
                          <a:solidFill>
                            <a:srgbClr val="00D4AA"/>
                          </a:solidFill>
                          <a:latin typeface="JetBrains Mono"/>
                        </a:rPr>
                        <a:t>genai_attrs.py</a:t>
                      </a:r>
                      <a:r>
                        <a:rPr sz="1200" b="0">
                          <a:solidFill>
                            <a:srgbClr val="FFFFFF"/>
                          </a:solidFill>
                          <a:latin typeface="Inter"/>
                        </a:rPr>
                        <a:t>, </a:t>
                      </a:r>
                      <a:r>
                        <a:rPr sz="1104" b="0">
                          <a:solidFill>
                            <a:srgbClr val="00D4AA"/>
                          </a:solidFill>
                          <a:latin typeface="JetBrains Mono"/>
                        </a:rPr>
                        <a:t>langfuse_setup.py</a:t>
                      </a:r>
                      <a:r>
                        <a:rPr sz="1200" b="0">
                          <a:solidFill>
                            <a:srgbClr val="FFFFFF"/>
                          </a:solidFill>
                          <a:latin typeface="Inter"/>
                        </a:rPr>
                        <a:t>, the Collector config</a:t>
                      </a:r>
                    </a:p>
                  </a:txBody>
                  <a:tcPr marL="91440" marR="91440" marT="45720" marB="45720" anchor="ctr">
                    <a:solidFill>
                      <a:srgbClr val="1A2742"/>
                    </a:solidFill>
                  </a:tcPr>
                </a:tc>
              </a:tr>
              <a:tr h="384048">
                <a:tc>
                  <a:txBody>
                    <a:bodyPr wrap="square"/>
                    <a:lstStyle/>
                    <a:p>
                      <a:r>
                        <a:rPr sz="1200" b="1">
                          <a:solidFill>
                            <a:srgbClr val="FFFFFF"/>
                          </a:solidFill>
                          <a:latin typeface="Inter"/>
                        </a:rPr>
                        <a:t>SLIs, budgets and alert thresholds</a:t>
                      </a:r>
                    </a:p>
                  </a:txBody>
                  <a:tcPr marL="91440" marR="91440" marT="45720" marB="45720" anchor="ctr">
                    <a:solidFill>
                      <a:srgbClr val="0F1E35"/>
                    </a:solidFill>
                  </a:tcPr>
                </a:tc>
                <a:tc>
                  <a:txBody>
                    <a:bodyPr wrap="square"/>
                    <a:lstStyle/>
                    <a:p>
                      <a:r>
                        <a:rPr sz="1104" b="0">
                          <a:solidFill>
                            <a:srgbClr val="00D4AA"/>
                          </a:solidFill>
                          <a:latin typeface="JetBrains Mono"/>
                        </a:rPr>
                        <a:t>pricing.py</a:t>
                      </a:r>
                      <a:r>
                        <a:rPr sz="1200" b="0">
                          <a:solidFill>
                            <a:srgbClr val="FFFFFF"/>
                          </a:solidFill>
                          <a:latin typeface="Inter"/>
                        </a:rPr>
                        <a:t>, </a:t>
                      </a:r>
                      <a:r>
                        <a:rPr sz="1104" b="0">
                          <a:solidFill>
                            <a:srgbClr val="00D4AA"/>
                          </a:solidFill>
                          <a:latin typeface="JetBrains Mono"/>
                        </a:rPr>
                        <a:t>cost.py</a:t>
                      </a:r>
                      <a:r>
                        <a:rPr sz="1200" b="0">
                          <a:solidFill>
                            <a:srgbClr val="FFFFFF"/>
                          </a:solidFill>
                          <a:latin typeface="Inter"/>
                        </a:rPr>
                        <a:t>, </a:t>
                      </a:r>
                      <a:r>
                        <a:rPr sz="1104" b="0">
                          <a:solidFill>
                            <a:srgbClr val="00D4AA"/>
                          </a:solidFill>
                          <a:latin typeface="JetBrains Mono"/>
                        </a:rPr>
                        <a:t>budget.py</a:t>
                      </a:r>
                      <a:r>
                        <a:rPr sz="1200" b="0">
                          <a:solidFill>
                            <a:srgbClr val="FFFFFF"/>
                          </a:solidFill>
                          <a:latin typeface="Inter"/>
                        </a:rPr>
                        <a:t>, </a:t>
                      </a:r>
                      <a:r>
                        <a:rPr sz="1104" b="0">
                          <a:solidFill>
                            <a:srgbClr val="00D4AA"/>
                          </a:solidFill>
                          <a:latin typeface="JetBrains Mono"/>
                        </a:rPr>
                        <a:t>latency.py</a:t>
                      </a:r>
                      <a:r>
                        <a:rPr sz="1200" b="0">
                          <a:solidFill>
                            <a:srgbClr val="FFFFFF"/>
                          </a:solidFill>
                          <a:latin typeface="Inter"/>
                        </a:rPr>
                        <a:t>, </a:t>
                      </a:r>
                      <a:r>
                        <a:rPr sz="1104" b="0">
                          <a:solidFill>
                            <a:srgbClr val="00D4AA"/>
                          </a:solidFill>
                          <a:latin typeface="JetBrains Mono"/>
                        </a:rPr>
                        <a:t>slo.py</a:t>
                      </a:r>
                      <a:r>
                        <a:rPr sz="1200" b="0">
                          <a:solidFill>
                            <a:srgbClr val="FFFFFF"/>
                          </a:solidFill>
                          <a:latin typeface="Inter"/>
                        </a:rPr>
                        <a:t>, </a:t>
                      </a:r>
                      <a:r>
                        <a:rPr sz="1104" b="0">
                          <a:solidFill>
                            <a:srgbClr val="00D4AA"/>
                          </a:solidFill>
                          <a:latin typeface="JetBrains Mono"/>
                        </a:rPr>
                        <a:t>drift.py</a:t>
                      </a:r>
                      <a:r>
                        <a:rPr sz="1200" b="0">
                          <a:solidFill>
                            <a:srgbClr val="FFFFFF"/>
                          </a:solidFill>
                          <a:latin typeface="Inter"/>
                        </a:rPr>
                        <a:t>, </a:t>
                      </a:r>
                      <a:r>
                        <a:rPr sz="1104" b="0">
                          <a:solidFill>
                            <a:srgbClr val="00D4AA"/>
                          </a:solidFill>
                          <a:latin typeface="JetBrains Mono"/>
                        </a:rPr>
                        <a:t>pii.py</a:t>
                      </a:r>
                    </a:p>
                  </a:txBody>
                  <a:tcPr marL="91440" marR="91440" marT="45720" marB="45720" anchor="ctr">
                    <a:solidFill>
                      <a:srgbClr val="0F1E35"/>
                    </a:solidFill>
                  </a:tcPr>
                </a:tc>
              </a:tr>
              <a:tr h="384048">
                <a:tc>
                  <a:txBody>
                    <a:bodyPr wrap="square"/>
                    <a:lstStyle/>
                    <a:p>
                      <a:r>
                        <a:rPr sz="1200" b="1">
                          <a:solidFill>
                            <a:srgbClr val="FFFFFF"/>
                          </a:solidFill>
                          <a:latin typeface="Inter"/>
                        </a:rPr>
                        <a:t>The unit of cost (session, minute, task)</a:t>
                      </a:r>
                    </a:p>
                  </a:txBody>
                  <a:tcPr marL="91440" marR="91440" marT="45720" marB="45720" anchor="ctr">
                    <a:solidFill>
                      <a:srgbClr val="1A2742"/>
                    </a:solidFill>
                  </a:tcPr>
                </a:tc>
                <a:tc>
                  <a:txBody>
                    <a:bodyPr wrap="square"/>
                    <a:lstStyle/>
                    <a:p>
                      <a:r>
                        <a:rPr sz="1200" b="0">
                          <a:solidFill>
                            <a:srgbClr val="FFFFFF"/>
                          </a:solidFill>
                          <a:latin typeface="Inter"/>
                        </a:rPr>
                        <a:t>The dashboard structure, one panel per SLI; the alert rule shape</a:t>
                      </a:r>
                    </a:p>
                  </a:txBody>
                  <a:tcPr marL="91440" marR="91440" marT="45720" marB="45720" anchor="ctr">
                    <a:solidFill>
                      <a:srgbClr val="1A2742"/>
                    </a:solidFill>
                  </a:tcPr>
                </a:tc>
              </a:tr>
              <a:tr h="384048">
                <a:tc>
                  <a:txBody>
                    <a:bodyPr wrap="square"/>
                    <a:lstStyle/>
                    <a:p>
                      <a:r>
                        <a:rPr sz="1200" b="1">
                          <a:solidFill>
                            <a:srgbClr val="FFFFFF"/>
                          </a:solidFill>
                          <a:latin typeface="Inter"/>
                        </a:rPr>
                        <a:t>Judge criteria for the domain</a:t>
                      </a:r>
                    </a:p>
                  </a:txBody>
                  <a:tcPr marL="91440" marR="91440" marT="45720" marB="45720" anchor="ctr">
                    <a:solidFill>
                      <a:srgbClr val="0F1E35"/>
                    </a:solidFill>
                  </a:tcPr>
                </a:tc>
                <a:tc>
                  <a:txBody>
                    <a:bodyPr wrap="square"/>
                    <a:lstStyle/>
                    <a:p>
                      <a:r>
                        <a:rPr sz="1200" b="0">
                          <a:solidFill>
                            <a:srgbClr val="FFFFFF"/>
                          </a:solidFill>
                          <a:latin typeface="Inter"/>
                        </a:rPr>
                        <a:t>The judge pipeline, feedback loop, dataset promotion</a:t>
                      </a:r>
                    </a:p>
                  </a:txBody>
                  <a:tcPr marL="91440" marR="91440" marT="45720" marB="45720" anchor="ctr">
                    <a:solidFill>
                      <a:srgbClr val="0F1E35"/>
                    </a:solidFill>
                  </a:tcPr>
                </a:tc>
              </a:tr>
              <a:tr h="384048">
                <a:tc>
                  <a:txBody>
                    <a:bodyPr wrap="square"/>
                    <a:lstStyle/>
                    <a:p>
                      <a:r>
                        <a:rPr sz="1200" b="1">
                          <a:solidFill>
                            <a:srgbClr val="FFFFFF"/>
                          </a:solidFill>
                          <a:latin typeface="Inter"/>
                        </a:rPr>
                        <a:t>The traffic generator or replay</a:t>
                      </a:r>
                    </a:p>
                  </a:txBody>
                  <a:tcPr marL="91440" marR="91440" marT="45720" marB="45720" anchor="ctr">
                    <a:solidFill>
                      <a:srgbClr val="1A2742"/>
                    </a:solidFill>
                  </a:tcPr>
                </a:tc>
                <a:tc>
                  <a:txBody>
                    <a:bodyPr wrap="square"/>
                    <a:lstStyle/>
                    <a:p>
                      <a:r>
                        <a:rPr sz="1200" b="0">
                          <a:solidFill>
                            <a:srgbClr val="FFFFFF"/>
                          </a:solidFill>
                          <a:latin typeface="Inter"/>
                        </a:rPr>
                        <a:t>The CI budget gate pattern and the weekly report structure</a:t>
                      </a:r>
                    </a:p>
                  </a:txBody>
                  <a:tcPr marL="91440" marR="91440" marT="45720" marB="45720" anchor="ctr">
                    <a:solidFill>
                      <a:srgbClr val="1A2742"/>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Deliverables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D1 A separate repo or clearly separate folder: the instrumented agent, </a:t>
            </a:r>
            <a:r>
              <a:rPr sz="1656" b="0">
                <a:solidFill>
                  <a:srgbClr val="00D4AA"/>
                </a:solidFill>
                <a:latin typeface="JetBrains Mono"/>
              </a:rPr>
              <a:t>telemetry/</a:t>
            </a:r>
            <a:r>
              <a:rPr sz="1800" b="0">
                <a:solidFill>
                  <a:srgbClr val="FFFFFF"/>
                </a:solidFill>
                <a:latin typeface="Inter"/>
              </a:rPr>
              <a:t> reused, </a:t>
            </a:r>
            <a:r>
              <a:rPr sz="1656" b="0">
                <a:solidFill>
                  <a:srgbClr val="00D4AA"/>
                </a:solidFill>
                <a:latin typeface="JetBrains Mono"/>
              </a:rPr>
              <a:t>OBSERVABILITY.md</a:t>
            </a:r>
          </a:p>
          <a:p>
            <a:pPr marL="292608" indent="-292608">
              <a:lnSpc>
                <a:spcPct val="120000"/>
              </a:lnSpc>
              <a:spcAft>
                <a:spcPts val="1260"/>
              </a:spcAft>
              <a:buClr>
                <a:srgbClr val="00D4AA"/>
              </a:buClr>
              <a:buFont typeface="Inter"/>
              <a:buChar char="•"/>
            </a:pPr>
            <a:r>
              <a:rPr sz="1800" b="0">
                <a:solidFill>
                  <a:srgbClr val="FFFFFF"/>
                </a:solidFill>
                <a:latin typeface="Inter"/>
              </a:rPr>
              <a:t>D2 SLI table: each SLI, its budget, and one sentence on why the number differs from Atlas</a:t>
            </a:r>
          </a:p>
          <a:p>
            <a:pPr marL="292608" indent="-292608">
              <a:lnSpc>
                <a:spcPct val="120000"/>
              </a:lnSpc>
              <a:spcAft>
                <a:spcPts val="1260"/>
              </a:spcAft>
              <a:buClr>
                <a:srgbClr val="00D4AA"/>
              </a:buClr>
              <a:buFont typeface="Inter"/>
              <a:buChar char="•"/>
            </a:pPr>
            <a:r>
              <a:rPr sz="1800" b="0">
                <a:solidFill>
                  <a:srgbClr val="FFFFFF"/>
                </a:solidFill>
                <a:latin typeface="Inter"/>
              </a:rPr>
              <a:t>D3 One trace screenshot with GenAI attributes; one dashboard screenshot; one alert</a:t>
            </a:r>
          </a:p>
          <a:p>
            <a:pPr marL="292608" indent="-292608">
              <a:lnSpc>
                <a:spcPct val="120000"/>
              </a:lnSpc>
              <a:spcAft>
                <a:spcPts val="1260"/>
              </a:spcAft>
              <a:buClr>
                <a:srgbClr val="00D4AA"/>
              </a:buClr>
              <a:buFont typeface="Inter"/>
              <a:buChar char="•"/>
            </a:pPr>
            <a:r>
              <a:rPr sz="1800" b="0">
                <a:solidFill>
                  <a:srgbClr val="FFFFFF"/>
                </a:solidFill>
                <a:latin typeface="Inter"/>
              </a:rPr>
              <a:t>D4 CI budget gate adapted to the new unit of cost, green on a run</a:t>
            </a:r>
          </a:p>
          <a:p>
            <a:pPr marL="292608" indent="-292608">
              <a:lnSpc>
                <a:spcPct val="120000"/>
              </a:lnSpc>
              <a:spcAft>
                <a:spcPts val="1260"/>
              </a:spcAft>
              <a:buClr>
                <a:srgbClr val="00D4AA"/>
              </a:buClr>
              <a:buFont typeface="Inter"/>
              <a:buChar char="•"/>
            </a:pPr>
            <a:r>
              <a:rPr sz="1800" b="0">
                <a:solidFill>
                  <a:srgbClr val="FFFFFF"/>
                </a:solidFill>
                <a:latin typeface="Inter"/>
              </a:rPr>
              <a:t>D5 A "What changed from Atlas" table in the README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Deliverables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Bar: every generation, tool and agent span attributed; cost agrees in two places; one alert fires in a test scenario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Tips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Start with </a:t>
            </a:r>
            <a:r>
              <a:rPr sz="1656" b="0">
                <a:solidFill>
                  <a:srgbClr val="00D4AA"/>
                </a:solidFill>
                <a:latin typeface="JetBrains Mono"/>
              </a:rPr>
              <a:t>instrumentation-template.md</a:t>
            </a:r>
            <a:r>
              <a:rPr sz="1800" b="0">
                <a:solidFill>
                  <a:srgbClr val="FFFFFF"/>
                </a:solidFill>
                <a:latin typeface="Inter"/>
              </a:rPr>
              <a:t>: it asks the SLI questions before you write code</a:t>
            </a:r>
          </a:p>
          <a:p>
            <a:pPr marL="292608" indent="-292608">
              <a:lnSpc>
                <a:spcPct val="120000"/>
              </a:lnSpc>
              <a:spcAft>
                <a:spcPts val="1260"/>
              </a:spcAft>
              <a:buClr>
                <a:srgbClr val="00D4AA"/>
              </a:buClr>
              <a:buFont typeface="Inter"/>
              <a:buChar char="•"/>
            </a:pPr>
            <a:r>
              <a:rPr sz="1800" b="0">
                <a:solidFill>
                  <a:srgbClr val="FFFFFF"/>
                </a:solidFill>
                <a:latin typeface="Inter"/>
              </a:rPr>
              <a:t>Instrument the model call first, then tools, then the agent span; verify each with the console exporter</a:t>
            </a:r>
          </a:p>
          <a:p>
            <a:pPr marL="292608" indent="-292608">
              <a:lnSpc>
                <a:spcPct val="120000"/>
              </a:lnSpc>
              <a:spcAft>
                <a:spcPts val="1260"/>
              </a:spcAft>
              <a:buClr>
                <a:srgbClr val="00D4AA"/>
              </a:buClr>
              <a:buFont typeface="Inter"/>
              <a:buChar char="•"/>
            </a:pPr>
            <a:r>
              <a:rPr sz="1800" b="0">
                <a:solidFill>
                  <a:srgbClr val="FFFFFF"/>
                </a:solidFill>
                <a:latin typeface="Inter"/>
              </a:rPr>
              <a:t>Copy </a:t>
            </a:r>
            <a:r>
              <a:rPr sz="1656" b="0">
                <a:solidFill>
                  <a:srgbClr val="00D4AA"/>
                </a:solidFill>
                <a:latin typeface="JetBrains Mono"/>
              </a:rPr>
              <a:t>telemetry/</a:t>
            </a:r>
            <a:r>
              <a:rPr sz="1800" b="0">
                <a:solidFill>
                  <a:srgbClr val="FFFFFF"/>
                </a:solidFill>
                <a:latin typeface="Inter"/>
              </a:rPr>
              <a:t> wholesale; change </a:t>
            </a:r>
            <a:r>
              <a:rPr sz="1656" b="0">
                <a:solidFill>
                  <a:srgbClr val="00D4AA"/>
                </a:solidFill>
                <a:latin typeface="JetBrains Mono"/>
              </a:rPr>
              <a:t>service.name</a:t>
            </a:r>
            <a:r>
              <a:rPr sz="1800" b="0">
                <a:solidFill>
                  <a:srgbClr val="FFFFFF"/>
                </a:solidFill>
                <a:latin typeface="Inter"/>
              </a:rPr>
              <a:t> and nothing else on day one</a:t>
            </a:r>
          </a:p>
          <a:p>
            <a:pPr marL="292608" indent="-292608">
              <a:lnSpc>
                <a:spcPct val="120000"/>
              </a:lnSpc>
              <a:spcAft>
                <a:spcPts val="1260"/>
              </a:spcAft>
              <a:buClr>
                <a:srgbClr val="00D4AA"/>
              </a:buClr>
              <a:buFont typeface="Inter"/>
              <a:buChar char="•"/>
            </a:pPr>
            <a:r>
              <a:rPr sz="1800" b="0">
                <a:solidFill>
                  <a:srgbClr val="FFFFFF"/>
                </a:solidFill>
                <a:latin typeface="Inter"/>
              </a:rPr>
              <a:t>The hardest part is usually the unit of cost; decide it before the dashboard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Capstone review</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a short quiz to review the capstone, then Section 15: what you can now do, and the…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14.7</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14 · CAPSTONE: THE ATLAS OPS CONSOLE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14.7</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Capstone review</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the assembly order and the single-cost-computation rule.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Quiz: Capstone review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6 questions</a:t>
            </a:r>
          </a:p>
          <a:p>
            <a:pPr marL="292608" indent="-292608">
              <a:lnSpc>
                <a:spcPct val="120000"/>
              </a:lnSpc>
              <a:spcAft>
                <a:spcPts val="1539"/>
              </a:spcAft>
              <a:buClr>
                <a:srgbClr val="00D4AA"/>
              </a:buClr>
              <a:buFont typeface="Inter"/>
              <a:buChar char="•"/>
            </a:pPr>
            <a:r>
              <a:rPr sz="2200" b="0">
                <a:solidFill>
                  <a:srgbClr val="FFFFFF"/>
                </a:solidFill>
                <a:latin typeface="Inter"/>
              </a:rPr>
              <a:t>Startup order: provider, Langfuse, instrumentor, metrics</a:t>
            </a:r>
          </a:p>
          <a:p>
            <a:pPr marL="292608" indent="-292608">
              <a:lnSpc>
                <a:spcPct val="120000"/>
              </a:lnSpc>
              <a:spcAft>
                <a:spcPts val="1539"/>
              </a:spcAft>
              <a:buClr>
                <a:srgbClr val="00D4AA"/>
              </a:buClr>
              <a:buFont typeface="Inter"/>
              <a:buChar char="•"/>
            </a:pPr>
            <a:r>
              <a:rPr sz="2200" b="0">
                <a:solidFill>
                  <a:srgbClr val="FFFFFF"/>
                </a:solidFill>
                <a:latin typeface="Inter"/>
              </a:rPr>
              <a:t>Cost computed once; where it is written</a:t>
            </a:r>
          </a:p>
          <a:p>
            <a:pPr marL="292608" indent="-292608">
              <a:lnSpc>
                <a:spcPct val="120000"/>
              </a:lnSpc>
              <a:spcAft>
                <a:spcPts val="1539"/>
              </a:spcAft>
              <a:buClr>
                <a:srgbClr val="00D4AA"/>
              </a:buClr>
              <a:buFont typeface="Inter"/>
              <a:buChar char="•"/>
            </a:pPr>
            <a:r>
              <a:rPr sz="2200" b="0">
                <a:solidFill>
                  <a:srgbClr val="FFFFFF"/>
                </a:solidFill>
                <a:latin typeface="Inter"/>
              </a:rPr>
              <a:t>Judge, drift, dataset: the loop</a:t>
            </a:r>
          </a:p>
          <a:p>
            <a:pPr marL="292608" indent="-292608">
              <a:lnSpc>
                <a:spcPct val="120000"/>
              </a:lnSpc>
              <a:spcAft>
                <a:spcPts val="1539"/>
              </a:spcAft>
              <a:buClr>
                <a:srgbClr val="00D4AA"/>
              </a:buClr>
              <a:buFont typeface="Inter"/>
              <a:buChar char="•"/>
            </a:pPr>
            <a:r>
              <a:rPr sz="2200" b="0">
                <a:solidFill>
                  <a:srgbClr val="FFFFFF"/>
                </a:solidFill>
                <a:latin typeface="Inter"/>
              </a:rPr>
              <a:t>What the budget gate catches and what it does not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Quiz: Capstone review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Six headline numbers in the weekly report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14.7</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What you can now do</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Section 15 is next: what you can now do, the roles that hire for it, and twelve interview…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