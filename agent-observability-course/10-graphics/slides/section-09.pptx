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SLIs for agents that leadership understands.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Task success: did people get their answer, from the head-sampled judge or a thumbs up. Containment: how often it needed a human, measured on question intents only, because a password reset that creates a ticket is doing its job. Tool error rate: are the systems it talks to healthy. p95 first visible token: is it fast. Cost per resolved session: what an answer costs. And grounded: is it making things up. Each one is a sentence a director can say back to you. That's the test of a good SLI. If you have to explain it, it's a metric, not an SLI.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SLO is a target and a window. Task success at least eighty percent, weekly. Tool errors under three percent over any hour. Ninety-five percent of requests under four seconds, over a rolling thirty days. Cost per resolved session under a cent. Notice the targets sit a little below normal. An SLO at your current performance is a promise you'll break on the first bad Tuesday. Leave room. The room is called the error budget.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the latency SLO. Ninety-five percent under four seconds means five percent may be slower. Three hundred thousand requests a month, so fifteen thousand slow ones are allowed. Five hundred a day. On a normal day about three percent are slow, three hundred, so a normal month spends sixty percent of the budget just existing. That leaves forty percent, six thousand slow requests, for incidents. Here's the rule that makes the budget useful. When it's spent, you stop shipping risk: no prompt rollouts, no model swaps, until the window rolls forward. It's the number that ends the argument between "ship it" and "make it reliable."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Burn rate is how fast you're spending the budget. Divide the fraction of bad requests now by the fraction the SLO allows. Five percent slow against five percent allowed is a burn rate of one: you'll use exactly the budget, no more. The slow provider from 7.6, untuned, made seventy-two percent of requests slow. Fourteen and a half. At that rate the whole month's budget is gone in about two days. That number is why you page. Not because p95 crossed a line for one minute, but because at this rate, the promise breaks.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recipe comes from the SRE books: a burn-rate threshold checked over a long window and a short window. The long one proves the problem is real, the short one proves it hasn't already stopped. The textbook thresholds are fourteen point four times over an hour, six times over six hours, one times over three days. Here's the catch for agents. Those numbers were written for ninety-nine point nine percent SLOs. At ninety-five percent, fourteen point four times means seventy-two percent of your users are waiting, and a one-hour window wouldn't fire on a forty-five-minute event at all. So Atlas tightens the fast alert: six times, thirty percent of requests slow, over thirty minutes and five minutes. That pages. And the slow burn stays at one times over three days and six hours: a ticket. On the untuned slow provider, the Atlas fast-burn alert goes pending at thirteen minutes past noon and fires at a quarter past. Fifteen minutes. Without it, you'd have found out from Slack at one.</a:t>
            </a:r>
          </a:p>
          <a:p/>
          <a:p>
            <a:r>
              <a:t>[SCREEN: VS Code, `src/northwind/slo.py`]</a:t>
            </a:r>
          </a:p>
          <a:p/>
          <a:p>
            <a:r>
              <a:t>[CODE: `src/northwind/slo.py` (excerpt)]</a:t>
            </a:r>
          </a:p>
          <a:p/>
          <a:p>
            <a:r>
              <a:t>Three functions, ten lines each, so the CI gate and the console compute the same thing Prometheus does. `error_budget` gives the budget in events and the fraction remaining. `burn_rate` is the division from the slide. And `ATLAS_SLOS` pins the targets in code, next to the tests, so a change to a promise is a pull request.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the meeting. One page. Six rows, target, this week, a trend arrow, budget remaining. Colours, no charts. Cost per resolved session and task success on the same line, so nobody optimises one by breaking the other. And the sentence that makes you sound like an operator: "We have forty percent of our latency budget left this month, so we're pausing the model swap until it rolls over." That sentence is the entire point of SLOs. It turns reliability from a feeling into a budget line, and budgets are a language leadership already speaks.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Code-along: Prometheus metrics from Atlas.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file, one convention. Counters end in `_total` with a unit. Histograms end in `_seconds` or the unit. And a label allow-list: tenant, feature, model, tool, and a few fixed enumerations like kind and reason. That's it. Never a user, session or trace id, never free text. Worst case, a metric with tenant, feature and model has about a hundred series. A metric with user id has four thousand today and forty thousand next year, and Prometheus keeps every one in memory. Those ids live in the span store, where they belong.</a:t>
            </a:r>
          </a:p>
          <a:p/>
          <a:p>
            <a:r>
              <a:t>[SCREEN: VS Code, `telemetry/metrics.py`]</a:t>
            </a:r>
          </a:p>
          <a:p/>
          <a:p>
            <a:r>
              <a:t>[CODE: `telemetry/metrics.py` (the full set, excerpt)]</a:t>
            </a:r>
          </a:p>
          <a:p/>
          <a:p>
            <a:r>
              <a:t>There's the whole set, and you've met most of it already in Sections 6 to 8. Two additions. `REQUESTS` with an `outcome` label, which is the denominator for almost everything and the numerator for refused and degraded rates. And `BUILD_INFO`, a gauge that's always one, whose labels carry the version, the default model and the prompt version. That's how Grafana draws a vertical line on the chart when you deploy. Count the labels on each line. None has more than three, and every value is from a fixed set.</a:t>
            </a:r>
          </a:p>
          <a:p/>
          <a:p>
            <a:r>
              <a:t>Why is cost a counter and not a gauge? Because a counter only goes up, and Prometheus can take its rate. `increase(atlas_cost_usd_total[1h])` is spend per hour, `[1d]` is spend per day, `[7d]` is the week, all from one series, and a restart doesn't corrupt it because `increase` understands resets. A gauge of "today's spend" would need your code to know when today ends. Counters for anything you add up; gauges for anything you read off, like in-flight requests. Histograms for anything you take a percentile of.</a:t>
            </a:r>
          </a:p>
          <a:p/>
          <a:p>
            <a:r>
              <a:t>Now the endpoint.</a:t>
            </a:r>
          </a:p>
          <a:p/>
          <a:p>
            <a:r>
              <a:t>[SCREEN: `app/server.py`]</a:t>
            </a:r>
          </a:p>
          <a:p/>
          <a:p>
            <a:r>
              <a:t>[CODE: `app/server.py` (excerpt)]</a:t>
            </a:r>
          </a:p>
          <a:p/>
          <a:p>
            <a:r>
              <a:t>One line mounts it. `metrics_app` wraps `prometheus_client.make_asgi_app` over our own `REGISTRY`, an ASGI app that renders it in exposition format, and FastAPI serves it at `/metrics`. Set `BUILD_INFO` once at startup with `set_build_info`.</a:t>
            </a:r>
          </a:p>
          <a:p/>
          <a:p>
            <a:r>
              <a:t>One security note before we scrape it. The metrics endpoint has no PII, but it does show your traffic, your spend and your model names, and it's on the same port as the chat API. In production, bind it to an internal interface or put it behind the network policy that only Prometheus can reach. The compose stack keeps everything on one Docker network, which is fine for the lab and not a production design. And one Prometheus habit: the scrape interval is fifteen seconds, so any `rate()` window should be at least a minute, four scrapes, or you'll get gaps. Our panels use five minutes.</a:t>
            </a:r>
          </a:p>
          <a:p/>
          <a:p>
            <a:r>
              <a:t>[SCREEN: terminal]</a:t>
            </a:r>
          </a:p>
          <a:p/>
          <a:p>
            <a:r>
              <a:t>[DEMO: output (after a few requests):]</a:t>
            </a:r>
          </a:p>
          <a:p/>
          <a:p>
            <a:r>
              <a:t>That's the format Prometheus scrapes. Fourteen requests. Thirteen of them under the four-second bucket. Four cents of spend. The `le="4.0"` bucket is the whole latency SLO: requests under four seconds over all requests, straight from the histogram, no interpolation, because we put a bucket edge at the budget in 7.2.</a:t>
            </a:r>
          </a:p>
          <a:p/>
          <a:p>
            <a:r>
              <a:t>Now the stack.</a:t>
            </a:r>
          </a:p>
          <a:p/>
          <a:p>
            <a:r>
              <a:t>[SCREEN: `deploy/docker-compose.observability.yml` and `deploy/prometheus.yml`]</a:t>
            </a:r>
          </a:p>
          <a:p/>
          <a:p>
            <a:r>
              <a:t>[CODE: `deploy/prometheus.yml` (excerpt) and compose (excerpt)]</a:t>
            </a:r>
          </a:p>
          <a:p/>
          <a:p>
            <a:r>
              <a:t>Prometheus scrapes Atlas every fifteen seconds and loads the alert rules we'll write in 9.5. Grafana loads dashboards from the folder, so `atlas-ops.json` is provisioned, not clicked. And the collector, which Section 13 covers in depth. Pin the image versions before you record; `latest` is for the screencast, not for the repo.</a:t>
            </a:r>
          </a:p>
          <a:p/>
          <a:p>
            <a:r>
              <a:t>[DEMO: Prometheus UI, Status → Targets: `atlas` UP. Graph tab: `sum(rate(atlas_requests_total[1m]))` climbing to 2.]</a:t>
            </a:r>
          </a:p>
          <a:p/>
          <a:p>
            <a:r>
              <a:t>Target up, two requests a second, and the SLI numbers are now a query away. Next lecture, we put them on a dashboard.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Grafana: the Atlas Ops dashboard.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[SCREEN: zoom on the p95 panel; open Edit; the query is visible]</a:t>
            </a:r>
          </a:p>
          <a:p/>
          <a:p>
            <a:r>
              <a:t>[CODE: PromQL behind row 1]</a:t>
            </a:r>
          </a:p>
          <a:p/>
          <a:p>
            <a:r>
              <a:t>Five queries, and they're the five SLIs. The p95 is `histogram_quantile` over the rate of the bucket counters, summed by `le`. The SLO ratio is the four-second bucket over the count, over thirty days, no quantile function at all, because the bucket edge is the budget. The error budget remaining is that ratio turned into a fraction of the five percent allowance. Tool error rate is errors over calls. And cost per resolved session. Look at the denominator: requests divided by two point five for sessions, times the resolved rate. That's a Prometheus approximation, because sessions and resolution live in the span store. The exact number is on the Ops Console and in the weekly report; this panel is the trend. Label it "approx" on the panel. Honesty on the dashboard is a feature.</a:t>
            </a:r>
          </a:p>
          <a:p/>
          <a:p>
            <a:r>
              <a:t>Slide text (drawn on the diagram): Task success (7 d): stat, from `atlas_judge_score` head-sample ratio · First visible token p95 (5 m): stat with a red threshold at 4 s · Latency SLO ratio (30 d): requests under 4 s ÷ all requests, target line at 95% · Error budget remaining (30 d): gauge · Tool error rate (1 h): stat, threshold 3% · Cost per resolved session (7 d): stat, threshold $0.010</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[SCREEN: scroll through rows 2 to 4; pause on "spend per hour by tenant" and "fallback rate"]</a:t>
            </a:r>
          </a:p>
          <a:p/>
          <a:p>
            <a:r>
              <a:t>[CODE: PromQL behind rows 2 and 3]</a:t>
            </a:r>
          </a:p>
          <a:p/>
          <a:p>
            <a:r>
              <a:t>Spend per hour by tenant is the showback as a stacked chart. Cache hit rate is cached over input-plus-cached tokens; if this drops, someone put a date at the front of the prompt. Fallback rate is the chart that told the whole story in 7.6. And the refused-and-degraded share is what the budget guard and the shedder are doing to users right now. Every one of these is a question from Sections 6 and 7, answered continuously.</a:t>
            </a:r>
          </a:p>
          <a:p/>
          <a:p>
            <a:r>
              <a:t>Here's how you read the dashboard during an incident, using the slow provider from 7.6 as the example. Row one: p95 stat is red. Row three: fallback rate flat at zero, retries flat, in-flight climbing. Row two: cost flat. That combination, red latency with nothing else moving, has exactly one meaning: the provider is slow and nothing is timing out. You knew the fix before you opened a trace. Compare the tuned run: p95 green, fallback rate at eighteen percent, cost up a dollar. Everything moved a little, and that's what healthy resilience looks like. Learn the shapes. Most incidents have one.</a:t>
            </a:r>
          </a:p>
          <a:p/>
          <a:p>
            <a:r>
              <a:t>Now the two features that make this a working dashboard instead of a pretty one.</a:t>
            </a:r>
          </a:p>
          <a:p/>
          <a:p>
            <a:r>
              <a:t>[SCREEN: Dashboard settings → Variables. `$tenant` and `$feature`.]</a:t>
            </a:r>
          </a:p>
          <a:p/>
          <a:p>
            <a:r>
              <a:t>[CODE: dashboard variables and the annotation query]</a:t>
            </a:r>
          </a:p>
          <a:p/>
          <a:p>
            <a:r>
              <a:t>The tenant variable is a `label_values` query, so it fills itself, and every panel filters on `tenant=~"$tenant"`. Pick finance and the whole dashboard becomes finance's dashboard. The feature variable does the same. And the annotation. `changes(atlas_build_info[2m]) &gt; 0` is true for one minute whenever the version labels change, which happens exactly when you deploy. Grafana draws a vertical line with the version, the prompt version and the model.</a:t>
            </a:r>
          </a:p>
          <a:p/>
          <a:p>
            <a:r>
              <a:t>[DEMO: replay the seven days from 8.4 into Prometheus (`OFFLINE=1 make replay PROM=1`). On the quality row, the judge `resolved` line dro...]</a:t>
            </a:r>
          </a:p>
          <a:p/>
          <a:p>
            <a:r>
              <a:t>Here's why the annotation earns its place. Seven days replayed. The resolved line drops on Wednesday. And right there, at ten past two on Wednesday, a vertical line: version one point six, prompt v2. Nobody had to correlate a deploy log with a chart. The chart correlated itself. That's the difference between a dashboard and a diagnosis, and it's one gauge and one query.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Thresholds and colours come from the SLOs in 9.1, not from taste. The p95 stat turns amber at three point six seconds, ninety percent of budget, and red at four. Tool error rate turns amber at two percent and red at three. Cost per resolved session turns red at a cent. When a threshold changes, it changes in `slo.py` and in the JSON in the same pull request, and the CI gate in Section 13 checks they agree. A dashboard that disagrees with the SLO document is worse than no dashboard, because people trust the colours.</a:t>
            </a:r>
          </a:p>
          <a:p/>
          <a:p>
            <a:r>
              <a:t>Hygiene. Every panel has a unit and a threshold, or it's a diagnostic and it collapses. The top row is stats, red or green. The JSON lives in git: edit in the UI, export, commit, so a dashboard change is a pull request. One dashboard per audience; finance gets the cost row, leadership gets row one. And annotate everything that could explain a change: releases, prompt labels, incidents.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Langfuse dashboards and saved views.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split. Grafana for how much and how often. Langfuse for which and show me. Same spans, same cost numbers, different questions.</a:t>
            </a:r>
          </a:p>
          <a:p/>
          <a:p>
            <a:r>
              <a:t>[SCREEN: Langfuse project. Dashboards (or Metrics) view: cost over time grouped by the `tenant` tag, then by `feature`.]</a:t>
            </a:r>
          </a:p>
          <a:p/>
          <a:p>
            <a:r>
              <a:t>View one: cost by tag. Group cost by the tenant tag, and it matches the Grafana stacked chart, which it should, because both came from `cost_details` in 6.3. Switch the grouping to feature, and policy questions dominate, like the showback said. Where this beats Grafana: click a bar and you're looking at the generations behind it.</a:t>
            </a:r>
          </a:p>
          <a:p/>
          <a:p>
            <a:r>
              <a:t>[SCREEN: Scores view: `judge_resolved` mean over time, grouped by `feature` tag; then filter to `policy_question`, last 14 days.]</a:t>
            </a:r>
          </a:p>
          <a:p/>
          <a:p>
            <a:r>
              <a:t>View two: scores by tag. `judge_resolved` grouped by feature, last two weeks. Policy questions drop on Wednesday, same as Grafana. Now filter to just policy questions and set the score filter to under point five. That's the low cluster from the drift report, as a list of traces. Open one. Input, the retrieved chunks, the answer, three scores, and the judge's reason: "answer says 30 days; context says 45." Two clicks from the chart to the sentence that's wrong.</a:t>
            </a:r>
          </a:p>
          <a:p/>
          <a:p>
            <a:r>
              <a:t>[SCREEN: Sessions view: filter tag `policy_question`, sort by session length; open a 6-turn session.]</a:t>
            </a:r>
          </a:p>
          <a:p/>
          <a:p>
            <a:r>
              <a:t>View three: the session explorer. Sessions are conversations. Filter to policy questions, sort by length, open a long one. Six turns, and you can read the whole thing: the employee asked, got a wrong number, pushed back, got it again, gave up and opened a ticket. That's the containment SLI failing, in a transcript. Metrics said seventy-eight percent contained. This shows you what the other twenty-two percent feels like.</a:t>
            </a:r>
          </a:p>
          <a:p/>
          <a:p>
            <a:r>
              <a:t>[SCREEN: Prompts view: `atlas-system`, versions 1 and 2 side by side, the `production` label on v2; the generations linked to v2 with the...]</a:t>
            </a:r>
          </a:p>
          <a:p/>
          <a:p>
            <a:r>
              <a:t>View four: prompts. Version one and version two side by side, the diff highlighted: one added instruction. The production label on v2 since Wednesday. And because generations are linked to prompt versions, you can see scores per version right here: v1 resolved point eight five, v2 point seven six, on the same feature. That's the evidence for the rollback, and in Section 11 you'll do the rollback by moving the label.</a:t>
            </a:r>
          </a:p>
          <a:p/>
          <a:p>
            <a:r>
              <a:t>[SCREEN: Save the scores view as "Policy quality, 14 d"; share the link; the settings page showing a Viewer role.]</a:t>
            </a:r>
          </a:p>
          <a:p/>
          <a:p>
            <a:r>
              <a:t>Now save it. Name the view, share the link, and give your stakeholder a viewer role, which is read-only. Your HR partner opens "Policy quality, fourteen days" every Monday, sees the same chart you see, and never needs Grafana or a Prometheus query. Four views, saved, shared. That's most of the weekly review.</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That's the weekly review. Cost by tenant against the report. Scores by feature with the low-score filter. The longest sessions. Prompt versions with their scores. And Grafana's top row for the SLOs. Fifteen minutes, every Monday, and nothing drifts for a month without someone noticing.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Alert rules and the runbook.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rules against fatigue. Page only for symptoms users feel and for budget burn. Every alert has a runbook and an owner, or it doesn't merge. Two windows for rates, a `for:` clause for everything else. Review the alert log weekly, and delete anything that fired three times without anyone acting. And test every alert with a replay before it goes live. An alert you've never seen fire is an alert you can't trust, the same way as a test.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Lab 6: Ship the dashboard and one alert.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stretch goal is a fourth alert, for refusal rate from 8.4, and its runbook entry. Write the runbook first. If you can't say what someone should do when it fires, it isn't ready to fire.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(continued) The stretch goal is a fourth alert, for refusal rate from 8.4, and its runbook entry. Write the runbook first. If you can't say what someone should do when it fires, it isn't ready to fire.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Quiz: SLOs and alerting.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tip: burn rate is just observed bad fraction over allowed bad fraction. Write both fractions down first.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09 · Lecture 9.1</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9 · DASHBOARDS, SLOS AND ALERTING</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9.1</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SLIs for agents that leadership understands</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Pick six SLIs that a director can read, set an SLO for each with a window, and use error budgets and burn…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09 · Lecture 9.1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Six SLIs for Atlas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8" cy="2688336"/>
        </p:xfrm>
        <a:graphic>
          <a:graphicData uri="http://schemas.openxmlformats.org/drawingml/2006/table">
            <a:tbl>
              <a:tblPr firstRow="1" bandRow="1">
                <a:tableStyleId>{5C22544A-7EE6-4342-B048-85BDC9FD1C3A}</a:tableStyleId>
              </a:tblPr>
              <a:tblGrid>
                <a:gridCol w="2295292"/>
                <a:gridCol w="3488844"/>
                <a:gridCol w="5508702"/>
              </a:tblGrid>
              <a:tr h="384048">
                <a:tc>
                  <a:txBody>
                    <a:bodyPr wrap="square"/>
                    <a:lstStyle/>
                    <a:p>
                      <a:r>
                        <a:rPr sz="1200" b="1">
                          <a:solidFill>
                            <a:srgbClr val="0A1628"/>
                          </a:solidFill>
                          <a:latin typeface="Inter"/>
                        </a:rPr>
                        <a:t>SLI</a:t>
                      </a:r>
                    </a:p>
                  </a:txBody>
                  <a:tcPr marL="91440" marR="91440" marT="45720" marB="45720" anchor="ctr">
                    <a:solidFill>
                      <a:srgbClr val="00D4AA"/>
                    </a:solidFill>
                  </a:tcPr>
                </a:tc>
                <a:tc>
                  <a:txBody>
                    <a:bodyPr wrap="square"/>
                    <a:lstStyle/>
                    <a:p>
                      <a:r>
                        <a:rPr sz="1200" b="1">
                          <a:solidFill>
                            <a:srgbClr val="0A1628"/>
                          </a:solidFill>
                          <a:latin typeface="Inter"/>
                        </a:rPr>
                        <a:t>What it means to a director</a:t>
                      </a:r>
                    </a:p>
                  </a:txBody>
                  <a:tcPr marL="91440" marR="91440" marT="45720" marB="45720" anchor="ctr">
                    <a:solidFill>
                      <a:srgbClr val="00D4AA"/>
                    </a:solidFill>
                  </a:tcPr>
                </a:tc>
                <a:tc>
                  <a:txBody>
                    <a:bodyPr wrap="square"/>
                    <a:lstStyle/>
                    <a:p>
                      <a:r>
                        <a:rPr sz="1200" b="1">
                          <a:solidFill>
                            <a:srgbClr val="0A1628"/>
                          </a:solidFill>
                          <a:latin typeface="Inter"/>
                        </a:rPr>
                        <a:t>Source</a:t>
                      </a:r>
                    </a:p>
                  </a:txBody>
                  <a:tcPr marL="91440" marR="91440" marT="45720" marB="45720" anchor="ctr">
                    <a:solidFill>
                      <a:srgbClr val="00D4AA"/>
                    </a:solidFill>
                  </a:tcPr>
                </a:tc>
              </a:tr>
              <a:tr h="384048">
                <a:tc>
                  <a:txBody>
                    <a:bodyPr wrap="square"/>
                    <a:lstStyle/>
                    <a:p>
                      <a:r>
                        <a:rPr sz="1200" b="1">
                          <a:solidFill>
                            <a:srgbClr val="FFFFFF"/>
                          </a:solidFill>
                          <a:latin typeface="Inter"/>
                        </a:rPr>
                        <a:t>Task success</a:t>
                      </a:r>
                    </a:p>
                  </a:txBody>
                  <a:tcPr marL="91440" marR="91440" marT="45720" marB="45720" anchor="ctr">
                    <a:solidFill>
                      <a:srgbClr val="1A2742"/>
                    </a:solidFill>
                  </a:tcPr>
                </a:tc>
                <a:tc>
                  <a:txBody>
                    <a:bodyPr wrap="square"/>
                    <a:lstStyle/>
                    <a:p>
                      <a:r>
                        <a:rPr sz="1200" b="0">
                          <a:solidFill>
                            <a:srgbClr val="FFFFFF"/>
                          </a:solidFill>
                          <a:latin typeface="Inter"/>
                        </a:rPr>
                        <a:t>"Did people get their answer?"</a:t>
                      </a:r>
                    </a:p>
                  </a:txBody>
                  <a:tcPr marL="91440" marR="91440" marT="45720" marB="45720" anchor="ctr">
                    <a:solidFill>
                      <a:srgbClr val="1A2742"/>
                    </a:solidFill>
                  </a:tcPr>
                </a:tc>
                <a:tc>
                  <a:txBody>
                    <a:bodyPr wrap="square"/>
                    <a:lstStyle/>
                    <a:p>
                      <a:r>
                        <a:rPr sz="1200" b="0">
                          <a:solidFill>
                            <a:srgbClr val="FFFFFF"/>
                          </a:solidFill>
                          <a:latin typeface="Inter"/>
                        </a:rPr>
                        <a:t>judge </a:t>
                      </a:r>
                      <a:r>
                        <a:rPr sz="1104" b="0">
                          <a:solidFill>
                            <a:srgbClr val="00D4AA"/>
                          </a:solidFill>
                          <a:latin typeface="JetBrains Mono"/>
                        </a:rPr>
                        <a:t>resolved</a:t>
                      </a:r>
                      <a:r>
                        <a:rPr sz="1200" b="0">
                          <a:solidFill>
                            <a:srgbClr val="FFFFFF"/>
                          </a:solidFill>
                          <a:latin typeface="Inter"/>
                        </a:rPr>
                        <a:t> head sample, or thumbs up (8.2, 8.3)</a:t>
                      </a:r>
                    </a:p>
                  </a:txBody>
                  <a:tcPr marL="91440" marR="91440" marT="45720" marB="45720" anchor="ctr">
                    <a:solidFill>
                      <a:srgbClr val="1A2742"/>
                    </a:solidFill>
                  </a:tcPr>
                </a:tc>
              </a:tr>
              <a:tr h="384048">
                <a:tc>
                  <a:txBody>
                    <a:bodyPr wrap="square"/>
                    <a:lstStyle/>
                    <a:p>
                      <a:r>
                        <a:rPr sz="1200" b="1">
                          <a:solidFill>
                            <a:srgbClr val="FFFFFF"/>
                          </a:solidFill>
                          <a:latin typeface="Inter"/>
                        </a:rPr>
                        <a:t>Containment</a:t>
                      </a:r>
                    </a:p>
                  </a:txBody>
                  <a:tcPr marL="91440" marR="91440" marT="45720" marB="45720" anchor="ctr">
                    <a:solidFill>
                      <a:srgbClr val="0F1E35"/>
                    </a:solidFill>
                  </a:tcPr>
                </a:tc>
                <a:tc>
                  <a:txBody>
                    <a:bodyPr wrap="square"/>
                    <a:lstStyle/>
                    <a:p>
                      <a:r>
                        <a:rPr sz="1200" b="0">
                          <a:solidFill>
                            <a:srgbClr val="FFFFFF"/>
                          </a:solidFill>
                          <a:latin typeface="Inter"/>
                        </a:rPr>
                        <a:t>"How often did it need a human?"</a:t>
                      </a:r>
                    </a:p>
                  </a:txBody>
                  <a:tcPr marL="91440" marR="91440" marT="45720" marB="45720" anchor="ctr">
                    <a:solidFill>
                      <a:srgbClr val="0F1E35"/>
                    </a:solidFill>
                  </a:tcPr>
                </a:tc>
                <a:tc>
                  <a:txBody>
                    <a:bodyPr wrap="square"/>
                    <a:lstStyle/>
                    <a:p>
                      <a:r>
                        <a:rPr sz="1200" b="0">
                          <a:solidFill>
                            <a:srgbClr val="FFFFFF"/>
                          </a:solidFill>
                          <a:latin typeface="Inter"/>
                        </a:rPr>
                        <a:t>sessions without a human ticket, question intents only (5.2)</a:t>
                      </a:r>
                    </a:p>
                  </a:txBody>
                  <a:tcPr marL="91440" marR="91440" marT="45720" marB="45720" anchor="ctr">
                    <a:solidFill>
                      <a:srgbClr val="0F1E35"/>
                    </a:solidFill>
                  </a:tcPr>
                </a:tc>
              </a:tr>
              <a:tr h="384048">
                <a:tc>
                  <a:txBody>
                    <a:bodyPr wrap="square"/>
                    <a:lstStyle/>
                    <a:p>
                      <a:r>
                        <a:rPr sz="1200" b="1">
                          <a:solidFill>
                            <a:srgbClr val="FFFFFF"/>
                          </a:solidFill>
                          <a:latin typeface="Inter"/>
                        </a:rPr>
                        <a:t>Tool error rate</a:t>
                      </a:r>
                    </a:p>
                  </a:txBody>
                  <a:tcPr marL="91440" marR="91440" marT="45720" marB="45720" anchor="ctr">
                    <a:solidFill>
                      <a:srgbClr val="1A2742"/>
                    </a:solidFill>
                  </a:tcPr>
                </a:tc>
                <a:tc>
                  <a:txBody>
                    <a:bodyPr wrap="square"/>
                    <a:lstStyle/>
                    <a:p>
                      <a:r>
                        <a:rPr sz="1200" b="0">
                          <a:solidFill>
                            <a:srgbClr val="FFFFFF"/>
                          </a:solidFill>
                          <a:latin typeface="Inter"/>
                        </a:rPr>
                        <a:t>"Are the systems it talks to healthy?"</a:t>
                      </a:r>
                    </a:p>
                  </a:txBody>
                  <a:tcPr marL="91440" marR="91440" marT="45720" marB="45720" anchor="ctr">
                    <a:solidFill>
                      <a:srgbClr val="1A2742"/>
                    </a:solidFill>
                  </a:tcPr>
                </a:tc>
                <a:tc>
                  <a:txBody>
                    <a:bodyPr wrap="square"/>
                    <a:lstStyle/>
                    <a:p>
                      <a:r>
                        <a:rPr sz="1104" b="0">
                          <a:solidFill>
                            <a:srgbClr val="00D4AA"/>
                          </a:solidFill>
                          <a:latin typeface="JetBrains Mono"/>
                        </a:rPr>
                        <a:t>tool_errors / tool_calls</a:t>
                      </a:r>
                      <a:r>
                        <a:rPr sz="1200" b="0">
                          <a:solidFill>
                            <a:srgbClr val="FFFFFF"/>
                          </a:solidFill>
                          <a:latin typeface="Inter"/>
                        </a:rPr>
                        <a:t> (7.3)</a:t>
                      </a:r>
                    </a:p>
                  </a:txBody>
                  <a:tcPr marL="91440" marR="91440" marT="45720" marB="45720" anchor="ctr">
                    <a:solidFill>
                      <a:srgbClr val="1A2742"/>
                    </a:solidFill>
                  </a:tcPr>
                </a:tc>
              </a:tr>
              <a:tr h="384048">
                <a:tc>
                  <a:txBody>
                    <a:bodyPr wrap="square"/>
                    <a:lstStyle/>
                    <a:p>
                      <a:r>
                        <a:rPr sz="1200" b="1">
                          <a:solidFill>
                            <a:srgbClr val="FFFFFF"/>
                          </a:solidFill>
                          <a:latin typeface="Inter"/>
                        </a:rPr>
                        <a:t>First visible token p95</a:t>
                      </a:r>
                    </a:p>
                  </a:txBody>
                  <a:tcPr marL="91440" marR="91440" marT="45720" marB="45720" anchor="ctr">
                    <a:solidFill>
                      <a:srgbClr val="0F1E35"/>
                    </a:solidFill>
                  </a:tcPr>
                </a:tc>
                <a:tc>
                  <a:txBody>
                    <a:bodyPr wrap="square"/>
                    <a:lstStyle/>
                    <a:p>
                      <a:r>
                        <a:rPr sz="1200" b="0">
                          <a:solidFill>
                            <a:srgbClr val="FFFFFF"/>
                          </a:solidFill>
                          <a:latin typeface="Inter"/>
                        </a:rPr>
                        <a:t>"Is it fast?"</a:t>
                      </a:r>
                    </a:p>
                  </a:txBody>
                  <a:tcPr marL="91440" marR="91440" marT="45720" marB="45720" anchor="ctr">
                    <a:solidFill>
                      <a:srgbClr val="0F1E35"/>
                    </a:solidFill>
                  </a:tcPr>
                </a:tc>
                <a:tc>
                  <a:txBody>
                    <a:bodyPr wrap="square"/>
                    <a:lstStyle/>
                    <a:p>
                      <a:r>
                        <a:rPr sz="1104" b="0">
                          <a:solidFill>
                            <a:srgbClr val="00D4AA"/>
                          </a:solidFill>
                          <a:latin typeface="JetBrains Mono"/>
                        </a:rPr>
                        <a:t>atlas_request_latency_seconds</a:t>
                      </a:r>
                      <a:r>
                        <a:rPr sz="1200" b="0">
                          <a:solidFill>
                            <a:srgbClr val="FFFFFF"/>
                          </a:solidFill>
                          <a:latin typeface="Inter"/>
                        </a:rPr>
                        <a:t> (7.2)</a:t>
                      </a:r>
                    </a:p>
                  </a:txBody>
                  <a:tcPr marL="91440" marR="91440" marT="45720" marB="45720" anchor="ctr">
                    <a:solidFill>
                      <a:srgbClr val="0F1E35"/>
                    </a:solidFill>
                  </a:tcPr>
                </a:tc>
              </a:tr>
              <a:tr h="384048">
                <a:tc>
                  <a:txBody>
                    <a:bodyPr wrap="square"/>
                    <a:lstStyle/>
                    <a:p>
                      <a:r>
                        <a:rPr sz="1200" b="1">
                          <a:solidFill>
                            <a:srgbClr val="FFFFFF"/>
                          </a:solidFill>
                          <a:latin typeface="Inter"/>
                        </a:rPr>
                        <a:t>Cost per resolved session</a:t>
                      </a:r>
                    </a:p>
                  </a:txBody>
                  <a:tcPr marL="91440" marR="91440" marT="45720" marB="45720" anchor="ctr">
                    <a:solidFill>
                      <a:srgbClr val="1A2742"/>
                    </a:solidFill>
                  </a:tcPr>
                </a:tc>
                <a:tc>
                  <a:txBody>
                    <a:bodyPr wrap="square"/>
                    <a:lstStyle/>
                    <a:p>
                      <a:r>
                        <a:rPr sz="1200" b="0">
                          <a:solidFill>
                            <a:srgbClr val="FFFFFF"/>
                          </a:solidFill>
                          <a:latin typeface="Inter"/>
                        </a:rPr>
                        <a:t>"What does an answer cost?"</a:t>
                      </a:r>
                    </a:p>
                  </a:txBody>
                  <a:tcPr marL="91440" marR="91440" marT="45720" marB="45720" anchor="ctr">
                    <a:solidFill>
                      <a:srgbClr val="1A2742"/>
                    </a:solidFill>
                  </a:tcPr>
                </a:tc>
                <a:tc>
                  <a:txBody>
                    <a:bodyPr wrap="square"/>
                    <a:lstStyle/>
                    <a:p>
                      <a:r>
                        <a:rPr sz="1200" b="0">
                          <a:solidFill>
                            <a:srgbClr val="FFFFFF"/>
                          </a:solidFill>
                          <a:latin typeface="Inter"/>
                        </a:rPr>
                        <a:t>cost ÷ resolved sessions (6.3)</a:t>
                      </a:r>
                    </a:p>
                  </a:txBody>
                  <a:tcPr marL="91440" marR="91440" marT="45720" marB="45720" anchor="ctr">
                    <a:solidFill>
                      <a:srgbClr val="1A2742"/>
                    </a:solidFill>
                  </a:tcPr>
                </a:tc>
              </a:tr>
              <a:tr h="384048">
                <a:tc>
                  <a:txBody>
                    <a:bodyPr wrap="square"/>
                    <a:lstStyle/>
                    <a:p>
                      <a:r>
                        <a:rPr sz="1200" b="1">
                          <a:solidFill>
                            <a:srgbClr val="FFFFFF"/>
                          </a:solidFill>
                          <a:latin typeface="Inter"/>
                        </a:rPr>
                        <a:t>Judge grounded</a:t>
                      </a:r>
                    </a:p>
                  </a:txBody>
                  <a:tcPr marL="91440" marR="91440" marT="45720" marB="45720" anchor="ctr">
                    <a:solidFill>
                      <a:srgbClr val="0F1E35"/>
                    </a:solidFill>
                  </a:tcPr>
                </a:tc>
                <a:tc>
                  <a:txBody>
                    <a:bodyPr wrap="square"/>
                    <a:lstStyle/>
                    <a:p>
                      <a:r>
                        <a:rPr sz="1200" b="0">
                          <a:solidFill>
                            <a:srgbClr val="FFFFFF"/>
                          </a:solidFill>
                          <a:latin typeface="Inter"/>
                        </a:rPr>
                        <a:t>"Is it making things up?"</a:t>
                      </a:r>
                    </a:p>
                  </a:txBody>
                  <a:tcPr marL="91440" marR="91440" marT="45720" marB="45720" anchor="ctr">
                    <a:solidFill>
                      <a:srgbClr val="0F1E35"/>
                    </a:solidFill>
                  </a:tcPr>
                </a:tc>
                <a:tc>
                  <a:txBody>
                    <a:bodyPr wrap="square"/>
                    <a:lstStyle/>
                    <a:p>
                      <a:r>
                        <a:rPr sz="1200" b="0">
                          <a:solidFill>
                            <a:srgbClr val="FFFFFF"/>
                          </a:solidFill>
                          <a:latin typeface="Inter"/>
                        </a:rPr>
                        <a:t>judge </a:t>
                      </a:r>
                      <a:r>
                        <a:rPr sz="1104" b="0">
                          <a:solidFill>
                            <a:srgbClr val="00D4AA"/>
                          </a:solidFill>
                          <a:latin typeface="JetBrains Mono"/>
                        </a:rPr>
                        <a:t>grounded</a:t>
                      </a:r>
                      <a:r>
                        <a:rPr sz="1200" b="0">
                          <a:solidFill>
                            <a:srgbClr val="FFFFFF"/>
                          </a:solidFill>
                          <a:latin typeface="Inter"/>
                        </a:rPr>
                        <a:t> head sample (8.2)</a:t>
                      </a:r>
                    </a:p>
                  </a:txBody>
                  <a:tcPr marL="91440" marR="91440" marT="45720" marB="45720" anchor="ctr">
                    <a:solidFill>
                      <a:srgbClr val="0F1E35"/>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09 · Lecture 9.1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SLOs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8" cy="2688336"/>
        </p:xfrm>
        <a:graphic>
          <a:graphicData uri="http://schemas.openxmlformats.org/drawingml/2006/table">
            <a:tbl>
              <a:tblPr firstRow="1" bandRow="1">
                <a:tableStyleId>{5C22544A-7EE6-4342-B048-85BDC9FD1C3A}</a:tableStyleId>
              </a:tblPr>
              <a:tblGrid>
                <a:gridCol w="4553564"/>
                <a:gridCol w="1639283"/>
                <a:gridCol w="2367853"/>
                <a:gridCol w="2732138"/>
              </a:tblGrid>
              <a:tr h="384048">
                <a:tc>
                  <a:txBody>
                    <a:bodyPr wrap="square"/>
                    <a:lstStyle/>
                    <a:p>
                      <a:r>
                        <a:rPr sz="1200" b="1">
                          <a:solidFill>
                            <a:srgbClr val="0A1628"/>
                          </a:solidFill>
                          <a:latin typeface="Inter"/>
                        </a:rPr>
                        <a:t>SLI</a:t>
                      </a:r>
                    </a:p>
                  </a:txBody>
                  <a:tcPr marL="91440" marR="91440" marT="45720" marB="45720" anchor="ctr">
                    <a:solidFill>
                      <a:srgbClr val="00D4AA"/>
                    </a:solidFill>
                  </a:tcPr>
                </a:tc>
                <a:tc>
                  <a:txBody>
                    <a:bodyPr wrap="square"/>
                    <a:lstStyle/>
                    <a:p>
                      <a:r>
                        <a:rPr sz="1200" b="1">
                          <a:solidFill>
                            <a:srgbClr val="0A1628"/>
                          </a:solidFill>
                          <a:latin typeface="Inter"/>
                        </a:rPr>
                        <a:t>Normal</a:t>
                      </a:r>
                    </a:p>
                  </a:txBody>
                  <a:tcPr marL="91440" marR="91440" marT="45720" marB="45720" anchor="ctr">
                    <a:solidFill>
                      <a:srgbClr val="00D4AA"/>
                    </a:solidFill>
                  </a:tcPr>
                </a:tc>
                <a:tc>
                  <a:txBody>
                    <a:bodyPr wrap="square"/>
                    <a:lstStyle/>
                    <a:p>
                      <a:r>
                        <a:rPr sz="1200" b="1">
                          <a:solidFill>
                            <a:srgbClr val="0A1628"/>
                          </a:solidFill>
                          <a:latin typeface="Inter"/>
                        </a:rPr>
                        <a:t>SLO</a:t>
                      </a:r>
                    </a:p>
                  </a:txBody>
                  <a:tcPr marL="91440" marR="91440" marT="45720" marB="45720" anchor="ctr">
                    <a:solidFill>
                      <a:srgbClr val="00D4AA"/>
                    </a:solidFill>
                  </a:tcPr>
                </a:tc>
                <a:tc>
                  <a:txBody>
                    <a:bodyPr wrap="square"/>
                    <a:lstStyle/>
                    <a:p>
                      <a:r>
                        <a:rPr sz="1200" b="1">
                          <a:solidFill>
                            <a:srgbClr val="0A1628"/>
                          </a:solidFill>
                          <a:latin typeface="Inter"/>
                        </a:rPr>
                        <a:t>Window</a:t>
                      </a:r>
                    </a:p>
                  </a:txBody>
                  <a:tcPr marL="91440" marR="91440" marT="45720" marB="45720" anchor="ctr">
                    <a:solidFill>
                      <a:srgbClr val="00D4AA"/>
                    </a:solidFill>
                  </a:tcPr>
                </a:tc>
              </a:tr>
              <a:tr h="384048">
                <a:tc>
                  <a:txBody>
                    <a:bodyPr wrap="square"/>
                    <a:lstStyle/>
                    <a:p>
                      <a:r>
                        <a:rPr sz="1200" b="1">
                          <a:solidFill>
                            <a:srgbClr val="FFFFFF"/>
                          </a:solidFill>
                          <a:latin typeface="Inter"/>
                        </a:rPr>
                        <a:t>Task success</a:t>
                      </a:r>
                    </a:p>
                  </a:txBody>
                  <a:tcPr marL="91440" marR="91440" marT="45720" marB="45720" anchor="ctr">
                    <a:solidFill>
                      <a:srgbClr val="1A2742"/>
                    </a:solidFill>
                  </a:tcPr>
                </a:tc>
                <a:tc>
                  <a:txBody>
                    <a:bodyPr wrap="square"/>
                    <a:lstStyle/>
                    <a:p>
                      <a:r>
                        <a:rPr sz="1200" b="0">
                          <a:solidFill>
                            <a:srgbClr val="FFFFFF"/>
                          </a:solidFill>
                          <a:latin typeface="Inter"/>
                        </a:rPr>
                        <a:t>83%</a:t>
                      </a:r>
                    </a:p>
                  </a:txBody>
                  <a:tcPr marL="91440" marR="91440" marT="45720" marB="45720" anchor="ctr">
                    <a:solidFill>
                      <a:srgbClr val="1A2742"/>
                    </a:solidFill>
                  </a:tcPr>
                </a:tc>
                <a:tc>
                  <a:txBody>
                    <a:bodyPr wrap="square"/>
                    <a:lstStyle/>
                    <a:p>
                      <a:r>
                        <a:rPr sz="1200" b="0">
                          <a:solidFill>
                            <a:srgbClr val="FFFFFF"/>
                          </a:solidFill>
                          <a:latin typeface="Inter"/>
                        </a:rPr>
                        <a:t>≥ 80%</a:t>
                      </a:r>
                    </a:p>
                  </a:txBody>
                  <a:tcPr marL="91440" marR="91440" marT="45720" marB="45720" anchor="ctr">
                    <a:solidFill>
                      <a:srgbClr val="1A2742"/>
                    </a:solidFill>
                  </a:tcPr>
                </a:tc>
                <a:tc>
                  <a:txBody>
                    <a:bodyPr wrap="square"/>
                    <a:lstStyle/>
                    <a:p>
                      <a:r>
                        <a:rPr sz="1200" b="0">
                          <a:solidFill>
                            <a:srgbClr val="FFFFFF"/>
                          </a:solidFill>
                          <a:latin typeface="Inter"/>
                        </a:rPr>
                        <a:t>weekly</a:t>
                      </a:r>
                    </a:p>
                  </a:txBody>
                  <a:tcPr marL="91440" marR="91440" marT="45720" marB="45720" anchor="ctr">
                    <a:solidFill>
                      <a:srgbClr val="1A2742"/>
                    </a:solidFill>
                  </a:tcPr>
                </a:tc>
              </a:tr>
              <a:tr h="384048">
                <a:tc>
                  <a:txBody>
                    <a:bodyPr wrap="square"/>
                    <a:lstStyle/>
                    <a:p>
                      <a:r>
                        <a:rPr sz="1200" b="1">
                          <a:solidFill>
                            <a:srgbClr val="FFFFFF"/>
                          </a:solidFill>
                          <a:latin typeface="Inter"/>
                        </a:rPr>
                        <a:t>Containment</a:t>
                      </a:r>
                    </a:p>
                  </a:txBody>
                  <a:tcPr marL="91440" marR="91440" marT="45720" marB="45720" anchor="ctr">
                    <a:solidFill>
                      <a:srgbClr val="0F1E35"/>
                    </a:solidFill>
                  </a:tcPr>
                </a:tc>
                <a:tc>
                  <a:txBody>
                    <a:bodyPr wrap="square"/>
                    <a:lstStyle/>
                    <a:p>
                      <a:r>
                        <a:rPr sz="1200" b="0">
                          <a:solidFill>
                            <a:srgbClr val="FFFFFF"/>
                          </a:solidFill>
                          <a:latin typeface="Inter"/>
                        </a:rPr>
                        <a:t>78%</a:t>
                      </a:r>
                    </a:p>
                  </a:txBody>
                  <a:tcPr marL="91440" marR="91440" marT="45720" marB="45720" anchor="ctr">
                    <a:solidFill>
                      <a:srgbClr val="0F1E35"/>
                    </a:solidFill>
                  </a:tcPr>
                </a:tc>
                <a:tc>
                  <a:txBody>
                    <a:bodyPr wrap="square"/>
                    <a:lstStyle/>
                    <a:p>
                      <a:r>
                        <a:rPr sz="1200" b="0">
                          <a:solidFill>
                            <a:srgbClr val="FFFFFF"/>
                          </a:solidFill>
                          <a:latin typeface="Inter"/>
                        </a:rPr>
                        <a:t>≥ 75%</a:t>
                      </a:r>
                    </a:p>
                  </a:txBody>
                  <a:tcPr marL="91440" marR="91440" marT="45720" marB="45720" anchor="ctr">
                    <a:solidFill>
                      <a:srgbClr val="0F1E35"/>
                    </a:solidFill>
                  </a:tcPr>
                </a:tc>
                <a:tc>
                  <a:txBody>
                    <a:bodyPr wrap="square"/>
                    <a:lstStyle/>
                    <a:p>
                      <a:r>
                        <a:rPr sz="1200" b="0">
                          <a:solidFill>
                            <a:srgbClr val="FFFFFF"/>
                          </a:solidFill>
                          <a:latin typeface="Inter"/>
                        </a:rPr>
                        <a:t>weekly</a:t>
                      </a:r>
                    </a:p>
                  </a:txBody>
                  <a:tcPr marL="91440" marR="91440" marT="45720" marB="45720" anchor="ctr">
                    <a:solidFill>
                      <a:srgbClr val="0F1E35"/>
                    </a:solidFill>
                  </a:tcPr>
                </a:tc>
              </a:tr>
              <a:tr h="384048">
                <a:tc>
                  <a:txBody>
                    <a:bodyPr wrap="square"/>
                    <a:lstStyle/>
                    <a:p>
                      <a:r>
                        <a:rPr sz="1200" b="1">
                          <a:solidFill>
                            <a:srgbClr val="FFFFFF"/>
                          </a:solidFill>
                          <a:latin typeface="Inter"/>
                        </a:rPr>
                        <a:t>Tool error rate</a:t>
                      </a:r>
                    </a:p>
                  </a:txBody>
                  <a:tcPr marL="91440" marR="91440" marT="45720" marB="45720" anchor="ctr">
                    <a:solidFill>
                      <a:srgbClr val="1A2742"/>
                    </a:solidFill>
                  </a:tcPr>
                </a:tc>
                <a:tc>
                  <a:txBody>
                    <a:bodyPr wrap="square"/>
                    <a:lstStyle/>
                    <a:p>
                      <a:r>
                        <a:rPr sz="1200" b="0">
                          <a:solidFill>
                            <a:srgbClr val="FFFFFF"/>
                          </a:solidFill>
                          <a:latin typeface="Inter"/>
                        </a:rPr>
                        <a:t>1.8%</a:t>
                      </a:r>
                    </a:p>
                  </a:txBody>
                  <a:tcPr marL="91440" marR="91440" marT="45720" marB="45720" anchor="ctr">
                    <a:solidFill>
                      <a:srgbClr val="1A2742"/>
                    </a:solidFill>
                  </a:tcPr>
                </a:tc>
                <a:tc>
                  <a:txBody>
                    <a:bodyPr wrap="square"/>
                    <a:lstStyle/>
                    <a:p>
                      <a:r>
                        <a:rPr sz="1200" b="0">
                          <a:solidFill>
                            <a:srgbClr val="FFFFFF"/>
                          </a:solidFill>
                          <a:latin typeface="Inter"/>
                        </a:rPr>
                        <a:t>&lt; 3%</a:t>
                      </a:r>
                    </a:p>
                  </a:txBody>
                  <a:tcPr marL="91440" marR="91440" marT="45720" marB="45720" anchor="ctr">
                    <a:solidFill>
                      <a:srgbClr val="1A2742"/>
                    </a:solidFill>
                  </a:tcPr>
                </a:tc>
                <a:tc>
                  <a:txBody>
                    <a:bodyPr wrap="square"/>
                    <a:lstStyle/>
                    <a:p>
                      <a:r>
                        <a:rPr sz="1200" b="0">
                          <a:solidFill>
                            <a:srgbClr val="FFFFFF"/>
                          </a:solidFill>
                          <a:latin typeface="Inter"/>
                        </a:rPr>
                        <a:t>1 hour</a:t>
                      </a:r>
                    </a:p>
                  </a:txBody>
                  <a:tcPr marL="91440" marR="91440" marT="45720" marB="45720" anchor="ctr">
                    <a:solidFill>
                      <a:srgbClr val="1A2742"/>
                    </a:solidFill>
                  </a:tcPr>
                </a:tc>
              </a:tr>
              <a:tr h="384048">
                <a:tc>
                  <a:txBody>
                    <a:bodyPr wrap="square"/>
                    <a:lstStyle/>
                    <a:p>
                      <a:r>
                        <a:rPr sz="1200" b="1">
                          <a:solidFill>
                            <a:srgbClr val="FFFFFF"/>
                          </a:solidFill>
                          <a:latin typeface="Inter"/>
                        </a:rPr>
                        <a:t>First visible token</a:t>
                      </a:r>
                    </a:p>
                  </a:txBody>
                  <a:tcPr marL="91440" marR="91440" marT="45720" marB="45720" anchor="ctr">
                    <a:solidFill>
                      <a:srgbClr val="0F1E35"/>
                    </a:solidFill>
                  </a:tcPr>
                </a:tc>
                <a:tc>
                  <a:txBody>
                    <a:bodyPr wrap="square"/>
                    <a:lstStyle/>
                    <a:p>
                      <a:r>
                        <a:rPr sz="1200" b="0">
                          <a:solidFill>
                            <a:srgbClr val="FFFFFF"/>
                          </a:solidFill>
                          <a:latin typeface="Inter"/>
                        </a:rPr>
                        <a:t>p95 3.4 s</a:t>
                      </a:r>
                    </a:p>
                  </a:txBody>
                  <a:tcPr marL="91440" marR="91440" marT="45720" marB="45720" anchor="ctr">
                    <a:solidFill>
                      <a:srgbClr val="0F1E35"/>
                    </a:solidFill>
                  </a:tcPr>
                </a:tc>
                <a:tc>
                  <a:txBody>
                    <a:bodyPr wrap="square"/>
                    <a:lstStyle/>
                    <a:p>
                      <a:r>
                        <a:rPr sz="1200" b="0">
                          <a:solidFill>
                            <a:srgbClr val="FFFFFF"/>
                          </a:solidFill>
                          <a:latin typeface="Inter"/>
                        </a:rPr>
                        <a:t>95% under 4 s</a:t>
                      </a:r>
                    </a:p>
                  </a:txBody>
                  <a:tcPr marL="91440" marR="91440" marT="45720" marB="45720" anchor="ctr">
                    <a:solidFill>
                      <a:srgbClr val="0F1E35"/>
                    </a:solidFill>
                  </a:tcPr>
                </a:tc>
                <a:tc>
                  <a:txBody>
                    <a:bodyPr wrap="square"/>
                    <a:lstStyle/>
                    <a:p>
                      <a:r>
                        <a:rPr sz="1200" b="0">
                          <a:solidFill>
                            <a:srgbClr val="FFFFFF"/>
                          </a:solidFill>
                          <a:latin typeface="Inter"/>
                        </a:rPr>
                        <a:t>30 days rolling</a:t>
                      </a:r>
                    </a:p>
                  </a:txBody>
                  <a:tcPr marL="91440" marR="91440" marT="45720" marB="45720" anchor="ctr">
                    <a:solidFill>
                      <a:srgbClr val="0F1E35"/>
                    </a:solidFill>
                  </a:tcPr>
                </a:tc>
              </a:tr>
              <a:tr h="384048">
                <a:tc>
                  <a:txBody>
                    <a:bodyPr wrap="square"/>
                    <a:lstStyle/>
                    <a:p>
                      <a:r>
                        <a:rPr sz="1200" b="1">
                          <a:solidFill>
                            <a:srgbClr val="FFFFFF"/>
                          </a:solidFill>
                          <a:latin typeface="Inter"/>
                        </a:rPr>
                        <a:t>Cost per resolved session</a:t>
                      </a:r>
                    </a:p>
                  </a:txBody>
                  <a:tcPr marL="91440" marR="91440" marT="45720" marB="45720" anchor="ctr">
                    <a:solidFill>
                      <a:srgbClr val="1A2742"/>
                    </a:solidFill>
                  </a:tcPr>
                </a:tc>
                <a:tc>
                  <a:txBody>
                    <a:bodyPr wrap="square"/>
                    <a:lstStyle/>
                    <a:p>
                      <a:r>
                        <a:rPr sz="1200" b="0">
                          <a:solidFill>
                            <a:srgbClr val="FFFFFF"/>
                          </a:solidFill>
                          <a:latin typeface="Inter"/>
                        </a:rPr>
                        <a:t>$0.0075</a:t>
                      </a:r>
                    </a:p>
                  </a:txBody>
                  <a:tcPr marL="91440" marR="91440" marT="45720" marB="45720" anchor="ctr">
                    <a:solidFill>
                      <a:srgbClr val="1A2742"/>
                    </a:solidFill>
                  </a:tcPr>
                </a:tc>
                <a:tc>
                  <a:txBody>
                    <a:bodyPr wrap="square"/>
                    <a:lstStyle/>
                    <a:p>
                      <a:r>
                        <a:rPr sz="1200" b="0">
                          <a:solidFill>
                            <a:srgbClr val="FFFFFF"/>
                          </a:solidFill>
                          <a:latin typeface="Inter"/>
                        </a:rPr>
                        <a:t>≤ $0.010</a:t>
                      </a:r>
                    </a:p>
                  </a:txBody>
                  <a:tcPr marL="91440" marR="91440" marT="45720" marB="45720" anchor="ctr">
                    <a:solidFill>
                      <a:srgbClr val="1A2742"/>
                    </a:solidFill>
                  </a:tcPr>
                </a:tc>
                <a:tc>
                  <a:txBody>
                    <a:bodyPr wrap="square"/>
                    <a:lstStyle/>
                    <a:p>
                      <a:r>
                        <a:rPr sz="1200" b="0">
                          <a:solidFill>
                            <a:srgbClr val="FFFFFF"/>
                          </a:solidFill>
                          <a:latin typeface="Inter"/>
                        </a:rPr>
                        <a:t>weekly</a:t>
                      </a:r>
                    </a:p>
                  </a:txBody>
                  <a:tcPr marL="91440" marR="91440" marT="45720" marB="45720" anchor="ctr">
                    <a:solidFill>
                      <a:srgbClr val="1A2742"/>
                    </a:solidFill>
                  </a:tcPr>
                </a:tc>
              </a:tr>
              <a:tr h="384048">
                <a:tc>
                  <a:txBody>
                    <a:bodyPr wrap="square"/>
                    <a:lstStyle/>
                    <a:p>
                      <a:r>
                        <a:rPr sz="1200" b="1">
                          <a:solidFill>
                            <a:srgbClr val="FFFFFF"/>
                          </a:solidFill>
                          <a:latin typeface="Inter"/>
                        </a:rPr>
                        <a:t>Grounded</a:t>
                      </a:r>
                    </a:p>
                  </a:txBody>
                  <a:tcPr marL="91440" marR="91440" marT="45720" marB="45720" anchor="ctr">
                    <a:solidFill>
                      <a:srgbClr val="0F1E35"/>
                    </a:solidFill>
                  </a:tcPr>
                </a:tc>
                <a:tc>
                  <a:txBody>
                    <a:bodyPr wrap="square"/>
                    <a:lstStyle/>
                    <a:p>
                      <a:r>
                        <a:rPr sz="1200" b="0">
                          <a:solidFill>
                            <a:srgbClr val="FFFFFF"/>
                          </a:solidFill>
                          <a:latin typeface="Inter"/>
                        </a:rPr>
                        <a:t>0.90</a:t>
                      </a:r>
                    </a:p>
                  </a:txBody>
                  <a:tcPr marL="91440" marR="91440" marT="45720" marB="45720" anchor="ctr">
                    <a:solidFill>
                      <a:srgbClr val="0F1E35"/>
                    </a:solidFill>
                  </a:tcPr>
                </a:tc>
                <a:tc>
                  <a:txBody>
                    <a:bodyPr wrap="square"/>
                    <a:lstStyle/>
                    <a:p>
                      <a:r>
                        <a:rPr sz="1200" b="0">
                          <a:solidFill>
                            <a:srgbClr val="FFFFFF"/>
                          </a:solidFill>
                          <a:latin typeface="Inter"/>
                        </a:rPr>
                        <a:t>≥ 0.85</a:t>
                      </a:r>
                    </a:p>
                  </a:txBody>
                  <a:tcPr marL="91440" marR="91440" marT="45720" marB="45720" anchor="ctr">
                    <a:solidFill>
                      <a:srgbClr val="0F1E35"/>
                    </a:solidFill>
                  </a:tcPr>
                </a:tc>
                <a:tc>
                  <a:txBody>
                    <a:bodyPr wrap="square"/>
                    <a:lstStyle/>
                    <a:p>
                      <a:r>
                        <a:rPr sz="1200" b="0">
                          <a:solidFill>
                            <a:srgbClr val="FFFFFF"/>
                          </a:solidFill>
                          <a:latin typeface="Inter"/>
                        </a:rPr>
                        <a:t>weekly</a:t>
                      </a:r>
                    </a:p>
                  </a:txBody>
                  <a:tcPr marL="91440" marR="91440" marT="45720" marB="45720" anchor="ctr">
                    <a:solidFill>
                      <a:srgbClr val="0F1E35"/>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09 · Lecture 9.1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Error budget</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57200" y="1325880"/>
            <a:ext cx="4343400" cy="4983480"/>
          </a:xfrm>
          <a:prstGeom prst="rect">
            <a:avLst/>
          </a:prstGeom>
          <a:noFill/>
        </p:spPr>
        <p:txBody>
          <a:bodyPr wrap="square" lIns="45720" rIns="45720" tIns="27432" bIns="27432" anchor="t">
            <a:spAutoFit/>
          </a:bodyPr>
          <a:lstStyle/>
          <a:p>
            <a:pPr marL="292608" indent="-292608">
              <a:lnSpc>
                <a:spcPct val="120000"/>
              </a:lnSpc>
              <a:spcAft>
                <a:spcPts val="1120"/>
              </a:spcAft>
              <a:buClr>
                <a:srgbClr val="00D4AA"/>
              </a:buClr>
              <a:buFont typeface="Inter"/>
              <a:buChar char="•"/>
            </a:pPr>
            <a:r>
              <a:rPr sz="1600" b="0">
                <a:solidFill>
                  <a:srgbClr val="FFFFFF"/>
                </a:solidFill>
                <a:latin typeface="Inter"/>
              </a:rPr>
              <a:t>SLO: 95% of requests under 4 s over 30 days</a:t>
            </a:r>
          </a:p>
          <a:p>
            <a:pPr marL="292608" indent="-292608">
              <a:lnSpc>
                <a:spcPct val="120000"/>
              </a:lnSpc>
              <a:spcAft>
                <a:spcPts val="1120"/>
              </a:spcAft>
              <a:buClr>
                <a:srgbClr val="00D4AA"/>
              </a:buClr>
              <a:buFont typeface="Inter"/>
              <a:buChar char="•"/>
            </a:pPr>
            <a:r>
              <a:rPr sz="1600" b="0">
                <a:solidFill>
                  <a:srgbClr val="FFFFFF"/>
                </a:solidFill>
                <a:latin typeface="Inter"/>
              </a:rPr>
              <a:t>Traffic: 10,000 a day × 30 = 300,000 requests</a:t>
            </a:r>
          </a:p>
          <a:p>
            <a:pPr marL="292608" indent="-292608">
              <a:lnSpc>
                <a:spcPct val="120000"/>
              </a:lnSpc>
              <a:spcAft>
                <a:spcPts val="1120"/>
              </a:spcAft>
              <a:buClr>
                <a:srgbClr val="00D4AA"/>
              </a:buClr>
              <a:buFont typeface="Inter"/>
              <a:buChar char="•"/>
            </a:pPr>
            <a:r>
              <a:rPr sz="1600" b="0">
                <a:solidFill>
                  <a:srgbClr val="FFFFFF"/>
                </a:solidFill>
                <a:latin typeface="Inter"/>
              </a:rPr>
              <a:t>Error budget: 5% = 15,000 slow requests per 30 days, about 500 a day</a:t>
            </a:r>
          </a:p>
          <a:p>
            <a:pPr marL="292608" indent="-292608">
              <a:lnSpc>
                <a:spcPct val="120000"/>
              </a:lnSpc>
              <a:spcAft>
                <a:spcPts val="1120"/>
              </a:spcAft>
              <a:buClr>
                <a:srgbClr val="00D4AA"/>
              </a:buClr>
              <a:buFont typeface="Inter"/>
              <a:buChar char="•"/>
            </a:pPr>
            <a:r>
              <a:rPr sz="1600" b="0">
                <a:solidFill>
                  <a:srgbClr val="FFFFFF"/>
                </a:solidFill>
                <a:latin typeface="Inter"/>
              </a:rPr>
              <a:t>Normal day: p95 at 3.4 s means about 3% slow = 300 a day. You spend 60% of budget in a normal month</a:t>
            </a:r>
          </a:p>
          <a:p>
            <a:pPr marL="292608" indent="-292608">
              <a:lnSpc>
                <a:spcPct val="120000"/>
              </a:lnSpc>
              <a:spcAft>
                <a:spcPts val="1120"/>
              </a:spcAft>
              <a:buClr>
                <a:srgbClr val="00D4AA"/>
              </a:buClr>
              <a:buFont typeface="Inter"/>
              <a:buChar char="•"/>
            </a:pPr>
            <a:r>
              <a:rPr sz="1600" b="0">
                <a:solidFill>
                  <a:srgbClr val="FFFFFF"/>
                </a:solidFill>
                <a:latin typeface="Inter"/>
              </a:rPr>
              <a:t>The budget is a spending account: incidents draw it down; when it's empty, you stop shipping risk</a:t>
            </a:r>
          </a:p>
        </p:txBody>
      </p:sp>
      <p:pic>
        <p:nvPicPr>
          <p:cNvPr id="6" name="Picture 5" descr="D8-step2-notitle.png"/>
          <p:cNvPicPr>
            <a:picLocks noChangeAspect="1"/>
          </p:cNvPicPr>
          <p:nvPr/>
        </p:nvPicPr>
        <p:blipFill>
          <a:blip r:embed="rId3"/>
          <a:stretch>
            <a:fillRect/>
          </a:stretch>
        </p:blipFill>
        <p:spPr>
          <a:xfrm>
            <a:off x="4983480" y="2231707"/>
            <a:ext cx="6766560" cy="3171825"/>
          </a:xfrm>
          <a:prstGeom prst="rect">
            <a:avLst/>
          </a:prstGeom>
          <a:ln>
            <a:solidFill>
              <a:srgbClr val="1A2742"/>
            </a:solidFill>
          </a:ln>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09 · Lecture 9.1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Burn rate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57200" y="1325880"/>
            <a:ext cx="4343400" cy="4983480"/>
          </a:xfrm>
          <a:prstGeom prst="rect">
            <a:avLst/>
          </a:prstGeom>
          <a:noFill/>
        </p:spPr>
        <p:txBody>
          <a:bodyPr wrap="square" lIns="45720" rIns="45720" tIns="27432" bIns="27432" anchor="t">
            <a:spAutoFit/>
          </a:bodyPr>
          <a:lstStyle/>
          <a:p>
            <a:pPr marL="292608" indent="-292608">
              <a:lnSpc>
                <a:spcPct val="120000"/>
              </a:lnSpc>
              <a:spcAft>
                <a:spcPts val="1120"/>
              </a:spcAft>
              <a:buClr>
                <a:srgbClr val="00D4AA"/>
              </a:buClr>
              <a:buFont typeface="Inter"/>
              <a:buChar char="•"/>
            </a:pPr>
            <a:r>
              <a:rPr sz="1600" b="0">
                <a:solidFill>
                  <a:srgbClr val="FFFFFF"/>
                </a:solidFill>
                <a:latin typeface="Inter"/>
              </a:rPr>
              <a:t>Burn rate = (fraction of bad requests right now) ÷ (fraction the SLO allows)</a:t>
            </a:r>
          </a:p>
          <a:p>
            <a:pPr marL="292608" indent="-292608">
              <a:lnSpc>
                <a:spcPct val="120000"/>
              </a:lnSpc>
              <a:spcAft>
                <a:spcPts val="1120"/>
              </a:spcAft>
              <a:buClr>
                <a:srgbClr val="00D4AA"/>
              </a:buClr>
              <a:buFont typeface="Inter"/>
              <a:buChar char="•"/>
            </a:pPr>
            <a:r>
              <a:rPr sz="1600" b="0">
                <a:solidFill>
                  <a:srgbClr val="FFFFFF"/>
                </a:solidFill>
                <a:latin typeface="Inter"/>
              </a:rPr>
              <a:t>Allowed: 5%. Observed 5% → burn rate 1: you'll use exactly the budget in 30 days</a:t>
            </a:r>
          </a:p>
          <a:p>
            <a:pPr marL="292608" indent="-292608">
              <a:lnSpc>
                <a:spcPct val="120000"/>
              </a:lnSpc>
              <a:spcAft>
                <a:spcPts val="1120"/>
              </a:spcAft>
              <a:buClr>
                <a:srgbClr val="00D4AA"/>
              </a:buClr>
              <a:buFont typeface="Inter"/>
              <a:buChar char="•"/>
            </a:pPr>
            <a:r>
              <a:rPr sz="1472" b="0">
                <a:solidFill>
                  <a:srgbClr val="00D4AA"/>
                </a:solidFill>
                <a:latin typeface="JetBrains Mono"/>
              </a:rPr>
              <a:t>slow_provider</a:t>
            </a:r>
            <a:r>
              <a:rPr sz="1600" b="0">
                <a:solidFill>
                  <a:srgbClr val="FFFFFF"/>
                </a:solidFill>
                <a:latin typeface="Inter"/>
              </a:rPr>
              <a:t> untuned: 72% slow → burn rate 14.5: the month's budget gone in about 2 days</a:t>
            </a:r>
          </a:p>
          <a:p>
            <a:pPr marL="292608" indent="-292608">
              <a:lnSpc>
                <a:spcPct val="120000"/>
              </a:lnSpc>
              <a:spcAft>
                <a:spcPts val="1120"/>
              </a:spcAft>
              <a:buClr>
                <a:srgbClr val="00D4AA"/>
              </a:buClr>
              <a:buFont typeface="Inter"/>
              <a:buChar char="•"/>
            </a:pPr>
            <a:r>
              <a:rPr sz="1600" b="0">
                <a:solidFill>
                  <a:srgbClr val="FFFFFF"/>
                </a:solidFill>
                <a:latin typeface="Inter"/>
              </a:rPr>
              <a:t>A loop that makes every request slow: burn rate 20: budget gone in 36 hours</a:t>
            </a:r>
          </a:p>
          <a:p>
            <a:pPr marL="292608" indent="-292608">
              <a:lnSpc>
                <a:spcPct val="120000"/>
              </a:lnSpc>
              <a:spcAft>
                <a:spcPts val="1120"/>
              </a:spcAft>
              <a:buClr>
                <a:srgbClr val="00D4AA"/>
              </a:buClr>
              <a:buFont typeface="Inter"/>
              <a:buChar char="•"/>
            </a:pPr>
            <a:r>
              <a:rPr sz="1600" b="0">
                <a:solidFill>
                  <a:srgbClr val="FFFFFF"/>
                </a:solidFill>
                <a:latin typeface="Inter"/>
              </a:rPr>
              <a:t>Page on burn rate, not on a single p95 reading</a:t>
            </a:r>
          </a:p>
        </p:txBody>
      </p:sp>
      <p:pic>
        <p:nvPicPr>
          <p:cNvPr id="6" name="Picture 5" descr="D8-step3-notitle.png"/>
          <p:cNvPicPr>
            <a:picLocks noChangeAspect="1"/>
          </p:cNvPicPr>
          <p:nvPr/>
        </p:nvPicPr>
        <p:blipFill>
          <a:blip r:embed="rId3"/>
          <a:stretch>
            <a:fillRect/>
          </a:stretch>
        </p:blipFill>
        <p:spPr>
          <a:xfrm>
            <a:off x="4983480" y="2231707"/>
            <a:ext cx="6766560" cy="3171825"/>
          </a:xfrm>
          <a:prstGeom prst="rect">
            <a:avLst/>
          </a:prstGeom>
          <a:ln>
            <a:solidFill>
              <a:srgbClr val="1A2742"/>
            </a:solidFill>
          </a:ln>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09 · Lecture 9.1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Multi-window burn-rate alerts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57200" y="1325880"/>
            <a:ext cx="11247120" cy="731520"/>
          </a:xfrm>
          <a:prstGeom prst="rect">
            <a:avLst/>
          </a:prstGeom>
          <a:noFill/>
        </p:spPr>
        <p:txBody>
          <a:bodyPr wrap="square" lIns="45720" rIns="45720" tIns="27432" bIns="27432" anchor="t">
            <a:spAutoFit/>
          </a:bodyPr>
          <a:lstStyle/>
          <a:p>
            <a:pPr>
              <a:spcAft>
                <a:spcPts val="600"/>
              </a:spcAft>
            </a:pPr>
            <a:r>
              <a:rPr sz="1400" b="0">
                <a:solidFill>
                  <a:srgbClr val="CBD5E1"/>
                </a:solidFill>
                <a:latin typeface="Inter"/>
              </a:rPr>
              <a:t>Both windows must exceed the rate: the long one proves it's real, the short one proves it's still happening</a:t>
            </a:r>
          </a:p>
          <a:p>
            <a:pPr>
              <a:spcAft>
                <a:spcPts val="600"/>
              </a:spcAft>
            </a:pPr>
            <a:r>
              <a:rPr sz="1400" b="0">
                <a:solidFill>
                  <a:srgbClr val="CBD5E1"/>
                </a:solidFill>
                <a:latin typeface="Inter"/>
              </a:rPr>
              <a:t>The textbook numbers were written for 99.9% SLOs; at 95%, 14.4× means 72% of users are waiting, and a 1 h window would not fire on a 45-minute event</a:t>
            </a:r>
          </a:p>
          <a:p>
            <a:pPr>
              <a:spcAft>
                <a:spcPts val="600"/>
              </a:spcAft>
            </a:pPr>
            <a:r>
              <a:rPr sz="1400" b="0">
                <a:solidFill>
                  <a:srgbClr val="CBD5E1"/>
                </a:solidFill>
                <a:latin typeface="Inter"/>
              </a:rPr>
              <a:t>On the untuned </a:t>
            </a:r>
            <a:r>
              <a:rPr sz="1288" b="0">
                <a:solidFill>
                  <a:srgbClr val="00D4AA"/>
                </a:solidFill>
                <a:latin typeface="JetBrains Mono"/>
              </a:rPr>
              <a:t>slow_provider</a:t>
            </a:r>
            <a:r>
              <a:rPr sz="1400" b="0">
                <a:solidFill>
                  <a:srgbClr val="CBD5E1"/>
                </a:solidFill>
                <a:latin typeface="Inter"/>
              </a:rPr>
              <a:t>, the Atlas fast-burn alert goes pending at 12:13 and fires at 12:15</a:t>
            </a:r>
          </a:p>
        </p:txBody>
      </p:sp>
      <p:graphicFrame>
        <p:nvGraphicFramePr>
          <p:cNvPr id="6" name="Table 5"/>
          <p:cNvGraphicFramePr>
            <a:graphicFrameLocks noGrp="1"/>
          </p:cNvGraphicFramePr>
          <p:nvPr/>
        </p:nvGraphicFramePr>
        <p:xfrm>
          <a:off x="457200" y="2011680"/>
          <a:ext cx="11292838" cy="1755648"/>
        </p:xfrm>
        <a:graphic>
          <a:graphicData uri="http://schemas.openxmlformats.org/drawingml/2006/table">
            <a:tbl>
              <a:tblPr firstRow="1" bandRow="1">
                <a:tableStyleId>{5C22544A-7EE6-4342-B048-85BDC9FD1C3A}</a:tableStyleId>
              </a:tblPr>
              <a:tblGrid>
                <a:gridCol w="3482838"/>
                <a:gridCol w="949865"/>
                <a:gridCol w="1160946"/>
                <a:gridCol w="1266486"/>
                <a:gridCol w="3799460"/>
                <a:gridCol w="633243"/>
              </a:tblGrid>
              <a:tr h="438912">
                <a:tc>
                  <a:txBody>
                    <a:bodyPr wrap="square"/>
                    <a:lstStyle/>
                    <a:p>
                      <a:r>
                        <a:rPr sz="1400" b="1">
                          <a:solidFill>
                            <a:srgbClr val="0A1628"/>
                          </a:solidFill>
                          <a:latin typeface="Inter"/>
                        </a:rPr>
                        <a:t>Alert</a:t>
                      </a:r>
                    </a:p>
                  </a:txBody>
                  <a:tcPr marL="91440" marR="91440" marT="45720" marB="45720" anchor="ctr">
                    <a:solidFill>
                      <a:srgbClr val="00D4AA"/>
                    </a:solidFill>
                  </a:tcPr>
                </a:tc>
                <a:tc>
                  <a:txBody>
                    <a:bodyPr wrap="square"/>
                    <a:lstStyle/>
                    <a:p>
                      <a:r>
                        <a:rPr sz="1400" b="1">
                          <a:solidFill>
                            <a:srgbClr val="0A1628"/>
                          </a:solidFill>
                          <a:latin typeface="Inter"/>
                        </a:rPr>
                        <a:t>Burn rate</a:t>
                      </a:r>
                    </a:p>
                  </a:txBody>
                  <a:tcPr marL="91440" marR="91440" marT="45720" marB="45720" anchor="ctr">
                    <a:solidFill>
                      <a:srgbClr val="00D4AA"/>
                    </a:solidFill>
                  </a:tcPr>
                </a:tc>
                <a:tc>
                  <a:txBody>
                    <a:bodyPr wrap="square"/>
                    <a:lstStyle/>
                    <a:p>
                      <a:r>
                        <a:rPr sz="1400" b="1">
                          <a:solidFill>
                            <a:srgbClr val="0A1628"/>
                          </a:solidFill>
                          <a:latin typeface="Inter"/>
                        </a:rPr>
                        <a:t>Long window</a:t>
                      </a:r>
                    </a:p>
                  </a:txBody>
                  <a:tcPr marL="91440" marR="91440" marT="45720" marB="45720" anchor="ctr">
                    <a:solidFill>
                      <a:srgbClr val="00D4AA"/>
                    </a:solidFill>
                  </a:tcPr>
                </a:tc>
                <a:tc>
                  <a:txBody>
                    <a:bodyPr wrap="square"/>
                    <a:lstStyle/>
                    <a:p>
                      <a:r>
                        <a:rPr sz="1400" b="1">
                          <a:solidFill>
                            <a:srgbClr val="0A1628"/>
                          </a:solidFill>
                          <a:latin typeface="Inter"/>
                        </a:rPr>
                        <a:t>Short window</a:t>
                      </a:r>
                    </a:p>
                  </a:txBody>
                  <a:tcPr marL="91440" marR="91440" marT="45720" marB="45720" anchor="ctr">
                    <a:solidFill>
                      <a:srgbClr val="00D4AA"/>
                    </a:solidFill>
                  </a:tcPr>
                </a:tc>
                <a:tc>
                  <a:txBody>
                    <a:bodyPr wrap="square"/>
                    <a:lstStyle/>
                    <a:p>
                      <a:r>
                        <a:rPr sz="1400" b="1">
                          <a:solidFill>
                            <a:srgbClr val="0A1628"/>
                          </a:solidFill>
                          <a:latin typeface="Inter"/>
                        </a:rPr>
                        <a:t>Meaning at a 95% SLO</a:t>
                      </a:r>
                    </a:p>
                  </a:txBody>
                  <a:tcPr marL="91440" marR="91440" marT="45720" marB="45720" anchor="ctr">
                    <a:solidFill>
                      <a:srgbClr val="00D4AA"/>
                    </a:solidFill>
                  </a:tcPr>
                </a:tc>
                <a:tc>
                  <a:txBody>
                    <a:bodyPr wrap="square"/>
                    <a:lstStyle/>
                    <a:p>
                      <a:r>
                        <a:rPr sz="1400" b="1">
                          <a:solidFill>
                            <a:srgbClr val="0A1628"/>
                          </a:solidFill>
                          <a:latin typeface="Inter"/>
                        </a:rPr>
                        <a:t>Action</a:t>
                      </a:r>
                    </a:p>
                  </a:txBody>
                  <a:tcPr marL="91440" marR="91440" marT="45720" marB="45720" anchor="ctr">
                    <a:solidFill>
                      <a:srgbClr val="00D4AA"/>
                    </a:solidFill>
                  </a:tcPr>
                </a:tc>
              </a:tr>
              <a:tr h="438912">
                <a:tc>
                  <a:txBody>
                    <a:bodyPr wrap="square"/>
                    <a:lstStyle/>
                    <a:p>
                      <a:r>
                        <a:rPr sz="1400" b="1">
                          <a:solidFill>
                            <a:srgbClr val="FFFFFF"/>
                          </a:solidFill>
                          <a:latin typeface="Inter"/>
                        </a:rPr>
                        <a:t>Textbook fast burn (SRE workbook)</a:t>
                      </a:r>
                    </a:p>
                  </a:txBody>
                  <a:tcPr marL="91440" marR="91440" marT="45720" marB="45720" anchor="ctr">
                    <a:solidFill>
                      <a:srgbClr val="1A2742"/>
                    </a:solidFill>
                  </a:tcPr>
                </a:tc>
                <a:tc>
                  <a:txBody>
                    <a:bodyPr wrap="square"/>
                    <a:lstStyle/>
                    <a:p>
                      <a:r>
                        <a:rPr sz="1400" b="0">
                          <a:solidFill>
                            <a:srgbClr val="FFFFFF"/>
                          </a:solidFill>
                          <a:latin typeface="Inter"/>
                        </a:rPr>
                        <a:t>14.4×</a:t>
                      </a:r>
                    </a:p>
                  </a:txBody>
                  <a:tcPr marL="91440" marR="91440" marT="45720" marB="45720" anchor="ctr">
                    <a:solidFill>
                      <a:srgbClr val="1A2742"/>
                    </a:solidFill>
                  </a:tcPr>
                </a:tc>
                <a:tc>
                  <a:txBody>
                    <a:bodyPr wrap="square"/>
                    <a:lstStyle/>
                    <a:p>
                      <a:r>
                        <a:rPr sz="1400" b="0">
                          <a:solidFill>
                            <a:srgbClr val="FFFFFF"/>
                          </a:solidFill>
                          <a:latin typeface="Inter"/>
                        </a:rPr>
                        <a:t>1 h</a:t>
                      </a:r>
                    </a:p>
                  </a:txBody>
                  <a:tcPr marL="91440" marR="91440" marT="45720" marB="45720" anchor="ctr">
                    <a:solidFill>
                      <a:srgbClr val="1A2742"/>
                    </a:solidFill>
                  </a:tcPr>
                </a:tc>
                <a:tc>
                  <a:txBody>
                    <a:bodyPr wrap="square"/>
                    <a:lstStyle/>
                    <a:p>
                      <a:r>
                        <a:rPr sz="1400" b="0">
                          <a:solidFill>
                            <a:srgbClr val="FFFFFF"/>
                          </a:solidFill>
                          <a:latin typeface="Inter"/>
                        </a:rPr>
                        <a:t>5 min</a:t>
                      </a:r>
                    </a:p>
                  </a:txBody>
                  <a:tcPr marL="91440" marR="91440" marT="45720" marB="45720" anchor="ctr">
                    <a:solidFill>
                      <a:srgbClr val="1A2742"/>
                    </a:solidFill>
                  </a:tcPr>
                </a:tc>
                <a:tc>
                  <a:txBody>
                    <a:bodyPr wrap="square"/>
                    <a:lstStyle/>
                    <a:p>
                      <a:r>
                        <a:rPr sz="1400" b="0">
                          <a:solidFill>
                            <a:srgbClr val="FFFFFF"/>
                          </a:solidFill>
                          <a:latin typeface="Inter"/>
                        </a:rPr>
                        <a:t>72% of requests bad for an hour</a:t>
                      </a:r>
                    </a:p>
                  </a:txBody>
                  <a:tcPr marL="91440" marR="91440" marT="45720" marB="45720" anchor="ctr">
                    <a:solidFill>
                      <a:srgbClr val="1A2742"/>
                    </a:solidFill>
                  </a:tcPr>
                </a:tc>
                <a:tc>
                  <a:txBody>
                    <a:bodyPr wrap="square"/>
                    <a:lstStyle/>
                    <a:p>
                      <a:r>
                        <a:rPr sz="1400" b="0">
                          <a:solidFill>
                            <a:srgbClr val="FFFFFF"/>
                          </a:solidFill>
                          <a:latin typeface="Inter"/>
                        </a:rPr>
                        <a:t>page</a:t>
                      </a:r>
                    </a:p>
                  </a:txBody>
                  <a:tcPr marL="91440" marR="91440" marT="45720" marB="45720" anchor="ctr">
                    <a:solidFill>
                      <a:srgbClr val="1A2742"/>
                    </a:solidFill>
                  </a:tcPr>
                </a:tc>
              </a:tr>
              <a:tr h="438912">
                <a:tc>
                  <a:txBody>
                    <a:bodyPr wrap="square"/>
                    <a:lstStyle/>
                    <a:p>
                      <a:r>
                        <a:rPr sz="1400" b="1">
                          <a:solidFill>
                            <a:srgbClr val="FFFFFF"/>
                          </a:solidFill>
                          <a:latin typeface="Inter"/>
                        </a:rPr>
                        <a:t>Atlas fast burn</a:t>
                      </a:r>
                    </a:p>
                  </a:txBody>
                  <a:tcPr marL="91440" marR="91440" marT="45720" marB="45720" anchor="ctr">
                    <a:solidFill>
                      <a:srgbClr val="0F1E35"/>
                    </a:solidFill>
                  </a:tcPr>
                </a:tc>
                <a:tc>
                  <a:txBody>
                    <a:bodyPr wrap="square"/>
                    <a:lstStyle/>
                    <a:p>
                      <a:r>
                        <a:rPr sz="1400" b="0">
                          <a:solidFill>
                            <a:srgbClr val="FFFFFF"/>
                          </a:solidFill>
                          <a:latin typeface="Inter"/>
                        </a:rPr>
                        <a:t>6×</a:t>
                      </a:r>
                    </a:p>
                  </a:txBody>
                  <a:tcPr marL="91440" marR="91440" marT="45720" marB="45720" anchor="ctr">
                    <a:solidFill>
                      <a:srgbClr val="0F1E35"/>
                    </a:solidFill>
                  </a:tcPr>
                </a:tc>
                <a:tc>
                  <a:txBody>
                    <a:bodyPr wrap="square"/>
                    <a:lstStyle/>
                    <a:p>
                      <a:r>
                        <a:rPr sz="1400" b="0">
                          <a:solidFill>
                            <a:srgbClr val="FFFFFF"/>
                          </a:solidFill>
                          <a:latin typeface="Inter"/>
                        </a:rPr>
                        <a:t>30 min</a:t>
                      </a:r>
                    </a:p>
                  </a:txBody>
                  <a:tcPr marL="91440" marR="91440" marT="45720" marB="45720" anchor="ctr">
                    <a:solidFill>
                      <a:srgbClr val="0F1E35"/>
                    </a:solidFill>
                  </a:tcPr>
                </a:tc>
                <a:tc>
                  <a:txBody>
                    <a:bodyPr wrap="square"/>
                    <a:lstStyle/>
                    <a:p>
                      <a:r>
                        <a:rPr sz="1400" b="0">
                          <a:solidFill>
                            <a:srgbClr val="FFFFFF"/>
                          </a:solidFill>
                          <a:latin typeface="Inter"/>
                        </a:rPr>
                        <a:t>5 min</a:t>
                      </a:r>
                    </a:p>
                  </a:txBody>
                  <a:tcPr marL="91440" marR="91440" marT="45720" marB="45720" anchor="ctr">
                    <a:solidFill>
                      <a:srgbClr val="0F1E35"/>
                    </a:solidFill>
                  </a:tcPr>
                </a:tc>
                <a:tc>
                  <a:txBody>
                    <a:bodyPr wrap="square"/>
                    <a:lstStyle/>
                    <a:p>
                      <a:r>
                        <a:rPr sz="1400" b="0">
                          <a:solidFill>
                            <a:srgbClr val="FFFFFF"/>
                          </a:solidFill>
                          <a:latin typeface="Inter"/>
                        </a:rPr>
                        <a:t>30% of requests bad for half an hour</a:t>
                      </a:r>
                    </a:p>
                  </a:txBody>
                  <a:tcPr marL="91440" marR="91440" marT="45720" marB="45720" anchor="ctr">
                    <a:solidFill>
                      <a:srgbClr val="0F1E35"/>
                    </a:solidFill>
                  </a:tcPr>
                </a:tc>
                <a:tc>
                  <a:txBody>
                    <a:bodyPr wrap="square"/>
                    <a:lstStyle/>
                    <a:p>
                      <a:r>
                        <a:rPr sz="1400" b="0">
                          <a:solidFill>
                            <a:srgbClr val="FFFFFF"/>
                          </a:solidFill>
                          <a:latin typeface="Inter"/>
                        </a:rPr>
                        <a:t>page</a:t>
                      </a:r>
                    </a:p>
                  </a:txBody>
                  <a:tcPr marL="91440" marR="91440" marT="45720" marB="45720" anchor="ctr">
                    <a:solidFill>
                      <a:srgbClr val="0F1E35"/>
                    </a:solidFill>
                  </a:tcPr>
                </a:tc>
              </a:tr>
              <a:tr h="438912">
                <a:tc>
                  <a:txBody>
                    <a:bodyPr wrap="square"/>
                    <a:lstStyle/>
                    <a:p>
                      <a:r>
                        <a:rPr sz="1400" b="1">
                          <a:solidFill>
                            <a:srgbClr val="FFFFFF"/>
                          </a:solidFill>
                          <a:latin typeface="Inter"/>
                        </a:rPr>
                        <a:t>Atlas slow burn</a:t>
                      </a:r>
                    </a:p>
                  </a:txBody>
                  <a:tcPr marL="91440" marR="91440" marT="45720" marB="45720" anchor="ctr">
                    <a:solidFill>
                      <a:srgbClr val="1A2742"/>
                    </a:solidFill>
                  </a:tcPr>
                </a:tc>
                <a:tc>
                  <a:txBody>
                    <a:bodyPr wrap="square"/>
                    <a:lstStyle/>
                    <a:p>
                      <a:r>
                        <a:rPr sz="1400" b="0">
                          <a:solidFill>
                            <a:srgbClr val="FFFFFF"/>
                          </a:solidFill>
                          <a:latin typeface="Inter"/>
                        </a:rPr>
                        <a:t>1×</a:t>
                      </a:r>
                    </a:p>
                  </a:txBody>
                  <a:tcPr marL="91440" marR="91440" marT="45720" marB="45720" anchor="ctr">
                    <a:solidFill>
                      <a:srgbClr val="1A2742"/>
                    </a:solidFill>
                  </a:tcPr>
                </a:tc>
                <a:tc>
                  <a:txBody>
                    <a:bodyPr wrap="square"/>
                    <a:lstStyle/>
                    <a:p>
                      <a:r>
                        <a:rPr sz="1400" b="0">
                          <a:solidFill>
                            <a:srgbClr val="FFFFFF"/>
                          </a:solidFill>
                          <a:latin typeface="Inter"/>
                        </a:rPr>
                        <a:t>3 days</a:t>
                      </a:r>
                    </a:p>
                  </a:txBody>
                  <a:tcPr marL="91440" marR="91440" marT="45720" marB="45720" anchor="ctr">
                    <a:solidFill>
                      <a:srgbClr val="1A2742"/>
                    </a:solidFill>
                  </a:tcPr>
                </a:tc>
                <a:tc>
                  <a:txBody>
                    <a:bodyPr wrap="square"/>
                    <a:lstStyle/>
                    <a:p>
                      <a:r>
                        <a:rPr sz="1400" b="0">
                          <a:solidFill>
                            <a:srgbClr val="FFFFFF"/>
                          </a:solidFill>
                          <a:latin typeface="Inter"/>
                        </a:rPr>
                        <a:t>6 h</a:t>
                      </a:r>
                    </a:p>
                  </a:txBody>
                  <a:tcPr marL="91440" marR="91440" marT="45720" marB="45720" anchor="ctr">
                    <a:solidFill>
                      <a:srgbClr val="1A2742"/>
                    </a:solidFill>
                  </a:tcPr>
                </a:tc>
                <a:tc>
                  <a:txBody>
                    <a:bodyPr wrap="square"/>
                    <a:lstStyle/>
                    <a:p>
                      <a:r>
                        <a:rPr sz="1400" b="0">
                          <a:solidFill>
                            <a:srgbClr val="FFFFFF"/>
                          </a:solidFill>
                          <a:latin typeface="Inter"/>
                        </a:rPr>
                        <a:t>on track to spend the whole budget</a:t>
                      </a:r>
                    </a:p>
                  </a:txBody>
                  <a:tcPr marL="91440" marR="91440" marT="45720" marB="45720" anchor="ctr">
                    <a:solidFill>
                      <a:srgbClr val="1A2742"/>
                    </a:solidFill>
                  </a:tcPr>
                </a:tc>
                <a:tc>
                  <a:txBody>
                    <a:bodyPr wrap="square"/>
                    <a:lstStyle/>
                    <a:p>
                      <a:r>
                        <a:rPr sz="1400" b="0">
                          <a:solidFill>
                            <a:srgbClr val="FFFFFF"/>
                          </a:solidFill>
                          <a:latin typeface="Inter"/>
                        </a:rPr>
                        <a:t>ticket</a:t>
                      </a:r>
                    </a:p>
                  </a:txBody>
                  <a:tcPr marL="91440" marR="91440" marT="45720" marB="45720" anchor="ctr">
                    <a:solidFill>
                      <a:srgbClr val="1A2742"/>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09 · Lecture 9.1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Presenting to leadership</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One page: six SLIs, target, this week, trend arrow, budget remaining</a:t>
            </a:r>
          </a:p>
          <a:p>
            <a:pPr marL="292608" indent="-292608">
              <a:lnSpc>
                <a:spcPct val="120000"/>
              </a:lnSpc>
              <a:spcAft>
                <a:spcPts val="1260"/>
              </a:spcAft>
              <a:buClr>
                <a:srgbClr val="00D4AA"/>
              </a:buClr>
              <a:buFont typeface="Inter"/>
              <a:buChar char="•"/>
            </a:pPr>
            <a:r>
              <a:rPr sz="1800" b="0">
                <a:solidFill>
                  <a:srgbClr val="FFFFFF"/>
                </a:solidFill>
                <a:latin typeface="Inter"/>
              </a:rPr>
              <a:t>Green, amber, red; no charts on the summary page</a:t>
            </a:r>
          </a:p>
          <a:p>
            <a:pPr marL="292608" indent="-292608">
              <a:lnSpc>
                <a:spcPct val="120000"/>
              </a:lnSpc>
              <a:spcAft>
                <a:spcPts val="1260"/>
              </a:spcAft>
              <a:buClr>
                <a:srgbClr val="00D4AA"/>
              </a:buClr>
              <a:buFont typeface="Inter"/>
              <a:buChar char="•"/>
            </a:pPr>
            <a:r>
              <a:rPr sz="1800" b="0">
                <a:solidFill>
                  <a:srgbClr val="FFFFFF"/>
                </a:solidFill>
                <a:latin typeface="Inter"/>
              </a:rPr>
              <a:t>Cost per resolved session and task success on the same line: quality and cost together</a:t>
            </a:r>
          </a:p>
          <a:p>
            <a:pPr marL="292608" indent="-292608">
              <a:lnSpc>
                <a:spcPct val="120000"/>
              </a:lnSpc>
              <a:spcAft>
                <a:spcPts val="1260"/>
              </a:spcAft>
              <a:buClr>
                <a:srgbClr val="00D4AA"/>
              </a:buClr>
              <a:buFont typeface="Inter"/>
              <a:buChar char="•"/>
            </a:pPr>
            <a:r>
              <a:rPr sz="1800" b="0">
                <a:solidFill>
                  <a:srgbClr val="FFFFFF"/>
                </a:solidFill>
                <a:latin typeface="Inter"/>
              </a:rPr>
              <a:t>"We have 40% of our latency budget left this month; we're pausing the model swap until it rolls over"</a:t>
            </a:r>
          </a:p>
          <a:p>
            <a:pPr marL="292608" indent="-292608">
              <a:lnSpc>
                <a:spcPct val="120000"/>
              </a:lnSpc>
              <a:spcAft>
                <a:spcPts val="1260"/>
              </a:spcAft>
              <a:buClr>
                <a:srgbClr val="00D4AA"/>
              </a:buClr>
              <a:buFont typeface="Inter"/>
              <a:buChar char="•"/>
            </a:pPr>
            <a:r>
              <a:rPr sz="1800" b="0">
                <a:solidFill>
                  <a:srgbClr val="FFFFFF"/>
                </a:solidFill>
                <a:latin typeface="Inter"/>
              </a:rPr>
              <a:t>The dashboard in 9.3 has this as its top row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09 · Lecture 9.1</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Code-along: Prometheus metrics from Atlas</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The SLIs need numbers.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09 · Lecture 9.2</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9 · DASHBOARDS, SLOS AND ALERTING</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9.2</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Code-along: Prometheus metrics from Atlas</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Mount </a:t>
            </a:r>
            <a:r>
              <a:rPr sz="1472" b="0">
                <a:solidFill>
                  <a:srgbClr val="00D4AA"/>
                </a:solidFill>
                <a:latin typeface="JetBrains Mono"/>
              </a:rPr>
              <a:t>/metrics</a:t>
            </a:r>
            <a:r>
              <a:rPr sz="1600" b="0">
                <a:solidFill>
                  <a:srgbClr val="CBD5E1"/>
                </a:solidFill>
                <a:latin typeface="Inter"/>
              </a:rPr>
              <a:t> with </a:t>
            </a:r>
            <a:r>
              <a:rPr sz="1472" b="0">
                <a:solidFill>
                  <a:srgbClr val="00D4AA"/>
                </a:solidFill>
                <a:latin typeface="JetBrains Mono"/>
              </a:rPr>
              <a:t>make_asgi_app()</a:t>
            </a:r>
            <a:r>
              <a:rPr sz="1600" b="0">
                <a:solidFill>
                  <a:srgbClr val="CBD5E1"/>
                </a:solidFill>
                <a:latin typeface="Inter"/>
              </a:rPr>
              <a:t>, define every counter and histogram with low-cardinality labels in one file, and scrape it with the compose stack.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09 · Lecture 9.2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One file, one convention</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All metrics in </a:t>
            </a:r>
            <a:r>
              <a:rPr sz="1656" b="0">
                <a:solidFill>
                  <a:srgbClr val="00D4AA"/>
                </a:solidFill>
                <a:latin typeface="JetBrains Mono"/>
              </a:rPr>
              <a:t>telemetry/metrics.py</a:t>
            </a:r>
            <a:r>
              <a:rPr sz="1800" b="0">
                <a:solidFill>
                  <a:srgbClr val="FFFFFF"/>
                </a:solidFill>
                <a:latin typeface="Inter"/>
              </a:rPr>
              <a:t>; nothing defines a metric anywhere else</a:t>
            </a:r>
          </a:p>
          <a:p>
            <a:pPr marL="292608" indent="-292608">
              <a:lnSpc>
                <a:spcPct val="120000"/>
              </a:lnSpc>
              <a:spcAft>
                <a:spcPts val="1260"/>
              </a:spcAft>
              <a:buClr>
                <a:srgbClr val="00D4AA"/>
              </a:buClr>
              <a:buFont typeface="Inter"/>
              <a:buChar char="•"/>
            </a:pPr>
            <a:r>
              <a:rPr sz="1800" b="0">
                <a:solidFill>
                  <a:srgbClr val="FFFFFF"/>
                </a:solidFill>
                <a:latin typeface="Inter"/>
              </a:rPr>
              <a:t>Names: </a:t>
            </a:r>
            <a:r>
              <a:rPr sz="1656" b="0">
                <a:solidFill>
                  <a:srgbClr val="00D4AA"/>
                </a:solidFill>
                <a:latin typeface="JetBrains Mono"/>
              </a:rPr>
              <a:t>atlas_&lt;thing&gt;&lt;unit&gt;_total</a:t>
            </a:r>
            <a:r>
              <a:rPr sz="1800" b="0">
                <a:solidFill>
                  <a:srgbClr val="FFFFFF"/>
                </a:solidFill>
                <a:latin typeface="Inter"/>
              </a:rPr>
              <a:t> for counters, </a:t>
            </a:r>
            <a:r>
              <a:rPr sz="1656" b="0">
                <a:solidFill>
                  <a:srgbClr val="00D4AA"/>
                </a:solidFill>
                <a:latin typeface="JetBrains Mono"/>
              </a:rPr>
              <a:t>atlas&lt;thing&gt;_seconds</a:t>
            </a:r>
            <a:r>
              <a:rPr sz="1800" b="0">
                <a:solidFill>
                  <a:srgbClr val="FFFFFF"/>
                </a:solidFill>
                <a:latin typeface="Inter"/>
              </a:rPr>
              <a:t> for histograms</a:t>
            </a:r>
          </a:p>
          <a:p>
            <a:pPr marL="292608" indent="-292608">
              <a:lnSpc>
                <a:spcPct val="120000"/>
              </a:lnSpc>
              <a:spcAft>
                <a:spcPts val="1260"/>
              </a:spcAft>
              <a:buClr>
                <a:srgbClr val="00D4AA"/>
              </a:buClr>
              <a:buFont typeface="Inter"/>
              <a:buChar char="•"/>
            </a:pPr>
            <a:r>
              <a:rPr sz="1800" b="0">
                <a:solidFill>
                  <a:srgbClr val="FFFFFF"/>
                </a:solidFill>
                <a:latin typeface="Inter"/>
              </a:rPr>
              <a:t>Label allow-list: </a:t>
            </a:r>
            <a:r>
              <a:rPr sz="1656" b="0">
                <a:solidFill>
                  <a:srgbClr val="00D4AA"/>
                </a:solidFill>
                <a:latin typeface="JetBrains Mono"/>
              </a:rPr>
              <a:t>tenant</a:t>
            </a:r>
            <a:r>
              <a:rPr sz="1800" b="0">
                <a:solidFill>
                  <a:srgbClr val="FFFFFF"/>
                </a:solidFill>
                <a:latin typeface="Inter"/>
              </a:rPr>
              <a:t> (4), </a:t>
            </a:r>
            <a:r>
              <a:rPr sz="1656" b="0">
                <a:solidFill>
                  <a:srgbClr val="00D4AA"/>
                </a:solidFill>
                <a:latin typeface="JetBrains Mono"/>
              </a:rPr>
              <a:t>feature</a:t>
            </a:r>
            <a:r>
              <a:rPr sz="1800" b="0">
                <a:solidFill>
                  <a:srgbClr val="FFFFFF"/>
                </a:solidFill>
                <a:latin typeface="Inter"/>
              </a:rPr>
              <a:t> (6), </a:t>
            </a:r>
            <a:r>
              <a:rPr sz="1656" b="0">
                <a:solidFill>
                  <a:srgbClr val="00D4AA"/>
                </a:solidFill>
                <a:latin typeface="JetBrains Mono"/>
              </a:rPr>
              <a:t>model</a:t>
            </a:r>
            <a:r>
              <a:rPr sz="1800" b="0">
                <a:solidFill>
                  <a:srgbClr val="FFFFFF"/>
                </a:solidFill>
                <a:latin typeface="Inter"/>
              </a:rPr>
              <a:t> (4), </a:t>
            </a:r>
            <a:r>
              <a:rPr sz="1656" b="0">
                <a:solidFill>
                  <a:srgbClr val="00D4AA"/>
                </a:solidFill>
                <a:latin typeface="JetBrains Mono"/>
              </a:rPr>
              <a:t>tool</a:t>
            </a:r>
            <a:r>
              <a:rPr sz="1800" b="0">
                <a:solidFill>
                  <a:srgbClr val="FFFFFF"/>
                </a:solidFill>
                <a:latin typeface="Inter"/>
              </a:rPr>
              <a:t> (5), </a:t>
            </a:r>
            <a:r>
              <a:rPr sz="1656" b="0">
                <a:solidFill>
                  <a:srgbClr val="00D4AA"/>
                </a:solidFill>
                <a:latin typeface="JetBrains Mono"/>
              </a:rPr>
              <a:t>kind</a:t>
            </a:r>
            <a:r>
              <a:rPr sz="1800" b="0">
                <a:solidFill>
                  <a:srgbClr val="FFFFFF"/>
                </a:solidFill>
                <a:latin typeface="Inter"/>
              </a:rPr>
              <a:t>, </a:t>
            </a:r>
            <a:r>
              <a:rPr sz="1656" b="0">
                <a:solidFill>
                  <a:srgbClr val="00D4AA"/>
                </a:solidFill>
                <a:latin typeface="JetBrains Mono"/>
              </a:rPr>
              <a:t>reason</a:t>
            </a:r>
            <a:r>
              <a:rPr sz="1800" b="0">
                <a:solidFill>
                  <a:srgbClr val="FFFFFF"/>
                </a:solidFill>
                <a:latin typeface="Inter"/>
              </a:rPr>
              <a:t>, </a:t>
            </a:r>
            <a:r>
              <a:rPr sz="1656" b="0">
                <a:solidFill>
                  <a:srgbClr val="00D4AA"/>
                </a:solidFill>
                <a:latin typeface="JetBrains Mono"/>
              </a:rPr>
              <a:t>action</a:t>
            </a:r>
            <a:r>
              <a:rPr sz="1800" b="0">
                <a:solidFill>
                  <a:srgbClr val="FFFFFF"/>
                </a:solidFill>
                <a:latin typeface="Inter"/>
              </a:rPr>
              <a:t> (fixed small sets)</a:t>
            </a:r>
          </a:p>
          <a:p>
            <a:pPr marL="292608" indent="-292608">
              <a:lnSpc>
                <a:spcPct val="120000"/>
              </a:lnSpc>
              <a:spcAft>
                <a:spcPts val="1260"/>
              </a:spcAft>
              <a:buClr>
                <a:srgbClr val="00D4AA"/>
              </a:buClr>
              <a:buFont typeface="Inter"/>
              <a:buChar char="•"/>
            </a:pPr>
            <a:r>
              <a:rPr sz="1800" b="0">
                <a:solidFill>
                  <a:srgbClr val="FFFFFF"/>
                </a:solidFill>
                <a:latin typeface="Inter"/>
              </a:rPr>
              <a:t>Never: </a:t>
            </a:r>
            <a:r>
              <a:rPr sz="1656" b="0">
                <a:solidFill>
                  <a:srgbClr val="00D4AA"/>
                </a:solidFill>
                <a:latin typeface="JetBrains Mono"/>
              </a:rPr>
              <a:t>user_id</a:t>
            </a:r>
            <a:r>
              <a:rPr sz="1800" b="0">
                <a:solidFill>
                  <a:srgbClr val="FFFFFF"/>
                </a:solidFill>
                <a:latin typeface="Inter"/>
              </a:rPr>
              <a:t>, </a:t>
            </a:r>
            <a:r>
              <a:rPr sz="1656" b="0">
                <a:solidFill>
                  <a:srgbClr val="00D4AA"/>
                </a:solidFill>
                <a:latin typeface="JetBrains Mono"/>
              </a:rPr>
              <a:t>session_id</a:t>
            </a:r>
            <a:r>
              <a:rPr sz="1800" b="0">
                <a:solidFill>
                  <a:srgbClr val="FFFFFF"/>
                </a:solidFill>
                <a:latin typeface="Inter"/>
              </a:rPr>
              <a:t>, </a:t>
            </a:r>
            <a:r>
              <a:rPr sz="1656" b="0">
                <a:solidFill>
                  <a:srgbClr val="00D4AA"/>
                </a:solidFill>
                <a:latin typeface="JetBrains Mono"/>
              </a:rPr>
              <a:t>trace_id</a:t>
            </a:r>
            <a:r>
              <a:rPr sz="1800" b="0">
                <a:solidFill>
                  <a:srgbClr val="FFFFFF"/>
                </a:solidFill>
                <a:latin typeface="Inter"/>
              </a:rPr>
              <a:t>, free text</a:t>
            </a:r>
          </a:p>
          <a:p>
            <a:pPr marL="292608" indent="-292608">
              <a:lnSpc>
                <a:spcPct val="120000"/>
              </a:lnSpc>
              <a:spcAft>
                <a:spcPts val="1260"/>
              </a:spcAft>
              <a:buClr>
                <a:srgbClr val="00D4AA"/>
              </a:buClr>
              <a:buFont typeface="Inter"/>
              <a:buChar char="•"/>
            </a:pPr>
            <a:r>
              <a:rPr sz="1800" b="0">
                <a:solidFill>
                  <a:srgbClr val="FFFFFF"/>
                </a:solidFill>
                <a:latin typeface="Inter"/>
              </a:rPr>
              <a:t>Worst case series count: about 4 × 6 × 4 = 96 per metric; fine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09 · Lecture 9.2</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Grafana: the Atlas Ops dashboard</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Grafana: the Atlas Ops dashboard, one panel per SLI, a tenant variable, and release annotations from </a:t>
            </a:r>
            <a:r>
              <a:rPr sz="1288" b="0">
                <a:solidFill>
                  <a:srgbClr val="00D4AA"/>
                </a:solidFill>
                <a:latin typeface="JetBrains Mono"/>
              </a:rPr>
              <a:t>atlas_build_info</a:t>
            </a:r>
            <a:r>
              <a:rPr sz="1400" b="0">
                <a:solidFill>
                  <a:srgbClr val="94A3B8"/>
                </a:solidFill>
                <a:latin typeface="Inter"/>
              </a:rPr>
              <a: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09 · Lecture 9.3</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9 · DASHBOARDS, SLOS AND ALERTING</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9.3</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Grafana: the Atlas Ops dashboard</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Import </a:t>
            </a:r>
            <a:r>
              <a:rPr sz="1472" b="0">
                <a:solidFill>
                  <a:srgbClr val="00D4AA"/>
                </a:solidFill>
                <a:latin typeface="JetBrains Mono"/>
              </a:rPr>
              <a:t>atlas-ops.json</a:t>
            </a:r>
            <a:r>
              <a:rPr sz="1600" b="0">
                <a:solidFill>
                  <a:srgbClr val="CBD5E1"/>
                </a:solidFill>
                <a:latin typeface="Inter"/>
              </a:rPr>
              <a:t>, read the PromQL behind each SLI panel, filter by tenant with a variable, and mark releases with annotations from </a:t>
            </a:r>
            <a:r>
              <a:rPr sz="1472" b="0">
                <a:solidFill>
                  <a:srgbClr val="00D4AA"/>
                </a:solidFill>
                <a:latin typeface="JetBrains Mono"/>
              </a:rPr>
              <a:t>atlas_build_info</a:t>
            </a:r>
            <a:r>
              <a:rPr sz="1600" b="0">
                <a:solidFill>
                  <a:srgbClr val="CBD5E1"/>
                </a:solidFill>
                <a:latin typeface="Inter"/>
              </a:rPr>
              <a: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pic>
        <p:nvPicPr>
          <p:cNvPr id="2" name="Picture 1" descr="D11-ops-dashboard.png"/>
          <p:cNvPicPr>
            <a:picLocks noChangeAspect="1"/>
          </p:cNvPicPr>
          <p:nvPr/>
        </p:nvPicPr>
        <p:blipFill>
          <a:blip r:embed="rId3"/>
          <a:stretch>
            <a:fillRect/>
          </a:stretch>
        </p:blipFill>
        <p:spPr>
          <a:xfrm>
            <a:off x="0" y="0"/>
            <a:ext cx="12191695" cy="6857828"/>
          </a:xfrm>
          <a:prstGeom prst="rect">
            <a:avLst/>
          </a:prstGeom>
        </p:spPr>
      </p:pic>
      <p:sp>
        <p:nvSpPr>
          <p:cNvPr id="3" name="TextBox 2"/>
          <p:cNvSpPr txBox="1"/>
          <p:nvPr/>
        </p:nvSpPr>
        <p:spPr>
          <a:xfrm>
            <a:off x="6217920" y="109728"/>
            <a:ext cx="5806440" cy="274320"/>
          </a:xfrm>
          <a:prstGeom prst="rect">
            <a:avLst/>
          </a:prstGeom>
          <a:noFill/>
        </p:spPr>
        <p:txBody>
          <a:bodyPr wrap="square" lIns="45720" rIns="45720" tIns="27432" bIns="27432" anchor="t">
            <a:spAutoFit/>
          </a:bodyPr>
          <a:lstStyle/>
          <a:p>
            <a:pPr algn="r"/>
            <a:r>
              <a:rPr sz="900" b="0">
                <a:solidFill>
                  <a:srgbClr val="64748B"/>
                </a:solidFill>
                <a:latin typeface="Inter"/>
              </a:rPr>
              <a:t>Section 09 · Lecture 9.3 · Row 1: SLOs (the leadership row)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09 · Lecture 9.3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Rows 2 to 4</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57200" y="1325880"/>
            <a:ext cx="4343400" cy="4983480"/>
          </a:xfrm>
          <a:prstGeom prst="rect">
            <a:avLst/>
          </a:prstGeom>
          <a:noFill/>
        </p:spPr>
        <p:txBody>
          <a:bodyPr wrap="square" lIns="45720" rIns="45720" tIns="27432" bIns="27432" anchor="t">
            <a:spAutoFit/>
          </a:bodyPr>
          <a:lstStyle/>
          <a:p>
            <a:pPr marL="292608" indent="-292608">
              <a:lnSpc>
                <a:spcPct val="120000"/>
              </a:lnSpc>
              <a:spcAft>
                <a:spcPts val="1120"/>
              </a:spcAft>
              <a:buClr>
                <a:srgbClr val="00D4AA"/>
              </a:buClr>
              <a:buFont typeface="Inter"/>
              <a:buChar char="•"/>
            </a:pPr>
            <a:r>
              <a:rPr sz="1600" b="0">
                <a:solidFill>
                  <a:srgbClr val="FFFFFF"/>
                </a:solidFill>
                <a:latin typeface="Inter"/>
              </a:rPr>
              <a:t>Cost: spend per hour by tenant (stacked), by model, cache hit rate, budget events, anomalies</a:t>
            </a:r>
          </a:p>
          <a:p>
            <a:pPr marL="292608" indent="-292608">
              <a:lnSpc>
                <a:spcPct val="120000"/>
              </a:lnSpc>
              <a:spcAft>
                <a:spcPts val="1120"/>
              </a:spcAft>
              <a:buClr>
                <a:srgbClr val="00D4AA"/>
              </a:buClr>
              <a:buFont typeface="Inter"/>
              <a:buChar char="•"/>
            </a:pPr>
            <a:r>
              <a:rPr sz="1600" b="0">
                <a:solidFill>
                  <a:srgbClr val="FFFFFF"/>
                </a:solidFill>
                <a:latin typeface="Inter"/>
              </a:rPr>
              <a:t>Reliability: request rate by outcome, fallback rate, retries by reason, escalations by reason, in-flight by tenant</a:t>
            </a:r>
          </a:p>
          <a:p>
            <a:pPr marL="292608" indent="-292608">
              <a:lnSpc>
                <a:spcPct val="120000"/>
              </a:lnSpc>
              <a:spcAft>
                <a:spcPts val="1120"/>
              </a:spcAft>
              <a:buClr>
                <a:srgbClr val="00D4AA"/>
              </a:buClr>
              <a:buFont typeface="Inter"/>
              <a:buChar char="•"/>
            </a:pPr>
            <a:r>
              <a:rPr sz="1600" b="0">
                <a:solidFill>
                  <a:srgbClr val="FFFFFF"/>
                </a:solidFill>
                <a:latin typeface="Inter"/>
              </a:rPr>
              <a:t>Quality and safety: judge means by metric, feedback rate and score, guardrail rates, judge cost</a:t>
            </a:r>
          </a:p>
        </p:txBody>
      </p:sp>
      <p:pic>
        <p:nvPicPr>
          <p:cNvPr id="6" name="Picture 5" descr="D11-ops-dashboard-notitle.png"/>
          <p:cNvPicPr>
            <a:picLocks noChangeAspect="1"/>
          </p:cNvPicPr>
          <p:nvPr/>
        </p:nvPicPr>
        <p:blipFill>
          <a:blip r:embed="rId3"/>
          <a:stretch>
            <a:fillRect/>
          </a:stretch>
        </p:blipFill>
        <p:spPr>
          <a:xfrm>
            <a:off x="4983480" y="2231707"/>
            <a:ext cx="6766560" cy="3171825"/>
          </a:xfrm>
          <a:prstGeom prst="rect">
            <a:avLst/>
          </a:prstGeom>
          <a:ln>
            <a:solidFill>
              <a:srgbClr val="1A2742"/>
            </a:solidFill>
          </a:ln>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09 · Lecture 9.3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Dashboard hygiene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57200" y="1325880"/>
            <a:ext cx="4343400" cy="4983480"/>
          </a:xfrm>
          <a:prstGeom prst="rect">
            <a:avLst/>
          </a:prstGeom>
          <a:noFill/>
        </p:spPr>
        <p:txBody>
          <a:bodyPr wrap="square" lIns="45720" rIns="45720" tIns="27432" bIns="27432" anchor="t">
            <a:spAutoFit/>
          </a:bodyPr>
          <a:lstStyle/>
          <a:p>
            <a:pPr marL="292608" indent="-292608">
              <a:lnSpc>
                <a:spcPct val="120000"/>
              </a:lnSpc>
              <a:spcAft>
                <a:spcPts val="1120"/>
              </a:spcAft>
              <a:buClr>
                <a:srgbClr val="00D4AA"/>
              </a:buClr>
              <a:buFont typeface="Inter"/>
              <a:buChar char="•"/>
            </a:pPr>
            <a:r>
              <a:rPr sz="1600" b="0">
                <a:solidFill>
                  <a:srgbClr val="FFFFFF"/>
                </a:solidFill>
                <a:latin typeface="Inter"/>
              </a:rPr>
              <a:t>Every panel has a unit and a threshold, or it's a diagnostic and lives in a collapsed row</a:t>
            </a:r>
          </a:p>
          <a:p>
            <a:pPr marL="292608" indent="-292608">
              <a:lnSpc>
                <a:spcPct val="120000"/>
              </a:lnSpc>
              <a:spcAft>
                <a:spcPts val="1120"/>
              </a:spcAft>
              <a:buClr>
                <a:srgbClr val="00D4AA"/>
              </a:buClr>
              <a:buFont typeface="Inter"/>
              <a:buChar char="•"/>
            </a:pPr>
            <a:r>
              <a:rPr sz="1600" b="0">
                <a:solidFill>
                  <a:srgbClr val="FFFFFF"/>
                </a:solidFill>
                <a:latin typeface="Inter"/>
              </a:rPr>
              <a:t>Top row is stats, not time series: red or green at a glance</a:t>
            </a:r>
          </a:p>
          <a:p>
            <a:pPr marL="292608" indent="-292608">
              <a:lnSpc>
                <a:spcPct val="120000"/>
              </a:lnSpc>
              <a:spcAft>
                <a:spcPts val="1120"/>
              </a:spcAft>
              <a:buClr>
                <a:srgbClr val="00D4AA"/>
              </a:buClr>
              <a:buFont typeface="Inter"/>
              <a:buChar char="•"/>
            </a:pPr>
            <a:r>
              <a:rPr sz="1600" b="0">
                <a:solidFill>
                  <a:srgbClr val="FFFFFF"/>
                </a:solidFill>
                <a:latin typeface="Inter"/>
              </a:rPr>
              <a:t>The JSON is in git; edits happen in the UI, then export, then commit (export the JSON to </a:t>
            </a:r>
            <a:r>
              <a:rPr sz="1472" b="0">
                <a:solidFill>
                  <a:srgbClr val="00D4AA"/>
                </a:solidFill>
                <a:latin typeface="JetBrains Mono"/>
              </a:rPr>
              <a:t>deploy/grafana/dashboards/atlas-ops.json</a:t>
            </a:r>
            <a:r>
              <a:rPr sz="1600" b="0">
                <a:solidFill>
                  <a:srgbClr val="FFFFFF"/>
                </a:solidFill>
                <a:latin typeface="Inter"/>
              </a:rPr>
              <a:t>)</a:t>
            </a:r>
          </a:p>
          <a:p>
            <a:pPr marL="292608" indent="-292608">
              <a:lnSpc>
                <a:spcPct val="120000"/>
              </a:lnSpc>
              <a:spcAft>
                <a:spcPts val="1120"/>
              </a:spcAft>
              <a:buClr>
                <a:srgbClr val="00D4AA"/>
              </a:buClr>
              <a:buFont typeface="Inter"/>
              <a:buChar char="•"/>
            </a:pPr>
            <a:r>
              <a:rPr sz="1600" b="0">
                <a:solidFill>
                  <a:srgbClr val="FFFFFF"/>
                </a:solidFill>
                <a:latin typeface="Inter"/>
              </a:rPr>
              <a:t>One dashboard per audience: Ops (this one), Finance (cost row only, weekly), Leadership (row 1 only)</a:t>
            </a:r>
          </a:p>
          <a:p>
            <a:pPr marL="292608" indent="-292608">
              <a:lnSpc>
                <a:spcPct val="120000"/>
              </a:lnSpc>
              <a:spcAft>
                <a:spcPts val="1120"/>
              </a:spcAft>
              <a:buClr>
                <a:srgbClr val="00D4AA"/>
              </a:buClr>
              <a:buFont typeface="Inter"/>
              <a:buChar char="•"/>
            </a:pPr>
            <a:r>
              <a:rPr sz="1600" b="0">
                <a:solidFill>
                  <a:srgbClr val="FFFFFF"/>
                </a:solidFill>
                <a:latin typeface="Inter"/>
              </a:rPr>
              <a:t>Annotations for releases, prompt label changes and incidents</a:t>
            </a:r>
          </a:p>
        </p:txBody>
      </p:sp>
      <p:pic>
        <p:nvPicPr>
          <p:cNvPr id="6" name="Picture 5" descr="D11-ops-dashboard-notitle.png"/>
          <p:cNvPicPr>
            <a:picLocks noChangeAspect="1"/>
          </p:cNvPicPr>
          <p:nvPr/>
        </p:nvPicPr>
        <p:blipFill>
          <a:blip r:embed="rId3"/>
          <a:stretch>
            <a:fillRect/>
          </a:stretch>
        </p:blipFill>
        <p:spPr>
          <a:xfrm>
            <a:off x="4983480" y="2231707"/>
            <a:ext cx="6766560" cy="3171825"/>
          </a:xfrm>
          <a:prstGeom prst="rect">
            <a:avLst/>
          </a:prstGeom>
          <a:ln>
            <a:solidFill>
              <a:srgbClr val="1A2742"/>
            </a:solidFill>
          </a:ln>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09 · Lecture 9.3</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Langfuse dashboards and saved views</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Grafana sees metrics.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09 · Lecture 9.4</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9 · DASHBOARDS, SLOS AND ALERTING</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9.4</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Langfuse dashboards and saved views</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Use Langfuse for the questions metrics can't answer, which sessions, which users, which prompt version, and save the views so stakeholders can…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09 · Lecture 9.4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Grafana vs Langfuse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Grafana: rates, percentiles, budgets, alerts. Aggregates over time. No ids.</a:t>
            </a:r>
          </a:p>
          <a:p>
            <a:pPr marL="292608" indent="-292608">
              <a:lnSpc>
                <a:spcPct val="120000"/>
              </a:lnSpc>
              <a:spcAft>
                <a:spcPts val="1260"/>
              </a:spcAft>
              <a:buClr>
                <a:srgbClr val="00D4AA"/>
              </a:buClr>
              <a:buFont typeface="Inter"/>
              <a:buChar char="•"/>
            </a:pPr>
            <a:r>
              <a:rPr sz="1800" b="0">
                <a:solidFill>
                  <a:srgbClr val="FFFFFF"/>
                </a:solidFill>
                <a:latin typeface="Inter"/>
              </a:rPr>
              <a:t>Langfuse: traces, sessions, users, scores, prompts, datasets. Individual things. Every id.</a:t>
            </a:r>
          </a:p>
          <a:p>
            <a:pPr marL="292608" indent="-292608">
              <a:lnSpc>
                <a:spcPct val="120000"/>
              </a:lnSpc>
              <a:spcAft>
                <a:spcPts val="1260"/>
              </a:spcAft>
              <a:buClr>
                <a:srgbClr val="00D4AA"/>
              </a:buClr>
              <a:buFont typeface="Inter"/>
              <a:buChar char="•"/>
            </a:pPr>
            <a:r>
              <a:rPr sz="1800" b="0">
                <a:solidFill>
                  <a:srgbClr val="FFFFFF"/>
                </a:solidFill>
                <a:latin typeface="Inter"/>
              </a:rPr>
              <a:t>Question starts with "how much" or "how often": Grafana</a:t>
            </a:r>
          </a:p>
          <a:p>
            <a:pPr marL="292608" indent="-292608">
              <a:lnSpc>
                <a:spcPct val="120000"/>
              </a:lnSpc>
              <a:spcAft>
                <a:spcPts val="1260"/>
              </a:spcAft>
              <a:buClr>
                <a:srgbClr val="00D4AA"/>
              </a:buClr>
              <a:buFont typeface="Inter"/>
              <a:buChar char="•"/>
            </a:pPr>
            <a:r>
              <a:rPr sz="1800" b="0">
                <a:solidFill>
                  <a:srgbClr val="FFFFFF"/>
                </a:solidFill>
                <a:latin typeface="Inter"/>
              </a:rPr>
              <a:t>Question starts with "which" or "show me": Langfuse</a:t>
            </a:r>
          </a:p>
          <a:p>
            <a:pPr marL="292608" indent="-292608">
              <a:lnSpc>
                <a:spcPct val="120000"/>
              </a:lnSpc>
              <a:spcAft>
                <a:spcPts val="1260"/>
              </a:spcAft>
              <a:buClr>
                <a:srgbClr val="00D4AA"/>
              </a:buClr>
              <a:buFont typeface="Inter"/>
              <a:buChar char="•"/>
            </a:pPr>
            <a:r>
              <a:rPr sz="1800" b="0">
                <a:solidFill>
                  <a:srgbClr val="FFFFFF"/>
                </a:solidFill>
                <a:latin typeface="Inter"/>
              </a:rPr>
              <a:t>Both fed by the same spans and the same numbers (6.3)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09 · Lecture 9.4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weekly review, in views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Cost by tenant and feature (Langfuse) against the showback (report.py)</a:t>
            </a:r>
          </a:p>
          <a:p>
            <a:pPr marL="292608" indent="-292608">
              <a:lnSpc>
                <a:spcPct val="120000"/>
              </a:lnSpc>
              <a:spcAft>
                <a:spcPts val="1260"/>
              </a:spcAft>
              <a:buClr>
                <a:srgbClr val="00D4AA"/>
              </a:buClr>
              <a:buFont typeface="Inter"/>
              <a:buChar char="•"/>
            </a:pPr>
            <a:r>
              <a:rPr sz="1800" b="0">
                <a:solidFill>
                  <a:srgbClr val="FFFFFF"/>
                </a:solidFill>
                <a:latin typeface="Inter"/>
              </a:rPr>
              <a:t>Scores by feature, 14 d, with the low-score filter saved</a:t>
            </a:r>
          </a:p>
          <a:p>
            <a:pPr marL="292608" indent="-292608">
              <a:lnSpc>
                <a:spcPct val="120000"/>
              </a:lnSpc>
              <a:spcAft>
                <a:spcPts val="1260"/>
              </a:spcAft>
              <a:buClr>
                <a:srgbClr val="00D4AA"/>
              </a:buClr>
              <a:buFont typeface="Inter"/>
              <a:buChar char="•"/>
            </a:pPr>
            <a:r>
              <a:rPr sz="1800" b="0">
                <a:solidFill>
                  <a:srgbClr val="FFFFFF"/>
                </a:solidFill>
                <a:latin typeface="Inter"/>
              </a:rPr>
              <a:t>Longest sessions this week, by feature</a:t>
            </a:r>
          </a:p>
          <a:p>
            <a:pPr marL="292608" indent="-292608">
              <a:lnSpc>
                <a:spcPct val="120000"/>
              </a:lnSpc>
              <a:spcAft>
                <a:spcPts val="1260"/>
              </a:spcAft>
              <a:buClr>
                <a:srgbClr val="00D4AA"/>
              </a:buClr>
              <a:buFont typeface="Inter"/>
              <a:buChar char="•"/>
            </a:pPr>
            <a:r>
              <a:rPr sz="1800" b="0">
                <a:solidFill>
                  <a:srgbClr val="FFFFFF"/>
                </a:solidFill>
                <a:latin typeface="Inter"/>
              </a:rPr>
              <a:t>Prompt versions with scores per version</a:t>
            </a:r>
          </a:p>
          <a:p>
            <a:pPr marL="292608" indent="-292608">
              <a:lnSpc>
                <a:spcPct val="120000"/>
              </a:lnSpc>
              <a:spcAft>
                <a:spcPts val="1260"/>
              </a:spcAft>
              <a:buClr>
                <a:srgbClr val="00D4AA"/>
              </a:buClr>
              <a:buFont typeface="Inter"/>
              <a:buChar char="•"/>
            </a:pPr>
            <a:r>
              <a:rPr sz="1800" b="0">
                <a:solidFill>
                  <a:srgbClr val="FFFFFF"/>
                </a:solidFill>
                <a:latin typeface="Inter"/>
              </a:rPr>
              <a:t>Grafana row 1 for the SLOs; this for the "which"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09 · Lecture 9.4</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Alert rules and the runbook</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Dashboards are for when you're looking.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09 · Lecture 9.5</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9 · DASHBOARDS, SLOS AND ALERTING</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9.5</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Alert rules and the runbook</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Read the shipped alert rules in three groups, SLO, cost and quality, each with a severity and a runbook entry, and adopt…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09 · Lecture 9.5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Alert fatigue rules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Page only on user-facing symptoms and budget burn; everything else is a ticket</a:t>
            </a:r>
          </a:p>
          <a:p>
            <a:pPr marL="292608" indent="-292608">
              <a:lnSpc>
                <a:spcPct val="120000"/>
              </a:lnSpc>
              <a:spcAft>
                <a:spcPts val="1260"/>
              </a:spcAft>
              <a:buClr>
                <a:srgbClr val="00D4AA"/>
              </a:buClr>
              <a:buFont typeface="Inter"/>
              <a:buChar char="•"/>
            </a:pPr>
            <a:r>
              <a:rPr sz="1800" b="0">
                <a:solidFill>
                  <a:srgbClr val="FFFFFF"/>
                </a:solidFill>
                <a:latin typeface="Inter"/>
              </a:rPr>
              <a:t>Every alert has a runbook entry with an owner, or it doesn't ship</a:t>
            </a:r>
          </a:p>
          <a:p>
            <a:pPr marL="292608" indent="-292608">
              <a:lnSpc>
                <a:spcPct val="120000"/>
              </a:lnSpc>
              <a:spcAft>
                <a:spcPts val="1260"/>
              </a:spcAft>
              <a:buClr>
                <a:srgbClr val="00D4AA"/>
              </a:buClr>
              <a:buFont typeface="Inter"/>
              <a:buChar char="•"/>
            </a:pPr>
            <a:r>
              <a:rPr sz="1800" b="0">
                <a:solidFill>
                  <a:srgbClr val="FFFFFF"/>
                </a:solidFill>
                <a:latin typeface="Inter"/>
              </a:rPr>
              <a:t>Two windows for anything rate-based; </a:t>
            </a:r>
            <a:r>
              <a:rPr sz="1656" b="0">
                <a:solidFill>
                  <a:srgbClr val="00D4AA"/>
                </a:solidFill>
                <a:latin typeface="JetBrains Mono"/>
              </a:rPr>
              <a:t>for:</a:t>
            </a:r>
            <a:r>
              <a:rPr sz="1800" b="0">
                <a:solidFill>
                  <a:srgbClr val="FFFFFF"/>
                </a:solidFill>
                <a:latin typeface="Inter"/>
              </a:rPr>
              <a:t> on anything else</a:t>
            </a:r>
          </a:p>
          <a:p>
            <a:pPr marL="292608" indent="-292608">
              <a:lnSpc>
                <a:spcPct val="120000"/>
              </a:lnSpc>
              <a:spcAft>
                <a:spcPts val="1260"/>
              </a:spcAft>
              <a:buClr>
                <a:srgbClr val="00D4AA"/>
              </a:buClr>
              <a:buFont typeface="Inter"/>
              <a:buChar char="•"/>
            </a:pPr>
            <a:r>
              <a:rPr sz="1800" b="0">
                <a:solidFill>
                  <a:srgbClr val="FFFFFF"/>
                </a:solidFill>
                <a:latin typeface="Inter"/>
              </a:rPr>
              <a:t>Review the alert log weekly: any alert that fired 3× with no action gets deleted or demoted</a:t>
            </a:r>
          </a:p>
          <a:p>
            <a:pPr marL="292608" indent="-292608">
              <a:lnSpc>
                <a:spcPct val="120000"/>
              </a:lnSpc>
              <a:spcAft>
                <a:spcPts val="1260"/>
              </a:spcAft>
              <a:buClr>
                <a:srgbClr val="00D4AA"/>
              </a:buClr>
              <a:buFont typeface="Inter"/>
              <a:buChar char="•"/>
            </a:pPr>
            <a:r>
              <a:rPr sz="1800" b="0">
                <a:solidFill>
                  <a:srgbClr val="FFFFFF"/>
                </a:solidFill>
                <a:latin typeface="Inter"/>
              </a:rPr>
              <a:t>Test every alert with a replay scenario before it goes live; it's in Lab 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09 · Lecture 9.5</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Lab 6: Ship the dashboard and one alert</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Lab 6 puts it together: stack up, dashboard live, and one alert that fires during a replay.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09 · Lecture 9.6</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9 · DASHBOARDS, SLOS AND ALERTING</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9.6</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Lab 6: Ship the dashboard and one alert</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Bring up the compose stack, get the Atlas Ops dashboard live on replayed traffic, and make one alert fire and clear during…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09 · Lecture 9.6</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Lab 6 checklist (1/2)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656" b="0">
                <a:solidFill>
                  <a:srgbClr val="00D4AA"/>
                </a:solidFill>
                <a:latin typeface="JetBrains Mono"/>
              </a:rPr>
              <a:t>docker compose up</a:t>
            </a:r>
            <a:r>
              <a:rPr sz="1800" b="0">
                <a:solidFill>
                  <a:srgbClr val="FFFFFF"/>
                </a:solidFill>
                <a:latin typeface="Inter"/>
              </a:rPr>
              <a:t>, target UP</a:t>
            </a:r>
          </a:p>
          <a:p>
            <a:pPr marL="292608" indent="-292608">
              <a:lnSpc>
                <a:spcPct val="120000"/>
              </a:lnSpc>
              <a:spcAft>
                <a:spcPts val="1260"/>
              </a:spcAft>
              <a:buClr>
                <a:srgbClr val="00D4AA"/>
              </a:buClr>
              <a:buFont typeface="Inter"/>
              <a:buChar char="•"/>
            </a:pPr>
            <a:r>
              <a:rPr sz="1800" b="0">
                <a:solidFill>
                  <a:srgbClr val="FFFFFF"/>
                </a:solidFill>
                <a:latin typeface="Inter"/>
              </a:rPr>
              <a:t>Top row populated during a normal replay</a:t>
            </a:r>
          </a:p>
          <a:p>
            <a:pPr marL="292608" indent="-292608">
              <a:lnSpc>
                <a:spcPct val="120000"/>
              </a:lnSpc>
              <a:spcAft>
                <a:spcPts val="1260"/>
              </a:spcAft>
              <a:buClr>
                <a:srgbClr val="00D4AA"/>
              </a:buClr>
              <a:buFont typeface="Inter"/>
              <a:buChar char="•"/>
            </a:pPr>
            <a:r>
              <a:rPr sz="1800" b="0">
                <a:solidFill>
                  <a:srgbClr val="FFFFFF"/>
                </a:solidFill>
                <a:latin typeface="Inter"/>
              </a:rPr>
              <a:t>One new panel with unit and threshold, exported to </a:t>
            </a:r>
            <a:r>
              <a:rPr sz="1656" b="0">
                <a:solidFill>
                  <a:srgbClr val="00D4AA"/>
                </a:solidFill>
                <a:latin typeface="JetBrains Mono"/>
              </a:rPr>
              <a:t>atlas-ops.json</a:t>
            </a:r>
          </a:p>
          <a:p>
            <a:pPr marL="292608" indent="-292608">
              <a:lnSpc>
                <a:spcPct val="120000"/>
              </a:lnSpc>
              <a:spcAft>
                <a:spcPts val="1260"/>
              </a:spcAft>
              <a:buClr>
                <a:srgbClr val="00D4AA"/>
              </a:buClr>
              <a:buFont typeface="Inter"/>
              <a:buChar char="•"/>
            </a:pPr>
            <a:r>
              <a:rPr sz="1656" b="0">
                <a:solidFill>
                  <a:srgbClr val="00D4AA"/>
                </a:solidFill>
                <a:latin typeface="JetBrains Mono"/>
              </a:rPr>
              <a:t>retry_storm</a:t>
            </a:r>
            <a:r>
              <a:rPr sz="1800" b="0">
                <a:solidFill>
                  <a:srgbClr val="FFFFFF"/>
                </a:solidFill>
                <a:latin typeface="Inter"/>
              </a:rPr>
              <a:t>: </a:t>
            </a:r>
            <a:r>
              <a:rPr sz="1656" b="0">
                <a:solidFill>
                  <a:srgbClr val="00D4AA"/>
                </a:solidFill>
                <a:latin typeface="JetBrains Mono"/>
              </a:rPr>
              <a:t>AtlasToolErrorRate</a:t>
            </a:r>
            <a:r>
              <a:rPr sz="1800" b="0">
                <a:solidFill>
                  <a:srgbClr val="FFFFFF"/>
                </a:solidFill>
                <a:latin typeface="Inter"/>
              </a:rPr>
              <a:t> firing, screenshot; fixed and cleared, screenshot</a:t>
            </a:r>
          </a:p>
          <a:p>
            <a:pPr marL="292608" indent="-292608">
              <a:lnSpc>
                <a:spcPct val="120000"/>
              </a:lnSpc>
              <a:spcAft>
                <a:spcPts val="1260"/>
              </a:spcAft>
              <a:buClr>
                <a:srgbClr val="00D4AA"/>
              </a:buClr>
              <a:buFont typeface="Inter"/>
              <a:buChar char="•"/>
            </a:pPr>
            <a:r>
              <a:rPr sz="1800" b="0">
                <a:solidFill>
                  <a:srgbClr val="FFFFFF"/>
                </a:solidFill>
                <a:latin typeface="Inter"/>
              </a:rPr>
              <a:t>Stretch: write a fourth alert for refusal rate (8.4) with its runbook entry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09 · Lecture 9.6</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Lab 6 checklist (2/2)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Submit: three screenshots and the exported JSON diff</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09 · Lecture 9.6</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Quiz: SLOs and alerting</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Before the lab, the Section 9 quiz.</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09 · Lecture 9.7</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9 · DASHBOARDS, SLOS AND ALERTING</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9.7</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Quiz: SLOs and alerting</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Check you can compute an error budget and a burn rate, read PromQL for an SLI, and choose page versus ticket.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09 · Lecture 9.7</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Quiz: 6 questions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Error budget and burn rate arithmetic</a:t>
            </a:r>
          </a:p>
          <a:p>
            <a:pPr marL="292608" indent="-292608">
              <a:lnSpc>
                <a:spcPct val="120000"/>
              </a:lnSpc>
              <a:spcAft>
                <a:spcPts val="1539"/>
              </a:spcAft>
              <a:buClr>
                <a:srgbClr val="00D4AA"/>
              </a:buClr>
              <a:buFont typeface="Inter"/>
              <a:buChar char="•"/>
            </a:pPr>
            <a:r>
              <a:rPr sz="2200" b="0">
                <a:solidFill>
                  <a:srgbClr val="FFFFFF"/>
                </a:solidFill>
                <a:latin typeface="Inter"/>
              </a:rPr>
              <a:t>Reading PromQL</a:t>
            </a:r>
          </a:p>
          <a:p>
            <a:pPr marL="292608" indent="-292608">
              <a:lnSpc>
                <a:spcPct val="120000"/>
              </a:lnSpc>
              <a:spcAft>
                <a:spcPts val="1539"/>
              </a:spcAft>
              <a:buClr>
                <a:srgbClr val="00D4AA"/>
              </a:buClr>
              <a:buFont typeface="Inter"/>
              <a:buChar char="•"/>
            </a:pPr>
            <a:r>
              <a:rPr sz="2200" b="0">
                <a:solidFill>
                  <a:srgbClr val="FFFFFF"/>
                </a:solidFill>
                <a:latin typeface="Inter"/>
              </a:rPr>
              <a:t>Page vs ticket</a:t>
            </a:r>
          </a:p>
          <a:p>
            <a:pPr marL="292608" indent="-292608">
              <a:lnSpc>
                <a:spcPct val="120000"/>
              </a:lnSpc>
              <a:spcAft>
                <a:spcPts val="1539"/>
              </a:spcAft>
              <a:buClr>
                <a:srgbClr val="00D4AA"/>
              </a:buClr>
              <a:buFont typeface="Inter"/>
              <a:buChar char="•"/>
            </a:pPr>
            <a:r>
              <a:rPr sz="2200" b="0">
                <a:solidFill>
                  <a:srgbClr val="FFFFFF"/>
                </a:solidFill>
                <a:latin typeface="Inter"/>
              </a:rPr>
              <a:t>Label cardinality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09 · Lecture 9.7</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Your traces are a data breach waiting to happen</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Atlas is observable end to end.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