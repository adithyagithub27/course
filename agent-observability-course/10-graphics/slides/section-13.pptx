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Self-hosting Langfuse with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services. The web container serves the UI and the API you've been calling. A worker processes ingestion asynchronously, which is why traces appear a few seconds after you send them. Postgres holds metadata: users, projects, prompts and labels. ClickHouse holds the big tables: traces, observations and scores. Redis is queues and cache. And an S3-compatible store, MinIO in the local compose, holds raw events and media.</a:t>
            </a:r>
          </a:p>
          <a:p/>
          <a:p>
            <a:r>
              <a:t>Verify this list against the current Langfuse self-host compose file. The architecture moved to ClickHouse in version three, and the exact services and env vars can change between releases.</a:t>
            </a:r>
          </a:p>
          <a:p/>
          <a:p>
            <a:r>
              <a:t>[SCREEN: `deploy/docker-compose.langfuse.yml` in VS Code. Footer visible. Scroll to the `langfuse-web` service.]</a:t>
            </a:r>
          </a:p>
          <a:p/>
          <a:p>
            <a:r>
              <a:t>[CODE: the web service, abbreviated]</a:t>
            </a:r>
          </a:p>
          <a:p/>
          <a:p>
            <a:r>
              <a:t>Look at the environment block, because this is where laptop and production diverge. `NEXTAUTH_SECRET`, `SALT` and `ENCRYPTION_KEY` are secrets Langfuse uses to sign sessions, hash API keys and encrypt stored keys. In the course repo they come from `.env`, and `.env.example` shows you how to generate them: `openssl rand -hex 32` for each, sixty-four hex characters for the encryption key. Never commit the real values, and never reuse the example ones.</a:t>
            </a:r>
          </a:p>
          <a:p/>
          <a:p>
            <a:r>
              <a:t>[SCREEN: Terminal.]</a:t>
            </a:r>
          </a:p>
          <a:p/>
          <a:p>
            <a:r>
              <a:t>[CODE: bring it up]</a:t>
            </a:r>
          </a:p>
          <a:p/>
          <a:p>
            <a:r>
              <a:t>Copy the env example, fill the secrets, and `make langfuse-up`. First start pulls images and runs migrations, so give it two to three minutes. `ps` should show every service healthy. If ClickHouse is restarting, it's almost always memory: it wants a few gigabytes. Check Docker's resource limit before you check anything else.</a:t>
            </a:r>
          </a:p>
          <a:p/>
          <a:p>
            <a:r>
              <a:t>[DEMO: Browser, `localhost:3000`. Sign up the first user. Create organisation "Northwind", project "atlas-dev". Settings → API keys → cre...]</a:t>
            </a:r>
          </a:p>
          <a:p/>
          <a:p>
            <a:r>
              <a:t>Open port three thousand. Sign up; the first user becomes the admin. Create an organisation, Northwind, and a project, `atlas-dev`. Generate API keys. Now the only change on Atlas's side is three lines of env: public key, secret key, and the base URL, which is now localhost instead of the cloud.</a:t>
            </a:r>
          </a:p>
          <a:p/>
          <a:p>
            <a:r>
              <a:t>[CODE: `telemetry/langfuse_setup.py::init_langfuse`, unchanged]</a:t>
            </a:r>
          </a:p>
          <a:p/>
          <a:p>
            <a:r>
              <a:t>`langfuse_setup.py` doesn't change at all. It reads the base URL from settings. That's the portability point from Section 12 in miniature: the same SDK, a different address.</a:t>
            </a:r>
          </a:p>
          <a:p/>
          <a:p>
            <a:r>
              <a:t>[SCREEN: `make run`, curl the VPN question, switch to the local Langfuse. Trace appears after a few seconds.]</a:t>
            </a:r>
          </a:p>
          <a:p/>
          <a:p>
            <a:r>
              <a:t>Run Atlas, one question, and there's the trace in your own Langfuse. Agent span, retriever, generation with cost, tool. Same screen as Lecture 2.3, on your own disk.</a:t>
            </a:r>
          </a:p>
          <a:p/>
          <a:p>
            <a:r>
              <a:t>Now the part that separates a demo from a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Six services. The web container serves the UI and the API you've been calling. A worker processes ingestion asynchronously, which is why traces appear a few seconds after you send them. Postgres holds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In production they come from a secret manager or CI secrets, and they rotate. Persistence. Named volumes on disks you'd trust with a database. Backups. Postgres and ClickHouse, scheduled, and you've tested a restore, because an untested backup is a hope. Upgrades. Read the release notes, back up, then upgrade web and worker together so migrations match. TLS and auth. A reverse proxy in front with a real certificate, and set `NEXTAUTH_URL` to the real domain or logins break. And resources. ClickHouse is the component that grows, so monitor its disk and memory. Retention, from Lecture 10.3, is what keeps it bounded.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should you self-host? When you must, because of residency or egress rules. When volume makes it cheaper and you want full retention control. And not when nobody on your team can own Postgres and ClickHouse in the middle of the night. There's a middle path: Cloud for development, self-hosted for production. Same SDK, different base URL, which is exactly what you just did.</a:t>
            </a:r>
          </a:p>
          <a:p/>
          <a:p>
            <a:r>
              <a:t>Your Langfuse is up. Next, we put a traffic cop in front of it, so Atlas never talks to a backend directly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OTel Collector as the traffic cop.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Memory limiter first, batch last. Mask in the Collector as the second layer, never the only one. Tail sample on error, latency and cost. Credentials in the Collector. And one exporter per backend, added or removed with no change to Atlas.</a:t>
            </a:r>
          </a:p>
          <a:p/>
          <a:p>
            <a:r>
              <a:t>Two containers ago, Atlas talked to a vendor directly. Now it talks to a process you own, which masks, samples and fans out on your terms. Next, the thing that stops regressions from ever reaching this stack: a CI gate on cost and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the CI budget gate.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gate catches: anything deterministic that changes tokens, steps or simulated latency, including config and environment, which is where both of Monday's and Tuesday's causes lived. What it doesn't: provider slowdowns, because the mock is not the provider. Quality regressions, because the mock doesn't judge. Real intent shift. For those you have fallbacks, the breaker, the online judge, drift detection and the live-evals job. The gate is one layer, and it's the cheapest one.</a:t>
            </a:r>
          </a:p>
          <a:p/>
          <a:p>
            <a:r>
              <a:t>Seconds on your laptop, zero dollars, and the config changes behind two of the three incidents from Section 11 never merge. Next, the checklist that makes the whole stack production-ready.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Production readiness checklist for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group: volume. One, a written sampling policy. What head rate the SDK applies, what the Collector keeps regardless. If it's not written, it's whatever someone last typed. Two, volume estimated. Spans per day times bytes per span, projected ninety days. Atlas's replayed day is four thousand sessions and seventy thousand five hundred and sixty spans, about forty megabytes of attributes in the local store. Small. Multiply by your own traffic, and by however much prompt text you capture, and it becomes a budget line. Three, retention set per environment, with an alarm on ClickHouse disk.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group, and the most important: never block a request. Four, back-pressure. The batch processor has a bounded queue, two thousand spans, and when it's full it drops the oldest. Export timeout five seconds. The Langfuse client has the same knobs: flush at fifty, flush every two seconds. Five, a telemetry failure is a warning log and a counter, never an exception that reaches the user; `SafeSpanExporter` wraps every exporter for exactly that, and you'll see it tested in the next lecture. Six, flush on shutdown with a deadline, `shutdown_tracing` with five seconds, so a deploy doesn't lose the last batch, but also doesn't hang for a minute waiting for a dead backend.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group: secrets. Seven, no backend credentials in Atlas; the Collector holds them, from Lecture 13.2. Eight, a project per environment, with keys scoped to each, so a dev key can never write to prod. Nine, masking *tested*. Not configured, tested.</a:t>
            </a:r>
          </a:p>
          <a:p/>
          <a:p>
            <a:r>
              <a:t>[SCREEN: Terminal: `pytest -q tests/unit/test_pii.py` → `15 passed`; `pytest -q tests/integration/test_spans.py -k pii` → `1 passed`.]</a:t>
            </a:r>
          </a:p>
          <a:p/>
          <a:p>
            <a:r>
              <a:t>Fifteen unit tests on the masking functions, and one integration test, `test_no_raw_pii_reaches_any_span`, that runs requests with a fake email, card and employee ID through Atlas and asserts none of them reaches any span. The Collector's redact rules are the second layer, and you check those from the data in Lab 7. Masking that isn't tested drifts the first time someone adds a field.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group. Ten, dashboards as code. `atlas-ops.json` lives in the repo and is provisioned into Grafana at start. A dashboard someone built by hand in the UI dies with their laptop. Langfuse dashboards are UI-built today, so document them with screenshots and the filters they use. Eleven, alert rules in the repo, each linking to a runbook, from Lecture 9.5. Twelve, and the one teams skip: every dashboard and every alert has a named owner. If an alert has no owner, delete it. An alert nobody owns trains everyone to ignore alerts.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done look like? A one-page `OBSERVABILITY.md` in the repo: the policy, the retention, the projects, the owners, how to run the stack. The chaos test from the next lecture passes. The budget gate is a required check for merge. And the real test: a new engineer, given only the README, can answer "why was this session expensive" in under ten minutes.</a:t>
            </a:r>
          </a:p>
          <a:p/>
          <a:p>
            <a:r>
              <a:t>Open `production-checklist.md` and tick what you have. Most students have eight of twelve after Section 13. The four they're missing are almost always the same: volume estimate, tested masking, alert owners and the shutdown deadline. Fix those before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Chaos demo: kill the observability backend.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it work? Five settings from the previous lecture. Export runs on a background thread, so the request never waits. The queue is bounded and drops on overflow. The exporter times out in five seconds, on that background thread. Every exporter is wrapped so an exception becomes a warning and a number. And the Langfuse client behaves the same way.</a:t>
            </a:r>
          </a:p>
          <a:p/>
          <a:p>
            <a:r>
              <a:t>Now let me show you how to break it, because you'll inherit code that does.</a:t>
            </a:r>
          </a:p>
          <a:p/>
          <a:p>
            <a:r>
              <a:t>[SCREEN: Terminal: `pytest -q tests/integration/test_exporter_failure.py` → `3 passed`. Then a ten-line script that configures tracing wi...]</a:t>
            </a:r>
          </a:p>
          <a:p/>
          <a:p>
            <a:r>
              <a:t>The repo turns this demo into tests. Three of them: requests survive an exporter that raises, a slow exporter doesn't block the request path, and the server starts with its OTLP endpoint pointing nowhere. All green.</a:t>
            </a:r>
          </a:p>
          <a:p/>
          <a:p>
            <a:r>
              <a:t>Now let me show you how to break it, because you'll inherit code that does. A fake exporter that takes two hundred milliseconds per export, like a struggling backend. Twenty spans with the batch processor: no measurable time. The same twenty spans with the simple processor, `batch=False`: four seconds. Every span now waits for the export.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`configure_tracing` supports the simple processor because tests are easier to reason about with it. In production it's how a monitoring outage becomes a product outage: two hundred milliseconds per span, a dozen spans per request, and your p95 just grew by seconds. One flag.</a:t>
            </a:r>
          </a:p>
          <a:p/>
          <a:p>
            <a:r>
              <a:t>The second way is a missing or default timeout. A thirty-second exporter timeout means the background thread hangs, the queue fills faster, and worse, `shutdown_tracing` blocks for thirty seconds per batch. Your deploys start timing out. Also one line, which is why `_make_exporter` hard-codes five.</a:t>
            </a:r>
          </a:p>
          <a:p/>
          <a:p>
            <a:r>
              <a:t>[DEMO: `docker compose -f deploy/docker-compose.observability.yml start otel-collector`. Within a minute new traces appear in Phoenix; th...]</a:t>
            </a:r>
          </a:p>
          <a:p/>
          <a:p>
            <a:r>
              <a:t>Bring the Collector back, and within a minute new traces arrive and the failure count stops growing. The dropped spans are gone; there's a gap in the timeline. That's the trade. You lost eight minutes of traces and kept eight minutes of a working helpdesk. Every time, take that trade.</a:t>
            </a:r>
          </a:p>
          <a:p/>
          <a:p>
            <a:r>
              <a:t>Keep those three tests in every repo you run. `test_exporter_failure.py` is under eighty lines, and it protects the most important property this stack has: telemetry can fail, the service can't.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7: Self-hosted stack end to 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steps. Bring up both stacks and get every container healthy. Make sure Atlas exports to the Collector only; if there's a Langfuse key in Atlas's environment, you skipped Lecture 13.2. Drive traffic with the swarm and see it in Langfuse and Grafana. The offline replay won't do here: it writes to the local store and never passes through the Collector or Prometheus.</a:t>
            </a:r>
          </a:p>
          <a:p/>
          <a:p>
            <a:r>
              <a:t>[SCREEN: Phoenix on `localhost:6006`, one `execute_tool lookup_ticket` span's attributes: no `gen_ai.tool.call.result`; `gen_ai.tool.call...]</a:t>
            </a:r>
          </a:p>
          <a:p/>
          <a:p>
            <a:r>
              <a:t>Then prove two things from the data. Open a tool span: the result is gone and the arguments are a hash. Filter to errors and slow traces and confirm they're all there, while normal traffic is sampled down. The config says it works; the data proves it.</a:t>
            </a:r>
          </a:p>
          <a:p/>
          <a:p>
            <a:r>
              <a:t>Get the budget gate green locally, push a branch, and get it green in CI. Then run the chaos test yourself: stop the Collector during a swarm, watch the requests keep coming, and watch the export-failure counter climb and the health endpoint say so.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Seven steps. Bring up both stacks and get every container healthy. Make sure Atlas exports to the Collector only; if there's a Langfuse key in Atlas's environment, you skipped Lecture 13.2. Drive traf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deliverables. Four screenshots and a link to the CI run. Plus three sentences: what would you change before running this for a real team? The checklist from Lecture 13.4 is your prompt.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places people get stuck. ClickHouse restarting means Docker needs more memory. Traces visible in the Collector logs but not in Langfuse means the endpoint path or the auth header is wrong; check the current Langfuse OTLP docs. An empty Grafana dashboard means no live traffic or a down scrape target; check Prometheus's targets page on port nine zero nine one. And a budget gate that fails on a fresh clone almost always means offline mode isn't set.</a:t>
            </a:r>
          </a:p>
          <a:p/>
          <a:p>
            <a:r>
              <a:t>Budget ninety minutes. When it's done, you have the deployment half of the capstone finished before the capstone begins. Post your Grafana screenshot in the Q&amp;A. I want to see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Self-hosting Langfuse with Docker Compose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Start a self-hosted Langfuse with Docker Compose, understand what each container does, and create the first organisation, project and API keys.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is in the box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langfuse-web</a:t>
            </a:r>
            <a:r>
              <a:rPr sz="1800" b="0">
                <a:solidFill>
                  <a:srgbClr val="FFFFFF"/>
                </a:solidFill>
                <a:latin typeface="Inter"/>
              </a:rPr>
              <a:t>: the UI and public API, port 3000</a:t>
            </a:r>
          </a:p>
          <a:p>
            <a:pPr marL="292608" indent="-292608">
              <a:lnSpc>
                <a:spcPct val="120000"/>
              </a:lnSpc>
              <a:spcAft>
                <a:spcPts val="1260"/>
              </a:spcAft>
              <a:buClr>
                <a:srgbClr val="00D4AA"/>
              </a:buClr>
              <a:buFont typeface="Inter"/>
              <a:buChar char="•"/>
            </a:pPr>
            <a:r>
              <a:rPr sz="1656" b="0">
                <a:solidFill>
                  <a:srgbClr val="00D4AA"/>
                </a:solidFill>
                <a:latin typeface="JetBrains Mono"/>
              </a:rPr>
              <a:t>langfuse-worker</a:t>
            </a:r>
            <a:r>
              <a:rPr sz="1800" b="0">
                <a:solidFill>
                  <a:srgbClr val="FFFFFF"/>
                </a:solidFill>
                <a:latin typeface="Inter"/>
              </a:rPr>
              <a:t>: async ingestion and processing</a:t>
            </a:r>
          </a:p>
          <a:p>
            <a:pPr marL="292608" indent="-292608">
              <a:lnSpc>
                <a:spcPct val="120000"/>
              </a:lnSpc>
              <a:spcAft>
                <a:spcPts val="1260"/>
              </a:spcAft>
              <a:buClr>
                <a:srgbClr val="00D4AA"/>
              </a:buClr>
              <a:buFont typeface="Inter"/>
              <a:buChar char="•"/>
            </a:pPr>
            <a:r>
              <a:rPr sz="1656" b="0">
                <a:solidFill>
                  <a:srgbClr val="00D4AA"/>
                </a:solidFill>
                <a:latin typeface="JetBrains Mono"/>
              </a:rPr>
              <a:t>postgres</a:t>
            </a:r>
            <a:r>
              <a:rPr sz="1800" b="0">
                <a:solidFill>
                  <a:srgbClr val="FFFFFF"/>
                </a:solidFill>
                <a:latin typeface="Inter"/>
              </a:rPr>
              <a:t>: metadata, users, projects, prompts</a:t>
            </a:r>
          </a:p>
          <a:p>
            <a:pPr marL="292608" indent="-292608">
              <a:lnSpc>
                <a:spcPct val="120000"/>
              </a:lnSpc>
              <a:spcAft>
                <a:spcPts val="1260"/>
              </a:spcAft>
              <a:buClr>
                <a:srgbClr val="00D4AA"/>
              </a:buClr>
              <a:buFont typeface="Inter"/>
              <a:buChar char="•"/>
            </a:pPr>
            <a:r>
              <a:rPr sz="1656" b="0">
                <a:solidFill>
                  <a:srgbClr val="00D4AA"/>
                </a:solidFill>
                <a:latin typeface="JetBrains Mono"/>
              </a:rPr>
              <a:t>clickhouse</a:t>
            </a:r>
            <a:r>
              <a:rPr sz="1800" b="0">
                <a:solidFill>
                  <a:srgbClr val="FFFFFF"/>
                </a:solidFill>
                <a:latin typeface="Inter"/>
              </a:rPr>
              <a:t>: traces, observations and scores at scale</a:t>
            </a:r>
          </a:p>
          <a:p>
            <a:pPr marL="292608" indent="-292608">
              <a:lnSpc>
                <a:spcPct val="120000"/>
              </a:lnSpc>
              <a:spcAft>
                <a:spcPts val="1260"/>
              </a:spcAft>
              <a:buClr>
                <a:srgbClr val="00D4AA"/>
              </a:buClr>
              <a:buFont typeface="Inter"/>
              <a:buChar char="•"/>
            </a:pPr>
            <a:r>
              <a:rPr sz="1656" b="0">
                <a:solidFill>
                  <a:srgbClr val="00D4AA"/>
                </a:solidFill>
                <a:latin typeface="JetBrains Mono"/>
              </a:rPr>
              <a:t>redis</a:t>
            </a:r>
            <a:r>
              <a:rPr sz="1800" b="0">
                <a:solidFill>
                  <a:srgbClr val="FFFFFF"/>
                </a:solidFill>
                <a:latin typeface="Inter"/>
              </a:rPr>
              <a:t>: queues and cache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is in the box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minio</a:t>
            </a:r>
            <a:r>
              <a:rPr sz="2200" b="0">
                <a:solidFill>
                  <a:srgbClr val="FFFFFF"/>
                </a:solidFill>
                <a:latin typeface="Inter"/>
              </a:rPr>
              <a:t> (S3-compatible): event and media storage</a:t>
            </a:r>
          </a:p>
          <a:p>
            <a:pPr marL="292608" indent="-292608">
              <a:lnSpc>
                <a:spcPct val="120000"/>
              </a:lnSpc>
              <a:spcAft>
                <a:spcPts val="1539"/>
              </a:spcAft>
              <a:buClr>
                <a:srgbClr val="00D4AA"/>
              </a:buClr>
              <a:buFont typeface="Inter"/>
              <a:buChar char="•"/>
            </a:pPr>
            <a:r>
              <a:rPr sz="2200" b="0">
                <a:solidFill>
                  <a:srgbClr val="FFFFFF"/>
                </a:solidFill>
                <a:latin typeface="Inter"/>
              </a:rPr>
              <a:t>Verify against the current Langfuse self-host compose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Laptop versus production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1489165"/>
                <a:gridCol w="2357845"/>
                <a:gridCol w="7445828"/>
              </a:tblGrid>
              <a:tr h="384048">
                <a:tc>
                  <a:txBody>
                    <a:bodyPr wrap="square"/>
                    <a:lstStyle/>
                    <a:p>
                      <a:r>
                        <a:rPr sz="1200" b="1">
                          <a:solidFill>
                            <a:srgbClr val="0A1628"/>
                          </a:solidFill>
                          <a:latin typeface="Inter"/>
                        </a:rPr>
                        <a:t>Setting</a:t>
                      </a:r>
                    </a:p>
                  </a:txBody>
                  <a:tcPr marL="91440" marR="91440" marT="45720" marB="45720" anchor="ctr">
                    <a:solidFill>
                      <a:srgbClr val="00D4AA"/>
                    </a:solidFill>
                  </a:tcPr>
                </a:tc>
                <a:tc>
                  <a:txBody>
                    <a:bodyPr wrap="square"/>
                    <a:lstStyle/>
                    <a:p>
                      <a:r>
                        <a:rPr sz="1200" b="1">
                          <a:solidFill>
                            <a:srgbClr val="0A1628"/>
                          </a:solidFill>
                          <a:latin typeface="Inter"/>
                        </a:rPr>
                        <a:t>Laptop</a:t>
                      </a:r>
                    </a:p>
                  </a:txBody>
                  <a:tcPr marL="91440" marR="91440" marT="45720" marB="45720" anchor="ctr">
                    <a:solidFill>
                      <a:srgbClr val="00D4AA"/>
                    </a:solidFill>
                  </a:tcPr>
                </a:tc>
                <a:tc>
                  <a:txBody>
                    <a:bodyPr wrap="square"/>
                    <a:lstStyle/>
                    <a:p>
                      <a:r>
                        <a:rPr sz="1200" b="1">
                          <a:solidFill>
                            <a:srgbClr val="0A1628"/>
                          </a:solidFill>
                          <a:latin typeface="Inter"/>
                        </a:rPr>
                        <a:t>Production</a:t>
                      </a:r>
                    </a:p>
                  </a:txBody>
                  <a:tcPr marL="91440" marR="91440" marT="45720" marB="45720" anchor="ctr">
                    <a:solidFill>
                      <a:srgbClr val="00D4AA"/>
                    </a:solidFill>
                  </a:tcPr>
                </a:tc>
              </a:tr>
              <a:tr h="384048">
                <a:tc>
                  <a:txBody>
                    <a:bodyPr wrap="square"/>
                    <a:lstStyle/>
                    <a:p>
                      <a:r>
                        <a:rPr sz="1200" b="1">
                          <a:solidFill>
                            <a:srgbClr val="FFFFFF"/>
                          </a:solidFill>
                          <a:latin typeface="Inter"/>
                        </a:rPr>
                        <a:t>Secrets</a:t>
                      </a:r>
                    </a:p>
                  </a:txBody>
                  <a:tcPr marL="91440" marR="91440" marT="45720" marB="45720" anchor="ctr">
                    <a:solidFill>
                      <a:srgbClr val="1A2742"/>
                    </a:solidFill>
                  </a:tcPr>
                </a:tc>
                <a:tc>
                  <a:txBody>
                    <a:bodyPr wrap="square"/>
                    <a:lstStyle/>
                    <a:p>
                      <a:r>
                        <a:rPr sz="1104" b="0">
                          <a:solidFill>
                            <a:srgbClr val="00D4AA"/>
                          </a:solidFill>
                          <a:latin typeface="JetBrains Mono"/>
                        </a:rPr>
                        <a:t>.env</a:t>
                      </a:r>
                      <a:r>
                        <a:rPr sz="1200" b="0">
                          <a:solidFill>
                            <a:srgbClr val="FFFFFF"/>
                          </a:solidFill>
                          <a:latin typeface="Inter"/>
                        </a:rPr>
                        <a:t> file</a:t>
                      </a:r>
                    </a:p>
                  </a:txBody>
                  <a:tcPr marL="91440" marR="91440" marT="45720" marB="45720" anchor="ctr">
                    <a:solidFill>
                      <a:srgbClr val="1A2742"/>
                    </a:solidFill>
                  </a:tcPr>
                </a:tc>
                <a:tc>
                  <a:txBody>
                    <a:bodyPr wrap="square"/>
                    <a:lstStyle/>
                    <a:p>
                      <a:r>
                        <a:rPr sz="1200" b="0">
                          <a:solidFill>
                            <a:srgbClr val="FFFFFF"/>
                          </a:solidFill>
                          <a:latin typeface="Inter"/>
                        </a:rPr>
                        <a:t>secret manager or CI secrets, rotated; never in the repo</a:t>
                      </a:r>
                    </a:p>
                  </a:txBody>
                  <a:tcPr marL="91440" marR="91440" marT="45720" marB="45720" anchor="ctr">
                    <a:solidFill>
                      <a:srgbClr val="1A2742"/>
                    </a:solidFill>
                  </a:tcPr>
                </a:tc>
              </a:tr>
              <a:tr h="384048">
                <a:tc>
                  <a:txBody>
                    <a:bodyPr wrap="square"/>
                    <a:lstStyle/>
                    <a:p>
                      <a:r>
                        <a:rPr sz="1200" b="1">
                          <a:solidFill>
                            <a:srgbClr val="FFFFFF"/>
                          </a:solidFill>
                          <a:latin typeface="Inter"/>
                        </a:rPr>
                        <a:t>Persistence</a:t>
                      </a:r>
                    </a:p>
                  </a:txBody>
                  <a:tcPr marL="91440" marR="91440" marT="45720" marB="45720" anchor="ctr">
                    <a:solidFill>
                      <a:srgbClr val="0F1E35"/>
                    </a:solidFill>
                  </a:tcPr>
                </a:tc>
                <a:tc>
                  <a:txBody>
                    <a:bodyPr wrap="square"/>
                    <a:lstStyle/>
                    <a:p>
                      <a:r>
                        <a:rPr sz="1200" b="0">
                          <a:solidFill>
                            <a:srgbClr val="FFFFFF"/>
                          </a:solidFill>
                          <a:latin typeface="Inter"/>
                        </a:rPr>
                        <a:t>Docker volumes</a:t>
                      </a:r>
                    </a:p>
                  </a:txBody>
                  <a:tcPr marL="91440" marR="91440" marT="45720" marB="45720" anchor="ctr">
                    <a:solidFill>
                      <a:srgbClr val="0F1E35"/>
                    </a:solidFill>
                  </a:tcPr>
                </a:tc>
                <a:tc>
                  <a:txBody>
                    <a:bodyPr wrap="square"/>
                    <a:lstStyle/>
                    <a:p>
                      <a:r>
                        <a:rPr sz="1200" b="0">
                          <a:solidFill>
                            <a:srgbClr val="FFFFFF"/>
                          </a:solidFill>
                          <a:latin typeface="Inter"/>
                        </a:rPr>
                        <a:t>named volumes on durable disks; ClickHouse and Postgres sized</a:t>
                      </a:r>
                    </a:p>
                  </a:txBody>
                  <a:tcPr marL="91440" marR="91440" marT="45720" marB="45720" anchor="ctr">
                    <a:solidFill>
                      <a:srgbClr val="0F1E35"/>
                    </a:solidFill>
                  </a:tcPr>
                </a:tc>
              </a:tr>
              <a:tr h="384048">
                <a:tc>
                  <a:txBody>
                    <a:bodyPr wrap="square"/>
                    <a:lstStyle/>
                    <a:p>
                      <a:r>
                        <a:rPr sz="1200" b="1">
                          <a:solidFill>
                            <a:srgbClr val="FFFFFF"/>
                          </a:solidFill>
                          <a:latin typeface="Inter"/>
                        </a:rPr>
                        <a:t>Backups</a:t>
                      </a:r>
                    </a:p>
                  </a:txBody>
                  <a:tcPr marL="91440" marR="91440" marT="45720" marB="45720" anchor="ctr">
                    <a:solidFill>
                      <a:srgbClr val="1A2742"/>
                    </a:solidFill>
                  </a:tcPr>
                </a:tc>
                <a:tc>
                  <a:txBody>
                    <a:bodyPr wrap="square"/>
                    <a:lstStyle/>
                    <a:p>
                      <a:r>
                        <a:rPr sz="1200" b="0">
                          <a:solidFill>
                            <a:srgbClr val="FFFFFF"/>
                          </a:solidFill>
                          <a:latin typeface="Inter"/>
                        </a:rPr>
                        <a:t>none</a:t>
                      </a:r>
                    </a:p>
                  </a:txBody>
                  <a:tcPr marL="91440" marR="91440" marT="45720" marB="45720" anchor="ctr">
                    <a:solidFill>
                      <a:srgbClr val="1A2742"/>
                    </a:solidFill>
                  </a:tcPr>
                </a:tc>
                <a:tc>
                  <a:txBody>
                    <a:bodyPr wrap="square"/>
                    <a:lstStyle/>
                    <a:p>
                      <a:r>
                        <a:rPr sz="1200" b="0">
                          <a:solidFill>
                            <a:srgbClr val="FFFFFF"/>
                          </a:solidFill>
                          <a:latin typeface="Inter"/>
                        </a:rPr>
                        <a:t>Postgres dumps and ClickHouse backups on a schedule, restore tested</a:t>
                      </a:r>
                    </a:p>
                  </a:txBody>
                  <a:tcPr marL="91440" marR="91440" marT="45720" marB="45720" anchor="ctr">
                    <a:solidFill>
                      <a:srgbClr val="1A2742"/>
                    </a:solidFill>
                  </a:tcPr>
                </a:tc>
              </a:tr>
              <a:tr h="384048">
                <a:tc>
                  <a:txBody>
                    <a:bodyPr wrap="square"/>
                    <a:lstStyle/>
                    <a:p>
                      <a:r>
                        <a:rPr sz="1200" b="1">
                          <a:solidFill>
                            <a:srgbClr val="FFFFFF"/>
                          </a:solidFill>
                          <a:latin typeface="Inter"/>
                        </a:rPr>
                        <a:t>Upgrades</a:t>
                      </a:r>
                    </a:p>
                  </a:txBody>
                  <a:tcPr marL="91440" marR="91440" marT="45720" marB="45720" anchor="ctr">
                    <a:solidFill>
                      <a:srgbClr val="0F1E35"/>
                    </a:solidFill>
                  </a:tcPr>
                </a:tc>
                <a:tc>
                  <a:txBody>
                    <a:bodyPr wrap="square"/>
                    <a:lstStyle/>
                    <a:p>
                      <a:r>
                        <a:rPr sz="1104" b="0">
                          <a:solidFill>
                            <a:srgbClr val="00D4AA"/>
                          </a:solidFill>
                          <a:latin typeface="JetBrains Mono"/>
                        </a:rPr>
                        <a:t>pull</a:t>
                      </a:r>
                      <a:r>
                        <a:rPr sz="1200" b="0">
                          <a:solidFill>
                            <a:srgbClr val="FFFFFF"/>
                          </a:solidFill>
                          <a:latin typeface="Inter"/>
                        </a:rPr>
                        <a:t> and </a:t>
                      </a:r>
                      <a:r>
                        <a:rPr sz="1104" b="0">
                          <a:solidFill>
                            <a:srgbClr val="00D4AA"/>
                          </a:solidFill>
                          <a:latin typeface="JetBrains Mono"/>
                        </a:rPr>
                        <a:t>up</a:t>
                      </a:r>
                    </a:p>
                  </a:txBody>
                  <a:tcPr marL="91440" marR="91440" marT="45720" marB="45720" anchor="ctr">
                    <a:solidFill>
                      <a:srgbClr val="0F1E35"/>
                    </a:solidFill>
                  </a:tcPr>
                </a:tc>
                <a:tc>
                  <a:txBody>
                    <a:bodyPr wrap="square"/>
                    <a:lstStyle/>
                    <a:p>
                      <a:r>
                        <a:rPr sz="1200" b="0">
                          <a:solidFill>
                            <a:srgbClr val="FFFFFF"/>
                          </a:solidFill>
                          <a:latin typeface="Inter"/>
                        </a:rPr>
                        <a:t>read release notes, back up, upgrade web and worker together</a:t>
                      </a:r>
                    </a:p>
                  </a:txBody>
                  <a:tcPr marL="91440" marR="91440" marT="45720" marB="45720" anchor="ctr">
                    <a:solidFill>
                      <a:srgbClr val="0F1E35"/>
                    </a:solidFill>
                  </a:tcPr>
                </a:tc>
              </a:tr>
              <a:tr h="384048">
                <a:tc>
                  <a:txBody>
                    <a:bodyPr wrap="square"/>
                    <a:lstStyle/>
                    <a:p>
                      <a:r>
                        <a:rPr sz="1200" b="1">
                          <a:solidFill>
                            <a:srgbClr val="FFFFFF"/>
                          </a:solidFill>
                          <a:latin typeface="Inter"/>
                        </a:rPr>
                        <a:t>TLS and auth</a:t>
                      </a:r>
                    </a:p>
                  </a:txBody>
                  <a:tcPr marL="91440" marR="91440" marT="45720" marB="45720" anchor="ctr">
                    <a:solidFill>
                      <a:srgbClr val="1A2742"/>
                    </a:solidFill>
                  </a:tcPr>
                </a:tc>
                <a:tc>
                  <a:txBody>
                    <a:bodyPr wrap="square"/>
                    <a:lstStyle/>
                    <a:p>
                      <a:r>
                        <a:rPr sz="1200" b="0">
                          <a:solidFill>
                            <a:srgbClr val="FFFFFF"/>
                          </a:solidFill>
                          <a:latin typeface="Inter"/>
                        </a:rPr>
                        <a:t>http, localhost</a:t>
                      </a:r>
                    </a:p>
                  </a:txBody>
                  <a:tcPr marL="91440" marR="91440" marT="45720" marB="45720" anchor="ctr">
                    <a:solidFill>
                      <a:srgbClr val="1A2742"/>
                    </a:solidFill>
                  </a:tcPr>
                </a:tc>
                <a:tc>
                  <a:txBody>
                    <a:bodyPr wrap="square"/>
                    <a:lstStyle/>
                    <a:p>
                      <a:r>
                        <a:rPr sz="1200" b="0">
                          <a:solidFill>
                            <a:srgbClr val="FFFFFF"/>
                          </a:solidFill>
                          <a:latin typeface="Inter"/>
                        </a:rPr>
                        <a:t>reverse proxy with TLS, SSO if available, </a:t>
                      </a:r>
                      <a:r>
                        <a:rPr sz="1104" b="0">
                          <a:solidFill>
                            <a:srgbClr val="00D4AA"/>
                          </a:solidFill>
                          <a:latin typeface="JetBrains Mono"/>
                        </a:rPr>
                        <a:t>NEXTAUTH_URL</a:t>
                      </a:r>
                      <a:r>
                        <a:rPr sz="1200" b="0">
                          <a:solidFill>
                            <a:srgbClr val="FFFFFF"/>
                          </a:solidFill>
                          <a:latin typeface="Inter"/>
                        </a:rPr>
                        <a:t> set to the real domain</a:t>
                      </a:r>
                    </a:p>
                  </a:txBody>
                  <a:tcPr marL="91440" marR="91440" marT="45720" marB="45720" anchor="ctr">
                    <a:solidFill>
                      <a:srgbClr val="1A2742"/>
                    </a:solidFill>
                  </a:tcPr>
                </a:tc>
              </a:tr>
              <a:tr h="384048">
                <a:tc>
                  <a:txBody>
                    <a:bodyPr wrap="square"/>
                    <a:lstStyle/>
                    <a:p>
                      <a:r>
                        <a:rPr sz="1200" b="1">
                          <a:solidFill>
                            <a:srgbClr val="FFFFFF"/>
                          </a:solidFill>
                          <a:latin typeface="Inter"/>
                        </a:rPr>
                        <a:t>Resources</a:t>
                      </a:r>
                    </a:p>
                  </a:txBody>
                  <a:tcPr marL="91440" marR="91440" marT="45720" marB="45720" anchor="ctr">
                    <a:solidFill>
                      <a:srgbClr val="0F1E35"/>
                    </a:solidFill>
                  </a:tcPr>
                </a:tc>
                <a:tc>
                  <a:txBody>
                    <a:bodyPr wrap="square"/>
                    <a:lstStyle/>
                    <a:p>
                      <a:r>
                        <a:rPr sz="1200" b="0">
                          <a:solidFill>
                            <a:srgbClr val="FFFFFF"/>
                          </a:solidFill>
                          <a:latin typeface="Inter"/>
                        </a:rPr>
                        <a:t>whatever Docker has</a:t>
                      </a:r>
                    </a:p>
                  </a:txBody>
                  <a:tcPr marL="91440" marR="91440" marT="45720" marB="45720" anchor="ctr">
                    <a:solidFill>
                      <a:srgbClr val="0F1E35"/>
                    </a:solidFill>
                  </a:tcPr>
                </a:tc>
                <a:tc>
                  <a:txBody>
                    <a:bodyPr wrap="square"/>
                    <a:lstStyle/>
                    <a:p>
                      <a:r>
                        <a:rPr sz="1200" b="0">
                          <a:solidFill>
                            <a:srgbClr val="FFFFFF"/>
                          </a:solidFill>
                          <a:latin typeface="Inter"/>
                        </a:rPr>
                        <a:t>ClickHouse memory and disk monitored; it is the component that grows</a:t>
                      </a:r>
                    </a:p>
                  </a:txBody>
                  <a:tcPr marL="91440" marR="91440" marT="45720" marB="45720" anchor="ctr">
                    <a:solidFill>
                      <a:srgbClr val="0F1E3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to self-host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You must: data residency or no-egress rules</a:t>
            </a:r>
          </a:p>
          <a:p>
            <a:pPr marL="292608" indent="-292608">
              <a:lnSpc>
                <a:spcPct val="120000"/>
              </a:lnSpc>
              <a:spcAft>
                <a:spcPts val="1260"/>
              </a:spcAft>
              <a:buClr>
                <a:srgbClr val="00D4AA"/>
              </a:buClr>
              <a:buFont typeface="Inter"/>
              <a:buChar char="•"/>
            </a:pPr>
            <a:r>
              <a:rPr sz="1800" b="0">
                <a:solidFill>
                  <a:srgbClr val="FFFFFF"/>
                </a:solidFill>
                <a:latin typeface="Inter"/>
              </a:rPr>
              <a:t>You want: cost control at high volume, full retention control</a:t>
            </a:r>
          </a:p>
          <a:p>
            <a:pPr marL="292608" indent="-292608">
              <a:lnSpc>
                <a:spcPct val="120000"/>
              </a:lnSpc>
              <a:spcAft>
                <a:spcPts val="1260"/>
              </a:spcAft>
              <a:buClr>
                <a:srgbClr val="00D4AA"/>
              </a:buClr>
              <a:buFont typeface="Inter"/>
              <a:buChar char="•"/>
            </a:pPr>
            <a:r>
              <a:rPr sz="1800" b="0">
                <a:solidFill>
                  <a:srgbClr val="FFFFFF"/>
                </a:solidFill>
                <a:latin typeface="Inter"/>
              </a:rPr>
              <a:t>You should not: no one owns the database at 2 a.m.; then use Cloud with masking</a:t>
            </a:r>
          </a:p>
          <a:p>
            <a:pPr marL="292608" indent="-292608">
              <a:lnSpc>
                <a:spcPct val="120000"/>
              </a:lnSpc>
              <a:spcAft>
                <a:spcPts val="1260"/>
              </a:spcAft>
              <a:buClr>
                <a:srgbClr val="00D4AA"/>
              </a:buClr>
              <a:buFont typeface="Inter"/>
              <a:buChar char="•"/>
            </a:pPr>
            <a:r>
              <a:rPr sz="1800" b="0">
                <a:solidFill>
                  <a:srgbClr val="FFFFFF"/>
                </a:solidFill>
                <a:latin typeface="Inter"/>
              </a:rPr>
              <a:t>Middle path: Cloud for dev, self-host for prod, same SDK, different </a:t>
            </a:r>
            <a:r>
              <a:rPr sz="1656" b="0">
                <a:solidFill>
                  <a:srgbClr val="00D4AA"/>
                </a:solidFill>
                <a:latin typeface="JetBrains Mono"/>
              </a:rPr>
              <a:t>LANGFUSE_BASE_URL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containers, one Compose file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Atlas changes only </a:t>
            </a:r>
            <a:r>
              <a:rPr sz="1656" b="0">
                <a:solidFill>
                  <a:srgbClr val="00D4AA"/>
                </a:solidFill>
                <a:latin typeface="JetBrains Mono"/>
              </a:rPr>
              <a:t>LANGFUSE_BASE_URL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Secrets, backups, upgrades, TLS before production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OTel Collector as the traffic cop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OpenTelemetry Collector: receivers, processors and exporters that mask, sample and fan out to two backends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OTel Collector as the traffic cop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Read a Collector config as a pipeline: receivers, processors, exporters.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Collector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memory_limiter</a:t>
            </a:r>
            <a:r>
              <a:rPr sz="1800" b="0">
                <a:solidFill>
                  <a:srgbClr val="FFFFFF"/>
                </a:solidFill>
                <a:latin typeface="Inter"/>
              </a:rPr>
              <a:t> first, </a:t>
            </a:r>
            <a:r>
              <a:rPr sz="1656" b="0">
                <a:solidFill>
                  <a:srgbClr val="00D4AA"/>
                </a:solidFill>
                <a:latin typeface="JetBrains Mono"/>
              </a:rPr>
              <a:t>batch</a:t>
            </a:r>
            <a:r>
              <a:rPr sz="1800" b="0">
                <a:solidFill>
                  <a:srgbClr val="FFFFFF"/>
                </a:solidFill>
                <a:latin typeface="Inter"/>
              </a:rPr>
              <a:t> last, in every pipeline</a:t>
            </a:r>
          </a:p>
          <a:p>
            <a:pPr marL="292608" indent="-292608">
              <a:lnSpc>
                <a:spcPct val="120000"/>
              </a:lnSpc>
              <a:spcAft>
                <a:spcPts val="1260"/>
              </a:spcAft>
              <a:buClr>
                <a:srgbClr val="00D4AA"/>
              </a:buClr>
              <a:buFont typeface="Inter"/>
              <a:buChar char="•"/>
            </a:pPr>
            <a:r>
              <a:rPr sz="1800" b="0">
                <a:solidFill>
                  <a:srgbClr val="FFFFFF"/>
                </a:solidFill>
                <a:latin typeface="Inter"/>
              </a:rPr>
              <a:t>Mask in the Collector as the second layer; the SDK </a:t>
            </a:r>
            <a:r>
              <a:rPr sz="1656" b="0">
                <a:solidFill>
                  <a:srgbClr val="00D4AA"/>
                </a:solidFill>
                <a:latin typeface="JetBrains Mono"/>
              </a:rPr>
              <a:t>mask=</a:t>
            </a:r>
            <a:r>
              <a:rPr sz="1800" b="0">
                <a:solidFill>
                  <a:srgbClr val="FFFFFF"/>
                </a:solidFill>
                <a:latin typeface="Inter"/>
              </a:rPr>
              <a:t> stays as the first</a:t>
            </a:r>
          </a:p>
          <a:p>
            <a:pPr marL="292608" indent="-292608">
              <a:lnSpc>
                <a:spcPct val="120000"/>
              </a:lnSpc>
              <a:spcAft>
                <a:spcPts val="1260"/>
              </a:spcAft>
              <a:buClr>
                <a:srgbClr val="00D4AA"/>
              </a:buClr>
              <a:buFont typeface="Inter"/>
              <a:buChar char="•"/>
            </a:pPr>
            <a:r>
              <a:rPr sz="1800" b="0">
                <a:solidFill>
                  <a:srgbClr val="FFFFFF"/>
                </a:solidFill>
                <a:latin typeface="Inter"/>
              </a:rPr>
              <a:t>Tail sample on error, latency and cost; probabilistic for the rest</a:t>
            </a:r>
          </a:p>
          <a:p>
            <a:pPr marL="292608" indent="-292608">
              <a:lnSpc>
                <a:spcPct val="120000"/>
              </a:lnSpc>
              <a:spcAft>
                <a:spcPts val="1260"/>
              </a:spcAft>
              <a:buClr>
                <a:srgbClr val="00D4AA"/>
              </a:buClr>
              <a:buFont typeface="Inter"/>
              <a:buChar char="•"/>
            </a:pPr>
            <a:r>
              <a:rPr sz="1800" b="0">
                <a:solidFill>
                  <a:srgbClr val="FFFFFF"/>
                </a:solidFill>
                <a:latin typeface="Inter"/>
              </a:rPr>
              <a:t>Credentials live in the Collector, not in Atlas</a:t>
            </a:r>
          </a:p>
          <a:p>
            <a:pPr marL="292608" indent="-292608">
              <a:lnSpc>
                <a:spcPct val="120000"/>
              </a:lnSpc>
              <a:spcAft>
                <a:spcPts val="1260"/>
              </a:spcAft>
              <a:buClr>
                <a:srgbClr val="00D4AA"/>
              </a:buClr>
              <a:buFont typeface="Inter"/>
              <a:buChar char="•"/>
            </a:pPr>
            <a:r>
              <a:rPr sz="1800" b="0">
                <a:solidFill>
                  <a:srgbClr val="FFFFFF"/>
                </a:solidFill>
                <a:latin typeface="Inter"/>
              </a:rPr>
              <a:t>One exporter per backend; add or remove without touching Atlas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Receivers, processors, exporters, in a pipeline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Redact and tail sample once, for every backend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Credentials live in the Collector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the CI budget gate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CI budget gate: a test that replays a day of traffic and fails the pull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the CI budget gate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a budget gate test that replays a deterministic day offline and asserts cost per session, p95 latency and tokens per generation…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gate catches, and what it doesn't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Catches: top-k and relevance-floor changes, diet settings, model swaps, prompt length growth, step limit changes, retry settings that stack timeouts</a:t>
            </a:r>
          </a:p>
          <a:p>
            <a:pPr marL="292608" indent="-292608">
              <a:lnSpc>
                <a:spcPct val="120000"/>
              </a:lnSpc>
              <a:spcAft>
                <a:spcPts val="1260"/>
              </a:spcAft>
              <a:buClr>
                <a:srgbClr val="00D4AA"/>
              </a:buClr>
              <a:buFont typeface="Inter"/>
              <a:buChar char="•"/>
            </a:pPr>
            <a:r>
              <a:rPr sz="1800" b="0">
                <a:solidFill>
                  <a:srgbClr val="FFFFFF"/>
                </a:solidFill>
                <a:latin typeface="Inter"/>
              </a:rPr>
              <a:t>Catches: anything deterministic that changes tokens, steps or simulated latency, including env and config</a:t>
            </a:r>
          </a:p>
          <a:p>
            <a:pPr marL="292608" indent="-292608">
              <a:lnSpc>
                <a:spcPct val="120000"/>
              </a:lnSpc>
              <a:spcAft>
                <a:spcPts val="1260"/>
              </a:spcAft>
              <a:buClr>
                <a:srgbClr val="00D4AA"/>
              </a:buClr>
              <a:buFont typeface="Inter"/>
              <a:buChar char="•"/>
            </a:pPr>
            <a:r>
              <a:rPr sz="1800" b="0">
                <a:solidFill>
                  <a:srgbClr val="FFFFFF"/>
                </a:solidFill>
                <a:latin typeface="Inter"/>
              </a:rPr>
              <a:t>Doesn't catch: provider slowdowns, quality regressions, real-world intent shift</a:t>
            </a:r>
          </a:p>
          <a:p>
            <a:pPr marL="292608" indent="-292608">
              <a:lnSpc>
                <a:spcPct val="120000"/>
              </a:lnSpc>
              <a:spcAft>
                <a:spcPts val="1260"/>
              </a:spcAft>
              <a:buClr>
                <a:srgbClr val="00D4AA"/>
              </a:buClr>
              <a:buFont typeface="Inter"/>
              <a:buChar char="•"/>
            </a:pPr>
            <a:r>
              <a:rPr sz="1800" b="0">
                <a:solidFill>
                  <a:srgbClr val="FFFFFF"/>
                </a:solidFill>
                <a:latin typeface="Inter"/>
              </a:rPr>
              <a:t>For those: fallbacks and breakers (Section 7), online judge and drift (Section 8), the live-evals job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Replay a fixed day, assert five budgets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Red with a number and a trace id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Release tag on every trace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Production readiness checklist for observability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production readiness checklist: sampling, back-pressure, secrets, dashboards as code and alert ownership.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Production readiness checklist for observability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Walk the twelve-item production checklist and know what "done" means for each.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Sampling and volume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Sampling policy written down: head rate in the SDK, tail rules in the Collector</a:t>
            </a:r>
          </a:p>
          <a:p>
            <a:pPr marL="292608" indent="-292608">
              <a:lnSpc>
                <a:spcPct val="120000"/>
              </a:lnSpc>
              <a:spcAft>
                <a:spcPts val="1260"/>
              </a:spcAft>
              <a:buClr>
                <a:srgbClr val="00D4AA"/>
              </a:buClr>
              <a:buFont typeface="Inter"/>
              <a:buChar char="•"/>
            </a:pPr>
            <a:r>
              <a:rPr sz="1800" b="0">
                <a:solidFill>
                  <a:srgbClr val="FFFFFF"/>
                </a:solidFill>
                <a:latin typeface="Inter"/>
              </a:rPr>
              <a:t>Volume estimated: spans per day × bytes per span; storage and cost projected for 90 days</a:t>
            </a:r>
          </a:p>
          <a:p>
            <a:pPr marL="292608" indent="-292608">
              <a:lnSpc>
                <a:spcPct val="120000"/>
              </a:lnSpc>
              <a:spcAft>
                <a:spcPts val="1260"/>
              </a:spcAft>
              <a:buClr>
                <a:srgbClr val="00D4AA"/>
              </a:buClr>
              <a:buFont typeface="Inter"/>
              <a:buChar char="•"/>
            </a:pPr>
            <a:r>
              <a:rPr sz="1800" b="0">
                <a:solidFill>
                  <a:srgbClr val="FFFFFF"/>
                </a:solidFill>
                <a:latin typeface="Inter"/>
              </a:rPr>
              <a:t>Retention set per environment (Lecture 10.3); ClickHouse disk alarmed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Never block a request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Exporter back-pressure: bounded queue, drop on overflow, export timeout ≤ 5 s</a:t>
            </a:r>
          </a:p>
          <a:p>
            <a:pPr marL="292608" indent="-292608">
              <a:lnSpc>
                <a:spcPct val="120000"/>
              </a:lnSpc>
              <a:spcAft>
                <a:spcPts val="1120"/>
              </a:spcAft>
              <a:buClr>
                <a:srgbClr val="00D4AA"/>
              </a:buClr>
              <a:buFont typeface="Inter"/>
              <a:buChar char="•"/>
            </a:pPr>
            <a:r>
              <a:rPr sz="1600" b="0">
                <a:solidFill>
                  <a:srgbClr val="FFFFFF"/>
                </a:solidFill>
                <a:latin typeface="Inter"/>
              </a:rPr>
              <a:t>Telemetry failure is a warning log and a metric, never an exception in the request path</a:t>
            </a:r>
          </a:p>
          <a:p>
            <a:pPr marL="292608" indent="-292608">
              <a:lnSpc>
                <a:spcPct val="120000"/>
              </a:lnSpc>
              <a:spcAft>
                <a:spcPts val="1120"/>
              </a:spcAft>
              <a:buClr>
                <a:srgbClr val="00D4AA"/>
              </a:buClr>
              <a:buFont typeface="Inter"/>
              <a:buChar char="•"/>
            </a:pPr>
            <a:r>
              <a:rPr sz="1600" b="0">
                <a:solidFill>
                  <a:srgbClr val="FFFFFF"/>
                </a:solidFill>
                <a:latin typeface="Inter"/>
              </a:rPr>
              <a:t>Flush on shutdown, with a deadline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000">
                <a:solidFill>
                  <a:srgbClr val="94A3B8"/>
                </a:solidFill>
                <a:latin typeface="JetBrains Mono"/>
              </a:rPr>
              <a:t># telemetry/otel_setup.py, as shipped</a:t>
            </a:r>
          </a:p>
          <a:p>
            <a:r>
              <a:rPr sz="1000">
                <a:solidFill>
                  <a:srgbClr val="FFFFFF"/>
                </a:solidFill>
                <a:latin typeface="JetBrains Mono"/>
              </a:rPr>
              <a:t>BatchSpanProcessor(SafeSpanExporter(exp, name=kind), max_queue_size=2048, max_export_batch_size=256,</a:t>
            </a:r>
          </a:p>
          <a:p>
            <a:r>
              <a:rPr sz="1000">
                <a:solidFill>
                  <a:srgbClr val="FFFFFF"/>
                </a:solidFill>
                <a:latin typeface="JetBrains Mono"/>
              </a:rPr>
              <a:t>                   schedule_delay_millis=1000, export_timeout_millis=5000)</a:t>
            </a:r>
          </a:p>
          <a:p>
            <a:r>
              <a:rPr sz="1000">
                <a:solidFill>
                  <a:srgbClr val="FFFFFF"/>
                </a:solidFill>
                <a:latin typeface="JetBrains Mono"/>
              </a:rPr>
              <a:t>OTLPSpanExporter(endpoint=settings.otel_endpoint, timeout=5)</a:t>
            </a:r>
          </a:p>
          <a:p>
            <a:r>
              <a:rPr sz="1000">
                <a:solidFill>
                  <a:srgbClr val="FFFFFF"/>
                </a:solidFill>
                <a:latin typeface="JetBrains Mono"/>
              </a:rPr>
              <a:t>Langfuse(..., flush_at=50, flush_interval=2.0)          # telemetry/langfuse_setup.py</a:t>
            </a:r>
          </a:p>
          <a:p>
            <a:r>
              <a:rPr sz="1000">
                <a:solidFill>
                  <a:srgbClr val="FFFFFF"/>
                </a:solidFill>
                <a:latin typeface="JetBrains Mono"/>
              </a:rPr>
              <a:t>shutdown_tracing(timeout_ms=5000)                        # on app exit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Secrets and separation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No backend credentials in Atlas: the Collector holds them</a:t>
            </a:r>
          </a:p>
          <a:p>
            <a:pPr marL="292608" indent="-292608">
              <a:lnSpc>
                <a:spcPct val="120000"/>
              </a:lnSpc>
              <a:spcAft>
                <a:spcPts val="1260"/>
              </a:spcAft>
              <a:buClr>
                <a:srgbClr val="00D4AA"/>
              </a:buClr>
              <a:buFont typeface="Inter"/>
              <a:buChar char="•"/>
            </a:pPr>
            <a:r>
              <a:rPr sz="1800" b="0">
                <a:solidFill>
                  <a:srgbClr val="FFFFFF"/>
                </a:solidFill>
                <a:latin typeface="Inter"/>
              </a:rPr>
              <a:t>Project per environment: </a:t>
            </a:r>
            <a:r>
              <a:rPr sz="1656" b="0">
                <a:solidFill>
                  <a:srgbClr val="00D4AA"/>
                </a:solidFill>
                <a:latin typeface="JetBrains Mono"/>
              </a:rPr>
              <a:t>atlas-dev</a:t>
            </a:r>
            <a:r>
              <a:rPr sz="1800" b="0">
                <a:solidFill>
                  <a:srgbClr val="FFFFFF"/>
                </a:solidFill>
                <a:latin typeface="Inter"/>
              </a:rPr>
              <a:t>, </a:t>
            </a:r>
            <a:r>
              <a:rPr sz="1656" b="0">
                <a:solidFill>
                  <a:srgbClr val="00D4AA"/>
                </a:solidFill>
                <a:latin typeface="JetBrains Mono"/>
              </a:rPr>
              <a:t>atlas-staging</a:t>
            </a:r>
            <a:r>
              <a:rPr sz="1800" b="0">
                <a:solidFill>
                  <a:srgbClr val="FFFFFF"/>
                </a:solidFill>
                <a:latin typeface="Inter"/>
              </a:rPr>
              <a:t>, </a:t>
            </a:r>
            <a:r>
              <a:rPr sz="1656" b="0">
                <a:solidFill>
                  <a:srgbClr val="00D4AA"/>
                </a:solidFill>
                <a:latin typeface="JetBrains Mono"/>
              </a:rPr>
              <a:t>atlas-prod</a:t>
            </a:r>
            <a:r>
              <a:rPr sz="1800" b="0">
                <a:solidFill>
                  <a:srgbClr val="FFFFFF"/>
                </a:solidFill>
                <a:latin typeface="Inter"/>
              </a:rPr>
              <a:t>; keys scoped to each</a:t>
            </a:r>
          </a:p>
          <a:p>
            <a:pPr marL="292608" indent="-292608">
              <a:lnSpc>
                <a:spcPct val="120000"/>
              </a:lnSpc>
              <a:spcAft>
                <a:spcPts val="1260"/>
              </a:spcAft>
              <a:buClr>
                <a:srgbClr val="00D4AA"/>
              </a:buClr>
              <a:buFont typeface="Inter"/>
              <a:buChar char="•"/>
            </a:pPr>
            <a:r>
              <a:rPr sz="1800" b="0">
                <a:solidFill>
                  <a:srgbClr val="FFFFFF"/>
                </a:solidFill>
                <a:latin typeface="Inter"/>
              </a:rPr>
              <a:t>Masking tested: </a:t>
            </a:r>
            <a:r>
              <a:rPr sz="1656" b="0">
                <a:solidFill>
                  <a:srgbClr val="00D4AA"/>
                </a:solidFill>
                <a:latin typeface="JetBrains Mono"/>
              </a:rPr>
              <a:t>tests/unit/test_pii.py</a:t>
            </a:r>
            <a:r>
              <a:rPr sz="1800" b="0">
                <a:solidFill>
                  <a:srgbClr val="FFFFFF"/>
                </a:solidFill>
                <a:latin typeface="Inter"/>
              </a:rPr>
              <a:t> and </a:t>
            </a:r>
            <a:r>
              <a:rPr sz="1656" b="0">
                <a:solidFill>
                  <a:srgbClr val="00D4AA"/>
                </a:solidFill>
                <a:latin typeface="JetBrains Mono"/>
              </a:rPr>
              <a:t>test_no_raw_pii_reaches_any_span</a:t>
            </a:r>
            <a:r>
              <a:rPr sz="1800" b="0">
                <a:solidFill>
                  <a:srgbClr val="FFFFFF"/>
                </a:solidFill>
                <a:latin typeface="Inter"/>
              </a:rPr>
              <a:t>; Collector rules checked from the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Dashboards and alerts as code, with owners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Dashboards in the repo: </a:t>
            </a:r>
            <a:r>
              <a:rPr sz="1656" b="0">
                <a:solidFill>
                  <a:srgbClr val="00D4AA"/>
                </a:solidFill>
                <a:latin typeface="JetBrains Mono"/>
              </a:rPr>
              <a:t>deploy/grafana/dashboards/atlas-ops.json</a:t>
            </a:r>
            <a:r>
              <a:rPr sz="1800" b="0">
                <a:solidFill>
                  <a:srgbClr val="FFFFFF"/>
                </a:solidFill>
                <a:latin typeface="Inter"/>
              </a:rPr>
              <a:t>, provisioned, not hand-built</a:t>
            </a:r>
          </a:p>
          <a:p>
            <a:pPr marL="292608" indent="-292608">
              <a:lnSpc>
                <a:spcPct val="120000"/>
              </a:lnSpc>
              <a:spcAft>
                <a:spcPts val="1260"/>
              </a:spcAft>
              <a:buClr>
                <a:srgbClr val="00D4AA"/>
              </a:buClr>
              <a:buFont typeface="Inter"/>
              <a:buChar char="•"/>
            </a:pPr>
            <a:r>
              <a:rPr sz="1800" b="0">
                <a:solidFill>
                  <a:srgbClr val="FFFFFF"/>
                </a:solidFill>
                <a:latin typeface="Inter"/>
              </a:rPr>
              <a:t>Alert rules in the repo, each with a runbook link (Lecture 9.5)</a:t>
            </a:r>
          </a:p>
          <a:p>
            <a:pPr marL="292608" indent="-292608">
              <a:lnSpc>
                <a:spcPct val="120000"/>
              </a:lnSpc>
              <a:spcAft>
                <a:spcPts val="1260"/>
              </a:spcAft>
              <a:buClr>
                <a:srgbClr val="00D4AA"/>
              </a:buClr>
              <a:buFont typeface="Inter"/>
              <a:buChar char="•"/>
            </a:pPr>
            <a:r>
              <a:rPr sz="1800" b="0">
                <a:solidFill>
                  <a:srgbClr val="FFFFFF"/>
                </a:solidFill>
                <a:latin typeface="Inter"/>
              </a:rPr>
              <a:t>Every dashboard and every alert has a named owner; alerts without an owner are deleted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"done" looks like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one-page </a:t>
            </a:r>
            <a:r>
              <a:rPr sz="1656" b="0">
                <a:solidFill>
                  <a:srgbClr val="00D4AA"/>
                </a:solidFill>
                <a:latin typeface="JetBrains Mono"/>
              </a:rPr>
              <a:t>OBSERVABILITY.md</a:t>
            </a:r>
            <a:r>
              <a:rPr sz="1800" b="0">
                <a:solidFill>
                  <a:srgbClr val="FFFFFF"/>
                </a:solidFill>
                <a:latin typeface="Inter"/>
              </a:rPr>
              <a:t> in the repo: sampling policy, retention, projects, owners, how to run the stack</a:t>
            </a:r>
          </a:p>
          <a:p>
            <a:pPr marL="292608" indent="-292608">
              <a:lnSpc>
                <a:spcPct val="120000"/>
              </a:lnSpc>
              <a:spcAft>
                <a:spcPts val="1260"/>
              </a:spcAft>
              <a:buClr>
                <a:srgbClr val="00D4AA"/>
              </a:buClr>
              <a:buFont typeface="Inter"/>
              <a:buChar char="•"/>
            </a:pPr>
            <a:r>
              <a:rPr sz="1800" b="0">
                <a:solidFill>
                  <a:srgbClr val="FFFFFF"/>
                </a:solidFill>
                <a:latin typeface="Inter"/>
              </a:rPr>
              <a:t>The chaos test from the next lecture passes: backend down, Atlas up</a:t>
            </a:r>
          </a:p>
          <a:p>
            <a:pPr marL="292608" indent="-292608">
              <a:lnSpc>
                <a:spcPct val="120000"/>
              </a:lnSpc>
              <a:spcAft>
                <a:spcPts val="1260"/>
              </a:spcAft>
              <a:buClr>
                <a:srgbClr val="00D4AA"/>
              </a:buClr>
              <a:buFont typeface="Inter"/>
              <a:buChar char="•"/>
            </a:pPr>
            <a:r>
              <a:rPr sz="1800" b="0">
                <a:solidFill>
                  <a:srgbClr val="FFFFFF"/>
                </a:solidFill>
                <a:latin typeface="Inter"/>
              </a:rPr>
              <a:t>The budget gate is green and required for merge</a:t>
            </a:r>
          </a:p>
          <a:p>
            <a:pPr marL="292608" indent="-292608">
              <a:lnSpc>
                <a:spcPct val="120000"/>
              </a:lnSpc>
              <a:spcAft>
                <a:spcPts val="1260"/>
              </a:spcAft>
              <a:buClr>
                <a:srgbClr val="00D4AA"/>
              </a:buClr>
              <a:buFont typeface="Inter"/>
              <a:buChar char="•"/>
            </a:pPr>
            <a:r>
              <a:rPr sz="1800" b="0">
                <a:solidFill>
                  <a:srgbClr val="FFFFFF"/>
                </a:solidFill>
                <a:latin typeface="Inter"/>
              </a:rPr>
              <a:t>A new engineer can find "why was this session expensive" in under ten minutes using only the README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Telemetry drops, never blocks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Masking is tested, credentials in the Collector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alert and dashboard has an owner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Chaos demo: kill the observability backend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 prove item five the hard way: kill the observability backend while Atlas is serving traffic and…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Chaos demo: kill the observability backend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Show that Atlas keeps serving at the same rate when its only span destination, the Collector, is down.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it worked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BatchSpanProcessor</a:t>
            </a:r>
            <a:r>
              <a:rPr sz="1800" b="0">
                <a:solidFill>
                  <a:srgbClr val="FFFFFF"/>
                </a:solidFill>
                <a:latin typeface="Inter"/>
              </a:rPr>
              <a:t>: export happens on a background thread, never in the request</a:t>
            </a:r>
          </a:p>
          <a:p>
            <a:pPr marL="292608" indent="-292608">
              <a:lnSpc>
                <a:spcPct val="120000"/>
              </a:lnSpc>
              <a:spcAft>
                <a:spcPts val="1260"/>
              </a:spcAft>
              <a:buClr>
                <a:srgbClr val="00D4AA"/>
              </a:buClr>
              <a:buFont typeface="Inter"/>
              <a:buChar char="•"/>
            </a:pPr>
            <a:r>
              <a:rPr sz="1800" b="0">
                <a:solidFill>
                  <a:srgbClr val="FFFFFF"/>
                </a:solidFill>
                <a:latin typeface="Inter"/>
              </a:rPr>
              <a:t>Bounded queue: </a:t>
            </a:r>
            <a:r>
              <a:rPr sz="1656" b="0">
                <a:solidFill>
                  <a:srgbClr val="00D4AA"/>
                </a:solidFill>
                <a:latin typeface="JetBrains Mono"/>
              </a:rPr>
              <a:t>max_queue_size=2048</a:t>
            </a:r>
            <a:r>
              <a:rPr sz="1800" b="0">
                <a:solidFill>
                  <a:srgbClr val="FFFFFF"/>
                </a:solidFill>
                <a:latin typeface="Inter"/>
              </a:rPr>
              <a:t>; overflow drops, never blocks</a:t>
            </a:r>
          </a:p>
          <a:p>
            <a:pPr marL="292608" indent="-292608">
              <a:lnSpc>
                <a:spcPct val="120000"/>
              </a:lnSpc>
              <a:spcAft>
                <a:spcPts val="1260"/>
              </a:spcAft>
              <a:buClr>
                <a:srgbClr val="00D4AA"/>
              </a:buClr>
              <a:buFont typeface="Inter"/>
              <a:buChar char="•"/>
            </a:pPr>
            <a:r>
              <a:rPr sz="1656" b="0">
                <a:solidFill>
                  <a:srgbClr val="00D4AA"/>
                </a:solidFill>
                <a:latin typeface="JetBrains Mono"/>
              </a:rPr>
              <a:t>OTLPSpanExporter(timeout=5)</a:t>
            </a:r>
            <a:r>
              <a:rPr sz="1800" b="0">
                <a:solidFill>
                  <a:srgbClr val="FFFFFF"/>
                </a:solidFill>
                <a:latin typeface="Inter"/>
              </a:rPr>
              <a:t> and </a:t>
            </a:r>
            <a:r>
              <a:rPr sz="1656" b="0">
                <a:solidFill>
                  <a:srgbClr val="00D4AA"/>
                </a:solidFill>
                <a:latin typeface="JetBrains Mono"/>
              </a:rPr>
              <a:t>export_timeout_millis=5000</a:t>
            </a:r>
            <a:r>
              <a:rPr sz="1800" b="0">
                <a:solidFill>
                  <a:srgbClr val="FFFFFF"/>
                </a:solidFill>
                <a:latin typeface="Inter"/>
              </a:rPr>
              <a:t>: a dead endpoint costs the background thread 5 s, not the request</a:t>
            </a:r>
          </a:p>
          <a:p>
            <a:pPr marL="292608" indent="-292608">
              <a:lnSpc>
                <a:spcPct val="120000"/>
              </a:lnSpc>
              <a:spcAft>
                <a:spcPts val="1260"/>
              </a:spcAft>
              <a:buClr>
                <a:srgbClr val="00D4AA"/>
              </a:buClr>
              <a:buFont typeface="Inter"/>
              <a:buChar char="•"/>
            </a:pPr>
            <a:r>
              <a:rPr sz="1656" b="0">
                <a:solidFill>
                  <a:srgbClr val="00D4AA"/>
                </a:solidFill>
                <a:latin typeface="JetBrains Mono"/>
              </a:rPr>
              <a:t>SafeSpanExporter</a:t>
            </a:r>
            <a:r>
              <a:rPr sz="1800" b="0">
                <a:solidFill>
                  <a:srgbClr val="FFFFFF"/>
                </a:solidFill>
                <a:latin typeface="Inter"/>
              </a:rPr>
              <a:t>: exceptions become a warning and a counter, never a raise</a:t>
            </a:r>
          </a:p>
          <a:p>
            <a:pPr marL="292608" indent="-292608">
              <a:lnSpc>
                <a:spcPct val="120000"/>
              </a:lnSpc>
              <a:spcAft>
                <a:spcPts val="1260"/>
              </a:spcAft>
              <a:buClr>
                <a:srgbClr val="00D4AA"/>
              </a:buClr>
              <a:buFont typeface="Inter"/>
              <a:buChar char="•"/>
            </a:pPr>
            <a:r>
              <a:rPr sz="1800" b="0">
                <a:solidFill>
                  <a:srgbClr val="FFFFFF"/>
                </a:solidFill>
                <a:latin typeface="Inter"/>
              </a:rPr>
              <a:t>Langfuse client: </a:t>
            </a:r>
            <a:r>
              <a:rPr sz="1656" b="0">
                <a:solidFill>
                  <a:srgbClr val="00D4AA"/>
                </a:solidFill>
                <a:latin typeface="JetBrains Mono"/>
              </a:rPr>
              <a:t>flush_at=50</a:t>
            </a:r>
            <a:r>
              <a:rPr sz="1800" b="0">
                <a:solidFill>
                  <a:srgbClr val="FFFFFF"/>
                </a:solidFill>
                <a:latin typeface="Inter"/>
              </a:rPr>
              <a:t>, </a:t>
            </a:r>
            <a:r>
              <a:rPr sz="1656" b="0">
                <a:solidFill>
                  <a:srgbClr val="00D4AA"/>
                </a:solidFill>
                <a:latin typeface="JetBrains Mono"/>
              </a:rPr>
              <a:t>flush_interval=2.0</a:t>
            </a:r>
            <a:r>
              <a:rPr sz="1800" b="0">
                <a:solidFill>
                  <a:srgbClr val="FFFFFF"/>
                </a:solidFill>
                <a:latin typeface="Inter"/>
              </a:rPr>
              <a:t>, same idea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turn a telemetry outage into a user outage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SimpleSpanProcessor</a:t>
            </a:r>
            <a:r>
              <a:rPr sz="1800" b="0">
                <a:solidFill>
                  <a:srgbClr val="FFFFFF"/>
                </a:solidFill>
                <a:latin typeface="Inter"/>
              </a:rPr>
              <a:t> (</a:t>
            </a:r>
            <a:r>
              <a:rPr sz="1656" b="0">
                <a:solidFill>
                  <a:srgbClr val="00D4AA"/>
                </a:solidFill>
                <a:latin typeface="JetBrains Mono"/>
              </a:rPr>
              <a:t>batch=False</a:t>
            </a:r>
            <a:r>
              <a:rPr sz="1800" b="0">
                <a:solidFill>
                  <a:srgbClr val="FFFFFF"/>
                </a:solidFill>
                <a:latin typeface="Inter"/>
              </a:rPr>
              <a:t>): exports synchronously inside the request; a dead backend adds the full timeout to every response</a:t>
            </a:r>
          </a:p>
          <a:p>
            <a:pPr marL="292608" indent="-292608">
              <a:lnSpc>
                <a:spcPct val="120000"/>
              </a:lnSpc>
              <a:spcAft>
                <a:spcPts val="1260"/>
              </a:spcAft>
              <a:buClr>
                <a:srgbClr val="00D4AA"/>
              </a:buClr>
              <a:buFont typeface="Inter"/>
              <a:buChar char="•"/>
            </a:pPr>
            <a:r>
              <a:rPr sz="1800" b="0">
                <a:solidFill>
                  <a:srgbClr val="FFFFFF"/>
                </a:solidFill>
                <a:latin typeface="Inter"/>
              </a:rPr>
              <a:t>No timeout, or a 30 s default, on the exporter: the background thread hangs, the queue fills, and shutdown blocks</a:t>
            </a:r>
          </a:p>
          <a:p>
            <a:pPr marL="292608" indent="-292608">
              <a:lnSpc>
                <a:spcPct val="120000"/>
              </a:lnSpc>
              <a:spcAft>
                <a:spcPts val="1260"/>
              </a:spcAft>
              <a:buClr>
                <a:srgbClr val="00D4AA"/>
              </a:buClr>
              <a:buFont typeface="Inter"/>
              <a:buChar char="•"/>
            </a:pPr>
            <a:r>
              <a:rPr sz="1800" b="0">
                <a:solidFill>
                  <a:srgbClr val="FFFFFF"/>
                </a:solidFill>
                <a:latin typeface="Inter"/>
              </a:rPr>
              <a:t>Both are one-line mistakes that pass every unit 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Batch processor, bounded queue, 5 s timeouts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Failures: a log line, a counter, a health field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batch=False</a:t>
            </a:r>
            <a:r>
              <a:rPr sz="1800" b="1">
                <a:solidFill>
                  <a:srgbClr val="FFFFFF"/>
                </a:solidFill>
                <a:latin typeface="Inter"/>
              </a:rPr>
              <a:t> turns an outage into latency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7: Self-hosted stack end to 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Lab 7: the whole self-hosted stack running end to end on your machine, with the budget gate…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13 · DEPLOYING THE STACK AND CI BUDGET GATES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7: Self-hosted stack end to 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Langfuse, the Collector, Prometheus and Grafana locally and trace a replayed day through all of them.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7 checklist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make langfuse-up</a:t>
            </a:r>
            <a:r>
              <a:rPr sz="1800" b="0">
                <a:solidFill>
                  <a:srgbClr val="FFFFFF"/>
                </a:solidFill>
                <a:latin typeface="Inter"/>
              </a:rPr>
              <a:t> and </a:t>
            </a:r>
            <a:r>
              <a:rPr sz="1656" b="0">
                <a:solidFill>
                  <a:srgbClr val="00D4AA"/>
                </a:solidFill>
                <a:latin typeface="JetBrains Mono"/>
              </a:rPr>
              <a:t>make stack</a:t>
            </a:r>
            <a:r>
              <a:rPr sz="1800" b="0">
                <a:solidFill>
                  <a:srgbClr val="FFFFFF"/>
                </a:solidFill>
                <a:latin typeface="Inter"/>
              </a:rPr>
              <a:t>: Langfuse, Collector, Prometheus, Grafana all healthy</a:t>
            </a:r>
          </a:p>
          <a:p>
            <a:pPr marL="292608" indent="-292608">
              <a:lnSpc>
                <a:spcPct val="120000"/>
              </a:lnSpc>
              <a:spcAft>
                <a:spcPts val="1260"/>
              </a:spcAft>
              <a:buClr>
                <a:srgbClr val="00D4AA"/>
              </a:buClr>
              <a:buFont typeface="Inter"/>
              <a:buChar char="•"/>
            </a:pPr>
            <a:r>
              <a:rPr sz="1800" b="0">
                <a:solidFill>
                  <a:srgbClr val="FFFFFF"/>
                </a:solidFill>
                <a:latin typeface="Inter"/>
              </a:rPr>
              <a:t>Atlas exporting to the Collector only; no Langfuse keys in Atlas's env</a:t>
            </a:r>
          </a:p>
          <a:p>
            <a:pPr marL="292608" indent="-292608">
              <a:lnSpc>
                <a:spcPct val="120000"/>
              </a:lnSpc>
              <a:spcAft>
                <a:spcPts val="1260"/>
              </a:spcAft>
              <a:buClr>
                <a:srgbClr val="00D4AA"/>
              </a:buClr>
              <a:buFont typeface="Inter"/>
              <a:buChar char="•"/>
            </a:pPr>
            <a:r>
              <a:rPr sz="1656" b="0">
                <a:solidFill>
                  <a:srgbClr val="00D4AA"/>
                </a:solidFill>
                <a:latin typeface="JetBrains Mono"/>
              </a:rPr>
              <a:t>make swarm RPS=2 DURATION=600</a:t>
            </a:r>
            <a:r>
              <a:rPr sz="1800" b="0">
                <a:solidFill>
                  <a:srgbClr val="FFFFFF"/>
                </a:solidFill>
                <a:latin typeface="Inter"/>
              </a:rPr>
              <a:t>: traffic visible in Langfuse or Phoenix and on the Grafana Atlas Ops dashboard</a:t>
            </a:r>
          </a:p>
          <a:p>
            <a:pPr marL="292608" indent="-292608">
              <a:lnSpc>
                <a:spcPct val="120000"/>
              </a:lnSpc>
              <a:spcAft>
                <a:spcPts val="1260"/>
              </a:spcAft>
              <a:buClr>
                <a:srgbClr val="00D4AA"/>
              </a:buClr>
              <a:buFont typeface="Inter"/>
              <a:buChar char="•"/>
            </a:pPr>
            <a:r>
              <a:rPr sz="1800" b="0">
                <a:solidFill>
                  <a:srgbClr val="FFFFFF"/>
                </a:solidFill>
                <a:latin typeface="Inter"/>
              </a:rPr>
              <a:t>Proof of masking: a tool span shows no </a:t>
            </a:r>
            <a:r>
              <a:rPr sz="1656" b="0">
                <a:solidFill>
                  <a:srgbClr val="00D4AA"/>
                </a:solidFill>
                <a:latin typeface="JetBrains Mono"/>
              </a:rPr>
              <a:t>gen_ai.tool.call.result</a:t>
            </a:r>
            <a:r>
              <a:rPr sz="1800" b="0">
                <a:solidFill>
                  <a:srgbClr val="FFFFFF"/>
                </a:solidFill>
                <a:latin typeface="Inter"/>
              </a:rPr>
              <a:t> and hashed arguments</a:t>
            </a:r>
          </a:p>
          <a:p>
            <a:pPr marL="292608" indent="-292608">
              <a:lnSpc>
                <a:spcPct val="120000"/>
              </a:lnSpc>
              <a:spcAft>
                <a:spcPts val="1260"/>
              </a:spcAft>
              <a:buClr>
                <a:srgbClr val="00D4AA"/>
              </a:buClr>
              <a:buFont typeface="Inter"/>
              <a:buChar char="•"/>
            </a:pPr>
            <a:r>
              <a:rPr sz="1800" b="0">
                <a:solidFill>
                  <a:srgbClr val="FFFFFF"/>
                </a:solidFill>
                <a:latin typeface="Inter"/>
              </a:rPr>
              <a:t>Proof of tail sampling: every error and every &gt;4 s trace present; normal traffic sampled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7 checklist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make budget-check</a:t>
            </a:r>
            <a:r>
              <a:rPr sz="2200" b="0">
                <a:solidFill>
                  <a:srgbClr val="FFFFFF"/>
                </a:solidFill>
                <a:latin typeface="Inter"/>
              </a:rPr>
              <a:t> green locally; CI run green on a branch</a:t>
            </a:r>
          </a:p>
          <a:p>
            <a:pPr marL="292608" indent="-292608">
              <a:lnSpc>
                <a:spcPct val="120000"/>
              </a:lnSpc>
              <a:spcAft>
                <a:spcPts val="1539"/>
              </a:spcAft>
              <a:buClr>
                <a:srgbClr val="00D4AA"/>
              </a:buClr>
              <a:buFont typeface="Inter"/>
              <a:buChar char="•"/>
            </a:pPr>
            <a:r>
              <a:rPr sz="2200" b="0">
                <a:solidFill>
                  <a:srgbClr val="FFFFFF"/>
                </a:solidFill>
                <a:latin typeface="Inter"/>
              </a:rPr>
              <a:t>Chaos: stop the Collector during a swarm; every response still 200; </a:t>
            </a:r>
            <a:r>
              <a:rPr sz="2024" b="0">
                <a:solidFill>
                  <a:srgbClr val="00D4AA"/>
                </a:solidFill>
                <a:latin typeface="JetBrains Mono"/>
              </a:rPr>
              <a:t>atlas_telemetry_export_failures_total</a:t>
            </a:r>
            <a:r>
              <a:rPr sz="2200" b="0">
                <a:solidFill>
                  <a:srgbClr val="FFFFFF"/>
                </a:solidFill>
                <a:latin typeface="Inter"/>
              </a:rPr>
              <a:t> rises and </a:t>
            </a:r>
            <a:r>
              <a:rPr sz="2024" b="0">
                <a:solidFill>
                  <a:srgbClr val="00D4AA"/>
                </a:solidFill>
                <a:latin typeface="JetBrains Mono"/>
              </a:rPr>
              <a:t>/healthz</a:t>
            </a:r>
            <a:r>
              <a:rPr sz="2200" b="0">
                <a:solidFill>
                  <a:srgbClr val="FFFFFF"/>
                </a:solidFill>
                <a:latin typeface="Inter"/>
              </a:rPr>
              <a:t> shows the failures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Screenshot: </a:t>
            </a:r>
            <a:r>
              <a:rPr sz="1656" b="0">
                <a:solidFill>
                  <a:srgbClr val="00D4AA"/>
                </a:solidFill>
                <a:latin typeface="JetBrains Mono"/>
              </a:rPr>
              <a:t>docker compose ps</a:t>
            </a:r>
            <a:r>
              <a:rPr sz="1800" b="0">
                <a:solidFill>
                  <a:srgbClr val="FFFFFF"/>
                </a:solidFill>
                <a:latin typeface="Inter"/>
              </a:rPr>
              <a:t> with all services healthy</a:t>
            </a:r>
          </a:p>
          <a:p>
            <a:pPr marL="292608" indent="-292608">
              <a:lnSpc>
                <a:spcPct val="120000"/>
              </a:lnSpc>
              <a:spcAft>
                <a:spcPts val="1260"/>
              </a:spcAft>
              <a:buClr>
                <a:srgbClr val="00D4AA"/>
              </a:buClr>
              <a:buFont typeface="Inter"/>
              <a:buChar char="•"/>
            </a:pPr>
            <a:r>
              <a:rPr sz="1800" b="0">
                <a:solidFill>
                  <a:srgbClr val="FFFFFF"/>
                </a:solidFill>
                <a:latin typeface="Inter"/>
              </a:rPr>
              <a:t>Screenshot: Grafana Atlas Ops dashboard with swarm traffic</a:t>
            </a:r>
          </a:p>
          <a:p>
            <a:pPr marL="292608" indent="-292608">
              <a:lnSpc>
                <a:spcPct val="120000"/>
              </a:lnSpc>
              <a:spcAft>
                <a:spcPts val="1260"/>
              </a:spcAft>
              <a:buClr>
                <a:srgbClr val="00D4AA"/>
              </a:buClr>
              <a:buFont typeface="Inter"/>
              <a:buChar char="•"/>
            </a:pPr>
            <a:r>
              <a:rPr sz="1800" b="0">
                <a:solidFill>
                  <a:srgbClr val="FFFFFF"/>
                </a:solidFill>
                <a:latin typeface="Inter"/>
              </a:rPr>
              <a:t>Screenshot: a redacted tool span in Langfuse or Phoenix</a:t>
            </a:r>
          </a:p>
          <a:p>
            <a:pPr marL="292608" indent="-292608">
              <a:lnSpc>
                <a:spcPct val="120000"/>
              </a:lnSpc>
              <a:spcAft>
                <a:spcPts val="1260"/>
              </a:spcAft>
              <a:buClr>
                <a:srgbClr val="00D4AA"/>
              </a:buClr>
              <a:buFont typeface="Inter"/>
              <a:buChar char="•"/>
            </a:pPr>
            <a:r>
              <a:rPr sz="1800" b="0">
                <a:solidFill>
                  <a:srgbClr val="FFFFFF"/>
                </a:solidFill>
                <a:latin typeface="Inter"/>
              </a:rPr>
              <a:t>Link or screenshot: green CI run including </a:t>
            </a:r>
            <a:r>
              <a:rPr sz="1656" b="0">
                <a:solidFill>
                  <a:srgbClr val="00D4AA"/>
                </a:solidFill>
                <a:latin typeface="JetBrains Mono"/>
              </a:rPr>
              <a:t>budget-gate</a:t>
            </a:r>
          </a:p>
          <a:p>
            <a:pPr marL="292608" indent="-292608">
              <a:lnSpc>
                <a:spcPct val="120000"/>
              </a:lnSpc>
              <a:spcAft>
                <a:spcPts val="1260"/>
              </a:spcAft>
              <a:buClr>
                <a:srgbClr val="00D4AA"/>
              </a:buClr>
              <a:buFont typeface="Inter"/>
              <a:buChar char="•"/>
            </a:pPr>
            <a:r>
              <a:rPr sz="1800" b="0">
                <a:solidFill>
                  <a:srgbClr val="FFFFFF"/>
                </a:solidFill>
                <a:latin typeface="Inter"/>
              </a:rPr>
              <a:t>Three sentences: what you would change before running this for a real team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students get stuck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ClickHouse restarting: raise Docker memory to 6 GB or more</a:t>
            </a:r>
          </a:p>
          <a:p>
            <a:pPr marL="292608" indent="-292608">
              <a:lnSpc>
                <a:spcPct val="120000"/>
              </a:lnSpc>
              <a:spcAft>
                <a:spcPts val="1260"/>
              </a:spcAft>
              <a:buClr>
                <a:srgbClr val="00D4AA"/>
              </a:buClr>
              <a:buFont typeface="Inter"/>
              <a:buChar char="•"/>
            </a:pPr>
            <a:r>
              <a:rPr sz="1800" b="0">
                <a:solidFill>
                  <a:srgbClr val="FFFFFF"/>
                </a:solidFill>
                <a:latin typeface="Inter"/>
              </a:rPr>
              <a:t>Traces in Collector logs but not in Langfuse: check the OTLP endpoint path and the basic auth header</a:t>
            </a:r>
          </a:p>
          <a:p>
            <a:pPr marL="292608" indent="-292608">
              <a:lnSpc>
                <a:spcPct val="120000"/>
              </a:lnSpc>
              <a:spcAft>
                <a:spcPts val="1260"/>
              </a:spcAft>
              <a:buClr>
                <a:srgbClr val="00D4AA"/>
              </a:buClr>
              <a:buFont typeface="Inter"/>
              <a:buChar char="•"/>
            </a:pPr>
            <a:r>
              <a:rPr sz="1800" b="0">
                <a:solidFill>
                  <a:srgbClr val="FFFFFF"/>
                </a:solidFill>
                <a:latin typeface="Inter"/>
              </a:rPr>
              <a:t>Grafana dashboard empty: no traffic yet (replay never reaches Prometheus), or the </a:t>
            </a:r>
            <a:r>
              <a:rPr sz="1656" b="0">
                <a:solidFill>
                  <a:srgbClr val="00D4AA"/>
                </a:solidFill>
                <a:latin typeface="JetBrains Mono"/>
              </a:rPr>
              <a:t>atlas:8000</a:t>
            </a:r>
            <a:r>
              <a:rPr sz="1800" b="0">
                <a:solidFill>
                  <a:srgbClr val="FFFFFF"/>
                </a:solidFill>
                <a:latin typeface="Inter"/>
              </a:rPr>
              <a:t> target is down; check Prometheus on </a:t>
            </a:r>
            <a:r>
              <a:rPr sz="1656" b="0">
                <a:solidFill>
                  <a:srgbClr val="00D4AA"/>
                </a:solidFill>
                <a:latin typeface="JetBrains Mono"/>
              </a:rPr>
              <a:t>localhost:9091</a:t>
            </a:r>
            <a:r>
              <a:rPr sz="1800" b="0">
                <a:solidFill>
                  <a:srgbClr val="FFFFFF"/>
                </a:solidFill>
                <a:latin typeface="Inter"/>
              </a:rPr>
              <a:t> → Status → Targets</a:t>
            </a:r>
          </a:p>
          <a:p>
            <a:pPr marL="292608" indent="-292608">
              <a:lnSpc>
                <a:spcPct val="120000"/>
              </a:lnSpc>
              <a:spcAft>
                <a:spcPts val="1260"/>
              </a:spcAft>
              <a:buClr>
                <a:srgbClr val="00D4AA"/>
              </a:buClr>
              <a:buFont typeface="Inter"/>
              <a:buChar char="•"/>
            </a:pPr>
            <a:r>
              <a:rPr sz="1800" b="0">
                <a:solidFill>
                  <a:srgbClr val="FFFFFF"/>
                </a:solidFill>
                <a:latin typeface="Inter"/>
              </a:rPr>
              <a:t>Budget gate fails on a fresh clone: check </a:t>
            </a:r>
            <a:r>
              <a:rPr sz="1656" b="0">
                <a:solidFill>
                  <a:srgbClr val="00D4AA"/>
                </a:solidFill>
                <a:latin typeface="JetBrains Mono"/>
              </a:rPr>
              <a:t>OFFLINE=1</a:t>
            </a:r>
            <a:r>
              <a:rPr sz="1800" b="0">
                <a:solidFill>
                  <a:srgbClr val="FFFFFF"/>
                </a:solidFill>
                <a:latin typeface="Inter"/>
              </a:rPr>
              <a:t> and the seed; the baseline must be deterministic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whole stack, running on your machine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Masking and sampling proven from data</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Gate green in CI; chaos repeated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Self-host Langfuse behind an OTel Collector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Gate pull requests on cost, latency and tokens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telemetry failures never reach users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13 · Lecture 13.6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Capstone brief and acceptance criteria</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That completes Section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