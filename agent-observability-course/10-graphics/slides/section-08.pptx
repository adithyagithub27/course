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Offline evals are not enough.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ways. The questions change: a new expense system rolls out and a third of finance questions are about something the knowledge base has never seen. Users invent intents you didn't plan for, and an agent will always answer. Something you control changes: prompt version two, or a config knob from Section 6. Or something you don't control changes: the provider updates the model behind the same name. None of these fail a test, because tests ask yesterday's questions. Production quality means asking about today's.</a:t>
            </a:r>
          </a:p>
          <a:p/>
          <a:p>
            <a:r>
              <a:t>[B-ROLL: a generation span's attributes in the trace view, `gen_ai.response.model` highlighted next to `gen_ai.request.model`.]</a:t>
            </a:r>
          </a:p>
          <a:p/>
          <a:p>
            <a:r>
              <a:t>That third one is worth a second look. Model aliases like `gpt-4.1-mini` can point at a new snapshot without your code changing. Your tests pass on Monday's snapshot; Tuesday's answers differ. Two defences: record the served model on every generation, which `gen_ai.response.model` already does on Atlas's spans, and tag every release, so a drop in the scores can be lined up with "the model changed" or "the prompt changed." You can't stop the provider from shipping. You can make sure you notice.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signals, and you need all three because each one lies in a different way. A judge model grades a sample of live traces against criteria you write. It's continuous and it scales, and it costs money, so we'll sample. Users give feedback. It's free and honest and sparse, and it's biased toward people who bother. And drift: comparing this week to last week, which catches the slow slide that looks fine on any given day. All three become scores on traces, so they sit next to cost and latency on the same trace.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[B-ROLL: the loop diagram builds clockwise, one arrow per sentence.]</a:t>
            </a:r>
          </a:p>
          <a:p/>
          <a:p>
            <a:r>
              <a:t>Here's the loop. Live traffic gets sampled and judged, and the scores land on the traces. Users click thumbs, and those land on the traces too. Scores, cost and latency get compared window over window for drift. And the traces that failed get promoted to a dataset, which is what your offline evals run against next time. That last arrow is the one most teams never draw. Production failures become tomorrow's regression tests. By 8.6 you'll have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here's why this section belongs in a cost course. In Section 6, cost per resolved session used the request's outcome, and an outcome only knows about errors, step limits and timeouts. On the drift day you just saw, almost every request still ended "resolved," while the judge said the answers got worse. Cost per resolved session, the number finance accepts, is only honest when the judge stands behind the word "resolved."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plan. A sampled judge with three agent-specific criteria and its own cost line. A feedback endpoint that means something. Guardrail metrics as time series. Drift detection with a report. And the promotion of bad traces to a dataset. One caution before we start: a judge is a model. It can be wrong. Everything we build keeps a human able to check a score in ten seconds.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Code-along: sampled LLM-as-judge on live traces.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kinds of sampling. Head: ten percent of traces, picked by hashing the trace id, so the same traces get picked if you re-run and you can compare judges fairly. That gives you an unbiased estimate of quality. Tail: always judge the interesting ones, escalations and thumbs-down. That gives you the failures. And never judge everything. We'll put a number on why in a minute.</a:t>
            </a:r>
          </a:p>
          <a:p/>
          <a:p>
            <a:r>
              <a:t>[SCREEN: VS Code, `src/northwind/sampling.py`]</a:t>
            </a:r>
          </a:p>
          <a:p/>
          <a:p>
            <a:r>
              <a:t>[CODE: `src/northwind/sampling.py` (excerpt)]</a:t>
            </a:r>
          </a:p>
          <a:p/>
          <a:p>
            <a:r>
              <a:t>Tail first: an escalated trace or one with a thumbs-down is always judged; an errored trace never, because there is no answer to grade. Otherwise, `head_sample` hashes the trace id with a salt to a number between zero and one and judges it if that number is under the rate, per tenant if you set `tenant_rates`. Deterministic, no state, no database of what's been sampled.</a:t>
            </a:r>
          </a:p>
          <a:p/>
          <a:p>
            <a:r>
              <a:t>[SCREEN: zoom on `TailSamplingPolicy` in the same file: its `reason()` returns `error`, `slow`, `expensive`, `many_steps`, `escalated`, `...]</a:t>
            </a:r>
          </a:p>
          <a:p/>
          <a:p>
            <a:r>
              <a:t>Now the judge.</a:t>
            </a:r>
          </a:p>
          <a:p/>
          <a:p>
            <a:r>
              <a:t>[SCREEN: `evals/online_judge.py`]</a:t>
            </a:r>
          </a:p>
          <a:p/>
          <a:p>
            <a:r>
              <a:t>[CODE: `evals/online_judge.py` (excerpt): the criteria and the DeepEval judge]</a:t>
            </a:r>
          </a:p>
          <a:p/>
          <a:p>
            <a:r>
              <a:t>Three metrics, each a `GEval` with a criteria sentence written for a helpdesk agent. `resolved` asks whether the employee got what they asked for and a next step, with the failure cases spelled out. `grounded` asks whether every policy statement is backed by a cited article or a quoted tool result. `safe_escalation` asks whether sensitive HR matters went to a human, injections were refused and passwords never revealed. Notice how specific the criteria are about what counts as failure. A judge is generous unless you tell it exactly what a zero looks like.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judges behind one interface. With a key, G-Eval. Without one, `OfflineJudge`, a deterministic heuristic that checks the same things in the answer text: a cited source, a next step, a ticket id, a refusal where one belongs. It's what scores every replay in this course, so Incident 3 reproduces on every laptop. One honest gap: the G-Eval metrics see the question and the answer, not the retrieved passages. Adding the retrieval context is how you'd make `grounded` check the answer against what Atlas actually read.</a:t>
            </a:r>
          </a:p>
          <a:p/>
          <a:p>
            <a:r>
              <a:t>[CODE: `evals/online_judge.py` (excerpt): judging the sample and writing scores]</a:t>
            </a:r>
          </a:p>
          <a:p/>
          <a:p>
            <a:r>
              <a:t>Walk the agent spans in the store. Skip guardrail hits and budget refusals, and anything already scored, so the job is idempotent. Build the `TraceSummary` the policy needs and ask `should_judge`. For a sampled trace, the judge reads the question and the answer and returns the three scores plus `overall`.</a:t>
            </a:r>
          </a:p>
          <a:p/>
          <a:p>
            <a:r>
              <a:t>[SCREEN: zoom on the two writes: `store.add_score(...)` and `create_score(...)`]</a:t>
            </a:r>
          </a:p>
          <a:p/>
          <a:p>
            <a:r>
              <a:t>Then every score is written twice: to the local store, which the console, the drift report and the CI gate read, and to Langfuse with `create_score`, the trace id, the name prefixed `judge_`, the value, and the judge's name as the comment. And the summary keeps a running estimate of what judging cost: three calls per trace at the mini price. That's the line item. Two honest notes. The tail rule for thumbs-down lives in the policy, but this loop only fills in `escalated`; wiring the feedback flag in is a one-line exercise. And `atlas_judge_score` exists in `metrics.py`, but this batch job never observes it, so Prometheus doesn't see judge scores. We come back to that in 9.5.</a:t>
            </a:r>
          </a:p>
          <a:p/>
          <a:p>
            <a:r>
              <a:t>[SCREEN: terminal]</a:t>
            </a:r>
          </a:p>
          <a:p/>
          <a:p>
            <a:r>
              <a:t>[DEMO: output (first line):]</a:t>
            </a:r>
          </a:p>
          <a:p/>
          <a:p>
            <a:r>
              <a:t>Ten thousand one hundred twelve candidates: the day minus the guardrail hits. Two thousand nine hundred seventy-one already scored by the replay, so they're skipped. Seven hundred twelve more sampled and scored at ten percent, mean overall point nine oh seven. Zero Langfuse writes, because we're offline. And the bill: a dollar fifty-four for this run, at the mini judge's price.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judge's bill on one slide. Mini judge at ten percent, about two dollars a day. Strong judge, eleven. Judge everything on the strong model, a hundred and nine, almost six times what serving costs after Section 6. So: sample at ten percent, judge with mini day to day, and run the strong model on the same head sample once a week as a calibration check. And cap the run: `JUDGE_MAX_CALLS`, or `--limit`, stops a misconfigured sample rate from becoming a surprise invoice. The judge is an agent too, and its cost belongs on the same showback.</a:t>
            </a:r>
          </a:p>
          <a:p/>
          <a:p>
            <a:r>
              <a:t>[SCREEN: Langfuse UI (online run, keys set, live traces from `make run`): a trace with `judge_resolved`, `judge_grounded`, `judge_safe_es...]</a:t>
            </a:r>
          </a:p>
          <a:p/>
          <a:p>
            <a:r>
              <a:t>And here's what you get in Langfuse with keys: four scores on the trace, with the judge's name as the comment, so you always know which judge said it. Two things to check on your run. The `langfuse_writes` count in the summary line must be above zero; if it isn't, the judge process never set up its Langfuse client. And G-Eval also produces a reason for each score; storing `metric.reason` as the comment is a two-line change, and it's the change that lets a human check a score in ten seconds.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Capturing user feedback that means something.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rules. One click, and an optional reason from a short list, because free text is nice and nobody fills it in. Attach it to the trace, not the session, so you know which answer they meant. Store it as a score, so it sits next to the judge. Send thumbs-down traces to the judge, so every complaint gets a second opinion. And never report the score without the rate. Seventy-nine percent of thirteen percent is the honest sentence.</a:t>
            </a:r>
          </a:p>
          <a:p/>
          <a:p>
            <a:r>
              <a:t>[SCREEN: VS Code, `app/server.py`]</a:t>
            </a:r>
          </a:p>
          <a:p/>
          <a:p>
            <a:r>
              <a:t>[CODE: `app/server.py` (excerpt): the request model and the endpoint]</a:t>
            </a:r>
          </a:p>
          <a:p/>
          <a:p>
            <a:r>
              <a:t>A small model: a trace id, a score of one, zero or minus one, an optional reason capped at sixty-four characters, and an optional comment capped at a thousand. The endpoint counts it in `atlas_feedback_total` with tenant and outcome, both low cardinality, and turns the thumb into a number: one, a half, or zero.</a:t>
            </a:r>
          </a:p>
          <a:p/>
          <a:p>
            <a:r>
              <a:t>[SCREEN: zoom on `store.add_score(...)` and `create_score(...)`]</a:t>
            </a:r>
          </a:p>
          <a:p/>
          <a:p>
            <a:r>
              <a:t>Then the same score goes to two places: the local store, next to the judge's scores, and Langfuse as a numeric `user_feedback` score on the trace, with the reason and comment joined as the score's comment. Two product details matter more than any of this code. Put the thumbs after the final answer, once per request, not after every step. And mask the comment before you store it, because people type their employee number into comment boxes. This endpoint stores the comment as typed; running it through `mask_text` from Section 10 first is the change to make before it faces real users.</a:t>
            </a:r>
          </a:p>
          <a:p/>
          <a:p>
            <a:r>
              <a:t>Now what the feedback tells you when you put it next to the judge.</a:t>
            </a:r>
          </a:p>
          <a:p/>
          <a:p>
            <a:r>
              <a:t>[SCREEN: terminal]</a:t>
            </a:r>
          </a:p>
          <a:p/>
          <a:p>
            <a:r>
              <a:t>[DEMO: output (first line):]</a:t>
            </a:r>
          </a:p>
          <a:p/>
          <a:p>
            <a:r>
              <a:t>Twelve hundred ninety-one votes, twelve point seven percent of requests. Seventy-nine percent positive. Three hundred sixty-three traces have both a vote and a judge score, and they agree eighty percent of the time. Now look at the last two numbers: the judge's mean is point nine one whether the user said thumbs up or thumbs down. On this replayed day, the votes carry almost no information about answer quality. The simulator draws them independently of the answer, and that is exactly what a noisy feedback channel looks like. On the drift day from 8.1, positive feedback drops from seventy-nine percent to seventy-four, because v2's answers really are worse.</a:t>
            </a:r>
          </a:p>
          <a:p/>
          <a:p>
            <a:r>
              <a:t>[SCREEN: Ops Console Quality page: the feedback tile "79% of 12.7%", "Feedback rate by session length" bars, the disagreement table with...]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console shows the rest. Feedback rate by session length climbs from thirteen percent of one-turn sessions to forty percent of four-turn sessions. Don't misread that. Each turn is another chance to vote, and those four numbers are just what thirteen percent per answer adds up to. The simulator has no survivorship built in. On real traffic, the per-answer rate is the one to watch. If it falls in long sessions, the unhappy people are leaving instead of voting. And the disagreement table: eighty-one traces where user and judge disagree, seventy-one of them a thumbs-down the judge rated fine. Click any row and the trace opens. On the replay every complaint says "unhelpful"; on real traffic, the reasons are the week's reading list.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how do you correct? Judge the complaints, which the tail rule does. Count abandonment as its own metric: a session with no final answer viewed, or the same question re-asked within two minutes. Show feedback per answer and by session length, and don't pretend there's one number. And treat every disagreement between judge and user as the week's reading list. Sometimes the judge is wrong. Sometimes the user wanted something the policy forbids. Both tell you something a score can't.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Guardrail and safety metrics.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series. Injection: the guardrail observation you built in the Section 4 challenge flagged the message, and Atlas refused before calling the model. Refusals: the budget guard said no. And PII in output: the detector from Section 10 found an email, a phone number, an employee ID or a card number in the final answer. Rates, not counts. Seventy-two attempts on a ten-thousand-request day is background noise. Seventy-two on a Sunday with two hundred requests is someone probing you.</a:t>
            </a:r>
          </a:p>
          <a:p/>
          <a:p>
            <a:r>
              <a:t>[SCREEN: VS Code, `app/agent.py`, `run()`]</a:t>
            </a:r>
          </a:p>
          <a:p/>
          <a:p>
            <a:r>
              <a:t>[CODE: `app/agent.py` (excerpt): where the safety events come from]</a:t>
            </a:r>
          </a:p>
          <a:p/>
          <a:p>
            <a:r>
              <a:t>Two places. The guardrail observation, exactly as in 4.7: its own span, the reason and confidence on it, a counter increment when it flags, and the injection refusal instead of a model call. And at the end of the request: if the final answer contains PII, count it and put a `pii_in_output` event on the root span. Notice what that second block does not do: it doesn't change the answer. The span's copy of the answer is masked, as you'll see in Section 10, but the user gets the answer as written. Whether to mask a user-facing answer is a product decision, because an employee who asks for their own ticket's contact number needs it.</a:t>
            </a:r>
          </a:p>
          <a:p/>
          <a:p>
            <a:r>
              <a:t>[SCREEN: terminal, then the Ops Console Safety page]</a:t>
            </a:r>
          </a:p>
          <a:p/>
          <a:p>
            <a:r>
              <a:t>[DEMO: the Safety page: injection rate, refusal rate and PII-in-output rate per hour for the replayed day; the table underneath. Injectio...]</a:t>
            </a:r>
          </a:p>
          <a:p/>
          <a:p>
            <a:r>
              <a:t>Here's the replayed day. Injection attempts: seventy-two in total, a fraction of a percent of every hour, a little more in the morning peak. Refusals: zero, because no tenant came near its budget. And PII in output, a few percent of answers in every single hour. That last line deserves suspicion. Open a few of the flagged traces.</a:t>
            </a:r>
          </a:p>
          <a:p/>
          <a:p>
            <a:r>
              <a:t>[SCREEN: terminal: list the flagged answers from the store]</a:t>
            </a:r>
          </a:p>
          <a:p/>
          <a:p>
            <a:r>
              <a:t>[DEMO: output:]</a:t>
            </a:r>
          </a:p>
          <a:p/>
          <a:p>
            <a:r>
              <a:t>Six hundred seventy-eight flagged answers. Read the first one. There it is. The policy article tells people their employee ID has the format `NW-12345`, Atlas quotes the article, and the detector sees an employee ID. It's an example, not a person. Most of the flags on the replay are like this: format examples in policy text. A detector you haven't read the output of is a detector that will page you for the knowledge base.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Thresholds, from your own baseline, not from mine. Warn at about three times normal over an hour; page at ten times over fifteen minutes. And notice the PII row's page condition: raw PII reaching your telemetry isn't a metric threshold, it's a test in Section 10 that must never fail. The metric here is the detector's catch rate, and its job is to tell you when a prompt change starts producing more to catch. Fix the false positives first, with an allowlist for format examples, or this line will train everyone to ignore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Drift detection: compare this week to last week.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questions. Did the average move, and did the shape move? The mean can hide a shape change: if half the answers get better and half get worse, the mean is flat and the product is broken. The Population Stability Index compares two histograms and gives you one number. Under point one, stable. Point one to point two five, watch. Over point two five, alert. Those are the conventional cut-offs from credit risk, and they work fine here. And windows are like for like: a week against a week, because Monday traffic is nothing like Saturday traffic.</a:t>
            </a:r>
          </a:p>
          <a:p/>
          <a:p>
            <a:r>
              <a:t>[SCREEN: VS Code, `src/northwind/drift.py`]</a:t>
            </a:r>
          </a:p>
          <a:p/>
          <a:p>
            <a:r>
              <a:t>[CODE: `src/northwind/drift.py` (excerpt)]</a:t>
            </a:r>
          </a:p>
          <a:p/>
          <a:p>
            <a:r>
              <a:t>`psi` bins both samples on equal-width bins over the baseline's range, floors each bin at a tiny epsilon so no log blows up, and sums the standard formula. Twenty lines, no dependencies. `compare_windows` takes one metric's values from two windows and returns a `DriftResult`: both windows' stats, the PSI, the mean and p95 shifts, a status, and the reasons.</a:t>
            </a:r>
          </a:p>
          <a:p/>
          <a:p>
            <a:r>
              <a:t>[SCREEN: zoom on `higher_is_better` and the "watch if improved" branch]</a:t>
            </a:r>
          </a:p>
          <a:p/>
          <a:p>
            <a:r>
              <a:t>Now the data: two weeks in one store.</a:t>
            </a:r>
          </a:p>
          <a:p/>
          <a:p>
            <a:r>
              <a:t>[SCREEN: terminal]</a:t>
            </a:r>
          </a:p>
          <a:p/>
          <a:p>
            <a:r>
              <a:t>[DEMO: the markdown report renders:]</a:t>
            </a:r>
          </a:p>
          <a:p/>
          <a:p>
            <a:r>
              <a:t>Read it top to bottom. Three alerts, all judge scores. Grounded down twenty-four percent, resolved down seventeen and a half. Overall down fourteen percent, under the fifteen-percent mean rule, but with a PSI near two, so it alerts on shape alone. Then the rows that didn't alert. Feedback down eight percent: the users noticed, but not enough to cross a threshold. Cost per request down five percent, and latency "watch, mean improved": the new answers are shorter, so they're cheaper and faster. Steps flat. So it's not a retrieval change and not a provider problem; those would move cost, latency or steps the other way. Something made the answers shorter and worse.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why the PSI earned its place. On the overall score, the mean moved less than fifteen percent, so a mean-only rule would have stayed quiet. The histogram tells the real story: most of the week's early answers still score where they always did, and a new cluster appeared well below them. And the cheaper, faster week is the trap. If you only watched cost and latency, this release looks like an improvement.</a:t>
            </a:r>
          </a:p>
          <a:p/>
          <a:p>
            <a:r>
              <a:t>The report says what moved. It doesn't say why. That's one click away.</a:t>
            </a:r>
          </a:p>
          <a:p/>
          <a:p>
            <a:r>
              <a:t>[SCREEN: Ops Console Quality page on the two-week store: "Judge scores by prompt version": v1 `judge_overall` 0.912 (n 4,135), v2 0.709 (...]</a:t>
            </a:r>
          </a:p>
          <a:p/>
          <a:p>
            <a:r>
              <a:t>The Quality page splits the judge by prompt version: version one at point nine one, version two at point seven one. One feature of the release, one cluster of bad scores, and your first suspect, in two screens, from numbers you were already collecting. We'll take it from suspect to root cause in Incident 3.</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it a habit. The report writes to a file and exits non-zero on an alert, so a Monday CI job can run it and post the markdown. Warnings become tickets. Alerts page, in business hours, because drift is rarely a three-a.m. problem. And always put what changed next to it: prompt versions, release markers, config diffs. A drift report without a list of what changed is a mystery. With one, it's a diagnosis.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From bad trace to regression test.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clear rule, so the dataset doesn't fill with noise: the judge's overall score under point six, or a thumbs-down, or a request that ended in a step limit, an error or a timeout. Mask the question and the answer before they leave the store, because a dataset is a copy of production text. For the expected output, leave it empty and have a human write it; the reasons and the actual answer ride along in metadata, so they start from evidence instead of from nothing. And `source_trace_id`, which is the important field: it links the item to the production trace, so whoever reviews it sees the whole story.</a:t>
            </a:r>
          </a:p>
          <a:p/>
          <a:p>
            <a:r>
              <a:t>[SCREEN: VS Code, `evals/to_dataset.py`]</a:t>
            </a:r>
          </a:p>
          <a:p/>
          <a:p>
            <a:r>
              <a:t>[CODE: `evals/to_dataset.py` (excerpt)]</a:t>
            </a:r>
          </a:p>
          <a:p/>
          <a:p>
            <a:r>
              <a:t>`select_bad_traces` loops over the agent spans, applies the rule, masks the text, and builds a `DatasetItem` with the source trace id. `push_to_langfuse` creates the dataset if it doesn't exist and one item per trace. That's the whole promotion. `write_jsonl` gives you the same items as a file, for the offline eval when there is no Langfuse.</a:t>
            </a:r>
          </a:p>
          <a:p/>
          <a:p>
            <a:r>
              <a:t>[SCREEN: terminal, then Langfuse UI]</a:t>
            </a:r>
          </a:p>
          <a:p/>
          <a:p>
            <a:r>
              <a:t>[DEMO: `selected=771 written=771 -&gt; .atlas/dataset.jsonl langfuse_items=0`. With keys: the Langfuse dataset `atlas-failures`; click an it...]</a:t>
            </a:r>
          </a:p>
          <a:p/>
          <a:p>
            <a:r>
              <a:t>Seven hundred seventy-one items. Most of them are thumbs-down; a hundred seventy are the judge's failures, and the reasons field says which is which. `make dataset` does the same with the default limit of a hundred. With keys, click an item in Langfuse and the source trace opens next to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payoff. Take the hundred seventy items the judge flagged and run them against a candidate prompt, with the same judge the online loop uses. Here the only candidates in the repo are the two versions that exist, v1 and v2; in your world, the candidate is the v3 you just drafted.</a:t>
            </a:r>
          </a:p>
          <a:p/>
          <a:p>
            <a:r>
              <a:t>[SCREEN: terminal]</a:t>
            </a:r>
          </a:p>
          <a:p/>
          <a:p>
            <a:r>
              <a:t>[DEMO: output:]</a:t>
            </a:r>
          </a:p>
          <a:p/>
          <a:p>
            <a:r>
              <a:t>Version two passes a hundred thirty-six of a hundred seventy. Version one passes a hundred sixty-eight. That's the evidence for the rollback in Incident 3, produced before anyone touched the production label. If you've taken my testing and evaluation course, this is the offline eval loop you already know, fed from production instead of from a hand-written file.</a:t>
            </a:r>
          </a:p>
          <a:p/>
          <a:p>
            <a:r>
              <a:t>Two habits. First, the dataset only grows: the two items that still fail on version one get a human-written expected output and become this week's reading. Second, every item has a source trace, so when a test fails in six months, you can still see the real conversation that created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Lab 5: Build the quality page of the Ops Console.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I'll check. That your quality tiles use the head sample, not the tail. That the feedback tile shows the rate, so nobody reads seventy-nine percent as seventy-nine percent of users. And that your page can name the change, not just the drop: the split by prompt version is the line that turns "quality fell" into "prompt v2 did it."</a:t>
            </a:r>
          </a:p>
          <a:p/>
          <a:p>
            <a:r>
              <a:t>The stretch goal is the promotion step. When it works, your page shows a count of items in the failures dataset. That count is the most underrated number on any quality dashboard, because it's the size of next week's test suite. Everything runs offline with the offline judge; the lab shows how to run the real judge on a hundred traces if you have keys, with `--limit 100` as your spending cap.</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(continued) Three things I'll check. That your quality tiles use the head sample, not the tail. That the feedback tile shows the rate, so nobody reads seventy-nine percent as seventy-nine percent of users. And th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Quiz: Online evaluation.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tip: whenever a question shows a flat mean with a high PSI, the answer involves a distribution that split in two, and the next step is to open the low cluster.</a:t>
            </a:r>
          </a:p>
          <a:p/>
          <a:p>
            <a:r>
              <a:t>Every answer links back to its lecture.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08 · Lecture 8.1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8 · QUALITY IN PRODUCTION: ONLINE EVALUATION AND DRIFT</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8.1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Offline evals are not enough</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A passing test suite tells you about yesterday's questions; production quality needs a judge, real feedback and a drift check on today's…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08 · Lecture 8.1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Four ways quality drops while tests stay green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Distribution shift: the questions change. A new expense system, and a third of finance questions are about a screen your knowledge base has never seen</a:t>
            </a:r>
          </a:p>
          <a:p>
            <a:pPr marL="292608" indent="-292608">
              <a:lnSpc>
                <a:spcPct val="120000"/>
              </a:lnSpc>
              <a:spcAft>
                <a:spcPts val="1260"/>
              </a:spcAft>
              <a:buClr>
                <a:srgbClr val="00D4AA"/>
              </a:buClr>
              <a:buFont typeface="Inter"/>
              <a:buChar char="•"/>
            </a:pPr>
            <a:r>
              <a:rPr sz="1800" b="0">
                <a:solidFill>
                  <a:srgbClr val="FFFFFF"/>
                </a:solidFill>
                <a:latin typeface="Inter"/>
              </a:rPr>
              <a:t>New intents: users ask things you never planned for, and Atlas answers anyway</a:t>
            </a:r>
          </a:p>
          <a:p>
            <a:pPr marL="292608" indent="-292608">
              <a:lnSpc>
                <a:spcPct val="120000"/>
              </a:lnSpc>
              <a:spcAft>
                <a:spcPts val="1260"/>
              </a:spcAft>
              <a:buClr>
                <a:srgbClr val="00D4AA"/>
              </a:buClr>
              <a:buFont typeface="Inter"/>
              <a:buChar char="•"/>
            </a:pPr>
            <a:r>
              <a:rPr sz="1800" b="0">
                <a:solidFill>
                  <a:srgbClr val="FFFFFF"/>
                </a:solidFill>
                <a:latin typeface="Inter"/>
              </a:rPr>
              <a:t>Prompt and model changes: prompt v2 goes live; the provider updates a model behind the same name</a:t>
            </a:r>
          </a:p>
          <a:p>
            <a:pPr marL="292608" indent="-292608">
              <a:lnSpc>
                <a:spcPct val="120000"/>
              </a:lnSpc>
              <a:spcAft>
                <a:spcPts val="1260"/>
              </a:spcAft>
              <a:buClr>
                <a:srgbClr val="00D4AA"/>
              </a:buClr>
              <a:buFont typeface="Inter"/>
              <a:buChar char="•"/>
            </a:pPr>
            <a:r>
              <a:rPr sz="1800" b="0">
                <a:solidFill>
                  <a:srgbClr val="FFFFFF"/>
                </a:solidFill>
                <a:latin typeface="Inter"/>
              </a:rPr>
              <a:t>Silent regressions: a retrieval top-k change, a truncation budget, a tool that starts returning less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08 · Lecture 8.1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Quality in production: three signals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A judge: an LLM grades a sample of live traces against criteria you wrote. Continuous, costs money, scales</a:t>
            </a:r>
          </a:p>
          <a:p>
            <a:pPr marL="292608" indent="-292608">
              <a:lnSpc>
                <a:spcPct val="120000"/>
              </a:lnSpc>
              <a:spcAft>
                <a:spcPts val="1260"/>
              </a:spcAft>
              <a:buClr>
                <a:srgbClr val="00D4AA"/>
              </a:buClr>
              <a:buFont typeface="Inter"/>
              <a:buChar char="•"/>
            </a:pPr>
            <a:r>
              <a:rPr sz="1800" b="0">
                <a:solidFill>
                  <a:srgbClr val="FFFFFF"/>
                </a:solidFill>
                <a:latin typeface="Inter"/>
              </a:rPr>
              <a:t>Feedback: users tell you. Free, sparse, biased</a:t>
            </a:r>
          </a:p>
          <a:p>
            <a:pPr marL="292608" indent="-292608">
              <a:lnSpc>
                <a:spcPct val="120000"/>
              </a:lnSpc>
              <a:spcAft>
                <a:spcPts val="1260"/>
              </a:spcAft>
              <a:buClr>
                <a:srgbClr val="00D4AA"/>
              </a:buClr>
              <a:buFont typeface="Inter"/>
              <a:buChar char="•"/>
            </a:pPr>
            <a:r>
              <a:rPr sz="1800" b="0">
                <a:solidFill>
                  <a:srgbClr val="FFFFFF"/>
                </a:solidFill>
                <a:latin typeface="Inter"/>
              </a:rPr>
              <a:t>Drift: this window's numbers against the last one's. Catches slow slides the other two miss</a:t>
            </a:r>
          </a:p>
          <a:p>
            <a:pPr marL="292608" indent="-292608">
              <a:lnSpc>
                <a:spcPct val="120000"/>
              </a:lnSpc>
              <a:spcAft>
                <a:spcPts val="1260"/>
              </a:spcAft>
              <a:buClr>
                <a:srgbClr val="00D4AA"/>
              </a:buClr>
              <a:buFont typeface="Inter"/>
              <a:buChar char="•"/>
            </a:pPr>
            <a:r>
              <a:rPr sz="1800" b="0">
                <a:solidFill>
                  <a:srgbClr val="FFFFFF"/>
                </a:solidFill>
                <a:latin typeface="Inter"/>
              </a:rPr>
              <a:t>All three land in the same place: scores on traces in the span store and in Langfuse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08 · Lecture 8.1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quality loop</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Live traffic → sampled traces → judge → scores on traces</a:t>
            </a:r>
          </a:p>
          <a:p>
            <a:pPr marL="292608" indent="-292608">
              <a:lnSpc>
                <a:spcPct val="120000"/>
              </a:lnSpc>
              <a:spcAft>
                <a:spcPts val="1260"/>
              </a:spcAft>
              <a:buClr>
                <a:srgbClr val="00D4AA"/>
              </a:buClr>
              <a:buFont typeface="Inter"/>
              <a:buChar char="•"/>
            </a:pPr>
            <a:r>
              <a:rPr sz="1800" b="0">
                <a:solidFill>
                  <a:srgbClr val="FFFFFF"/>
                </a:solidFill>
                <a:latin typeface="Inter"/>
              </a:rPr>
              <a:t>Users → </a:t>
            </a:r>
            <a:r>
              <a:rPr sz="1656" b="0">
                <a:solidFill>
                  <a:srgbClr val="00D4AA"/>
                </a:solidFill>
                <a:latin typeface="JetBrains Mono"/>
              </a:rPr>
              <a:t>/feedback</a:t>
            </a:r>
            <a:r>
              <a:rPr sz="1800" b="0">
                <a:solidFill>
                  <a:srgbClr val="FFFFFF"/>
                </a:solidFill>
                <a:latin typeface="Inter"/>
              </a:rPr>
              <a:t> → scores on traces</a:t>
            </a:r>
          </a:p>
          <a:p>
            <a:pPr marL="292608" indent="-292608">
              <a:lnSpc>
                <a:spcPct val="120000"/>
              </a:lnSpc>
              <a:spcAft>
                <a:spcPts val="1260"/>
              </a:spcAft>
              <a:buClr>
                <a:srgbClr val="00D4AA"/>
              </a:buClr>
              <a:buFont typeface="Inter"/>
              <a:buChar char="•"/>
            </a:pPr>
            <a:r>
              <a:rPr sz="1800" b="0">
                <a:solidFill>
                  <a:srgbClr val="FFFFFF"/>
                </a:solidFill>
                <a:latin typeface="Inter"/>
              </a:rPr>
              <a:t>Scores + cost + latency → two windows → drift report</a:t>
            </a:r>
          </a:p>
          <a:p>
            <a:pPr marL="292608" indent="-292608">
              <a:lnSpc>
                <a:spcPct val="120000"/>
              </a:lnSpc>
              <a:spcAft>
                <a:spcPts val="1260"/>
              </a:spcAft>
              <a:buClr>
                <a:srgbClr val="00D4AA"/>
              </a:buClr>
              <a:buFont typeface="Inter"/>
              <a:buChar char="•"/>
            </a:pPr>
            <a:r>
              <a:rPr sz="1800" b="0">
                <a:solidFill>
                  <a:srgbClr val="FFFFFF"/>
                </a:solidFill>
                <a:latin typeface="Inter"/>
              </a:rPr>
              <a:t>Failing traces → dataset → offline evals (Course 2) → next prompt version</a:t>
            </a:r>
          </a:p>
          <a:p>
            <a:pPr marL="292608" indent="-292608">
              <a:lnSpc>
                <a:spcPct val="120000"/>
              </a:lnSpc>
              <a:spcAft>
                <a:spcPts val="1260"/>
              </a:spcAft>
              <a:buClr>
                <a:srgbClr val="00D4AA"/>
              </a:buClr>
              <a:buFont typeface="Inter"/>
              <a:buChar char="•"/>
            </a:pPr>
            <a:r>
              <a:rPr sz="1800" b="0">
                <a:solidFill>
                  <a:srgbClr val="FFFFFF"/>
                </a:solidFill>
                <a:latin typeface="Inter"/>
              </a:rPr>
              <a:t>Diagram builds clockwise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08 · Lecture 8.1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Why cost engineering depends on this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Cost per resolved session needs </a:t>
            </a:r>
            <a:r>
              <a:rPr sz="1656" b="0">
                <a:solidFill>
                  <a:srgbClr val="00D4AA"/>
                </a:solidFill>
                <a:latin typeface="JetBrains Mono"/>
              </a:rPr>
              <a:t>resolved</a:t>
            </a:r>
          </a:p>
          <a:p>
            <a:pPr marL="292608" indent="-292608">
              <a:lnSpc>
                <a:spcPct val="120000"/>
              </a:lnSpc>
              <a:spcAft>
                <a:spcPts val="1260"/>
              </a:spcAft>
              <a:buClr>
                <a:srgbClr val="00D4AA"/>
              </a:buClr>
              <a:buFont typeface="Inter"/>
              <a:buChar char="•"/>
            </a:pPr>
            <a:r>
              <a:rPr sz="1800" b="0">
                <a:solidFill>
                  <a:srgbClr val="FFFFFF"/>
                </a:solidFill>
                <a:latin typeface="Inter"/>
              </a:rPr>
              <a:t>In Section 6, </a:t>
            </a:r>
            <a:r>
              <a:rPr sz="1656" b="0">
                <a:solidFill>
                  <a:srgbClr val="00D4AA"/>
                </a:solidFill>
                <a:latin typeface="JetBrains Mono"/>
              </a:rPr>
              <a:t>resolved</a:t>
            </a:r>
            <a:r>
              <a:rPr sz="1800" b="0">
                <a:solidFill>
                  <a:srgbClr val="FFFFFF"/>
                </a:solidFill>
                <a:latin typeface="Inter"/>
              </a:rPr>
              <a:t> came from the request outcome: errors, step limits and timeouts</a:t>
            </a:r>
          </a:p>
          <a:p>
            <a:pPr marL="292608" indent="-292608">
              <a:lnSpc>
                <a:spcPct val="120000"/>
              </a:lnSpc>
              <a:spcAft>
                <a:spcPts val="1260"/>
              </a:spcAft>
              <a:buClr>
                <a:srgbClr val="00D4AA"/>
              </a:buClr>
              <a:buFont typeface="Inter"/>
              <a:buChar char="•"/>
            </a:pPr>
            <a:r>
              <a:rPr sz="1800" b="0">
                <a:solidFill>
                  <a:srgbClr val="FFFFFF"/>
                </a:solidFill>
                <a:latin typeface="Inter"/>
              </a:rPr>
              <a:t>An answer that ends politely and helps nobody still counts as resolved</a:t>
            </a:r>
          </a:p>
          <a:p>
            <a:pPr marL="292608" indent="-292608">
              <a:lnSpc>
                <a:spcPct val="120000"/>
              </a:lnSpc>
              <a:spcAft>
                <a:spcPts val="1260"/>
              </a:spcAft>
              <a:buClr>
                <a:srgbClr val="00D4AA"/>
              </a:buClr>
              <a:buFont typeface="Inter"/>
              <a:buChar char="•"/>
            </a:pPr>
            <a:r>
              <a:rPr sz="1800" b="0">
                <a:solidFill>
                  <a:srgbClr val="FFFFFF"/>
                </a:solidFill>
                <a:latin typeface="Inter"/>
              </a:rPr>
              <a:t>The judge's </a:t>
            </a:r>
            <a:r>
              <a:rPr sz="1656" b="0">
                <a:solidFill>
                  <a:srgbClr val="00D4AA"/>
                </a:solidFill>
                <a:latin typeface="JetBrains Mono"/>
              </a:rPr>
              <a:t>resolved</a:t>
            </a:r>
            <a:r>
              <a:rPr sz="1800" b="0">
                <a:solidFill>
                  <a:srgbClr val="FFFFFF"/>
                </a:solidFill>
                <a:latin typeface="Inter"/>
              </a:rPr>
              <a:t> score (0.892 on the baseline day) is what catches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08 · Lecture 8.1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we'll build</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8.2 sampled judge, scores to the store and Langfuse, cost as a line item</a:t>
            </a:r>
          </a:p>
          <a:p>
            <a:pPr marL="292608" indent="-292608">
              <a:lnSpc>
                <a:spcPct val="120000"/>
              </a:lnSpc>
              <a:spcAft>
                <a:spcPts val="1260"/>
              </a:spcAft>
              <a:buClr>
                <a:srgbClr val="00D4AA"/>
              </a:buClr>
              <a:buFont typeface="Inter"/>
              <a:buChar char="•"/>
            </a:pPr>
            <a:r>
              <a:rPr sz="1800" b="0">
                <a:solidFill>
                  <a:srgbClr val="FFFFFF"/>
                </a:solidFill>
                <a:latin typeface="Inter"/>
              </a:rPr>
              <a:t>8.3 feedback endpoint, correlation with the judge, survivorship bias</a:t>
            </a:r>
          </a:p>
          <a:p>
            <a:pPr marL="292608" indent="-292608">
              <a:lnSpc>
                <a:spcPct val="120000"/>
              </a:lnSpc>
              <a:spcAft>
                <a:spcPts val="1260"/>
              </a:spcAft>
              <a:buClr>
                <a:srgbClr val="00D4AA"/>
              </a:buClr>
              <a:buFont typeface="Inter"/>
              <a:buChar char="•"/>
            </a:pPr>
            <a:r>
              <a:rPr sz="1800" b="0">
                <a:solidFill>
                  <a:srgbClr val="FFFFFF"/>
                </a:solidFill>
                <a:latin typeface="Inter"/>
              </a:rPr>
              <a:t>8.4 guardrail and safety metrics as time series</a:t>
            </a:r>
          </a:p>
          <a:p>
            <a:pPr marL="292608" indent="-292608">
              <a:lnSpc>
                <a:spcPct val="120000"/>
              </a:lnSpc>
              <a:spcAft>
                <a:spcPts val="1260"/>
              </a:spcAft>
              <a:buClr>
                <a:srgbClr val="00D4AA"/>
              </a:buClr>
              <a:buFont typeface="Inter"/>
              <a:buChar char="•"/>
            </a:pPr>
            <a:r>
              <a:rPr sz="1800" b="0">
                <a:solidFill>
                  <a:srgbClr val="FFFFFF"/>
                </a:solidFill>
                <a:latin typeface="Inter"/>
              </a:rPr>
              <a:t>8.5 drift detection and the report</a:t>
            </a:r>
          </a:p>
          <a:p>
            <a:pPr marL="292608" indent="-292608">
              <a:lnSpc>
                <a:spcPct val="120000"/>
              </a:lnSpc>
              <a:spcAft>
                <a:spcPts val="1260"/>
              </a:spcAft>
              <a:buClr>
                <a:srgbClr val="00D4AA"/>
              </a:buClr>
              <a:buFont typeface="Inter"/>
              <a:buChar char="•"/>
            </a:pPr>
            <a:r>
              <a:rPr sz="1800" b="0">
                <a:solidFill>
                  <a:srgbClr val="FFFFFF"/>
                </a:solidFill>
                <a:latin typeface="Inter"/>
              </a:rPr>
              <a:t>8.6 bad trace to regression test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08 · Lecture 8.1</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Green tests don't mean good answers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Three signals: judge, feedback, drift</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Failures become tomorrow's regression tests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08 · Lecture 8.1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Code-along: sampled LLM-as-judge on live traces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the judge: sampling policies, three criteria written for a helpdesk agent, and the scores written back to…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08 · Lecture 8.2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8 · QUALITY IN PRODUCTION: ONLINE EVALUATION AND DRIFT</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8.2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Code-along: sampled LLM-as-judge on live traces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Sample traces deterministically, grade each with three criteria written for Atlas, write the scores to the store and to Langfuse, and count…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08 · Lecture 8.2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Sampling: head plus tail</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Head: a fixed 10% of traces, chosen by hash of the trace id, so re-runs pick the same ones</a:t>
            </a:r>
          </a:p>
          <a:p>
            <a:pPr marL="292608" indent="-292608">
              <a:lnSpc>
                <a:spcPct val="120000"/>
              </a:lnSpc>
              <a:spcAft>
                <a:spcPts val="1260"/>
              </a:spcAft>
              <a:buClr>
                <a:srgbClr val="00D4AA"/>
              </a:buClr>
              <a:buFont typeface="Inter"/>
              <a:buChar char="•"/>
            </a:pPr>
            <a:r>
              <a:rPr sz="1800" b="0">
                <a:solidFill>
                  <a:srgbClr val="FFFFFF"/>
                </a:solidFill>
                <a:latin typeface="Inter"/>
              </a:rPr>
              <a:t>Tail: always judge the interesting ones: escalations, thumbs-down</a:t>
            </a:r>
          </a:p>
          <a:p>
            <a:pPr marL="292608" indent="-292608">
              <a:lnSpc>
                <a:spcPct val="120000"/>
              </a:lnSpc>
              <a:spcAft>
                <a:spcPts val="1260"/>
              </a:spcAft>
              <a:buClr>
                <a:srgbClr val="00D4AA"/>
              </a:buClr>
              <a:buFont typeface="Inter"/>
              <a:buChar char="•"/>
            </a:pPr>
            <a:r>
              <a:rPr sz="1800" b="0">
                <a:solidFill>
                  <a:srgbClr val="FFFFFF"/>
                </a:solidFill>
                <a:latin typeface="Inter"/>
              </a:rPr>
              <a:t>Never judge an errored trace: there is no answer to grade</a:t>
            </a:r>
          </a:p>
          <a:p>
            <a:pPr marL="292608" indent="-292608">
              <a:lnSpc>
                <a:spcPct val="120000"/>
              </a:lnSpc>
              <a:spcAft>
                <a:spcPts val="1260"/>
              </a:spcAft>
              <a:buClr>
                <a:srgbClr val="00D4AA"/>
              </a:buClr>
              <a:buFont typeface="Inter"/>
              <a:buChar char="•"/>
            </a:pPr>
            <a:r>
              <a:rPr sz="1800" b="0">
                <a:solidFill>
                  <a:srgbClr val="FFFFFF"/>
                </a:solidFill>
                <a:latin typeface="Inter"/>
              </a:rPr>
              <a:t>Head gives you an unbiased estimate; tail gives you the failures</a:t>
            </a:r>
          </a:p>
          <a:p>
            <a:pPr marL="292608" indent="-292608">
              <a:lnSpc>
                <a:spcPct val="120000"/>
              </a:lnSpc>
              <a:spcAft>
                <a:spcPts val="1260"/>
              </a:spcAft>
              <a:buClr>
                <a:srgbClr val="00D4AA"/>
              </a:buClr>
              <a:buFont typeface="Inter"/>
              <a:buChar char="•"/>
            </a:pPr>
            <a:r>
              <a:rPr sz="1800" b="0">
                <a:solidFill>
                  <a:srgbClr val="FFFFFF"/>
                </a:solidFill>
                <a:latin typeface="Inter"/>
              </a:rPr>
              <a:t>Never judge 100%: the judge would cost several times what serving does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08 · Lecture 8.2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Two judges, one interface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656" b="0">
                <a:solidFill>
                  <a:srgbClr val="00D4AA"/>
                </a:solidFill>
                <a:latin typeface="JetBrains Mono"/>
              </a:rPr>
              <a:t>DeepEvalJudge</a:t>
            </a:r>
            <a:r>
              <a:rPr sz="1800" b="0">
                <a:solidFill>
                  <a:srgbClr val="FFFFFF"/>
                </a:solidFill>
                <a:latin typeface="Inter"/>
              </a:rPr>
              <a:t>: G-Eval on gpt-4.1-mini, only with </a:t>
            </a:r>
            <a:r>
              <a:rPr sz="1656" b="0">
                <a:solidFill>
                  <a:srgbClr val="00D4AA"/>
                </a:solidFill>
                <a:latin typeface="JetBrains Mono"/>
              </a:rPr>
              <a:t>OPENAI_API_KEY</a:t>
            </a:r>
            <a:r>
              <a:rPr sz="1800" b="0">
                <a:solidFill>
                  <a:srgbClr val="FFFFFF"/>
                </a:solidFill>
                <a:latin typeface="Inter"/>
              </a:rPr>
              <a:t> and </a:t>
            </a:r>
            <a:r>
              <a:rPr sz="1656" b="0">
                <a:solidFill>
                  <a:srgbClr val="00D4AA"/>
                </a:solidFill>
                <a:latin typeface="JetBrains Mono"/>
              </a:rPr>
              <a:t>OFFLINE=0</a:t>
            </a:r>
          </a:p>
          <a:p>
            <a:pPr marL="292608" indent="-292608">
              <a:lnSpc>
                <a:spcPct val="120000"/>
              </a:lnSpc>
              <a:spcAft>
                <a:spcPts val="1260"/>
              </a:spcAft>
              <a:buClr>
                <a:srgbClr val="00D4AA"/>
              </a:buClr>
              <a:buFont typeface="Inter"/>
              <a:buChar char="•"/>
            </a:pPr>
            <a:r>
              <a:rPr sz="1656" b="0">
                <a:solidFill>
                  <a:srgbClr val="00D4AA"/>
                </a:solidFill>
                <a:latin typeface="JetBrains Mono"/>
              </a:rPr>
              <a:t>OfflineJudge</a:t>
            </a:r>
            <a:r>
              <a:rPr sz="1800" b="0">
                <a:solidFill>
                  <a:srgbClr val="FFFFFF"/>
                </a:solidFill>
                <a:latin typeface="Inter"/>
              </a:rPr>
              <a:t>: deterministic heuristics over the answer text, same three criteria, plus </a:t>
            </a:r>
            <a:r>
              <a:rPr sz="1656" b="0">
                <a:solidFill>
                  <a:srgbClr val="00D4AA"/>
                </a:solidFill>
                <a:latin typeface="JetBrains Mono"/>
              </a:rPr>
              <a:t>overall</a:t>
            </a:r>
          </a:p>
          <a:p>
            <a:pPr marL="292608" indent="-292608">
              <a:lnSpc>
                <a:spcPct val="120000"/>
              </a:lnSpc>
              <a:spcAft>
                <a:spcPts val="1260"/>
              </a:spcAft>
              <a:buClr>
                <a:srgbClr val="00D4AA"/>
              </a:buClr>
              <a:buFont typeface="Inter"/>
              <a:buChar char="•"/>
            </a:pPr>
            <a:r>
              <a:rPr sz="1656" b="0">
                <a:solidFill>
                  <a:srgbClr val="00D4AA"/>
                </a:solidFill>
                <a:latin typeface="JetBrains Mono"/>
              </a:rPr>
              <a:t>pick_judge</a:t>
            </a:r>
            <a:r>
              <a:rPr sz="1800" b="0">
                <a:solidFill>
                  <a:srgbClr val="FFFFFF"/>
                </a:solidFill>
                <a:latin typeface="Inter"/>
              </a:rPr>
              <a:t> chooses; both return </a:t>
            </a:r>
            <a:r>
              <a:rPr sz="1656" b="0">
                <a:solidFill>
                  <a:srgbClr val="00D4AA"/>
                </a:solidFill>
                <a:latin typeface="JetBrains Mono"/>
              </a:rPr>
              <a:t>resolved</a:t>
            </a:r>
            <a:r>
              <a:rPr sz="1800" b="0">
                <a:solidFill>
                  <a:srgbClr val="FFFFFF"/>
                </a:solidFill>
                <a:latin typeface="Inter"/>
              </a:rPr>
              <a:t>, </a:t>
            </a:r>
            <a:r>
              <a:rPr sz="1656" b="0">
                <a:solidFill>
                  <a:srgbClr val="00D4AA"/>
                </a:solidFill>
                <a:latin typeface="JetBrains Mono"/>
              </a:rPr>
              <a:t>grounded</a:t>
            </a:r>
            <a:r>
              <a:rPr sz="1800" b="0">
                <a:solidFill>
                  <a:srgbClr val="FFFFFF"/>
                </a:solidFill>
                <a:latin typeface="Inter"/>
              </a:rPr>
              <a:t>, </a:t>
            </a:r>
            <a:r>
              <a:rPr sz="1656" b="0">
                <a:solidFill>
                  <a:srgbClr val="00D4AA"/>
                </a:solidFill>
                <a:latin typeface="JetBrains Mono"/>
              </a:rPr>
              <a:t>safe_escalation</a:t>
            </a:r>
            <a:r>
              <a:rPr sz="1800" b="0">
                <a:solidFill>
                  <a:srgbClr val="FFFFFF"/>
                </a:solidFill>
                <a:latin typeface="Inter"/>
              </a:rPr>
              <a:t>, </a:t>
            </a:r>
            <a:r>
              <a:rPr sz="1656" b="0">
                <a:solidFill>
                  <a:srgbClr val="00D4AA"/>
                </a:solidFill>
                <a:latin typeface="JetBrains Mono"/>
              </a:rPr>
              <a:t>overall</a:t>
            </a:r>
          </a:p>
          <a:p>
            <a:pPr marL="292608" indent="-292608">
              <a:lnSpc>
                <a:spcPct val="120000"/>
              </a:lnSpc>
              <a:spcAft>
                <a:spcPts val="1260"/>
              </a:spcAft>
              <a:buClr>
                <a:srgbClr val="00D4AA"/>
              </a:buClr>
              <a:buFont typeface="Inter"/>
              <a:buChar char="•"/>
            </a:pPr>
            <a:r>
              <a:rPr sz="1800" b="0">
                <a:solidFill>
                  <a:srgbClr val="FFFFFF"/>
                </a:solidFill>
                <a:latin typeface="Inter"/>
              </a:rPr>
              <a:t>The G-Eval params here are </a:t>
            </a:r>
            <a:r>
              <a:rPr sz="1656" b="0">
                <a:solidFill>
                  <a:srgbClr val="00D4AA"/>
                </a:solidFill>
                <a:latin typeface="JetBrains Mono"/>
              </a:rPr>
              <a:t>INPUT</a:t>
            </a:r>
            <a:r>
              <a:rPr sz="1800" b="0">
                <a:solidFill>
                  <a:srgbClr val="FFFFFF"/>
                </a:solidFill>
                <a:latin typeface="Inter"/>
              </a:rPr>
              <a:t> and </a:t>
            </a:r>
            <a:r>
              <a:rPr sz="1656" b="0">
                <a:solidFill>
                  <a:srgbClr val="00D4AA"/>
                </a:solidFill>
                <a:latin typeface="JetBrains Mono"/>
              </a:rPr>
              <a:t>ACTUAL_OUTPUT</a:t>
            </a:r>
            <a:r>
              <a:rPr sz="1800" b="0">
                <a:solidFill>
                  <a:srgbClr val="FFFFFF"/>
                </a:solidFill>
                <a:latin typeface="Inter"/>
              </a:rPr>
              <a:t>; adding </a:t>
            </a:r>
            <a:r>
              <a:rPr sz="1656" b="0">
                <a:solidFill>
                  <a:srgbClr val="00D4AA"/>
                </a:solidFill>
                <a:latin typeface="JetBrains Mono"/>
              </a:rPr>
              <a:t>RETRIEVAL_CONTEXT</a:t>
            </a:r>
            <a:r>
              <a:rPr sz="1800" b="0">
                <a:solidFill>
                  <a:srgbClr val="FFFFFF"/>
                </a:solidFill>
                <a:latin typeface="Inter"/>
              </a:rPr>
              <a:t> is the next step for </a:t>
            </a:r>
            <a:r>
              <a:rPr sz="1656" b="0">
                <a:solidFill>
                  <a:srgbClr val="00D4AA"/>
                </a:solidFill>
                <a:latin typeface="JetBrains Mono"/>
              </a:rPr>
              <a:t>grounded</a:t>
            </a:r>
          </a:p>
          <a:p>
            <a:pPr marL="292608" indent="-292608">
              <a:lnSpc>
                <a:spcPct val="120000"/>
              </a:lnSpc>
              <a:spcAft>
                <a:spcPts val="1260"/>
              </a:spcAft>
              <a:buClr>
                <a:srgbClr val="00D4AA"/>
              </a:buClr>
              <a:buFont typeface="Inter"/>
              <a:buChar char="•"/>
            </a:pPr>
            <a:r>
              <a:rPr sz="1800" b="0">
                <a:solidFill>
                  <a:srgbClr val="FFFFFF"/>
                </a:solidFill>
                <a:latin typeface="Inter"/>
              </a:rPr>
              <a:t>The offline judge is what makes Incident 3 reproduce on every laptop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08 · Lecture 8.2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400" b="1">
                <a:solidFill>
                  <a:srgbClr val="FFFFFF"/>
                </a:solidFill>
                <a:latin typeface="Inter"/>
              </a:rPr>
              <a:t>The judge's bill (3 criteria, about 1,200 in / 150 out each; verify current pricing)</a:t>
            </a:r>
          </a:p>
        </p:txBody>
      </p:sp>
      <p:sp>
        <p:nvSpPr>
          <p:cNvPr id="4" name="Rectangle 3"/>
          <p:cNvSpPr/>
          <p:nvPr/>
        </p:nvSpPr>
        <p:spPr>
          <a:xfrm>
            <a:off x="502920" y="1365269"/>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667021"/>
          <a:ext cx="11292840" cy="1755648"/>
        </p:xfrm>
        <a:graphic>
          <a:graphicData uri="http://schemas.openxmlformats.org/drawingml/2006/table">
            <a:tbl>
              <a:tblPr firstRow="1" bandRow="1">
                <a:tableStyleId>{5C22544A-7EE6-4342-B048-85BDC9FD1C3A}</a:tableStyleId>
              </a:tblPr>
              <a:tblGrid>
                <a:gridCol w="3290040"/>
                <a:gridCol w="1422720"/>
                <a:gridCol w="2934360"/>
                <a:gridCol w="3645720"/>
              </a:tblGrid>
              <a:tr h="438912">
                <a:tc>
                  <a:txBody>
                    <a:bodyPr wrap="square"/>
                    <a:lstStyle/>
                    <a:p>
                      <a:r>
                        <a:rPr sz="1400" b="1">
                          <a:solidFill>
                            <a:srgbClr val="0A1628"/>
                          </a:solidFill>
                          <a:latin typeface="Inter"/>
                        </a:rPr>
                        <a:t>Judge model</a:t>
                      </a:r>
                    </a:p>
                  </a:txBody>
                  <a:tcPr marL="91440" marR="91440" marT="45720" marB="45720" anchor="ctr">
                    <a:solidFill>
                      <a:srgbClr val="00D4AA"/>
                    </a:solidFill>
                  </a:tcPr>
                </a:tc>
                <a:tc>
                  <a:txBody>
                    <a:bodyPr wrap="square"/>
                    <a:lstStyle/>
                    <a:p>
                      <a:r>
                        <a:rPr sz="1400" b="1">
                          <a:solidFill>
                            <a:srgbClr val="0A1628"/>
                          </a:solidFill>
                          <a:latin typeface="Inter"/>
                        </a:rPr>
                        <a:t>Per judged trace</a:t>
                      </a:r>
                    </a:p>
                  </a:txBody>
                  <a:tcPr marL="91440" marR="91440" marT="45720" marB="45720" anchor="ctr">
                    <a:solidFill>
                      <a:srgbClr val="00D4AA"/>
                    </a:solidFill>
                  </a:tcPr>
                </a:tc>
                <a:tc>
                  <a:txBody>
                    <a:bodyPr wrap="square"/>
                    <a:lstStyle/>
                    <a:p>
                      <a:r>
                        <a:rPr sz="1400" b="1">
                          <a:solidFill>
                            <a:srgbClr val="0A1628"/>
                          </a:solidFill>
                          <a:latin typeface="Inter"/>
                        </a:rPr>
                        <a:t>10% of a day (about 1,010 traces)</a:t>
                      </a:r>
                    </a:p>
                  </a:txBody>
                  <a:tcPr marL="91440" marR="91440" marT="45720" marB="45720" anchor="ctr">
                    <a:solidFill>
                      <a:srgbClr val="00D4AA"/>
                    </a:solidFill>
                  </a:tcPr>
                </a:tc>
                <a:tc>
                  <a:txBody>
                    <a:bodyPr wrap="square"/>
                    <a:lstStyle/>
                    <a:p>
                      <a:r>
                        <a:rPr sz="1400" b="1">
                          <a:solidFill>
                            <a:srgbClr val="0A1628"/>
                          </a:solidFill>
                          <a:latin typeface="Inter"/>
                        </a:rPr>
                        <a:t>Share of serving after Section 6 ($19.07)</a:t>
                      </a:r>
                    </a:p>
                  </a:txBody>
                  <a:tcPr marL="91440" marR="91440" marT="45720" marB="45720" anchor="ctr">
                    <a:solidFill>
                      <a:srgbClr val="00D4AA"/>
                    </a:solidFill>
                  </a:tcPr>
                </a:tc>
              </a:tr>
              <a:tr h="438912">
                <a:tc>
                  <a:txBody>
                    <a:bodyPr wrap="square"/>
                    <a:lstStyle/>
                    <a:p>
                      <a:r>
                        <a:rPr sz="1400" b="1">
                          <a:solidFill>
                            <a:srgbClr val="FFFFFF"/>
                          </a:solidFill>
                          <a:latin typeface="Inter"/>
                        </a:rPr>
                        <a:t>gpt-4.1-mini</a:t>
                      </a:r>
                    </a:p>
                  </a:txBody>
                  <a:tcPr marL="91440" marR="91440" marT="45720" marB="45720" anchor="ctr">
                    <a:solidFill>
                      <a:srgbClr val="1A2742"/>
                    </a:solidFill>
                  </a:tcPr>
                </a:tc>
                <a:tc>
                  <a:txBody>
                    <a:bodyPr wrap="square"/>
                    <a:lstStyle/>
                    <a:p>
                      <a:r>
                        <a:rPr sz="1400" b="0">
                          <a:solidFill>
                            <a:srgbClr val="FFFFFF"/>
                          </a:solidFill>
                          <a:latin typeface="Inter"/>
                        </a:rPr>
                        <a:t>$0.00216</a:t>
                      </a:r>
                    </a:p>
                  </a:txBody>
                  <a:tcPr marL="91440" marR="91440" marT="45720" marB="45720" anchor="ctr">
                    <a:solidFill>
                      <a:srgbClr val="1A2742"/>
                    </a:solidFill>
                  </a:tcPr>
                </a:tc>
                <a:tc>
                  <a:txBody>
                    <a:bodyPr wrap="square"/>
                    <a:lstStyle/>
                    <a:p>
                      <a:r>
                        <a:rPr sz="1400" b="0">
                          <a:solidFill>
                            <a:srgbClr val="FFFFFF"/>
                          </a:solidFill>
                          <a:latin typeface="Inter"/>
                        </a:rPr>
                        <a:t>about $2.18</a:t>
                      </a:r>
                    </a:p>
                  </a:txBody>
                  <a:tcPr marL="91440" marR="91440" marT="45720" marB="45720" anchor="ctr">
                    <a:solidFill>
                      <a:srgbClr val="1A2742"/>
                    </a:solidFill>
                  </a:tcPr>
                </a:tc>
                <a:tc>
                  <a:txBody>
                    <a:bodyPr wrap="square"/>
                    <a:lstStyle/>
                    <a:p>
                      <a:r>
                        <a:rPr sz="1400" b="0">
                          <a:solidFill>
                            <a:srgbClr val="FFFFFF"/>
                          </a:solidFill>
                          <a:latin typeface="Inter"/>
                        </a:rPr>
                        <a:t>about 11%</a:t>
                      </a:r>
                    </a:p>
                  </a:txBody>
                  <a:tcPr marL="91440" marR="91440" marT="45720" marB="45720" anchor="ctr">
                    <a:solidFill>
                      <a:srgbClr val="1A2742"/>
                    </a:solidFill>
                  </a:tcPr>
                </a:tc>
              </a:tr>
              <a:tr h="438912">
                <a:tc>
                  <a:txBody>
                    <a:bodyPr wrap="square"/>
                    <a:lstStyle/>
                    <a:p>
                      <a:r>
                        <a:rPr sz="1400" b="1">
                          <a:solidFill>
                            <a:srgbClr val="FFFFFF"/>
                          </a:solidFill>
                          <a:latin typeface="Inter"/>
                        </a:rPr>
                        <a:t>gpt-4.1</a:t>
                      </a:r>
                    </a:p>
                  </a:txBody>
                  <a:tcPr marL="91440" marR="91440" marT="45720" marB="45720" anchor="ctr">
                    <a:solidFill>
                      <a:srgbClr val="0F1E35"/>
                    </a:solidFill>
                  </a:tcPr>
                </a:tc>
                <a:tc>
                  <a:txBody>
                    <a:bodyPr wrap="square"/>
                    <a:lstStyle/>
                    <a:p>
                      <a:r>
                        <a:rPr sz="1400" b="0">
                          <a:solidFill>
                            <a:srgbClr val="FFFFFF"/>
                          </a:solidFill>
                          <a:latin typeface="Inter"/>
                        </a:rPr>
                        <a:t>$0.0108</a:t>
                      </a:r>
                    </a:p>
                  </a:txBody>
                  <a:tcPr marL="91440" marR="91440" marT="45720" marB="45720" anchor="ctr">
                    <a:solidFill>
                      <a:srgbClr val="0F1E35"/>
                    </a:solidFill>
                  </a:tcPr>
                </a:tc>
                <a:tc>
                  <a:txBody>
                    <a:bodyPr wrap="square"/>
                    <a:lstStyle/>
                    <a:p>
                      <a:r>
                        <a:rPr sz="1400" b="0">
                          <a:solidFill>
                            <a:srgbClr val="FFFFFF"/>
                          </a:solidFill>
                          <a:latin typeface="Inter"/>
                        </a:rPr>
                        <a:t>about $10.92</a:t>
                      </a:r>
                    </a:p>
                  </a:txBody>
                  <a:tcPr marL="91440" marR="91440" marT="45720" marB="45720" anchor="ctr">
                    <a:solidFill>
                      <a:srgbClr val="0F1E35"/>
                    </a:solidFill>
                  </a:tcPr>
                </a:tc>
                <a:tc>
                  <a:txBody>
                    <a:bodyPr wrap="square"/>
                    <a:lstStyle/>
                    <a:p>
                      <a:r>
                        <a:rPr sz="1400" b="0">
                          <a:solidFill>
                            <a:srgbClr val="FFFFFF"/>
                          </a:solidFill>
                          <a:latin typeface="Inter"/>
                        </a:rPr>
                        <a:t>about 57%</a:t>
                      </a:r>
                    </a:p>
                  </a:txBody>
                  <a:tcPr marL="91440" marR="91440" marT="45720" marB="45720" anchor="ctr">
                    <a:solidFill>
                      <a:srgbClr val="0F1E35"/>
                    </a:solidFill>
                  </a:tcPr>
                </a:tc>
              </a:tr>
              <a:tr h="438912">
                <a:tc>
                  <a:txBody>
                    <a:bodyPr wrap="square"/>
                    <a:lstStyle/>
                    <a:p>
                      <a:r>
                        <a:rPr sz="1400" b="1">
                          <a:solidFill>
                            <a:srgbClr val="FFFFFF"/>
                          </a:solidFill>
                          <a:latin typeface="Inter"/>
                        </a:rPr>
                        <a:t>Everything (10,112 traces) on gpt-4.1</a:t>
                      </a:r>
                    </a:p>
                  </a:txBody>
                  <a:tcPr marL="91440" marR="91440" marT="45720" marB="45720" anchor="ctr">
                    <a:solidFill>
                      <a:srgbClr val="1A2742"/>
                    </a:solidFill>
                  </a:tcPr>
                </a:tc>
                <a:tc>
                  <a:txBody>
                    <a:bodyPr wrap="square"/>
                    <a:lstStyle/>
                    <a:p/>
                  </a:txBody>
                  <a:tcPr marL="91440" marR="91440" marT="45720" marB="45720" anchor="ctr">
                    <a:solidFill>
                      <a:srgbClr val="1A2742"/>
                    </a:solidFill>
                  </a:tcPr>
                </a:tc>
                <a:tc>
                  <a:txBody>
                    <a:bodyPr wrap="square"/>
                    <a:lstStyle/>
                    <a:p>
                      <a:r>
                        <a:rPr sz="1400" b="0">
                          <a:solidFill>
                            <a:srgbClr val="FFFFFF"/>
                          </a:solidFill>
                          <a:latin typeface="Inter"/>
                        </a:rPr>
                        <a:t>about $109</a:t>
                      </a:r>
                    </a:p>
                  </a:txBody>
                  <a:tcPr marL="91440" marR="91440" marT="45720" marB="45720" anchor="ctr">
                    <a:solidFill>
                      <a:srgbClr val="1A2742"/>
                    </a:solidFill>
                  </a:tcPr>
                </a:tc>
                <a:tc>
                  <a:txBody>
                    <a:bodyPr wrap="square"/>
                    <a:lstStyle/>
                    <a:p>
                      <a:r>
                        <a:rPr sz="1400" b="0">
                          <a:solidFill>
                            <a:srgbClr val="FFFFFF"/>
                          </a:solidFill>
                          <a:latin typeface="Inter"/>
                        </a:rPr>
                        <a:t>almost 6× serving</a:t>
                      </a:r>
                    </a:p>
                  </a:txBody>
                  <a:tcPr marL="91440" marR="91440" marT="45720" marB="45720" anchor="ctr">
                    <a:solidFill>
                      <a:srgbClr val="1A2742"/>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08 · Lecture 8.2</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Head sample for estimates, tail for failures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Three criteria that define a zero</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Price the judge, and cap 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08 · Lecture 8.2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Capturing user feedback that means something</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The judge is one opinion.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08 · Lecture 8.3</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8 · QUALITY IN PRODUCTION: ONLINE EVALUATION AND DRIFT</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8.3</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Capturing user feedback that means something</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Collect a thumb and a reason per trace, write them as scores on the trace, put them next to the judge, and…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08 · Lecture 8.3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Feedback that means something</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One click, then one optional reason from a short list: </a:t>
            </a:r>
            <a:r>
              <a:rPr sz="1656" b="0">
                <a:solidFill>
                  <a:srgbClr val="00D4AA"/>
                </a:solidFill>
                <a:latin typeface="JetBrains Mono"/>
              </a:rPr>
              <a:t>wrong_answer</a:t>
            </a:r>
            <a:r>
              <a:rPr sz="1800" b="0">
                <a:solidFill>
                  <a:srgbClr val="FFFFFF"/>
                </a:solidFill>
                <a:latin typeface="Inter"/>
              </a:rPr>
              <a:t>, </a:t>
            </a:r>
            <a:r>
              <a:rPr sz="1656" b="0">
                <a:solidFill>
                  <a:srgbClr val="00D4AA"/>
                </a:solidFill>
                <a:latin typeface="JetBrains Mono"/>
              </a:rPr>
              <a:t>unhelpful</a:t>
            </a:r>
            <a:r>
              <a:rPr sz="1800" b="0">
                <a:solidFill>
                  <a:srgbClr val="FFFFFF"/>
                </a:solidFill>
                <a:latin typeface="Inter"/>
              </a:rPr>
              <a:t>, </a:t>
            </a:r>
            <a:r>
              <a:rPr sz="1656" b="0">
                <a:solidFill>
                  <a:srgbClr val="00D4AA"/>
                </a:solidFill>
                <a:latin typeface="JetBrains Mono"/>
              </a:rPr>
              <a:t>too_slow</a:t>
            </a:r>
            <a:r>
              <a:rPr sz="1800" b="0">
                <a:solidFill>
                  <a:srgbClr val="FFFFFF"/>
                </a:solidFill>
                <a:latin typeface="Inter"/>
              </a:rPr>
              <a:t>, </a:t>
            </a:r>
            <a:r>
              <a:rPr sz="1656" b="0">
                <a:solidFill>
                  <a:srgbClr val="00D4AA"/>
                </a:solidFill>
                <a:latin typeface="JetBrains Mono"/>
              </a:rPr>
              <a:t>wrong_tool</a:t>
            </a:r>
            <a:r>
              <a:rPr sz="1800" b="0">
                <a:solidFill>
                  <a:srgbClr val="FFFFFF"/>
                </a:solidFill>
                <a:latin typeface="Inter"/>
              </a:rPr>
              <a:t>, </a:t>
            </a:r>
            <a:r>
              <a:rPr sz="1656" b="0">
                <a:solidFill>
                  <a:srgbClr val="00D4AA"/>
                </a:solidFill>
                <a:latin typeface="JetBrains Mono"/>
              </a:rPr>
              <a:t>tone</a:t>
            </a:r>
            <a:r>
              <a:rPr sz="1800" b="0">
                <a:solidFill>
                  <a:srgbClr val="FFFFFF"/>
                </a:solidFill>
                <a:latin typeface="Inter"/>
              </a:rPr>
              <a:t>, </a:t>
            </a:r>
            <a:r>
              <a:rPr sz="1656" b="0">
                <a:solidFill>
                  <a:srgbClr val="00D4AA"/>
                </a:solidFill>
                <a:latin typeface="JetBrains Mono"/>
              </a:rPr>
              <a:t>other</a:t>
            </a:r>
            <a:r>
              <a:rPr sz="1800" b="0">
                <a:solidFill>
                  <a:srgbClr val="FFFFFF"/>
                </a:solidFill>
                <a:latin typeface="Inter"/>
              </a:rPr>
              <a:t> (</a:t>
            </a:r>
            <a:r>
              <a:rPr sz="1656" b="0">
                <a:solidFill>
                  <a:srgbClr val="00D4AA"/>
                </a:solidFill>
                <a:latin typeface="JetBrains Mono"/>
              </a:rPr>
              <a:t>evals/feedback.py</a:t>
            </a:r>
            <a:r>
              <a:rPr sz="1800" b="0">
                <a:solidFill>
                  <a:srgbClr val="FFFFFF"/>
                </a:solidFill>
                <a:latin typeface="Inter"/>
              </a:rPr>
              <a:t>, </a:t>
            </a:r>
            <a:r>
              <a:rPr sz="1656" b="0">
                <a:solidFill>
                  <a:srgbClr val="00D4AA"/>
                </a:solidFill>
                <a:latin typeface="JetBrains Mono"/>
              </a:rPr>
              <a:t>REASONS</a:t>
            </a:r>
            <a:r>
              <a:rPr sz="1800" b="0">
                <a:solidFill>
                  <a:srgbClr val="FFFFFF"/>
                </a:solidFill>
                <a:latin typeface="Inter"/>
              </a:rPr>
              <a:t>)</a:t>
            </a:r>
          </a:p>
          <a:p>
            <a:pPr marL="292608" indent="-292608">
              <a:lnSpc>
                <a:spcPct val="120000"/>
              </a:lnSpc>
              <a:spcAft>
                <a:spcPts val="1260"/>
              </a:spcAft>
              <a:buClr>
                <a:srgbClr val="00D4AA"/>
              </a:buClr>
              <a:buFont typeface="Inter"/>
              <a:buChar char="•"/>
            </a:pPr>
            <a:r>
              <a:rPr sz="1800" b="0">
                <a:solidFill>
                  <a:srgbClr val="FFFFFF"/>
                </a:solidFill>
                <a:latin typeface="Inter"/>
              </a:rPr>
              <a:t>Attached to the trace id, not to the session, so you know which answer they meant</a:t>
            </a:r>
          </a:p>
          <a:p>
            <a:pPr marL="292608" indent="-292608">
              <a:lnSpc>
                <a:spcPct val="120000"/>
              </a:lnSpc>
              <a:spcAft>
                <a:spcPts val="1260"/>
              </a:spcAft>
              <a:buClr>
                <a:srgbClr val="00D4AA"/>
              </a:buClr>
              <a:buFont typeface="Inter"/>
              <a:buChar char="•"/>
            </a:pPr>
            <a:r>
              <a:rPr sz="1800" b="0">
                <a:solidFill>
                  <a:srgbClr val="FFFFFF"/>
                </a:solidFill>
                <a:latin typeface="Inter"/>
              </a:rPr>
              <a:t>Written as a score on the trace: </a:t>
            </a:r>
            <a:r>
              <a:rPr sz="1656" b="0">
                <a:solidFill>
                  <a:srgbClr val="00D4AA"/>
                </a:solidFill>
                <a:latin typeface="JetBrains Mono"/>
              </a:rPr>
              <a:t>user_feedback</a:t>
            </a:r>
            <a:r>
              <a:rPr sz="1800" b="0">
                <a:solidFill>
                  <a:srgbClr val="FFFFFF"/>
                </a:solidFill>
                <a:latin typeface="Inter"/>
              </a:rPr>
              <a:t> 1 / 0.5 / 0, reason and comment alongside</a:t>
            </a:r>
          </a:p>
          <a:p>
            <a:pPr marL="292608" indent="-292608">
              <a:lnSpc>
                <a:spcPct val="120000"/>
              </a:lnSpc>
              <a:spcAft>
                <a:spcPts val="1260"/>
              </a:spcAft>
              <a:buClr>
                <a:srgbClr val="00D4AA"/>
              </a:buClr>
              <a:buFont typeface="Inter"/>
              <a:buChar char="•"/>
            </a:pPr>
            <a:r>
              <a:rPr sz="1800" b="0">
                <a:solidFill>
                  <a:srgbClr val="FFFFFF"/>
                </a:solidFill>
                <a:latin typeface="Inter"/>
              </a:rPr>
              <a:t>Thumbs-down traces are the judge's tail sample (8.2)</a:t>
            </a:r>
          </a:p>
          <a:p>
            <a:pPr marL="292608" indent="-292608">
              <a:lnSpc>
                <a:spcPct val="120000"/>
              </a:lnSpc>
              <a:spcAft>
                <a:spcPts val="1260"/>
              </a:spcAft>
              <a:buClr>
                <a:srgbClr val="00D4AA"/>
              </a:buClr>
              <a:buFont typeface="Inter"/>
              <a:buChar char="•"/>
            </a:pPr>
            <a:r>
              <a:rPr sz="1800" b="0">
                <a:solidFill>
                  <a:srgbClr val="FFFFFF"/>
                </a:solidFill>
                <a:latin typeface="Inter"/>
              </a:rPr>
              <a:t>Report the feedback rate next to the score, always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08 · Lecture 8.3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Survivorship, measured</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Share of sessions that left any feedback: 1 turn 12.6% · 2 turns 23.9% · 3 turns 34.4% · 4 turns 39.9%</a:t>
            </a:r>
          </a:p>
          <a:p>
            <a:pPr marL="292608" indent="-292608">
              <a:lnSpc>
                <a:spcPct val="120000"/>
              </a:lnSpc>
              <a:spcAft>
                <a:spcPts val="1260"/>
              </a:spcAft>
              <a:buClr>
                <a:srgbClr val="00D4AA"/>
              </a:buClr>
              <a:buFont typeface="Inter"/>
              <a:buChar char="•"/>
            </a:pPr>
            <a:r>
              <a:rPr sz="1800" b="0">
                <a:solidFill>
                  <a:srgbClr val="FFFFFF"/>
                </a:solidFill>
                <a:latin typeface="Inter"/>
              </a:rPr>
              <a:t>That rise is mechanical: each turn is another chance to vote (12.7% per request)</a:t>
            </a:r>
          </a:p>
          <a:p>
            <a:pPr marL="292608" indent="-292608">
              <a:lnSpc>
                <a:spcPct val="120000"/>
              </a:lnSpc>
              <a:spcAft>
                <a:spcPts val="1260"/>
              </a:spcAft>
              <a:buClr>
                <a:srgbClr val="00D4AA"/>
              </a:buClr>
              <a:buFont typeface="Inter"/>
              <a:buChar char="•"/>
            </a:pPr>
            <a:r>
              <a:rPr sz="1800" b="0">
                <a:solidFill>
                  <a:srgbClr val="FFFFFF"/>
                </a:solidFill>
                <a:latin typeface="Inter"/>
              </a:rPr>
              <a:t>On real traffic, watch the per-answer rate: if it falls in long sessions, the unhappy are leaving</a:t>
            </a:r>
          </a:p>
          <a:p>
            <a:pPr marL="292608" indent="-292608">
              <a:lnSpc>
                <a:spcPct val="120000"/>
              </a:lnSpc>
              <a:spcAft>
                <a:spcPts val="1260"/>
              </a:spcAft>
              <a:buClr>
                <a:srgbClr val="00D4AA"/>
              </a:buClr>
              <a:buFont typeface="Inter"/>
              <a:buChar char="•"/>
            </a:pPr>
            <a:r>
              <a:rPr sz="1800" b="0">
                <a:solidFill>
                  <a:srgbClr val="FFFFFF"/>
                </a:solidFill>
                <a:latin typeface="Inter"/>
              </a:rPr>
              <a:t>Judge vs user on 363 traces: 77.7% agree on </a:t>
            </a:r>
            <a:r>
              <a:rPr sz="1656" b="0">
                <a:solidFill>
                  <a:srgbClr val="00D4AA"/>
                </a:solidFill>
                <a:latin typeface="JetBrains Mono"/>
              </a:rPr>
              <a:t>resolved</a:t>
            </a:r>
            <a:r>
              <a:rPr sz="1800" b="0">
                <a:solidFill>
                  <a:srgbClr val="FFFFFF"/>
                </a:solidFill>
                <a:latin typeface="Inter"/>
              </a:rPr>
              <a:t>; 81 disagree, 71 of them thumbs-down where the judge says fine</a:t>
            </a:r>
          </a:p>
          <a:p>
            <a:pPr marL="292608" indent="-292608">
              <a:lnSpc>
                <a:spcPct val="120000"/>
              </a:lnSpc>
              <a:spcAft>
                <a:spcPts val="1260"/>
              </a:spcAft>
              <a:buClr>
                <a:srgbClr val="00D4AA"/>
              </a:buClr>
              <a:buFont typeface="Inter"/>
              <a:buChar char="•"/>
            </a:pPr>
            <a:r>
              <a:rPr sz="1800" b="0">
                <a:solidFill>
                  <a:srgbClr val="FFFFFF"/>
                </a:solidFill>
                <a:latin typeface="Inter"/>
              </a:rPr>
              <a:t>Every 👎 comment on the replay is </a:t>
            </a:r>
            <a:r>
              <a:rPr sz="1656" b="0">
                <a:solidFill>
                  <a:srgbClr val="00D4AA"/>
                </a:solidFill>
                <a:latin typeface="JetBrains Mono"/>
              </a:rPr>
              <a:t>unhelpful</a:t>
            </a:r>
            <a:r>
              <a:rPr sz="1800" b="0">
                <a:solidFill>
                  <a:srgbClr val="FFFFFF"/>
                </a:solidFill>
                <a:latin typeface="Inter"/>
              </a:rPr>
              <a:t>; on real traffic, the reason breakdown is your reading list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08 · Lecture 8.3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Correcting for survivorship</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Judge the complaints: thumbs-down is a tail rule</a:t>
            </a:r>
          </a:p>
          <a:p>
            <a:pPr marL="292608" indent="-292608">
              <a:lnSpc>
                <a:spcPct val="120000"/>
              </a:lnSpc>
              <a:spcAft>
                <a:spcPts val="1260"/>
              </a:spcAft>
              <a:buClr>
                <a:srgbClr val="00D4AA"/>
              </a:buClr>
              <a:buFont typeface="Inter"/>
              <a:buChar char="•"/>
            </a:pPr>
            <a:r>
              <a:rPr sz="1800" b="0">
                <a:solidFill>
                  <a:srgbClr val="FFFFFF"/>
                </a:solidFill>
                <a:latin typeface="Inter"/>
              </a:rPr>
              <a:t>Track abandonment as its own metric: no final answer viewed, or the same question re-asked within 2 minutes</a:t>
            </a:r>
          </a:p>
          <a:p>
            <a:pPr marL="292608" indent="-292608">
              <a:lnSpc>
                <a:spcPct val="120000"/>
              </a:lnSpc>
              <a:spcAft>
                <a:spcPts val="1260"/>
              </a:spcAft>
              <a:buClr>
                <a:srgbClr val="00D4AA"/>
              </a:buClr>
              <a:buFont typeface="Inter"/>
              <a:buChar char="•"/>
            </a:pPr>
            <a:r>
              <a:rPr sz="1800" b="0">
                <a:solidFill>
                  <a:srgbClr val="FFFFFF"/>
                </a:solidFill>
                <a:latin typeface="Inter"/>
              </a:rPr>
              <a:t>Report feedback per answer and per session length, not one number</a:t>
            </a:r>
          </a:p>
          <a:p>
            <a:pPr marL="292608" indent="-292608">
              <a:lnSpc>
                <a:spcPct val="120000"/>
              </a:lnSpc>
              <a:spcAft>
                <a:spcPts val="1260"/>
              </a:spcAft>
              <a:buClr>
                <a:srgbClr val="00D4AA"/>
              </a:buClr>
              <a:buFont typeface="Inter"/>
              <a:buChar char="•"/>
            </a:pPr>
            <a:r>
              <a:rPr sz="1800" b="0">
                <a:solidFill>
                  <a:srgbClr val="FFFFFF"/>
                </a:solidFill>
                <a:latin typeface="Inter"/>
              </a:rPr>
              <a:t>Disagreements are the reading list: judge-wrong or user-wrong, both are useful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08 · Lecture 8.3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One thumb and a reason, per trace</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Report the rate next to the score</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Read the judge-user disagreements weekly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08 · Lecture 8.3</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Guardrail and safety metrics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Judge and feedback tell you whether answers are good.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08 · Lecture 8.4</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8 · QUALITY IN PRODUCTION: ONLINE EVALUATION AND DRIFT</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8.4</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Guardrail and safety metrics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Turn the guardrail observation from 4.7 and the PII detector into rates over time, injection attempts, refusals and PII in output, so…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08 · Lecture 8.4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Three safety series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Injection: the guardrail from 4.7 flagged the message; Atlas refused before any model call (outcome </a:t>
            </a:r>
            <a:r>
              <a:rPr sz="1656" b="0">
                <a:solidFill>
                  <a:srgbClr val="00D4AA"/>
                </a:solidFill>
                <a:latin typeface="JetBrains Mono"/>
              </a:rPr>
              <a:t>guardrail</a:t>
            </a:r>
            <a:r>
              <a:rPr sz="1800" b="0">
                <a:solidFill>
                  <a:srgbClr val="FFFFFF"/>
                </a:solidFill>
                <a:latin typeface="Inter"/>
              </a:rPr>
              <a:t>)</a:t>
            </a:r>
          </a:p>
          <a:p>
            <a:pPr marL="292608" indent="-292608">
              <a:lnSpc>
                <a:spcPct val="120000"/>
              </a:lnSpc>
              <a:spcAft>
                <a:spcPts val="1260"/>
              </a:spcAft>
              <a:buClr>
                <a:srgbClr val="00D4AA"/>
              </a:buClr>
              <a:buFont typeface="Inter"/>
              <a:buChar char="•"/>
            </a:pPr>
            <a:r>
              <a:rPr sz="1800" b="0">
                <a:solidFill>
                  <a:srgbClr val="FFFFFF"/>
                </a:solidFill>
                <a:latin typeface="Inter"/>
              </a:rPr>
              <a:t>Refusal: the budget guard said no (outcome </a:t>
            </a:r>
            <a:r>
              <a:rPr sz="1656" b="0">
                <a:solidFill>
                  <a:srgbClr val="00D4AA"/>
                </a:solidFill>
                <a:latin typeface="JetBrains Mono"/>
              </a:rPr>
              <a:t>refused</a:t>
            </a:r>
            <a:r>
              <a:rPr sz="1800" b="0">
                <a:solidFill>
                  <a:srgbClr val="FFFFFF"/>
                </a:solidFill>
                <a:latin typeface="Inter"/>
              </a:rPr>
              <a:t>, 6.7)</a:t>
            </a:r>
          </a:p>
          <a:p>
            <a:pPr marL="292608" indent="-292608">
              <a:lnSpc>
                <a:spcPct val="120000"/>
              </a:lnSpc>
              <a:spcAft>
                <a:spcPts val="1260"/>
              </a:spcAft>
              <a:buClr>
                <a:srgbClr val="00D4AA"/>
              </a:buClr>
              <a:buFont typeface="Inter"/>
              <a:buChar char="•"/>
            </a:pPr>
            <a:r>
              <a:rPr sz="1800" b="0">
                <a:solidFill>
                  <a:srgbClr val="FFFFFF"/>
                </a:solidFill>
                <a:latin typeface="Inter"/>
              </a:rPr>
              <a:t>PII in output: </a:t>
            </a:r>
            <a:r>
              <a:rPr sz="1656" b="0">
                <a:solidFill>
                  <a:srgbClr val="00D4AA"/>
                </a:solidFill>
                <a:latin typeface="JetBrains Mono"/>
              </a:rPr>
              <a:t>contains_pii</a:t>
            </a:r>
            <a:r>
              <a:rPr sz="1800" b="0">
                <a:solidFill>
                  <a:srgbClr val="FFFFFF"/>
                </a:solidFill>
                <a:latin typeface="Inter"/>
              </a:rPr>
              <a:t> found an email, phone, employee ID or card number in the final answer</a:t>
            </a:r>
          </a:p>
          <a:p>
            <a:pPr marL="292608" indent="-292608">
              <a:lnSpc>
                <a:spcPct val="120000"/>
              </a:lnSpc>
              <a:spcAft>
                <a:spcPts val="1260"/>
              </a:spcAft>
              <a:buClr>
                <a:srgbClr val="00D4AA"/>
              </a:buClr>
              <a:buFont typeface="Inter"/>
              <a:buChar char="•"/>
            </a:pPr>
            <a:r>
              <a:rPr sz="1800" b="0">
                <a:solidFill>
                  <a:srgbClr val="FFFFFF"/>
                </a:solidFill>
                <a:latin typeface="Inter"/>
              </a:rPr>
              <a:t>Counter </a:t>
            </a:r>
            <a:r>
              <a:rPr sz="1656" b="0">
                <a:solidFill>
                  <a:srgbClr val="00D4AA"/>
                </a:solidFill>
                <a:latin typeface="JetBrains Mono"/>
              </a:rPr>
              <a:t>atlas_guardrail_events_total{tenant,kind}</a:t>
            </a:r>
            <a:r>
              <a:rPr sz="1800" b="0">
                <a:solidFill>
                  <a:srgbClr val="FFFFFF"/>
                </a:solidFill>
                <a:latin typeface="Inter"/>
              </a:rPr>
              <a:t> with </a:t>
            </a:r>
            <a:r>
              <a:rPr sz="1656" b="0">
                <a:solidFill>
                  <a:srgbClr val="00D4AA"/>
                </a:solidFill>
                <a:latin typeface="JetBrains Mono"/>
              </a:rPr>
              <a:t>kind="prompt_injection"</a:t>
            </a:r>
            <a:r>
              <a:rPr sz="1800" b="0">
                <a:solidFill>
                  <a:srgbClr val="FFFFFF"/>
                </a:solidFill>
                <a:latin typeface="Inter"/>
              </a:rPr>
              <a:t> or </a:t>
            </a:r>
            <a:r>
              <a:rPr sz="1656" b="0">
                <a:solidFill>
                  <a:srgbClr val="00D4AA"/>
                </a:solidFill>
                <a:latin typeface="JetBrains Mono"/>
              </a:rPr>
              <a:t>"pii_in_output"</a:t>
            </a:r>
            <a:r>
              <a:rPr sz="1800" b="0">
                <a:solidFill>
                  <a:srgbClr val="FFFFFF"/>
                </a:solidFill>
                <a:latin typeface="Inter"/>
              </a:rPr>
              <a:t>; refusals are </a:t>
            </a:r>
            <a:r>
              <a:rPr sz="1656" b="0">
                <a:solidFill>
                  <a:srgbClr val="00D4AA"/>
                </a:solidFill>
                <a:latin typeface="JetBrains Mono"/>
              </a:rPr>
              <a:t>atlas_requests_total{outcome="refused"}</a:t>
            </a:r>
          </a:p>
          <a:p>
            <a:pPr marL="292608" indent="-292608">
              <a:lnSpc>
                <a:spcPct val="120000"/>
              </a:lnSpc>
              <a:spcAft>
                <a:spcPts val="1260"/>
              </a:spcAft>
              <a:buClr>
                <a:srgbClr val="00D4AA"/>
              </a:buClr>
              <a:buFont typeface="Inter"/>
              <a:buChar char="•"/>
            </a:pPr>
            <a:r>
              <a:rPr sz="1800" b="0">
                <a:solidFill>
                  <a:srgbClr val="FFFFFF"/>
                </a:solidFill>
                <a:latin typeface="Inter"/>
              </a:rPr>
              <a:t>Always as rates: divide by requests, per hour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08 · Lecture 8.4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Thresholds come from your baseline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8" cy="1536192"/>
        </p:xfrm>
        <a:graphic>
          <a:graphicData uri="http://schemas.openxmlformats.org/drawingml/2006/table">
            <a:tbl>
              <a:tblPr firstRow="1" bandRow="1">
                <a:tableStyleId>{5C22544A-7EE6-4342-B048-85BDC9FD1C3A}</a:tableStyleId>
              </a:tblPr>
              <a:tblGrid>
                <a:gridCol w="1286526"/>
                <a:gridCol w="3502209"/>
                <a:gridCol w="2215683"/>
                <a:gridCol w="4288420"/>
              </a:tblGrid>
              <a:tr h="384048">
                <a:tc>
                  <a:txBody>
                    <a:bodyPr wrap="square"/>
                    <a:lstStyle/>
                    <a:p>
                      <a:r>
                        <a:rPr sz="1200" b="1">
                          <a:solidFill>
                            <a:srgbClr val="0A1628"/>
                          </a:solidFill>
                          <a:latin typeface="Inter"/>
                        </a:rPr>
                        <a:t>Series</a:t>
                      </a:r>
                    </a:p>
                  </a:txBody>
                  <a:tcPr marL="91440" marR="91440" marT="45720" marB="45720" anchor="ctr">
                    <a:solidFill>
                      <a:srgbClr val="00D4AA"/>
                    </a:solidFill>
                  </a:tcPr>
                </a:tc>
                <a:tc>
                  <a:txBody>
                    <a:bodyPr wrap="square"/>
                    <a:lstStyle/>
                    <a:p>
                      <a:r>
                        <a:rPr sz="1200" b="1">
                          <a:solidFill>
                            <a:srgbClr val="0A1628"/>
                          </a:solidFill>
                          <a:latin typeface="Inter"/>
                        </a:rPr>
                        <a:t>Read the baseline from</a:t>
                      </a:r>
                    </a:p>
                  </a:txBody>
                  <a:tcPr marL="91440" marR="91440" marT="45720" marB="45720" anchor="ctr">
                    <a:solidFill>
                      <a:srgbClr val="00D4AA"/>
                    </a:solidFill>
                  </a:tcPr>
                </a:tc>
                <a:tc>
                  <a:txBody>
                    <a:bodyPr wrap="square"/>
                    <a:lstStyle/>
                    <a:p>
                      <a:r>
                        <a:rPr sz="1200" b="1">
                          <a:solidFill>
                            <a:srgbClr val="0A1628"/>
                          </a:solidFill>
                          <a:latin typeface="Inter"/>
                        </a:rPr>
                        <a:t>Warn</a:t>
                      </a:r>
                    </a:p>
                  </a:txBody>
                  <a:tcPr marL="91440" marR="91440" marT="45720" marB="45720" anchor="ctr">
                    <a:solidFill>
                      <a:srgbClr val="00D4AA"/>
                    </a:solidFill>
                  </a:tcPr>
                </a:tc>
                <a:tc>
                  <a:txBody>
                    <a:bodyPr wrap="square"/>
                    <a:lstStyle/>
                    <a:p>
                      <a:r>
                        <a:rPr sz="1200" b="1">
                          <a:solidFill>
                            <a:srgbClr val="0A1628"/>
                          </a:solidFill>
                          <a:latin typeface="Inter"/>
                        </a:rPr>
                        <a:t>Page</a:t>
                      </a:r>
                    </a:p>
                  </a:txBody>
                  <a:tcPr marL="91440" marR="91440" marT="45720" marB="45720" anchor="ctr">
                    <a:solidFill>
                      <a:srgbClr val="00D4AA"/>
                    </a:solidFill>
                  </a:tcPr>
                </a:tc>
              </a:tr>
              <a:tr h="384048">
                <a:tc>
                  <a:txBody>
                    <a:bodyPr wrap="square"/>
                    <a:lstStyle/>
                    <a:p>
                      <a:r>
                        <a:rPr sz="1200" b="1">
                          <a:solidFill>
                            <a:srgbClr val="FFFFFF"/>
                          </a:solidFill>
                          <a:latin typeface="Inter"/>
                        </a:rPr>
                        <a:t>injection rate</a:t>
                      </a:r>
                    </a:p>
                  </a:txBody>
                  <a:tcPr marL="91440" marR="91440" marT="45720" marB="45720" anchor="ctr">
                    <a:solidFill>
                      <a:srgbClr val="1A2742"/>
                    </a:solidFill>
                  </a:tcPr>
                </a:tc>
                <a:tc>
                  <a:txBody>
                    <a:bodyPr wrap="square"/>
                    <a:lstStyle/>
                    <a:p>
                      <a:r>
                        <a:rPr sz="1200" b="0">
                          <a:solidFill>
                            <a:srgbClr val="FFFFFF"/>
                          </a:solidFill>
                          <a:latin typeface="Inter"/>
                        </a:rPr>
                        <a:t>Safety page, a normal week</a:t>
                      </a:r>
                    </a:p>
                  </a:txBody>
                  <a:tcPr marL="91440" marR="91440" marT="45720" marB="45720" anchor="ctr">
                    <a:solidFill>
                      <a:srgbClr val="1A2742"/>
                    </a:solidFill>
                  </a:tcPr>
                </a:tc>
                <a:tc>
                  <a:txBody>
                    <a:bodyPr wrap="square"/>
                    <a:lstStyle/>
                    <a:p>
                      <a:r>
                        <a:rPr sz="1200" b="0">
                          <a:solidFill>
                            <a:srgbClr val="FFFFFF"/>
                          </a:solidFill>
                          <a:latin typeface="Inter"/>
                        </a:rPr>
                        <a:t>3× baseline over 1 h</a:t>
                      </a:r>
                    </a:p>
                  </a:txBody>
                  <a:tcPr marL="91440" marR="91440" marT="45720" marB="45720" anchor="ctr">
                    <a:solidFill>
                      <a:srgbClr val="1A2742"/>
                    </a:solidFill>
                  </a:tcPr>
                </a:tc>
                <a:tc>
                  <a:txBody>
                    <a:bodyPr wrap="square"/>
                    <a:lstStyle/>
                    <a:p>
                      <a:r>
                        <a:rPr sz="1200" b="0">
                          <a:solidFill>
                            <a:srgbClr val="FFFFFF"/>
                          </a:solidFill>
                          <a:latin typeface="Inter"/>
                        </a:rPr>
                        <a:t>10× over 15 min, or one user's burst</a:t>
                      </a:r>
                    </a:p>
                  </a:txBody>
                  <a:tcPr marL="91440" marR="91440" marT="45720" marB="45720" anchor="ctr">
                    <a:solidFill>
                      <a:srgbClr val="1A2742"/>
                    </a:solidFill>
                  </a:tcPr>
                </a:tc>
              </a:tr>
              <a:tr h="384048">
                <a:tc>
                  <a:txBody>
                    <a:bodyPr wrap="square"/>
                    <a:lstStyle/>
                    <a:p>
                      <a:r>
                        <a:rPr sz="1200" b="1">
                          <a:solidFill>
                            <a:srgbClr val="FFFFFF"/>
                          </a:solidFill>
                          <a:latin typeface="Inter"/>
                        </a:rPr>
                        <a:t>refusal rate</a:t>
                      </a:r>
                    </a:p>
                  </a:txBody>
                  <a:tcPr marL="91440" marR="91440" marT="45720" marB="45720" anchor="ctr">
                    <a:solidFill>
                      <a:srgbClr val="0F1E35"/>
                    </a:solidFill>
                  </a:tcPr>
                </a:tc>
                <a:tc>
                  <a:txBody>
                    <a:bodyPr wrap="square"/>
                    <a:lstStyle/>
                    <a:p>
                      <a:r>
                        <a:rPr sz="1200" b="0">
                          <a:solidFill>
                            <a:srgbClr val="FFFFFF"/>
                          </a:solidFill>
                          <a:latin typeface="Inter"/>
                        </a:rPr>
                        <a:t>Safety page; 0 on a normal day</a:t>
                      </a:r>
                    </a:p>
                  </a:txBody>
                  <a:tcPr marL="91440" marR="91440" marT="45720" marB="45720" anchor="ctr">
                    <a:solidFill>
                      <a:srgbClr val="0F1E35"/>
                    </a:solidFill>
                  </a:tcPr>
                </a:tc>
                <a:tc>
                  <a:txBody>
                    <a:bodyPr wrap="square"/>
                    <a:lstStyle/>
                    <a:p>
                      <a:r>
                        <a:rPr sz="1200" b="0">
                          <a:solidFill>
                            <a:srgbClr val="FFFFFF"/>
                          </a:solidFill>
                          <a:latin typeface="Inter"/>
                        </a:rPr>
                        <a:t>any refusals for a tenant (6.7)</a:t>
                      </a:r>
                    </a:p>
                  </a:txBody>
                  <a:tcPr marL="91440" marR="91440" marT="45720" marB="45720" anchor="ctr">
                    <a:solidFill>
                      <a:srgbClr val="0F1E35"/>
                    </a:solidFill>
                  </a:tcPr>
                </a:tc>
                <a:tc>
                  <a:txBody>
                    <a:bodyPr wrap="square"/>
                    <a:lstStyle/>
                    <a:p>
                      <a:r>
                        <a:rPr sz="1200" b="0">
                          <a:solidFill>
                            <a:srgbClr val="FFFFFF"/>
                          </a:solidFill>
                          <a:latin typeface="Inter"/>
                        </a:rPr>
                        <a:t>hard-cap refusals (</a:t>
                      </a:r>
                      <a:r>
                        <a:rPr sz="1104" b="0">
                          <a:solidFill>
                            <a:srgbClr val="00D4AA"/>
                          </a:solidFill>
                          <a:latin typeface="JetBrains Mono"/>
                        </a:rPr>
                        <a:t>AtlasBudgetHardCapHit</a:t>
                      </a:r>
                      <a:r>
                        <a:rPr sz="1200" b="0">
                          <a:solidFill>
                            <a:srgbClr val="FFFFFF"/>
                          </a:solidFill>
                          <a:latin typeface="Inter"/>
                        </a:rPr>
                        <a:t>, 9.5)</a:t>
                      </a:r>
                    </a:p>
                  </a:txBody>
                  <a:tcPr marL="91440" marR="91440" marT="45720" marB="45720" anchor="ctr">
                    <a:solidFill>
                      <a:srgbClr val="0F1E35"/>
                    </a:solidFill>
                  </a:tcPr>
                </a:tc>
              </a:tr>
              <a:tr h="384048">
                <a:tc>
                  <a:txBody>
                    <a:bodyPr wrap="square"/>
                    <a:lstStyle/>
                    <a:p>
                      <a:r>
                        <a:rPr sz="1200" b="1">
                          <a:solidFill>
                            <a:srgbClr val="FFFFFF"/>
                          </a:solidFill>
                          <a:latin typeface="Inter"/>
                        </a:rPr>
                        <a:t>pii_in_output rate</a:t>
                      </a:r>
                    </a:p>
                  </a:txBody>
                  <a:tcPr marL="91440" marR="91440" marT="45720" marB="45720" anchor="ctr">
                    <a:solidFill>
                      <a:srgbClr val="1A2742"/>
                    </a:solidFill>
                  </a:tcPr>
                </a:tc>
                <a:tc>
                  <a:txBody>
                    <a:bodyPr wrap="square"/>
                    <a:lstStyle/>
                    <a:p>
                      <a:r>
                        <a:rPr sz="1200" b="0">
                          <a:solidFill>
                            <a:srgbClr val="FFFFFF"/>
                          </a:solidFill>
                          <a:latin typeface="Inter"/>
                        </a:rPr>
                        <a:t>Safety page, after removing known false positives</a:t>
                      </a:r>
                    </a:p>
                  </a:txBody>
                  <a:tcPr marL="91440" marR="91440" marT="45720" marB="45720" anchor="ctr">
                    <a:solidFill>
                      <a:srgbClr val="1A2742"/>
                    </a:solidFill>
                  </a:tcPr>
                </a:tc>
                <a:tc>
                  <a:txBody>
                    <a:bodyPr wrap="square"/>
                    <a:lstStyle/>
                    <a:p>
                      <a:r>
                        <a:rPr sz="1200" b="0">
                          <a:solidFill>
                            <a:srgbClr val="FFFFFF"/>
                          </a:solidFill>
                          <a:latin typeface="Inter"/>
                        </a:rPr>
                        <a:t>3× baseline over 1 h</a:t>
                      </a:r>
                    </a:p>
                  </a:txBody>
                  <a:tcPr marL="91440" marR="91440" marT="45720" marB="45720" anchor="ctr">
                    <a:solidFill>
                      <a:srgbClr val="1A2742"/>
                    </a:solidFill>
                  </a:tcPr>
                </a:tc>
                <a:tc>
                  <a:txBody>
                    <a:bodyPr wrap="square"/>
                    <a:lstStyle/>
                    <a:p>
                      <a:r>
                        <a:rPr sz="1200" b="0">
                          <a:solidFill>
                            <a:srgbClr val="FFFFFF"/>
                          </a:solidFill>
                          <a:latin typeface="Inter"/>
                        </a:rPr>
                        <a:t>raw PII reaching a span is a test failure (10.2), not a metric</a:t>
                      </a:r>
                    </a:p>
                  </a:txBody>
                  <a:tcPr marL="91440" marR="91440" marT="45720" marB="45720" anchor="ctr">
                    <a:solidFill>
                      <a:srgbClr val="1A2742"/>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08 · Lecture 8.4</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Safety events become rates per hour</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Read a detector's output before paging</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Thresholds come from your own baseline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08 · Lecture 8.4</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Drift detection: compare this week to last week</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Every signal so far is a point in time.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08 · Lecture 8.5</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8 · QUALITY IN PRODUCTION: ONLINE EVALUATION AND DRIFT</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8.5</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Drift detection: compare this week to last week</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Compare judge scores, feedback, cost and latency between two windows with a mean shift and a PSI on the distribution, and turn…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08 · Lecture 8.5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Two questions, one function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Did the average move? Mean shift, in percent, in the bad direction</a:t>
            </a:r>
          </a:p>
          <a:p>
            <a:pPr marL="292608" indent="-292608">
              <a:lnSpc>
                <a:spcPct val="120000"/>
              </a:lnSpc>
              <a:spcAft>
                <a:spcPts val="1260"/>
              </a:spcAft>
              <a:buClr>
                <a:srgbClr val="00D4AA"/>
              </a:buClr>
              <a:buFont typeface="Inter"/>
              <a:buChar char="•"/>
            </a:pPr>
            <a:r>
              <a:rPr sz="1800" b="0">
                <a:solidFill>
                  <a:srgbClr val="FFFFFF"/>
                </a:solidFill>
                <a:latin typeface="Inter"/>
              </a:rPr>
              <a:t>Did the shape move? PSI, the Population Stability Index, on the distribution; catches a split the mean hides</a:t>
            </a:r>
          </a:p>
          <a:p>
            <a:pPr marL="292608" indent="-292608">
              <a:lnSpc>
                <a:spcPct val="120000"/>
              </a:lnSpc>
              <a:spcAft>
                <a:spcPts val="1260"/>
              </a:spcAft>
              <a:buClr>
                <a:srgbClr val="00D4AA"/>
              </a:buClr>
              <a:buFont typeface="Inter"/>
              <a:buChar char="•"/>
            </a:pPr>
            <a:r>
              <a:rPr sz="1800" b="0">
                <a:solidFill>
                  <a:srgbClr val="FFFFFF"/>
                </a:solidFill>
                <a:latin typeface="Inter"/>
              </a:rPr>
              <a:t>Windows: this week vs last week (ISO weeks), or two days, or two stores</a:t>
            </a:r>
          </a:p>
          <a:p>
            <a:pPr marL="292608" indent="-292608">
              <a:lnSpc>
                <a:spcPct val="120000"/>
              </a:lnSpc>
              <a:spcAft>
                <a:spcPts val="1260"/>
              </a:spcAft>
              <a:buClr>
                <a:srgbClr val="00D4AA"/>
              </a:buClr>
              <a:buFont typeface="Inter"/>
              <a:buChar char="•"/>
            </a:pPr>
            <a:r>
              <a:rPr sz="1800" b="0">
                <a:solidFill>
                  <a:srgbClr val="FFFFFF"/>
                </a:solidFill>
                <a:latin typeface="Inter"/>
              </a:rPr>
              <a:t>Thresholds (</a:t>
            </a:r>
            <a:r>
              <a:rPr sz="1656" b="0">
                <a:solidFill>
                  <a:srgbClr val="00D4AA"/>
                </a:solidFill>
                <a:latin typeface="JetBrains Mono"/>
              </a:rPr>
              <a:t>DriftThresholds</a:t>
            </a:r>
            <a:r>
              <a:rPr sz="1800" b="0">
                <a:solidFill>
                  <a:srgbClr val="FFFFFF"/>
                </a:solidFill>
                <a:latin typeface="Inter"/>
              </a:rPr>
              <a:t>): PSI 0.10 watch, 0.25 alert; mean −15% alert; p95 +25% alert; at least 20 samples per window</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08 · Lecture 8.5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Why the PSI mattered here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656" b="0">
                <a:solidFill>
                  <a:srgbClr val="00D4AA"/>
                </a:solidFill>
                <a:latin typeface="JetBrains Mono"/>
              </a:rPr>
              <a:t>judge_overall</a:t>
            </a:r>
            <a:r>
              <a:rPr sz="1800" b="0">
                <a:solidFill>
                  <a:srgbClr val="FFFFFF"/>
                </a:solidFill>
                <a:latin typeface="Inter"/>
              </a:rPr>
              <a:t>: mean −13.9%, under the 15% mean rule on its own</a:t>
            </a:r>
          </a:p>
          <a:p>
            <a:pPr marL="292608" indent="-292608">
              <a:lnSpc>
                <a:spcPct val="120000"/>
              </a:lnSpc>
              <a:spcAft>
                <a:spcPts val="1260"/>
              </a:spcAft>
              <a:buClr>
                <a:srgbClr val="00D4AA"/>
              </a:buClr>
              <a:buFont typeface="Inter"/>
              <a:buChar char="•"/>
            </a:pPr>
            <a:r>
              <a:rPr sz="1800" b="0">
                <a:solidFill>
                  <a:srgbClr val="FFFFFF"/>
                </a:solidFill>
                <a:latin typeface="Inter"/>
              </a:rPr>
              <a:t>PSI 1.98: the distribution split; v1 answers still score about 0.91, v2 answers cluster near 0.71</a:t>
            </a:r>
          </a:p>
          <a:p>
            <a:pPr marL="292608" indent="-292608">
              <a:lnSpc>
                <a:spcPct val="120000"/>
              </a:lnSpc>
              <a:spcAft>
                <a:spcPts val="1260"/>
              </a:spcAft>
              <a:buClr>
                <a:srgbClr val="00D4AA"/>
              </a:buClr>
              <a:buFont typeface="Inter"/>
              <a:buChar char="•"/>
            </a:pPr>
            <a:r>
              <a:rPr sz="1800" b="0">
                <a:solidFill>
                  <a:srgbClr val="FFFFFF"/>
                </a:solidFill>
                <a:latin typeface="Inter"/>
              </a:rPr>
              <a:t>A mean-only check would have stayed quiet on overall; PSI says "alert, go look at the low cluster"</a:t>
            </a:r>
          </a:p>
          <a:p>
            <a:pPr marL="292608" indent="-292608">
              <a:lnSpc>
                <a:spcPct val="120000"/>
              </a:lnSpc>
              <a:spcAft>
                <a:spcPts val="1260"/>
              </a:spcAft>
              <a:buClr>
                <a:srgbClr val="00D4AA"/>
              </a:buClr>
              <a:buFont typeface="Inter"/>
              <a:buChar char="•"/>
            </a:pPr>
            <a:r>
              <a:rPr sz="1800" b="0">
                <a:solidFill>
                  <a:srgbClr val="FFFFFF"/>
                </a:solidFill>
                <a:latin typeface="Inter"/>
              </a:rPr>
              <a:t>Cost and latency improved at the same time: a cheaper week is not always a better week</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08 · Lecture 8.5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Making it weekly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656" b="0">
                <a:solidFill>
                  <a:srgbClr val="00D4AA"/>
                </a:solidFill>
                <a:latin typeface="JetBrains Mono"/>
              </a:rPr>
              <a:t>--out evals/out/drift-report.md</a:t>
            </a:r>
            <a:r>
              <a:rPr sz="1800" b="0">
                <a:solidFill>
                  <a:srgbClr val="FFFFFF"/>
                </a:solidFill>
                <a:latin typeface="Inter"/>
              </a:rPr>
              <a:t> writes the report; the command exits 1 on any alert, so CI can fail on it (Section 13)</a:t>
            </a:r>
          </a:p>
          <a:p>
            <a:pPr marL="292608" indent="-292608">
              <a:lnSpc>
                <a:spcPct val="120000"/>
              </a:lnSpc>
              <a:spcAft>
                <a:spcPts val="1260"/>
              </a:spcAft>
              <a:buClr>
                <a:srgbClr val="00D4AA"/>
              </a:buClr>
              <a:buFont typeface="Inter"/>
              <a:buChar char="•"/>
            </a:pPr>
            <a:r>
              <a:rPr sz="1800" b="0">
                <a:solidFill>
                  <a:srgbClr val="FFFFFF"/>
                </a:solidFill>
                <a:latin typeface="Inter"/>
              </a:rPr>
              <a:t>Warning: a ticket for the owning team. Alert: a page during business hours</a:t>
            </a:r>
          </a:p>
          <a:p>
            <a:pPr marL="292608" indent="-292608">
              <a:lnSpc>
                <a:spcPct val="120000"/>
              </a:lnSpc>
              <a:spcAft>
                <a:spcPts val="1260"/>
              </a:spcAft>
              <a:buClr>
                <a:srgbClr val="00D4AA"/>
              </a:buClr>
              <a:buFont typeface="Inter"/>
              <a:buChar char="•"/>
            </a:pPr>
            <a:r>
              <a:rPr sz="1800" b="0">
                <a:solidFill>
                  <a:srgbClr val="FFFFFF"/>
                </a:solidFill>
                <a:latin typeface="Inter"/>
              </a:rPr>
              <a:t>Put what changed next to the report: prompt versions (the Quality page), releases (</a:t>
            </a:r>
            <a:r>
              <a:rPr sz="1656" b="0">
                <a:solidFill>
                  <a:srgbClr val="00D4AA"/>
                </a:solidFill>
                <a:latin typeface="JetBrains Mono"/>
              </a:rPr>
              <a:t>atlas_build_info</a:t>
            </a:r>
            <a:r>
              <a:rPr sz="1800" b="0">
                <a:solidFill>
                  <a:srgbClr val="FFFFFF"/>
                </a:solidFill>
                <a:latin typeface="Inter"/>
              </a:rPr>
              <a:t>, Section 9), config diffs from git</a:t>
            </a:r>
          </a:p>
          <a:p>
            <a:pPr marL="292608" indent="-292608">
              <a:lnSpc>
                <a:spcPct val="120000"/>
              </a:lnSpc>
              <a:spcAft>
                <a:spcPts val="1260"/>
              </a:spcAft>
              <a:buClr>
                <a:srgbClr val="00D4AA"/>
              </a:buClr>
              <a:buFont typeface="Inter"/>
              <a:buChar char="•"/>
            </a:pPr>
            <a:r>
              <a:rPr sz="1800" b="0">
                <a:solidFill>
                  <a:srgbClr val="FFFFFF"/>
                </a:solidFill>
                <a:latin typeface="Inter"/>
              </a:rPr>
              <a:t>Without two weeks of data, </a:t>
            </a:r>
            <a:r>
              <a:rPr sz="1656" b="0">
                <a:solidFill>
                  <a:srgbClr val="00D4AA"/>
                </a:solidFill>
                <a:latin typeface="JetBrains Mono"/>
              </a:rPr>
              <a:t>make drift</a:t>
            </a:r>
            <a:r>
              <a:rPr sz="1800" b="0">
                <a:solidFill>
                  <a:srgbClr val="FFFFFF"/>
                </a:solidFill>
                <a:latin typeface="Inter"/>
              </a:rPr>
              <a:t> splits one day at noon; on the baseline day it reports 0 alerts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08 · Lecture 8.5</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Mean shift plus PSI, per metric</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Improvements are reported, never alerted</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Pair the report with what changed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08 · Lecture 8.5</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From bad trace to regression test</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The drift points at prompt v2's failures.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08 · Lecture 8.6</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8 · QUALITY IN PRODUCTION: ONLINE EVALUATION AND DRIFT</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8.6</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From bad trace to regression test</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Promote traces that failed the judge or the user to a dataset with </a:t>
            </a:r>
            <a:r>
              <a:rPr sz="1472" b="0">
                <a:solidFill>
                  <a:srgbClr val="00D4AA"/>
                </a:solidFill>
                <a:latin typeface="JetBrains Mono"/>
              </a:rPr>
              <a:t>source_trace_id</a:t>
            </a:r>
            <a:r>
              <a:rPr sz="1600" b="0">
                <a:solidFill>
                  <a:srgbClr val="CBD5E1"/>
                </a:solidFill>
                <a:latin typeface="Inter"/>
              </a:rPr>
              <a:t>, so the next prompt version is tested against…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08 · Lecture 8.6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gets promoted</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Rule: </a:t>
            </a:r>
            <a:r>
              <a:rPr sz="1656" b="0">
                <a:solidFill>
                  <a:srgbClr val="00D4AA"/>
                </a:solidFill>
                <a:latin typeface="JetBrains Mono"/>
              </a:rPr>
              <a:t>judge_overall &lt; 0.6</a:t>
            </a:r>
            <a:r>
              <a:rPr sz="1800" b="0">
                <a:solidFill>
                  <a:srgbClr val="FFFFFF"/>
                </a:solidFill>
                <a:latin typeface="Inter"/>
              </a:rPr>
              <a:t>, or a thumbs-down, or an outcome of </a:t>
            </a:r>
            <a:r>
              <a:rPr sz="1656" b="0">
                <a:solidFill>
                  <a:srgbClr val="00D4AA"/>
                </a:solidFill>
                <a:latin typeface="JetBrains Mono"/>
              </a:rPr>
              <a:t>step_limit</a:t>
            </a:r>
            <a:r>
              <a:rPr sz="1800" b="0">
                <a:solidFill>
                  <a:srgbClr val="FFFFFF"/>
                </a:solidFill>
                <a:latin typeface="Inter"/>
              </a:rPr>
              <a:t>, </a:t>
            </a:r>
            <a:r>
              <a:rPr sz="1656" b="0">
                <a:solidFill>
                  <a:srgbClr val="00D4AA"/>
                </a:solidFill>
                <a:latin typeface="JetBrains Mono"/>
              </a:rPr>
              <a:t>error</a:t>
            </a:r>
            <a:r>
              <a:rPr sz="1800" b="0">
                <a:solidFill>
                  <a:srgbClr val="FFFFFF"/>
                </a:solidFill>
                <a:latin typeface="Inter"/>
              </a:rPr>
              <a:t> or </a:t>
            </a:r>
            <a:r>
              <a:rPr sz="1656" b="0">
                <a:solidFill>
                  <a:srgbClr val="00D4AA"/>
                </a:solidFill>
                <a:latin typeface="JetBrains Mono"/>
              </a:rPr>
              <a:t>timeout</a:t>
            </a:r>
          </a:p>
          <a:p>
            <a:pPr marL="292608" indent="-292608">
              <a:lnSpc>
                <a:spcPct val="120000"/>
              </a:lnSpc>
              <a:spcAft>
                <a:spcPts val="1260"/>
              </a:spcAft>
              <a:buClr>
                <a:srgbClr val="00D4AA"/>
              </a:buClr>
              <a:buFont typeface="Inter"/>
              <a:buChar char="•"/>
            </a:pPr>
            <a:r>
              <a:rPr sz="1800" b="0">
                <a:solidFill>
                  <a:srgbClr val="FFFFFF"/>
                </a:solidFill>
                <a:latin typeface="Inter"/>
              </a:rPr>
              <a:t>Masked before it leaves the store: </a:t>
            </a:r>
            <a:r>
              <a:rPr sz="1656" b="0">
                <a:solidFill>
                  <a:srgbClr val="00D4AA"/>
                </a:solidFill>
                <a:latin typeface="JetBrains Mono"/>
              </a:rPr>
              <a:t>mask_text(..., hash_ids=True)</a:t>
            </a:r>
            <a:r>
              <a:rPr sz="1800" b="0">
                <a:solidFill>
                  <a:srgbClr val="FFFFFF"/>
                </a:solidFill>
                <a:latin typeface="Inter"/>
              </a:rPr>
              <a:t> on question and answer</a:t>
            </a:r>
          </a:p>
          <a:p>
            <a:pPr marL="292608" indent="-292608">
              <a:lnSpc>
                <a:spcPct val="120000"/>
              </a:lnSpc>
              <a:spcAft>
                <a:spcPts val="1260"/>
              </a:spcAft>
              <a:buClr>
                <a:srgbClr val="00D4AA"/>
              </a:buClr>
              <a:buFont typeface="Inter"/>
              <a:buChar char="•"/>
            </a:pPr>
            <a:r>
              <a:rPr sz="1800" b="0">
                <a:solidFill>
                  <a:srgbClr val="FFFFFF"/>
                </a:solidFill>
                <a:latin typeface="Inter"/>
              </a:rPr>
              <a:t>Item: </a:t>
            </a:r>
            <a:r>
              <a:rPr sz="1656" b="0">
                <a:solidFill>
                  <a:srgbClr val="00D4AA"/>
                </a:solidFill>
                <a:latin typeface="JetBrains Mono"/>
              </a:rPr>
              <a:t>input</a:t>
            </a:r>
            <a:r>
              <a:rPr sz="1800" b="0">
                <a:solidFill>
                  <a:srgbClr val="FFFFFF"/>
                </a:solidFill>
                <a:latin typeface="Inter"/>
              </a:rPr>
              <a:t> = the question, tenant and intent; </a:t>
            </a:r>
            <a:r>
              <a:rPr sz="1656" b="0">
                <a:solidFill>
                  <a:srgbClr val="00D4AA"/>
                </a:solidFill>
                <a:latin typeface="JetBrains Mono"/>
              </a:rPr>
              <a:t>expected_output</a:t>
            </a:r>
            <a:r>
              <a:rPr sz="1800" b="0">
                <a:solidFill>
                  <a:srgbClr val="FFFFFF"/>
                </a:solidFill>
                <a:latin typeface="Inter"/>
              </a:rPr>
              <a:t> = empty (a human fills it)</a:t>
            </a:r>
          </a:p>
          <a:p>
            <a:pPr marL="292608" indent="-292608">
              <a:lnSpc>
                <a:spcPct val="120000"/>
              </a:lnSpc>
              <a:spcAft>
                <a:spcPts val="1260"/>
              </a:spcAft>
              <a:buClr>
                <a:srgbClr val="00D4AA"/>
              </a:buClr>
              <a:buFont typeface="Inter"/>
              <a:buChar char="•"/>
            </a:pPr>
            <a:r>
              <a:rPr sz="1656" b="0">
                <a:solidFill>
                  <a:srgbClr val="00D4AA"/>
                </a:solidFill>
                <a:latin typeface="JetBrains Mono"/>
              </a:rPr>
              <a:t>metadata</a:t>
            </a:r>
            <a:r>
              <a:rPr sz="1800" b="0">
                <a:solidFill>
                  <a:srgbClr val="FFFFFF"/>
                </a:solidFill>
                <a:latin typeface="Inter"/>
              </a:rPr>
              <a:t>: the reasons, the actual answer, prompt version, outcome, judge score, feedback</a:t>
            </a:r>
          </a:p>
          <a:p>
            <a:pPr marL="292608" indent="-292608">
              <a:lnSpc>
                <a:spcPct val="120000"/>
              </a:lnSpc>
              <a:spcAft>
                <a:spcPts val="1260"/>
              </a:spcAft>
              <a:buClr>
                <a:srgbClr val="00D4AA"/>
              </a:buClr>
              <a:buFont typeface="Inter"/>
              <a:buChar char="•"/>
            </a:pPr>
            <a:r>
              <a:rPr sz="1656" b="0">
                <a:solidFill>
                  <a:srgbClr val="00D4AA"/>
                </a:solidFill>
                <a:latin typeface="JetBrains Mono"/>
              </a:rPr>
              <a:t>source_trace_id</a:t>
            </a:r>
            <a:r>
              <a:rPr sz="1800" b="0">
                <a:solidFill>
                  <a:srgbClr val="FFFFFF"/>
                </a:solidFill>
                <a:latin typeface="Inter"/>
              </a:rPr>
              <a:t>: the link back, so Langfuse shows the trace next to the item</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08 · Lecture 8.6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Testing the fix before it ships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The candidate is a prompt version: here, rolling back to v1; in your world, the v3 you draft</a:t>
            </a:r>
          </a:p>
          <a:p>
            <a:pPr marL="292608" indent="-292608">
              <a:lnSpc>
                <a:spcPct val="120000"/>
              </a:lnSpc>
              <a:spcAft>
                <a:spcPts val="1260"/>
              </a:spcAft>
              <a:buClr>
                <a:srgbClr val="00D4AA"/>
              </a:buClr>
              <a:buFont typeface="Inter"/>
              <a:buChar char="•"/>
            </a:pPr>
            <a:r>
              <a:rPr sz="1800" b="0">
                <a:solidFill>
                  <a:srgbClr val="FFFFFF"/>
                </a:solidFill>
                <a:latin typeface="Inter"/>
              </a:rPr>
              <a:t>Run the judge-flagged items against each version with the same judge, offline</a:t>
            </a:r>
          </a:p>
          <a:p>
            <a:pPr marL="292608" indent="-292608">
              <a:lnSpc>
                <a:spcPct val="120000"/>
              </a:lnSpc>
              <a:spcAft>
                <a:spcPts val="1260"/>
              </a:spcAft>
              <a:buClr>
                <a:srgbClr val="00D4AA"/>
              </a:buClr>
              <a:buFont typeface="Inter"/>
              <a:buChar char="•"/>
            </a:pPr>
            <a:r>
              <a:rPr sz="1800" b="0">
                <a:solidFill>
                  <a:srgbClr val="FFFFFF"/>
                </a:solidFill>
                <a:latin typeface="Inter"/>
              </a:rPr>
              <a:t>Same criteria as the online judge, so the numbers mean the same thing</a:t>
            </a:r>
          </a:p>
          <a:p>
            <a:pPr marL="292608" indent="-292608">
              <a:lnSpc>
                <a:spcPct val="120000"/>
              </a:lnSpc>
              <a:spcAft>
                <a:spcPts val="1260"/>
              </a:spcAft>
              <a:buClr>
                <a:srgbClr val="00D4AA"/>
              </a:buClr>
              <a:buFont typeface="Inter"/>
              <a:buChar char="•"/>
            </a:pPr>
            <a:r>
              <a:rPr sz="1800" b="0">
                <a:solidFill>
                  <a:srgbClr val="FFFFFF"/>
                </a:solidFill>
                <a:latin typeface="Inter"/>
              </a:rPr>
              <a:t>Move the </a:t>
            </a:r>
            <a:r>
              <a:rPr sz="1656" b="0">
                <a:solidFill>
                  <a:srgbClr val="00D4AA"/>
                </a:solidFill>
                <a:latin typeface="JetBrains Mono"/>
              </a:rPr>
              <a:t>production</a:t>
            </a:r>
            <a:r>
              <a:rPr sz="1800" b="0">
                <a:solidFill>
                  <a:srgbClr val="FFFFFF"/>
                </a:solidFill>
                <a:latin typeface="Inter"/>
              </a:rPr>
              <a:t> label only when the candidate passes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08 · Lecture 8.6</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A clear rule picks the failures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Every item keeps its source trace</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Candidates pass the dataset before shipping</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08 · Lecture 8.6</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Lab 5: Build the quality page of the Ops Console</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You have the whole loop.</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08 · Lecture 8.7</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8 · QUALITY IN PRODUCTION: ONLINE EVALUATION AND DRIFT</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8.7</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Lab 5: Build the quality page of the Ops Console</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Wire judge scores, feedback and drift into a page of your own in the Ops Console for two replayed weeks, and find…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08 · Lecture 8.7</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Lab 5 checklist (1/2)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Two weeks in one store; judge, feedback and drift run on both</a:t>
            </a:r>
          </a:p>
          <a:p>
            <a:pPr marL="292608" indent="-292608">
              <a:lnSpc>
                <a:spcPct val="120000"/>
              </a:lnSpc>
              <a:spcAft>
                <a:spcPts val="1260"/>
              </a:spcAft>
              <a:buClr>
                <a:srgbClr val="00D4AA"/>
              </a:buClr>
              <a:buFont typeface="Inter"/>
              <a:buChar char="•"/>
            </a:pPr>
            <a:r>
              <a:rPr sz="1800" b="0">
                <a:solidFill>
                  <a:srgbClr val="FFFFFF"/>
                </a:solidFill>
                <a:latin typeface="Inter"/>
              </a:rPr>
              <a:t>Judge tiles from the head sample, with last week beside them</a:t>
            </a:r>
          </a:p>
          <a:p>
            <a:pPr marL="292608" indent="-292608">
              <a:lnSpc>
                <a:spcPct val="120000"/>
              </a:lnSpc>
              <a:spcAft>
                <a:spcPts val="1260"/>
              </a:spcAft>
              <a:buClr>
                <a:srgbClr val="00D4AA"/>
              </a:buClr>
              <a:buFont typeface="Inter"/>
              <a:buChar char="•"/>
            </a:pPr>
            <a:r>
              <a:rPr sz="1800" b="0">
                <a:solidFill>
                  <a:srgbClr val="FFFFFF"/>
                </a:solidFill>
                <a:latin typeface="Inter"/>
              </a:rPr>
              <a:t>Feedback: the rate on the page, not just the score</a:t>
            </a:r>
          </a:p>
          <a:p>
            <a:pPr marL="292608" indent="-292608">
              <a:lnSpc>
                <a:spcPct val="120000"/>
              </a:lnSpc>
              <a:spcAft>
                <a:spcPts val="1260"/>
              </a:spcAft>
              <a:buClr>
                <a:srgbClr val="00D4AA"/>
              </a:buClr>
              <a:buFont typeface="Inter"/>
              <a:buChar char="•"/>
            </a:pPr>
            <a:r>
              <a:rPr sz="1800" b="0">
                <a:solidFill>
                  <a:srgbClr val="FFFFFF"/>
                </a:solidFill>
                <a:latin typeface="Inter"/>
              </a:rPr>
              <a:t>Drift per metric with its status and PSI, plus the split by prompt version</a:t>
            </a:r>
          </a:p>
          <a:p>
            <a:pPr marL="292608" indent="-292608">
              <a:lnSpc>
                <a:spcPct val="120000"/>
              </a:lnSpc>
              <a:spcAft>
                <a:spcPts val="1260"/>
              </a:spcAft>
              <a:buClr>
                <a:srgbClr val="00D4AA"/>
              </a:buClr>
              <a:buFont typeface="Inter"/>
              <a:buChar char="•"/>
            </a:pPr>
            <a:r>
              <a:rPr sz="1800" b="0">
                <a:solidFill>
                  <a:srgbClr val="FFFFFF"/>
                </a:solidFill>
                <a:latin typeface="Inter"/>
              </a:rPr>
              <a:t>Write down the drifted metric and the change that caused it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08 · Lecture 8.7</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Lab 5 checklist (2/2)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Stretch: promote the failures to </a:t>
            </a:r>
            <a:r>
              <a:rPr sz="2024" b="0">
                <a:solidFill>
                  <a:srgbClr val="00D4AA"/>
                </a:solidFill>
                <a:latin typeface="JetBrains Mono"/>
              </a:rPr>
              <a:t>atlas-failures</a:t>
            </a:r>
            <a:r>
              <a:rPr sz="2200" b="0">
                <a:solidFill>
                  <a:srgbClr val="FFFFFF"/>
                </a:solidFill>
                <a:latin typeface="Inter"/>
              </a:rPr>
              <a:t> and show the count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08 · Lecture 8.7</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SECTION COMPLETE</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You can now</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Judge a sample of live traces and price the judge</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Read feedback with its rate and its bias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Detect drift and trace it to a release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08 · Lecture 8.7</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Quiz: Online evaluation</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Before the lab, the Section 8 quiz: eight questions on judging, feedback and drift.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08 · Lecture 8.8</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8 · QUALITY IN PRODUCTION: ONLINE EVALUATION AND DRIFT</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8.8</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Quiz: Online evaluation</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Check you can design a sampling policy, write a judge criterion, read a feedback correlation and interpret a PSI.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08 · Lecture 8.8</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Quiz: 8 questions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Sampling and judge cost</a:t>
            </a:r>
          </a:p>
          <a:p>
            <a:pPr marL="292608" indent="-292608">
              <a:lnSpc>
                <a:spcPct val="120000"/>
              </a:lnSpc>
              <a:spcAft>
                <a:spcPts val="1539"/>
              </a:spcAft>
              <a:buClr>
                <a:srgbClr val="00D4AA"/>
              </a:buClr>
              <a:buFont typeface="Inter"/>
              <a:buChar char="•"/>
            </a:pPr>
            <a:r>
              <a:rPr sz="2200" b="0">
                <a:solidFill>
                  <a:srgbClr val="FFFFFF"/>
                </a:solidFill>
                <a:latin typeface="Inter"/>
              </a:rPr>
              <a:t>Writing criteria that define failure</a:t>
            </a:r>
          </a:p>
          <a:p>
            <a:pPr marL="292608" indent="-292608">
              <a:lnSpc>
                <a:spcPct val="120000"/>
              </a:lnSpc>
              <a:spcAft>
                <a:spcPts val="1539"/>
              </a:spcAft>
              <a:buClr>
                <a:srgbClr val="00D4AA"/>
              </a:buClr>
              <a:buFont typeface="Inter"/>
              <a:buChar char="•"/>
            </a:pPr>
            <a:r>
              <a:rPr sz="2200" b="0">
                <a:solidFill>
                  <a:srgbClr val="FFFFFF"/>
                </a:solidFill>
                <a:latin typeface="Inter"/>
              </a:rPr>
              <a:t>Feedback correlation and survivorship</a:t>
            </a:r>
          </a:p>
          <a:p>
            <a:pPr marL="292608" indent="-292608">
              <a:lnSpc>
                <a:spcPct val="120000"/>
              </a:lnSpc>
              <a:spcAft>
                <a:spcPts val="1539"/>
              </a:spcAft>
              <a:buClr>
                <a:srgbClr val="00D4AA"/>
              </a:buClr>
              <a:buFont typeface="Inter"/>
              <a:buChar char="•"/>
            </a:pPr>
            <a:r>
              <a:rPr sz="2200" b="0">
                <a:solidFill>
                  <a:srgbClr val="FFFFFF"/>
                </a:solidFill>
                <a:latin typeface="Inter"/>
              </a:rPr>
              <a:t>Drift: mean vs PSI, changes in window</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08 · Lecture 8.8</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SLIs for agents that leadership understands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Atlas is cheap, fast and measured for quality.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