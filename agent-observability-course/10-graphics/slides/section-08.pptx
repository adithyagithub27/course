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Offline evals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The questions change: a new expense system rolls out and a third of finance questions are about something the knowledge base has never seen. Users invent intents you didn't plan for, and an agent will always answer. Something you control changes: prompt version two, or a config knob from Section 6. Or something you don't control changes: the provider updates the model behind the same name. None of these fail a test, because tests ask yesterday's questions. Production quality means asking about today's.</a:t>
            </a:r>
          </a:p>
          <a:p/>
          <a:p>
            <a:r>
              <a:t>That third one is worth a second look. Model aliases like `gpt-4.1-mini` can point at a new snapshot without your code changing. Your tests pass on Monday's snapshot; Tuesday's answers differ. Two defences: record the served model version on every generation, which the `response.model` field gives you and 6.3 already stores, and tag every release in Langfuse so the drift report can say "the model changed, not the prompt." You can't stop the provider from shipping. You can make sure you notice.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signals, and you need all three because each one lies in a different way. A judge model grades a sample of live traces against criteria you write. It's continuous and it scales, and it costs money, so we'll sample. Users give feedback. It's free and honest and very sparse, and it's biased toward people who bother. And drift: comparing this week to last week, which catches the slow slide that a judge score of eighty-one looks fine on any given day. All three become scores on traces in Langfuse and series in Prometheus, so they sit on the same dashboard as cost and latency.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[B-ROLL: the loop diagram builds clockwise, one arrow per sentence.]</a:t>
            </a:r>
          </a:p>
          <a:p/>
          <a:p>
            <a:r>
              <a:t>Here's the loop. Live traffic gets sampled and judged, and the scores land on the traces. Users click thumbs, and those land on the traces too. Scores, cost and latency get compared week over week for drift. And the traces that failed get promoted to a dataset, which is what your offline evals run against next time. That last arrow is the one most teams never draw. Production failures become tomorrow's regression tests, automatically. By 8.6 you'll have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why this section belongs in a cost course. Every quality number I showed you in Section 6, grounded ninety-one, resolved eighty-three, came from the simulator's ground truth. Real traffic has no ground truth. From today, `resolved` comes from the judge and from feedback. Cost per resolved session, the number finance accepts, is only honest if this section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A sampled judge with three agent-specific criteria and its own cost line. A feedback endpoint that means something. Guardrail metrics as time series. Drift detection with a weekly report. And the promotion of bad traces to a dataset. One caution before we start: a judge is a model. It can be wrong. Everything we build keeps the reason next to the score, so a human can check it in ten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sampled LLM-as-judge on live traces.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sampling. Head: ten percent of traces, picked by hashing the trace id, so the same traces get picked if you re-run and you can compare judges fairly. That gives you an unbiased estimate of quality. Tail: always judge the interesting ones. Errors, thumbs-down, escalations, long sessions, degraded answers. That gives you the failures. And never judge everything. Three metrics on ten thousand traces on the strong model would cost a hundred and seventy dollars a day, almost nine times the serving bill.</a:t>
            </a:r>
          </a:p>
          <a:p/>
          <a:p>
            <a:r>
              <a:t>[SCREEN: VS Code, `src/northwind/sampling.py`]</a:t>
            </a:r>
          </a:p>
          <a:p/>
          <a:p>
            <a:r>
              <a:t>[CODE: `src/northwind/sampling.py` (excerpt)]</a:t>
            </a:r>
          </a:p>
          <a:p/>
          <a:p>
            <a:r>
              <a:t>Tail first: an escalated trace or one with a thumbs-down is always judged; an errored trace never, because there is no answer to grade. Otherwise, `head_sample` hashes the trace id with a salt to a number between zero and one and judges it if that number is under the rate, per tenant if you set `tenant_rates`. Deterministic, no state, no database of what's been sampled. `TailSamplingPolicy`, in the same file, does the same job for which traces to *keep* in the backend, with its own reasons: error, slow, expensive, many steps. When you compute the quality estimate, use the rate-sampled traces only. Mixing in the always-judged tail would make Atlas look worse than it is.</a:t>
            </a:r>
          </a:p>
          <a:p/>
          <a:p>
            <a:r>
              <a:t>Now the judge.</a:t>
            </a:r>
          </a:p>
          <a:p/>
          <a:p>
            <a:r>
              <a:t>[SCREEN: `evals/online_judge.py`]</a:t>
            </a:r>
          </a:p>
          <a:p/>
          <a:p>
            <a:r>
              <a:t>[CODE: `evals/online_judge.py` (excerpt): the metrics]</a:t>
            </a:r>
          </a:p>
          <a:p/>
          <a:p>
            <a:r>
              <a:t>Three metrics, each a `GEval` with a criteria sentence written for a helpdesk agent. `resolved` asks whether the employee got what they asked for and a next step, with the failure cases spelled out: partial answers, deflections. `grounded` asks whether every policy statement is backed by a cited article or a quoted tool result, and penalises unsupported claims. `safe_escalation` asks whether sensitive HR matters went to a human, injections were refused and passwords never revealed. Notice how specific the criteria are about what counts as failure. A judge is generous unless you tell it exactly what a zero looks like. The same three criteria drive `OfflineJudge`, the deterministic heuristic that scores the replay when there is no key, so Incident 3 reproduces on every laptop.</a:t>
            </a:r>
          </a:p>
          <a:p/>
          <a:p>
            <a:r>
              <a:t>[CODE: `evals/online_judge.py` (excerpt): judging the sample and writing scores]</a:t>
            </a:r>
          </a:p>
          <a:p/>
          <a:p>
            <a:r>
              <a:t>Walk the agent spans in the store. Skip refusals and guardrail hits, and anything already scored, so the job is idempotent. Build the `TraceSummary` the policy needs from the span's attributes and ask `should_judge`. For a sampled trace, the judge reads the question, the answer, the intent and the tools called, and returns the three scores plus `overall`. Then every score is written twice: to the local store as a `ScoreRecord`, which the console, the drift report and the CI gate read, and to Langfuse with `create_score`, the trace id, the name prefixed `judge_`, the value, and the judge's name as the comment. And the summary keeps a running estimate of what the judging cost, three calls per trace at the judge model's price. That's the line item. On the replay the estimate is what `make judge` prints; the Prometheus histogram `atlas_judge_score` gets the same values through the store, so Grafana sees them within a scrape.</a:t>
            </a:r>
          </a:p>
          <a:p/>
          <a:p>
            <a:r>
              <a:t>[SCREEN: terminal]</a:t>
            </a:r>
          </a:p>
          <a:p/>
          <a:p>
            <a:r>
              <a:t>[DEMO: output:]</a:t>
            </a:r>
          </a:p>
          <a:p/>
          <a:p>
            <a:r>
              <a:t>Eleven hundred eighty-three traces judged. Look at the two means. Head resolved: eighty-three percent. Tail resolved: forty-one. That's the point of the split: the head is the estimate, the tail is the failure pile. And the cost line: three dollars ninety-eight for the day. Twenty-one percent of what serving costs after Section 6. Real money, worth it, and worth knowing.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judge's bill on one slide. Mini judge, four dollars a day. Strong judge, twenty. Judge everything on the strong model, a hundred sixty-eight, almost nine times the serving bill. So: sample at ten percent, judge with mini day to day, and run the strong model on the same head sample once a week as a calibration check. If mini and the strong model disagree by more than five points on the same traces, tighten the criteria. The judge is an agent too. Its cost goes on the same showback, under `feature="judge"`.</a:t>
            </a:r>
          </a:p>
          <a:p/>
          <a:p>
            <a:r>
              <a:t>[SCREEN: Langfuse UI: a trace with three `judge_*` scores in the sidebar; click one, the reason reads "The answer states a 30-day reimbur...]</a:t>
            </a:r>
          </a:p>
          <a:p/>
          <a:p>
            <a:r>
              <a:t>And here's what you get in Langfuse. Three scores on the trace, and the reason. Thirty days versus forty-five in the context. That's a hallucination found, explained and filed, without a human reading the trace.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Capturing user feedback that means something.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rules. One click, and an optional reason from a short list, because free text is nice and nobody fills it in. Attach it to the trace, not the session, so you know which answer they meant. Store it as scores, so it sits next to the judge. Thumbs-down traces go straight to the judge, so every complaint gets a second opinion. And never report the score without the rate. Seventy-eight percent of nine percent is the honest sentence.</a:t>
            </a:r>
          </a:p>
          <a:p/>
          <a:p>
            <a:r>
              <a:t>[SCREEN: VS Code, `app/server.py`]</a:t>
            </a:r>
          </a:p>
          <a:p/>
          <a:p>
            <a:r>
              <a:t>[CODE: `app/server.py` (excerpt): the endpoint]</a:t>
            </a:r>
          </a:p>
          <a:p/>
          <a:p>
            <a:r>
              <a:t>A small model with a trace id, up or down, an optional reason from the list, and an optional comment capped at five hundred characters and masked before it's stored, because people type their employee number into comment boxes. Two scores on the trace. A counter with tenant, value and reason, all low cardinality. And a thumbs-down tags the trace, so the tail sampler judges it within the hour.</a:t>
            </a:r>
          </a:p>
          <a:p/>
          <a:p>
            <a:r>
              <a:t>Two product details that change the data more than any code. Put the thumbs after the final answer, once per request, not after every step, or you'll collect opinions about tool calls. And accept only the first vote per trace; the endpoint checks the store and ignores a second click, so a frustrated user mashing the button counts once. Nine percent of sessions is what Atlas gets with a two-button widget and no nagging. A modal that asks "how did we do?" gets more votes and worse ones.</a:t>
            </a:r>
          </a:p>
          <a:p/>
          <a:p>
            <a:r>
              <a:t>Now what the feedback tells you when you put it next to the judge.</a:t>
            </a:r>
          </a:p>
          <a:p/>
          <a:p>
            <a:r>
              <a:t>[SCREEN: `evals/feedback.py`, then terminal]</a:t>
            </a:r>
          </a:p>
          <a:p/>
          <a:p>
            <a:r>
              <a:t>[DEMO: output:]</a:t>
            </a:r>
          </a:p>
          <a:p/>
          <a:p>
            <a:r>
              <a:t>Three findings. First, the feedback rate by session length: twelve percent for short sessions, under three percent for long ones. Long sessions are where the trouble is, and they're the ones nobody rates. That's survivorship bias, measured. Second, where feedback and judge overlap, they agree eighty-four percent of the time, which is high enough to trust both and low enough to read the disagreements. Third, the disagreements. Eighteen thumbs-down where the judge says resolved: eleven of them are `not_what_i_asked`. Read a few, and they're policy denials. "You can't expense that." Correct, grounded, resolved, and the user hated it. That's not a quality problem. That's a policy problem wearing a feedback costume.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correct? Judge the long sessions more, which the tail rule already does. Count abandonment as its own metric: a session with no final answer viewed, or the same question re-asked within two minutes. Either weight the thumbs by session length, or, better, show the breakdown and don't pretend there's one number. And treat every disagreement between judge and user as the week's reading list. Sometimes the judge is wrong. Sometimes the user wanted something the policy forbids. Both tell you something a score can't.</a:t>
            </a:r>
          </a:p>
          <a:p/>
          <a:p>
            <a:r>
              <a:t>[SCREEN: Ops Console quality page: feedback tile "78% of 9.0%", the by-length bars, the disagreement table]</a:t>
            </a:r>
          </a:p>
          <a:p/>
          <a:p>
            <a:r>
              <a:t>The console shows all of it: the rate next to the score, the breakdown by length, and the disagreements as a table you can click into.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Guardrail and safety metrics.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series. Injection blocked: the guardrail observation you built in the Section 4 challenge said no. Refusals: Atlas declined, for policy, scope or safety. And PII in output: the masker from Section 10 found an email, a phone number or an employee ID in the answer before it went out. Each one is a counter with a `kind` label, divided by request volume. Rates, not counts. Twenty-two attempts on a ten-thousand-request day is background noise. Twenty-two on a Sunday with two hundred requests is someone probing you.</a:t>
            </a:r>
          </a:p>
          <a:p/>
          <a:p>
            <a:r>
              <a:t>[SCREEN: VS Code, `app/agent.py`, three short blocks]</a:t>
            </a:r>
          </a:p>
          <a:p/>
          <a:p>
            <a:r>
              <a:t>[CODE: `app/agent.py` (excerpt): emitting the three events]</a:t>
            </a:r>
          </a:p>
          <a:p/>
          <a:p>
            <a:r>
              <a:t>Three places. The guardrail observation, exactly as in 4.7, with a boolean score on it, and a counter increment when it blocks. The refusal flag from Atlas's structured output, counted and annotated with the reason. And the output masker: if masking changed anything, count it, mark the span as a warning, and send the masked version. The user gets the safe answer either way. The counter is for you.</a:t>
            </a:r>
          </a:p>
          <a:p/>
          <a:p>
            <a:r>
              <a:t>[SCREEN: Ops Console, safety page: three rate lines over 7 days, then terminal]</a:t>
            </a:r>
          </a:p>
          <a:p/>
          <a:p>
            <a:r>
              <a:t>[DEMO: seven days. Injection rate flat around 0.2%, a bump to 0.9% on Thursday afternoon. Refusal rate 1.1%. PII-in-output 0.3% until Wed...]</a:t>
            </a:r>
          </a:p>
          <a:p/>
          <a:p>
            <a:r>
              <a:t>Seven days. Injection: flat, with a Thursday afternoon bump to almost one percent. Look at the traces behind the bump, and it's one user, forty attempts, over an hour. That's a report to security, not a code change. Refusals: steady. And PII in output: three tenths of a percent until Wednesday, then one point four percent for two days. What happened Wednesday? Prompt version two, which asked Atlas to "confirm the employee's details" in its answer. It started echoing employee IDs back. The masker caught every one, so no user saw a leak, but the line told you the prompt had changed behavior two days before anyone read a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Thresholds, from the baselines. Warn at about three times normal over an hour; page at ten times over fifteen minutes. And notice the PII row's page condition: raw PII reaching the client isn't a metric threshold, it's a test in Section 10 that must never fail. The metric here is the masker's catch rate, which tells you when the prompt starts producing more to catch. A refusal spike, by the way, is usually not a safety event. It's a broken tool: when `lookup_ticket` fails, Atlas politely refuses. That's why the refusal line lives on the same dashboard as tool errors in Section 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Drift detection: compare this week to last week.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Did the average move, and did the shape move? The mean can hide a shape change: if half the answers get better and half get worse, the mean is flat and the product is broken. The Population Stability Index compares two histograms and gives you one number. Under point one, stable. Point one to point two five, warning. Over point two five, alert. Those are the conventional cut-offs from credit risk, and they work fine here. Windows are week over week, aligned by weekday, because Monday traffic is nothing like Saturday traffic.</a:t>
            </a:r>
          </a:p>
          <a:p/>
          <a:p>
            <a:r>
              <a:t>[SCREEN: VS Code, `src/northwind/drift.py`]</a:t>
            </a:r>
          </a:p>
          <a:p/>
          <a:p>
            <a:r>
              <a:t>[CODE: `src/northwind/drift.py` (excerpt)]</a:t>
            </a:r>
          </a:p>
          <a:p/>
          <a:p>
            <a:r>
              <a:t>`psi` bins both samples on the zero-to-one range, smooths so no bin is empty, and sums the standard formula. Twenty lines, no dependencies. `compare_windows` takes two `WindowStats`, one per week, and for every score metric returns the previous mean, the current mean, the delta and the PSI. Cost per request and p95 get percentage deltas. The report code runs this once overall and once per feature, which is where the answer usually is.</a:t>
            </a:r>
          </a:p>
          <a:p/>
          <a:p>
            <a:r>
              <a:t>A note on windows. Week over week, Monday to Sunday against Monday to Sunday, so weekday mix matches. A public holiday in one week shrinks its sample, which widens the mean's uncertainty but doesn't break the PSI. The report prints the request count for each window next to the numbers, and if one is under half the other, it says so at the top. And the score samples come from the head sample only, for the same reason as in 8.2: the tail is failures by construction, and comparing two failure piles tells you nothing about the week.</a:t>
            </a:r>
          </a:p>
          <a:p/>
          <a:p>
            <a:r>
              <a:t>[SCREEN: `evals/drift_report.py`, then terminal]</a:t>
            </a:r>
          </a:p>
          <a:p/>
          <a:p>
            <a:r>
              <a:t>[DEMO: the markdown report renders:]</a:t>
            </a:r>
          </a:p>
          <a:p/>
          <a:p>
            <a:r>
              <a:t>Read it top to bottom. Resolved down four points, PSI point one eight, warning. Grounded flat. Feedback down four points too, so the users agree with the judge. Cost up four percent, latency flat. So it's not a retrieval change and not a model change; those would move grounded and cost. Now the feature table. Four features flat. Policy questions down nine points with a PSI of point three one. Alert. One feature moved, and the last line tells you what changed that week: prompt version two, Wednesday afternoon. That's your root cause, or at least your first suspect, in one page, from numbers you were already collecting.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why the PSI earned its place. The mean dropped nine points, but the histogram tells the real story: most policy answers are still at point nine. A new cluster appeared at point two to point four. Prompt v2 didn't make Atlas a bit worse at everything. It broke one kind of policy question completely. The mean says warning. The PSI says alert, and points you at the low cluster. Open ten traces from that cluster, and you've found the bug. We'll do exactly that in Incident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a habit. The report runs every Monday morning in CI and posts to the team channel. Warnings become tickets. Alerts page, in business hours, because drift is never a three-a.m. problem. And every report ends with the changes-in-window section, because a drift report without a list of what changed is a mystery, and with one it's a diagnosis.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From bad trace to regression test.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clear rule, so the dataset doesn't fill with noise: `judge_overall` under point six, or a thumbs-down, or a request that ended in `step_limit` or `error`. Mask the question and the answer before they leave the store, because a dataset is a copy of production text. For expected output, leave it empty and have a human write it; the judge's reasons ride along in metadata so they start from "the answer said 30 days; the policy says 45" instead of from nothing. And `source_trace_id`, which is the important field: it links the dataset item to the production trace, so whoever reviews it sees the whole story.</a:t>
            </a:r>
          </a:p>
          <a:p/>
          <a:p>
            <a:r>
              <a:t>[SCREEN: VS Code, `evals/to_dataset.py`]</a:t>
            </a:r>
          </a:p>
          <a:p/>
          <a:p>
            <a:r>
              <a:t>[CODE: `evals/to_dataset.py` (excerpt)]</a:t>
            </a:r>
          </a:p>
          <a:p/>
          <a:p>
            <a:r>
              <a:t>`select_bad_traces` loops over the agent spans, applies the rule, masks the text, and builds a `DatasetItem` with the question, tenant and intent as input, the reasons, the actual answer and the prompt version in metadata, and the source trace id. `push_to_langfuse` creates the dataset if it doesn't exist and creates one item per trace. That's the whole promotion. `write_jsonl` gives you the same items as a file for the offline eval when there is no Langfuse.</a:t>
            </a:r>
          </a:p>
          <a:p/>
          <a:p>
            <a:r>
              <a:t>[SCREEN: terminal, then Langfuse UI]</a:t>
            </a:r>
          </a:p>
          <a:p/>
          <a:p>
            <a:r>
              <a:t>[DEMO: `promoted 33 items to atlas-failures (from 41 traces; 8 duplicates)`. Langfuse UI: the dataset with 33 items; click one; the sourc...]</a:t>
            </a:r>
          </a:p>
          <a:p/>
          <a:p>
            <a:r>
              <a:t>Thirty-three items. Click one in Langfuse and the source trace opens next to it, scores and reason included. Now the payoff.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Draft prompt version three. Label it staging. Run the failures dataset against it, offline, with the same three G-Eval metrics the online judge uses, so the numbers mean the same thing. Version two passes twelve of thirty-three. Version three passes thirty-one. Now, and only now, you move the production label. If you've taken my testing and evaluation course, this is the offline eval loop you already know, fed from production instead of from a hand-written file. If you haven't, the `make eval` target does it for you, and the lab walks through it.</a:t>
            </a:r>
          </a:p>
          <a:p/>
          <a:p>
            <a:r>
              <a:t>Two habits. First, the dataset only grows. Version three's two failures get promoted next Monday, and the dataset gets a little harder every week, which is exactly what you want a regression suite to do. Second, every item has a source trace, so when a test fails in six months, you can still see the real conversation that created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5: Build the quality page of the Ops Console.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I'll check. That your quality tile uses the head sample only. That the feedback tile shows the rate, so nobody reads seventy-eight percent as seventy-eight percent of users. And that your drift tiles are per feature, because the overall number says warning and the feature number says alert, and the feature number is the one with a root cause attached.</a:t>
            </a:r>
          </a:p>
          <a:p/>
          <a:p>
            <a:r>
              <a:t>The stretch goal is the promotion step. When it works, your page shows a count: thirty-three items in the failures dataset this week. That count is the most underrated number on any quality dashboard, because it's the size of next week's test suite.</a:t>
            </a:r>
          </a:p>
          <a:p/>
          <a:p>
            <a:r>
              <a:t>Everything runs in offline mode with the mock judge, which returns the recorded scores. If you have keys, the lab shows how to run the real judge on a hundred traces for about thirty cents.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Three things I'll check. That your quality tile uses the head sample only. That the feedback tile shows the rate, so nobody reads seventy-eight percent as seventy-eight percent of users. And that your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Online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tip: whenever a question shows a flat mean with a high PSI, the answer involves a distribution that split in two, and the next step is to open the low cluster.</a:t>
            </a:r>
          </a:p>
          <a:p/>
          <a:p>
            <a:r>
              <a:t>Every answer links back to its lecture.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Offline evals are not enough</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 passing test suite tells you about yesterday's questions; production quality needs a judge, real feedback and a drift check on today's…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ways quality drops while tests stay green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Distribution shift: the questions change. A new expense system, and 30% of finance questions are about a screen your knowledge base has never seen</a:t>
            </a:r>
          </a:p>
          <a:p>
            <a:pPr marL="292608" indent="-292608">
              <a:lnSpc>
                <a:spcPct val="120000"/>
              </a:lnSpc>
              <a:spcAft>
                <a:spcPts val="1260"/>
              </a:spcAft>
              <a:buClr>
                <a:srgbClr val="00D4AA"/>
              </a:buClr>
              <a:buFont typeface="Inter"/>
              <a:buChar char="•"/>
            </a:pPr>
            <a:r>
              <a:rPr sz="1800" b="0">
                <a:solidFill>
                  <a:srgbClr val="FFFFFF"/>
                </a:solidFill>
                <a:latin typeface="Inter"/>
              </a:rPr>
              <a:t>New intents: users ask things you never planned for, and Atlas answers anyway</a:t>
            </a:r>
          </a:p>
          <a:p>
            <a:pPr marL="292608" indent="-292608">
              <a:lnSpc>
                <a:spcPct val="120000"/>
              </a:lnSpc>
              <a:spcAft>
                <a:spcPts val="1260"/>
              </a:spcAft>
              <a:buClr>
                <a:srgbClr val="00D4AA"/>
              </a:buClr>
              <a:buFont typeface="Inter"/>
              <a:buChar char="•"/>
            </a:pPr>
            <a:r>
              <a:rPr sz="1800" b="0">
                <a:solidFill>
                  <a:srgbClr val="FFFFFF"/>
                </a:solidFill>
                <a:latin typeface="Inter"/>
              </a:rPr>
              <a:t>Prompt and model changes: prompt v2 goes live; the provider updates a model behind the same name</a:t>
            </a:r>
          </a:p>
          <a:p>
            <a:pPr marL="292608" indent="-292608">
              <a:lnSpc>
                <a:spcPct val="120000"/>
              </a:lnSpc>
              <a:spcAft>
                <a:spcPts val="1260"/>
              </a:spcAft>
              <a:buClr>
                <a:srgbClr val="00D4AA"/>
              </a:buClr>
              <a:buFont typeface="Inter"/>
              <a:buChar char="•"/>
            </a:pPr>
            <a:r>
              <a:rPr sz="1800" b="0">
                <a:solidFill>
                  <a:srgbClr val="FFFFFF"/>
                </a:solidFill>
                <a:latin typeface="Inter"/>
              </a:rPr>
              <a:t>Silent regressions: a retrieval top-k change, a truncation budget, a tool that starts returning less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Quality in production: three signals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 judge: an LLM grades a sample of live traces against criteria you wrote. Continuous, costs money, scales</a:t>
            </a:r>
          </a:p>
          <a:p>
            <a:pPr marL="292608" indent="-292608">
              <a:lnSpc>
                <a:spcPct val="120000"/>
              </a:lnSpc>
              <a:spcAft>
                <a:spcPts val="1260"/>
              </a:spcAft>
              <a:buClr>
                <a:srgbClr val="00D4AA"/>
              </a:buClr>
              <a:buFont typeface="Inter"/>
              <a:buChar char="•"/>
            </a:pPr>
            <a:r>
              <a:rPr sz="1800" b="0">
                <a:solidFill>
                  <a:srgbClr val="FFFFFF"/>
                </a:solidFill>
                <a:latin typeface="Inter"/>
              </a:rPr>
              <a:t>Feedback: users tell you. Free, sparse, biased</a:t>
            </a:r>
          </a:p>
          <a:p>
            <a:pPr marL="292608" indent="-292608">
              <a:lnSpc>
                <a:spcPct val="120000"/>
              </a:lnSpc>
              <a:spcAft>
                <a:spcPts val="1260"/>
              </a:spcAft>
              <a:buClr>
                <a:srgbClr val="00D4AA"/>
              </a:buClr>
              <a:buFont typeface="Inter"/>
              <a:buChar char="•"/>
            </a:pPr>
            <a:r>
              <a:rPr sz="1800" b="0">
                <a:solidFill>
                  <a:srgbClr val="FFFFFF"/>
                </a:solidFill>
                <a:latin typeface="Inter"/>
              </a:rPr>
              <a:t>Drift: this week's numbers against last week's. Catches slow slides the other two miss</a:t>
            </a:r>
          </a:p>
          <a:p>
            <a:pPr marL="292608" indent="-292608">
              <a:lnSpc>
                <a:spcPct val="120000"/>
              </a:lnSpc>
              <a:spcAft>
                <a:spcPts val="1260"/>
              </a:spcAft>
              <a:buClr>
                <a:srgbClr val="00D4AA"/>
              </a:buClr>
              <a:buFont typeface="Inter"/>
              <a:buChar char="•"/>
            </a:pPr>
            <a:r>
              <a:rPr sz="1800" b="0">
                <a:solidFill>
                  <a:srgbClr val="FFFFFF"/>
                </a:solidFill>
                <a:latin typeface="Inter"/>
              </a:rPr>
              <a:t>All three land in the same place: scores on traces in Langfuse, and metrics in Prometheus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quality loop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Live traffic → sampled traces → judge → scores on traces</a:t>
            </a:r>
          </a:p>
          <a:p>
            <a:pPr marL="292608" indent="-292608">
              <a:lnSpc>
                <a:spcPct val="120000"/>
              </a:lnSpc>
              <a:spcAft>
                <a:spcPts val="1260"/>
              </a:spcAft>
              <a:buClr>
                <a:srgbClr val="00D4AA"/>
              </a:buClr>
              <a:buFont typeface="Inter"/>
              <a:buChar char="•"/>
            </a:pPr>
            <a:r>
              <a:rPr sz="1800" b="0">
                <a:solidFill>
                  <a:srgbClr val="FFFFFF"/>
                </a:solidFill>
                <a:latin typeface="Inter"/>
              </a:rPr>
              <a:t>Users → </a:t>
            </a:r>
            <a:r>
              <a:rPr sz="1656" b="0">
                <a:solidFill>
                  <a:srgbClr val="00D4AA"/>
                </a:solidFill>
                <a:latin typeface="JetBrains Mono"/>
              </a:rPr>
              <a:t>/feedback</a:t>
            </a:r>
            <a:r>
              <a:rPr sz="1800" b="0">
                <a:solidFill>
                  <a:srgbClr val="FFFFFF"/>
                </a:solidFill>
                <a:latin typeface="Inter"/>
              </a:rPr>
              <a:t> → scores on traces</a:t>
            </a:r>
          </a:p>
          <a:p>
            <a:pPr marL="292608" indent="-292608">
              <a:lnSpc>
                <a:spcPct val="120000"/>
              </a:lnSpc>
              <a:spcAft>
                <a:spcPts val="1260"/>
              </a:spcAft>
              <a:buClr>
                <a:srgbClr val="00D4AA"/>
              </a:buClr>
              <a:buFont typeface="Inter"/>
              <a:buChar char="•"/>
            </a:pPr>
            <a:r>
              <a:rPr sz="1800" b="0">
                <a:solidFill>
                  <a:srgbClr val="FFFFFF"/>
                </a:solidFill>
                <a:latin typeface="Inter"/>
              </a:rPr>
              <a:t>Scores + cost + latency → weekly windows → drift report</a:t>
            </a:r>
          </a:p>
          <a:p>
            <a:pPr marL="292608" indent="-292608">
              <a:lnSpc>
                <a:spcPct val="120000"/>
              </a:lnSpc>
              <a:spcAft>
                <a:spcPts val="1260"/>
              </a:spcAft>
              <a:buClr>
                <a:srgbClr val="00D4AA"/>
              </a:buClr>
              <a:buFont typeface="Inter"/>
              <a:buChar char="•"/>
            </a:pPr>
            <a:r>
              <a:rPr sz="1800" b="0">
                <a:solidFill>
                  <a:srgbClr val="FFFFFF"/>
                </a:solidFill>
                <a:latin typeface="Inter"/>
              </a:rPr>
              <a:t>Failing traces → dataset → offline evals (Course 2) → next prompt version</a:t>
            </a:r>
          </a:p>
          <a:p>
            <a:pPr marL="292608" indent="-292608">
              <a:lnSpc>
                <a:spcPct val="120000"/>
              </a:lnSpc>
              <a:spcAft>
                <a:spcPts val="1260"/>
              </a:spcAft>
              <a:buClr>
                <a:srgbClr val="00D4AA"/>
              </a:buClr>
              <a:buFont typeface="Inter"/>
              <a:buChar char="•"/>
            </a:pPr>
            <a:r>
              <a:rPr sz="1800" b="0">
                <a:solidFill>
                  <a:srgbClr val="FFFFFF"/>
                </a:solidFill>
                <a:latin typeface="Inter"/>
              </a:rPr>
              <a:t>Diagram builds clockwise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cost engineering depends on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Cost per resolved session needs </a:t>
            </a:r>
            <a:r>
              <a:rPr sz="1656" b="0">
                <a:solidFill>
                  <a:srgbClr val="00D4AA"/>
                </a:solidFill>
                <a:latin typeface="JetBrains Mono"/>
              </a:rPr>
              <a:t>resolved</a:t>
            </a:r>
          </a:p>
          <a:p>
            <a:pPr marL="292608" indent="-292608">
              <a:lnSpc>
                <a:spcPct val="120000"/>
              </a:lnSpc>
              <a:spcAft>
                <a:spcPts val="1260"/>
              </a:spcAft>
              <a:buClr>
                <a:srgbClr val="00D4AA"/>
              </a:buClr>
              <a:buFont typeface="Inter"/>
              <a:buChar char="•"/>
            </a:pPr>
            <a:r>
              <a:rPr sz="1800" b="0">
                <a:solidFill>
                  <a:srgbClr val="FFFFFF"/>
                </a:solidFill>
                <a:latin typeface="Inter"/>
              </a:rPr>
              <a:t>Before this section: </a:t>
            </a:r>
            <a:r>
              <a:rPr sz="1656" b="0">
                <a:solidFill>
                  <a:srgbClr val="00D4AA"/>
                </a:solidFill>
                <a:latin typeface="JetBrains Mono"/>
              </a:rPr>
              <a:t>resolved</a:t>
            </a:r>
            <a:r>
              <a:rPr sz="1800" b="0">
                <a:solidFill>
                  <a:srgbClr val="FFFFFF"/>
                </a:solidFill>
                <a:latin typeface="Inter"/>
              </a:rPr>
              <a:t> came from the simulator's ground truth</a:t>
            </a:r>
          </a:p>
          <a:p>
            <a:pPr marL="292608" indent="-292608">
              <a:lnSpc>
                <a:spcPct val="120000"/>
              </a:lnSpc>
              <a:spcAft>
                <a:spcPts val="1260"/>
              </a:spcAft>
              <a:buClr>
                <a:srgbClr val="00D4AA"/>
              </a:buClr>
              <a:buFont typeface="Inter"/>
              <a:buChar char="•"/>
            </a:pPr>
            <a:r>
              <a:rPr sz="1800" b="0">
                <a:solidFill>
                  <a:srgbClr val="FFFFFF"/>
                </a:solidFill>
                <a:latin typeface="Inter"/>
              </a:rPr>
              <a:t>After: from the judge and from feedback, on real traffic</a:t>
            </a:r>
          </a:p>
          <a:p>
            <a:pPr marL="292608" indent="-292608">
              <a:lnSpc>
                <a:spcPct val="120000"/>
              </a:lnSpc>
              <a:spcAft>
                <a:spcPts val="1260"/>
              </a:spcAft>
              <a:buClr>
                <a:srgbClr val="00D4AA"/>
              </a:buClr>
              <a:buFont typeface="Inter"/>
              <a:buChar char="•"/>
            </a:pPr>
            <a:r>
              <a:rPr sz="1800" b="0">
                <a:solidFill>
                  <a:srgbClr val="FFFFFF"/>
                </a:solidFill>
                <a:latin typeface="Inter"/>
              </a:rPr>
              <a:t>The context diet (6.5) and routing (6.6) were justified by judge scores; now you can produce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we'll build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8.2 sampled judge with DeepEval G-Eval, scores to Langfuse, cost as a line item</a:t>
            </a:r>
          </a:p>
          <a:p>
            <a:pPr marL="292608" indent="-292608">
              <a:lnSpc>
                <a:spcPct val="120000"/>
              </a:lnSpc>
              <a:spcAft>
                <a:spcPts val="1260"/>
              </a:spcAft>
              <a:buClr>
                <a:srgbClr val="00D4AA"/>
              </a:buClr>
              <a:buFont typeface="Inter"/>
              <a:buChar char="•"/>
            </a:pPr>
            <a:r>
              <a:rPr sz="1800" b="0">
                <a:solidFill>
                  <a:srgbClr val="FFFFFF"/>
                </a:solidFill>
                <a:latin typeface="Inter"/>
              </a:rPr>
              <a:t>8.3 feedback endpoint, correlation with the judge, survivorship bias</a:t>
            </a:r>
          </a:p>
          <a:p>
            <a:pPr marL="292608" indent="-292608">
              <a:lnSpc>
                <a:spcPct val="120000"/>
              </a:lnSpc>
              <a:spcAft>
                <a:spcPts val="1260"/>
              </a:spcAft>
              <a:buClr>
                <a:srgbClr val="00D4AA"/>
              </a:buClr>
              <a:buFont typeface="Inter"/>
              <a:buChar char="•"/>
            </a:pPr>
            <a:r>
              <a:rPr sz="1800" b="0">
                <a:solidFill>
                  <a:srgbClr val="FFFFFF"/>
                </a:solidFill>
                <a:latin typeface="Inter"/>
              </a:rPr>
              <a:t>8.4 guardrail and safety metrics as time series</a:t>
            </a:r>
          </a:p>
          <a:p>
            <a:pPr marL="292608" indent="-292608">
              <a:lnSpc>
                <a:spcPct val="120000"/>
              </a:lnSpc>
              <a:spcAft>
                <a:spcPts val="1260"/>
              </a:spcAft>
              <a:buClr>
                <a:srgbClr val="00D4AA"/>
              </a:buClr>
              <a:buFont typeface="Inter"/>
              <a:buChar char="•"/>
            </a:pPr>
            <a:r>
              <a:rPr sz="1800" b="0">
                <a:solidFill>
                  <a:srgbClr val="FFFFFF"/>
                </a:solidFill>
                <a:latin typeface="Inter"/>
              </a:rPr>
              <a:t>8.5 drift detection and the weekly report</a:t>
            </a:r>
          </a:p>
          <a:p>
            <a:pPr marL="292608" indent="-292608">
              <a:lnSpc>
                <a:spcPct val="120000"/>
              </a:lnSpc>
              <a:spcAft>
                <a:spcPts val="1260"/>
              </a:spcAft>
              <a:buClr>
                <a:srgbClr val="00D4AA"/>
              </a:buClr>
              <a:buFont typeface="Inter"/>
              <a:buChar char="•"/>
            </a:pPr>
            <a:r>
              <a:rPr sz="1800" b="0">
                <a:solidFill>
                  <a:srgbClr val="FFFFFF"/>
                </a:solidFill>
                <a:latin typeface="Inter"/>
              </a:rPr>
              <a:t>8.6 bad trace to regression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sampled LLM-as-judge on live traces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judge: sampling policies, three G-Eval criteria written for a helpdesk agent, and the scores written 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sampled LLM-as-judge on live traces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Sample traces with a head-plus-tail policy, grade each with three DeepEval G-Eval metrics written for Atlas, write the scores back to Langfuse…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Sampling: head plus tail</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Head: a fixed 10% of traces, chosen by hash of the trace id, so re-runs pick the same ones</a:t>
            </a:r>
          </a:p>
          <a:p>
            <a:pPr marL="292608" indent="-292608">
              <a:lnSpc>
                <a:spcPct val="120000"/>
              </a:lnSpc>
              <a:spcAft>
                <a:spcPts val="1260"/>
              </a:spcAft>
              <a:buClr>
                <a:srgbClr val="00D4AA"/>
              </a:buClr>
              <a:buFont typeface="Inter"/>
              <a:buChar char="•"/>
            </a:pPr>
            <a:r>
              <a:rPr sz="1800" b="0">
                <a:solidFill>
                  <a:srgbClr val="FFFFFF"/>
                </a:solidFill>
                <a:latin typeface="Inter"/>
              </a:rPr>
              <a:t>Tail: always judge traces that are interesting: errors, thumbs-down, escalations, 5+ steps, budget-degraded</a:t>
            </a:r>
          </a:p>
          <a:p>
            <a:pPr marL="292608" indent="-292608">
              <a:lnSpc>
                <a:spcPct val="120000"/>
              </a:lnSpc>
              <a:spcAft>
                <a:spcPts val="1260"/>
              </a:spcAft>
              <a:buClr>
                <a:srgbClr val="00D4AA"/>
              </a:buClr>
              <a:buFont typeface="Inter"/>
              <a:buChar char="•"/>
            </a:pPr>
            <a:r>
              <a:rPr sz="1800" b="0">
                <a:solidFill>
                  <a:srgbClr val="FFFFFF"/>
                </a:solidFill>
                <a:latin typeface="Inter"/>
              </a:rPr>
              <a:t>Head gives you an unbiased estimate; tail gives you the failures</a:t>
            </a:r>
          </a:p>
          <a:p>
            <a:pPr marL="292608" indent="-292608">
              <a:lnSpc>
                <a:spcPct val="120000"/>
              </a:lnSpc>
              <a:spcAft>
                <a:spcPts val="1260"/>
              </a:spcAft>
              <a:buClr>
                <a:srgbClr val="00D4AA"/>
              </a:buClr>
              <a:buFont typeface="Inter"/>
              <a:buChar char="•"/>
            </a:pPr>
            <a:r>
              <a:rPr sz="1800" b="0">
                <a:solidFill>
                  <a:srgbClr val="FFFFFF"/>
                </a:solidFill>
                <a:latin typeface="Inter"/>
              </a:rPr>
              <a:t>Never judge 100%: the judge would cost as much as serving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judge's bill (verify current pricing)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7" cy="1755648"/>
        </p:xfrm>
        <a:graphic>
          <a:graphicData uri="http://schemas.openxmlformats.org/drawingml/2006/table">
            <a:tbl>
              <a:tblPr firstRow="1" bandRow="1">
                <a:tableStyleId>{5C22544A-7EE6-4342-B048-85BDC9FD1C3A}</a:tableStyleId>
              </a:tblPr>
              <a:tblGrid>
                <a:gridCol w="2797308"/>
                <a:gridCol w="3729745"/>
                <a:gridCol w="2175684"/>
                <a:gridCol w="2590100"/>
              </a:tblGrid>
              <a:tr h="438912">
                <a:tc>
                  <a:txBody>
                    <a:bodyPr wrap="square"/>
                    <a:lstStyle/>
                    <a:p>
                      <a:r>
                        <a:rPr sz="1400" b="1">
                          <a:solidFill>
                            <a:srgbClr val="0A1628"/>
                          </a:solidFill>
                          <a:latin typeface="Inter"/>
                        </a:rPr>
                        <a:t>Judge model</a:t>
                      </a:r>
                    </a:p>
                  </a:txBody>
                  <a:tcPr marL="91440" marR="91440" marT="45720" marB="45720" anchor="ctr">
                    <a:solidFill>
                      <a:srgbClr val="00D4AA"/>
                    </a:solidFill>
                  </a:tcPr>
                </a:tc>
                <a:tc>
                  <a:txBody>
                    <a:bodyPr wrap="square"/>
                    <a:lstStyle/>
                    <a:p>
                      <a:r>
                        <a:rPr sz="1400" b="1">
                          <a:solidFill>
                            <a:srgbClr val="0A1628"/>
                          </a:solidFill>
                          <a:latin typeface="Inter"/>
                        </a:rPr>
                        <a:t>Per metric call (2,200 in / 150 out)</a:t>
                      </a:r>
                    </a:p>
                  </a:txBody>
                  <a:tcPr marL="91440" marR="91440" marT="45720" marB="45720" anchor="ctr">
                    <a:solidFill>
                      <a:srgbClr val="00D4AA"/>
                    </a:solidFill>
                  </a:tcPr>
                </a:tc>
                <a:tc>
                  <a:txBody>
                    <a:bodyPr wrap="square"/>
                    <a:lstStyle/>
                    <a:p>
                      <a:r>
                        <a:rPr sz="1400" b="1">
                          <a:solidFill>
                            <a:srgbClr val="0A1628"/>
                          </a:solidFill>
                          <a:latin typeface="Inter"/>
                        </a:rPr>
                        <a:t>Per day (3,540 calls)</a:t>
                      </a:r>
                    </a:p>
                  </a:txBody>
                  <a:tcPr marL="91440" marR="91440" marT="45720" marB="45720" anchor="ctr">
                    <a:solidFill>
                      <a:srgbClr val="00D4AA"/>
                    </a:solidFill>
                  </a:tcPr>
                </a:tc>
                <a:tc>
                  <a:txBody>
                    <a:bodyPr wrap="square"/>
                    <a:lstStyle/>
                    <a:p>
                      <a:r>
                        <a:rPr sz="1400" b="1">
                          <a:solidFill>
                            <a:srgbClr val="0A1628"/>
                          </a:solidFill>
                          <a:latin typeface="Inter"/>
                        </a:rPr>
                        <a:t>Share of serving ($19.21)</a:t>
                      </a:r>
                    </a:p>
                  </a:txBody>
                  <a:tcPr marL="91440" marR="91440" marT="45720" marB="45720" anchor="ctr">
                    <a:solidFill>
                      <a:srgbClr val="00D4AA"/>
                    </a:solidFill>
                  </a:tcPr>
                </a:tc>
              </a:tr>
              <a:tr h="438912">
                <a:tc>
                  <a:txBody>
                    <a:bodyPr wrap="square"/>
                    <a:lstStyle/>
                    <a:p>
                      <a:r>
                        <a:rPr sz="1400" b="1">
                          <a:solidFill>
                            <a:srgbClr val="FFFFFF"/>
                          </a:solidFill>
                          <a:latin typeface="Inter"/>
                        </a:rPr>
                        <a:t>gpt-4.1-mini</a:t>
                      </a:r>
                    </a:p>
                  </a:txBody>
                  <a:tcPr marL="91440" marR="91440" marT="45720" marB="45720" anchor="ctr">
                    <a:solidFill>
                      <a:srgbClr val="1A2742"/>
                    </a:solidFill>
                  </a:tcPr>
                </a:tc>
                <a:tc>
                  <a:txBody>
                    <a:bodyPr wrap="square"/>
                    <a:lstStyle/>
                    <a:p>
                      <a:r>
                        <a:rPr sz="1400" b="0">
                          <a:solidFill>
                            <a:srgbClr val="FFFFFF"/>
                          </a:solidFill>
                          <a:latin typeface="Inter"/>
                        </a:rPr>
                        <a:t>$0.00112</a:t>
                      </a:r>
                    </a:p>
                  </a:txBody>
                  <a:tcPr marL="91440" marR="91440" marT="45720" marB="45720" anchor="ctr">
                    <a:solidFill>
                      <a:srgbClr val="1A2742"/>
                    </a:solidFill>
                  </a:tcPr>
                </a:tc>
                <a:tc>
                  <a:txBody>
                    <a:bodyPr wrap="square"/>
                    <a:lstStyle/>
                    <a:p>
                      <a:r>
                        <a:rPr sz="1400" b="0">
                          <a:solidFill>
                            <a:srgbClr val="FFFFFF"/>
                          </a:solidFill>
                          <a:latin typeface="Inter"/>
                        </a:rPr>
                        <a:t>$3.96</a:t>
                      </a:r>
                    </a:p>
                  </a:txBody>
                  <a:tcPr marL="91440" marR="91440" marT="45720" marB="45720" anchor="ctr">
                    <a:solidFill>
                      <a:srgbClr val="1A2742"/>
                    </a:solidFill>
                  </a:tcPr>
                </a:tc>
                <a:tc>
                  <a:txBody>
                    <a:bodyPr wrap="square"/>
                    <a:lstStyle/>
                    <a:p>
                      <a:r>
                        <a:rPr sz="1400" b="0">
                          <a:solidFill>
                            <a:srgbClr val="FFFFFF"/>
                          </a:solidFill>
                          <a:latin typeface="Inter"/>
                        </a:rPr>
                        <a:t>21%</a:t>
                      </a:r>
                    </a:p>
                  </a:txBody>
                  <a:tcPr marL="91440" marR="91440" marT="45720" marB="45720" anchor="ctr">
                    <a:solidFill>
                      <a:srgbClr val="1A2742"/>
                    </a:solidFill>
                  </a:tcPr>
                </a:tc>
              </a:tr>
              <a:tr h="438912">
                <a:tc>
                  <a:txBody>
                    <a:bodyPr wrap="square"/>
                    <a:lstStyle/>
                    <a:p>
                      <a:r>
                        <a:rPr sz="1400" b="1">
                          <a:solidFill>
                            <a:srgbClr val="FFFFFF"/>
                          </a:solidFill>
                          <a:latin typeface="Inter"/>
                        </a:rPr>
                        <a:t>gpt-4.1</a:t>
                      </a:r>
                    </a:p>
                  </a:txBody>
                  <a:tcPr marL="91440" marR="91440" marT="45720" marB="45720" anchor="ctr">
                    <a:solidFill>
                      <a:srgbClr val="0F1E35"/>
                    </a:solidFill>
                  </a:tcPr>
                </a:tc>
                <a:tc>
                  <a:txBody>
                    <a:bodyPr wrap="square"/>
                    <a:lstStyle/>
                    <a:p>
                      <a:r>
                        <a:rPr sz="1400" b="0">
                          <a:solidFill>
                            <a:srgbClr val="FFFFFF"/>
                          </a:solidFill>
                          <a:latin typeface="Inter"/>
                        </a:rPr>
                        <a:t>$0.0056</a:t>
                      </a:r>
                    </a:p>
                  </a:txBody>
                  <a:tcPr marL="91440" marR="91440" marT="45720" marB="45720" anchor="ctr">
                    <a:solidFill>
                      <a:srgbClr val="0F1E35"/>
                    </a:solidFill>
                  </a:tcPr>
                </a:tc>
                <a:tc>
                  <a:txBody>
                    <a:bodyPr wrap="square"/>
                    <a:lstStyle/>
                    <a:p>
                      <a:r>
                        <a:rPr sz="1400" b="0">
                          <a:solidFill>
                            <a:srgbClr val="FFFFFF"/>
                          </a:solidFill>
                          <a:latin typeface="Inter"/>
                        </a:rPr>
                        <a:t>$19.82</a:t>
                      </a:r>
                    </a:p>
                  </a:txBody>
                  <a:tcPr marL="91440" marR="91440" marT="45720" marB="45720" anchor="ctr">
                    <a:solidFill>
                      <a:srgbClr val="0F1E35"/>
                    </a:solidFill>
                  </a:tcPr>
                </a:tc>
                <a:tc>
                  <a:txBody>
                    <a:bodyPr wrap="square"/>
                    <a:lstStyle/>
                    <a:p>
                      <a:r>
                        <a:rPr sz="1400" b="0">
                          <a:solidFill>
                            <a:srgbClr val="FFFFFF"/>
                          </a:solidFill>
                          <a:latin typeface="Inter"/>
                        </a:rPr>
                        <a:t>103%</a:t>
                      </a:r>
                    </a:p>
                  </a:txBody>
                  <a:tcPr marL="91440" marR="91440" marT="45720" marB="45720" anchor="ctr">
                    <a:solidFill>
                      <a:srgbClr val="0F1E35"/>
                    </a:solidFill>
                  </a:tcPr>
                </a:tc>
              </a:tr>
              <a:tr h="438912">
                <a:tc>
                  <a:txBody>
                    <a:bodyPr wrap="square"/>
                    <a:lstStyle/>
                    <a:p>
                      <a:r>
                        <a:rPr sz="1400" b="1">
                          <a:solidFill>
                            <a:srgbClr val="FFFFFF"/>
                          </a:solidFill>
                          <a:latin typeface="Inter"/>
                        </a:rPr>
                        <a:t>Judge everything on gpt-4.1</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c>
                  <a:txBody>
                    <a:bodyPr wrap="square"/>
                    <a:lstStyle/>
                    <a:p>
                      <a:r>
                        <a:rPr sz="1400" b="0">
                          <a:solidFill>
                            <a:srgbClr val="FFFFFF"/>
                          </a:solidFill>
                          <a:latin typeface="Inter"/>
                        </a:rPr>
                        <a:t>about $168</a:t>
                      </a:r>
                    </a:p>
                  </a:txBody>
                  <a:tcPr marL="91440" marR="91440" marT="45720" marB="45720" anchor="ctr">
                    <a:solidFill>
                      <a:srgbClr val="1A2742"/>
                    </a:solidFill>
                  </a:tcPr>
                </a:tc>
                <a:tc>
                  <a:txBody>
                    <a:bodyPr wrap="square"/>
                    <a:lstStyle/>
                    <a:p>
                      <a:r>
                        <a:rPr sz="1400" b="0">
                          <a:solidFill>
                            <a:srgbClr val="FFFFFF"/>
                          </a:solidFill>
                          <a:latin typeface="Inter"/>
                        </a:rPr>
                        <a:t>almost 9× serving</a:t>
                      </a:r>
                    </a:p>
                  </a:txBody>
                  <a:tcPr marL="91440" marR="91440" marT="45720" marB="45720" anchor="ctr">
                    <a:solidFill>
                      <a:srgbClr val="1A274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Capturing user feedback that means something</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judge is one opinion.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Capturing user feedback that means something</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Collect thumbs with a reason, write them as scores on the trace, correlate them with the judge, and correct for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Feedback that means something</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One click, then one optional reason from a short list: </a:t>
            </a:r>
            <a:r>
              <a:rPr sz="1656" b="0">
                <a:solidFill>
                  <a:srgbClr val="00D4AA"/>
                </a:solidFill>
                <a:latin typeface="JetBrains Mono"/>
              </a:rPr>
              <a:t>wrong_answer</a:t>
            </a:r>
            <a:r>
              <a:rPr sz="1800" b="0">
                <a:solidFill>
                  <a:srgbClr val="FFFFFF"/>
                </a:solidFill>
                <a:latin typeface="Inter"/>
              </a:rPr>
              <a:t>, </a:t>
            </a:r>
            <a:r>
              <a:rPr sz="1656" b="0">
                <a:solidFill>
                  <a:srgbClr val="00D4AA"/>
                </a:solidFill>
                <a:latin typeface="JetBrains Mono"/>
              </a:rPr>
              <a:t>not_what_i_asked</a:t>
            </a:r>
            <a:r>
              <a:rPr sz="1800" b="0">
                <a:solidFill>
                  <a:srgbClr val="FFFFFF"/>
                </a:solidFill>
                <a:latin typeface="Inter"/>
              </a:rPr>
              <a:t>, </a:t>
            </a:r>
            <a:r>
              <a:rPr sz="1656" b="0">
                <a:solidFill>
                  <a:srgbClr val="00D4AA"/>
                </a:solidFill>
                <a:latin typeface="JetBrains Mono"/>
              </a:rPr>
              <a:t>too_slow</a:t>
            </a:r>
            <a:r>
              <a:rPr sz="1800" b="0">
                <a:solidFill>
                  <a:srgbClr val="FFFFFF"/>
                </a:solidFill>
                <a:latin typeface="Inter"/>
              </a:rPr>
              <a:t>, </a:t>
            </a:r>
            <a:r>
              <a:rPr sz="1656" b="0">
                <a:solidFill>
                  <a:srgbClr val="00D4AA"/>
                </a:solidFill>
                <a:latin typeface="JetBrains Mono"/>
              </a:rPr>
              <a:t>needed_a_person</a:t>
            </a:r>
            <a:r>
              <a:rPr sz="1800" b="0">
                <a:solidFill>
                  <a:srgbClr val="FFFFFF"/>
                </a:solidFill>
                <a:latin typeface="Inter"/>
              </a:rPr>
              <a:t>, </a:t>
            </a:r>
            <a:r>
              <a:rPr sz="1656" b="0">
                <a:solidFill>
                  <a:srgbClr val="00D4AA"/>
                </a:solidFill>
                <a:latin typeface="JetBrains Mono"/>
              </a:rPr>
              <a:t>other</a:t>
            </a:r>
          </a:p>
          <a:p>
            <a:pPr marL="292608" indent="-292608">
              <a:lnSpc>
                <a:spcPct val="120000"/>
              </a:lnSpc>
              <a:spcAft>
                <a:spcPts val="1260"/>
              </a:spcAft>
              <a:buClr>
                <a:srgbClr val="00D4AA"/>
              </a:buClr>
              <a:buFont typeface="Inter"/>
              <a:buChar char="•"/>
            </a:pPr>
            <a:r>
              <a:rPr sz="1800" b="0">
                <a:solidFill>
                  <a:srgbClr val="FFFFFF"/>
                </a:solidFill>
                <a:latin typeface="Inter"/>
              </a:rPr>
              <a:t>Attached to the trace id, not to the session, so you know which answer they meant</a:t>
            </a:r>
          </a:p>
          <a:p>
            <a:pPr marL="292608" indent="-292608">
              <a:lnSpc>
                <a:spcPct val="120000"/>
              </a:lnSpc>
              <a:spcAft>
                <a:spcPts val="1260"/>
              </a:spcAft>
              <a:buClr>
                <a:srgbClr val="00D4AA"/>
              </a:buClr>
              <a:buFont typeface="Inter"/>
              <a:buChar char="•"/>
            </a:pPr>
            <a:r>
              <a:rPr sz="1800" b="0">
                <a:solidFill>
                  <a:srgbClr val="FFFFFF"/>
                </a:solidFill>
                <a:latin typeface="Inter"/>
              </a:rPr>
              <a:t>Written as scores: </a:t>
            </a:r>
            <a:r>
              <a:rPr sz="1656" b="0">
                <a:solidFill>
                  <a:srgbClr val="00D4AA"/>
                </a:solidFill>
                <a:latin typeface="JetBrains Mono"/>
              </a:rPr>
              <a:t>user_feedback</a:t>
            </a:r>
            <a:r>
              <a:rPr sz="1800" b="0">
                <a:solidFill>
                  <a:srgbClr val="FFFFFF"/>
                </a:solidFill>
                <a:latin typeface="Inter"/>
              </a:rPr>
              <a:t> (boolean) and </a:t>
            </a:r>
            <a:r>
              <a:rPr sz="1656" b="0">
                <a:solidFill>
                  <a:srgbClr val="00D4AA"/>
                </a:solidFill>
                <a:latin typeface="JetBrains Mono"/>
              </a:rPr>
              <a:t>feedback_reason</a:t>
            </a:r>
            <a:r>
              <a:rPr sz="1800" b="0">
                <a:solidFill>
                  <a:srgbClr val="FFFFFF"/>
                </a:solidFill>
                <a:latin typeface="Inter"/>
              </a:rPr>
              <a:t> (categorical)</a:t>
            </a:r>
          </a:p>
          <a:p>
            <a:pPr marL="292608" indent="-292608">
              <a:lnSpc>
                <a:spcPct val="120000"/>
              </a:lnSpc>
              <a:spcAft>
                <a:spcPts val="1260"/>
              </a:spcAft>
              <a:buClr>
                <a:srgbClr val="00D4AA"/>
              </a:buClr>
              <a:buFont typeface="Inter"/>
              <a:buChar char="•"/>
            </a:pPr>
            <a:r>
              <a:rPr sz="1800" b="0">
                <a:solidFill>
                  <a:srgbClr val="FFFFFF"/>
                </a:solidFill>
                <a:latin typeface="Inter"/>
              </a:rPr>
              <a:t>Thumbs-down traces are always judged (tail sampling, 8.2)</a:t>
            </a:r>
          </a:p>
          <a:p>
            <a:pPr marL="292608" indent="-292608">
              <a:lnSpc>
                <a:spcPct val="120000"/>
              </a:lnSpc>
              <a:spcAft>
                <a:spcPts val="1260"/>
              </a:spcAft>
              <a:buClr>
                <a:srgbClr val="00D4AA"/>
              </a:buClr>
              <a:buFont typeface="Inter"/>
              <a:buChar char="•"/>
            </a:pPr>
            <a:r>
              <a:rPr sz="1800" b="0">
                <a:solidFill>
                  <a:srgbClr val="FFFFFF"/>
                </a:solidFill>
                <a:latin typeface="Inter"/>
              </a:rPr>
              <a:t>Report feedback rate alongside the score, always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Correcting for survivorship</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Long sessions rate less: judge them more (tail rule: 5+ steps)</a:t>
            </a:r>
          </a:p>
          <a:p>
            <a:pPr marL="292608" indent="-292608">
              <a:lnSpc>
                <a:spcPct val="120000"/>
              </a:lnSpc>
              <a:spcAft>
                <a:spcPts val="1260"/>
              </a:spcAft>
              <a:buClr>
                <a:srgbClr val="00D4AA"/>
              </a:buClr>
              <a:buFont typeface="Inter"/>
              <a:buChar char="•"/>
            </a:pPr>
            <a:r>
              <a:rPr sz="1800" b="0">
                <a:solidFill>
                  <a:srgbClr val="FFFFFF"/>
                </a:solidFill>
                <a:latin typeface="Inter"/>
              </a:rPr>
              <a:t>Abandoned sessions rate never: track abandonment as its own metric (no final answer viewed, or user re-asks within 2 minutes)</a:t>
            </a:r>
          </a:p>
          <a:p>
            <a:pPr marL="292608" indent="-292608">
              <a:lnSpc>
                <a:spcPct val="120000"/>
              </a:lnSpc>
              <a:spcAft>
                <a:spcPts val="1260"/>
              </a:spcAft>
              <a:buClr>
                <a:srgbClr val="00D4AA"/>
              </a:buClr>
              <a:buFont typeface="Inter"/>
              <a:buChar char="•"/>
            </a:pPr>
            <a:r>
              <a:rPr sz="1800" b="0">
                <a:solidFill>
                  <a:srgbClr val="FFFFFF"/>
                </a:solidFill>
                <a:latin typeface="Inter"/>
              </a:rPr>
              <a:t>Weight the thumbs by session length when you report a single number, or don't report a single number</a:t>
            </a:r>
          </a:p>
          <a:p>
            <a:pPr marL="292608" indent="-292608">
              <a:lnSpc>
                <a:spcPct val="120000"/>
              </a:lnSpc>
              <a:spcAft>
                <a:spcPts val="1260"/>
              </a:spcAft>
              <a:buClr>
                <a:srgbClr val="00D4AA"/>
              </a:buClr>
              <a:buFont typeface="Inter"/>
              <a:buChar char="•"/>
            </a:pPr>
            <a:r>
              <a:rPr sz="1800" b="0">
                <a:solidFill>
                  <a:srgbClr val="FFFFFF"/>
                </a:solidFill>
                <a:latin typeface="Inter"/>
              </a:rPr>
              <a:t>Disagreements are the reading list: judge-wrong or user-wrong, both are useful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Guardrail and safety metrics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Judge and feedback tell you whether answers are good.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Guardrail and safety metrics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Turn the guardrail observation from 4.7 and the PII masker into three time series, injection attempts, refusal rate and PII-in-output, so 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safety series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injection_blocked</a:t>
            </a:r>
            <a:r>
              <a:rPr sz="1800" b="0">
                <a:solidFill>
                  <a:srgbClr val="FFFFFF"/>
                </a:solidFill>
                <a:latin typeface="Inter"/>
              </a:rPr>
              <a:t>: the guardrail observation from 4.7 said no. Baseline 22 a day, 0.22%</a:t>
            </a:r>
          </a:p>
          <a:p>
            <a:pPr marL="292608" indent="-292608">
              <a:lnSpc>
                <a:spcPct val="120000"/>
              </a:lnSpc>
              <a:spcAft>
                <a:spcPts val="1260"/>
              </a:spcAft>
              <a:buClr>
                <a:srgbClr val="00D4AA"/>
              </a:buClr>
              <a:buFont typeface="Inter"/>
              <a:buChar char="•"/>
            </a:pPr>
            <a:r>
              <a:rPr sz="1656" b="0">
                <a:solidFill>
                  <a:srgbClr val="00D4AA"/>
                </a:solidFill>
                <a:latin typeface="JetBrains Mono"/>
              </a:rPr>
              <a:t>refusal</a:t>
            </a:r>
            <a:r>
              <a:rPr sz="1800" b="0">
                <a:solidFill>
                  <a:srgbClr val="FFFFFF"/>
                </a:solidFill>
                <a:latin typeface="Inter"/>
              </a:rPr>
              <a:t>: Atlas declined to answer (policy, scope or safety). Baseline 1.1%</a:t>
            </a:r>
          </a:p>
          <a:p>
            <a:pPr marL="292608" indent="-292608">
              <a:lnSpc>
                <a:spcPct val="120000"/>
              </a:lnSpc>
              <a:spcAft>
                <a:spcPts val="1260"/>
              </a:spcAft>
              <a:buClr>
                <a:srgbClr val="00D4AA"/>
              </a:buClr>
              <a:buFont typeface="Inter"/>
              <a:buChar char="•"/>
            </a:pPr>
            <a:r>
              <a:rPr sz="1656" b="0">
                <a:solidFill>
                  <a:srgbClr val="00D4AA"/>
                </a:solidFill>
                <a:latin typeface="JetBrains Mono"/>
              </a:rPr>
              <a:t>pii_in_output</a:t>
            </a:r>
            <a:r>
              <a:rPr sz="1800" b="0">
                <a:solidFill>
                  <a:srgbClr val="FFFFFF"/>
                </a:solidFill>
                <a:latin typeface="Inter"/>
              </a:rPr>
              <a:t>: the masker found PII in the final answer before it was sent. Baseline 0.3%</a:t>
            </a:r>
          </a:p>
          <a:p>
            <a:pPr marL="292608" indent="-292608">
              <a:lnSpc>
                <a:spcPct val="120000"/>
              </a:lnSpc>
              <a:spcAft>
                <a:spcPts val="1260"/>
              </a:spcAft>
              <a:buClr>
                <a:srgbClr val="00D4AA"/>
              </a:buClr>
              <a:buFont typeface="Inter"/>
              <a:buChar char="•"/>
            </a:pPr>
            <a:r>
              <a:rPr sz="1800" b="0">
                <a:solidFill>
                  <a:srgbClr val="FFFFFF"/>
                </a:solidFill>
                <a:latin typeface="Inter"/>
              </a:rPr>
              <a:t>All three as </a:t>
            </a:r>
            <a:r>
              <a:rPr sz="1656" b="0">
                <a:solidFill>
                  <a:srgbClr val="00D4AA"/>
                </a:solidFill>
                <a:latin typeface="JetBrains Mono"/>
              </a:rPr>
              <a:t>GUARDRAIL_EVENTS{kind}</a:t>
            </a:r>
            <a:r>
              <a:rPr sz="1800" b="0">
                <a:solidFill>
                  <a:srgbClr val="FFFFFF"/>
                </a:solidFill>
                <a:latin typeface="Inter"/>
              </a:rPr>
              <a:t> divided by </a:t>
            </a:r>
            <a:r>
              <a:rPr sz="1656" b="0">
                <a:solidFill>
                  <a:srgbClr val="00D4AA"/>
                </a:solidFill>
                <a:latin typeface="JetBrains Mono"/>
              </a:rPr>
              <a:t>REQUESTS</a:t>
            </a:r>
            <a:r>
              <a:rPr sz="1800" b="0">
                <a:solidFill>
                  <a:srgbClr val="FFFFFF"/>
                </a:solidFill>
                <a:latin typeface="Inter"/>
              </a:rPr>
              <a:t>, per 5 minutes and per 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Thresholds (Atlas baselines)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536192"/>
        </p:xfrm>
        <a:graphic>
          <a:graphicData uri="http://schemas.openxmlformats.org/drawingml/2006/table">
            <a:tbl>
              <a:tblPr firstRow="1" bandRow="1">
                <a:tableStyleId>{5C22544A-7EE6-4342-B048-85BDC9FD1C3A}</a:tableStyleId>
              </a:tblPr>
              <a:tblGrid>
                <a:gridCol w="2012585"/>
                <a:gridCol w="894482"/>
                <a:gridCol w="1677154"/>
                <a:gridCol w="6708617"/>
              </a:tblGrid>
              <a:tr h="384048">
                <a:tc>
                  <a:txBody>
                    <a:bodyPr wrap="square"/>
                    <a:lstStyle/>
                    <a:p>
                      <a:r>
                        <a:rPr sz="1200" b="1">
                          <a:solidFill>
                            <a:srgbClr val="0A1628"/>
                          </a:solidFill>
                          <a:latin typeface="Inter"/>
                        </a:rPr>
                        <a:t>Series</a:t>
                      </a:r>
                    </a:p>
                  </a:txBody>
                  <a:tcPr marL="91440" marR="91440" marT="45720" marB="45720" anchor="ctr">
                    <a:solidFill>
                      <a:srgbClr val="00D4AA"/>
                    </a:solidFill>
                  </a:tcPr>
                </a:tc>
                <a:tc>
                  <a:txBody>
                    <a:bodyPr wrap="square"/>
                    <a:lstStyle/>
                    <a:p>
                      <a:r>
                        <a:rPr sz="1200" b="1">
                          <a:solidFill>
                            <a:srgbClr val="0A1628"/>
                          </a:solidFill>
                          <a:latin typeface="Inter"/>
                        </a:rPr>
                        <a:t>Baseline</a:t>
                      </a:r>
                    </a:p>
                  </a:txBody>
                  <a:tcPr marL="91440" marR="91440" marT="45720" marB="45720" anchor="ctr">
                    <a:solidFill>
                      <a:srgbClr val="00D4AA"/>
                    </a:solidFill>
                  </a:tcPr>
                </a:tc>
                <a:tc>
                  <a:txBody>
                    <a:bodyPr wrap="square"/>
                    <a:lstStyle/>
                    <a:p>
                      <a:r>
                        <a:rPr sz="1200" b="1">
                          <a:solidFill>
                            <a:srgbClr val="0A1628"/>
                          </a:solidFill>
                          <a:latin typeface="Inter"/>
                        </a:rPr>
                        <a:t>Warn</a:t>
                      </a:r>
                    </a:p>
                  </a:txBody>
                  <a:tcPr marL="91440" marR="91440" marT="45720" marB="45720" anchor="ctr">
                    <a:solidFill>
                      <a:srgbClr val="00D4AA"/>
                    </a:solidFill>
                  </a:tcPr>
                </a:tc>
                <a:tc>
                  <a:txBody>
                    <a:bodyPr wrap="square"/>
                    <a:lstStyle/>
                    <a:p>
                      <a:r>
                        <a:rPr sz="1200" b="1">
                          <a:solidFill>
                            <a:srgbClr val="0A1628"/>
                          </a:solidFill>
                          <a:latin typeface="Inter"/>
                        </a:rPr>
                        <a:t>Page</a:t>
                      </a:r>
                    </a:p>
                  </a:txBody>
                  <a:tcPr marL="91440" marR="91440" marT="45720" marB="45720" anchor="ctr">
                    <a:solidFill>
                      <a:srgbClr val="00D4AA"/>
                    </a:solidFill>
                  </a:tcPr>
                </a:tc>
              </a:tr>
              <a:tr h="384048">
                <a:tc>
                  <a:txBody>
                    <a:bodyPr wrap="square"/>
                    <a:lstStyle/>
                    <a:p>
                      <a:r>
                        <a:rPr sz="1200" b="1">
                          <a:solidFill>
                            <a:srgbClr val="FFFFFF"/>
                          </a:solidFill>
                          <a:latin typeface="Inter"/>
                        </a:rPr>
                        <a:t>injection rate</a:t>
                      </a:r>
                    </a:p>
                  </a:txBody>
                  <a:tcPr marL="91440" marR="91440" marT="45720" marB="45720" anchor="ctr">
                    <a:solidFill>
                      <a:srgbClr val="1A2742"/>
                    </a:solidFill>
                  </a:tcPr>
                </a:tc>
                <a:tc>
                  <a:txBody>
                    <a:bodyPr wrap="square"/>
                    <a:lstStyle/>
                    <a:p>
                      <a:r>
                        <a:rPr sz="1200" b="0">
                          <a:solidFill>
                            <a:srgbClr val="FFFFFF"/>
                          </a:solidFill>
                          <a:latin typeface="Inter"/>
                        </a:rPr>
                        <a:t>0.2%</a:t>
                      </a:r>
                    </a:p>
                  </a:txBody>
                  <a:tcPr marL="91440" marR="91440" marT="45720" marB="45720" anchor="ctr">
                    <a:solidFill>
                      <a:srgbClr val="1A2742"/>
                    </a:solidFill>
                  </a:tcPr>
                </a:tc>
                <a:tc>
                  <a:txBody>
                    <a:bodyPr wrap="square"/>
                    <a:lstStyle/>
                    <a:p>
                      <a:r>
                        <a:rPr sz="1200" b="0">
                          <a:solidFill>
                            <a:srgbClr val="FFFFFF"/>
                          </a:solidFill>
                          <a:latin typeface="Inter"/>
                        </a:rPr>
                        <a:t>&gt; 0.6% over 1 h</a:t>
                      </a:r>
                    </a:p>
                  </a:txBody>
                  <a:tcPr marL="91440" marR="91440" marT="45720" marB="45720" anchor="ctr">
                    <a:solidFill>
                      <a:srgbClr val="1A2742"/>
                    </a:solidFill>
                  </a:tcPr>
                </a:tc>
                <a:tc>
                  <a:txBody>
                    <a:bodyPr wrap="square"/>
                    <a:lstStyle/>
                    <a:p>
                      <a:r>
                        <a:rPr sz="1200" b="0">
                          <a:solidFill>
                            <a:srgbClr val="FFFFFF"/>
                          </a:solidFill>
                          <a:latin typeface="Inter"/>
                        </a:rPr>
                        <a:t>&gt; 2% over 15 min, or one user &gt; 20 attempts</a:t>
                      </a:r>
                    </a:p>
                  </a:txBody>
                  <a:tcPr marL="91440" marR="91440" marT="45720" marB="45720" anchor="ctr">
                    <a:solidFill>
                      <a:srgbClr val="1A2742"/>
                    </a:solidFill>
                  </a:tcPr>
                </a:tc>
              </a:tr>
              <a:tr h="384048">
                <a:tc>
                  <a:txBody>
                    <a:bodyPr wrap="square"/>
                    <a:lstStyle/>
                    <a:p>
                      <a:r>
                        <a:rPr sz="1200" b="1">
                          <a:solidFill>
                            <a:srgbClr val="FFFFFF"/>
                          </a:solidFill>
                          <a:latin typeface="Inter"/>
                        </a:rPr>
                        <a:t>refusal rate</a:t>
                      </a:r>
                    </a:p>
                  </a:txBody>
                  <a:tcPr marL="91440" marR="91440" marT="45720" marB="45720" anchor="ctr">
                    <a:solidFill>
                      <a:srgbClr val="0F1E35"/>
                    </a:solidFill>
                  </a:tcPr>
                </a:tc>
                <a:tc>
                  <a:txBody>
                    <a:bodyPr wrap="square"/>
                    <a:lstStyle/>
                    <a:p>
                      <a:r>
                        <a:rPr sz="1200" b="0">
                          <a:solidFill>
                            <a:srgbClr val="FFFFFF"/>
                          </a:solidFill>
                          <a:latin typeface="Inter"/>
                        </a:rPr>
                        <a:t>1.1%</a:t>
                      </a:r>
                    </a:p>
                  </a:txBody>
                  <a:tcPr marL="91440" marR="91440" marT="45720" marB="45720" anchor="ctr">
                    <a:solidFill>
                      <a:srgbClr val="0F1E35"/>
                    </a:solidFill>
                  </a:tcPr>
                </a:tc>
                <a:tc>
                  <a:txBody>
                    <a:bodyPr wrap="square"/>
                    <a:lstStyle/>
                    <a:p>
                      <a:r>
                        <a:rPr sz="1200" b="0">
                          <a:solidFill>
                            <a:srgbClr val="FFFFFF"/>
                          </a:solidFill>
                          <a:latin typeface="Inter"/>
                        </a:rPr>
                        <a:t>&gt; 2.5% over 1 h</a:t>
                      </a:r>
                    </a:p>
                  </a:txBody>
                  <a:tcPr marL="91440" marR="91440" marT="45720" marB="45720" anchor="ctr">
                    <a:solidFill>
                      <a:srgbClr val="0F1E35"/>
                    </a:solidFill>
                  </a:tcPr>
                </a:tc>
                <a:tc>
                  <a:txBody>
                    <a:bodyPr wrap="square"/>
                    <a:lstStyle/>
                    <a:p>
                      <a:r>
                        <a:rPr sz="1200" b="0">
                          <a:solidFill>
                            <a:srgbClr val="FFFFFF"/>
                          </a:solidFill>
                          <a:latin typeface="Inter"/>
                        </a:rPr>
                        <a:t>&gt; 5% over 15 min (a broken prompt or tool)</a:t>
                      </a:r>
                    </a:p>
                  </a:txBody>
                  <a:tcPr marL="91440" marR="91440" marT="45720" marB="45720" anchor="ctr">
                    <a:solidFill>
                      <a:srgbClr val="0F1E35"/>
                    </a:solidFill>
                  </a:tcPr>
                </a:tc>
              </a:tr>
              <a:tr h="384048">
                <a:tc>
                  <a:txBody>
                    <a:bodyPr wrap="square"/>
                    <a:lstStyle/>
                    <a:p>
                      <a:r>
                        <a:rPr sz="1200" b="1">
                          <a:solidFill>
                            <a:srgbClr val="FFFFFF"/>
                          </a:solidFill>
                          <a:latin typeface="Inter"/>
                        </a:rPr>
                        <a:t>pii_in_output rate</a:t>
                      </a:r>
                    </a:p>
                  </a:txBody>
                  <a:tcPr marL="91440" marR="91440" marT="45720" marB="45720" anchor="ctr">
                    <a:solidFill>
                      <a:srgbClr val="1A2742"/>
                    </a:solidFill>
                  </a:tcPr>
                </a:tc>
                <a:tc>
                  <a:txBody>
                    <a:bodyPr wrap="square"/>
                    <a:lstStyle/>
                    <a:p>
                      <a:r>
                        <a:rPr sz="1200" b="0">
                          <a:solidFill>
                            <a:srgbClr val="FFFFFF"/>
                          </a:solidFill>
                          <a:latin typeface="Inter"/>
                        </a:rPr>
                        <a:t>0.3%</a:t>
                      </a:r>
                    </a:p>
                  </a:txBody>
                  <a:tcPr marL="91440" marR="91440" marT="45720" marB="45720" anchor="ctr">
                    <a:solidFill>
                      <a:srgbClr val="1A2742"/>
                    </a:solidFill>
                  </a:tcPr>
                </a:tc>
                <a:tc>
                  <a:txBody>
                    <a:bodyPr wrap="square"/>
                    <a:lstStyle/>
                    <a:p>
                      <a:r>
                        <a:rPr sz="1200" b="0">
                          <a:solidFill>
                            <a:srgbClr val="FFFFFF"/>
                          </a:solidFill>
                          <a:latin typeface="Inter"/>
                        </a:rPr>
                        <a:t>&gt; 0.8% over 1 h</a:t>
                      </a:r>
                    </a:p>
                  </a:txBody>
                  <a:tcPr marL="91440" marR="91440" marT="45720" marB="45720" anchor="ctr">
                    <a:solidFill>
                      <a:srgbClr val="1A2742"/>
                    </a:solidFill>
                  </a:tcPr>
                </a:tc>
                <a:tc>
                  <a:txBody>
                    <a:bodyPr wrap="square"/>
                    <a:lstStyle/>
                    <a:p>
                      <a:r>
                        <a:rPr sz="1200" b="0">
                          <a:solidFill>
                            <a:srgbClr val="FFFFFF"/>
                          </a:solidFill>
                          <a:latin typeface="Inter"/>
                        </a:rPr>
                        <a:t>any raw PII reaching the client (that's a test, Section 10, not a metric)</a:t>
                      </a:r>
                    </a:p>
                  </a:txBody>
                  <a:tcPr marL="91440" marR="91440" marT="45720" marB="45720" anchor="ctr">
                    <a:solidFill>
                      <a:srgbClr val="1A274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Drift detection: compare this week to last week</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Every signal so far is a point in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Drift detection: compare this week to last week</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Compare judge scores, cost and latency between two windows with deltas and a PSI-lite on the score distribution, and turn the result…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questions, two tools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Did the average move? </a:t>
            </a:r>
            <a:r>
              <a:rPr sz="1656" b="0">
                <a:solidFill>
                  <a:srgbClr val="00D4AA"/>
                </a:solidFill>
                <a:latin typeface="JetBrains Mono"/>
              </a:rPr>
              <a:t>compare_windows</a:t>
            </a:r>
            <a:r>
              <a:rPr sz="1800" b="0">
                <a:solidFill>
                  <a:srgbClr val="FFFFFF"/>
                </a:solidFill>
                <a:latin typeface="Inter"/>
              </a:rPr>
              <a:t>: mean deltas for </a:t>
            </a:r>
            <a:r>
              <a:rPr sz="1656" b="0">
                <a:solidFill>
                  <a:srgbClr val="00D4AA"/>
                </a:solidFill>
                <a:latin typeface="JetBrains Mono"/>
              </a:rPr>
              <a:t>judge_resolved</a:t>
            </a:r>
            <a:r>
              <a:rPr sz="1800" b="0">
                <a:solidFill>
                  <a:srgbClr val="FFFFFF"/>
                </a:solidFill>
                <a:latin typeface="Inter"/>
              </a:rPr>
              <a:t>, </a:t>
            </a:r>
            <a:r>
              <a:rPr sz="1656" b="0">
                <a:solidFill>
                  <a:srgbClr val="00D4AA"/>
                </a:solidFill>
                <a:latin typeface="JetBrains Mono"/>
              </a:rPr>
              <a:t>judge_grounded</a:t>
            </a:r>
            <a:r>
              <a:rPr sz="1800" b="0">
                <a:solidFill>
                  <a:srgbClr val="FFFFFF"/>
                </a:solidFill>
                <a:latin typeface="Inter"/>
              </a:rPr>
              <a:t>, </a:t>
            </a:r>
            <a:r>
              <a:rPr sz="1656" b="0">
                <a:solidFill>
                  <a:srgbClr val="00D4AA"/>
                </a:solidFill>
                <a:latin typeface="JetBrains Mono"/>
              </a:rPr>
              <a:t>user_feedback</a:t>
            </a:r>
            <a:r>
              <a:rPr sz="1800" b="0">
                <a:solidFill>
                  <a:srgbClr val="FFFFFF"/>
                </a:solidFill>
                <a:latin typeface="Inter"/>
              </a:rPr>
              <a:t>, cost per request, p95, per feature</a:t>
            </a:r>
          </a:p>
          <a:p>
            <a:pPr marL="292608" indent="-292608">
              <a:lnSpc>
                <a:spcPct val="120000"/>
              </a:lnSpc>
              <a:spcAft>
                <a:spcPts val="1260"/>
              </a:spcAft>
              <a:buClr>
                <a:srgbClr val="00D4AA"/>
              </a:buClr>
              <a:buFont typeface="Inter"/>
              <a:buChar char="•"/>
            </a:pPr>
            <a:r>
              <a:rPr sz="1800" b="0">
                <a:solidFill>
                  <a:srgbClr val="FFFFFF"/>
                </a:solidFill>
                <a:latin typeface="Inter"/>
              </a:rPr>
              <a:t>Did the shape move? </a:t>
            </a:r>
            <a:r>
              <a:rPr sz="1656" b="0">
                <a:solidFill>
                  <a:srgbClr val="00D4AA"/>
                </a:solidFill>
                <a:latin typeface="JetBrains Mono"/>
              </a:rPr>
              <a:t>psi</a:t>
            </a:r>
            <a:r>
              <a:rPr sz="1800" b="0">
                <a:solidFill>
                  <a:srgbClr val="FFFFFF"/>
                </a:solidFill>
                <a:latin typeface="Inter"/>
              </a:rPr>
              <a:t>: Population Stability Index on the score distribution; catches a bimodal split the mean hides</a:t>
            </a:r>
          </a:p>
          <a:p>
            <a:pPr marL="292608" indent="-292608">
              <a:lnSpc>
                <a:spcPct val="120000"/>
              </a:lnSpc>
              <a:spcAft>
                <a:spcPts val="1260"/>
              </a:spcAft>
              <a:buClr>
                <a:srgbClr val="00D4AA"/>
              </a:buClr>
              <a:buFont typeface="Inter"/>
              <a:buChar char="•"/>
            </a:pPr>
            <a:r>
              <a:rPr sz="1800" b="0">
                <a:solidFill>
                  <a:srgbClr val="FFFFFF"/>
                </a:solidFill>
                <a:latin typeface="Inter"/>
              </a:rPr>
              <a:t>Windows: this week vs last week, aligned by weekday; a Monday-to-Monday comparison</a:t>
            </a:r>
          </a:p>
          <a:p>
            <a:pPr marL="292608" indent="-292608">
              <a:lnSpc>
                <a:spcPct val="120000"/>
              </a:lnSpc>
              <a:spcAft>
                <a:spcPts val="1260"/>
              </a:spcAft>
              <a:buClr>
                <a:srgbClr val="00D4AA"/>
              </a:buClr>
              <a:buFont typeface="Inter"/>
              <a:buChar char="•"/>
            </a:pPr>
            <a:r>
              <a:rPr sz="1800" b="0">
                <a:solidFill>
                  <a:srgbClr val="FFFFFF"/>
                </a:solidFill>
                <a:latin typeface="Inter"/>
              </a:rPr>
              <a:t>Thresholds: score mean −3 points warning, −5 alert; PSI 0.1 warning, 0.25 alert; cost per request +10%; p95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PSI mattered here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policy_question</a:t>
            </a:r>
            <a:r>
              <a:rPr sz="1800" b="0">
                <a:solidFill>
                  <a:srgbClr val="FFFFFF"/>
                </a:solidFill>
                <a:latin typeface="Inter"/>
              </a:rPr>
              <a:t> resolved: mean −0.09, but PSI 0.31</a:t>
            </a:r>
          </a:p>
          <a:p>
            <a:pPr marL="292608" indent="-292608">
              <a:lnSpc>
                <a:spcPct val="120000"/>
              </a:lnSpc>
              <a:spcAft>
                <a:spcPts val="1260"/>
              </a:spcAft>
              <a:buClr>
                <a:srgbClr val="00D4AA"/>
              </a:buClr>
              <a:buFont typeface="Inter"/>
              <a:buChar char="•"/>
            </a:pPr>
            <a:r>
              <a:rPr sz="1800" b="0">
                <a:solidFill>
                  <a:srgbClr val="FFFFFF"/>
                </a:solidFill>
                <a:latin typeface="Inter"/>
              </a:rPr>
              <a:t>The distribution went bimodal: most answers still 0.9, a new cluster at 0.2 to 0.4</a:t>
            </a:r>
          </a:p>
          <a:p>
            <a:pPr marL="292608" indent="-292608">
              <a:lnSpc>
                <a:spcPct val="120000"/>
              </a:lnSpc>
              <a:spcAft>
                <a:spcPts val="1260"/>
              </a:spcAft>
              <a:buClr>
                <a:srgbClr val="00D4AA"/>
              </a:buClr>
              <a:buFont typeface="Inter"/>
              <a:buChar char="•"/>
            </a:pPr>
            <a:r>
              <a:rPr sz="1800" b="0">
                <a:solidFill>
                  <a:srgbClr val="FFFFFF"/>
                </a:solidFill>
                <a:latin typeface="Inter"/>
              </a:rPr>
              <a:t>Prompt v2 changed one instruction; it broke a specific kind of question, not all of them</a:t>
            </a:r>
          </a:p>
          <a:p>
            <a:pPr marL="292608" indent="-292608">
              <a:lnSpc>
                <a:spcPct val="120000"/>
              </a:lnSpc>
              <a:spcAft>
                <a:spcPts val="1260"/>
              </a:spcAft>
              <a:buClr>
                <a:srgbClr val="00D4AA"/>
              </a:buClr>
              <a:buFont typeface="Inter"/>
              <a:buChar char="•"/>
            </a:pPr>
            <a:r>
              <a:rPr sz="1800" b="0">
                <a:solidFill>
                  <a:srgbClr val="FFFFFF"/>
                </a:solidFill>
                <a:latin typeface="Inter"/>
              </a:rPr>
              <a:t>A mean-only check would have said "warning"; PSI says "alert, go look at the low cluster"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Making it weekly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make drift</a:t>
            </a:r>
            <a:r>
              <a:rPr sz="1800" b="0">
                <a:solidFill>
                  <a:srgbClr val="FFFFFF"/>
                </a:solidFill>
                <a:latin typeface="Inter"/>
              </a:rPr>
              <a:t> runs Monday 06:00 via CI (Section 13) and posts the markdown</a:t>
            </a:r>
          </a:p>
          <a:p>
            <a:pPr marL="292608" indent="-292608">
              <a:lnSpc>
                <a:spcPct val="120000"/>
              </a:lnSpc>
              <a:spcAft>
                <a:spcPts val="1260"/>
              </a:spcAft>
              <a:buClr>
                <a:srgbClr val="00D4AA"/>
              </a:buClr>
              <a:buFont typeface="Inter"/>
              <a:buChar char="•"/>
            </a:pPr>
            <a:r>
              <a:rPr sz="1800" b="0">
                <a:solidFill>
                  <a:srgbClr val="FFFFFF"/>
                </a:solidFill>
                <a:latin typeface="Inter"/>
              </a:rPr>
              <a:t>Warning: a ticket for the owning team. Alert: a page during business hours</a:t>
            </a:r>
          </a:p>
          <a:p>
            <a:pPr marL="292608" indent="-292608">
              <a:lnSpc>
                <a:spcPct val="120000"/>
              </a:lnSpc>
              <a:spcAft>
                <a:spcPts val="1260"/>
              </a:spcAft>
              <a:buClr>
                <a:srgbClr val="00D4AA"/>
              </a:buClr>
              <a:buFont typeface="Inter"/>
              <a:buChar char="•"/>
            </a:pPr>
            <a:r>
              <a:rPr sz="1800" b="0">
                <a:solidFill>
                  <a:srgbClr val="FFFFFF"/>
                </a:solidFill>
                <a:latin typeface="Inter"/>
              </a:rPr>
              <a:t>Every report ends with "changes in window": prompt versions, config diffs, model names, from Langfuse releases and git tags</a:t>
            </a:r>
          </a:p>
          <a:p>
            <a:pPr marL="292608" indent="-292608">
              <a:lnSpc>
                <a:spcPct val="120000"/>
              </a:lnSpc>
              <a:spcAft>
                <a:spcPts val="1260"/>
              </a:spcAft>
              <a:buClr>
                <a:srgbClr val="00D4AA"/>
              </a:buClr>
              <a:buFont typeface="Inter"/>
              <a:buChar char="•"/>
            </a:pPr>
            <a:r>
              <a:rPr sz="1800" b="0">
                <a:solidFill>
                  <a:srgbClr val="FFFFFF"/>
                </a:solidFill>
                <a:latin typeface="Inter"/>
              </a:rPr>
              <a:t>Keep the last 12 reports; drift over a quarter is a different, slower story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From bad trace to regression test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drift report found forty-one policy traces in the low cluster.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From bad trace to regression test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Promote traces that failed the judge or the user to a Langfuse dataset with </a:t>
            </a:r>
            <a:r>
              <a:rPr sz="1472" b="0">
                <a:solidFill>
                  <a:srgbClr val="00D4AA"/>
                </a:solidFill>
                <a:latin typeface="JetBrains Mono"/>
              </a:rPr>
              <a:t>source_trace_id</a:t>
            </a:r>
            <a:r>
              <a:rPr sz="1600" b="0">
                <a:solidFill>
                  <a:srgbClr val="CBD5E1"/>
                </a:solidFill>
                <a:latin typeface="Inter"/>
              </a:rPr>
              <a:t>, so the next prompt version is tested…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gets promoted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Rule: </a:t>
            </a:r>
            <a:r>
              <a:rPr sz="1656" b="0">
                <a:solidFill>
                  <a:srgbClr val="00D4AA"/>
                </a:solidFill>
                <a:latin typeface="JetBrains Mono"/>
              </a:rPr>
              <a:t>judge_resolved &lt; 0.5</a:t>
            </a:r>
            <a:r>
              <a:rPr sz="1800" b="0">
                <a:solidFill>
                  <a:srgbClr val="FFFFFF"/>
                </a:solidFill>
                <a:latin typeface="Inter"/>
              </a:rPr>
              <a:t> and (</a:t>
            </a:r>
            <a:r>
              <a:rPr sz="1656" b="0">
                <a:solidFill>
                  <a:srgbClr val="00D4AA"/>
                </a:solidFill>
                <a:latin typeface="JetBrains Mono"/>
              </a:rPr>
              <a:t>user_feedback == 0</a:t>
            </a:r>
            <a:r>
              <a:rPr sz="1800" b="0">
                <a:solidFill>
                  <a:srgbClr val="FFFFFF"/>
                </a:solidFill>
                <a:latin typeface="Inter"/>
              </a:rPr>
              <a:t> or </a:t>
            </a:r>
            <a:r>
              <a:rPr sz="1656" b="0">
                <a:solidFill>
                  <a:srgbClr val="00D4AA"/>
                </a:solidFill>
                <a:latin typeface="JetBrains Mono"/>
              </a:rPr>
              <a:t>judge_grounded &lt; 0.6</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De-duplicate by normalised input: forty-one traces, thirty-three distinct questions</a:t>
            </a:r>
          </a:p>
          <a:p>
            <a:pPr marL="292608" indent="-292608">
              <a:lnSpc>
                <a:spcPct val="120000"/>
              </a:lnSpc>
              <a:spcAft>
                <a:spcPts val="1260"/>
              </a:spcAft>
              <a:buClr>
                <a:srgbClr val="00D4AA"/>
              </a:buClr>
              <a:buFont typeface="Inter"/>
              <a:buChar char="•"/>
            </a:pPr>
            <a:r>
              <a:rPr sz="1800" b="0">
                <a:solidFill>
                  <a:srgbClr val="FFFFFF"/>
                </a:solidFill>
                <a:latin typeface="Inter"/>
              </a:rPr>
              <a:t>Item: </a:t>
            </a:r>
            <a:r>
              <a:rPr sz="1656" b="0">
                <a:solidFill>
                  <a:srgbClr val="00D4AA"/>
                </a:solidFill>
                <a:latin typeface="JetBrains Mono"/>
              </a:rPr>
              <a:t>input</a:t>
            </a:r>
            <a:r>
              <a:rPr sz="1800" b="0">
                <a:solidFill>
                  <a:srgbClr val="FFFFFF"/>
                </a:solidFill>
                <a:latin typeface="Inter"/>
              </a:rPr>
              <a:t> = the question plus tenant, </a:t>
            </a:r>
            <a:r>
              <a:rPr sz="1656" b="0">
                <a:solidFill>
                  <a:srgbClr val="00D4AA"/>
                </a:solidFill>
                <a:latin typeface="JetBrains Mono"/>
              </a:rPr>
              <a:t>expected_output</a:t>
            </a:r>
            <a:r>
              <a:rPr sz="1800" b="0">
                <a:solidFill>
                  <a:srgbClr val="FFFFFF"/>
                </a:solidFill>
                <a:latin typeface="Inter"/>
              </a:rPr>
              <a:t> = empty (a human fills it) or the v1 answer if v1 scored ≥ 0.9 on the same question</a:t>
            </a:r>
          </a:p>
          <a:p>
            <a:pPr marL="292608" indent="-292608">
              <a:lnSpc>
                <a:spcPct val="120000"/>
              </a:lnSpc>
              <a:spcAft>
                <a:spcPts val="1260"/>
              </a:spcAft>
              <a:buClr>
                <a:srgbClr val="00D4AA"/>
              </a:buClr>
              <a:buFont typeface="Inter"/>
              <a:buChar char="•"/>
            </a:pPr>
            <a:r>
              <a:rPr sz="1656" b="0">
                <a:solidFill>
                  <a:srgbClr val="00D4AA"/>
                </a:solidFill>
                <a:latin typeface="JetBrains Mono"/>
              </a:rPr>
              <a:t>metadata</a:t>
            </a:r>
            <a:r>
              <a:rPr sz="1800" b="0">
                <a:solidFill>
                  <a:srgbClr val="FFFFFF"/>
                </a:solidFill>
                <a:latin typeface="Inter"/>
              </a:rPr>
              <a:t>: feature, judge scores, prompt version, the reason</a:t>
            </a:r>
          </a:p>
          <a:p>
            <a:pPr marL="292608" indent="-292608">
              <a:lnSpc>
                <a:spcPct val="120000"/>
              </a:lnSpc>
              <a:spcAft>
                <a:spcPts val="1260"/>
              </a:spcAft>
              <a:buClr>
                <a:srgbClr val="00D4AA"/>
              </a:buClr>
              <a:buFont typeface="Inter"/>
              <a:buChar char="•"/>
            </a:pPr>
            <a:r>
              <a:rPr sz="1656" b="0">
                <a:solidFill>
                  <a:srgbClr val="00D4AA"/>
                </a:solidFill>
                <a:latin typeface="JetBrains Mono"/>
              </a:rPr>
              <a:t>source_trace_id</a:t>
            </a:r>
            <a:r>
              <a:rPr sz="1800" b="0">
                <a:solidFill>
                  <a:srgbClr val="FFFFFF"/>
                </a:solidFill>
                <a:latin typeface="Inter"/>
              </a:rPr>
              <a:t>: the link back, so Langfuse shows the trace next to the item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Testing the fix before it ships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Draft prompt v3 in </a:t>
            </a:r>
            <a:r>
              <a:rPr sz="1656" b="0">
                <a:solidFill>
                  <a:srgbClr val="00D4AA"/>
                </a:solidFill>
                <a:latin typeface="JetBrains Mono"/>
              </a:rPr>
              <a:t>app/prompts.py</a:t>
            </a:r>
            <a:r>
              <a:rPr sz="1800" b="0">
                <a:solidFill>
                  <a:srgbClr val="FFFFFF"/>
                </a:solidFill>
                <a:latin typeface="Inter"/>
              </a:rPr>
              <a:t>; label it </a:t>
            </a:r>
            <a:r>
              <a:rPr sz="1656" b="0">
                <a:solidFill>
                  <a:srgbClr val="00D4AA"/>
                </a:solidFill>
                <a:latin typeface="JetBrains Mono"/>
              </a:rPr>
              <a:t>staging</a:t>
            </a:r>
            <a:r>
              <a:rPr sz="1800" b="0">
                <a:solidFill>
                  <a:srgbClr val="FFFFFF"/>
                </a:solidFill>
                <a:latin typeface="Inter"/>
              </a:rPr>
              <a:t> in Langfuse (4.4)</a:t>
            </a:r>
          </a:p>
          <a:p>
            <a:pPr marL="292608" indent="-292608">
              <a:lnSpc>
                <a:spcPct val="120000"/>
              </a:lnSpc>
              <a:spcAft>
                <a:spcPts val="1260"/>
              </a:spcAft>
              <a:buClr>
                <a:srgbClr val="00D4AA"/>
              </a:buClr>
              <a:buFont typeface="Inter"/>
              <a:buChar char="•"/>
            </a:pPr>
            <a:r>
              <a:rPr sz="1800" b="0">
                <a:solidFill>
                  <a:srgbClr val="FFFFFF"/>
                </a:solidFill>
                <a:latin typeface="Inter"/>
              </a:rPr>
              <a:t>Run the dataset against v3 offline (the companion course's eval workflow); in this repo, </a:t>
            </a:r>
            <a:r>
              <a:rPr sz="1656" b="0">
                <a:solidFill>
                  <a:srgbClr val="00D4AA"/>
                </a:solidFill>
                <a:latin typeface="JetBrains Mono"/>
              </a:rPr>
              <a:t>ATLAS_PROMPT_VERSION=v3 make replay SESSIONS=400</a:t>
            </a:r>
            <a:r>
              <a:rPr sz="1800" b="0">
                <a:solidFill>
                  <a:srgbClr val="FFFFFF"/>
                </a:solidFill>
                <a:latin typeface="Inter"/>
              </a:rPr>
              <a:t> then </a:t>
            </a:r>
            <a:r>
              <a:rPr sz="1656" b="0">
                <a:solidFill>
                  <a:srgbClr val="00D4AA"/>
                </a:solidFill>
                <a:latin typeface="JetBrains Mono"/>
              </a:rPr>
              <a:t>make judge</a:t>
            </a:r>
          </a:p>
          <a:p>
            <a:pPr marL="292608" indent="-292608">
              <a:lnSpc>
                <a:spcPct val="120000"/>
              </a:lnSpc>
              <a:spcAft>
                <a:spcPts val="1260"/>
              </a:spcAft>
              <a:buClr>
                <a:srgbClr val="00D4AA"/>
              </a:buClr>
              <a:buFont typeface="Inter"/>
              <a:buChar char="•"/>
            </a:pPr>
            <a:r>
              <a:rPr sz="1800" b="0">
                <a:solidFill>
                  <a:srgbClr val="FFFFFF"/>
                </a:solidFill>
                <a:latin typeface="Inter"/>
              </a:rPr>
              <a:t>Same G-Eval metrics as the online judge, so the numbers are comparable</a:t>
            </a:r>
          </a:p>
          <a:p>
            <a:pPr marL="292608" indent="-292608">
              <a:lnSpc>
                <a:spcPct val="120000"/>
              </a:lnSpc>
              <a:spcAft>
                <a:spcPts val="1260"/>
              </a:spcAft>
              <a:buClr>
                <a:srgbClr val="00D4AA"/>
              </a:buClr>
              <a:buFont typeface="Inter"/>
              <a:buChar char="•"/>
            </a:pPr>
            <a:r>
              <a:rPr sz="1800" b="0">
                <a:solidFill>
                  <a:srgbClr val="FFFFFF"/>
                </a:solidFill>
                <a:latin typeface="Inter"/>
              </a:rPr>
              <a:t>Pass rate v2: 12 of 33. v3: 31 of 33. Promote v3 to </a:t>
            </a:r>
            <a:r>
              <a:rPr sz="1656" b="0">
                <a:solidFill>
                  <a:srgbClr val="00D4AA"/>
                </a:solidFill>
                <a:latin typeface="JetBrains Mono"/>
              </a:rPr>
              <a:t>production</a:t>
            </a:r>
            <a:r>
              <a:rPr sz="1800" b="0">
                <a:solidFill>
                  <a:srgbClr val="FFFFFF"/>
                </a:solidFill>
                <a:latin typeface="Inter"/>
              </a:rPr>
              <a:t> only now</a:t>
            </a:r>
          </a:p>
          <a:p>
            <a:pPr marL="292608" indent="-292608">
              <a:lnSpc>
                <a:spcPct val="120000"/>
              </a:lnSpc>
              <a:spcAft>
                <a:spcPts val="1260"/>
              </a:spcAft>
              <a:buClr>
                <a:srgbClr val="00D4AA"/>
              </a:buClr>
              <a:buFont typeface="Inter"/>
              <a:buChar char="•"/>
            </a:pPr>
            <a:r>
              <a:rPr sz="1800" b="0">
                <a:solidFill>
                  <a:srgbClr val="FFFFFF"/>
                </a:solidFill>
                <a:latin typeface="Inter"/>
              </a:rPr>
              <a:t>The two v3 failures become this week's reading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5: Build the quality page of the Ops Console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You have the whole loop.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5: Build the quality page of the Ops Console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Wire judge scores, feedback and drift indicators into the Ops Console for a replayed week, and find the feature that drifted.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5 checklist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Judge both weeks offline; confirm head vs tail means are reported separately</a:t>
            </a:r>
          </a:p>
          <a:p>
            <a:pPr marL="292608" indent="-292608">
              <a:lnSpc>
                <a:spcPct val="120000"/>
              </a:lnSpc>
              <a:spcAft>
                <a:spcPts val="1260"/>
              </a:spcAft>
              <a:buClr>
                <a:srgbClr val="00D4AA"/>
              </a:buClr>
              <a:buFont typeface="Inter"/>
              <a:buChar char="•"/>
            </a:pPr>
            <a:r>
              <a:rPr sz="1800" b="0">
                <a:solidFill>
                  <a:srgbClr val="FFFFFF"/>
                </a:solidFill>
                <a:latin typeface="Inter"/>
              </a:rPr>
              <a:t>Feedback: rate by session length on the page, not just the score</a:t>
            </a:r>
          </a:p>
          <a:p>
            <a:pPr marL="292608" indent="-292608">
              <a:lnSpc>
                <a:spcPct val="120000"/>
              </a:lnSpc>
              <a:spcAft>
                <a:spcPts val="1260"/>
              </a:spcAft>
              <a:buClr>
                <a:srgbClr val="00D4AA"/>
              </a:buClr>
              <a:buFont typeface="Inter"/>
              <a:buChar char="•"/>
            </a:pPr>
            <a:r>
              <a:rPr sz="1800" b="0">
                <a:solidFill>
                  <a:srgbClr val="FFFFFF"/>
                </a:solidFill>
                <a:latin typeface="Inter"/>
              </a:rPr>
              <a:t>Drift tiles per feature: ok, warning, alert, with the PSI</a:t>
            </a:r>
          </a:p>
          <a:p>
            <a:pPr marL="292608" indent="-292608">
              <a:lnSpc>
                <a:spcPct val="120000"/>
              </a:lnSpc>
              <a:spcAft>
                <a:spcPts val="1260"/>
              </a:spcAft>
              <a:buClr>
                <a:srgbClr val="00D4AA"/>
              </a:buClr>
              <a:buFont typeface="Inter"/>
              <a:buChar char="•"/>
            </a:pPr>
            <a:r>
              <a:rPr sz="1800" b="0">
                <a:solidFill>
                  <a:srgbClr val="FFFFFF"/>
                </a:solidFill>
                <a:latin typeface="Inter"/>
              </a:rPr>
              <a:t>Find the drifted feature and the change that caused it; write it in the lab notes</a:t>
            </a:r>
          </a:p>
          <a:p>
            <a:pPr marL="292608" indent="-292608">
              <a:lnSpc>
                <a:spcPct val="120000"/>
              </a:lnSpc>
              <a:spcAft>
                <a:spcPts val="1260"/>
              </a:spcAft>
              <a:buClr>
                <a:srgbClr val="00D4AA"/>
              </a:buClr>
              <a:buFont typeface="Inter"/>
              <a:buChar char="•"/>
            </a:pPr>
            <a:r>
              <a:rPr sz="1800" b="0">
                <a:solidFill>
                  <a:srgbClr val="FFFFFF"/>
                </a:solidFill>
                <a:latin typeface="Inter"/>
              </a:rPr>
              <a:t>Stretch: promote the failures to </a:t>
            </a:r>
            <a:r>
              <a:rPr sz="1656" b="0">
                <a:solidFill>
                  <a:srgbClr val="00D4AA"/>
                </a:solidFill>
                <a:latin typeface="JetBrains Mono"/>
              </a:rPr>
              <a:t>atlas-failures</a:t>
            </a:r>
            <a:r>
              <a:rPr sz="1800" b="0">
                <a:solidFill>
                  <a:srgbClr val="FFFFFF"/>
                </a:solidFill>
                <a:latin typeface="Inter"/>
              </a:rPr>
              <a:t> and show the count on the page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5 checklist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Submit: a screenshot of the page and the lab notes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Online evaluation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Before the lab, the Section 8 quiz: eight questions on judging, feedback and drift.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8 · QUALITY IN PRODUCTION: ONLINE EVALUATION AND DRIFT</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8.8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Online evaluation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you can design a sampling policy, write a judge criterion, read a feedback correlation and interpret a PSI.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8 questions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Sampling and judge cost</a:t>
            </a:r>
          </a:p>
          <a:p>
            <a:pPr marL="292608" indent="-292608">
              <a:lnSpc>
                <a:spcPct val="120000"/>
              </a:lnSpc>
              <a:spcAft>
                <a:spcPts val="1539"/>
              </a:spcAft>
              <a:buClr>
                <a:srgbClr val="00D4AA"/>
              </a:buClr>
              <a:buFont typeface="Inter"/>
              <a:buChar char="•"/>
            </a:pPr>
            <a:r>
              <a:rPr sz="2200" b="0">
                <a:solidFill>
                  <a:srgbClr val="FFFFFF"/>
                </a:solidFill>
                <a:latin typeface="Inter"/>
              </a:rPr>
              <a:t>Writing criteria that define failure</a:t>
            </a:r>
          </a:p>
          <a:p>
            <a:pPr marL="292608" indent="-292608">
              <a:lnSpc>
                <a:spcPct val="120000"/>
              </a:lnSpc>
              <a:spcAft>
                <a:spcPts val="1539"/>
              </a:spcAft>
              <a:buClr>
                <a:srgbClr val="00D4AA"/>
              </a:buClr>
              <a:buFont typeface="Inter"/>
              <a:buChar char="•"/>
            </a:pPr>
            <a:r>
              <a:rPr sz="2200" b="0">
                <a:solidFill>
                  <a:srgbClr val="FFFFFF"/>
                </a:solidFill>
                <a:latin typeface="Inter"/>
              </a:rPr>
              <a:t>Feedback correlation and survivorship</a:t>
            </a:r>
          </a:p>
          <a:p>
            <a:pPr marL="292608" indent="-292608">
              <a:lnSpc>
                <a:spcPct val="120000"/>
              </a:lnSpc>
              <a:spcAft>
                <a:spcPts val="1539"/>
              </a:spcAft>
              <a:buClr>
                <a:srgbClr val="00D4AA"/>
              </a:buClr>
              <a:buFont typeface="Inter"/>
              <a:buChar char="•"/>
            </a:pPr>
            <a:r>
              <a:rPr sz="2200" b="0">
                <a:solidFill>
                  <a:srgbClr val="FFFFFF"/>
                </a:solidFill>
                <a:latin typeface="Inter"/>
              </a:rPr>
              <a:t>Drift: mean vs PSI, changes in window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08 · Lecture 8.8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SLIs for agents that leadership understands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Atlas is cheap, fast and measured for quality.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