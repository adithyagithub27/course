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(K2). Vendor lock-in and the OTel escape hatch.</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Think about what you've built in layers. At the bottom, your code creates spans with OpenTelemetry and tags them with the GenAI semantic conventions from Lecture 3.3. Operation name, model, input and output tokens, tool name, agent name, conversation id.</a:t>
            </a:r>
          </a:p>
          <a:p/>
          <a:p>
            <a:r>
              <a:t>Above that, an exporter ships those spans over OTLP, the OpenTelemetry protocol. Above that, a backend stores and displays them. And on top, each backend adds its own features. Langfuse gives you scores, prompt management, datasets and dashboards.</a:t>
            </a:r>
          </a:p>
          <a:p/>
          <a:p>
            <a:r>
              <a:t>Here's the point. Layers one and two belong to you and to a standard. Layers three and four belong to the vendor. Switching means swapping the top two layers and leaving the bottom two alone.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moves for free? Everything that's a span. Traces, attributes, events, status. Every `gen_ai` attribute you set in Lecture 3.4. Your resource attributes, so release and environment come along. And your Prometheus metrics and Grafana dashboards never touched the LLM backend at all, so they don't notice.</a:t>
            </a:r>
          </a:p>
          <a:p/>
          <a:p>
            <a:r>
              <a:t>One caveat, and it matters. Session, user and tenant move for free *only* if they live as span attributes. `trace_attributes`, our wrapper around Langfuse's `propagate_attributes`, writes Langfuse's own trace fields, and tags arrive anywhere else as an opaque attribute. That's why the agent span also gets `set_tenant_context` from `genai_attrs.py`: plain `session.id`, `user.id`, `atlas.tenant` and `gen_ai.conversation.id`. Standard fields first, vendor fields second, and every backend gets the same dimensions.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doesn't move. Scores. Every judge score and every thumbs-down you wrote with `create_score` lives in Langfuse's score store, not on the span. Prompts and their labels, which you just spent Incident 3 learning to respect. Datasets. Dashboards and saved views. And any code that calls the Langfuse SDK directly, like `update_current_generation` with cost details or `score_current_trace`.</a:t>
            </a:r>
          </a:p>
          <a:p/>
          <a:p>
            <a:r>
              <a:t>How much of Atlas is that? Let's count.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Most of Atlas is portable because we were disciplined about where things live. Cost is computed in `pricing.py`, our own code, and written as a span attribute *and* as Langfuse cost details. If Langfuse goes away, the attribute stays.</a:t>
            </a:r>
          </a:p>
          <a:p/>
          <a:p>
            <a:r>
              <a:t>[SCREEN: Terminal in `03-code/`: `grep -rln "from telemetry.langfuse_setup import" app evals`. Output: `app/agent.py`, `app/prompts.py`,...]</a:t>
            </a:r>
          </a:p>
          <a:p/>
          <a:p>
            <a:r>
              <a:t>Don't take my word for it. Ask the code which files import the Langfuse module. Five. One of them, `agent.py`, only uses `trace_attributes`, which is a no-op without Langfuse. The other four are the non-portable layer: prompts, the feedback endpoint, the online judge and dataset promotion. Four files, each behind a small function in `telemetry/langfuse_setup.py`. That's the two days.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And here's the escape hatch. The OpenTelemetry Collector. Instead of exporting from Atlas straight to Langfuse, export to a Collector, and let the Collector fan out to two backends at once. Langfuse and the new one, side by side, for two weeks. Compare the traces. Rebuild the dashboards while the old ones still work. Then remove the old exporter. Atlas never restarts for any of it.</a:t>
            </a:r>
          </a:p>
          <a:p/>
          <a:p>
            <a:r>
              <a:t>The Collector also does your masking and sampling in one place, which is why it's in Section 13 as part of the production stack.</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Six rules. Compute in your code, then write to the backend, never the other way round. Standard attributes first, vendor fields second. Every vendor call goes through one function in `telemetry/`, so switching is editing one file. Export your prompts and datasets to files in your repo on a schedule, because the day you need them is the day you're leaving. And keep dashboards as code wherever the backend allows it. Grafana does. Langfuse dashboards are UI-built today, so screenshot and document them.</a:t>
            </a:r>
          </a:p>
          <a:p/>
          <a:p>
            <a:r>
              <a:t>In the next three lectures you'll actually do the swap. Atlas traced to LangSmith. Atlas traced to Phoenix. And a map of the enterprise APMs, for the day your company says "we already have Datadog."</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(K2). Code-along: same Atlas, traced to LangSmith.</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Metadata goes in at call time through `langsmith_extra`, which every `traceable` function accepts. Tenant, session and user land on the root run. LangSmith groups runs into a thread when metadata carries a `session_id`, `thread_id` or `conversation_id` key, so this is how sessions come back. Verify the exact key names against the current LangSmith docs; they've changed before.</a:t>
            </a:r>
          </a:p>
          <a:p/>
          <a:p>
            <a:r>
              <a:t>Nesting is automatic. Any `traceable` function called inside another becomes a child run, and every wrapped OpenAI call inside becomes an `llm` child. Same shape as Langfuse, one level shallower: retrieval shows up as a tool run, because we decorated `_run_tool`, not the retriever.</a:t>
            </a:r>
          </a:p>
          <a:p/>
          <a:p>
            <a:r>
              <a:t>[SCREEN: With the two decorators added: `OFFLINE=0 LANGSMITH_TRACING=true LANGSMITH_API_KEY=... make run`, then `curl` the VPN question w...]</a:t>
            </a:r>
          </a:p>
          <a:p/>
          <a:p>
            <a:r>
              <a:t>[DEMO: LangSmith trace view. Root `atlas` chain with metadata panel showing tenant, session_id, user_id. Children: `ChatOpenAI` llm runs...]</a:t>
            </a:r>
          </a:p>
          <a:p/>
          <a:p>
            <a:r>
              <a:t>Run Atlas with the key set, send one question, open the trace. Root run, `atlas`, with our metadata. Under it, the model calls with tokens and LangSmith's own cost estimate, and the tool run. Same shape as Lecture 2.3, different UI.</a:t>
            </a:r>
          </a:p>
          <a:p/>
          <a:p>
            <a:r>
              <a:t>Now feedback. In Langfuse, thumbs became `create_score` on a trace id. In LangSmith, they become `create_feedback` on a run id.</a:t>
            </a:r>
          </a:p>
          <a:p/>
          <a:p>
            <a:r>
              <a:t>[CODE: `telemetry/langsmith_setup.py::send_feedback` (shipped) and the `/feedback` wiring (your addition to `app/server.py`)]</a:t>
            </a:r>
          </a:p>
          <a:p/>
          <a:p>
            <a:r>
              <a:t>`create_feedback` takes the run id, a key, a score and an optional comment. The key is your score name, `user_feedback`, `judge_grounded`, whatever you used in Langfuse. The shipped `/feedback` body is a trace id, a score of minus one, zero or one, an optional reason and an optional comment, from Lecture 8.3. Add one optional field, `run_id`, to it and to the chat response, and the front end sends it back with the thumbs.</a:t>
            </a:r>
          </a:p>
          <a:p/>
          <a:p>
            <a:r>
              <a:t>[SCREEN: `curl -X POST localhost:8000/feedback -d '{"trace_id": "...", "run_id": "...", "score": -1, "reason": "unhelpful"}'`. LangSmith...]</a:t>
            </a:r>
          </a:p>
          <a:p/>
          <a:p>
            <a:r>
              <a:t>Post a thumbs-down. The run page shows it. And the judge in `online_judge.py` would call the same function with `key="judge_grounded"` and a float. One function swapped, the rest of Section 8 unchanged.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differences that touch code. Types: no `agent` or `guardrail`, so your type-based filters change. Scores become feedback, one function. Sessions become metadata, one mapping. And prompts. LangSmith has a prompt hub with commits and tags; Langfuse has versions and labels. Same idea, different API, so your `get_prompt_text` wrapper and the promotion gate from Incident 3 get reimplemented.</a:t>
            </a:r>
          </a:p>
          <a:p/>
          <a:p>
            <a:r>
              <a:t>Two more differences that don't touch code but touch your wallet and your data. LangSmith is a hosted service with a self-host option on enterprise plans; Langfuse self-hosts on the free tier, which is Section 13. And LangSmith is not OTel-native in the way Langfuse 4 is. It accepts OTLP and can emit OTel, but its primary path is its own run format. Verify both against the current pricing and docs pages before you decide anything.</a:t>
            </a:r>
          </a:p>
          <a:p/>
          <a:p>
            <a:r>
              <a:t>Total code to trace Atlas to LangSmith: one module of about sixty lines that already ships, two decorators in `agent.py`, and one optional field on two request models. Everything in `src/northwind` didn't notice. That's what Lecture 12.1 promised.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(K2). Arize Phoenix and OpenInference.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conventions. The OTel GenAI semantic conventions, which `genai_attrs.py` sets on every span, Lecture 3.4. And OpenInference, which the `OpenAIInstrumentor` from Lecture 3.5 emits automatically on the spans it creates. OpenInference is Arize's convention, older than the OTel one, and it's what Phoenix's UI reads to render token counts, prompts and retrieval documents.</a:t>
            </a:r>
          </a:p>
          <a:p/>
          <a:p>
            <a:r>
              <a:t>Why both? Because the OTel GenAI conventions are still incubating. Names may change. OpenInference is stable and Phoenix understands it today. Langfuse reads both. So Atlas emits both, and the cost is a few extra attributes per span. When the GenAI conventions stabilise and every backend reads them, you drop OpenInference. Not before.</a:t>
            </a:r>
          </a:p>
          <a:p/>
          <a:p>
            <a:r>
              <a:t>[CODE: an optional addition to `telemetry/genai_attrs.py::set_llm_usage` (not in the repo)]</a:t>
            </a:r>
          </a:p>
          <a:p/>
          <a:p>
            <a:r>
              <a:t>This is not in the repo; it's an optional four lines you can add to `set_llm_usage`. Auto-instrumented spans from `OpenAIInstrumentor` already carry OpenInference. Atlas's own generation spans, including every offline mock call, carry only the GenAI attributes. If your Phoenix version doesn't show token counts for them, these four lines fix it. Add a unit test that asserts both names, so the mirror never drifts.</a:t>
            </a:r>
          </a:p>
          <a:p/>
          <a:p>
            <a:r>
              <a:t>[SCREEN: Phoenix, project view. Token counts and latency per trace. Click into the evals tab briefly.]</a:t>
            </a:r>
          </a:p>
          <a:p/>
          <a:p>
            <a:r>
              <a:t>Phoenix gives you token counts, latency, a session view keyed on `session.id`, which Atlas already sets, and its own evals and datasets, which overlap with Langfuse's. Same non-portable layer, different vendor.</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does Phoenix fit? When you want local first: one container, no account, works on a plane. When you're doing heavy RAG debugging, because retrieval documents render beautifully. And as a second backend during development, fed by the Collector, while Langfuse stays the system of record for prompts and scores. Verify its current prompt and score features before you make it your only backend; they've been growing fast.</a:t>
            </a:r>
          </a:p>
          <a:p/>
          <a:p>
            <a:r>
              <a:t>Add up what you changed today: two environment variables, plus four optional attribute lines. That's the escape hatch working. Next, the tools you'll meet when your company already has an APM.</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(K2). OpenLLMetry, Datadog and the enterprise APMs.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families you haven't met. First, OpenLLMetry. It's an open-source instrumentation SDK from Traceloop. You call one init function and it patches OpenAI, Anthropic, popular vector stores and frameworks to emit OpenTelemetry spans with GenAI attributes. It's the auto-instrumentation layer, like OpenInference, but with a different set of integrations. Where the spans go is up to you: any OTLP backend, or Traceloop's own hosted product.</a:t>
            </a:r>
          </a:p>
          <a:p/>
          <a:p>
            <a:r>
              <a:t>Second, the APM add-ons. Every major APM now has an LLM observability product. Datadog LLM Observability, New Relic AI Monitoring, Dynatrace, Grafana Cloud's offering, Splunk. Their pitch is the sentence you just heard: one vendor, one bill, one login, the LLM traces next to the database traces.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Give the APMs their due. Correlation is real: when Atlas is slow, seeing the LLM span, the ticketing API call and the host CPU on one screen is exactly what Incident 2 needed. Paging is already there, with the rotation and escalation policies your company has argued about for years. Security has already approved the retention and access model. And finance already reads cost per service from it.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you lose or pay for. Prompt management with labels, the thing Incident 3 turned on, is usually missing or thin. Scores and datasets exist in some, but the eval loop from Section 8 is where LLM-native tools are years ahead. Verify feature by feature; this moves monthly.</a:t>
            </a:r>
          </a:p>
          <a:p/>
          <a:p>
            <a:r>
              <a:t>[B-ROLL: An APM invoice line item, "LLM spans ingested: 2.1 billion", next to the LLM provider's bill for the same month; the observabili...]</a:t>
            </a:r>
          </a:p>
          <a:p/>
          <a:p>
            <a:r>
              <a:t>And the cost model. APMs price per span, per ingested gigabyte or per host. Agent traces are big. A single Atlas step carries the full prompt, the retrieved chunks and the tool result. How big depends on whether you capture prompt and result text. At company scale, keeping a hundred percent of LLM spans in an APM can cost more than the LLM calls they describe. So the first conversation with the APM team is about sampling, and you already know the answer from Lecture 4.6: head sample by session, tail sample errors and slow traces at a hundred percent.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OpenLLMetry in one line: `Traceloop.init` with an app name, and it emits spans to whatever OTLP endpoint your environment names. Verify the exact call against the current docs; it's shown here for shape. One warning from Lecture 3.6: it overlaps with OpenInference for the OpenAI client. Run both and you double-count every generation. Pick one auto-instrumentor.</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[SCREEN: `deploy/otel-collector.yaml`, the `service.pipelines.traces` block: `exporters: [otlphttp/langfuse, otlphttp/phoenix, debug, spa...]</a:t>
            </a:r>
          </a:p>
          <a:p/>
          <a:p>
            <a:r>
              <a:t>Which brings us to the pattern that answers the original question. A hybrid. The Collector config in the repo already exports every trace to two backends, Langfuse and Phoenix. Swap one of them for your APM's OTLP endpoint and you have it. Atlas emits once, to the Collector. The Collector sends sampled spans and metrics to the APM, where paging and correlation live. And it sends full LLM spans to Langfuse or Phoenix, where prompts, scores and datasets live. Masking happens once, in the Collector. Sampling can differ per destination: ten percent to the APM to control the bill, a hundred percent of errors and slow traces to both.</a:t>
            </a:r>
          </a:p>
          <a:p/>
          <a:p>
            <a:r>
              <a:t>One instrumentation, two audiences. The platform team gets their single pane. You get your eval loop. Nobody instruments twice.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[SCREEN: Terminal: `OFFLINE=1 make replay` ends with `Store: .atlas/spans.sqlite (total spans now 70560)`. Then `python -c "import sqlite...]</a:t>
            </a:r>
          </a:p>
          <a:p/>
          <a:p>
            <a:r>
              <a:t>How to have the conversation. Ask for the price per span or per gigabyte and the retention default. Bring your own numbers. Atlas's replayed day is seventy thousand five hundred and sixty spans, averaging about six hundred bytes of attributes each in the local store: roughly forty megabytes a day before any prompt text. That's the number the APM team prices. Propose the hybrid, with the Collector config you'll build in Lecture 13.2 as the concrete artefact. And agree on the split: latency, errors and cost page from the APM; quality and prompt investigations happen in the LLM tool.</a:t>
            </a:r>
          </a:p>
          <a:p/>
          <a:p>
            <a:r>
              <a:t>You now know every family of backend: LLM-native, open-source local-first, instrumentation SDKs and APM add-ons. Next, a five-minute decision matrix, so you can choose one in a meeting and defend it.</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(K2). Decision matrix: choosing your backend.</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criteria. Control: can you self-host, and who owns the data? Cost: what's the pricing unit, and what does it cost to keep everything? Compliance: residency, retention, masking before the data leaves your network, and an audit trail for changes like prompt labels. Features: the list, but weighted by what you actually use from Sections 4 through 9. And lock-in: does it accept OTLP, can you export, and how many files change if you leave? For Atlas, you know that last number: four.</a:t>
            </a:r>
          </a:p>
          <a:p/>
          <a:p>
            <a:r>
              <a:t>[SCREEN: VS Code, `10-resources/backend-decision-matrix.md` open beside the terminal; the terminal reruns `grep -rln "from telemetry.lang...]</a:t>
            </a:r>
          </a:p>
          <a:p/>
          <a:p>
            <a:r>
              <a:t>Put the grep from Lecture 12.1 straight into the lock-in row. Measured, not estimated.</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matrix filled in for Atlas, as of recording. Every cell is dated the moment I say it, so the resource file has a "verified on" line for you to update.</a:t>
            </a:r>
          </a:p>
          <a:p/>
          <a:p>
            <a:r>
              <a:t>Langfuse: self-hostable on the free tier, OTel-native, has everything Sections 4 through 9 used. It's the course default for those reasons, not because it's perfect. LangSmith: excellent tracing and evals, a natural fit if your team already lives in LangChain, hosted first. Phoenix: the local-first choice and the best RAG debugger. And the APM add-on: strong where APMs are strong, and the place where the hybrid earns its keep.</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situations decide the answer before the matrix does.</a:t>
            </a:r>
          </a:p>
          <a:p/>
          <a:p>
            <a:r>
              <a:t>One. Regulated data, and your security team says no telemetry leaves the network. Then you self-host. Langfuse or Phoenix, with masking in the SDK from Lecture 4.6 and in the Collector from Lecture 10.2. The matrix only picks between those two.</a:t>
            </a:r>
          </a:p>
          <a:p/>
          <a:p>
            <a:r>
              <a:t>Two. Your company mandates the APM. Then the answer is the hybrid from Lecture 12.4, and the matrix picks the LLM-native side of it.</a:t>
            </a:r>
          </a:p>
          <a:p/>
          <a:p>
            <a:r>
              <a:t>Three. Small team, no platform engineers. Then hosted. Langfuse Cloud or LangSmith. Self-hosting means running Postgres, ClickHouse and Redis, and someone owns that at two in the morning. If that someone is also the only person who can fix Atlas, don't.</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`backend-decision-matrix.md`. Same five rows, blank columns, a "verified on" date at the top. Before you score anything, weight the criteria for your organisation. A bank weights compliance at forty percent. A startup weights cost and speed. Then score, and write one paragraph: the decision, and the two things that would change it. "We chose Langfuse self-hosted; we'd revisit if the APM's LLM product gained prompt labels, or if we lost our platform engineer."</a:t>
            </a:r>
          </a:p>
          <a:p/>
          <a:p>
            <a:r>
              <a:t>That paragraph is what your manager wants. Not the matrix. The matrix is how you got there, and it's what you show when someone asks "did you consider X?"</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(K2). Quiz: Portability.</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They check what moves over OTLP and what stays behind, the LangSmith run types and feedback call, the two conventions Phoenix reads, and where the Collector sits in a hybrid. One question asks you to count how many Atlas files change when you swap backends. You know that number.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12 · Lecture 12.1</a:t>
            </a:r>
          </a:p>
        </p:txBody>
      </p:sp>
      <p:sp>
        <p:nvSpPr>
          <p:cNvPr id="3" name="TextBox 2"/>
          <p:cNvSpPr txBox="1"/>
          <p:nvPr/>
        </p:nvSpPr>
        <p:spPr>
          <a:xfrm>
            <a:off x="6675120" y="320040"/>
            <a:ext cx="5074920" cy="548640"/>
          </a:xfrm>
          <a:prstGeom prst="rect">
            <a:avLst/>
          </a:prstGeom>
          <a:noFill/>
        </p:spPr>
        <p:txBody>
          <a:bodyPr wrap="square" lIns="45720" rIns="45720" tIns="27432" bIns="27432" anchor="t">
            <a:spAutoFit/>
          </a:bodyPr>
          <a:lstStyle/>
          <a:p>
            <a:pPr algn="r"/>
            <a:r>
              <a:rPr sz="1000" b="0">
                <a:solidFill>
                  <a:srgbClr val="94A3B8"/>
                </a:solidFill>
                <a:latin typeface="Inter"/>
              </a:rPr>
              <a:t>SECTION 12 · PORTABILITY AND ALTERNATIVES</a:t>
            </a:r>
          </a:p>
        </p:txBody>
      </p:sp>
      <p:sp>
        <p:nvSpPr>
          <p:cNvPr id="4" name="TextBox 3"/>
          <p:cNvSpPr txBox="1"/>
          <p:nvPr/>
        </p:nvSpPr>
        <p:spPr>
          <a:xfrm>
            <a:off x="914400" y="1417320"/>
            <a:ext cx="10332720" cy="457200"/>
          </a:xfrm>
          <a:prstGeom prst="rect">
            <a:avLst/>
          </a:prstGeom>
          <a:noFill/>
        </p:spPr>
        <p:txBody>
          <a:bodyPr wrap="square" lIns="45720" rIns="45720" tIns="27432" bIns="27432" anchor="t">
            <a:spAutoFit/>
          </a:bodyPr>
          <a:lstStyle/>
          <a:p>
            <a:r>
              <a:rPr sz="1200" b="1">
                <a:solidFill>
                  <a:srgbClr val="00D4AA"/>
                </a:solidFill>
                <a:latin typeface="Inter"/>
              </a:rPr>
              <a:t>LECTURE 12.1</a:t>
            </a:r>
          </a:p>
        </p:txBody>
      </p:sp>
      <p:sp>
        <p:nvSpPr>
          <p:cNvPr id="5" name="TextBox 4"/>
          <p:cNvSpPr txBox="1"/>
          <p:nvPr/>
        </p:nvSpPr>
        <p:spPr>
          <a:xfrm>
            <a:off x="914400" y="1874519"/>
            <a:ext cx="10332720" cy="1645920"/>
          </a:xfrm>
          <a:prstGeom prst="rect">
            <a:avLst/>
          </a:prstGeom>
          <a:noFill/>
        </p:spPr>
        <p:txBody>
          <a:bodyPr wrap="square" lIns="45720" rIns="45720" tIns="27432" bIns="27432" anchor="t">
            <a:spAutoFit/>
          </a:bodyPr>
          <a:lstStyle/>
          <a:p>
            <a:pPr>
              <a:lnSpc>
                <a:spcPct val="110000"/>
              </a:lnSpc>
            </a:pPr>
            <a:r>
              <a:rPr sz="3000" b="1">
                <a:solidFill>
                  <a:srgbClr val="FFFFFF"/>
                </a:solidFill>
                <a:latin typeface="Inter"/>
              </a:rPr>
              <a:t>Vendor lock-in and the OTel escape hatch</a:t>
            </a:r>
          </a:p>
        </p:txBody>
      </p:sp>
      <p:sp>
        <p:nvSpPr>
          <p:cNvPr id="6" name="Rectangle 5"/>
          <p:cNvSpPr/>
          <p:nvPr/>
        </p:nvSpPr>
        <p:spPr>
          <a:xfrm>
            <a:off x="914400" y="3794760"/>
            <a:ext cx="64008" cy="114300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88720" y="3749039"/>
            <a:ext cx="9692640" cy="1280160"/>
          </a:xfrm>
          <a:prstGeom prst="rect">
            <a:avLst/>
          </a:prstGeom>
          <a:noFill/>
        </p:spPr>
        <p:txBody>
          <a:bodyPr wrap="square" lIns="45720" rIns="45720" tIns="27432" bIns="27432" anchor="ctr">
            <a:spAutoFit/>
          </a:bodyPr>
          <a:lstStyle/>
          <a:p>
            <a:pPr>
              <a:lnSpc>
                <a:spcPct val="130000"/>
              </a:lnSpc>
            </a:pPr>
            <a:r>
              <a:rPr sz="1600" b="0">
                <a:solidFill>
                  <a:srgbClr val="CBD5E1"/>
                </a:solidFill>
                <a:latin typeface="Inter"/>
              </a:rPr>
              <a:t>Separate what is portable in your observability setup (spans with GenAI attributes over OTLP) from what is not (scores, prompts, datasets, dashboards…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12 · Lecture 12.1</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What you built is in layers</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260"/>
              </a:spcAft>
              <a:buClr>
                <a:srgbClr val="00D4AA"/>
              </a:buClr>
              <a:buFont typeface="Inter"/>
              <a:buChar char="•"/>
            </a:pPr>
            <a:r>
              <a:rPr sz="1800" b="0">
                <a:solidFill>
                  <a:srgbClr val="FFFFFF"/>
                </a:solidFill>
                <a:latin typeface="Inter"/>
              </a:rPr>
              <a:t>Layer 1: your code emits OpenTelemetry spans with </a:t>
            </a:r>
            <a:r>
              <a:rPr sz="1656" b="0">
                <a:solidFill>
                  <a:srgbClr val="00D4AA"/>
                </a:solidFill>
                <a:latin typeface="JetBrains Mono"/>
              </a:rPr>
              <a:t>gen_ai.*</a:t>
            </a:r>
            <a:r>
              <a:rPr sz="1800" b="0">
                <a:solidFill>
                  <a:srgbClr val="FFFFFF"/>
                </a:solidFill>
                <a:latin typeface="Inter"/>
              </a:rPr>
              <a:t> attributes</a:t>
            </a:r>
          </a:p>
          <a:p>
            <a:pPr marL="292608" indent="-292608">
              <a:lnSpc>
                <a:spcPct val="120000"/>
              </a:lnSpc>
              <a:spcAft>
                <a:spcPts val="1260"/>
              </a:spcAft>
              <a:buClr>
                <a:srgbClr val="00D4AA"/>
              </a:buClr>
              <a:buFont typeface="Inter"/>
              <a:buChar char="•"/>
            </a:pPr>
            <a:r>
              <a:rPr sz="1800" b="0">
                <a:solidFill>
                  <a:srgbClr val="FFFFFF"/>
                </a:solidFill>
                <a:latin typeface="Inter"/>
              </a:rPr>
              <a:t>Layer 2: an exporter ships them over OTLP to a backend</a:t>
            </a:r>
          </a:p>
          <a:p>
            <a:pPr marL="292608" indent="-292608">
              <a:lnSpc>
                <a:spcPct val="120000"/>
              </a:lnSpc>
              <a:spcAft>
                <a:spcPts val="1260"/>
              </a:spcAft>
              <a:buClr>
                <a:srgbClr val="00D4AA"/>
              </a:buClr>
              <a:buFont typeface="Inter"/>
              <a:buChar char="•"/>
            </a:pPr>
            <a:r>
              <a:rPr sz="1800" b="0">
                <a:solidFill>
                  <a:srgbClr val="FFFFFF"/>
                </a:solidFill>
                <a:latin typeface="Inter"/>
              </a:rPr>
              <a:t>Layer 3: the backend stores, indexes and displays them</a:t>
            </a:r>
          </a:p>
          <a:p>
            <a:pPr marL="292608" indent="-292608">
              <a:lnSpc>
                <a:spcPct val="120000"/>
              </a:lnSpc>
              <a:spcAft>
                <a:spcPts val="1260"/>
              </a:spcAft>
              <a:buClr>
                <a:srgbClr val="00D4AA"/>
              </a:buClr>
              <a:buFont typeface="Inter"/>
              <a:buChar char="•"/>
            </a:pPr>
            <a:r>
              <a:rPr sz="1800" b="0">
                <a:solidFill>
                  <a:srgbClr val="FFFFFF"/>
                </a:solidFill>
                <a:latin typeface="Inter"/>
              </a:rPr>
              <a:t>Layer 4: the backend's own features on top: scores, prompts, datasets, dashboards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12 · Lecture 12.1</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What moves for free</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457200" y="1325880"/>
            <a:ext cx="4343400" cy="4983480"/>
          </a:xfrm>
          <a:prstGeom prst="rect">
            <a:avLst/>
          </a:prstGeom>
          <a:noFill/>
        </p:spPr>
        <p:txBody>
          <a:bodyPr wrap="square" lIns="45720" rIns="45720" tIns="27432" bIns="27432" anchor="t">
            <a:spAutoFit/>
          </a:bodyPr>
          <a:lstStyle/>
          <a:p>
            <a:pPr marL="292608" indent="-292608">
              <a:lnSpc>
                <a:spcPct val="120000"/>
              </a:lnSpc>
              <a:spcAft>
                <a:spcPts val="1120"/>
              </a:spcAft>
              <a:buClr>
                <a:srgbClr val="00D4AA"/>
              </a:buClr>
              <a:buFont typeface="Inter"/>
              <a:buChar char="•"/>
            </a:pPr>
            <a:r>
              <a:rPr sz="1600" b="0">
                <a:solidFill>
                  <a:srgbClr val="FFFFFF"/>
                </a:solidFill>
                <a:latin typeface="Inter"/>
              </a:rPr>
              <a:t>Traces, spans, attributes, events, status: yes, via OTLP</a:t>
            </a:r>
          </a:p>
          <a:p>
            <a:pPr marL="292608" indent="-292608">
              <a:lnSpc>
                <a:spcPct val="120000"/>
              </a:lnSpc>
              <a:spcAft>
                <a:spcPts val="1120"/>
              </a:spcAft>
              <a:buClr>
                <a:srgbClr val="00D4AA"/>
              </a:buClr>
              <a:buFont typeface="Inter"/>
              <a:buChar char="•"/>
            </a:pPr>
            <a:r>
              <a:rPr sz="1600" b="0">
                <a:solidFill>
                  <a:srgbClr val="FFFFFF"/>
                </a:solidFill>
                <a:latin typeface="Inter"/>
              </a:rPr>
              <a:t>GenAI attributes: </a:t>
            </a:r>
            <a:r>
              <a:rPr sz="1472" b="0">
                <a:solidFill>
                  <a:srgbClr val="00D4AA"/>
                </a:solidFill>
                <a:latin typeface="JetBrains Mono"/>
              </a:rPr>
              <a:t>gen_ai.usage.*</a:t>
            </a:r>
            <a:r>
              <a:rPr sz="1600" b="0">
                <a:solidFill>
                  <a:srgbClr val="FFFFFF"/>
                </a:solidFill>
                <a:latin typeface="Inter"/>
              </a:rPr>
              <a:t>, </a:t>
            </a:r>
            <a:r>
              <a:rPr sz="1472" b="0">
                <a:solidFill>
                  <a:srgbClr val="00D4AA"/>
                </a:solidFill>
                <a:latin typeface="JetBrains Mono"/>
              </a:rPr>
              <a:t>gen_ai.request.model</a:t>
            </a:r>
            <a:r>
              <a:rPr sz="1600" b="0">
                <a:solidFill>
                  <a:srgbClr val="FFFFFF"/>
                </a:solidFill>
                <a:latin typeface="Inter"/>
              </a:rPr>
              <a:t>, </a:t>
            </a:r>
            <a:r>
              <a:rPr sz="1472" b="0">
                <a:solidFill>
                  <a:srgbClr val="00D4AA"/>
                </a:solidFill>
                <a:latin typeface="JetBrains Mono"/>
              </a:rPr>
              <a:t>gen_ai.tool.name</a:t>
            </a:r>
            <a:r>
              <a:rPr sz="1600" b="0">
                <a:solidFill>
                  <a:srgbClr val="FFFFFF"/>
                </a:solidFill>
                <a:latin typeface="Inter"/>
              </a:rPr>
              <a:t>: yes</a:t>
            </a:r>
          </a:p>
          <a:p>
            <a:pPr marL="292608" indent="-292608">
              <a:lnSpc>
                <a:spcPct val="120000"/>
              </a:lnSpc>
              <a:spcAft>
                <a:spcPts val="1120"/>
              </a:spcAft>
              <a:buClr>
                <a:srgbClr val="00D4AA"/>
              </a:buClr>
              <a:buFont typeface="Inter"/>
              <a:buChar char="•"/>
            </a:pPr>
            <a:r>
              <a:rPr sz="1600" b="0">
                <a:solidFill>
                  <a:srgbClr val="FFFFFF"/>
                </a:solidFill>
                <a:latin typeface="Inter"/>
              </a:rPr>
              <a:t>Resource attributes: </a:t>
            </a:r>
            <a:r>
              <a:rPr sz="1472" b="0">
                <a:solidFill>
                  <a:srgbClr val="00D4AA"/>
                </a:solidFill>
                <a:latin typeface="JetBrains Mono"/>
              </a:rPr>
              <a:t>service.name</a:t>
            </a:r>
            <a:r>
              <a:rPr sz="1600" b="0">
                <a:solidFill>
                  <a:srgbClr val="FFFFFF"/>
                </a:solidFill>
                <a:latin typeface="Inter"/>
              </a:rPr>
              <a:t>, </a:t>
            </a:r>
            <a:r>
              <a:rPr sz="1472" b="0">
                <a:solidFill>
                  <a:srgbClr val="00D4AA"/>
                </a:solidFill>
                <a:latin typeface="JetBrains Mono"/>
              </a:rPr>
              <a:t>deployment.environment</a:t>
            </a:r>
            <a:r>
              <a:rPr sz="1600" b="0">
                <a:solidFill>
                  <a:srgbClr val="FFFFFF"/>
                </a:solidFill>
                <a:latin typeface="Inter"/>
              </a:rPr>
              <a:t>, release: yes</a:t>
            </a:r>
          </a:p>
          <a:p>
            <a:pPr marL="292608" indent="-292608">
              <a:lnSpc>
                <a:spcPct val="120000"/>
              </a:lnSpc>
              <a:spcAft>
                <a:spcPts val="1120"/>
              </a:spcAft>
              <a:buClr>
                <a:srgbClr val="00D4AA"/>
              </a:buClr>
              <a:buFont typeface="Inter"/>
              <a:buChar char="•"/>
            </a:pPr>
            <a:r>
              <a:rPr sz="1600" b="0">
                <a:solidFill>
                  <a:srgbClr val="FFFFFF"/>
                </a:solidFill>
                <a:latin typeface="Inter"/>
              </a:rPr>
              <a:t>Session, user and tenant: yes, if they are span attributes, not SDK-only calls</a:t>
            </a:r>
          </a:p>
          <a:p>
            <a:pPr marL="292608" indent="-292608">
              <a:lnSpc>
                <a:spcPct val="120000"/>
              </a:lnSpc>
              <a:spcAft>
                <a:spcPts val="1120"/>
              </a:spcAft>
              <a:buClr>
                <a:srgbClr val="00D4AA"/>
              </a:buClr>
              <a:buFont typeface="Inter"/>
              <a:buChar char="•"/>
            </a:pPr>
            <a:r>
              <a:rPr sz="1600" b="0">
                <a:solidFill>
                  <a:srgbClr val="FFFFFF"/>
                </a:solidFill>
                <a:latin typeface="Inter"/>
              </a:rPr>
              <a:t>Prometheus metrics and Grafana: unaffected, they never touched the LLM backend</a:t>
            </a:r>
          </a:p>
        </p:txBody>
      </p:sp>
      <p:pic>
        <p:nvPicPr>
          <p:cNvPr id="6" name="Picture 5" descr="D4-langfuse-on-otel-notitle.png"/>
          <p:cNvPicPr>
            <a:picLocks noChangeAspect="1"/>
          </p:cNvPicPr>
          <p:nvPr/>
        </p:nvPicPr>
        <p:blipFill>
          <a:blip r:embed="rId3"/>
          <a:stretch>
            <a:fillRect/>
          </a:stretch>
        </p:blipFill>
        <p:spPr>
          <a:xfrm>
            <a:off x="4983480" y="2231707"/>
            <a:ext cx="6766560" cy="3171825"/>
          </a:xfrm>
          <a:prstGeom prst="rect">
            <a:avLst/>
          </a:prstGeom>
          <a:ln>
            <a:solidFill>
              <a:srgbClr val="1A2742"/>
            </a:solidFill>
          </a:ln>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12 · Lecture 12.1</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What does not move</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457200" y="1325880"/>
            <a:ext cx="4343400" cy="4983480"/>
          </a:xfrm>
          <a:prstGeom prst="rect">
            <a:avLst/>
          </a:prstGeom>
          <a:noFill/>
        </p:spPr>
        <p:txBody>
          <a:bodyPr wrap="square" lIns="45720" rIns="45720" tIns="27432" bIns="27432" anchor="t">
            <a:spAutoFit/>
          </a:bodyPr>
          <a:lstStyle/>
          <a:p>
            <a:pPr marL="292608" indent="-292608">
              <a:lnSpc>
                <a:spcPct val="120000"/>
              </a:lnSpc>
              <a:spcAft>
                <a:spcPts val="1120"/>
              </a:spcAft>
              <a:buClr>
                <a:srgbClr val="00D4AA"/>
              </a:buClr>
              <a:buFont typeface="Inter"/>
              <a:buChar char="•"/>
            </a:pPr>
            <a:r>
              <a:rPr sz="1600" b="0">
                <a:solidFill>
                  <a:srgbClr val="FFFFFF"/>
                </a:solidFill>
                <a:latin typeface="Inter"/>
              </a:rPr>
              <a:t>Scores: judge scores, thumbs, guardrail booleans live in the backend's score store</a:t>
            </a:r>
          </a:p>
          <a:p>
            <a:pPr marL="292608" indent="-292608">
              <a:lnSpc>
                <a:spcPct val="120000"/>
              </a:lnSpc>
              <a:spcAft>
                <a:spcPts val="1120"/>
              </a:spcAft>
              <a:buClr>
                <a:srgbClr val="00D4AA"/>
              </a:buClr>
              <a:buFont typeface="Inter"/>
              <a:buChar char="•"/>
            </a:pPr>
            <a:r>
              <a:rPr sz="1600" b="0">
                <a:solidFill>
                  <a:srgbClr val="FFFFFF"/>
                </a:solidFill>
                <a:latin typeface="Inter"/>
              </a:rPr>
              <a:t>Prompts: versions, labels, the </a:t>
            </a:r>
            <a:r>
              <a:rPr sz="1472" b="0">
                <a:solidFill>
                  <a:srgbClr val="00D4AA"/>
                </a:solidFill>
                <a:latin typeface="JetBrains Mono"/>
              </a:rPr>
              <a:t>production</a:t>
            </a:r>
            <a:r>
              <a:rPr sz="1600" b="0">
                <a:solidFill>
                  <a:srgbClr val="FFFFFF"/>
                </a:solidFill>
                <a:latin typeface="Inter"/>
              </a:rPr>
              <a:t> pointer</a:t>
            </a:r>
          </a:p>
          <a:p>
            <a:pPr marL="292608" indent="-292608">
              <a:lnSpc>
                <a:spcPct val="120000"/>
              </a:lnSpc>
              <a:spcAft>
                <a:spcPts val="1120"/>
              </a:spcAft>
              <a:buClr>
                <a:srgbClr val="00D4AA"/>
              </a:buClr>
              <a:buFont typeface="Inter"/>
              <a:buChar char="•"/>
            </a:pPr>
            <a:r>
              <a:rPr sz="1600" b="0">
                <a:solidFill>
                  <a:srgbClr val="FFFFFF"/>
                </a:solidFill>
                <a:latin typeface="Inter"/>
              </a:rPr>
              <a:t>Datasets: </a:t>
            </a:r>
            <a:r>
              <a:rPr sz="1472" b="0">
                <a:solidFill>
                  <a:srgbClr val="00D4AA"/>
                </a:solidFill>
                <a:latin typeface="JetBrains Mono"/>
              </a:rPr>
              <a:t>atlas-failures</a:t>
            </a:r>
            <a:r>
              <a:rPr sz="1600" b="0">
                <a:solidFill>
                  <a:srgbClr val="FFFFFF"/>
                </a:solidFill>
                <a:latin typeface="Inter"/>
              </a:rPr>
              <a:t> and everything Lecture 8.6 promoted</a:t>
            </a:r>
          </a:p>
          <a:p>
            <a:pPr marL="292608" indent="-292608">
              <a:lnSpc>
                <a:spcPct val="120000"/>
              </a:lnSpc>
              <a:spcAft>
                <a:spcPts val="1120"/>
              </a:spcAft>
              <a:buClr>
                <a:srgbClr val="00D4AA"/>
              </a:buClr>
              <a:buFont typeface="Inter"/>
              <a:buChar char="•"/>
            </a:pPr>
            <a:r>
              <a:rPr sz="1600" b="0">
                <a:solidFill>
                  <a:srgbClr val="FFFFFF"/>
                </a:solidFill>
                <a:latin typeface="Inter"/>
              </a:rPr>
              <a:t>Dashboards, saved views, alert rules built in the vendor UI</a:t>
            </a:r>
          </a:p>
          <a:p>
            <a:pPr marL="292608" indent="-292608">
              <a:lnSpc>
                <a:spcPct val="120000"/>
              </a:lnSpc>
              <a:spcAft>
                <a:spcPts val="1120"/>
              </a:spcAft>
              <a:buClr>
                <a:srgbClr val="00D4AA"/>
              </a:buClr>
              <a:buFont typeface="Inter"/>
              <a:buChar char="•"/>
            </a:pPr>
            <a:r>
              <a:rPr sz="1600" b="0">
                <a:solidFill>
                  <a:srgbClr val="FFFFFF"/>
                </a:solidFill>
                <a:latin typeface="Inter"/>
              </a:rPr>
              <a:t>Vendor-specific SDK calls: </a:t>
            </a:r>
            <a:r>
              <a:rPr sz="1472" b="0">
                <a:solidFill>
                  <a:srgbClr val="00D4AA"/>
                </a:solidFill>
                <a:latin typeface="JetBrains Mono"/>
              </a:rPr>
              <a:t>update_current_generation(cost_details=)</a:t>
            </a:r>
            <a:r>
              <a:rPr sz="1600" b="0">
                <a:solidFill>
                  <a:srgbClr val="FFFFFF"/>
                </a:solidFill>
                <a:latin typeface="Inter"/>
              </a:rPr>
              <a:t>, </a:t>
            </a:r>
            <a:r>
              <a:rPr sz="1472" b="0">
                <a:solidFill>
                  <a:srgbClr val="00D4AA"/>
                </a:solidFill>
                <a:latin typeface="JetBrains Mono"/>
              </a:rPr>
              <a:t>score_current_trace</a:t>
            </a:r>
          </a:p>
        </p:txBody>
      </p:sp>
      <p:pic>
        <p:nvPicPr>
          <p:cNvPr id="6" name="Picture 5" descr="D4-langfuse-on-otel-notitle.png"/>
          <p:cNvPicPr>
            <a:picLocks noChangeAspect="1"/>
          </p:cNvPicPr>
          <p:nvPr/>
        </p:nvPicPr>
        <p:blipFill>
          <a:blip r:embed="rId3"/>
          <a:stretch>
            <a:fillRect/>
          </a:stretch>
        </p:blipFill>
        <p:spPr>
          <a:xfrm>
            <a:off x="4983480" y="2231707"/>
            <a:ext cx="6766560" cy="3171825"/>
          </a:xfrm>
          <a:prstGeom prst="rect">
            <a:avLst/>
          </a:prstGeom>
          <a:ln>
            <a:solidFill>
              <a:srgbClr val="1A2742"/>
            </a:solidFill>
          </a:ln>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12 · Lecture 12.1</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Atlas, counted</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graphicFrame>
        <p:nvGraphicFramePr>
          <p:cNvPr id="5" name="Table 4"/>
          <p:cNvGraphicFramePr>
            <a:graphicFrameLocks noGrp="1"/>
          </p:cNvGraphicFramePr>
          <p:nvPr/>
        </p:nvGraphicFramePr>
        <p:xfrm>
          <a:off x="457200" y="1325880"/>
          <a:ext cx="11292840" cy="3072384"/>
        </p:xfrm>
        <a:graphic>
          <a:graphicData uri="http://schemas.openxmlformats.org/drawingml/2006/table">
            <a:tbl>
              <a:tblPr firstRow="1" bandRow="1">
                <a:tableStyleId>{5C22544A-7EE6-4342-B048-85BDC9FD1C3A}</a:tableStyleId>
              </a:tblPr>
              <a:tblGrid>
                <a:gridCol w="2489760"/>
                <a:gridCol w="5335200"/>
                <a:gridCol w="3467880"/>
              </a:tblGrid>
              <a:tr h="384048">
                <a:tc>
                  <a:txBody>
                    <a:bodyPr wrap="square"/>
                    <a:lstStyle/>
                    <a:p>
                      <a:r>
                        <a:rPr sz="1200" b="1">
                          <a:solidFill>
                            <a:srgbClr val="0A1628"/>
                          </a:solidFill>
                          <a:latin typeface="Inter"/>
                        </a:rPr>
                        <a:t>Concern</a:t>
                      </a:r>
                    </a:p>
                  </a:txBody>
                  <a:tcPr marL="91440" marR="91440" marT="45720" marB="45720" anchor="ctr">
                    <a:solidFill>
                      <a:srgbClr val="00D4AA"/>
                    </a:solidFill>
                  </a:tcPr>
                </a:tc>
                <a:tc>
                  <a:txBody>
                    <a:bodyPr wrap="square"/>
                    <a:lstStyle/>
                    <a:p>
                      <a:r>
                        <a:rPr sz="1200" b="1">
                          <a:solidFill>
                            <a:srgbClr val="0A1628"/>
                          </a:solidFill>
                          <a:latin typeface="Inter"/>
                        </a:rPr>
                        <a:t>Where it lives</a:t>
                      </a:r>
                    </a:p>
                  </a:txBody>
                  <a:tcPr marL="91440" marR="91440" marT="45720" marB="45720" anchor="ctr">
                    <a:solidFill>
                      <a:srgbClr val="00D4AA"/>
                    </a:solidFill>
                  </a:tcPr>
                </a:tc>
                <a:tc>
                  <a:txBody>
                    <a:bodyPr wrap="square"/>
                    <a:lstStyle/>
                    <a:p>
                      <a:r>
                        <a:rPr sz="1200" b="1">
                          <a:solidFill>
                            <a:srgbClr val="0A1628"/>
                          </a:solidFill>
                          <a:latin typeface="Inter"/>
                        </a:rPr>
                        <a:t>Portable?</a:t>
                      </a:r>
                    </a:p>
                  </a:txBody>
                  <a:tcPr marL="91440" marR="91440" marT="45720" marB="45720" anchor="ctr">
                    <a:solidFill>
                      <a:srgbClr val="00D4AA"/>
                    </a:solidFill>
                  </a:tcPr>
                </a:tc>
              </a:tr>
              <a:tr h="384048">
                <a:tc>
                  <a:txBody>
                    <a:bodyPr wrap="square"/>
                    <a:lstStyle/>
                    <a:p>
                      <a:r>
                        <a:rPr sz="1200" b="1">
                          <a:solidFill>
                            <a:srgbClr val="FFFFFF"/>
                          </a:solidFill>
                          <a:latin typeface="Inter"/>
                        </a:rPr>
                        <a:t>Span creation and attributes</a:t>
                      </a:r>
                    </a:p>
                  </a:txBody>
                  <a:tcPr marL="91440" marR="91440" marT="45720" marB="45720" anchor="ctr">
                    <a:solidFill>
                      <a:srgbClr val="1A2742"/>
                    </a:solidFill>
                  </a:tcPr>
                </a:tc>
                <a:tc>
                  <a:txBody>
                    <a:bodyPr wrap="square"/>
                    <a:lstStyle/>
                    <a:p>
                      <a:r>
                        <a:rPr sz="1104" b="0">
                          <a:solidFill>
                            <a:srgbClr val="00D4AA"/>
                          </a:solidFill>
                          <a:latin typeface="JetBrains Mono"/>
                        </a:rPr>
                        <a:t>telemetry/otel_setup.py</a:t>
                      </a:r>
                      <a:r>
                        <a:rPr sz="1200" b="0">
                          <a:solidFill>
                            <a:srgbClr val="FFFFFF"/>
                          </a:solidFill>
                          <a:latin typeface="Inter"/>
                        </a:rPr>
                        <a:t>, </a:t>
                      </a:r>
                      <a:r>
                        <a:rPr sz="1104" b="0">
                          <a:solidFill>
                            <a:srgbClr val="00D4AA"/>
                          </a:solidFill>
                          <a:latin typeface="JetBrains Mono"/>
                        </a:rPr>
                        <a:t>genai_attrs.py</a:t>
                      </a:r>
                      <a:r>
                        <a:rPr sz="1200" b="0">
                          <a:solidFill>
                            <a:srgbClr val="FFFFFF"/>
                          </a:solidFill>
                          <a:latin typeface="Inter"/>
                        </a:rPr>
                        <a:t>, </a:t>
                      </a:r>
                      <a:r>
                        <a:rPr sz="1104" b="0">
                          <a:solidFill>
                            <a:srgbClr val="00D4AA"/>
                          </a:solidFill>
                          <a:latin typeface="JetBrains Mono"/>
                        </a:rPr>
                        <a:t>app/agent.py</a:t>
                      </a:r>
                    </a:p>
                  </a:txBody>
                  <a:tcPr marL="91440" marR="91440" marT="45720" marB="45720" anchor="ctr">
                    <a:solidFill>
                      <a:srgbClr val="1A2742"/>
                    </a:solidFill>
                  </a:tcPr>
                </a:tc>
                <a:tc>
                  <a:txBody>
                    <a:bodyPr wrap="square"/>
                    <a:lstStyle/>
                    <a:p>
                      <a:r>
                        <a:rPr sz="1200" b="0">
                          <a:solidFill>
                            <a:srgbClr val="FFFFFF"/>
                          </a:solidFill>
                          <a:latin typeface="Inter"/>
                        </a:rPr>
                        <a:t>Yes</a:t>
                      </a:r>
                    </a:p>
                  </a:txBody>
                  <a:tcPr marL="91440" marR="91440" marT="45720" marB="45720" anchor="ctr">
                    <a:solidFill>
                      <a:srgbClr val="1A2742"/>
                    </a:solidFill>
                  </a:tcPr>
                </a:tc>
              </a:tr>
              <a:tr h="384048">
                <a:tc>
                  <a:txBody>
                    <a:bodyPr wrap="square"/>
                    <a:lstStyle/>
                    <a:p>
                      <a:r>
                        <a:rPr sz="1200" b="1">
                          <a:solidFill>
                            <a:srgbClr val="FFFFFF"/>
                          </a:solidFill>
                          <a:latin typeface="Inter"/>
                        </a:rPr>
                        <a:t>Cost per generation</a:t>
                      </a:r>
                    </a:p>
                  </a:txBody>
                  <a:tcPr marL="91440" marR="91440" marT="45720" marB="45720" anchor="ctr">
                    <a:solidFill>
                      <a:srgbClr val="0F1E35"/>
                    </a:solidFill>
                  </a:tcPr>
                </a:tc>
                <a:tc>
                  <a:txBody>
                    <a:bodyPr wrap="square"/>
                    <a:lstStyle/>
                    <a:p>
                      <a:r>
                        <a:rPr sz="1200" b="0">
                          <a:solidFill>
                            <a:srgbClr val="FFFFFF"/>
                          </a:solidFill>
                          <a:latin typeface="Inter"/>
                        </a:rPr>
                        <a:t>computed in </a:t>
                      </a:r>
                      <a:r>
                        <a:rPr sz="1104" b="0">
                          <a:solidFill>
                            <a:srgbClr val="00D4AA"/>
                          </a:solidFill>
                          <a:latin typeface="JetBrains Mono"/>
                        </a:rPr>
                        <a:t>src/northwind/pricing.py</a:t>
                      </a:r>
                      <a:r>
                        <a:rPr sz="1200" b="0">
                          <a:solidFill>
                            <a:srgbClr val="FFFFFF"/>
                          </a:solidFill>
                          <a:latin typeface="Inter"/>
                        </a:rPr>
                        <a:t>, written by </a:t>
                      </a:r>
                      <a:r>
                        <a:rPr sz="1104" b="0">
                          <a:solidFill>
                            <a:srgbClr val="00D4AA"/>
                          </a:solidFill>
                          <a:latin typeface="JetBrains Mono"/>
                        </a:rPr>
                        <a:t>set_cost</a:t>
                      </a:r>
                      <a:r>
                        <a:rPr sz="1200" b="0">
                          <a:solidFill>
                            <a:srgbClr val="FFFFFF"/>
                          </a:solidFill>
                          <a:latin typeface="Inter"/>
                        </a:rPr>
                        <a:t> as </a:t>
                      </a:r>
                      <a:r>
                        <a:rPr sz="1104" b="0">
                          <a:solidFill>
                            <a:srgbClr val="00D4AA"/>
                          </a:solidFill>
                          <a:latin typeface="JetBrains Mono"/>
                        </a:rPr>
                        <a:t>atlas.cost_usd</a:t>
                      </a:r>
                      <a:r>
                        <a:rPr sz="1200" b="0">
                          <a:solidFill>
                            <a:srgbClr val="FFFFFF"/>
                          </a:solidFill>
                          <a:latin typeface="Inter"/>
                        </a:rPr>
                        <a:t> and as </a:t>
                      </a:r>
                      <a:r>
                        <a:rPr sz="1104" b="0">
                          <a:solidFill>
                            <a:srgbClr val="00D4AA"/>
                          </a:solidFill>
                          <a:latin typeface="JetBrains Mono"/>
                        </a:rPr>
                        <a:t>langfuse.observation.cost_details</a:t>
                      </a:r>
                    </a:p>
                  </a:txBody>
                  <a:tcPr marL="91440" marR="91440" marT="45720" marB="45720" anchor="ctr">
                    <a:solidFill>
                      <a:srgbClr val="0F1E35"/>
                    </a:solidFill>
                  </a:tcPr>
                </a:tc>
                <a:tc>
                  <a:txBody>
                    <a:bodyPr wrap="square"/>
                    <a:lstStyle/>
                    <a:p>
                      <a:r>
                        <a:rPr sz="1200" b="0">
                          <a:solidFill>
                            <a:srgbClr val="FFFFFF"/>
                          </a:solidFill>
                          <a:latin typeface="Inter"/>
                        </a:rPr>
                        <a:t>Attribute yes, Langfuse cost details no</a:t>
                      </a:r>
                    </a:p>
                  </a:txBody>
                  <a:tcPr marL="91440" marR="91440" marT="45720" marB="45720" anchor="ctr">
                    <a:solidFill>
                      <a:srgbClr val="0F1E35"/>
                    </a:solidFill>
                  </a:tcPr>
                </a:tc>
              </a:tr>
              <a:tr h="384048">
                <a:tc>
                  <a:txBody>
                    <a:bodyPr wrap="square"/>
                    <a:lstStyle/>
                    <a:p>
                      <a:r>
                        <a:rPr sz="1200" b="1">
                          <a:solidFill>
                            <a:srgbClr val="FFFFFF"/>
                          </a:solidFill>
                          <a:latin typeface="Inter"/>
                        </a:rPr>
                        <a:t>Sessions, users, tenants</a:t>
                      </a:r>
                    </a:p>
                  </a:txBody>
                  <a:tcPr marL="91440" marR="91440" marT="45720" marB="45720" anchor="ctr">
                    <a:solidFill>
                      <a:srgbClr val="1A2742"/>
                    </a:solidFill>
                  </a:tcPr>
                </a:tc>
                <a:tc>
                  <a:txBody>
                    <a:bodyPr wrap="square"/>
                    <a:lstStyle/>
                    <a:p>
                      <a:r>
                        <a:rPr sz="1104" b="0">
                          <a:solidFill>
                            <a:srgbClr val="00D4AA"/>
                          </a:solidFill>
                          <a:latin typeface="JetBrains Mono"/>
                        </a:rPr>
                        <a:t>session.id</a:t>
                      </a:r>
                      <a:r>
                        <a:rPr sz="1200" b="0">
                          <a:solidFill>
                            <a:srgbClr val="FFFFFF"/>
                          </a:solidFill>
                          <a:latin typeface="Inter"/>
                        </a:rPr>
                        <a:t>, </a:t>
                      </a:r>
                      <a:r>
                        <a:rPr sz="1104" b="0">
                          <a:solidFill>
                            <a:srgbClr val="00D4AA"/>
                          </a:solidFill>
                          <a:latin typeface="JetBrains Mono"/>
                        </a:rPr>
                        <a:t>user.id</a:t>
                      </a:r>
                      <a:r>
                        <a:rPr sz="1200" b="0">
                          <a:solidFill>
                            <a:srgbClr val="FFFFFF"/>
                          </a:solidFill>
                          <a:latin typeface="Inter"/>
                        </a:rPr>
                        <a:t>, </a:t>
                      </a:r>
                      <a:r>
                        <a:rPr sz="1104" b="0">
                          <a:solidFill>
                            <a:srgbClr val="00D4AA"/>
                          </a:solidFill>
                          <a:latin typeface="JetBrains Mono"/>
                        </a:rPr>
                        <a:t>atlas.tenant</a:t>
                      </a:r>
                      <a:r>
                        <a:rPr sz="1200" b="0">
                          <a:solidFill>
                            <a:srgbClr val="FFFFFF"/>
                          </a:solidFill>
                          <a:latin typeface="Inter"/>
                        </a:rPr>
                        <a:t>, </a:t>
                      </a:r>
                      <a:r>
                        <a:rPr sz="1104" b="0">
                          <a:solidFill>
                            <a:srgbClr val="00D4AA"/>
                          </a:solidFill>
                          <a:latin typeface="JetBrains Mono"/>
                        </a:rPr>
                        <a:t>gen_ai.conversation.id</a:t>
                      </a:r>
                      <a:r>
                        <a:rPr sz="1200" b="0">
                          <a:solidFill>
                            <a:srgbClr val="FFFFFF"/>
                          </a:solidFill>
                          <a:latin typeface="Inter"/>
                        </a:rPr>
                        <a:t> plus </a:t>
                      </a:r>
                      <a:r>
                        <a:rPr sz="1104" b="0">
                          <a:solidFill>
                            <a:srgbClr val="00D4AA"/>
                          </a:solidFill>
                          <a:latin typeface="JetBrains Mono"/>
                        </a:rPr>
                        <a:t>langfuse.trace.tags</a:t>
                      </a:r>
                    </a:p>
                  </a:txBody>
                  <a:tcPr marL="91440" marR="91440" marT="45720" marB="45720" anchor="ctr">
                    <a:solidFill>
                      <a:srgbClr val="1A2742"/>
                    </a:solidFill>
                  </a:tcPr>
                </a:tc>
                <a:tc>
                  <a:txBody>
                    <a:bodyPr wrap="square"/>
                    <a:lstStyle/>
                    <a:p>
                      <a:r>
                        <a:rPr sz="1200" b="0">
                          <a:solidFill>
                            <a:srgbClr val="FFFFFF"/>
                          </a:solidFill>
                          <a:latin typeface="Inter"/>
                        </a:rPr>
                        <a:t>Yes, via attributes</a:t>
                      </a:r>
                    </a:p>
                  </a:txBody>
                  <a:tcPr marL="91440" marR="91440" marT="45720" marB="45720" anchor="ctr">
                    <a:solidFill>
                      <a:srgbClr val="1A2742"/>
                    </a:solidFill>
                  </a:tcPr>
                </a:tc>
              </a:tr>
              <a:tr h="384048">
                <a:tc>
                  <a:txBody>
                    <a:bodyPr wrap="square"/>
                    <a:lstStyle/>
                    <a:p>
                      <a:r>
                        <a:rPr sz="1200" b="1">
                          <a:solidFill>
                            <a:srgbClr val="FFFFFF"/>
                          </a:solidFill>
                          <a:latin typeface="Inter"/>
                        </a:rPr>
                        <a:t>Scores</a:t>
                      </a:r>
                    </a:p>
                  </a:txBody>
                  <a:tcPr marL="91440" marR="91440" marT="45720" marB="45720" anchor="ctr">
                    <a:solidFill>
                      <a:srgbClr val="0F1E35"/>
                    </a:solidFill>
                  </a:tcPr>
                </a:tc>
                <a:tc>
                  <a:txBody>
                    <a:bodyPr wrap="square"/>
                    <a:lstStyle/>
                    <a:p>
                      <a:r>
                        <a:rPr sz="1104" b="0">
                          <a:solidFill>
                            <a:srgbClr val="00D4AA"/>
                          </a:solidFill>
                          <a:latin typeface="JetBrains Mono"/>
                        </a:rPr>
                        <a:t>evals/online_judge.py</a:t>
                      </a:r>
                      <a:r>
                        <a:rPr sz="1200" b="0">
                          <a:solidFill>
                            <a:srgbClr val="FFFFFF"/>
                          </a:solidFill>
                          <a:latin typeface="Inter"/>
                        </a:rPr>
                        <a:t>, </a:t>
                      </a:r>
                      <a:r>
                        <a:rPr sz="1104" b="0">
                          <a:solidFill>
                            <a:srgbClr val="00D4AA"/>
                          </a:solidFill>
                          <a:latin typeface="JetBrains Mono"/>
                        </a:rPr>
                        <a:t>app/server.py</a:t>
                      </a:r>
                      <a:r>
                        <a:rPr sz="1200" b="0">
                          <a:solidFill>
                            <a:srgbClr val="FFFFFF"/>
                          </a:solidFill>
                          <a:latin typeface="Inter"/>
                        </a:rPr>
                        <a:t> </a:t>
                      </a:r>
                      <a:r>
                        <a:rPr sz="1104" b="0">
                          <a:solidFill>
                            <a:srgbClr val="00D4AA"/>
                          </a:solidFill>
                          <a:latin typeface="JetBrains Mono"/>
                        </a:rPr>
                        <a:t>/feedback</a:t>
                      </a:r>
                      <a:r>
                        <a:rPr sz="1200" b="0">
                          <a:solidFill>
                            <a:srgbClr val="FFFFFF"/>
                          </a:solidFill>
                          <a:latin typeface="Inter"/>
                        </a:rPr>
                        <a:t> via </a:t>
                      </a:r>
                      <a:r>
                        <a:rPr sz="1104" b="0">
                          <a:solidFill>
                            <a:srgbClr val="00D4AA"/>
                          </a:solidFill>
                          <a:latin typeface="JetBrains Mono"/>
                        </a:rPr>
                        <a:t>create_score</a:t>
                      </a:r>
                    </a:p>
                  </a:txBody>
                  <a:tcPr marL="91440" marR="91440" marT="45720" marB="45720" anchor="ctr">
                    <a:solidFill>
                      <a:srgbClr val="0F1E35"/>
                    </a:solidFill>
                  </a:tcPr>
                </a:tc>
                <a:tc>
                  <a:txBody>
                    <a:bodyPr wrap="square"/>
                    <a:lstStyle/>
                    <a:p>
                      <a:r>
                        <a:rPr sz="1200" b="0">
                          <a:solidFill>
                            <a:srgbClr val="FFFFFF"/>
                          </a:solidFill>
                          <a:latin typeface="Inter"/>
                        </a:rPr>
                        <a:t>No: re-implement per backend</a:t>
                      </a:r>
                    </a:p>
                  </a:txBody>
                  <a:tcPr marL="91440" marR="91440" marT="45720" marB="45720" anchor="ctr">
                    <a:solidFill>
                      <a:srgbClr val="0F1E35"/>
                    </a:solidFill>
                  </a:tcPr>
                </a:tc>
              </a:tr>
              <a:tr h="384048">
                <a:tc>
                  <a:txBody>
                    <a:bodyPr wrap="square"/>
                    <a:lstStyle/>
                    <a:p>
                      <a:r>
                        <a:rPr sz="1200" b="1">
                          <a:solidFill>
                            <a:srgbClr val="FFFFFF"/>
                          </a:solidFill>
                          <a:latin typeface="Inter"/>
                        </a:rPr>
                        <a:t>Prompts</a:t>
                      </a:r>
                    </a:p>
                  </a:txBody>
                  <a:tcPr marL="91440" marR="91440" marT="45720" marB="45720" anchor="ctr">
                    <a:solidFill>
                      <a:srgbClr val="1A2742"/>
                    </a:solidFill>
                  </a:tcPr>
                </a:tc>
                <a:tc>
                  <a:txBody>
                    <a:bodyPr wrap="square"/>
                    <a:lstStyle/>
                    <a:p>
                      <a:r>
                        <a:rPr sz="1104" b="0">
                          <a:solidFill>
                            <a:srgbClr val="00D4AA"/>
                          </a:solidFill>
                          <a:latin typeface="JetBrains Mono"/>
                        </a:rPr>
                        <a:t>app/prompts.py</a:t>
                      </a:r>
                      <a:r>
                        <a:rPr sz="1200" b="0">
                          <a:solidFill>
                            <a:srgbClr val="FFFFFF"/>
                          </a:solidFill>
                          <a:latin typeface="Inter"/>
                        </a:rPr>
                        <a:t> via </a:t>
                      </a:r>
                      <a:r>
                        <a:rPr sz="1104" b="0">
                          <a:solidFill>
                            <a:srgbClr val="00D4AA"/>
                          </a:solidFill>
                          <a:latin typeface="JetBrains Mono"/>
                        </a:rPr>
                        <a:t>get_prompt_text</a:t>
                      </a:r>
                      <a:r>
                        <a:rPr sz="1200" b="0">
                          <a:solidFill>
                            <a:srgbClr val="FFFFFF"/>
                          </a:solidFill>
                          <a:latin typeface="Inter"/>
                        </a:rPr>
                        <a:t> / </a:t>
                      </a:r>
                      <a:r>
                        <a:rPr sz="1104" b="0">
                          <a:solidFill>
                            <a:srgbClr val="00D4AA"/>
                          </a:solidFill>
                          <a:latin typeface="JetBrains Mono"/>
                        </a:rPr>
                        <a:t>push_prompts</a:t>
                      </a:r>
                    </a:p>
                  </a:txBody>
                  <a:tcPr marL="91440" marR="91440" marT="45720" marB="45720" anchor="ctr">
                    <a:solidFill>
                      <a:srgbClr val="1A2742"/>
                    </a:solidFill>
                  </a:tcPr>
                </a:tc>
                <a:tc>
                  <a:txBody>
                    <a:bodyPr wrap="square"/>
                    <a:lstStyle/>
                    <a:p>
                      <a:r>
                        <a:rPr sz="1200" b="0">
                          <a:solidFill>
                            <a:srgbClr val="FFFFFF"/>
                          </a:solidFill>
                          <a:latin typeface="Inter"/>
                        </a:rPr>
                        <a:t>No: export and re-import</a:t>
                      </a:r>
                    </a:p>
                  </a:txBody>
                  <a:tcPr marL="91440" marR="91440" marT="45720" marB="45720" anchor="ctr">
                    <a:solidFill>
                      <a:srgbClr val="1A2742"/>
                    </a:solidFill>
                  </a:tcPr>
                </a:tc>
              </a:tr>
              <a:tr h="384048">
                <a:tc>
                  <a:txBody>
                    <a:bodyPr wrap="square"/>
                    <a:lstStyle/>
                    <a:p>
                      <a:r>
                        <a:rPr sz="1200" b="1">
                          <a:solidFill>
                            <a:srgbClr val="FFFFFF"/>
                          </a:solidFill>
                          <a:latin typeface="Inter"/>
                        </a:rPr>
                        <a:t>Datasets</a:t>
                      </a:r>
                    </a:p>
                  </a:txBody>
                  <a:tcPr marL="91440" marR="91440" marT="45720" marB="45720" anchor="ctr">
                    <a:solidFill>
                      <a:srgbClr val="0F1E35"/>
                    </a:solidFill>
                  </a:tcPr>
                </a:tc>
                <a:tc>
                  <a:txBody>
                    <a:bodyPr wrap="square"/>
                    <a:lstStyle/>
                    <a:p>
                      <a:r>
                        <a:rPr sz="1104" b="0">
                          <a:solidFill>
                            <a:srgbClr val="00D4AA"/>
                          </a:solidFill>
                          <a:latin typeface="JetBrains Mono"/>
                        </a:rPr>
                        <a:t>evals/to_dataset.py</a:t>
                      </a:r>
                    </a:p>
                  </a:txBody>
                  <a:tcPr marL="91440" marR="91440" marT="45720" marB="45720" anchor="ctr">
                    <a:solidFill>
                      <a:srgbClr val="0F1E35"/>
                    </a:solidFill>
                  </a:tcPr>
                </a:tc>
                <a:tc>
                  <a:txBody>
                    <a:bodyPr wrap="square"/>
                    <a:lstStyle/>
                    <a:p>
                      <a:r>
                        <a:rPr sz="1200" b="0">
                          <a:solidFill>
                            <a:srgbClr val="FFFFFF"/>
                          </a:solidFill>
                          <a:latin typeface="Inter"/>
                        </a:rPr>
                        <a:t>No: export and re-import</a:t>
                      </a:r>
                    </a:p>
                  </a:txBody>
                  <a:tcPr marL="91440" marR="91440" marT="45720" marB="45720" anchor="ctr">
                    <a:solidFill>
                      <a:srgbClr val="0F1E35"/>
                    </a:solidFill>
                  </a:tcPr>
                </a:tc>
              </a:tr>
              <a:tr h="384048">
                <a:tc>
                  <a:txBody>
                    <a:bodyPr wrap="square"/>
                    <a:lstStyle/>
                    <a:p>
                      <a:r>
                        <a:rPr sz="1200" b="1">
                          <a:solidFill>
                            <a:srgbClr val="FFFFFF"/>
                          </a:solidFill>
                          <a:latin typeface="Inter"/>
                        </a:rPr>
                        <a:t>Metrics and Grafana</a:t>
                      </a:r>
                    </a:p>
                  </a:txBody>
                  <a:tcPr marL="91440" marR="91440" marT="45720" marB="45720" anchor="ctr">
                    <a:solidFill>
                      <a:srgbClr val="1A2742"/>
                    </a:solidFill>
                  </a:tcPr>
                </a:tc>
                <a:tc>
                  <a:txBody>
                    <a:bodyPr wrap="square"/>
                    <a:lstStyle/>
                    <a:p>
                      <a:r>
                        <a:rPr sz="1104" b="0">
                          <a:solidFill>
                            <a:srgbClr val="00D4AA"/>
                          </a:solidFill>
                          <a:latin typeface="JetBrains Mono"/>
                        </a:rPr>
                        <a:t>telemetry/metrics.py</a:t>
                      </a:r>
                      <a:r>
                        <a:rPr sz="1200" b="0">
                          <a:solidFill>
                            <a:srgbClr val="FFFFFF"/>
                          </a:solidFill>
                          <a:latin typeface="Inter"/>
                        </a:rPr>
                        <a:t>, </a:t>
                      </a:r>
                      <a:r>
                        <a:rPr sz="1104" b="0">
                          <a:solidFill>
                            <a:srgbClr val="00D4AA"/>
                          </a:solidFill>
                          <a:latin typeface="JetBrains Mono"/>
                        </a:rPr>
                        <a:t>deploy/grafana/</a:t>
                      </a:r>
                    </a:p>
                  </a:txBody>
                  <a:tcPr marL="91440" marR="91440" marT="45720" marB="45720" anchor="ctr">
                    <a:solidFill>
                      <a:srgbClr val="1A2742"/>
                    </a:solidFill>
                  </a:tcPr>
                </a:tc>
                <a:tc>
                  <a:txBody>
                    <a:bodyPr wrap="square"/>
                    <a:lstStyle/>
                    <a:p>
                      <a:r>
                        <a:rPr sz="1200" b="0">
                          <a:solidFill>
                            <a:srgbClr val="FFFFFF"/>
                          </a:solidFill>
                          <a:latin typeface="Inter"/>
                        </a:rPr>
                        <a:t>Yes, untouched</a:t>
                      </a:r>
                    </a:p>
                  </a:txBody>
                  <a:tcPr marL="91440" marR="91440" marT="45720" marB="45720" anchor="ctr">
                    <a:solidFill>
                      <a:srgbClr val="1A2742"/>
                    </a:solidFill>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12 · Lecture 12.1</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The escape hatch: the Collector</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260"/>
              </a:spcAft>
              <a:buClr>
                <a:srgbClr val="00D4AA"/>
              </a:buClr>
              <a:buFont typeface="Inter"/>
              <a:buChar char="•"/>
            </a:pPr>
            <a:r>
              <a:rPr sz="1800" b="0">
                <a:solidFill>
                  <a:srgbClr val="FFFFFF"/>
                </a:solidFill>
                <a:latin typeface="Inter"/>
              </a:rPr>
              <a:t>Atlas → OTLP → OTel Collector → exporter A (Langfuse) and exporter B (new backend)</a:t>
            </a:r>
          </a:p>
          <a:p>
            <a:pPr marL="292608" indent="-292608">
              <a:lnSpc>
                <a:spcPct val="120000"/>
              </a:lnSpc>
              <a:spcAft>
                <a:spcPts val="1260"/>
              </a:spcAft>
              <a:buClr>
                <a:srgbClr val="00D4AA"/>
              </a:buClr>
              <a:buFont typeface="Inter"/>
              <a:buChar char="•"/>
            </a:pPr>
            <a:r>
              <a:rPr sz="1800" b="0">
                <a:solidFill>
                  <a:srgbClr val="FFFFFF"/>
                </a:solidFill>
                <a:latin typeface="Inter"/>
              </a:rPr>
              <a:t>Run both for two weeks; compare; then remove A</a:t>
            </a:r>
          </a:p>
          <a:p>
            <a:pPr marL="292608" indent="-292608">
              <a:lnSpc>
                <a:spcPct val="120000"/>
              </a:lnSpc>
              <a:spcAft>
                <a:spcPts val="1260"/>
              </a:spcAft>
              <a:buClr>
                <a:srgbClr val="00D4AA"/>
              </a:buClr>
              <a:buFont typeface="Inter"/>
              <a:buChar char="•"/>
            </a:pPr>
            <a:r>
              <a:rPr sz="1800" b="0">
                <a:solidFill>
                  <a:srgbClr val="FFFFFF"/>
                </a:solidFill>
                <a:latin typeface="Inter"/>
              </a:rPr>
              <a:t>The Collector also masks, samples and batches, once, for every backend</a:t>
            </a:r>
          </a:p>
          <a:p>
            <a:pPr marL="292608" indent="-292608">
              <a:lnSpc>
                <a:spcPct val="120000"/>
              </a:lnSpc>
              <a:spcAft>
                <a:spcPts val="1260"/>
              </a:spcAft>
              <a:buClr>
                <a:srgbClr val="00D4AA"/>
              </a:buClr>
              <a:buFont typeface="Inter"/>
              <a:buChar char="•"/>
            </a:pPr>
            <a:r>
              <a:rPr sz="1800" b="0">
                <a:solidFill>
                  <a:srgbClr val="FFFFFF"/>
                </a:solidFill>
                <a:latin typeface="Inter"/>
              </a:rPr>
              <a:t>Full config in Lecture 13.2</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12 · Lecture 12.1</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Rules that keep you portable</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260"/>
              </a:spcAft>
              <a:buClr>
                <a:srgbClr val="00D4AA"/>
              </a:buClr>
              <a:buFont typeface="Inter"/>
              <a:buChar char="•"/>
            </a:pPr>
            <a:r>
              <a:rPr sz="1800" b="0">
                <a:solidFill>
                  <a:srgbClr val="FFFFFF"/>
                </a:solidFill>
                <a:latin typeface="Inter"/>
              </a:rPr>
              <a:t>Compute in your code, then write to the backend: cost, tokens, latency</a:t>
            </a:r>
          </a:p>
          <a:p>
            <a:pPr marL="292608" indent="-292608">
              <a:lnSpc>
                <a:spcPct val="120000"/>
              </a:lnSpc>
              <a:spcAft>
                <a:spcPts val="1260"/>
              </a:spcAft>
              <a:buClr>
                <a:srgbClr val="00D4AA"/>
              </a:buClr>
              <a:buFont typeface="Inter"/>
              <a:buChar char="•"/>
            </a:pPr>
            <a:r>
              <a:rPr sz="1800" b="0">
                <a:solidFill>
                  <a:srgbClr val="FFFFFF"/>
                </a:solidFill>
                <a:latin typeface="Inter"/>
              </a:rPr>
              <a:t>Set standard attributes first, vendor fields second</a:t>
            </a:r>
          </a:p>
          <a:p>
            <a:pPr marL="292608" indent="-292608">
              <a:lnSpc>
                <a:spcPct val="120000"/>
              </a:lnSpc>
              <a:spcAft>
                <a:spcPts val="1260"/>
              </a:spcAft>
              <a:buClr>
                <a:srgbClr val="00D4AA"/>
              </a:buClr>
              <a:buFont typeface="Inter"/>
              <a:buChar char="•"/>
            </a:pPr>
            <a:r>
              <a:rPr sz="1800" b="0">
                <a:solidFill>
                  <a:srgbClr val="FFFFFF"/>
                </a:solidFill>
                <a:latin typeface="Inter"/>
              </a:rPr>
              <a:t>Put every vendor SDK call behind one function in </a:t>
            </a:r>
            <a:r>
              <a:rPr sz="1656" b="0">
                <a:solidFill>
                  <a:srgbClr val="00D4AA"/>
                </a:solidFill>
                <a:latin typeface="JetBrains Mono"/>
              </a:rPr>
              <a:t>telemetry/</a:t>
            </a:r>
          </a:p>
          <a:p>
            <a:pPr marL="292608" indent="-292608">
              <a:lnSpc>
                <a:spcPct val="120000"/>
              </a:lnSpc>
              <a:spcAft>
                <a:spcPts val="1260"/>
              </a:spcAft>
              <a:buClr>
                <a:srgbClr val="00D4AA"/>
              </a:buClr>
              <a:buFont typeface="Inter"/>
              <a:buChar char="•"/>
            </a:pPr>
            <a:r>
              <a:rPr sz="1800" b="0">
                <a:solidFill>
                  <a:srgbClr val="FFFFFF"/>
                </a:solidFill>
                <a:latin typeface="Inter"/>
              </a:rPr>
              <a:t>Export prompts and datasets to files in your repo on a schedule</a:t>
            </a:r>
          </a:p>
          <a:p>
            <a:pPr marL="292608" indent="-292608">
              <a:lnSpc>
                <a:spcPct val="120000"/>
              </a:lnSpc>
              <a:spcAft>
                <a:spcPts val="1260"/>
              </a:spcAft>
              <a:buClr>
                <a:srgbClr val="00D4AA"/>
              </a:buClr>
              <a:buFont typeface="Inter"/>
              <a:buChar char="•"/>
            </a:pPr>
            <a:r>
              <a:rPr sz="1800" b="0">
                <a:solidFill>
                  <a:srgbClr val="FFFFFF"/>
                </a:solidFill>
                <a:latin typeface="Inter"/>
              </a:rPr>
              <a:t>Keep dashboards as code where the backend allows it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12 · Lecture 12.1</a:t>
            </a:r>
          </a:p>
        </p:txBody>
      </p:sp>
      <p:sp>
        <p:nvSpPr>
          <p:cNvPr id="3" name="TextBox 2"/>
          <p:cNvSpPr txBox="1"/>
          <p:nvPr/>
        </p:nvSpPr>
        <p:spPr>
          <a:xfrm>
            <a:off x="1371600" y="822960"/>
            <a:ext cx="9418320" cy="457200"/>
          </a:xfrm>
          <a:prstGeom prst="rect">
            <a:avLst/>
          </a:prstGeom>
          <a:noFill/>
        </p:spPr>
        <p:txBody>
          <a:bodyPr wrap="square" lIns="45720" rIns="45720" tIns="27432" bIns="27432" anchor="t">
            <a:spAutoFit/>
          </a:bodyPr>
          <a:lstStyle/>
          <a:p>
            <a:pPr algn="ctr"/>
            <a:r>
              <a:rPr sz="1200" b="1">
                <a:solidFill>
                  <a:srgbClr val="00D4AA"/>
                </a:solidFill>
                <a:latin typeface="Inter"/>
              </a:rPr>
              <a:t>RECAP</a:t>
            </a:r>
          </a:p>
        </p:txBody>
      </p:sp>
      <p:sp>
        <p:nvSpPr>
          <p:cNvPr id="4" name="TextBox 3"/>
          <p:cNvSpPr txBox="1"/>
          <p:nvPr/>
        </p:nvSpPr>
        <p:spPr>
          <a:xfrm>
            <a:off x="1371600" y="1234440"/>
            <a:ext cx="9418320" cy="822960"/>
          </a:xfrm>
          <a:prstGeom prst="rect">
            <a:avLst/>
          </a:prstGeom>
          <a:noFill/>
        </p:spPr>
        <p:txBody>
          <a:bodyPr wrap="square" lIns="45720" rIns="45720" tIns="27432" bIns="27432" anchor="t">
            <a:spAutoFit/>
          </a:bodyPr>
          <a:lstStyle/>
          <a:p>
            <a:pPr algn="ctr"/>
            <a:r>
              <a:rPr sz="2600" b="1">
                <a:solidFill>
                  <a:srgbClr val="FFFFFF"/>
                </a:solidFill>
                <a:latin typeface="Inter"/>
              </a:rPr>
              <a:t>Key takeaways</a:t>
            </a:r>
          </a:p>
        </p:txBody>
      </p:sp>
      <p:sp>
        <p:nvSpPr>
          <p:cNvPr id="5" name="Rounded Rectangle 4"/>
          <p:cNvSpPr/>
          <p:nvPr/>
        </p:nvSpPr>
        <p:spPr>
          <a:xfrm>
            <a:off x="2011680" y="251460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2194560" y="251460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7" name="TextBox 6"/>
          <p:cNvSpPr txBox="1"/>
          <p:nvPr/>
        </p:nvSpPr>
        <p:spPr>
          <a:xfrm>
            <a:off x="2788920" y="2514600"/>
            <a:ext cx="7223760" cy="777240"/>
          </a:xfrm>
          <a:prstGeom prst="rect">
            <a:avLst/>
          </a:prstGeom>
          <a:noFill/>
        </p:spPr>
        <p:txBody>
          <a:bodyPr wrap="square" lIns="45720" rIns="45720" tIns="27432" bIns="27432" anchor="ctr">
            <a:spAutoFit/>
          </a:bodyPr>
          <a:lstStyle/>
          <a:p>
            <a:r>
              <a:rPr sz="1800" b="1">
                <a:solidFill>
                  <a:srgbClr val="FFFFFF"/>
                </a:solidFill>
                <a:latin typeface="Inter"/>
              </a:rPr>
              <a:t>Spans and GenAI attributes move over OTLP</a:t>
            </a:r>
          </a:p>
        </p:txBody>
      </p:sp>
      <p:sp>
        <p:nvSpPr>
          <p:cNvPr id="8" name="Rounded Rectangle 7"/>
          <p:cNvSpPr/>
          <p:nvPr/>
        </p:nvSpPr>
        <p:spPr>
          <a:xfrm>
            <a:off x="2011680" y="347472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194560" y="347472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0" name="TextBox 9"/>
          <p:cNvSpPr txBox="1"/>
          <p:nvPr/>
        </p:nvSpPr>
        <p:spPr>
          <a:xfrm>
            <a:off x="2788920" y="3474720"/>
            <a:ext cx="7223760" cy="777240"/>
          </a:xfrm>
          <a:prstGeom prst="rect">
            <a:avLst/>
          </a:prstGeom>
          <a:noFill/>
        </p:spPr>
        <p:txBody>
          <a:bodyPr wrap="square" lIns="45720" rIns="45720" tIns="27432" bIns="27432" anchor="ctr">
            <a:spAutoFit/>
          </a:bodyPr>
          <a:lstStyle/>
          <a:p>
            <a:r>
              <a:rPr sz="1800" b="1">
                <a:solidFill>
                  <a:srgbClr val="FFFFFF"/>
                </a:solidFill>
                <a:latin typeface="Inter"/>
              </a:rPr>
              <a:t>Scores, prompts, datasets, dashboards stay behind</a:t>
            </a:r>
          </a:p>
        </p:txBody>
      </p:sp>
      <p:sp>
        <p:nvSpPr>
          <p:cNvPr id="11" name="Rounded Rectangle 10"/>
          <p:cNvSpPr/>
          <p:nvPr/>
        </p:nvSpPr>
        <p:spPr>
          <a:xfrm>
            <a:off x="2011680" y="443484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194560" y="443484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3" name="TextBox 12"/>
          <p:cNvSpPr txBox="1"/>
          <p:nvPr/>
        </p:nvSpPr>
        <p:spPr>
          <a:xfrm>
            <a:off x="2788920" y="4434840"/>
            <a:ext cx="7223760" cy="777240"/>
          </a:xfrm>
          <a:prstGeom prst="rect">
            <a:avLst/>
          </a:prstGeom>
          <a:noFill/>
        </p:spPr>
        <p:txBody>
          <a:bodyPr wrap="square" lIns="45720" rIns="45720" tIns="27432" bIns="27432" anchor="ctr">
            <a:spAutoFit/>
          </a:bodyPr>
          <a:lstStyle/>
          <a:p>
            <a:r>
              <a:rPr sz="1800" b="1">
                <a:solidFill>
                  <a:srgbClr val="FFFFFF"/>
                </a:solidFill>
                <a:latin typeface="Inter"/>
              </a:rPr>
              <a:t>Four files import the vendor module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12 · Lecture 12.1</a:t>
            </a:r>
          </a:p>
        </p:txBody>
      </p:sp>
      <p:sp>
        <p:nvSpPr>
          <p:cNvPr id="3" name="TextBox 2"/>
          <p:cNvSpPr txBox="1"/>
          <p:nvPr/>
        </p:nvSpPr>
        <p:spPr>
          <a:xfrm>
            <a:off x="2377440" y="2286000"/>
            <a:ext cx="1097280" cy="1097280"/>
          </a:xfrm>
          <a:prstGeom prst="rect">
            <a:avLst/>
          </a:prstGeom>
          <a:noFill/>
        </p:spPr>
        <p:txBody>
          <a:bodyPr wrap="square" lIns="45720" rIns="45720" tIns="27432" bIns="27432" anchor="ctr">
            <a:spAutoFit/>
          </a:bodyPr>
          <a:lstStyle/>
          <a:p>
            <a:r>
              <a:rPr sz="5400" b="1">
                <a:solidFill>
                  <a:srgbClr val="00D4AA"/>
                </a:solidFill>
                <a:latin typeface="Inter"/>
              </a:rPr>
              <a:t>→</a:t>
            </a:r>
          </a:p>
        </p:txBody>
      </p:sp>
      <p:sp>
        <p:nvSpPr>
          <p:cNvPr id="4" name="TextBox 3"/>
          <p:cNvSpPr txBox="1"/>
          <p:nvPr/>
        </p:nvSpPr>
        <p:spPr>
          <a:xfrm>
            <a:off x="3566160" y="2148840"/>
            <a:ext cx="7315200" cy="457200"/>
          </a:xfrm>
          <a:prstGeom prst="rect">
            <a:avLst/>
          </a:prstGeom>
          <a:noFill/>
        </p:spPr>
        <p:txBody>
          <a:bodyPr wrap="square" lIns="45720" rIns="45720" tIns="27432" bIns="27432" anchor="t">
            <a:spAutoFit/>
          </a:bodyPr>
          <a:lstStyle/>
          <a:p>
            <a:r>
              <a:rPr sz="1400" b="0">
                <a:solidFill>
                  <a:srgbClr val="94A3B8"/>
                </a:solidFill>
                <a:latin typeface="Inter"/>
              </a:rPr>
              <a:t>Next up:</a:t>
            </a:r>
          </a:p>
        </p:txBody>
      </p:sp>
      <p:sp>
        <p:nvSpPr>
          <p:cNvPr id="5" name="TextBox 4"/>
          <p:cNvSpPr txBox="1"/>
          <p:nvPr/>
        </p:nvSpPr>
        <p:spPr>
          <a:xfrm>
            <a:off x="3566160" y="2560320"/>
            <a:ext cx="7315200" cy="1097280"/>
          </a:xfrm>
          <a:prstGeom prst="rect">
            <a:avLst/>
          </a:prstGeom>
          <a:noFill/>
        </p:spPr>
        <p:txBody>
          <a:bodyPr wrap="square" lIns="45720" rIns="45720" tIns="27432" bIns="27432" anchor="t">
            <a:spAutoFit/>
          </a:bodyPr>
          <a:lstStyle/>
          <a:p>
            <a:r>
              <a:rPr sz="2600" b="1">
                <a:solidFill>
                  <a:srgbClr val="FFFFFF"/>
                </a:solidFill>
                <a:latin typeface="Inter"/>
              </a:rPr>
              <a:t>Code-along: same Atlas, traced to LangSmith</a:t>
            </a:r>
          </a:p>
        </p:txBody>
      </p:sp>
      <p:sp>
        <p:nvSpPr>
          <p:cNvPr id="6" name="TextBox 5"/>
          <p:cNvSpPr txBox="1"/>
          <p:nvPr/>
        </p:nvSpPr>
        <p:spPr>
          <a:xfrm>
            <a:off x="3566160" y="3703320"/>
            <a:ext cx="7315200" cy="1097280"/>
          </a:xfrm>
          <a:prstGeom prst="rect">
            <a:avLst/>
          </a:prstGeom>
          <a:noFill/>
        </p:spPr>
        <p:txBody>
          <a:bodyPr wrap="square" lIns="45720" rIns="45720" tIns="27432" bIns="27432" anchor="t">
            <a:spAutoFit/>
          </a:bodyPr>
          <a:lstStyle/>
          <a:p>
            <a:r>
              <a:rPr sz="1400" b="0">
                <a:solidFill>
                  <a:srgbClr val="94A3B8"/>
                </a:solidFill>
                <a:latin typeface="Inter"/>
              </a:rPr>
              <a:t>Next, the same Atlas traced to LangSmith with </a:t>
            </a:r>
            <a:r>
              <a:rPr sz="1288" b="0">
                <a:solidFill>
                  <a:srgbClr val="00D4AA"/>
                </a:solidFill>
                <a:latin typeface="JetBrains Mono"/>
              </a:rPr>
              <a:t>traceable</a:t>
            </a:r>
            <a:r>
              <a:rPr sz="1400" b="0">
                <a:solidFill>
                  <a:srgbClr val="94A3B8"/>
                </a:solidFill>
                <a:latin typeface="Inter"/>
              </a:rPr>
              <a:t> and </a:t>
            </a:r>
            <a:r>
              <a:rPr sz="1288" b="0">
                <a:solidFill>
                  <a:srgbClr val="00D4AA"/>
                </a:solidFill>
                <a:latin typeface="JetBrains Mono"/>
              </a:rPr>
              <a:t>wrap_openai</a:t>
            </a:r>
            <a:r>
              <a:rPr sz="1400" b="0">
                <a:solidFill>
                  <a:srgbClr val="94A3B8"/>
                </a:solidFill>
                <a:latin typeface="Inter"/>
              </a:rPr>
              <a:t>, and what changes when you get there.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12 · Lecture 12.2</a:t>
            </a:r>
          </a:p>
        </p:txBody>
      </p:sp>
      <p:sp>
        <p:nvSpPr>
          <p:cNvPr id="3" name="TextBox 2"/>
          <p:cNvSpPr txBox="1"/>
          <p:nvPr/>
        </p:nvSpPr>
        <p:spPr>
          <a:xfrm>
            <a:off x="6675120" y="320040"/>
            <a:ext cx="5074920" cy="548640"/>
          </a:xfrm>
          <a:prstGeom prst="rect">
            <a:avLst/>
          </a:prstGeom>
          <a:noFill/>
        </p:spPr>
        <p:txBody>
          <a:bodyPr wrap="square" lIns="45720" rIns="45720" tIns="27432" bIns="27432" anchor="t">
            <a:spAutoFit/>
          </a:bodyPr>
          <a:lstStyle/>
          <a:p>
            <a:pPr algn="r"/>
            <a:r>
              <a:rPr sz="1000" b="0">
                <a:solidFill>
                  <a:srgbClr val="94A3B8"/>
                </a:solidFill>
                <a:latin typeface="Inter"/>
              </a:rPr>
              <a:t>SECTION 12 · PORTABILITY AND ALTERNATIVES</a:t>
            </a:r>
          </a:p>
        </p:txBody>
      </p:sp>
      <p:sp>
        <p:nvSpPr>
          <p:cNvPr id="4" name="TextBox 3"/>
          <p:cNvSpPr txBox="1"/>
          <p:nvPr/>
        </p:nvSpPr>
        <p:spPr>
          <a:xfrm>
            <a:off x="914400" y="1417320"/>
            <a:ext cx="10332720" cy="457200"/>
          </a:xfrm>
          <a:prstGeom prst="rect">
            <a:avLst/>
          </a:prstGeom>
          <a:noFill/>
        </p:spPr>
        <p:txBody>
          <a:bodyPr wrap="square" lIns="45720" rIns="45720" tIns="27432" bIns="27432" anchor="t">
            <a:spAutoFit/>
          </a:bodyPr>
          <a:lstStyle/>
          <a:p>
            <a:r>
              <a:rPr sz="1200" b="1">
                <a:solidFill>
                  <a:srgbClr val="00D4AA"/>
                </a:solidFill>
                <a:latin typeface="Inter"/>
              </a:rPr>
              <a:t>LECTURE 12.2</a:t>
            </a:r>
          </a:p>
        </p:txBody>
      </p:sp>
      <p:sp>
        <p:nvSpPr>
          <p:cNvPr id="5" name="TextBox 4"/>
          <p:cNvSpPr txBox="1"/>
          <p:nvPr/>
        </p:nvSpPr>
        <p:spPr>
          <a:xfrm>
            <a:off x="914400" y="1874519"/>
            <a:ext cx="10332720" cy="1645920"/>
          </a:xfrm>
          <a:prstGeom prst="rect">
            <a:avLst/>
          </a:prstGeom>
          <a:noFill/>
        </p:spPr>
        <p:txBody>
          <a:bodyPr wrap="square" lIns="45720" rIns="45720" tIns="27432" bIns="27432" anchor="t">
            <a:spAutoFit/>
          </a:bodyPr>
          <a:lstStyle/>
          <a:p>
            <a:pPr>
              <a:lnSpc>
                <a:spcPct val="110000"/>
              </a:lnSpc>
            </a:pPr>
            <a:r>
              <a:rPr sz="3000" b="1">
                <a:solidFill>
                  <a:srgbClr val="FFFFFF"/>
                </a:solidFill>
                <a:latin typeface="Inter"/>
              </a:rPr>
              <a:t>Code-along: same Atlas, traced to LangSmith</a:t>
            </a:r>
          </a:p>
        </p:txBody>
      </p:sp>
      <p:sp>
        <p:nvSpPr>
          <p:cNvPr id="6" name="Rectangle 5"/>
          <p:cNvSpPr/>
          <p:nvPr/>
        </p:nvSpPr>
        <p:spPr>
          <a:xfrm>
            <a:off x="914400" y="3794760"/>
            <a:ext cx="64008" cy="114300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88720" y="3749039"/>
            <a:ext cx="9692640" cy="1280160"/>
          </a:xfrm>
          <a:prstGeom prst="rect">
            <a:avLst/>
          </a:prstGeom>
          <a:noFill/>
        </p:spPr>
        <p:txBody>
          <a:bodyPr wrap="square" lIns="45720" rIns="45720" tIns="27432" bIns="27432" anchor="ctr">
            <a:spAutoFit/>
          </a:bodyPr>
          <a:lstStyle/>
          <a:p>
            <a:pPr>
              <a:lnSpc>
                <a:spcPct val="130000"/>
              </a:lnSpc>
            </a:pPr>
            <a:r>
              <a:rPr sz="1600" b="0">
                <a:solidFill>
                  <a:srgbClr val="CBD5E1"/>
                </a:solidFill>
                <a:latin typeface="Inter"/>
              </a:rPr>
              <a:t>Trace Atlas to LangSmith with </a:t>
            </a:r>
            <a:r>
              <a:rPr sz="1472" b="0">
                <a:solidFill>
                  <a:srgbClr val="00D4AA"/>
                </a:solidFill>
                <a:latin typeface="JetBrains Mono"/>
              </a:rPr>
              <a:t>wrap_openai</a:t>
            </a:r>
            <a:r>
              <a:rPr sz="1600" b="0">
                <a:solidFill>
                  <a:srgbClr val="CBD5E1"/>
                </a:solidFill>
                <a:latin typeface="Inter"/>
              </a:rPr>
              <a:t> (shipped) and </a:t>
            </a:r>
            <a:r>
              <a:rPr sz="1472" b="0">
                <a:solidFill>
                  <a:srgbClr val="00D4AA"/>
                </a:solidFill>
                <a:latin typeface="JetBrains Mono"/>
              </a:rPr>
              <a:t>@traceable</a:t>
            </a:r>
            <a:r>
              <a:rPr sz="1600" b="0">
                <a:solidFill>
                  <a:srgbClr val="CBD5E1"/>
                </a:solidFill>
                <a:latin typeface="Inter"/>
              </a:rPr>
              <a:t> run types (your addition), with tenant and session metadata.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12 · Lecture 12.2</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LangSmith run types</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024" b="0">
                <a:solidFill>
                  <a:srgbClr val="00D4AA"/>
                </a:solidFill>
                <a:latin typeface="JetBrains Mono"/>
              </a:rPr>
              <a:t>chain</a:t>
            </a:r>
            <a:r>
              <a:rPr sz="2200" b="0">
                <a:solidFill>
                  <a:srgbClr val="FFFFFF"/>
                </a:solidFill>
                <a:latin typeface="Inter"/>
              </a:rPr>
              <a:t>, </a:t>
            </a:r>
            <a:r>
              <a:rPr sz="2024" b="0">
                <a:solidFill>
                  <a:srgbClr val="00D4AA"/>
                </a:solidFill>
                <a:latin typeface="JetBrains Mono"/>
              </a:rPr>
              <a:t>llm</a:t>
            </a:r>
            <a:r>
              <a:rPr sz="2200" b="0">
                <a:solidFill>
                  <a:srgbClr val="FFFFFF"/>
                </a:solidFill>
                <a:latin typeface="Inter"/>
              </a:rPr>
              <a:t>, </a:t>
            </a:r>
            <a:r>
              <a:rPr sz="2024" b="0">
                <a:solidFill>
                  <a:srgbClr val="00D4AA"/>
                </a:solidFill>
                <a:latin typeface="JetBrains Mono"/>
              </a:rPr>
              <a:t>tool</a:t>
            </a:r>
            <a:r>
              <a:rPr sz="2200" b="0">
                <a:solidFill>
                  <a:srgbClr val="FFFFFF"/>
                </a:solidFill>
                <a:latin typeface="Inter"/>
              </a:rPr>
              <a:t>, </a:t>
            </a:r>
            <a:r>
              <a:rPr sz="2024" b="0">
                <a:solidFill>
                  <a:srgbClr val="00D4AA"/>
                </a:solidFill>
                <a:latin typeface="JetBrains Mono"/>
              </a:rPr>
              <a:t>retriever</a:t>
            </a:r>
            <a:r>
              <a:rPr sz="2200" b="0">
                <a:solidFill>
                  <a:srgbClr val="FFFFFF"/>
                </a:solidFill>
                <a:latin typeface="Inter"/>
              </a:rPr>
              <a:t>, </a:t>
            </a:r>
            <a:r>
              <a:rPr sz="2024" b="0">
                <a:solidFill>
                  <a:srgbClr val="00D4AA"/>
                </a:solidFill>
                <a:latin typeface="JetBrains Mono"/>
              </a:rPr>
              <a:t>embedding</a:t>
            </a:r>
            <a:r>
              <a:rPr sz="2200" b="0">
                <a:solidFill>
                  <a:srgbClr val="FFFFFF"/>
                </a:solidFill>
                <a:latin typeface="Inter"/>
              </a:rPr>
              <a:t>, </a:t>
            </a:r>
            <a:r>
              <a:rPr sz="2024" b="0">
                <a:solidFill>
                  <a:srgbClr val="00D4AA"/>
                </a:solidFill>
                <a:latin typeface="JetBrains Mono"/>
              </a:rPr>
              <a:t>prompt</a:t>
            </a:r>
            <a:r>
              <a:rPr sz="2200" b="0">
                <a:solidFill>
                  <a:srgbClr val="FFFFFF"/>
                </a:solidFill>
                <a:latin typeface="Inter"/>
              </a:rPr>
              <a:t>, </a:t>
            </a:r>
            <a:r>
              <a:rPr sz="2024" b="0">
                <a:solidFill>
                  <a:srgbClr val="00D4AA"/>
                </a:solidFill>
                <a:latin typeface="JetBrains Mono"/>
              </a:rPr>
              <a:t>parser</a:t>
            </a:r>
          </a:p>
          <a:p>
            <a:pPr marL="292608" indent="-292608">
              <a:lnSpc>
                <a:spcPct val="120000"/>
              </a:lnSpc>
              <a:spcAft>
                <a:spcPts val="1539"/>
              </a:spcAft>
              <a:buClr>
                <a:srgbClr val="00D4AA"/>
              </a:buClr>
              <a:buFont typeface="Inter"/>
              <a:buChar char="•"/>
            </a:pPr>
            <a:r>
              <a:rPr sz="2200" b="0">
                <a:solidFill>
                  <a:srgbClr val="FFFFFF"/>
                </a:solidFill>
                <a:latin typeface="Inter"/>
              </a:rPr>
              <a:t>No </a:t>
            </a:r>
            <a:r>
              <a:rPr sz="2024" b="0">
                <a:solidFill>
                  <a:srgbClr val="00D4AA"/>
                </a:solidFill>
                <a:latin typeface="JetBrains Mono"/>
              </a:rPr>
              <a:t>agent</a:t>
            </a:r>
            <a:r>
              <a:rPr sz="2200" b="0">
                <a:solidFill>
                  <a:srgbClr val="FFFFFF"/>
                </a:solidFill>
                <a:latin typeface="Inter"/>
              </a:rPr>
              <a:t>, no </a:t>
            </a:r>
            <a:r>
              <a:rPr sz="2024" b="0">
                <a:solidFill>
                  <a:srgbClr val="00D4AA"/>
                </a:solidFill>
                <a:latin typeface="JetBrains Mono"/>
              </a:rPr>
              <a:t>guardrail</a:t>
            </a:r>
          </a:p>
          <a:p>
            <a:pPr marL="292608" indent="-292608">
              <a:lnSpc>
                <a:spcPct val="120000"/>
              </a:lnSpc>
              <a:spcAft>
                <a:spcPts val="1539"/>
              </a:spcAft>
              <a:buClr>
                <a:srgbClr val="00D4AA"/>
              </a:buClr>
              <a:buFont typeface="Inter"/>
              <a:buChar char="•"/>
            </a:pPr>
            <a:r>
              <a:rPr sz="2200" b="0">
                <a:solidFill>
                  <a:srgbClr val="FFFFFF"/>
                </a:solidFill>
                <a:latin typeface="Inter"/>
              </a:rPr>
              <a:t>Metadata at call time: </a:t>
            </a:r>
            <a:r>
              <a:rPr sz="2024" b="0">
                <a:solidFill>
                  <a:srgbClr val="00D4AA"/>
                </a:solidFill>
                <a:latin typeface="JetBrains Mono"/>
              </a:rPr>
              <a:t>langsmith_extra={"metadata":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12 · Lecture 12.2</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Four differences that change your code</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graphicFrame>
        <p:nvGraphicFramePr>
          <p:cNvPr id="5" name="Table 4"/>
          <p:cNvGraphicFramePr>
            <a:graphicFrameLocks noGrp="1"/>
          </p:cNvGraphicFramePr>
          <p:nvPr/>
        </p:nvGraphicFramePr>
        <p:xfrm>
          <a:off x="457200" y="1325880"/>
          <a:ext cx="11292838" cy="1920240"/>
        </p:xfrm>
        <a:graphic>
          <a:graphicData uri="http://schemas.openxmlformats.org/drawingml/2006/table">
            <a:tbl>
              <a:tblPr firstRow="1" bandRow="1">
                <a:tableStyleId>{5C22544A-7EE6-4342-B048-85BDC9FD1C3A}</a:tableStyleId>
              </a:tblPr>
              <a:tblGrid>
                <a:gridCol w="3373185"/>
                <a:gridCol w="4399807"/>
                <a:gridCol w="3519846"/>
              </a:tblGrid>
              <a:tr h="384048">
                <a:tc>
                  <a:txBody>
                    <a:bodyPr wrap="square"/>
                    <a:lstStyle/>
                    <a:p>
                      <a:r>
                        <a:rPr sz="1200" b="1">
                          <a:solidFill>
                            <a:srgbClr val="0A1628"/>
                          </a:solidFill>
                          <a:latin typeface="Inter"/>
                        </a:rPr>
                        <a:t>Langfuse</a:t>
                      </a:r>
                    </a:p>
                  </a:txBody>
                  <a:tcPr marL="91440" marR="91440" marT="45720" marB="45720" anchor="ctr">
                    <a:solidFill>
                      <a:srgbClr val="00D4AA"/>
                    </a:solidFill>
                  </a:tcPr>
                </a:tc>
                <a:tc>
                  <a:txBody>
                    <a:bodyPr wrap="square"/>
                    <a:lstStyle/>
                    <a:p>
                      <a:r>
                        <a:rPr sz="1200" b="1">
                          <a:solidFill>
                            <a:srgbClr val="0A1628"/>
                          </a:solidFill>
                          <a:latin typeface="Inter"/>
                        </a:rPr>
                        <a:t>LangSmith</a:t>
                      </a:r>
                    </a:p>
                  </a:txBody>
                  <a:tcPr marL="91440" marR="91440" marT="45720" marB="45720" anchor="ctr">
                    <a:solidFill>
                      <a:srgbClr val="00D4AA"/>
                    </a:solidFill>
                  </a:tcPr>
                </a:tc>
                <a:tc>
                  <a:txBody>
                    <a:bodyPr wrap="square"/>
                    <a:lstStyle/>
                    <a:p>
                      <a:r>
                        <a:rPr sz="1200" b="1">
                          <a:solidFill>
                            <a:srgbClr val="0A1628"/>
                          </a:solidFill>
                          <a:latin typeface="Inter"/>
                        </a:rPr>
                        <a:t>What you rebuild</a:t>
                      </a:r>
                    </a:p>
                  </a:txBody>
                  <a:tcPr marL="91440" marR="91440" marT="45720" marB="45720" anchor="ctr">
                    <a:solidFill>
                      <a:srgbClr val="00D4AA"/>
                    </a:solidFill>
                  </a:tcPr>
                </a:tc>
              </a:tr>
              <a:tr h="384048">
                <a:tc>
                  <a:txBody>
                    <a:bodyPr wrap="square"/>
                    <a:lstStyle/>
                    <a:p>
                      <a:r>
                        <a:rPr sz="1200" b="1">
                          <a:solidFill>
                            <a:srgbClr val="FFFFFF"/>
                          </a:solidFill>
                          <a:latin typeface="Inter"/>
                        </a:rPr>
                        <a:t>Observation types incl. </a:t>
                      </a:r>
                      <a:r>
                        <a:rPr sz="1104" b="0">
                          <a:solidFill>
                            <a:srgbClr val="00D4AA"/>
                          </a:solidFill>
                          <a:latin typeface="JetBrains Mono"/>
                        </a:rPr>
                        <a:t>agent</a:t>
                      </a:r>
                      <a:r>
                        <a:rPr sz="1200" b="1">
                          <a:solidFill>
                            <a:srgbClr val="FFFFFF"/>
                          </a:solidFill>
                          <a:latin typeface="Inter"/>
                        </a:rPr>
                        <a:t>, </a:t>
                      </a:r>
                      <a:r>
                        <a:rPr sz="1104" b="0">
                          <a:solidFill>
                            <a:srgbClr val="00D4AA"/>
                          </a:solidFill>
                          <a:latin typeface="JetBrains Mono"/>
                        </a:rPr>
                        <a:t>guardrail</a:t>
                      </a:r>
                    </a:p>
                  </a:txBody>
                  <a:tcPr marL="91440" marR="91440" marT="45720" marB="45720" anchor="ctr">
                    <a:solidFill>
                      <a:srgbClr val="1A2742"/>
                    </a:solidFill>
                  </a:tcPr>
                </a:tc>
                <a:tc>
                  <a:txBody>
                    <a:bodyPr wrap="square"/>
                    <a:lstStyle/>
                    <a:p>
                      <a:r>
                        <a:rPr sz="1200" b="0">
                          <a:solidFill>
                            <a:srgbClr val="FFFFFF"/>
                          </a:solidFill>
                          <a:latin typeface="Inter"/>
                        </a:rPr>
                        <a:t>Run types: </a:t>
                      </a:r>
                      <a:r>
                        <a:rPr sz="1104" b="0">
                          <a:solidFill>
                            <a:srgbClr val="00D4AA"/>
                          </a:solidFill>
                          <a:latin typeface="JetBrains Mono"/>
                        </a:rPr>
                        <a:t>chain</a:t>
                      </a:r>
                      <a:r>
                        <a:rPr sz="1200" b="0">
                          <a:solidFill>
                            <a:srgbClr val="FFFFFF"/>
                          </a:solidFill>
                          <a:latin typeface="Inter"/>
                        </a:rPr>
                        <a:t>, </a:t>
                      </a:r>
                      <a:r>
                        <a:rPr sz="1104" b="0">
                          <a:solidFill>
                            <a:srgbClr val="00D4AA"/>
                          </a:solidFill>
                          <a:latin typeface="JetBrains Mono"/>
                        </a:rPr>
                        <a:t>llm</a:t>
                      </a:r>
                      <a:r>
                        <a:rPr sz="1200" b="0">
                          <a:solidFill>
                            <a:srgbClr val="FFFFFF"/>
                          </a:solidFill>
                          <a:latin typeface="Inter"/>
                        </a:rPr>
                        <a:t>, </a:t>
                      </a:r>
                      <a:r>
                        <a:rPr sz="1104" b="0">
                          <a:solidFill>
                            <a:srgbClr val="00D4AA"/>
                          </a:solidFill>
                          <a:latin typeface="JetBrains Mono"/>
                        </a:rPr>
                        <a:t>tool</a:t>
                      </a:r>
                      <a:r>
                        <a:rPr sz="1200" b="0">
                          <a:solidFill>
                            <a:srgbClr val="FFFFFF"/>
                          </a:solidFill>
                          <a:latin typeface="Inter"/>
                        </a:rPr>
                        <a:t>, </a:t>
                      </a:r>
                      <a:r>
                        <a:rPr sz="1104" b="0">
                          <a:solidFill>
                            <a:srgbClr val="00D4AA"/>
                          </a:solidFill>
                          <a:latin typeface="JetBrains Mono"/>
                        </a:rPr>
                        <a:t>retriever</a:t>
                      </a:r>
                      <a:r>
                        <a:rPr sz="1200" b="0">
                          <a:solidFill>
                            <a:srgbClr val="FFFFFF"/>
                          </a:solidFill>
                          <a:latin typeface="Inter"/>
                        </a:rPr>
                        <a:t>, </a:t>
                      </a:r>
                      <a:r>
                        <a:rPr sz="1104" b="0">
                          <a:solidFill>
                            <a:srgbClr val="00D4AA"/>
                          </a:solidFill>
                          <a:latin typeface="JetBrains Mono"/>
                        </a:rPr>
                        <a:t>embedding</a:t>
                      </a:r>
                      <a:r>
                        <a:rPr sz="1200" b="0">
                          <a:solidFill>
                            <a:srgbClr val="FFFFFF"/>
                          </a:solidFill>
                          <a:latin typeface="Inter"/>
                        </a:rPr>
                        <a:t>, </a:t>
                      </a:r>
                      <a:r>
                        <a:rPr sz="1104" b="0">
                          <a:solidFill>
                            <a:srgbClr val="00D4AA"/>
                          </a:solidFill>
                          <a:latin typeface="JetBrains Mono"/>
                        </a:rPr>
                        <a:t>prompt</a:t>
                      </a:r>
                      <a:r>
                        <a:rPr sz="1200" b="0">
                          <a:solidFill>
                            <a:srgbClr val="FFFFFF"/>
                          </a:solidFill>
                          <a:latin typeface="Inter"/>
                        </a:rPr>
                        <a:t>, </a:t>
                      </a:r>
                      <a:r>
                        <a:rPr sz="1104" b="0">
                          <a:solidFill>
                            <a:srgbClr val="00D4AA"/>
                          </a:solidFill>
                          <a:latin typeface="JetBrains Mono"/>
                        </a:rPr>
                        <a:t>parser</a:t>
                      </a:r>
                    </a:p>
                  </a:txBody>
                  <a:tcPr marL="91440" marR="91440" marT="45720" marB="45720" anchor="ctr">
                    <a:solidFill>
                      <a:srgbClr val="1A2742"/>
                    </a:solidFill>
                  </a:tcPr>
                </a:tc>
                <a:tc>
                  <a:txBody>
                    <a:bodyPr wrap="square"/>
                    <a:lstStyle/>
                    <a:p>
                      <a:r>
                        <a:rPr sz="1200" b="0">
                          <a:solidFill>
                            <a:srgbClr val="FFFFFF"/>
                          </a:solidFill>
                          <a:latin typeface="Inter"/>
                        </a:rPr>
                        <a:t>Filters and dashboards keyed on type</a:t>
                      </a:r>
                    </a:p>
                  </a:txBody>
                  <a:tcPr marL="91440" marR="91440" marT="45720" marB="45720" anchor="ctr">
                    <a:solidFill>
                      <a:srgbClr val="1A2742"/>
                    </a:solidFill>
                  </a:tcPr>
                </a:tc>
              </a:tr>
              <a:tr h="384048">
                <a:tc>
                  <a:txBody>
                    <a:bodyPr wrap="square"/>
                    <a:lstStyle/>
                    <a:p>
                      <a:r>
                        <a:rPr sz="1104" b="0">
                          <a:solidFill>
                            <a:srgbClr val="00D4AA"/>
                          </a:solidFill>
                          <a:latin typeface="JetBrains Mono"/>
                        </a:rPr>
                        <a:t>create_score(trace_id, name, value)</a:t>
                      </a:r>
                    </a:p>
                  </a:txBody>
                  <a:tcPr marL="91440" marR="91440" marT="45720" marB="45720" anchor="ctr">
                    <a:solidFill>
                      <a:srgbClr val="0F1E35"/>
                    </a:solidFill>
                  </a:tcPr>
                </a:tc>
                <a:tc>
                  <a:txBody>
                    <a:bodyPr wrap="square"/>
                    <a:lstStyle/>
                    <a:p>
                      <a:r>
                        <a:rPr sz="1104" b="0">
                          <a:solidFill>
                            <a:srgbClr val="00D4AA"/>
                          </a:solidFill>
                          <a:latin typeface="JetBrains Mono"/>
                        </a:rPr>
                        <a:t>create_feedback(run_id, key, score)</a:t>
                      </a:r>
                    </a:p>
                  </a:txBody>
                  <a:tcPr marL="91440" marR="91440" marT="45720" marB="45720" anchor="ctr">
                    <a:solidFill>
                      <a:srgbClr val="0F1E35"/>
                    </a:solidFill>
                  </a:tcPr>
                </a:tc>
                <a:tc>
                  <a:txBody>
                    <a:bodyPr wrap="square"/>
                    <a:lstStyle/>
                    <a:p>
                      <a:r>
                        <a:rPr sz="1200" b="0">
                          <a:solidFill>
                            <a:srgbClr val="FFFFFF"/>
                          </a:solidFill>
                          <a:latin typeface="Inter"/>
                        </a:rPr>
                        <a:t>One function in </a:t>
                      </a:r>
                      <a:r>
                        <a:rPr sz="1104" b="0">
                          <a:solidFill>
                            <a:srgbClr val="00D4AA"/>
                          </a:solidFill>
                          <a:latin typeface="JetBrains Mono"/>
                        </a:rPr>
                        <a:t>evals/</a:t>
                      </a:r>
                    </a:p>
                  </a:txBody>
                  <a:tcPr marL="91440" marR="91440" marT="45720" marB="45720" anchor="ctr">
                    <a:solidFill>
                      <a:srgbClr val="0F1E35"/>
                    </a:solidFill>
                  </a:tcPr>
                </a:tc>
              </a:tr>
              <a:tr h="384048">
                <a:tc>
                  <a:txBody>
                    <a:bodyPr wrap="square"/>
                    <a:lstStyle/>
                    <a:p>
                      <a:r>
                        <a:rPr sz="1200" b="1">
                          <a:solidFill>
                            <a:srgbClr val="FFFFFF"/>
                          </a:solidFill>
                          <a:latin typeface="Inter"/>
                        </a:rPr>
                        <a:t>Sessions, users, tags via </a:t>
                      </a:r>
                      <a:r>
                        <a:rPr sz="1104" b="0">
                          <a:solidFill>
                            <a:srgbClr val="00D4AA"/>
                          </a:solidFill>
                          <a:latin typeface="JetBrains Mono"/>
                        </a:rPr>
                        <a:t>trace_attributes()</a:t>
                      </a:r>
                    </a:p>
                  </a:txBody>
                  <a:tcPr marL="91440" marR="91440" marT="45720" marB="45720" anchor="ctr">
                    <a:solidFill>
                      <a:srgbClr val="1A2742"/>
                    </a:solidFill>
                  </a:tcPr>
                </a:tc>
                <a:tc>
                  <a:txBody>
                    <a:bodyPr wrap="square"/>
                    <a:lstStyle/>
                    <a:p>
                      <a:r>
                        <a:rPr sz="1200" b="0">
                          <a:solidFill>
                            <a:srgbClr val="FFFFFF"/>
                          </a:solidFill>
                          <a:latin typeface="Inter"/>
                        </a:rPr>
                        <a:t>Metadata keys via </a:t>
                      </a:r>
                      <a:r>
                        <a:rPr sz="1104" b="0">
                          <a:solidFill>
                            <a:srgbClr val="00D4AA"/>
                          </a:solidFill>
                          <a:latin typeface="JetBrains Mono"/>
                        </a:rPr>
                        <a:t>langsmith_extra</a:t>
                      </a:r>
                      <a:r>
                        <a:rPr sz="1200" b="0">
                          <a:solidFill>
                            <a:srgbClr val="FFFFFF"/>
                          </a:solidFill>
                          <a:latin typeface="Inter"/>
                        </a:rPr>
                        <a:t>; threads via </a:t>
                      </a:r>
                      <a:r>
                        <a:rPr sz="1104" b="0">
                          <a:solidFill>
                            <a:srgbClr val="00D4AA"/>
                          </a:solidFill>
                          <a:latin typeface="JetBrains Mono"/>
                        </a:rPr>
                        <a:t>session_id</a:t>
                      </a:r>
                      <a:r>
                        <a:rPr sz="1200" b="0">
                          <a:solidFill>
                            <a:srgbClr val="FFFFFF"/>
                          </a:solidFill>
                          <a:latin typeface="Inter"/>
                        </a:rPr>
                        <a:t> metadata</a:t>
                      </a:r>
                    </a:p>
                  </a:txBody>
                  <a:tcPr marL="91440" marR="91440" marT="45720" marB="45720" anchor="ctr">
                    <a:solidFill>
                      <a:srgbClr val="1A2742"/>
                    </a:solidFill>
                  </a:tcPr>
                </a:tc>
                <a:tc>
                  <a:txBody>
                    <a:bodyPr wrap="square"/>
                    <a:lstStyle/>
                    <a:p>
                      <a:r>
                        <a:rPr sz="1200" b="0">
                          <a:solidFill>
                            <a:srgbClr val="FFFFFF"/>
                          </a:solidFill>
                          <a:latin typeface="Inter"/>
                        </a:rPr>
                        <a:t>Metadata mapping, one place</a:t>
                      </a:r>
                    </a:p>
                  </a:txBody>
                  <a:tcPr marL="91440" marR="91440" marT="45720" marB="45720" anchor="ctr">
                    <a:solidFill>
                      <a:srgbClr val="1A2742"/>
                    </a:solidFill>
                  </a:tcPr>
                </a:tc>
              </a:tr>
              <a:tr h="384048">
                <a:tc>
                  <a:txBody>
                    <a:bodyPr wrap="square"/>
                    <a:lstStyle/>
                    <a:p>
                      <a:r>
                        <a:rPr sz="1200" b="1">
                          <a:solidFill>
                            <a:srgbClr val="FFFFFF"/>
                          </a:solidFill>
                          <a:latin typeface="Inter"/>
                        </a:rPr>
                        <a:t>Prompt labels (</a:t>
                      </a:r>
                      <a:r>
                        <a:rPr sz="1104" b="0">
                          <a:solidFill>
                            <a:srgbClr val="00D4AA"/>
                          </a:solidFill>
                          <a:latin typeface="JetBrains Mono"/>
                        </a:rPr>
                        <a:t>production</a:t>
                      </a:r>
                      <a:r>
                        <a:rPr sz="1200" b="1">
                          <a:solidFill>
                            <a:srgbClr val="FFFFFF"/>
                          </a:solidFill>
                          <a:latin typeface="Inter"/>
                        </a:rPr>
                        <a:t>)</a:t>
                      </a:r>
                    </a:p>
                  </a:txBody>
                  <a:tcPr marL="91440" marR="91440" marT="45720" marB="45720" anchor="ctr">
                    <a:solidFill>
                      <a:srgbClr val="0F1E35"/>
                    </a:solidFill>
                  </a:tcPr>
                </a:tc>
                <a:tc>
                  <a:txBody>
                    <a:bodyPr wrap="square"/>
                    <a:lstStyle/>
                    <a:p>
                      <a:r>
                        <a:rPr sz="1200" b="0">
                          <a:solidFill>
                            <a:srgbClr val="FFFFFF"/>
                          </a:solidFill>
                          <a:latin typeface="Inter"/>
                        </a:rPr>
                        <a:t>LangSmith Prompt Hub with commits and tags</a:t>
                      </a:r>
                    </a:p>
                  </a:txBody>
                  <a:tcPr marL="91440" marR="91440" marT="45720" marB="45720" anchor="ctr">
                    <a:solidFill>
                      <a:srgbClr val="0F1E35"/>
                    </a:solidFill>
                  </a:tcPr>
                </a:tc>
                <a:tc>
                  <a:txBody>
                    <a:bodyPr wrap="square"/>
                    <a:lstStyle/>
                    <a:p>
                      <a:r>
                        <a:rPr sz="1104" b="0">
                          <a:solidFill>
                            <a:srgbClr val="00D4AA"/>
                          </a:solidFill>
                          <a:latin typeface="JetBrains Mono"/>
                        </a:rPr>
                        <a:t>get_prompt_text</a:t>
                      </a:r>
                      <a:r>
                        <a:rPr sz="1200" b="0">
                          <a:solidFill>
                            <a:srgbClr val="FFFFFF"/>
                          </a:solidFill>
                          <a:latin typeface="Inter"/>
                        </a:rPr>
                        <a:t> wrapper and the promotion gate</a:t>
                      </a:r>
                    </a:p>
                  </a:txBody>
                  <a:tcPr marL="91440" marR="91440" marT="45720" marB="45720" anchor="ctr">
                    <a:solidFill>
                      <a:srgbClr val="0F1E35"/>
                    </a:solidFill>
                  </a:tcPr>
                </a:tc>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12 · Lecture 12.2</a:t>
            </a:r>
          </a:p>
        </p:txBody>
      </p:sp>
      <p:sp>
        <p:nvSpPr>
          <p:cNvPr id="3" name="TextBox 2"/>
          <p:cNvSpPr txBox="1"/>
          <p:nvPr/>
        </p:nvSpPr>
        <p:spPr>
          <a:xfrm>
            <a:off x="1371600" y="822960"/>
            <a:ext cx="9418320" cy="457200"/>
          </a:xfrm>
          <a:prstGeom prst="rect">
            <a:avLst/>
          </a:prstGeom>
          <a:noFill/>
        </p:spPr>
        <p:txBody>
          <a:bodyPr wrap="square" lIns="45720" rIns="45720" tIns="27432" bIns="27432" anchor="t">
            <a:spAutoFit/>
          </a:bodyPr>
          <a:lstStyle/>
          <a:p>
            <a:pPr algn="ctr"/>
            <a:r>
              <a:rPr sz="1200" b="1">
                <a:solidFill>
                  <a:srgbClr val="00D4AA"/>
                </a:solidFill>
                <a:latin typeface="Inter"/>
              </a:rPr>
              <a:t>RECAP</a:t>
            </a:r>
          </a:p>
        </p:txBody>
      </p:sp>
      <p:sp>
        <p:nvSpPr>
          <p:cNvPr id="4" name="TextBox 3"/>
          <p:cNvSpPr txBox="1"/>
          <p:nvPr/>
        </p:nvSpPr>
        <p:spPr>
          <a:xfrm>
            <a:off x="1371600" y="1234440"/>
            <a:ext cx="9418320" cy="822960"/>
          </a:xfrm>
          <a:prstGeom prst="rect">
            <a:avLst/>
          </a:prstGeom>
          <a:noFill/>
        </p:spPr>
        <p:txBody>
          <a:bodyPr wrap="square" lIns="45720" rIns="45720" tIns="27432" bIns="27432" anchor="t">
            <a:spAutoFit/>
          </a:bodyPr>
          <a:lstStyle/>
          <a:p>
            <a:pPr algn="ctr"/>
            <a:r>
              <a:rPr sz="2600" b="1">
                <a:solidFill>
                  <a:srgbClr val="FFFFFF"/>
                </a:solidFill>
                <a:latin typeface="Inter"/>
              </a:rPr>
              <a:t>Key takeaways</a:t>
            </a:r>
          </a:p>
        </p:txBody>
      </p:sp>
      <p:sp>
        <p:nvSpPr>
          <p:cNvPr id="5" name="Rounded Rectangle 4"/>
          <p:cNvSpPr/>
          <p:nvPr/>
        </p:nvSpPr>
        <p:spPr>
          <a:xfrm>
            <a:off x="2011680" y="251460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2194560" y="251460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7" name="TextBox 6"/>
          <p:cNvSpPr txBox="1"/>
          <p:nvPr/>
        </p:nvSpPr>
        <p:spPr>
          <a:xfrm>
            <a:off x="2788920" y="2514600"/>
            <a:ext cx="7223760" cy="777240"/>
          </a:xfrm>
          <a:prstGeom prst="rect">
            <a:avLst/>
          </a:prstGeom>
          <a:noFill/>
        </p:spPr>
        <p:txBody>
          <a:bodyPr wrap="square" lIns="45720" rIns="45720" tIns="27432" bIns="27432" anchor="ctr">
            <a:spAutoFit/>
          </a:bodyPr>
          <a:lstStyle/>
          <a:p>
            <a:r>
              <a:rPr sz="1656" b="0">
                <a:solidFill>
                  <a:srgbClr val="00D4AA"/>
                </a:solidFill>
                <a:latin typeface="JetBrains Mono"/>
              </a:rPr>
              <a:t>wrap_openai</a:t>
            </a:r>
            <a:r>
              <a:rPr sz="1800" b="1">
                <a:solidFill>
                  <a:srgbClr val="FFFFFF"/>
                </a:solidFill>
                <a:latin typeface="Inter"/>
              </a:rPr>
              <a:t> ships; decorators are yours</a:t>
            </a:r>
          </a:p>
        </p:txBody>
      </p:sp>
      <p:sp>
        <p:nvSpPr>
          <p:cNvPr id="8" name="Rounded Rectangle 7"/>
          <p:cNvSpPr/>
          <p:nvPr/>
        </p:nvSpPr>
        <p:spPr>
          <a:xfrm>
            <a:off x="2011680" y="347472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194560" y="347472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0" name="TextBox 9"/>
          <p:cNvSpPr txBox="1"/>
          <p:nvPr/>
        </p:nvSpPr>
        <p:spPr>
          <a:xfrm>
            <a:off x="2788920" y="3474720"/>
            <a:ext cx="7223760" cy="777240"/>
          </a:xfrm>
          <a:prstGeom prst="rect">
            <a:avLst/>
          </a:prstGeom>
          <a:noFill/>
        </p:spPr>
        <p:txBody>
          <a:bodyPr wrap="square" lIns="45720" rIns="45720" tIns="27432" bIns="27432" anchor="ctr">
            <a:spAutoFit/>
          </a:bodyPr>
          <a:lstStyle/>
          <a:p>
            <a:r>
              <a:rPr sz="1656" b="0">
                <a:solidFill>
                  <a:srgbClr val="00D4AA"/>
                </a:solidFill>
                <a:latin typeface="JetBrains Mono"/>
              </a:rPr>
              <a:t>create_feedback</a:t>
            </a:r>
            <a:r>
              <a:rPr sz="1800" b="1">
                <a:solidFill>
                  <a:srgbClr val="FFFFFF"/>
                </a:solidFill>
                <a:latin typeface="Inter"/>
              </a:rPr>
              <a:t> replaces </a:t>
            </a:r>
            <a:r>
              <a:rPr sz="1656" b="0">
                <a:solidFill>
                  <a:srgbClr val="00D4AA"/>
                </a:solidFill>
                <a:latin typeface="JetBrains Mono"/>
              </a:rPr>
              <a:t>create_score</a:t>
            </a:r>
          </a:p>
        </p:txBody>
      </p:sp>
      <p:sp>
        <p:nvSpPr>
          <p:cNvPr id="11" name="Rounded Rectangle 10"/>
          <p:cNvSpPr/>
          <p:nvPr/>
        </p:nvSpPr>
        <p:spPr>
          <a:xfrm>
            <a:off x="2011680" y="443484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194560" y="443484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3" name="TextBox 12"/>
          <p:cNvSpPr txBox="1"/>
          <p:nvPr/>
        </p:nvSpPr>
        <p:spPr>
          <a:xfrm>
            <a:off x="2788920" y="4434840"/>
            <a:ext cx="7223760" cy="777240"/>
          </a:xfrm>
          <a:prstGeom prst="rect">
            <a:avLst/>
          </a:prstGeom>
          <a:noFill/>
        </p:spPr>
        <p:txBody>
          <a:bodyPr wrap="square" lIns="45720" rIns="45720" tIns="27432" bIns="27432" anchor="ctr">
            <a:spAutoFit/>
          </a:bodyPr>
          <a:lstStyle/>
          <a:p>
            <a:r>
              <a:rPr sz="1800" b="1">
                <a:solidFill>
                  <a:srgbClr val="FFFFFF"/>
                </a:solidFill>
                <a:latin typeface="Inter"/>
              </a:rPr>
              <a:t>Types, feedback, sessions, prompts differ</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12 · Lecture 12.2</a:t>
            </a:r>
          </a:p>
        </p:txBody>
      </p:sp>
      <p:sp>
        <p:nvSpPr>
          <p:cNvPr id="3" name="TextBox 2"/>
          <p:cNvSpPr txBox="1"/>
          <p:nvPr/>
        </p:nvSpPr>
        <p:spPr>
          <a:xfrm>
            <a:off x="2377440" y="2286000"/>
            <a:ext cx="1097280" cy="1097280"/>
          </a:xfrm>
          <a:prstGeom prst="rect">
            <a:avLst/>
          </a:prstGeom>
          <a:noFill/>
        </p:spPr>
        <p:txBody>
          <a:bodyPr wrap="square" lIns="45720" rIns="45720" tIns="27432" bIns="27432" anchor="ctr">
            <a:spAutoFit/>
          </a:bodyPr>
          <a:lstStyle/>
          <a:p>
            <a:r>
              <a:rPr sz="5400" b="1">
                <a:solidFill>
                  <a:srgbClr val="00D4AA"/>
                </a:solidFill>
                <a:latin typeface="Inter"/>
              </a:rPr>
              <a:t>→</a:t>
            </a:r>
          </a:p>
        </p:txBody>
      </p:sp>
      <p:sp>
        <p:nvSpPr>
          <p:cNvPr id="4" name="TextBox 3"/>
          <p:cNvSpPr txBox="1"/>
          <p:nvPr/>
        </p:nvSpPr>
        <p:spPr>
          <a:xfrm>
            <a:off x="3566160" y="2148840"/>
            <a:ext cx="7315200" cy="457200"/>
          </a:xfrm>
          <a:prstGeom prst="rect">
            <a:avLst/>
          </a:prstGeom>
          <a:noFill/>
        </p:spPr>
        <p:txBody>
          <a:bodyPr wrap="square" lIns="45720" rIns="45720" tIns="27432" bIns="27432" anchor="t">
            <a:spAutoFit/>
          </a:bodyPr>
          <a:lstStyle/>
          <a:p>
            <a:r>
              <a:rPr sz="1400" b="0">
                <a:solidFill>
                  <a:srgbClr val="94A3B8"/>
                </a:solidFill>
                <a:latin typeface="Inter"/>
              </a:rPr>
              <a:t>Next up:</a:t>
            </a:r>
          </a:p>
        </p:txBody>
      </p:sp>
      <p:sp>
        <p:nvSpPr>
          <p:cNvPr id="5" name="TextBox 4"/>
          <p:cNvSpPr txBox="1"/>
          <p:nvPr/>
        </p:nvSpPr>
        <p:spPr>
          <a:xfrm>
            <a:off x="3566160" y="2560320"/>
            <a:ext cx="7315200" cy="1097280"/>
          </a:xfrm>
          <a:prstGeom prst="rect">
            <a:avLst/>
          </a:prstGeom>
          <a:noFill/>
        </p:spPr>
        <p:txBody>
          <a:bodyPr wrap="square" lIns="45720" rIns="45720" tIns="27432" bIns="27432" anchor="t">
            <a:spAutoFit/>
          </a:bodyPr>
          <a:lstStyle/>
          <a:p>
            <a:r>
              <a:rPr sz="2600" b="1">
                <a:solidFill>
                  <a:srgbClr val="FFFFFF"/>
                </a:solidFill>
                <a:latin typeface="Inter"/>
              </a:rPr>
              <a:t>Arize Phoenix and OpenInference</a:t>
            </a:r>
          </a:p>
        </p:txBody>
      </p:sp>
      <p:sp>
        <p:nvSpPr>
          <p:cNvPr id="6" name="TextBox 5"/>
          <p:cNvSpPr txBox="1"/>
          <p:nvPr/>
        </p:nvSpPr>
        <p:spPr>
          <a:xfrm>
            <a:off x="3566160" y="3703320"/>
            <a:ext cx="7315200" cy="1097280"/>
          </a:xfrm>
          <a:prstGeom prst="rect">
            <a:avLst/>
          </a:prstGeom>
          <a:noFill/>
        </p:spPr>
        <p:txBody>
          <a:bodyPr wrap="square" lIns="45720" rIns="45720" tIns="27432" bIns="27432" anchor="t">
            <a:spAutoFit/>
          </a:bodyPr>
          <a:lstStyle/>
          <a:p>
            <a:r>
              <a:rPr sz="1400" b="0">
                <a:solidFill>
                  <a:srgbClr val="94A3B8"/>
                </a:solidFill>
                <a:latin typeface="Inter"/>
              </a:rPr>
              <a:t>Next, Arize Phoenix: no SDK swap at all, just point the OTLP exporter somewhere else, and meet a…</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12 · Lecture 12.3</a:t>
            </a:r>
          </a:p>
        </p:txBody>
      </p:sp>
      <p:sp>
        <p:nvSpPr>
          <p:cNvPr id="3" name="TextBox 2"/>
          <p:cNvSpPr txBox="1"/>
          <p:nvPr/>
        </p:nvSpPr>
        <p:spPr>
          <a:xfrm>
            <a:off x="6675120" y="320040"/>
            <a:ext cx="5074920" cy="548640"/>
          </a:xfrm>
          <a:prstGeom prst="rect">
            <a:avLst/>
          </a:prstGeom>
          <a:noFill/>
        </p:spPr>
        <p:txBody>
          <a:bodyPr wrap="square" lIns="45720" rIns="45720" tIns="27432" bIns="27432" anchor="t">
            <a:spAutoFit/>
          </a:bodyPr>
          <a:lstStyle/>
          <a:p>
            <a:pPr algn="r"/>
            <a:r>
              <a:rPr sz="1000" b="0">
                <a:solidFill>
                  <a:srgbClr val="94A3B8"/>
                </a:solidFill>
                <a:latin typeface="Inter"/>
              </a:rPr>
              <a:t>SECTION 12 · PORTABILITY AND ALTERNATIVES</a:t>
            </a:r>
          </a:p>
        </p:txBody>
      </p:sp>
      <p:sp>
        <p:nvSpPr>
          <p:cNvPr id="4" name="TextBox 3"/>
          <p:cNvSpPr txBox="1"/>
          <p:nvPr/>
        </p:nvSpPr>
        <p:spPr>
          <a:xfrm>
            <a:off x="914400" y="1417320"/>
            <a:ext cx="10332720" cy="457200"/>
          </a:xfrm>
          <a:prstGeom prst="rect">
            <a:avLst/>
          </a:prstGeom>
          <a:noFill/>
        </p:spPr>
        <p:txBody>
          <a:bodyPr wrap="square" lIns="45720" rIns="45720" tIns="27432" bIns="27432" anchor="t">
            <a:spAutoFit/>
          </a:bodyPr>
          <a:lstStyle/>
          <a:p>
            <a:r>
              <a:rPr sz="1200" b="1">
                <a:solidFill>
                  <a:srgbClr val="00D4AA"/>
                </a:solidFill>
                <a:latin typeface="Inter"/>
              </a:rPr>
              <a:t>LECTURE 12.3</a:t>
            </a:r>
          </a:p>
        </p:txBody>
      </p:sp>
      <p:sp>
        <p:nvSpPr>
          <p:cNvPr id="5" name="TextBox 4"/>
          <p:cNvSpPr txBox="1"/>
          <p:nvPr/>
        </p:nvSpPr>
        <p:spPr>
          <a:xfrm>
            <a:off x="914400" y="1874519"/>
            <a:ext cx="10332720" cy="1645920"/>
          </a:xfrm>
          <a:prstGeom prst="rect">
            <a:avLst/>
          </a:prstGeom>
          <a:noFill/>
        </p:spPr>
        <p:txBody>
          <a:bodyPr wrap="square" lIns="45720" rIns="45720" tIns="27432" bIns="27432" anchor="t">
            <a:spAutoFit/>
          </a:bodyPr>
          <a:lstStyle/>
          <a:p>
            <a:pPr>
              <a:lnSpc>
                <a:spcPct val="110000"/>
              </a:lnSpc>
            </a:pPr>
            <a:r>
              <a:rPr sz="3000" b="1">
                <a:solidFill>
                  <a:srgbClr val="FFFFFF"/>
                </a:solidFill>
                <a:latin typeface="Inter"/>
              </a:rPr>
              <a:t>Arize Phoenix and OpenInference</a:t>
            </a:r>
          </a:p>
        </p:txBody>
      </p:sp>
      <p:sp>
        <p:nvSpPr>
          <p:cNvPr id="6" name="Rectangle 5"/>
          <p:cNvSpPr/>
          <p:nvPr/>
        </p:nvSpPr>
        <p:spPr>
          <a:xfrm>
            <a:off x="914400" y="3794760"/>
            <a:ext cx="64008" cy="114300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88720" y="3749039"/>
            <a:ext cx="9692640" cy="1280160"/>
          </a:xfrm>
          <a:prstGeom prst="rect">
            <a:avLst/>
          </a:prstGeom>
          <a:noFill/>
        </p:spPr>
        <p:txBody>
          <a:bodyPr wrap="square" lIns="45720" rIns="45720" tIns="27432" bIns="27432" anchor="ctr">
            <a:spAutoFit/>
          </a:bodyPr>
          <a:lstStyle/>
          <a:p>
            <a:pPr>
              <a:lnSpc>
                <a:spcPct val="130000"/>
              </a:lnSpc>
            </a:pPr>
            <a:r>
              <a:rPr sz="1600" b="0">
                <a:solidFill>
                  <a:srgbClr val="CBD5E1"/>
                </a:solidFill>
                <a:latin typeface="Inter"/>
              </a:rPr>
              <a:t>Send Atlas traces to a locally running Phoenix by changing only the OTLP exporter endpoint.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12 · Lecture 12.3</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Two conventions on one span</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graphicFrame>
        <p:nvGraphicFramePr>
          <p:cNvPr id="5" name="Table 4"/>
          <p:cNvGraphicFramePr>
            <a:graphicFrameLocks noGrp="1"/>
          </p:cNvGraphicFramePr>
          <p:nvPr/>
        </p:nvGraphicFramePr>
        <p:xfrm>
          <a:off x="457200" y="1325880"/>
          <a:ext cx="11292839" cy="2688336"/>
        </p:xfrm>
        <a:graphic>
          <a:graphicData uri="http://schemas.openxmlformats.org/drawingml/2006/table">
            <a:tbl>
              <a:tblPr firstRow="1" bandRow="1">
                <a:tableStyleId>{5C22544A-7EE6-4342-B048-85BDC9FD1C3A}</a:tableStyleId>
              </a:tblPr>
              <a:tblGrid>
                <a:gridCol w="1737360"/>
                <a:gridCol w="4591594"/>
                <a:gridCol w="4963885"/>
              </a:tblGrid>
              <a:tr h="384048">
                <a:tc>
                  <a:txBody>
                    <a:bodyPr wrap="square"/>
                    <a:lstStyle/>
                    <a:p>
                      <a:r>
                        <a:rPr sz="1200" b="1">
                          <a:solidFill>
                            <a:srgbClr val="0A1628"/>
                          </a:solidFill>
                          <a:latin typeface="Inter"/>
                        </a:rPr>
                        <a:t>Concept</a:t>
                      </a:r>
                    </a:p>
                  </a:txBody>
                  <a:tcPr marL="91440" marR="91440" marT="45720" marB="45720" anchor="ctr">
                    <a:solidFill>
                      <a:srgbClr val="00D4AA"/>
                    </a:solidFill>
                  </a:tcPr>
                </a:tc>
                <a:tc>
                  <a:txBody>
                    <a:bodyPr wrap="square"/>
                    <a:lstStyle/>
                    <a:p>
                      <a:r>
                        <a:rPr sz="1200" b="1">
                          <a:solidFill>
                            <a:srgbClr val="0A1628"/>
                          </a:solidFill>
                          <a:latin typeface="Inter"/>
                        </a:rPr>
                        <a:t>OTel GenAI (semconv 0.66, incubating)</a:t>
                      </a:r>
                    </a:p>
                  </a:txBody>
                  <a:tcPr marL="91440" marR="91440" marT="45720" marB="45720" anchor="ctr">
                    <a:solidFill>
                      <a:srgbClr val="00D4AA"/>
                    </a:solidFill>
                  </a:tcPr>
                </a:tc>
                <a:tc>
                  <a:txBody>
                    <a:bodyPr wrap="square"/>
                    <a:lstStyle/>
                    <a:p>
                      <a:r>
                        <a:rPr sz="1200" b="1">
                          <a:solidFill>
                            <a:srgbClr val="0A1628"/>
                          </a:solidFill>
                          <a:latin typeface="Inter"/>
                        </a:rPr>
                        <a:t>OpenInference</a:t>
                      </a:r>
                    </a:p>
                  </a:txBody>
                  <a:tcPr marL="91440" marR="91440" marT="45720" marB="45720" anchor="ctr">
                    <a:solidFill>
                      <a:srgbClr val="00D4AA"/>
                    </a:solidFill>
                  </a:tcPr>
                </a:tc>
              </a:tr>
              <a:tr h="384048">
                <a:tc>
                  <a:txBody>
                    <a:bodyPr wrap="square"/>
                    <a:lstStyle/>
                    <a:p>
                      <a:r>
                        <a:rPr sz="1200" b="1">
                          <a:solidFill>
                            <a:srgbClr val="FFFFFF"/>
                          </a:solidFill>
                          <a:latin typeface="Inter"/>
                        </a:rPr>
                        <a:t>Kind of span</a:t>
                      </a:r>
                    </a:p>
                  </a:txBody>
                  <a:tcPr marL="91440" marR="91440" marT="45720" marB="45720" anchor="ctr">
                    <a:solidFill>
                      <a:srgbClr val="1A2742"/>
                    </a:solidFill>
                  </a:tcPr>
                </a:tc>
                <a:tc>
                  <a:txBody>
                    <a:bodyPr wrap="square"/>
                    <a:lstStyle/>
                    <a:p>
                      <a:r>
                        <a:rPr sz="1104" b="0">
                          <a:solidFill>
                            <a:srgbClr val="00D4AA"/>
                          </a:solidFill>
                          <a:latin typeface="JetBrains Mono"/>
                        </a:rPr>
                        <a:t>gen_ai.operation.name = chat</a:t>
                      </a:r>
                    </a:p>
                  </a:txBody>
                  <a:tcPr marL="91440" marR="91440" marT="45720" marB="45720" anchor="ctr">
                    <a:solidFill>
                      <a:srgbClr val="1A2742"/>
                    </a:solidFill>
                  </a:tcPr>
                </a:tc>
                <a:tc>
                  <a:txBody>
                    <a:bodyPr wrap="square"/>
                    <a:lstStyle/>
                    <a:p>
                      <a:r>
                        <a:rPr sz="1104" b="0">
                          <a:solidFill>
                            <a:srgbClr val="00D4AA"/>
                          </a:solidFill>
                          <a:latin typeface="JetBrains Mono"/>
                        </a:rPr>
                        <a:t>openinference.span.kind = LLM</a:t>
                      </a:r>
                    </a:p>
                  </a:txBody>
                  <a:tcPr marL="91440" marR="91440" marT="45720" marB="45720" anchor="ctr">
                    <a:solidFill>
                      <a:srgbClr val="1A2742"/>
                    </a:solidFill>
                  </a:tcPr>
                </a:tc>
              </a:tr>
              <a:tr h="384048">
                <a:tc>
                  <a:txBody>
                    <a:bodyPr wrap="square"/>
                    <a:lstStyle/>
                    <a:p>
                      <a:r>
                        <a:rPr sz="1200" b="1">
                          <a:solidFill>
                            <a:srgbClr val="FFFFFF"/>
                          </a:solidFill>
                          <a:latin typeface="Inter"/>
                        </a:rPr>
                        <a:t>Model</a:t>
                      </a:r>
                    </a:p>
                  </a:txBody>
                  <a:tcPr marL="91440" marR="91440" marT="45720" marB="45720" anchor="ctr">
                    <a:solidFill>
                      <a:srgbClr val="0F1E35"/>
                    </a:solidFill>
                  </a:tcPr>
                </a:tc>
                <a:tc>
                  <a:txBody>
                    <a:bodyPr wrap="square"/>
                    <a:lstStyle/>
                    <a:p>
                      <a:r>
                        <a:rPr sz="1104" b="0">
                          <a:solidFill>
                            <a:srgbClr val="00D4AA"/>
                          </a:solidFill>
                          <a:latin typeface="JetBrains Mono"/>
                        </a:rPr>
                        <a:t>gen_ai.request.model</a:t>
                      </a:r>
                    </a:p>
                  </a:txBody>
                  <a:tcPr marL="91440" marR="91440" marT="45720" marB="45720" anchor="ctr">
                    <a:solidFill>
                      <a:srgbClr val="0F1E35"/>
                    </a:solidFill>
                  </a:tcPr>
                </a:tc>
                <a:tc>
                  <a:txBody>
                    <a:bodyPr wrap="square"/>
                    <a:lstStyle/>
                    <a:p>
                      <a:r>
                        <a:rPr sz="1104" b="0">
                          <a:solidFill>
                            <a:srgbClr val="00D4AA"/>
                          </a:solidFill>
                          <a:latin typeface="JetBrains Mono"/>
                        </a:rPr>
                        <a:t>llm.model_name</a:t>
                      </a:r>
                    </a:p>
                  </a:txBody>
                  <a:tcPr marL="91440" marR="91440" marT="45720" marB="45720" anchor="ctr">
                    <a:solidFill>
                      <a:srgbClr val="0F1E35"/>
                    </a:solidFill>
                  </a:tcPr>
                </a:tc>
              </a:tr>
              <a:tr h="384048">
                <a:tc>
                  <a:txBody>
                    <a:bodyPr wrap="square"/>
                    <a:lstStyle/>
                    <a:p>
                      <a:r>
                        <a:rPr sz="1200" b="1">
                          <a:solidFill>
                            <a:srgbClr val="FFFFFF"/>
                          </a:solidFill>
                          <a:latin typeface="Inter"/>
                        </a:rPr>
                        <a:t>Input tokens</a:t>
                      </a:r>
                    </a:p>
                  </a:txBody>
                  <a:tcPr marL="91440" marR="91440" marT="45720" marB="45720" anchor="ctr">
                    <a:solidFill>
                      <a:srgbClr val="1A2742"/>
                    </a:solidFill>
                  </a:tcPr>
                </a:tc>
                <a:tc>
                  <a:txBody>
                    <a:bodyPr wrap="square"/>
                    <a:lstStyle/>
                    <a:p>
                      <a:r>
                        <a:rPr sz="1104" b="0">
                          <a:solidFill>
                            <a:srgbClr val="00D4AA"/>
                          </a:solidFill>
                          <a:latin typeface="JetBrains Mono"/>
                        </a:rPr>
                        <a:t>gen_ai.usage.input_tokens</a:t>
                      </a:r>
                    </a:p>
                  </a:txBody>
                  <a:tcPr marL="91440" marR="91440" marT="45720" marB="45720" anchor="ctr">
                    <a:solidFill>
                      <a:srgbClr val="1A2742"/>
                    </a:solidFill>
                  </a:tcPr>
                </a:tc>
                <a:tc>
                  <a:txBody>
                    <a:bodyPr wrap="square"/>
                    <a:lstStyle/>
                    <a:p>
                      <a:r>
                        <a:rPr sz="1104" b="0">
                          <a:solidFill>
                            <a:srgbClr val="00D4AA"/>
                          </a:solidFill>
                          <a:latin typeface="JetBrains Mono"/>
                        </a:rPr>
                        <a:t>llm.token_count.prompt</a:t>
                      </a:r>
                    </a:p>
                  </a:txBody>
                  <a:tcPr marL="91440" marR="91440" marT="45720" marB="45720" anchor="ctr">
                    <a:solidFill>
                      <a:srgbClr val="1A2742"/>
                    </a:solidFill>
                  </a:tcPr>
                </a:tc>
              </a:tr>
              <a:tr h="384048">
                <a:tc>
                  <a:txBody>
                    <a:bodyPr wrap="square"/>
                    <a:lstStyle/>
                    <a:p>
                      <a:r>
                        <a:rPr sz="1200" b="1">
                          <a:solidFill>
                            <a:srgbClr val="FFFFFF"/>
                          </a:solidFill>
                          <a:latin typeface="Inter"/>
                        </a:rPr>
                        <a:t>Output tokens</a:t>
                      </a:r>
                    </a:p>
                  </a:txBody>
                  <a:tcPr marL="91440" marR="91440" marT="45720" marB="45720" anchor="ctr">
                    <a:solidFill>
                      <a:srgbClr val="0F1E35"/>
                    </a:solidFill>
                  </a:tcPr>
                </a:tc>
                <a:tc>
                  <a:txBody>
                    <a:bodyPr wrap="square"/>
                    <a:lstStyle/>
                    <a:p>
                      <a:r>
                        <a:rPr sz="1104" b="0">
                          <a:solidFill>
                            <a:srgbClr val="00D4AA"/>
                          </a:solidFill>
                          <a:latin typeface="JetBrains Mono"/>
                        </a:rPr>
                        <a:t>gen_ai.usage.output_tokens</a:t>
                      </a:r>
                    </a:p>
                  </a:txBody>
                  <a:tcPr marL="91440" marR="91440" marT="45720" marB="45720" anchor="ctr">
                    <a:solidFill>
                      <a:srgbClr val="0F1E35"/>
                    </a:solidFill>
                  </a:tcPr>
                </a:tc>
                <a:tc>
                  <a:txBody>
                    <a:bodyPr wrap="square"/>
                    <a:lstStyle/>
                    <a:p>
                      <a:r>
                        <a:rPr sz="1104" b="0">
                          <a:solidFill>
                            <a:srgbClr val="00D4AA"/>
                          </a:solidFill>
                          <a:latin typeface="JetBrains Mono"/>
                        </a:rPr>
                        <a:t>llm.token_count.completion</a:t>
                      </a:r>
                    </a:p>
                  </a:txBody>
                  <a:tcPr marL="91440" marR="91440" marT="45720" marB="45720" anchor="ctr">
                    <a:solidFill>
                      <a:srgbClr val="0F1E35"/>
                    </a:solidFill>
                  </a:tcPr>
                </a:tc>
              </a:tr>
              <a:tr h="384048">
                <a:tc>
                  <a:txBody>
                    <a:bodyPr wrap="square"/>
                    <a:lstStyle/>
                    <a:p>
                      <a:r>
                        <a:rPr sz="1200" b="1">
                          <a:solidFill>
                            <a:srgbClr val="FFFFFF"/>
                          </a:solidFill>
                          <a:latin typeface="Inter"/>
                        </a:rPr>
                        <a:t>Tool name</a:t>
                      </a:r>
                    </a:p>
                  </a:txBody>
                  <a:tcPr marL="91440" marR="91440" marT="45720" marB="45720" anchor="ctr">
                    <a:solidFill>
                      <a:srgbClr val="1A2742"/>
                    </a:solidFill>
                  </a:tcPr>
                </a:tc>
                <a:tc>
                  <a:txBody>
                    <a:bodyPr wrap="square"/>
                    <a:lstStyle/>
                    <a:p>
                      <a:r>
                        <a:rPr sz="1104" b="0">
                          <a:solidFill>
                            <a:srgbClr val="00D4AA"/>
                          </a:solidFill>
                          <a:latin typeface="JetBrains Mono"/>
                        </a:rPr>
                        <a:t>gen_ai.tool.name</a:t>
                      </a:r>
                    </a:p>
                  </a:txBody>
                  <a:tcPr marL="91440" marR="91440" marT="45720" marB="45720" anchor="ctr">
                    <a:solidFill>
                      <a:srgbClr val="1A2742"/>
                    </a:solidFill>
                  </a:tcPr>
                </a:tc>
                <a:tc>
                  <a:txBody>
                    <a:bodyPr wrap="square"/>
                    <a:lstStyle/>
                    <a:p>
                      <a:r>
                        <a:rPr sz="1104" b="0">
                          <a:solidFill>
                            <a:srgbClr val="00D4AA"/>
                          </a:solidFill>
                          <a:latin typeface="JetBrains Mono"/>
                        </a:rPr>
                        <a:t>tool.name</a:t>
                      </a:r>
                    </a:p>
                  </a:txBody>
                  <a:tcPr marL="91440" marR="91440" marT="45720" marB="45720" anchor="ctr">
                    <a:solidFill>
                      <a:srgbClr val="1A2742"/>
                    </a:solidFill>
                  </a:tcPr>
                </a:tc>
              </a:tr>
              <a:tr h="384048">
                <a:tc>
                  <a:txBody>
                    <a:bodyPr wrap="square"/>
                    <a:lstStyle/>
                    <a:p>
                      <a:r>
                        <a:rPr sz="1200" b="1">
                          <a:solidFill>
                            <a:srgbClr val="FFFFFF"/>
                          </a:solidFill>
                          <a:latin typeface="Inter"/>
                        </a:rPr>
                        <a:t>Retrieval docs</a:t>
                      </a:r>
                    </a:p>
                  </a:txBody>
                  <a:tcPr marL="91440" marR="91440" marT="45720" marB="45720" anchor="ctr">
                    <a:solidFill>
                      <a:srgbClr val="0F1E35"/>
                    </a:solidFill>
                  </a:tcPr>
                </a:tc>
                <a:tc>
                  <a:txBody>
                    <a:bodyPr wrap="square"/>
                    <a:lstStyle/>
                    <a:p>
                      <a:r>
                        <a:rPr sz="1104" b="0">
                          <a:solidFill>
                            <a:srgbClr val="00D4AA"/>
                          </a:solidFill>
                          <a:latin typeface="JetBrains Mono"/>
                        </a:rPr>
                        <a:t>gen_ai.retrieval.documents</a:t>
                      </a:r>
                      <a:r>
                        <a:rPr sz="1200" b="0">
                          <a:solidFill>
                            <a:srgbClr val="FFFFFF"/>
                          </a:solidFill>
                          <a:latin typeface="Inter"/>
                        </a:rPr>
                        <a:t> (new)</a:t>
                      </a:r>
                    </a:p>
                  </a:txBody>
                  <a:tcPr marL="91440" marR="91440" marT="45720" marB="45720" anchor="ctr">
                    <a:solidFill>
                      <a:srgbClr val="0F1E35"/>
                    </a:solidFill>
                  </a:tcPr>
                </a:tc>
                <a:tc>
                  <a:txBody>
                    <a:bodyPr wrap="square"/>
                    <a:lstStyle/>
                    <a:p>
                      <a:r>
                        <a:rPr sz="1104" b="0">
                          <a:solidFill>
                            <a:srgbClr val="00D4AA"/>
                          </a:solidFill>
                          <a:latin typeface="JetBrains Mono"/>
                        </a:rPr>
                        <a:t>retrieval.documents.*.document.content</a:t>
                      </a:r>
                    </a:p>
                  </a:txBody>
                  <a:tcPr marL="91440" marR="91440" marT="45720" marB="45720" anchor="ctr">
                    <a:solidFill>
                      <a:srgbClr val="0F1E35"/>
                    </a:solidFill>
                  </a:tcPr>
                </a:tc>
              </a:tr>
            </a:tbl>
          </a:graphicData>
        </a:graphic>
      </p:graphicFrame>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12 · Lecture 12.3</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When Phoenix fits</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260"/>
              </a:spcAft>
              <a:buClr>
                <a:srgbClr val="00D4AA"/>
              </a:buClr>
              <a:buFont typeface="Inter"/>
              <a:buChar char="•"/>
            </a:pPr>
            <a:r>
              <a:rPr sz="1800" b="0">
                <a:solidFill>
                  <a:srgbClr val="FFFFFF"/>
                </a:solidFill>
                <a:latin typeface="Inter"/>
              </a:rPr>
              <a:t>Local-first: one container, no account, good for laptops and air-gapped environments</a:t>
            </a:r>
          </a:p>
          <a:p>
            <a:pPr marL="292608" indent="-292608">
              <a:lnSpc>
                <a:spcPct val="120000"/>
              </a:lnSpc>
              <a:spcAft>
                <a:spcPts val="1260"/>
              </a:spcAft>
              <a:buClr>
                <a:srgbClr val="00D4AA"/>
              </a:buClr>
              <a:buFont typeface="Inter"/>
              <a:buChar char="•"/>
            </a:pPr>
            <a:r>
              <a:rPr sz="1800" b="0">
                <a:solidFill>
                  <a:srgbClr val="FFFFFF"/>
                </a:solidFill>
                <a:latin typeface="Inter"/>
              </a:rPr>
              <a:t>Open source with a hosted option (Arize AX) for teams</a:t>
            </a:r>
          </a:p>
          <a:p>
            <a:pPr marL="292608" indent="-292608">
              <a:lnSpc>
                <a:spcPct val="120000"/>
              </a:lnSpc>
              <a:spcAft>
                <a:spcPts val="1260"/>
              </a:spcAft>
              <a:buClr>
                <a:srgbClr val="00D4AA"/>
              </a:buClr>
              <a:buFont typeface="Inter"/>
              <a:buChar char="•"/>
            </a:pPr>
            <a:r>
              <a:rPr sz="1800" b="0">
                <a:solidFill>
                  <a:srgbClr val="FFFFFF"/>
                </a:solidFill>
                <a:latin typeface="Inter"/>
              </a:rPr>
              <a:t>Strong on RAG and retrieval debugging; OpenInference is its native tongue</a:t>
            </a:r>
          </a:p>
          <a:p>
            <a:pPr marL="292608" indent="-292608">
              <a:lnSpc>
                <a:spcPct val="120000"/>
              </a:lnSpc>
              <a:spcAft>
                <a:spcPts val="1260"/>
              </a:spcAft>
              <a:buClr>
                <a:srgbClr val="00D4AA"/>
              </a:buClr>
              <a:buFont typeface="Inter"/>
              <a:buChar char="•"/>
            </a:pPr>
            <a:r>
              <a:rPr sz="1800" b="0">
                <a:solidFill>
                  <a:srgbClr val="FFFFFF"/>
                </a:solidFill>
                <a:latin typeface="Inter"/>
              </a:rPr>
              <a:t>Weaker fit if you need prompt management with labels the way Incident 3 used them; verify current features</a:t>
            </a:r>
          </a:p>
          <a:p>
            <a:pPr marL="292608" indent="-292608">
              <a:lnSpc>
                <a:spcPct val="120000"/>
              </a:lnSpc>
              <a:spcAft>
                <a:spcPts val="1260"/>
              </a:spcAft>
              <a:buClr>
                <a:srgbClr val="00D4AA"/>
              </a:buClr>
              <a:buFont typeface="Inter"/>
              <a:buChar char="•"/>
            </a:pPr>
            <a:r>
              <a:rPr sz="1800" b="0">
                <a:solidFill>
                  <a:srgbClr val="FFFFFF"/>
                </a:solidFill>
                <a:latin typeface="Inter"/>
              </a:rPr>
              <a:t>Best paired with the Collector: Langfuse for prompts and scores, Phoenix for local debugging</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12 · Lecture 12.3</a:t>
            </a:r>
          </a:p>
        </p:txBody>
      </p:sp>
      <p:sp>
        <p:nvSpPr>
          <p:cNvPr id="3" name="TextBox 2"/>
          <p:cNvSpPr txBox="1"/>
          <p:nvPr/>
        </p:nvSpPr>
        <p:spPr>
          <a:xfrm>
            <a:off x="1371600" y="822960"/>
            <a:ext cx="9418320" cy="457200"/>
          </a:xfrm>
          <a:prstGeom prst="rect">
            <a:avLst/>
          </a:prstGeom>
          <a:noFill/>
        </p:spPr>
        <p:txBody>
          <a:bodyPr wrap="square" lIns="45720" rIns="45720" tIns="27432" bIns="27432" anchor="t">
            <a:spAutoFit/>
          </a:bodyPr>
          <a:lstStyle/>
          <a:p>
            <a:pPr algn="ctr"/>
            <a:r>
              <a:rPr sz="1200" b="1">
                <a:solidFill>
                  <a:srgbClr val="00D4AA"/>
                </a:solidFill>
                <a:latin typeface="Inter"/>
              </a:rPr>
              <a:t>RECAP</a:t>
            </a:r>
          </a:p>
        </p:txBody>
      </p:sp>
      <p:sp>
        <p:nvSpPr>
          <p:cNvPr id="4" name="TextBox 3"/>
          <p:cNvSpPr txBox="1"/>
          <p:nvPr/>
        </p:nvSpPr>
        <p:spPr>
          <a:xfrm>
            <a:off x="1371600" y="1234440"/>
            <a:ext cx="9418320" cy="822960"/>
          </a:xfrm>
          <a:prstGeom prst="rect">
            <a:avLst/>
          </a:prstGeom>
          <a:noFill/>
        </p:spPr>
        <p:txBody>
          <a:bodyPr wrap="square" lIns="45720" rIns="45720" tIns="27432" bIns="27432" anchor="t">
            <a:spAutoFit/>
          </a:bodyPr>
          <a:lstStyle/>
          <a:p>
            <a:pPr algn="ctr"/>
            <a:r>
              <a:rPr sz="2600" b="1">
                <a:solidFill>
                  <a:srgbClr val="FFFFFF"/>
                </a:solidFill>
                <a:latin typeface="Inter"/>
              </a:rPr>
              <a:t>Key takeaways</a:t>
            </a:r>
          </a:p>
        </p:txBody>
      </p:sp>
      <p:sp>
        <p:nvSpPr>
          <p:cNvPr id="5" name="Rounded Rectangle 4"/>
          <p:cNvSpPr/>
          <p:nvPr/>
        </p:nvSpPr>
        <p:spPr>
          <a:xfrm>
            <a:off x="2011680" y="251460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2194560" y="251460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7" name="TextBox 6"/>
          <p:cNvSpPr txBox="1"/>
          <p:nvPr/>
        </p:nvSpPr>
        <p:spPr>
          <a:xfrm>
            <a:off x="2788920" y="2514600"/>
            <a:ext cx="7223760" cy="777240"/>
          </a:xfrm>
          <a:prstGeom prst="rect">
            <a:avLst/>
          </a:prstGeom>
          <a:noFill/>
        </p:spPr>
        <p:txBody>
          <a:bodyPr wrap="square" lIns="45720" rIns="45720" tIns="27432" bIns="27432" anchor="ctr">
            <a:spAutoFit/>
          </a:bodyPr>
          <a:lstStyle/>
          <a:p>
            <a:r>
              <a:rPr sz="1800" b="1">
                <a:solidFill>
                  <a:srgbClr val="FFFFFF"/>
                </a:solidFill>
                <a:latin typeface="Inter"/>
              </a:rPr>
              <a:t>Phoenix is just another OTLP endpoint</a:t>
            </a:r>
          </a:p>
        </p:txBody>
      </p:sp>
      <p:sp>
        <p:nvSpPr>
          <p:cNvPr id="8" name="Rounded Rectangle 7"/>
          <p:cNvSpPr/>
          <p:nvPr/>
        </p:nvSpPr>
        <p:spPr>
          <a:xfrm>
            <a:off x="2011680" y="347472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194560" y="347472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0" name="TextBox 9"/>
          <p:cNvSpPr txBox="1"/>
          <p:nvPr/>
        </p:nvSpPr>
        <p:spPr>
          <a:xfrm>
            <a:off x="2788920" y="3474720"/>
            <a:ext cx="7223760" cy="777240"/>
          </a:xfrm>
          <a:prstGeom prst="rect">
            <a:avLst/>
          </a:prstGeom>
          <a:noFill/>
        </p:spPr>
        <p:txBody>
          <a:bodyPr wrap="square" lIns="45720" rIns="45720" tIns="27432" bIns="27432" anchor="ctr">
            <a:spAutoFit/>
          </a:bodyPr>
          <a:lstStyle/>
          <a:p>
            <a:r>
              <a:rPr sz="1800" b="1">
                <a:solidFill>
                  <a:srgbClr val="FFFFFF"/>
                </a:solidFill>
                <a:latin typeface="Inter"/>
              </a:rPr>
              <a:t>One Phoenix on port 6006, never two</a:t>
            </a:r>
          </a:p>
        </p:txBody>
      </p:sp>
      <p:sp>
        <p:nvSpPr>
          <p:cNvPr id="11" name="Rounded Rectangle 10"/>
          <p:cNvSpPr/>
          <p:nvPr/>
        </p:nvSpPr>
        <p:spPr>
          <a:xfrm>
            <a:off x="2011680" y="443484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194560" y="443484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3" name="TextBox 12"/>
          <p:cNvSpPr txBox="1"/>
          <p:nvPr/>
        </p:nvSpPr>
        <p:spPr>
          <a:xfrm>
            <a:off x="2788920" y="4434840"/>
            <a:ext cx="7223760" cy="777240"/>
          </a:xfrm>
          <a:prstGeom prst="rect">
            <a:avLst/>
          </a:prstGeom>
          <a:noFill/>
        </p:spPr>
        <p:txBody>
          <a:bodyPr wrap="square" lIns="45720" rIns="45720" tIns="27432" bIns="27432" anchor="ctr">
            <a:spAutoFit/>
          </a:bodyPr>
          <a:lstStyle/>
          <a:p>
            <a:r>
              <a:rPr sz="1800" b="1">
                <a:solidFill>
                  <a:srgbClr val="FFFFFF"/>
                </a:solidFill>
                <a:latin typeface="Inter"/>
              </a:rPr>
              <a:t>Mirror OpenInference only if you need it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12 · Lecture 12.3</a:t>
            </a:r>
          </a:p>
        </p:txBody>
      </p:sp>
      <p:sp>
        <p:nvSpPr>
          <p:cNvPr id="3" name="TextBox 2"/>
          <p:cNvSpPr txBox="1"/>
          <p:nvPr/>
        </p:nvSpPr>
        <p:spPr>
          <a:xfrm>
            <a:off x="2377440" y="2286000"/>
            <a:ext cx="1097280" cy="1097280"/>
          </a:xfrm>
          <a:prstGeom prst="rect">
            <a:avLst/>
          </a:prstGeom>
          <a:noFill/>
        </p:spPr>
        <p:txBody>
          <a:bodyPr wrap="square" lIns="45720" rIns="45720" tIns="27432" bIns="27432" anchor="ctr">
            <a:spAutoFit/>
          </a:bodyPr>
          <a:lstStyle/>
          <a:p>
            <a:r>
              <a:rPr sz="5400" b="1">
                <a:solidFill>
                  <a:srgbClr val="00D4AA"/>
                </a:solidFill>
                <a:latin typeface="Inter"/>
              </a:rPr>
              <a:t>→</a:t>
            </a:r>
          </a:p>
        </p:txBody>
      </p:sp>
      <p:sp>
        <p:nvSpPr>
          <p:cNvPr id="4" name="TextBox 3"/>
          <p:cNvSpPr txBox="1"/>
          <p:nvPr/>
        </p:nvSpPr>
        <p:spPr>
          <a:xfrm>
            <a:off x="3566160" y="2148840"/>
            <a:ext cx="7315200" cy="457200"/>
          </a:xfrm>
          <a:prstGeom prst="rect">
            <a:avLst/>
          </a:prstGeom>
          <a:noFill/>
        </p:spPr>
        <p:txBody>
          <a:bodyPr wrap="square" lIns="45720" rIns="45720" tIns="27432" bIns="27432" anchor="t">
            <a:spAutoFit/>
          </a:bodyPr>
          <a:lstStyle/>
          <a:p>
            <a:r>
              <a:rPr sz="1400" b="0">
                <a:solidFill>
                  <a:srgbClr val="94A3B8"/>
                </a:solidFill>
                <a:latin typeface="Inter"/>
              </a:rPr>
              <a:t>Next up:</a:t>
            </a:r>
          </a:p>
        </p:txBody>
      </p:sp>
      <p:sp>
        <p:nvSpPr>
          <p:cNvPr id="5" name="TextBox 4"/>
          <p:cNvSpPr txBox="1"/>
          <p:nvPr/>
        </p:nvSpPr>
        <p:spPr>
          <a:xfrm>
            <a:off x="3566160" y="2560320"/>
            <a:ext cx="7315200" cy="1097280"/>
          </a:xfrm>
          <a:prstGeom prst="rect">
            <a:avLst/>
          </a:prstGeom>
          <a:noFill/>
        </p:spPr>
        <p:txBody>
          <a:bodyPr wrap="square" lIns="45720" rIns="45720" tIns="27432" bIns="27432" anchor="t">
            <a:spAutoFit/>
          </a:bodyPr>
          <a:lstStyle/>
          <a:p>
            <a:r>
              <a:rPr sz="2600" b="1">
                <a:solidFill>
                  <a:srgbClr val="FFFFFF"/>
                </a:solidFill>
                <a:latin typeface="Inter"/>
              </a:rPr>
              <a:t>OpenLLMetry, Datadog and the enterprise APMs</a:t>
            </a:r>
          </a:p>
        </p:txBody>
      </p:sp>
      <p:sp>
        <p:nvSpPr>
          <p:cNvPr id="6" name="TextBox 5"/>
          <p:cNvSpPr txBox="1"/>
          <p:nvPr/>
        </p:nvSpPr>
        <p:spPr>
          <a:xfrm>
            <a:off x="3566160" y="3703320"/>
            <a:ext cx="7315200" cy="1097280"/>
          </a:xfrm>
          <a:prstGeom prst="rect">
            <a:avLst/>
          </a:prstGeom>
          <a:noFill/>
        </p:spPr>
        <p:txBody>
          <a:bodyPr wrap="square" lIns="45720" rIns="45720" tIns="27432" bIns="27432" anchor="t">
            <a:spAutoFit/>
          </a:bodyPr>
          <a:lstStyle/>
          <a:p>
            <a:r>
              <a:rPr sz="1400" b="0">
                <a:solidFill>
                  <a:srgbClr val="94A3B8"/>
                </a:solidFill>
                <a:latin typeface="Inter"/>
              </a:rPr>
              <a:t>Next, OpenLLMetry, Datadog and the enterprise APMs, and how to live in a hybrid setup without instrumenting twice.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12 · Lecture 12.4</a:t>
            </a:r>
          </a:p>
        </p:txBody>
      </p:sp>
      <p:sp>
        <p:nvSpPr>
          <p:cNvPr id="3" name="TextBox 2"/>
          <p:cNvSpPr txBox="1"/>
          <p:nvPr/>
        </p:nvSpPr>
        <p:spPr>
          <a:xfrm>
            <a:off x="6675120" y="320040"/>
            <a:ext cx="5074920" cy="548640"/>
          </a:xfrm>
          <a:prstGeom prst="rect">
            <a:avLst/>
          </a:prstGeom>
          <a:noFill/>
        </p:spPr>
        <p:txBody>
          <a:bodyPr wrap="square" lIns="45720" rIns="45720" tIns="27432" bIns="27432" anchor="t">
            <a:spAutoFit/>
          </a:bodyPr>
          <a:lstStyle/>
          <a:p>
            <a:pPr algn="r"/>
            <a:r>
              <a:rPr sz="1000" b="0">
                <a:solidFill>
                  <a:srgbClr val="94A3B8"/>
                </a:solidFill>
                <a:latin typeface="Inter"/>
              </a:rPr>
              <a:t>SECTION 12 · PORTABILITY AND ALTERNATIVES</a:t>
            </a:r>
          </a:p>
        </p:txBody>
      </p:sp>
      <p:sp>
        <p:nvSpPr>
          <p:cNvPr id="4" name="TextBox 3"/>
          <p:cNvSpPr txBox="1"/>
          <p:nvPr/>
        </p:nvSpPr>
        <p:spPr>
          <a:xfrm>
            <a:off x="914400" y="1417320"/>
            <a:ext cx="10332720" cy="457200"/>
          </a:xfrm>
          <a:prstGeom prst="rect">
            <a:avLst/>
          </a:prstGeom>
          <a:noFill/>
        </p:spPr>
        <p:txBody>
          <a:bodyPr wrap="square" lIns="45720" rIns="45720" tIns="27432" bIns="27432" anchor="t">
            <a:spAutoFit/>
          </a:bodyPr>
          <a:lstStyle/>
          <a:p>
            <a:r>
              <a:rPr sz="1200" b="1">
                <a:solidFill>
                  <a:srgbClr val="00D4AA"/>
                </a:solidFill>
                <a:latin typeface="Inter"/>
              </a:rPr>
              <a:t>LECTURE 12.4</a:t>
            </a:r>
          </a:p>
        </p:txBody>
      </p:sp>
      <p:sp>
        <p:nvSpPr>
          <p:cNvPr id="5" name="TextBox 4"/>
          <p:cNvSpPr txBox="1"/>
          <p:nvPr/>
        </p:nvSpPr>
        <p:spPr>
          <a:xfrm>
            <a:off x="914400" y="1874519"/>
            <a:ext cx="10332720" cy="1645920"/>
          </a:xfrm>
          <a:prstGeom prst="rect">
            <a:avLst/>
          </a:prstGeom>
          <a:noFill/>
        </p:spPr>
        <p:txBody>
          <a:bodyPr wrap="square" lIns="45720" rIns="45720" tIns="27432" bIns="27432" anchor="t">
            <a:spAutoFit/>
          </a:bodyPr>
          <a:lstStyle/>
          <a:p>
            <a:pPr>
              <a:lnSpc>
                <a:spcPct val="110000"/>
              </a:lnSpc>
            </a:pPr>
            <a:r>
              <a:rPr sz="3000" b="1">
                <a:solidFill>
                  <a:srgbClr val="FFFFFF"/>
                </a:solidFill>
                <a:latin typeface="Inter"/>
              </a:rPr>
              <a:t>OpenLLMetry, Datadog and the enterprise APMs</a:t>
            </a:r>
          </a:p>
        </p:txBody>
      </p:sp>
      <p:sp>
        <p:nvSpPr>
          <p:cNvPr id="6" name="Rectangle 5"/>
          <p:cNvSpPr/>
          <p:nvPr/>
        </p:nvSpPr>
        <p:spPr>
          <a:xfrm>
            <a:off x="914400" y="3794760"/>
            <a:ext cx="64008" cy="114300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88720" y="3749039"/>
            <a:ext cx="9692640" cy="1280160"/>
          </a:xfrm>
          <a:prstGeom prst="rect">
            <a:avLst/>
          </a:prstGeom>
          <a:noFill/>
        </p:spPr>
        <p:txBody>
          <a:bodyPr wrap="square" lIns="45720" rIns="45720" tIns="27432" bIns="27432" anchor="ctr">
            <a:spAutoFit/>
          </a:bodyPr>
          <a:lstStyle/>
          <a:p>
            <a:pPr>
              <a:lnSpc>
                <a:spcPct val="130000"/>
              </a:lnSpc>
            </a:pPr>
            <a:r>
              <a:rPr sz="1600" b="0">
                <a:solidFill>
                  <a:srgbClr val="CBD5E1"/>
                </a:solidFill>
                <a:latin typeface="Inter"/>
              </a:rPr>
              <a:t>Place OpenLLMetry, Datadog LLM Observability and the other APM add-ons in the same layer model as Langfuse, LangSmith and Phoenix.</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12 · Lecture 12.4</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Two more families</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260"/>
              </a:spcAft>
              <a:buClr>
                <a:srgbClr val="00D4AA"/>
              </a:buClr>
              <a:buFont typeface="Inter"/>
              <a:buChar char="•"/>
            </a:pPr>
            <a:r>
              <a:rPr sz="1800" b="0">
                <a:solidFill>
                  <a:srgbClr val="FFFFFF"/>
                </a:solidFill>
                <a:latin typeface="Inter"/>
              </a:rPr>
              <a:t>OpenLLMetry (Traceloop): an open-source SDK that emits OTel spans with GenAI attributes from many LLM libraries; ships to any OTLP backend</a:t>
            </a:r>
          </a:p>
          <a:p>
            <a:pPr marL="292608" indent="-292608">
              <a:lnSpc>
                <a:spcPct val="120000"/>
              </a:lnSpc>
              <a:spcAft>
                <a:spcPts val="1260"/>
              </a:spcAft>
              <a:buClr>
                <a:srgbClr val="00D4AA"/>
              </a:buClr>
              <a:buFont typeface="Inter"/>
              <a:buChar char="•"/>
            </a:pPr>
            <a:r>
              <a:rPr sz="1800" b="0">
                <a:solidFill>
                  <a:srgbClr val="FFFFFF"/>
                </a:solidFill>
                <a:latin typeface="Inter"/>
              </a:rPr>
              <a:t>APM add-ons: Datadog LLM Observability, New Relic AI Monitoring, Dynatrace, Grafana Cloud, Splunk; LLM views inside the APM you already pay for</a:t>
            </a:r>
          </a:p>
          <a:p>
            <a:pPr marL="292608" indent="-292608">
              <a:lnSpc>
                <a:spcPct val="120000"/>
              </a:lnSpc>
              <a:spcAft>
                <a:spcPts val="1260"/>
              </a:spcAft>
              <a:buClr>
                <a:srgbClr val="00D4AA"/>
              </a:buClr>
              <a:buFont typeface="Inter"/>
              <a:buChar char="•"/>
            </a:pPr>
            <a:r>
              <a:rPr sz="1800" b="0">
                <a:solidFill>
                  <a:srgbClr val="FFFFFF"/>
                </a:solidFill>
                <a:latin typeface="Inter"/>
              </a:rPr>
              <a:t>Both sit in the same layers as everything else: instrumentation at the bottom, storage and features at the top</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12 · Lecture 12.4</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What the APMs do well</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260"/>
              </a:spcAft>
              <a:buClr>
                <a:srgbClr val="00D4AA"/>
              </a:buClr>
              <a:buFont typeface="Inter"/>
              <a:buChar char="•"/>
            </a:pPr>
            <a:r>
              <a:rPr sz="1800" b="0">
                <a:solidFill>
                  <a:srgbClr val="FFFFFF"/>
                </a:solidFill>
                <a:latin typeface="Inter"/>
              </a:rPr>
              <a:t>Correlation: the LLM span next to the HTTP span, the database span and the host metrics</a:t>
            </a:r>
          </a:p>
          <a:p>
            <a:pPr marL="292608" indent="-292608">
              <a:lnSpc>
                <a:spcPct val="120000"/>
              </a:lnSpc>
              <a:spcAft>
                <a:spcPts val="1260"/>
              </a:spcAft>
              <a:buClr>
                <a:srgbClr val="00D4AA"/>
              </a:buClr>
              <a:buFont typeface="Inter"/>
              <a:buChar char="•"/>
            </a:pPr>
            <a:r>
              <a:rPr sz="1800" b="0">
                <a:solidFill>
                  <a:srgbClr val="FFFFFF"/>
                </a:solidFill>
                <a:latin typeface="Inter"/>
              </a:rPr>
              <a:t>Paging: the on-call rotation, escalation policies and runbooks already live there</a:t>
            </a:r>
          </a:p>
          <a:p>
            <a:pPr marL="292608" indent="-292608">
              <a:lnSpc>
                <a:spcPct val="120000"/>
              </a:lnSpc>
              <a:spcAft>
                <a:spcPts val="1260"/>
              </a:spcAft>
              <a:buClr>
                <a:srgbClr val="00D4AA"/>
              </a:buClr>
              <a:buFont typeface="Inter"/>
              <a:buChar char="•"/>
            </a:pPr>
            <a:r>
              <a:rPr sz="1800" b="0">
                <a:solidFill>
                  <a:srgbClr val="FFFFFF"/>
                </a:solidFill>
                <a:latin typeface="Inter"/>
              </a:rPr>
              <a:t>Compliance: retention, access control and audit already approved by security</a:t>
            </a:r>
          </a:p>
          <a:p>
            <a:pPr marL="292608" indent="-292608">
              <a:lnSpc>
                <a:spcPct val="120000"/>
              </a:lnSpc>
              <a:spcAft>
                <a:spcPts val="1260"/>
              </a:spcAft>
              <a:buClr>
                <a:srgbClr val="00D4AA"/>
              </a:buClr>
              <a:buFont typeface="Inter"/>
              <a:buChar char="•"/>
            </a:pPr>
            <a:r>
              <a:rPr sz="1800" b="0">
                <a:solidFill>
                  <a:srgbClr val="FFFFFF"/>
                </a:solidFill>
                <a:latin typeface="Inter"/>
              </a:rPr>
              <a:t>Cost visibility per service across the whole company</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12 · Lecture 12.4</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What you lose or pay for</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260"/>
              </a:spcAft>
              <a:buClr>
                <a:srgbClr val="00D4AA"/>
              </a:buClr>
              <a:buFont typeface="Inter"/>
              <a:buChar char="•"/>
            </a:pPr>
            <a:r>
              <a:rPr sz="1800" b="0">
                <a:solidFill>
                  <a:srgbClr val="FFFFFF"/>
                </a:solidFill>
                <a:latin typeface="Inter"/>
              </a:rPr>
              <a:t>Prompt management with labels: usually missing or thin; verify per vendor</a:t>
            </a:r>
          </a:p>
          <a:p>
            <a:pPr marL="292608" indent="-292608">
              <a:lnSpc>
                <a:spcPct val="120000"/>
              </a:lnSpc>
              <a:spcAft>
                <a:spcPts val="1260"/>
              </a:spcAft>
              <a:buClr>
                <a:srgbClr val="00D4AA"/>
              </a:buClr>
              <a:buFont typeface="Inter"/>
              <a:buChar char="•"/>
            </a:pPr>
            <a:r>
              <a:rPr sz="1800" b="0">
                <a:solidFill>
                  <a:srgbClr val="FFFFFF"/>
                </a:solidFill>
                <a:latin typeface="Inter"/>
              </a:rPr>
              <a:t>Scores and datasets: present in some, shallow in most; the eval loop from Section 8 lives elsewhere</a:t>
            </a:r>
          </a:p>
          <a:p>
            <a:pPr marL="292608" indent="-292608">
              <a:lnSpc>
                <a:spcPct val="120000"/>
              </a:lnSpc>
              <a:spcAft>
                <a:spcPts val="1260"/>
              </a:spcAft>
              <a:buClr>
                <a:srgbClr val="00D4AA"/>
              </a:buClr>
              <a:buFont typeface="Inter"/>
              <a:buChar char="•"/>
            </a:pPr>
            <a:r>
              <a:rPr sz="1800" b="0">
                <a:solidFill>
                  <a:srgbClr val="FFFFFF"/>
                </a:solidFill>
                <a:latin typeface="Inter"/>
              </a:rPr>
              <a:t>Cost model: per span, per ingested GB or per host; agent traces are large (prompts, tool results)</a:t>
            </a:r>
          </a:p>
          <a:p>
            <a:pPr marL="292608" indent="-292608">
              <a:lnSpc>
                <a:spcPct val="120000"/>
              </a:lnSpc>
              <a:spcAft>
                <a:spcPts val="1260"/>
              </a:spcAft>
              <a:buClr>
                <a:srgbClr val="00D4AA"/>
              </a:buClr>
              <a:buFont typeface="Inter"/>
              <a:buChar char="•"/>
            </a:pPr>
            <a:r>
              <a:rPr sz="1800" b="0">
                <a:solidFill>
                  <a:srgbClr val="FFFFFF"/>
                </a:solidFill>
                <a:latin typeface="Inter"/>
              </a:rPr>
              <a:t>Sampling pressure: keeping 100% of LLM spans in an APM can cost more than the LLM calls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12 · Lecture 12.4</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OpenLLMetry in one line</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457200" y="1325880"/>
            <a:ext cx="4023360" cy="4983480"/>
          </a:xfrm>
          <a:prstGeom prst="rect">
            <a:avLst/>
          </a:prstGeom>
          <a:noFill/>
        </p:spPr>
        <p:txBody>
          <a:bodyPr wrap="square" lIns="45720" rIns="45720" tIns="27432" bIns="27432" anchor="t">
            <a:spAutoFit/>
          </a:bodyPr>
          <a:lstStyle/>
          <a:p>
            <a:pPr marL="292608" indent="-292608">
              <a:lnSpc>
                <a:spcPct val="120000"/>
              </a:lnSpc>
              <a:spcAft>
                <a:spcPts val="1120"/>
              </a:spcAft>
              <a:buClr>
                <a:srgbClr val="00D4AA"/>
              </a:buClr>
              <a:buFont typeface="Inter"/>
              <a:buChar char="•"/>
            </a:pPr>
            <a:r>
              <a:rPr sz="1600" b="0">
                <a:solidFill>
                  <a:srgbClr val="FFFFFF"/>
                </a:solidFill>
                <a:latin typeface="Inter"/>
              </a:rPr>
              <a:t>Emits OTel spans with </a:t>
            </a:r>
            <a:r>
              <a:rPr sz="1472" b="0">
                <a:solidFill>
                  <a:srgbClr val="00D4AA"/>
                </a:solidFill>
                <a:latin typeface="JetBrains Mono"/>
              </a:rPr>
              <a:t>gen_ai.*</a:t>
            </a:r>
            <a:r>
              <a:rPr sz="1600" b="0">
                <a:solidFill>
                  <a:srgbClr val="FFFFFF"/>
                </a:solidFill>
                <a:latin typeface="Inter"/>
              </a:rPr>
              <a:t> attributes to </a:t>
            </a:r>
            <a:r>
              <a:rPr sz="1472" b="0">
                <a:solidFill>
                  <a:srgbClr val="00D4AA"/>
                </a:solidFill>
                <a:latin typeface="JetBrains Mono"/>
              </a:rPr>
              <a:t>OTEL_EXPORTER_OTLP_ENDPOINT</a:t>
            </a:r>
          </a:p>
          <a:p>
            <a:pPr marL="292608" indent="-292608">
              <a:lnSpc>
                <a:spcPct val="120000"/>
              </a:lnSpc>
              <a:spcAft>
                <a:spcPts val="1120"/>
              </a:spcAft>
              <a:buClr>
                <a:srgbClr val="00D4AA"/>
              </a:buClr>
              <a:buFont typeface="Inter"/>
              <a:buChar char="•"/>
            </a:pPr>
            <a:r>
              <a:rPr sz="1600" b="0">
                <a:solidFill>
                  <a:srgbClr val="FFFFFF"/>
                </a:solidFill>
                <a:latin typeface="Inter"/>
              </a:rPr>
              <a:t>Overlaps with OpenInference for OpenAI; pick one auto-instrumentor, not both (Lecture 3.6 double counting)</a:t>
            </a:r>
          </a:p>
        </p:txBody>
      </p:sp>
      <p:sp>
        <p:nvSpPr>
          <p:cNvPr id="6" name="Rounded Rectangle 5"/>
          <p:cNvSpPr/>
          <p:nvPr/>
        </p:nvSpPr>
        <p:spPr>
          <a:xfrm>
            <a:off x="4663440" y="1325880"/>
            <a:ext cx="7086600" cy="4983480"/>
          </a:xfrm>
          <a:prstGeom prst="roundRect">
            <a:avLst>
              <a:gd name="adj" fmla="val 1027"/>
            </a:avLst>
          </a:prstGeom>
          <a:solidFill>
            <a:srgbClr val="0F1E35"/>
          </a:solidFill>
          <a:ln w="19050">
            <a:solidFill>
              <a:srgbClr val="1A274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663440" y="1325880"/>
            <a:ext cx="54864" cy="498348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4892040" y="1399032"/>
            <a:ext cx="6720840" cy="320040"/>
          </a:xfrm>
          <a:prstGeom prst="rect">
            <a:avLst/>
          </a:prstGeom>
          <a:noFill/>
        </p:spPr>
        <p:txBody>
          <a:bodyPr wrap="square" lIns="45720" rIns="45720" tIns="27432" bIns="27432" anchor="t">
            <a:spAutoFit/>
          </a:bodyPr>
          <a:lstStyle/>
          <a:p>
            <a:r>
              <a:rPr sz="1000" b="0">
                <a:solidFill>
                  <a:srgbClr val="94A3B8"/>
                </a:solidFill>
                <a:latin typeface="JetBrains Mono"/>
              </a:rPr>
              <a:t>python</a:t>
            </a:r>
          </a:p>
        </p:txBody>
      </p:sp>
      <p:sp>
        <p:nvSpPr>
          <p:cNvPr id="9" name="TextBox 8"/>
          <p:cNvSpPr txBox="1"/>
          <p:nvPr/>
        </p:nvSpPr>
        <p:spPr>
          <a:xfrm>
            <a:off x="4892040" y="1737360"/>
            <a:ext cx="6720840" cy="4526280"/>
          </a:xfrm>
          <a:prstGeom prst="rect">
            <a:avLst/>
          </a:prstGeom>
          <a:noFill/>
        </p:spPr>
        <p:txBody>
          <a:bodyPr wrap="none" lIns="45720" rIns="45720" tIns="27432" bIns="27432" anchor="t">
            <a:spAutoFit/>
          </a:bodyPr>
          <a:lstStyle/>
          <a:p>
            <a:r>
              <a:rPr sz="1200">
                <a:solidFill>
                  <a:srgbClr val="FFFFFF"/>
                </a:solidFill>
                <a:latin typeface="JetBrains Mono"/>
              </a:rPr>
              <a:t>from traceloop.sdk import Traceloop</a:t>
            </a:r>
          </a:p>
          <a:p>
            <a:r>
              <a:rPr sz="1200">
                <a:solidFill>
                  <a:srgbClr val="FFFFFF"/>
                </a:solidFill>
                <a:latin typeface="JetBrains Mono"/>
              </a:rPr>
              <a:t>Traceloop.init(app_name="atlas", disable_batch=False)   # verify against current docs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12 · Lecture 12.4</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The hybrid, with the Collector</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260"/>
              </a:spcAft>
              <a:buClr>
                <a:srgbClr val="00D4AA"/>
              </a:buClr>
              <a:buFont typeface="Inter"/>
              <a:buChar char="•"/>
            </a:pPr>
            <a:r>
              <a:rPr sz="1800" b="0">
                <a:solidFill>
                  <a:srgbClr val="FFFFFF"/>
                </a:solidFill>
                <a:latin typeface="Inter"/>
              </a:rPr>
              <a:t>Atlas → OTLP → Collector</a:t>
            </a:r>
          </a:p>
          <a:p>
            <a:pPr marL="292608" indent="-292608">
              <a:lnSpc>
                <a:spcPct val="120000"/>
              </a:lnSpc>
              <a:spcAft>
                <a:spcPts val="1260"/>
              </a:spcAft>
              <a:buClr>
                <a:srgbClr val="00D4AA"/>
              </a:buClr>
              <a:buFont typeface="Inter"/>
              <a:buChar char="•"/>
            </a:pPr>
            <a:r>
              <a:rPr sz="1800" b="0">
                <a:solidFill>
                  <a:srgbClr val="FFFFFF"/>
                </a:solidFill>
                <a:latin typeface="Inter"/>
              </a:rPr>
              <a:t>Exporter 1 → APM: sampled spans, metrics, everything infrastructure and paging needs</a:t>
            </a:r>
          </a:p>
          <a:p>
            <a:pPr marL="292608" indent="-292608">
              <a:lnSpc>
                <a:spcPct val="120000"/>
              </a:lnSpc>
              <a:spcAft>
                <a:spcPts val="1260"/>
              </a:spcAft>
              <a:buClr>
                <a:srgbClr val="00D4AA"/>
              </a:buClr>
              <a:buFont typeface="Inter"/>
              <a:buChar char="•"/>
            </a:pPr>
            <a:r>
              <a:rPr sz="1800" b="0">
                <a:solidFill>
                  <a:srgbClr val="FFFFFF"/>
                </a:solidFill>
                <a:latin typeface="Inter"/>
              </a:rPr>
              <a:t>Exporter 2 → Langfuse (or Phoenix): full LLM spans for prompts, scores, datasets</a:t>
            </a:r>
          </a:p>
          <a:p>
            <a:pPr marL="292608" indent="-292608">
              <a:lnSpc>
                <a:spcPct val="120000"/>
              </a:lnSpc>
              <a:spcAft>
                <a:spcPts val="1260"/>
              </a:spcAft>
              <a:buClr>
                <a:srgbClr val="00D4AA"/>
              </a:buClr>
              <a:buFont typeface="Inter"/>
              <a:buChar char="•"/>
            </a:pPr>
            <a:r>
              <a:rPr sz="1800" b="0">
                <a:solidFill>
                  <a:srgbClr val="FFFFFF"/>
                </a:solidFill>
                <a:latin typeface="Inter"/>
              </a:rPr>
              <a:t>Collector processors: masking once, tail sampling per destination</a:t>
            </a:r>
          </a:p>
          <a:p>
            <a:pPr marL="292608" indent="-292608">
              <a:lnSpc>
                <a:spcPct val="120000"/>
              </a:lnSpc>
              <a:spcAft>
                <a:spcPts val="1260"/>
              </a:spcAft>
              <a:buClr>
                <a:srgbClr val="00D4AA"/>
              </a:buClr>
              <a:buFont typeface="Inter"/>
              <a:buChar char="•"/>
            </a:pPr>
            <a:r>
              <a:rPr sz="1800" b="0">
                <a:solidFill>
                  <a:srgbClr val="FFFFFF"/>
                </a:solidFill>
                <a:latin typeface="Inter"/>
              </a:rPr>
              <a:t>One instrumentation, two audiences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12 · Lecture 12.4</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How to have the conversation</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260"/>
              </a:spcAft>
              <a:buClr>
                <a:srgbClr val="00D4AA"/>
              </a:buClr>
              <a:buFont typeface="Inter"/>
              <a:buChar char="•"/>
            </a:pPr>
            <a:r>
              <a:rPr sz="1800" b="0">
                <a:solidFill>
                  <a:srgbClr val="FFFFFF"/>
                </a:solidFill>
                <a:latin typeface="Inter"/>
              </a:rPr>
              <a:t>Ask the APM team for the LLM add-on's price per span or per GB, and their retention default</a:t>
            </a:r>
          </a:p>
          <a:p>
            <a:pPr marL="292608" indent="-292608">
              <a:lnSpc>
                <a:spcPct val="120000"/>
              </a:lnSpc>
              <a:spcAft>
                <a:spcPts val="1260"/>
              </a:spcAft>
              <a:buClr>
                <a:srgbClr val="00D4AA"/>
              </a:buClr>
              <a:buFont typeface="Inter"/>
              <a:buChar char="•"/>
            </a:pPr>
            <a:r>
              <a:rPr sz="1800" b="0">
                <a:solidFill>
                  <a:srgbClr val="FFFFFF"/>
                </a:solidFill>
                <a:latin typeface="Inter"/>
              </a:rPr>
              <a:t>Bring your span size and daily span count from the Ops Console</a:t>
            </a:r>
          </a:p>
          <a:p>
            <a:pPr marL="292608" indent="-292608">
              <a:lnSpc>
                <a:spcPct val="120000"/>
              </a:lnSpc>
              <a:spcAft>
                <a:spcPts val="1260"/>
              </a:spcAft>
              <a:buClr>
                <a:srgbClr val="00D4AA"/>
              </a:buClr>
              <a:buFont typeface="Inter"/>
              <a:buChar char="•"/>
            </a:pPr>
            <a:r>
              <a:rPr sz="1800" b="0">
                <a:solidFill>
                  <a:srgbClr val="FFFFFF"/>
                </a:solidFill>
                <a:latin typeface="Inter"/>
              </a:rPr>
              <a:t>Propose the hybrid with the Collector config from Lecture 13.2</a:t>
            </a:r>
          </a:p>
          <a:p>
            <a:pPr marL="292608" indent="-292608">
              <a:lnSpc>
                <a:spcPct val="120000"/>
              </a:lnSpc>
              <a:spcAft>
                <a:spcPts val="1260"/>
              </a:spcAft>
              <a:buClr>
                <a:srgbClr val="00D4AA"/>
              </a:buClr>
              <a:buFont typeface="Inter"/>
              <a:buChar char="•"/>
            </a:pPr>
            <a:r>
              <a:rPr sz="1800" b="0">
                <a:solidFill>
                  <a:srgbClr val="FFFFFF"/>
                </a:solidFill>
                <a:latin typeface="Inter"/>
              </a:rPr>
              <a:t>Agree what pages from the APM and what is investigated in the LLM tool</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12 · Lecture 12.4</a:t>
            </a:r>
          </a:p>
        </p:txBody>
      </p:sp>
      <p:sp>
        <p:nvSpPr>
          <p:cNvPr id="3" name="TextBox 2"/>
          <p:cNvSpPr txBox="1"/>
          <p:nvPr/>
        </p:nvSpPr>
        <p:spPr>
          <a:xfrm>
            <a:off x="1371600" y="822960"/>
            <a:ext cx="9418320" cy="457200"/>
          </a:xfrm>
          <a:prstGeom prst="rect">
            <a:avLst/>
          </a:prstGeom>
          <a:noFill/>
        </p:spPr>
        <p:txBody>
          <a:bodyPr wrap="square" lIns="45720" rIns="45720" tIns="27432" bIns="27432" anchor="t">
            <a:spAutoFit/>
          </a:bodyPr>
          <a:lstStyle/>
          <a:p>
            <a:pPr algn="ctr"/>
            <a:r>
              <a:rPr sz="1200" b="1">
                <a:solidFill>
                  <a:srgbClr val="00D4AA"/>
                </a:solidFill>
                <a:latin typeface="Inter"/>
              </a:rPr>
              <a:t>RECAP</a:t>
            </a:r>
          </a:p>
        </p:txBody>
      </p:sp>
      <p:sp>
        <p:nvSpPr>
          <p:cNvPr id="4" name="TextBox 3"/>
          <p:cNvSpPr txBox="1"/>
          <p:nvPr/>
        </p:nvSpPr>
        <p:spPr>
          <a:xfrm>
            <a:off x="1371600" y="1234440"/>
            <a:ext cx="9418320" cy="822960"/>
          </a:xfrm>
          <a:prstGeom prst="rect">
            <a:avLst/>
          </a:prstGeom>
          <a:noFill/>
        </p:spPr>
        <p:txBody>
          <a:bodyPr wrap="square" lIns="45720" rIns="45720" tIns="27432" bIns="27432" anchor="t">
            <a:spAutoFit/>
          </a:bodyPr>
          <a:lstStyle/>
          <a:p>
            <a:pPr algn="ctr"/>
            <a:r>
              <a:rPr sz="2600" b="1">
                <a:solidFill>
                  <a:srgbClr val="FFFFFF"/>
                </a:solidFill>
                <a:latin typeface="Inter"/>
              </a:rPr>
              <a:t>Key takeaways</a:t>
            </a:r>
          </a:p>
        </p:txBody>
      </p:sp>
      <p:sp>
        <p:nvSpPr>
          <p:cNvPr id="5" name="Rounded Rectangle 4"/>
          <p:cNvSpPr/>
          <p:nvPr/>
        </p:nvSpPr>
        <p:spPr>
          <a:xfrm>
            <a:off x="2011680" y="251460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2194560" y="251460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7" name="TextBox 6"/>
          <p:cNvSpPr txBox="1"/>
          <p:nvPr/>
        </p:nvSpPr>
        <p:spPr>
          <a:xfrm>
            <a:off x="2788920" y="2514600"/>
            <a:ext cx="7223760" cy="777240"/>
          </a:xfrm>
          <a:prstGeom prst="rect">
            <a:avLst/>
          </a:prstGeom>
          <a:noFill/>
        </p:spPr>
        <p:txBody>
          <a:bodyPr wrap="square" lIns="45720" rIns="45720" tIns="27432" bIns="27432" anchor="ctr">
            <a:spAutoFit/>
          </a:bodyPr>
          <a:lstStyle/>
          <a:p>
            <a:r>
              <a:rPr sz="1800" b="1">
                <a:solidFill>
                  <a:srgbClr val="FFFFFF"/>
                </a:solidFill>
                <a:latin typeface="Inter"/>
              </a:rPr>
              <a:t>APMs win correlation, paging, compliance</a:t>
            </a:r>
          </a:p>
        </p:txBody>
      </p:sp>
      <p:sp>
        <p:nvSpPr>
          <p:cNvPr id="8" name="Rounded Rectangle 7"/>
          <p:cNvSpPr/>
          <p:nvPr/>
        </p:nvSpPr>
        <p:spPr>
          <a:xfrm>
            <a:off x="2011680" y="347472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194560" y="347472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0" name="TextBox 9"/>
          <p:cNvSpPr txBox="1"/>
          <p:nvPr/>
        </p:nvSpPr>
        <p:spPr>
          <a:xfrm>
            <a:off x="2788920" y="3474720"/>
            <a:ext cx="7223760" cy="777240"/>
          </a:xfrm>
          <a:prstGeom prst="rect">
            <a:avLst/>
          </a:prstGeom>
          <a:noFill/>
        </p:spPr>
        <p:txBody>
          <a:bodyPr wrap="square" lIns="45720" rIns="45720" tIns="27432" bIns="27432" anchor="ctr">
            <a:spAutoFit/>
          </a:bodyPr>
          <a:lstStyle/>
          <a:p>
            <a:r>
              <a:rPr sz="1800" b="1">
                <a:solidFill>
                  <a:srgbClr val="FFFFFF"/>
                </a:solidFill>
                <a:latin typeface="Inter"/>
              </a:rPr>
              <a:t>LLM tools win prompts, evals, datasets</a:t>
            </a:r>
          </a:p>
        </p:txBody>
      </p:sp>
      <p:sp>
        <p:nvSpPr>
          <p:cNvPr id="11" name="Rounded Rectangle 10"/>
          <p:cNvSpPr/>
          <p:nvPr/>
        </p:nvSpPr>
        <p:spPr>
          <a:xfrm>
            <a:off x="2011680" y="443484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194560" y="443484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3" name="TextBox 12"/>
          <p:cNvSpPr txBox="1"/>
          <p:nvPr/>
        </p:nvSpPr>
        <p:spPr>
          <a:xfrm>
            <a:off x="2788920" y="4434840"/>
            <a:ext cx="7223760" cy="777240"/>
          </a:xfrm>
          <a:prstGeom prst="rect">
            <a:avLst/>
          </a:prstGeom>
          <a:noFill/>
        </p:spPr>
        <p:txBody>
          <a:bodyPr wrap="square" lIns="45720" rIns="45720" tIns="27432" bIns="27432" anchor="ctr">
            <a:spAutoFit/>
          </a:bodyPr>
          <a:lstStyle/>
          <a:p>
            <a:r>
              <a:rPr sz="1800" b="1">
                <a:solidFill>
                  <a:srgbClr val="FFFFFF"/>
                </a:solidFill>
                <a:latin typeface="Inter"/>
              </a:rPr>
              <a:t>One Collector, two exporters: the hybrid</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12 · Lecture 12.4</a:t>
            </a:r>
          </a:p>
        </p:txBody>
      </p:sp>
      <p:sp>
        <p:nvSpPr>
          <p:cNvPr id="3" name="TextBox 2"/>
          <p:cNvSpPr txBox="1"/>
          <p:nvPr/>
        </p:nvSpPr>
        <p:spPr>
          <a:xfrm>
            <a:off x="2377440" y="2286000"/>
            <a:ext cx="1097280" cy="1097280"/>
          </a:xfrm>
          <a:prstGeom prst="rect">
            <a:avLst/>
          </a:prstGeom>
          <a:noFill/>
        </p:spPr>
        <p:txBody>
          <a:bodyPr wrap="square" lIns="45720" rIns="45720" tIns="27432" bIns="27432" anchor="ctr">
            <a:spAutoFit/>
          </a:bodyPr>
          <a:lstStyle/>
          <a:p>
            <a:r>
              <a:rPr sz="5400" b="1">
                <a:solidFill>
                  <a:srgbClr val="00D4AA"/>
                </a:solidFill>
                <a:latin typeface="Inter"/>
              </a:rPr>
              <a:t>→</a:t>
            </a:r>
          </a:p>
        </p:txBody>
      </p:sp>
      <p:sp>
        <p:nvSpPr>
          <p:cNvPr id="4" name="TextBox 3"/>
          <p:cNvSpPr txBox="1"/>
          <p:nvPr/>
        </p:nvSpPr>
        <p:spPr>
          <a:xfrm>
            <a:off x="3566160" y="2148840"/>
            <a:ext cx="7315200" cy="457200"/>
          </a:xfrm>
          <a:prstGeom prst="rect">
            <a:avLst/>
          </a:prstGeom>
          <a:noFill/>
        </p:spPr>
        <p:txBody>
          <a:bodyPr wrap="square" lIns="45720" rIns="45720" tIns="27432" bIns="27432" anchor="t">
            <a:spAutoFit/>
          </a:bodyPr>
          <a:lstStyle/>
          <a:p>
            <a:r>
              <a:rPr sz="1400" b="0">
                <a:solidFill>
                  <a:srgbClr val="94A3B8"/>
                </a:solidFill>
                <a:latin typeface="Inter"/>
              </a:rPr>
              <a:t>Next up:</a:t>
            </a:r>
          </a:p>
        </p:txBody>
      </p:sp>
      <p:sp>
        <p:nvSpPr>
          <p:cNvPr id="5" name="TextBox 4"/>
          <p:cNvSpPr txBox="1"/>
          <p:nvPr/>
        </p:nvSpPr>
        <p:spPr>
          <a:xfrm>
            <a:off x="3566160" y="2560320"/>
            <a:ext cx="7315200" cy="1097280"/>
          </a:xfrm>
          <a:prstGeom prst="rect">
            <a:avLst/>
          </a:prstGeom>
          <a:noFill/>
        </p:spPr>
        <p:txBody>
          <a:bodyPr wrap="square" lIns="45720" rIns="45720" tIns="27432" bIns="27432" anchor="t">
            <a:spAutoFit/>
          </a:bodyPr>
          <a:lstStyle/>
          <a:p>
            <a:r>
              <a:rPr sz="2600" b="1">
                <a:solidFill>
                  <a:srgbClr val="FFFFFF"/>
                </a:solidFill>
                <a:latin typeface="Inter"/>
              </a:rPr>
              <a:t>Decision matrix: choosing your backend</a:t>
            </a:r>
          </a:p>
        </p:txBody>
      </p:sp>
      <p:sp>
        <p:nvSpPr>
          <p:cNvPr id="6" name="TextBox 5"/>
          <p:cNvSpPr txBox="1"/>
          <p:nvPr/>
        </p:nvSpPr>
        <p:spPr>
          <a:xfrm>
            <a:off x="3566160" y="3703320"/>
            <a:ext cx="7315200" cy="1097280"/>
          </a:xfrm>
          <a:prstGeom prst="rect">
            <a:avLst/>
          </a:prstGeom>
          <a:noFill/>
        </p:spPr>
        <p:txBody>
          <a:bodyPr wrap="square" lIns="45720" rIns="45720" tIns="27432" bIns="27432" anchor="t">
            <a:spAutoFit/>
          </a:bodyPr>
          <a:lstStyle/>
          <a:p>
            <a:r>
              <a:rPr sz="1400" b="0">
                <a:solidFill>
                  <a:srgbClr val="94A3B8"/>
                </a:solidFill>
                <a:latin typeface="Inter"/>
              </a:rPr>
              <a:t>Next, the decision matrix: control, cost, compliance, features and lock-in on one page.</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12 · Lecture 12.5</a:t>
            </a:r>
          </a:p>
        </p:txBody>
      </p:sp>
      <p:sp>
        <p:nvSpPr>
          <p:cNvPr id="3" name="TextBox 2"/>
          <p:cNvSpPr txBox="1"/>
          <p:nvPr/>
        </p:nvSpPr>
        <p:spPr>
          <a:xfrm>
            <a:off x="6675120" y="320040"/>
            <a:ext cx="5074920" cy="548640"/>
          </a:xfrm>
          <a:prstGeom prst="rect">
            <a:avLst/>
          </a:prstGeom>
          <a:noFill/>
        </p:spPr>
        <p:txBody>
          <a:bodyPr wrap="square" lIns="45720" rIns="45720" tIns="27432" bIns="27432" anchor="t">
            <a:spAutoFit/>
          </a:bodyPr>
          <a:lstStyle/>
          <a:p>
            <a:pPr algn="r"/>
            <a:r>
              <a:rPr sz="1000" b="0">
                <a:solidFill>
                  <a:srgbClr val="94A3B8"/>
                </a:solidFill>
                <a:latin typeface="Inter"/>
              </a:rPr>
              <a:t>SECTION 12 · PORTABILITY AND ALTERNATIVES</a:t>
            </a:r>
          </a:p>
        </p:txBody>
      </p:sp>
      <p:sp>
        <p:nvSpPr>
          <p:cNvPr id="4" name="TextBox 3"/>
          <p:cNvSpPr txBox="1"/>
          <p:nvPr/>
        </p:nvSpPr>
        <p:spPr>
          <a:xfrm>
            <a:off x="914400" y="1417320"/>
            <a:ext cx="10332720" cy="457200"/>
          </a:xfrm>
          <a:prstGeom prst="rect">
            <a:avLst/>
          </a:prstGeom>
          <a:noFill/>
        </p:spPr>
        <p:txBody>
          <a:bodyPr wrap="square" lIns="45720" rIns="45720" tIns="27432" bIns="27432" anchor="t">
            <a:spAutoFit/>
          </a:bodyPr>
          <a:lstStyle/>
          <a:p>
            <a:r>
              <a:rPr sz="1200" b="1">
                <a:solidFill>
                  <a:srgbClr val="00D4AA"/>
                </a:solidFill>
                <a:latin typeface="Inter"/>
              </a:rPr>
              <a:t>LECTURE 12.5</a:t>
            </a:r>
          </a:p>
        </p:txBody>
      </p:sp>
      <p:sp>
        <p:nvSpPr>
          <p:cNvPr id="5" name="TextBox 4"/>
          <p:cNvSpPr txBox="1"/>
          <p:nvPr/>
        </p:nvSpPr>
        <p:spPr>
          <a:xfrm>
            <a:off x="914400" y="1874519"/>
            <a:ext cx="10332720" cy="1645920"/>
          </a:xfrm>
          <a:prstGeom prst="rect">
            <a:avLst/>
          </a:prstGeom>
          <a:noFill/>
        </p:spPr>
        <p:txBody>
          <a:bodyPr wrap="square" lIns="45720" rIns="45720" tIns="27432" bIns="27432" anchor="t">
            <a:spAutoFit/>
          </a:bodyPr>
          <a:lstStyle/>
          <a:p>
            <a:pPr>
              <a:lnSpc>
                <a:spcPct val="110000"/>
              </a:lnSpc>
            </a:pPr>
            <a:r>
              <a:rPr sz="3000" b="1">
                <a:solidFill>
                  <a:srgbClr val="FFFFFF"/>
                </a:solidFill>
                <a:latin typeface="Inter"/>
              </a:rPr>
              <a:t>Decision matrix: choosing your backend</a:t>
            </a:r>
          </a:p>
        </p:txBody>
      </p:sp>
      <p:sp>
        <p:nvSpPr>
          <p:cNvPr id="6" name="Rectangle 5"/>
          <p:cNvSpPr/>
          <p:nvPr/>
        </p:nvSpPr>
        <p:spPr>
          <a:xfrm>
            <a:off x="914400" y="3794760"/>
            <a:ext cx="64008" cy="114300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88720" y="3749039"/>
            <a:ext cx="9692640" cy="1280160"/>
          </a:xfrm>
          <a:prstGeom prst="rect">
            <a:avLst/>
          </a:prstGeom>
          <a:noFill/>
        </p:spPr>
        <p:txBody>
          <a:bodyPr wrap="square" lIns="45720" rIns="45720" tIns="27432" bIns="27432" anchor="ctr">
            <a:spAutoFit/>
          </a:bodyPr>
          <a:lstStyle/>
          <a:p>
            <a:pPr>
              <a:lnSpc>
                <a:spcPct val="130000"/>
              </a:lnSpc>
            </a:pPr>
            <a:r>
              <a:rPr sz="1600" b="0">
                <a:solidFill>
                  <a:srgbClr val="CBD5E1"/>
                </a:solidFill>
                <a:latin typeface="Inter"/>
              </a:rPr>
              <a:t>Score backend options on five criteria: control, cost, compliance, features and lock-in.</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12 · Lecture 12.5</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Five criteria</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260"/>
              </a:spcAft>
              <a:buClr>
                <a:srgbClr val="00D4AA"/>
              </a:buClr>
              <a:buFont typeface="Inter"/>
              <a:buChar char="•"/>
            </a:pPr>
            <a:r>
              <a:rPr sz="1800" b="0">
                <a:solidFill>
                  <a:srgbClr val="FFFFFF"/>
                </a:solidFill>
                <a:latin typeface="Inter"/>
              </a:rPr>
              <a:t>Control: can you self-host, and who owns the data?</a:t>
            </a:r>
          </a:p>
          <a:p>
            <a:pPr marL="292608" indent="-292608">
              <a:lnSpc>
                <a:spcPct val="120000"/>
              </a:lnSpc>
              <a:spcAft>
                <a:spcPts val="1260"/>
              </a:spcAft>
              <a:buClr>
                <a:srgbClr val="00D4AA"/>
              </a:buClr>
              <a:buFont typeface="Inter"/>
              <a:buChar char="•"/>
            </a:pPr>
            <a:r>
              <a:rPr sz="1800" b="0">
                <a:solidFill>
                  <a:srgbClr val="FFFFFF"/>
                </a:solidFill>
                <a:latin typeface="Inter"/>
              </a:rPr>
              <a:t>Cost: pricing unit (span, GB, seat, host), free tier, and what 100% LLM sampling costs</a:t>
            </a:r>
          </a:p>
          <a:p>
            <a:pPr marL="292608" indent="-292608">
              <a:lnSpc>
                <a:spcPct val="120000"/>
              </a:lnSpc>
              <a:spcAft>
                <a:spcPts val="1260"/>
              </a:spcAft>
              <a:buClr>
                <a:srgbClr val="00D4AA"/>
              </a:buClr>
              <a:buFont typeface="Inter"/>
              <a:buChar char="•"/>
            </a:pPr>
            <a:r>
              <a:rPr sz="1800" b="0">
                <a:solidFill>
                  <a:srgbClr val="FFFFFF"/>
                </a:solidFill>
                <a:latin typeface="Inter"/>
              </a:rPr>
              <a:t>Compliance: data residency, retention control, masking before egress, audit trail</a:t>
            </a:r>
          </a:p>
          <a:p>
            <a:pPr marL="292608" indent="-292608">
              <a:lnSpc>
                <a:spcPct val="120000"/>
              </a:lnSpc>
              <a:spcAft>
                <a:spcPts val="1260"/>
              </a:spcAft>
              <a:buClr>
                <a:srgbClr val="00D4AA"/>
              </a:buClr>
              <a:buFont typeface="Inter"/>
              <a:buChar char="•"/>
            </a:pPr>
            <a:r>
              <a:rPr sz="1800" b="0">
                <a:solidFill>
                  <a:srgbClr val="FFFFFF"/>
                </a:solidFill>
                <a:latin typeface="Inter"/>
              </a:rPr>
              <a:t>Features: tracing, sessions, prompts with labels, scores, datasets, dashboards, alerting</a:t>
            </a:r>
          </a:p>
          <a:p>
            <a:pPr marL="292608" indent="-292608">
              <a:lnSpc>
                <a:spcPct val="120000"/>
              </a:lnSpc>
              <a:spcAft>
                <a:spcPts val="1260"/>
              </a:spcAft>
              <a:buClr>
                <a:srgbClr val="00D4AA"/>
              </a:buClr>
              <a:buFont typeface="Inter"/>
              <a:buChar char="•"/>
            </a:pPr>
            <a:r>
              <a:rPr sz="1800" b="0">
                <a:solidFill>
                  <a:srgbClr val="FFFFFF"/>
                </a:solidFill>
                <a:latin typeface="Inter"/>
              </a:rPr>
              <a:t>Lock-in: OTLP in, export out, how many files change if you leave</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12 · Lecture 12.5</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The matrix, filled in for Atlas</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graphicFrame>
        <p:nvGraphicFramePr>
          <p:cNvPr id="5" name="Table 4"/>
          <p:cNvGraphicFramePr>
            <a:graphicFrameLocks noGrp="1"/>
          </p:cNvGraphicFramePr>
          <p:nvPr/>
        </p:nvGraphicFramePr>
        <p:xfrm>
          <a:off x="457200" y="1325880"/>
          <a:ext cx="11292839" cy="2688336"/>
        </p:xfrm>
        <a:graphic>
          <a:graphicData uri="http://schemas.openxmlformats.org/drawingml/2006/table">
            <a:tbl>
              <a:tblPr firstRow="1" bandRow="1">
                <a:tableStyleId>{5C22544A-7EE6-4342-B048-85BDC9FD1C3A}</a:tableStyleId>
              </a:tblPr>
              <a:tblGrid>
                <a:gridCol w="537754"/>
                <a:gridCol w="3172750"/>
                <a:gridCol w="2258568"/>
                <a:gridCol w="2903873"/>
                <a:gridCol w="2419894"/>
              </a:tblGrid>
              <a:tr h="384048">
                <a:tc>
                  <a:txBody>
                    <a:bodyPr wrap="square"/>
                    <a:lstStyle/>
                    <a:p/>
                  </a:txBody>
                  <a:tcPr marL="91440" marR="91440" marT="45720" marB="45720" anchor="ctr">
                    <a:solidFill>
                      <a:srgbClr val="00D4AA"/>
                    </a:solidFill>
                  </a:tcPr>
                </a:tc>
                <a:tc>
                  <a:txBody>
                    <a:bodyPr wrap="square"/>
                    <a:lstStyle/>
                    <a:p>
                      <a:r>
                        <a:rPr sz="1200" b="1">
                          <a:solidFill>
                            <a:srgbClr val="0A1628"/>
                          </a:solidFill>
                          <a:latin typeface="Inter"/>
                        </a:rPr>
                        <a:t>Langfuse</a:t>
                      </a:r>
                    </a:p>
                  </a:txBody>
                  <a:tcPr marL="91440" marR="91440" marT="45720" marB="45720" anchor="ctr">
                    <a:solidFill>
                      <a:srgbClr val="00D4AA"/>
                    </a:solidFill>
                  </a:tcPr>
                </a:tc>
                <a:tc>
                  <a:txBody>
                    <a:bodyPr wrap="square"/>
                    <a:lstStyle/>
                    <a:p>
                      <a:r>
                        <a:rPr sz="1200" b="1">
                          <a:solidFill>
                            <a:srgbClr val="0A1628"/>
                          </a:solidFill>
                          <a:latin typeface="Inter"/>
                        </a:rPr>
                        <a:t>LangSmith</a:t>
                      </a:r>
                    </a:p>
                  </a:txBody>
                  <a:tcPr marL="91440" marR="91440" marT="45720" marB="45720" anchor="ctr">
                    <a:solidFill>
                      <a:srgbClr val="00D4AA"/>
                    </a:solidFill>
                  </a:tcPr>
                </a:tc>
                <a:tc>
                  <a:txBody>
                    <a:bodyPr wrap="square"/>
                    <a:lstStyle/>
                    <a:p>
                      <a:r>
                        <a:rPr sz="1200" b="1">
                          <a:solidFill>
                            <a:srgbClr val="0A1628"/>
                          </a:solidFill>
                          <a:latin typeface="Inter"/>
                        </a:rPr>
                        <a:t>Phoenix</a:t>
                      </a:r>
                    </a:p>
                  </a:txBody>
                  <a:tcPr marL="91440" marR="91440" marT="45720" marB="45720" anchor="ctr">
                    <a:solidFill>
                      <a:srgbClr val="00D4AA"/>
                    </a:solidFill>
                  </a:tcPr>
                </a:tc>
                <a:tc>
                  <a:txBody>
                    <a:bodyPr wrap="square"/>
                    <a:lstStyle/>
                    <a:p>
                      <a:r>
                        <a:rPr sz="1200" b="1">
                          <a:solidFill>
                            <a:srgbClr val="0A1628"/>
                          </a:solidFill>
                          <a:latin typeface="Inter"/>
                        </a:rPr>
                        <a:t>APM add-on</a:t>
                      </a:r>
                    </a:p>
                  </a:txBody>
                  <a:tcPr marL="91440" marR="91440" marT="45720" marB="45720" anchor="ctr">
                    <a:solidFill>
                      <a:srgbClr val="00D4AA"/>
                    </a:solidFill>
                  </a:tcPr>
                </a:tc>
              </a:tr>
              <a:tr h="384048">
                <a:tc>
                  <a:txBody>
                    <a:bodyPr wrap="square"/>
                    <a:lstStyle/>
                    <a:p>
                      <a:r>
                        <a:rPr sz="1200" b="1">
                          <a:solidFill>
                            <a:srgbClr val="FFFFFF"/>
                          </a:solidFill>
                          <a:latin typeface="Inter"/>
                        </a:rPr>
                        <a:t>Control</a:t>
                      </a:r>
                    </a:p>
                  </a:txBody>
                  <a:tcPr marL="91440" marR="91440" marT="45720" marB="45720" anchor="ctr">
                    <a:solidFill>
                      <a:srgbClr val="1A2742"/>
                    </a:solidFill>
                  </a:tcPr>
                </a:tc>
                <a:tc>
                  <a:txBody>
                    <a:bodyPr wrap="square"/>
                    <a:lstStyle/>
                    <a:p>
                      <a:r>
                        <a:rPr sz="1200" b="0">
                          <a:solidFill>
                            <a:srgbClr val="FFFFFF"/>
                          </a:solidFill>
                          <a:latin typeface="Inter"/>
                        </a:rPr>
                        <a:t>Self-host on free tier, or cloud</a:t>
                      </a:r>
                    </a:p>
                  </a:txBody>
                  <a:tcPr marL="91440" marR="91440" marT="45720" marB="45720" anchor="ctr">
                    <a:solidFill>
                      <a:srgbClr val="1A2742"/>
                    </a:solidFill>
                  </a:tcPr>
                </a:tc>
                <a:tc>
                  <a:txBody>
                    <a:bodyPr wrap="square"/>
                    <a:lstStyle/>
                    <a:p>
                      <a:r>
                        <a:rPr sz="1200" b="0">
                          <a:solidFill>
                            <a:srgbClr val="FFFFFF"/>
                          </a:solidFill>
                          <a:latin typeface="Inter"/>
                        </a:rPr>
                        <a:t>Cloud; self-host on enterprise</a:t>
                      </a:r>
                    </a:p>
                  </a:txBody>
                  <a:tcPr marL="91440" marR="91440" marT="45720" marB="45720" anchor="ctr">
                    <a:solidFill>
                      <a:srgbClr val="1A2742"/>
                    </a:solidFill>
                  </a:tcPr>
                </a:tc>
                <a:tc>
                  <a:txBody>
                    <a:bodyPr wrap="square"/>
                    <a:lstStyle/>
                    <a:p>
                      <a:r>
                        <a:rPr sz="1200" b="0">
                          <a:solidFill>
                            <a:srgbClr val="FFFFFF"/>
                          </a:solidFill>
                          <a:latin typeface="Inter"/>
                        </a:rPr>
                        <a:t>Self-host, one container; cloud option</a:t>
                      </a:r>
                    </a:p>
                  </a:txBody>
                  <a:tcPr marL="91440" marR="91440" marT="45720" marB="45720" anchor="ctr">
                    <a:solidFill>
                      <a:srgbClr val="1A2742"/>
                    </a:solidFill>
                  </a:tcPr>
                </a:tc>
                <a:tc>
                  <a:txBody>
                    <a:bodyPr wrap="square"/>
                    <a:lstStyle/>
                    <a:p>
                      <a:r>
                        <a:rPr sz="1200" b="0">
                          <a:solidFill>
                            <a:srgbClr val="FFFFFF"/>
                          </a:solidFill>
                          <a:latin typeface="Inter"/>
                        </a:rPr>
                        <a:t>Vendor cloud, mostly</a:t>
                      </a:r>
                    </a:p>
                  </a:txBody>
                  <a:tcPr marL="91440" marR="91440" marT="45720" marB="45720" anchor="ctr">
                    <a:solidFill>
                      <a:srgbClr val="1A2742"/>
                    </a:solidFill>
                  </a:tcPr>
                </a:tc>
              </a:tr>
              <a:tr h="384048">
                <a:tc>
                  <a:txBody>
                    <a:bodyPr wrap="square"/>
                    <a:lstStyle/>
                    <a:p>
                      <a:r>
                        <a:rPr sz="1200" b="1">
                          <a:solidFill>
                            <a:srgbClr val="FFFFFF"/>
                          </a:solidFill>
                          <a:latin typeface="Inter"/>
                        </a:rPr>
                        <a:t>Cost</a:t>
                      </a:r>
                    </a:p>
                  </a:txBody>
                  <a:tcPr marL="91440" marR="91440" marT="45720" marB="45720" anchor="ctr">
                    <a:solidFill>
                      <a:srgbClr val="0F1E35"/>
                    </a:solidFill>
                  </a:tcPr>
                </a:tc>
                <a:tc>
                  <a:txBody>
                    <a:bodyPr wrap="square"/>
                    <a:lstStyle/>
                    <a:p>
                      <a:r>
                        <a:rPr sz="1200" b="0">
                          <a:solidFill>
                            <a:srgbClr val="FFFFFF"/>
                          </a:solidFill>
                          <a:latin typeface="Inter"/>
                        </a:rPr>
                        <a:t>Free tier, then per-unit; self-host is infra only</a:t>
                      </a:r>
                    </a:p>
                  </a:txBody>
                  <a:tcPr marL="91440" marR="91440" marT="45720" marB="45720" anchor="ctr">
                    <a:solidFill>
                      <a:srgbClr val="0F1E35"/>
                    </a:solidFill>
                  </a:tcPr>
                </a:tc>
                <a:tc>
                  <a:txBody>
                    <a:bodyPr wrap="square"/>
                    <a:lstStyle/>
                    <a:p>
                      <a:r>
                        <a:rPr sz="1200" b="0">
                          <a:solidFill>
                            <a:srgbClr val="FFFFFF"/>
                          </a:solidFill>
                          <a:latin typeface="Inter"/>
                        </a:rPr>
                        <a:t>Per seat plus per trace tiers</a:t>
                      </a:r>
                    </a:p>
                  </a:txBody>
                  <a:tcPr marL="91440" marR="91440" marT="45720" marB="45720" anchor="ctr">
                    <a:solidFill>
                      <a:srgbClr val="0F1E35"/>
                    </a:solidFill>
                  </a:tcPr>
                </a:tc>
                <a:tc>
                  <a:txBody>
                    <a:bodyPr wrap="square"/>
                    <a:lstStyle/>
                    <a:p>
                      <a:r>
                        <a:rPr sz="1200" b="0">
                          <a:solidFill>
                            <a:srgbClr val="FFFFFF"/>
                          </a:solidFill>
                          <a:latin typeface="Inter"/>
                        </a:rPr>
                        <a:t>Free OSS; hosted paid</a:t>
                      </a:r>
                    </a:p>
                  </a:txBody>
                  <a:tcPr marL="91440" marR="91440" marT="45720" marB="45720" anchor="ctr">
                    <a:solidFill>
                      <a:srgbClr val="0F1E35"/>
                    </a:solidFill>
                  </a:tcPr>
                </a:tc>
                <a:tc>
                  <a:txBody>
                    <a:bodyPr wrap="square"/>
                    <a:lstStyle/>
                    <a:p>
                      <a:r>
                        <a:rPr sz="1200" b="0">
                          <a:solidFill>
                            <a:srgbClr val="FFFFFF"/>
                          </a:solidFill>
                          <a:latin typeface="Inter"/>
                        </a:rPr>
                        <a:t>Per span / GB / host; can dominate</a:t>
                      </a:r>
                    </a:p>
                  </a:txBody>
                  <a:tcPr marL="91440" marR="91440" marT="45720" marB="45720" anchor="ctr">
                    <a:solidFill>
                      <a:srgbClr val="0F1E35"/>
                    </a:solidFill>
                  </a:tcPr>
                </a:tc>
              </a:tr>
              <a:tr h="384048">
                <a:tc>
                  <a:txBody>
                    <a:bodyPr wrap="square"/>
                    <a:lstStyle/>
                    <a:p>
                      <a:r>
                        <a:rPr sz="1200" b="1">
                          <a:solidFill>
                            <a:srgbClr val="FFFFFF"/>
                          </a:solidFill>
                          <a:latin typeface="Inter"/>
                        </a:rPr>
                        <a:t>Compliance</a:t>
                      </a:r>
                    </a:p>
                  </a:txBody>
                  <a:tcPr marL="91440" marR="91440" marT="45720" marB="45720" anchor="ctr">
                    <a:solidFill>
                      <a:srgbClr val="1A2742"/>
                    </a:solidFill>
                  </a:tcPr>
                </a:tc>
                <a:tc>
                  <a:txBody>
                    <a:bodyPr wrap="square"/>
                    <a:lstStyle/>
                    <a:p>
                      <a:r>
                        <a:rPr sz="1200" b="0">
                          <a:solidFill>
                            <a:srgbClr val="FFFFFF"/>
                          </a:solidFill>
                          <a:latin typeface="Inter"/>
                        </a:rPr>
                        <a:t>Self-host = full residency; masking in SDK</a:t>
                      </a:r>
                    </a:p>
                  </a:txBody>
                  <a:tcPr marL="91440" marR="91440" marT="45720" marB="45720" anchor="ctr">
                    <a:solidFill>
                      <a:srgbClr val="1A2742"/>
                    </a:solidFill>
                  </a:tcPr>
                </a:tc>
                <a:tc>
                  <a:txBody>
                    <a:bodyPr wrap="square"/>
                    <a:lstStyle/>
                    <a:p>
                      <a:r>
                        <a:rPr sz="1200" b="0">
                          <a:solidFill>
                            <a:srgbClr val="FFFFFF"/>
                          </a:solidFill>
                          <a:latin typeface="Inter"/>
                        </a:rPr>
                        <a:t>Vendor-hosted; check region</a:t>
                      </a:r>
                    </a:p>
                  </a:txBody>
                  <a:tcPr marL="91440" marR="91440" marT="45720" marB="45720" anchor="ctr">
                    <a:solidFill>
                      <a:srgbClr val="1A2742"/>
                    </a:solidFill>
                  </a:tcPr>
                </a:tc>
                <a:tc>
                  <a:txBody>
                    <a:bodyPr wrap="square"/>
                    <a:lstStyle/>
                    <a:p>
                      <a:r>
                        <a:rPr sz="1200" b="0">
                          <a:solidFill>
                            <a:srgbClr val="FFFFFF"/>
                          </a:solidFill>
                          <a:latin typeface="Inter"/>
                        </a:rPr>
                        <a:t>Self-host = full residency</a:t>
                      </a:r>
                    </a:p>
                  </a:txBody>
                  <a:tcPr marL="91440" marR="91440" marT="45720" marB="45720" anchor="ctr">
                    <a:solidFill>
                      <a:srgbClr val="1A2742"/>
                    </a:solidFill>
                  </a:tcPr>
                </a:tc>
                <a:tc>
                  <a:txBody>
                    <a:bodyPr wrap="square"/>
                    <a:lstStyle/>
                    <a:p>
                      <a:r>
                        <a:rPr sz="1200" b="0">
                          <a:solidFill>
                            <a:srgbClr val="FFFFFF"/>
                          </a:solidFill>
                          <a:latin typeface="Inter"/>
                        </a:rPr>
                        <a:t>Usually strong; already approved</a:t>
                      </a:r>
                    </a:p>
                  </a:txBody>
                  <a:tcPr marL="91440" marR="91440" marT="45720" marB="45720" anchor="ctr">
                    <a:solidFill>
                      <a:srgbClr val="1A2742"/>
                    </a:solidFill>
                  </a:tcPr>
                </a:tc>
              </a:tr>
              <a:tr h="384048">
                <a:tc>
                  <a:txBody>
                    <a:bodyPr wrap="square"/>
                    <a:lstStyle/>
                    <a:p>
                      <a:r>
                        <a:rPr sz="1200" b="1">
                          <a:solidFill>
                            <a:srgbClr val="FFFFFF"/>
                          </a:solidFill>
                          <a:latin typeface="Inter"/>
                        </a:rPr>
                        <a:t>Features</a:t>
                      </a:r>
                    </a:p>
                  </a:txBody>
                  <a:tcPr marL="91440" marR="91440" marT="45720" marB="45720" anchor="ctr">
                    <a:solidFill>
                      <a:srgbClr val="0F1E35"/>
                    </a:solidFill>
                  </a:tcPr>
                </a:tc>
                <a:tc>
                  <a:txBody>
                    <a:bodyPr wrap="square"/>
                    <a:lstStyle/>
                    <a:p>
                      <a:r>
                        <a:rPr sz="1200" b="0">
                          <a:solidFill>
                            <a:srgbClr val="FFFFFF"/>
                          </a:solidFill>
                          <a:latin typeface="Inter"/>
                        </a:rPr>
                        <a:t>Prompts with labels, scores, datasets, sessions, dashboards</a:t>
                      </a:r>
                    </a:p>
                  </a:txBody>
                  <a:tcPr marL="91440" marR="91440" marT="45720" marB="45720" anchor="ctr">
                    <a:solidFill>
                      <a:srgbClr val="0F1E35"/>
                    </a:solidFill>
                  </a:tcPr>
                </a:tc>
                <a:tc>
                  <a:txBody>
                    <a:bodyPr wrap="square"/>
                    <a:lstStyle/>
                    <a:p>
                      <a:r>
                        <a:rPr sz="1200" b="0">
                          <a:solidFill>
                            <a:srgbClr val="FFFFFF"/>
                          </a:solidFill>
                          <a:latin typeface="Inter"/>
                        </a:rPr>
                        <a:t>Strong tracing, evals, prompt hub, threads</a:t>
                      </a:r>
                    </a:p>
                  </a:txBody>
                  <a:tcPr marL="91440" marR="91440" marT="45720" marB="45720" anchor="ctr">
                    <a:solidFill>
                      <a:srgbClr val="0F1E35"/>
                    </a:solidFill>
                  </a:tcPr>
                </a:tc>
                <a:tc>
                  <a:txBody>
                    <a:bodyPr wrap="square"/>
                    <a:lstStyle/>
                    <a:p>
                      <a:r>
                        <a:rPr sz="1200" b="0">
                          <a:solidFill>
                            <a:srgbClr val="FFFFFF"/>
                          </a:solidFill>
                          <a:latin typeface="Inter"/>
                        </a:rPr>
                        <a:t>Strong RAG debugging, evals, datasets; prompts growing</a:t>
                      </a:r>
                    </a:p>
                  </a:txBody>
                  <a:tcPr marL="91440" marR="91440" marT="45720" marB="45720" anchor="ctr">
                    <a:solidFill>
                      <a:srgbClr val="0F1E35"/>
                    </a:solidFill>
                  </a:tcPr>
                </a:tc>
                <a:tc>
                  <a:txBody>
                    <a:bodyPr wrap="square"/>
                    <a:lstStyle/>
                    <a:p>
                      <a:r>
                        <a:rPr sz="1200" b="0">
                          <a:solidFill>
                            <a:srgbClr val="FFFFFF"/>
                          </a:solidFill>
                          <a:latin typeface="Inter"/>
                        </a:rPr>
                        <a:t>Correlation, paging; prompts and evals thin</a:t>
                      </a:r>
                    </a:p>
                  </a:txBody>
                  <a:tcPr marL="91440" marR="91440" marT="45720" marB="45720" anchor="ctr">
                    <a:solidFill>
                      <a:srgbClr val="0F1E35"/>
                    </a:solidFill>
                  </a:tcPr>
                </a:tc>
              </a:tr>
              <a:tr h="384048">
                <a:tc>
                  <a:txBody>
                    <a:bodyPr wrap="square"/>
                    <a:lstStyle/>
                    <a:p>
                      <a:r>
                        <a:rPr sz="1200" b="1">
                          <a:solidFill>
                            <a:srgbClr val="FFFFFF"/>
                          </a:solidFill>
                          <a:latin typeface="Inter"/>
                        </a:rPr>
                        <a:t>Lock-in</a:t>
                      </a:r>
                    </a:p>
                  </a:txBody>
                  <a:tcPr marL="91440" marR="91440" marT="45720" marB="45720" anchor="ctr">
                    <a:solidFill>
                      <a:srgbClr val="1A2742"/>
                    </a:solidFill>
                  </a:tcPr>
                </a:tc>
                <a:tc>
                  <a:txBody>
                    <a:bodyPr wrap="square"/>
                    <a:lstStyle/>
                    <a:p>
                      <a:r>
                        <a:rPr sz="1200" b="0">
                          <a:solidFill>
                            <a:srgbClr val="FFFFFF"/>
                          </a:solidFill>
                          <a:latin typeface="Inter"/>
                        </a:rPr>
                        <a:t>OTLP in; scores and prompts vendor-side</a:t>
                      </a:r>
                    </a:p>
                  </a:txBody>
                  <a:tcPr marL="91440" marR="91440" marT="45720" marB="45720" anchor="ctr">
                    <a:solidFill>
                      <a:srgbClr val="1A2742"/>
                    </a:solidFill>
                  </a:tcPr>
                </a:tc>
                <a:tc>
                  <a:txBody>
                    <a:bodyPr wrap="square"/>
                    <a:lstStyle/>
                    <a:p>
                      <a:r>
                        <a:rPr sz="1200" b="0">
                          <a:solidFill>
                            <a:srgbClr val="FFFFFF"/>
                          </a:solidFill>
                          <a:latin typeface="Inter"/>
                        </a:rPr>
                        <a:t>Native format; OTLP accepted</a:t>
                      </a:r>
                    </a:p>
                  </a:txBody>
                  <a:tcPr marL="91440" marR="91440" marT="45720" marB="45720" anchor="ctr">
                    <a:solidFill>
                      <a:srgbClr val="1A2742"/>
                    </a:solidFill>
                  </a:tcPr>
                </a:tc>
                <a:tc>
                  <a:txBody>
                    <a:bodyPr wrap="square"/>
                    <a:lstStyle/>
                    <a:p>
                      <a:r>
                        <a:rPr sz="1200" b="0">
                          <a:solidFill>
                            <a:srgbClr val="FFFFFF"/>
                          </a:solidFill>
                          <a:latin typeface="Inter"/>
                        </a:rPr>
                        <a:t>OTLP in; OpenInference native</a:t>
                      </a:r>
                    </a:p>
                  </a:txBody>
                  <a:tcPr marL="91440" marR="91440" marT="45720" marB="45720" anchor="ctr">
                    <a:solidFill>
                      <a:srgbClr val="1A2742"/>
                    </a:solidFill>
                  </a:tcPr>
                </a:tc>
                <a:tc>
                  <a:txBody>
                    <a:bodyPr wrap="square"/>
                    <a:lstStyle/>
                    <a:p>
                      <a:r>
                        <a:rPr sz="1200" b="0">
                          <a:solidFill>
                            <a:srgbClr val="FFFFFF"/>
                          </a:solidFill>
                          <a:latin typeface="Inter"/>
                        </a:rPr>
                        <a:t>Proprietary agent or OTLP; expensive to leave</a:t>
                      </a:r>
                    </a:p>
                  </a:txBody>
                  <a:tcPr marL="91440" marR="91440" marT="45720" marB="45720" anchor="ctr">
                    <a:solidFill>
                      <a:srgbClr val="1A2742"/>
                    </a:solidFill>
                  </a:tcPr>
                </a:tc>
              </a:tr>
              <a:tr h="384048">
                <a:tc>
                  <a:txBody>
                    <a:bodyPr wrap="square"/>
                    <a:lstStyle/>
                    <a:p>
                      <a:r>
                        <a:rPr sz="1200" b="1">
                          <a:solidFill>
                            <a:srgbClr val="FFFFFF"/>
                          </a:solidFill>
                          <a:latin typeface="Inter"/>
                        </a:rPr>
                        <a:t>Atlas fit</a:t>
                      </a:r>
                    </a:p>
                  </a:txBody>
                  <a:tcPr marL="91440" marR="91440" marT="45720" marB="45720" anchor="ctr">
                    <a:solidFill>
                      <a:srgbClr val="0F1E35"/>
                    </a:solidFill>
                  </a:tcPr>
                </a:tc>
                <a:tc>
                  <a:txBody>
                    <a:bodyPr wrap="square"/>
                    <a:lstStyle/>
                    <a:p>
                      <a:r>
                        <a:rPr sz="1200" b="0">
                          <a:solidFill>
                            <a:srgbClr val="FFFFFF"/>
                          </a:solidFill>
                          <a:latin typeface="Inter"/>
                        </a:rPr>
                        <a:t>Default in this course</a:t>
                      </a:r>
                    </a:p>
                  </a:txBody>
                  <a:tcPr marL="91440" marR="91440" marT="45720" marB="45720" anchor="ctr">
                    <a:solidFill>
                      <a:srgbClr val="0F1E35"/>
                    </a:solidFill>
                  </a:tcPr>
                </a:tc>
                <a:tc>
                  <a:txBody>
                    <a:bodyPr wrap="square"/>
                    <a:lstStyle/>
                    <a:p>
                      <a:r>
                        <a:rPr sz="1200" b="0">
                          <a:solidFill>
                            <a:srgbClr val="FFFFFF"/>
                          </a:solidFill>
                          <a:latin typeface="Inter"/>
                        </a:rPr>
                        <a:t>Strong alternative for LangChain shops</a:t>
                      </a:r>
                    </a:p>
                  </a:txBody>
                  <a:tcPr marL="91440" marR="91440" marT="45720" marB="45720" anchor="ctr">
                    <a:solidFill>
                      <a:srgbClr val="0F1E35"/>
                    </a:solidFill>
                  </a:tcPr>
                </a:tc>
                <a:tc>
                  <a:txBody>
                    <a:bodyPr wrap="square"/>
                    <a:lstStyle/>
                    <a:p>
                      <a:r>
                        <a:rPr sz="1200" b="0">
                          <a:solidFill>
                            <a:srgbClr val="FFFFFF"/>
                          </a:solidFill>
                          <a:latin typeface="Inter"/>
                        </a:rPr>
                        <a:t>Local dev and RAG debugging</a:t>
                      </a:r>
                    </a:p>
                  </a:txBody>
                  <a:tcPr marL="91440" marR="91440" marT="45720" marB="45720" anchor="ctr">
                    <a:solidFill>
                      <a:srgbClr val="0F1E35"/>
                    </a:solidFill>
                  </a:tcPr>
                </a:tc>
                <a:tc>
                  <a:txBody>
                    <a:bodyPr wrap="square"/>
                    <a:lstStyle/>
                    <a:p>
                      <a:r>
                        <a:rPr sz="1200" b="0">
                          <a:solidFill>
                            <a:srgbClr val="FFFFFF"/>
                          </a:solidFill>
                          <a:latin typeface="Inter"/>
                        </a:rPr>
                        <a:t>Hybrid via Collector</a:t>
                      </a:r>
                    </a:p>
                  </a:txBody>
                  <a:tcPr marL="91440" marR="91440" marT="45720" marB="45720" anchor="ctr">
                    <a:solidFill>
                      <a:srgbClr val="0F1E35"/>
                    </a:solidFill>
                  </a:tcPr>
                </a:tc>
              </a:tr>
            </a:tbl>
          </a:graphicData>
        </a:graphic>
      </p:graphicFrame>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12 · Lecture 12.5</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Three situations that decide first</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260"/>
              </a:spcAft>
              <a:buClr>
                <a:srgbClr val="00D4AA"/>
              </a:buClr>
              <a:buFont typeface="Inter"/>
              <a:buChar char="•"/>
            </a:pPr>
            <a:r>
              <a:rPr sz="1800" b="0">
                <a:solidFill>
                  <a:srgbClr val="FFFFFF"/>
                </a:solidFill>
                <a:latin typeface="Inter"/>
              </a:rPr>
              <a:t>Regulated data and no vendor egress allowed → self-host: Langfuse or Phoenix, masking in SDK and Collector</a:t>
            </a:r>
          </a:p>
          <a:p>
            <a:pPr marL="292608" indent="-292608">
              <a:lnSpc>
                <a:spcPct val="120000"/>
              </a:lnSpc>
              <a:spcAft>
                <a:spcPts val="1260"/>
              </a:spcAft>
              <a:buClr>
                <a:srgbClr val="00D4AA"/>
              </a:buClr>
              <a:buFont typeface="Inter"/>
              <a:buChar char="•"/>
            </a:pPr>
            <a:r>
              <a:rPr sz="1800" b="0">
                <a:solidFill>
                  <a:srgbClr val="FFFFFF"/>
                </a:solidFill>
                <a:latin typeface="Inter"/>
              </a:rPr>
              <a:t>Company mandates the APM → hybrid: APM for paging, LLM-native tool for prompts and evals</a:t>
            </a:r>
          </a:p>
          <a:p>
            <a:pPr marL="292608" indent="-292608">
              <a:lnSpc>
                <a:spcPct val="120000"/>
              </a:lnSpc>
              <a:spcAft>
                <a:spcPts val="1260"/>
              </a:spcAft>
              <a:buClr>
                <a:srgbClr val="00D4AA"/>
              </a:buClr>
              <a:buFont typeface="Inter"/>
              <a:buChar char="•"/>
            </a:pPr>
            <a:r>
              <a:rPr sz="1800" b="0">
                <a:solidFill>
                  <a:srgbClr val="FFFFFF"/>
                </a:solidFill>
                <a:latin typeface="Inter"/>
              </a:rPr>
              <a:t>Small team, no platform engineers → hosted: Langfuse Cloud or LangSmith; do not run ClickHouse at 2 a.m.</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12 · Lecture 12.5</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Fill in your own</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260"/>
              </a:spcAft>
              <a:buClr>
                <a:srgbClr val="00D4AA"/>
              </a:buClr>
              <a:buFont typeface="Inter"/>
              <a:buChar char="•"/>
            </a:pPr>
            <a:r>
              <a:rPr sz="1656" b="0">
                <a:solidFill>
                  <a:srgbClr val="00D4AA"/>
                </a:solidFill>
                <a:latin typeface="JetBrains Mono"/>
              </a:rPr>
              <a:t>10-resources/backend-decision-matrix.md</a:t>
            </a:r>
            <a:r>
              <a:rPr sz="1800" b="0">
                <a:solidFill>
                  <a:srgbClr val="FFFFFF"/>
                </a:solidFill>
                <a:latin typeface="Inter"/>
              </a:rPr>
              <a:t>: the five rows, blank columns, a "verified on" date</a:t>
            </a:r>
          </a:p>
          <a:p>
            <a:pPr marL="292608" indent="-292608">
              <a:lnSpc>
                <a:spcPct val="120000"/>
              </a:lnSpc>
              <a:spcAft>
                <a:spcPts val="1260"/>
              </a:spcAft>
              <a:buClr>
                <a:srgbClr val="00D4AA"/>
              </a:buClr>
              <a:buFont typeface="Inter"/>
              <a:buChar char="•"/>
            </a:pPr>
            <a:r>
              <a:rPr sz="1800" b="0">
                <a:solidFill>
                  <a:srgbClr val="FFFFFF"/>
                </a:solidFill>
                <a:latin typeface="Inter"/>
              </a:rPr>
              <a:t>Weight the criteria for your organisation before scoring</a:t>
            </a:r>
          </a:p>
          <a:p>
            <a:pPr marL="292608" indent="-292608">
              <a:lnSpc>
                <a:spcPct val="120000"/>
              </a:lnSpc>
              <a:spcAft>
                <a:spcPts val="1260"/>
              </a:spcAft>
              <a:buClr>
                <a:srgbClr val="00D4AA"/>
              </a:buClr>
              <a:buFont typeface="Inter"/>
              <a:buChar char="•"/>
            </a:pPr>
            <a:r>
              <a:rPr sz="1800" b="0">
                <a:solidFill>
                  <a:srgbClr val="FFFFFF"/>
                </a:solidFill>
                <a:latin typeface="Inter"/>
              </a:rPr>
              <a:t>Score, then write one paragraph: the decision and the two things that would change it</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12 · Lecture 12.5</a:t>
            </a:r>
          </a:p>
        </p:txBody>
      </p:sp>
      <p:sp>
        <p:nvSpPr>
          <p:cNvPr id="3" name="TextBox 2"/>
          <p:cNvSpPr txBox="1"/>
          <p:nvPr/>
        </p:nvSpPr>
        <p:spPr>
          <a:xfrm>
            <a:off x="1371600" y="822960"/>
            <a:ext cx="9418320" cy="457200"/>
          </a:xfrm>
          <a:prstGeom prst="rect">
            <a:avLst/>
          </a:prstGeom>
          <a:noFill/>
        </p:spPr>
        <p:txBody>
          <a:bodyPr wrap="square" lIns="45720" rIns="45720" tIns="27432" bIns="27432" anchor="t">
            <a:spAutoFit/>
          </a:bodyPr>
          <a:lstStyle/>
          <a:p>
            <a:pPr algn="ctr"/>
            <a:r>
              <a:rPr sz="1200" b="1">
                <a:solidFill>
                  <a:srgbClr val="00D4AA"/>
                </a:solidFill>
                <a:latin typeface="Inter"/>
              </a:rPr>
              <a:t>RECAP</a:t>
            </a:r>
          </a:p>
        </p:txBody>
      </p:sp>
      <p:sp>
        <p:nvSpPr>
          <p:cNvPr id="4" name="TextBox 3"/>
          <p:cNvSpPr txBox="1"/>
          <p:nvPr/>
        </p:nvSpPr>
        <p:spPr>
          <a:xfrm>
            <a:off x="1371600" y="1234440"/>
            <a:ext cx="9418320" cy="822960"/>
          </a:xfrm>
          <a:prstGeom prst="rect">
            <a:avLst/>
          </a:prstGeom>
          <a:noFill/>
        </p:spPr>
        <p:txBody>
          <a:bodyPr wrap="square" lIns="45720" rIns="45720" tIns="27432" bIns="27432" anchor="t">
            <a:spAutoFit/>
          </a:bodyPr>
          <a:lstStyle/>
          <a:p>
            <a:pPr algn="ctr"/>
            <a:r>
              <a:rPr sz="2600" b="1">
                <a:solidFill>
                  <a:srgbClr val="FFFFFF"/>
                </a:solidFill>
                <a:latin typeface="Inter"/>
              </a:rPr>
              <a:t>Key takeaways</a:t>
            </a:r>
          </a:p>
        </p:txBody>
      </p:sp>
      <p:sp>
        <p:nvSpPr>
          <p:cNvPr id="5" name="Rounded Rectangle 4"/>
          <p:cNvSpPr/>
          <p:nvPr/>
        </p:nvSpPr>
        <p:spPr>
          <a:xfrm>
            <a:off x="2011680" y="251460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2194560" y="251460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7" name="TextBox 6"/>
          <p:cNvSpPr txBox="1"/>
          <p:nvPr/>
        </p:nvSpPr>
        <p:spPr>
          <a:xfrm>
            <a:off x="2788920" y="2514600"/>
            <a:ext cx="7223760" cy="777240"/>
          </a:xfrm>
          <a:prstGeom prst="rect">
            <a:avLst/>
          </a:prstGeom>
          <a:noFill/>
        </p:spPr>
        <p:txBody>
          <a:bodyPr wrap="square" lIns="45720" rIns="45720" tIns="27432" bIns="27432" anchor="ctr">
            <a:spAutoFit/>
          </a:bodyPr>
          <a:lstStyle/>
          <a:p>
            <a:r>
              <a:rPr sz="1800" b="1">
                <a:solidFill>
                  <a:srgbClr val="FFFFFF"/>
                </a:solidFill>
                <a:latin typeface="Inter"/>
              </a:rPr>
              <a:t>Weight five criteria before scoring</a:t>
            </a:r>
          </a:p>
        </p:txBody>
      </p:sp>
      <p:sp>
        <p:nvSpPr>
          <p:cNvPr id="8" name="Rounded Rectangle 7"/>
          <p:cNvSpPr/>
          <p:nvPr/>
        </p:nvSpPr>
        <p:spPr>
          <a:xfrm>
            <a:off x="2011680" y="347472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194560" y="347472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0" name="TextBox 9"/>
          <p:cNvSpPr txBox="1"/>
          <p:nvPr/>
        </p:nvSpPr>
        <p:spPr>
          <a:xfrm>
            <a:off x="2788920" y="3474720"/>
            <a:ext cx="7223760" cy="777240"/>
          </a:xfrm>
          <a:prstGeom prst="rect">
            <a:avLst/>
          </a:prstGeom>
          <a:noFill/>
        </p:spPr>
        <p:txBody>
          <a:bodyPr wrap="square" lIns="45720" rIns="45720" tIns="27432" bIns="27432" anchor="ctr">
            <a:spAutoFit/>
          </a:bodyPr>
          <a:lstStyle/>
          <a:p>
            <a:r>
              <a:rPr sz="1800" b="1">
                <a:solidFill>
                  <a:srgbClr val="FFFFFF"/>
                </a:solidFill>
                <a:latin typeface="Inter"/>
              </a:rPr>
              <a:t>Regulation, APM mandate, team size decide first</a:t>
            </a:r>
          </a:p>
        </p:txBody>
      </p:sp>
      <p:sp>
        <p:nvSpPr>
          <p:cNvPr id="11" name="Rounded Rectangle 10"/>
          <p:cNvSpPr/>
          <p:nvPr/>
        </p:nvSpPr>
        <p:spPr>
          <a:xfrm>
            <a:off x="2011680" y="443484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194560" y="443484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3" name="TextBox 12"/>
          <p:cNvSpPr txBox="1"/>
          <p:nvPr/>
        </p:nvSpPr>
        <p:spPr>
          <a:xfrm>
            <a:off x="2788920" y="4434840"/>
            <a:ext cx="7223760" cy="777240"/>
          </a:xfrm>
          <a:prstGeom prst="rect">
            <a:avLst/>
          </a:prstGeom>
          <a:noFill/>
        </p:spPr>
        <p:txBody>
          <a:bodyPr wrap="square" lIns="45720" rIns="45720" tIns="27432" bIns="27432" anchor="ctr">
            <a:spAutoFit/>
          </a:bodyPr>
          <a:lstStyle/>
          <a:p>
            <a:r>
              <a:rPr sz="1800" b="1">
                <a:solidFill>
                  <a:srgbClr val="FFFFFF"/>
                </a:solidFill>
                <a:latin typeface="Inter"/>
              </a:rPr>
              <a:t>One paragraph: decision plus two triggers</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12 · Lecture 12.5</a:t>
            </a:r>
          </a:p>
        </p:txBody>
      </p:sp>
      <p:sp>
        <p:nvSpPr>
          <p:cNvPr id="3" name="TextBox 2"/>
          <p:cNvSpPr txBox="1"/>
          <p:nvPr/>
        </p:nvSpPr>
        <p:spPr>
          <a:xfrm>
            <a:off x="1371600" y="822960"/>
            <a:ext cx="9418320" cy="457200"/>
          </a:xfrm>
          <a:prstGeom prst="rect">
            <a:avLst/>
          </a:prstGeom>
          <a:noFill/>
        </p:spPr>
        <p:txBody>
          <a:bodyPr wrap="square" lIns="45720" rIns="45720" tIns="27432" bIns="27432" anchor="t">
            <a:spAutoFit/>
          </a:bodyPr>
          <a:lstStyle/>
          <a:p>
            <a:pPr algn="ctr"/>
            <a:r>
              <a:rPr sz="1200" b="1">
                <a:solidFill>
                  <a:srgbClr val="00D4AA"/>
                </a:solidFill>
                <a:latin typeface="Inter"/>
              </a:rPr>
              <a:t>SECTION COMPLETE</a:t>
            </a:r>
          </a:p>
        </p:txBody>
      </p:sp>
      <p:sp>
        <p:nvSpPr>
          <p:cNvPr id="4" name="TextBox 3"/>
          <p:cNvSpPr txBox="1"/>
          <p:nvPr/>
        </p:nvSpPr>
        <p:spPr>
          <a:xfrm>
            <a:off x="1371600" y="1234440"/>
            <a:ext cx="9418320" cy="822960"/>
          </a:xfrm>
          <a:prstGeom prst="rect">
            <a:avLst/>
          </a:prstGeom>
          <a:noFill/>
        </p:spPr>
        <p:txBody>
          <a:bodyPr wrap="square" lIns="45720" rIns="45720" tIns="27432" bIns="27432" anchor="t">
            <a:spAutoFit/>
          </a:bodyPr>
          <a:lstStyle/>
          <a:p>
            <a:pPr algn="ctr"/>
            <a:r>
              <a:rPr sz="2600" b="1">
                <a:solidFill>
                  <a:srgbClr val="FFFFFF"/>
                </a:solidFill>
                <a:latin typeface="Inter"/>
              </a:rPr>
              <a:t>You can now</a:t>
            </a:r>
          </a:p>
        </p:txBody>
      </p:sp>
      <p:sp>
        <p:nvSpPr>
          <p:cNvPr id="5" name="Rounded Rectangle 4"/>
          <p:cNvSpPr/>
          <p:nvPr/>
        </p:nvSpPr>
        <p:spPr>
          <a:xfrm>
            <a:off x="2011680" y="251460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2194560" y="251460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7" name="TextBox 6"/>
          <p:cNvSpPr txBox="1"/>
          <p:nvPr/>
        </p:nvSpPr>
        <p:spPr>
          <a:xfrm>
            <a:off x="2788920" y="2514600"/>
            <a:ext cx="7223760" cy="777240"/>
          </a:xfrm>
          <a:prstGeom prst="rect">
            <a:avLst/>
          </a:prstGeom>
          <a:noFill/>
        </p:spPr>
        <p:txBody>
          <a:bodyPr wrap="square" lIns="45720" rIns="45720" tIns="27432" bIns="27432" anchor="ctr">
            <a:spAutoFit/>
          </a:bodyPr>
          <a:lstStyle/>
          <a:p>
            <a:r>
              <a:rPr sz="1800" b="1">
                <a:solidFill>
                  <a:srgbClr val="FFFFFF"/>
                </a:solidFill>
                <a:latin typeface="Inter"/>
              </a:rPr>
              <a:t>Separate portable telemetry from vendor features</a:t>
            </a:r>
          </a:p>
        </p:txBody>
      </p:sp>
      <p:sp>
        <p:nvSpPr>
          <p:cNvPr id="8" name="Rounded Rectangle 7"/>
          <p:cNvSpPr/>
          <p:nvPr/>
        </p:nvSpPr>
        <p:spPr>
          <a:xfrm>
            <a:off x="2011680" y="347472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194560" y="347472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0" name="TextBox 9"/>
          <p:cNvSpPr txBox="1"/>
          <p:nvPr/>
        </p:nvSpPr>
        <p:spPr>
          <a:xfrm>
            <a:off x="2788920" y="3474720"/>
            <a:ext cx="7223760" cy="777240"/>
          </a:xfrm>
          <a:prstGeom prst="rect">
            <a:avLst/>
          </a:prstGeom>
          <a:noFill/>
        </p:spPr>
        <p:txBody>
          <a:bodyPr wrap="square" lIns="45720" rIns="45720" tIns="27432" bIns="27432" anchor="ctr">
            <a:spAutoFit/>
          </a:bodyPr>
          <a:lstStyle/>
          <a:p>
            <a:r>
              <a:rPr sz="1800" b="1">
                <a:solidFill>
                  <a:srgbClr val="FFFFFF"/>
                </a:solidFill>
                <a:latin typeface="Inter"/>
              </a:rPr>
              <a:t>Trace Atlas to LangSmith or Phoenix</a:t>
            </a:r>
          </a:p>
        </p:txBody>
      </p:sp>
      <p:sp>
        <p:nvSpPr>
          <p:cNvPr id="11" name="Rounded Rectangle 10"/>
          <p:cNvSpPr/>
          <p:nvPr/>
        </p:nvSpPr>
        <p:spPr>
          <a:xfrm>
            <a:off x="2011680" y="443484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194560" y="443484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3" name="TextBox 12"/>
          <p:cNvSpPr txBox="1"/>
          <p:nvPr/>
        </p:nvSpPr>
        <p:spPr>
          <a:xfrm>
            <a:off x="2788920" y="4434840"/>
            <a:ext cx="7223760" cy="777240"/>
          </a:xfrm>
          <a:prstGeom prst="rect">
            <a:avLst/>
          </a:prstGeom>
          <a:noFill/>
        </p:spPr>
        <p:txBody>
          <a:bodyPr wrap="square" lIns="45720" rIns="45720" tIns="27432" bIns="27432" anchor="ctr">
            <a:spAutoFit/>
          </a:bodyPr>
          <a:lstStyle/>
          <a:p>
            <a:r>
              <a:rPr sz="1800" b="1">
                <a:solidFill>
                  <a:srgbClr val="FFFFFF"/>
                </a:solidFill>
                <a:latin typeface="Inter"/>
              </a:rPr>
              <a:t>Choose and defend a backend in one paragraph</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12 · Lecture 12.5</a:t>
            </a:r>
          </a:p>
        </p:txBody>
      </p:sp>
      <p:sp>
        <p:nvSpPr>
          <p:cNvPr id="3" name="TextBox 2"/>
          <p:cNvSpPr txBox="1"/>
          <p:nvPr/>
        </p:nvSpPr>
        <p:spPr>
          <a:xfrm>
            <a:off x="2377440" y="2286000"/>
            <a:ext cx="1097280" cy="1097280"/>
          </a:xfrm>
          <a:prstGeom prst="rect">
            <a:avLst/>
          </a:prstGeom>
          <a:noFill/>
        </p:spPr>
        <p:txBody>
          <a:bodyPr wrap="square" lIns="45720" rIns="45720" tIns="27432" bIns="27432" anchor="ctr">
            <a:spAutoFit/>
          </a:bodyPr>
          <a:lstStyle/>
          <a:p>
            <a:r>
              <a:rPr sz="5400" b="1">
                <a:solidFill>
                  <a:srgbClr val="00D4AA"/>
                </a:solidFill>
                <a:latin typeface="Inter"/>
              </a:rPr>
              <a:t>→</a:t>
            </a:r>
          </a:p>
        </p:txBody>
      </p:sp>
      <p:sp>
        <p:nvSpPr>
          <p:cNvPr id="4" name="TextBox 3"/>
          <p:cNvSpPr txBox="1"/>
          <p:nvPr/>
        </p:nvSpPr>
        <p:spPr>
          <a:xfrm>
            <a:off x="3566160" y="2148840"/>
            <a:ext cx="7315200" cy="457200"/>
          </a:xfrm>
          <a:prstGeom prst="rect">
            <a:avLst/>
          </a:prstGeom>
          <a:noFill/>
        </p:spPr>
        <p:txBody>
          <a:bodyPr wrap="square" lIns="45720" rIns="45720" tIns="27432" bIns="27432" anchor="t">
            <a:spAutoFit/>
          </a:bodyPr>
          <a:lstStyle/>
          <a:p>
            <a:r>
              <a:rPr sz="1400" b="0">
                <a:solidFill>
                  <a:srgbClr val="94A3B8"/>
                </a:solidFill>
                <a:latin typeface="Inter"/>
              </a:rPr>
              <a:t>Next up:</a:t>
            </a:r>
          </a:p>
        </p:txBody>
      </p:sp>
      <p:sp>
        <p:nvSpPr>
          <p:cNvPr id="5" name="TextBox 4"/>
          <p:cNvSpPr txBox="1"/>
          <p:nvPr/>
        </p:nvSpPr>
        <p:spPr>
          <a:xfrm>
            <a:off x="3566160" y="2560320"/>
            <a:ext cx="7315200" cy="1097280"/>
          </a:xfrm>
          <a:prstGeom prst="rect">
            <a:avLst/>
          </a:prstGeom>
          <a:noFill/>
        </p:spPr>
        <p:txBody>
          <a:bodyPr wrap="square" lIns="45720" rIns="45720" tIns="27432" bIns="27432" anchor="t">
            <a:spAutoFit/>
          </a:bodyPr>
          <a:lstStyle/>
          <a:p>
            <a:r>
              <a:rPr sz="2600" b="1">
                <a:solidFill>
                  <a:srgbClr val="FFFFFF"/>
                </a:solidFill>
                <a:latin typeface="Inter"/>
              </a:rPr>
              <a:t>Quiz: Portability</a:t>
            </a:r>
          </a:p>
        </p:txBody>
      </p:sp>
      <p:sp>
        <p:nvSpPr>
          <p:cNvPr id="6" name="TextBox 5"/>
          <p:cNvSpPr txBox="1"/>
          <p:nvPr/>
        </p:nvSpPr>
        <p:spPr>
          <a:xfrm>
            <a:off x="3566160" y="3703320"/>
            <a:ext cx="7315200" cy="1097280"/>
          </a:xfrm>
          <a:prstGeom prst="rect">
            <a:avLst/>
          </a:prstGeom>
          <a:noFill/>
        </p:spPr>
        <p:txBody>
          <a:bodyPr wrap="square" lIns="45720" rIns="45720" tIns="27432" bIns="27432" anchor="t">
            <a:spAutoFit/>
          </a:bodyPr>
          <a:lstStyle/>
          <a:p>
            <a:r>
              <a:rPr sz="1400" b="0">
                <a:solidFill>
                  <a:srgbClr val="94A3B8"/>
                </a:solidFill>
                <a:latin typeface="Inter"/>
              </a:rPr>
              <a:t>A short quiz on portability, then Section 13, where you self-host the whole stack and gate pull requests…</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12 · Lecture 12.6</a:t>
            </a:r>
          </a:p>
        </p:txBody>
      </p:sp>
      <p:sp>
        <p:nvSpPr>
          <p:cNvPr id="3" name="TextBox 2"/>
          <p:cNvSpPr txBox="1"/>
          <p:nvPr/>
        </p:nvSpPr>
        <p:spPr>
          <a:xfrm>
            <a:off x="6675120" y="320040"/>
            <a:ext cx="5074920" cy="548640"/>
          </a:xfrm>
          <a:prstGeom prst="rect">
            <a:avLst/>
          </a:prstGeom>
          <a:noFill/>
        </p:spPr>
        <p:txBody>
          <a:bodyPr wrap="square" lIns="45720" rIns="45720" tIns="27432" bIns="27432" anchor="t">
            <a:spAutoFit/>
          </a:bodyPr>
          <a:lstStyle/>
          <a:p>
            <a:pPr algn="r"/>
            <a:r>
              <a:rPr sz="1000" b="0">
                <a:solidFill>
                  <a:srgbClr val="94A3B8"/>
                </a:solidFill>
                <a:latin typeface="Inter"/>
              </a:rPr>
              <a:t>SECTION 12 · PORTABILITY AND ALTERNATIVES</a:t>
            </a:r>
          </a:p>
        </p:txBody>
      </p:sp>
      <p:sp>
        <p:nvSpPr>
          <p:cNvPr id="4" name="TextBox 3"/>
          <p:cNvSpPr txBox="1"/>
          <p:nvPr/>
        </p:nvSpPr>
        <p:spPr>
          <a:xfrm>
            <a:off x="914400" y="1417320"/>
            <a:ext cx="10332720" cy="457200"/>
          </a:xfrm>
          <a:prstGeom prst="rect">
            <a:avLst/>
          </a:prstGeom>
          <a:noFill/>
        </p:spPr>
        <p:txBody>
          <a:bodyPr wrap="square" lIns="45720" rIns="45720" tIns="27432" bIns="27432" anchor="t">
            <a:spAutoFit/>
          </a:bodyPr>
          <a:lstStyle/>
          <a:p>
            <a:r>
              <a:rPr sz="1200" b="1">
                <a:solidFill>
                  <a:srgbClr val="00D4AA"/>
                </a:solidFill>
                <a:latin typeface="Inter"/>
              </a:rPr>
              <a:t>LECTURE 12.6</a:t>
            </a:r>
          </a:p>
        </p:txBody>
      </p:sp>
      <p:sp>
        <p:nvSpPr>
          <p:cNvPr id="5" name="TextBox 4"/>
          <p:cNvSpPr txBox="1"/>
          <p:nvPr/>
        </p:nvSpPr>
        <p:spPr>
          <a:xfrm>
            <a:off x="914400" y="1874519"/>
            <a:ext cx="10332720" cy="1645920"/>
          </a:xfrm>
          <a:prstGeom prst="rect">
            <a:avLst/>
          </a:prstGeom>
          <a:noFill/>
        </p:spPr>
        <p:txBody>
          <a:bodyPr wrap="square" lIns="45720" rIns="45720" tIns="27432" bIns="27432" anchor="t">
            <a:spAutoFit/>
          </a:bodyPr>
          <a:lstStyle/>
          <a:p>
            <a:pPr>
              <a:lnSpc>
                <a:spcPct val="110000"/>
              </a:lnSpc>
            </a:pPr>
            <a:r>
              <a:rPr sz="3000" b="1">
                <a:solidFill>
                  <a:srgbClr val="FFFFFF"/>
                </a:solidFill>
                <a:latin typeface="Inter"/>
              </a:rPr>
              <a:t>Quiz: Portability</a:t>
            </a:r>
          </a:p>
        </p:txBody>
      </p:sp>
      <p:sp>
        <p:nvSpPr>
          <p:cNvPr id="6" name="Rectangle 5"/>
          <p:cNvSpPr/>
          <p:nvPr/>
        </p:nvSpPr>
        <p:spPr>
          <a:xfrm>
            <a:off x="914400" y="3794760"/>
            <a:ext cx="64008" cy="114300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88720" y="3749039"/>
            <a:ext cx="9692640" cy="1280160"/>
          </a:xfrm>
          <a:prstGeom prst="rect">
            <a:avLst/>
          </a:prstGeom>
          <a:noFill/>
        </p:spPr>
        <p:txBody>
          <a:bodyPr wrap="square" lIns="45720" rIns="45720" tIns="27432" bIns="27432" anchor="ctr">
            <a:spAutoFit/>
          </a:bodyPr>
          <a:lstStyle/>
          <a:p>
            <a:pPr>
              <a:lnSpc>
                <a:spcPct val="130000"/>
              </a:lnSpc>
            </a:pPr>
            <a:r>
              <a:rPr sz="1600" b="0">
                <a:solidFill>
                  <a:srgbClr val="CBD5E1"/>
                </a:solidFill>
                <a:latin typeface="Inter"/>
              </a:rPr>
              <a:t>Check what is and is not portable across backends.</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12 · Lecture 12.6</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Quiz: Portability</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5 questions</a:t>
            </a:r>
          </a:p>
          <a:p>
            <a:pPr marL="292608" indent="-292608">
              <a:lnSpc>
                <a:spcPct val="120000"/>
              </a:lnSpc>
              <a:spcAft>
                <a:spcPts val="1539"/>
              </a:spcAft>
              <a:buClr>
                <a:srgbClr val="00D4AA"/>
              </a:buClr>
              <a:buFont typeface="Inter"/>
              <a:buChar char="•"/>
            </a:pPr>
            <a:r>
              <a:rPr sz="2200" b="0">
                <a:solidFill>
                  <a:srgbClr val="FFFFFF"/>
                </a:solidFill>
                <a:latin typeface="Inter"/>
              </a:rPr>
              <a:t>What moves over OTLP and what does not</a:t>
            </a:r>
          </a:p>
          <a:p>
            <a:pPr marL="292608" indent="-292608">
              <a:lnSpc>
                <a:spcPct val="120000"/>
              </a:lnSpc>
              <a:spcAft>
                <a:spcPts val="1539"/>
              </a:spcAft>
              <a:buClr>
                <a:srgbClr val="00D4AA"/>
              </a:buClr>
              <a:buFont typeface="Inter"/>
              <a:buChar char="•"/>
            </a:pPr>
            <a:r>
              <a:rPr sz="2024" b="0">
                <a:solidFill>
                  <a:srgbClr val="00D4AA"/>
                </a:solidFill>
                <a:latin typeface="JetBrains Mono"/>
              </a:rPr>
              <a:t>traceable</a:t>
            </a:r>
            <a:r>
              <a:rPr sz="2200" b="0">
                <a:solidFill>
                  <a:srgbClr val="FFFFFF"/>
                </a:solidFill>
                <a:latin typeface="Inter"/>
              </a:rPr>
              <a:t> run types and </a:t>
            </a:r>
            <a:r>
              <a:rPr sz="2024" b="0">
                <a:solidFill>
                  <a:srgbClr val="00D4AA"/>
                </a:solidFill>
                <a:latin typeface="JetBrains Mono"/>
              </a:rPr>
              <a:t>create_feedback</a:t>
            </a:r>
          </a:p>
          <a:p>
            <a:pPr marL="292608" indent="-292608">
              <a:lnSpc>
                <a:spcPct val="120000"/>
              </a:lnSpc>
              <a:spcAft>
                <a:spcPts val="1539"/>
              </a:spcAft>
              <a:buClr>
                <a:srgbClr val="00D4AA"/>
              </a:buClr>
              <a:buFont typeface="Inter"/>
              <a:buChar char="•"/>
            </a:pPr>
            <a:r>
              <a:rPr sz="2200" b="0">
                <a:solidFill>
                  <a:srgbClr val="FFFFFF"/>
                </a:solidFill>
                <a:latin typeface="Inter"/>
              </a:rPr>
              <a:t>OpenInference vs GenAI conventions</a:t>
            </a:r>
          </a:p>
          <a:p>
            <a:pPr marL="292608" indent="-292608">
              <a:lnSpc>
                <a:spcPct val="120000"/>
              </a:lnSpc>
              <a:spcAft>
                <a:spcPts val="1539"/>
              </a:spcAft>
              <a:buClr>
                <a:srgbClr val="00D4AA"/>
              </a:buClr>
              <a:buFont typeface="Inter"/>
              <a:buChar char="•"/>
            </a:pPr>
            <a:r>
              <a:rPr sz="2200" b="0">
                <a:solidFill>
                  <a:srgbClr val="FFFFFF"/>
                </a:solidFill>
                <a:latin typeface="Inter"/>
              </a:rPr>
              <a:t>The hybrid with the Collector</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12 · Lecture 12.6</a:t>
            </a:r>
          </a:p>
        </p:txBody>
      </p:sp>
      <p:sp>
        <p:nvSpPr>
          <p:cNvPr id="3" name="TextBox 2"/>
          <p:cNvSpPr txBox="1"/>
          <p:nvPr/>
        </p:nvSpPr>
        <p:spPr>
          <a:xfrm>
            <a:off x="2377440" y="2286000"/>
            <a:ext cx="1097280" cy="1097280"/>
          </a:xfrm>
          <a:prstGeom prst="rect">
            <a:avLst/>
          </a:prstGeom>
          <a:noFill/>
        </p:spPr>
        <p:txBody>
          <a:bodyPr wrap="square" lIns="45720" rIns="45720" tIns="27432" bIns="27432" anchor="ctr">
            <a:spAutoFit/>
          </a:bodyPr>
          <a:lstStyle/>
          <a:p>
            <a:r>
              <a:rPr sz="5400" b="1">
                <a:solidFill>
                  <a:srgbClr val="00D4AA"/>
                </a:solidFill>
                <a:latin typeface="Inter"/>
              </a:rPr>
              <a:t>→</a:t>
            </a:r>
          </a:p>
        </p:txBody>
      </p:sp>
      <p:sp>
        <p:nvSpPr>
          <p:cNvPr id="4" name="TextBox 3"/>
          <p:cNvSpPr txBox="1"/>
          <p:nvPr/>
        </p:nvSpPr>
        <p:spPr>
          <a:xfrm>
            <a:off x="3566160" y="2148840"/>
            <a:ext cx="7315200" cy="457200"/>
          </a:xfrm>
          <a:prstGeom prst="rect">
            <a:avLst/>
          </a:prstGeom>
          <a:noFill/>
        </p:spPr>
        <p:txBody>
          <a:bodyPr wrap="square" lIns="45720" rIns="45720" tIns="27432" bIns="27432" anchor="t">
            <a:spAutoFit/>
          </a:bodyPr>
          <a:lstStyle/>
          <a:p>
            <a:r>
              <a:rPr sz="1400" b="0">
                <a:solidFill>
                  <a:srgbClr val="94A3B8"/>
                </a:solidFill>
                <a:latin typeface="Inter"/>
              </a:rPr>
              <a:t>Next up:</a:t>
            </a:r>
          </a:p>
        </p:txBody>
      </p:sp>
      <p:sp>
        <p:nvSpPr>
          <p:cNvPr id="5" name="TextBox 4"/>
          <p:cNvSpPr txBox="1"/>
          <p:nvPr/>
        </p:nvSpPr>
        <p:spPr>
          <a:xfrm>
            <a:off x="3566160" y="2560320"/>
            <a:ext cx="7315200" cy="1097280"/>
          </a:xfrm>
          <a:prstGeom prst="rect">
            <a:avLst/>
          </a:prstGeom>
          <a:noFill/>
        </p:spPr>
        <p:txBody>
          <a:bodyPr wrap="square" lIns="45720" rIns="45720" tIns="27432" bIns="27432" anchor="t">
            <a:spAutoFit/>
          </a:bodyPr>
          <a:lstStyle/>
          <a:p>
            <a:r>
              <a:rPr sz="2600" b="1">
                <a:solidFill>
                  <a:srgbClr val="FFFFFF"/>
                </a:solidFill>
                <a:latin typeface="Inter"/>
              </a:rPr>
              <a:t>Self-hosting Langfuse with Docker Compose</a:t>
            </a:r>
          </a:p>
        </p:txBody>
      </p:sp>
      <p:sp>
        <p:nvSpPr>
          <p:cNvPr id="6" name="TextBox 5"/>
          <p:cNvSpPr txBox="1"/>
          <p:nvPr/>
        </p:nvSpPr>
        <p:spPr>
          <a:xfrm>
            <a:off x="3566160" y="3703320"/>
            <a:ext cx="7315200" cy="1097280"/>
          </a:xfrm>
          <a:prstGeom prst="rect">
            <a:avLst/>
          </a:prstGeom>
          <a:noFill/>
        </p:spPr>
        <p:txBody>
          <a:bodyPr wrap="square" lIns="45720" rIns="45720" tIns="27432" bIns="27432" anchor="t">
            <a:spAutoFit/>
          </a:bodyPr>
          <a:lstStyle/>
          <a:p>
            <a:r>
              <a:rPr sz="1400" b="0">
                <a:solidFill>
                  <a:srgbClr val="94A3B8"/>
                </a:solidFill>
                <a:latin typeface="Inter"/>
              </a:rPr>
              <a:t>Section 13 is next: self-host Langfuse, put the Collector in front, and make CI fail when cost or…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