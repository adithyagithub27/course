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What an agent trace must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call that tool. With what. What came back. How many steps, and did it stop by itself or was it stopped. Where did the tokens go. Where did the time go. If a trace answers all six in ninety seconds, it's a good trace. If it answers three, you're going to be reading logs.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Why did it call that tool. With what. What came back. How many steps, and did it stop by itself or was it stopped. Where did the tokens go. Where did the time go. If a trace answers all six in ninety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trace we're building towards. Agent at the root. A guardrail first. Then one chain observation per step, and inside each step, whatever happened: a generation, then a tool or a retriever. In this conversation the ticket service timed out twice, then said "not found", and the model gave an honest answer in step four. The small panel shows the other shape: an escalation event, then a generation on the bigger model. Scores at the end.</a:t>
            </a:r>
          </a:p>
          <a:p/>
          <a:p>
            <a:r>
              <a:t>[SCREEN: Terminal in `03-code/`, venv active. Run the command below.]</a:t>
            </a:r>
          </a:p>
          <a:p/>
          <a:p>
            <a:r>
              <a:t>[CODE: the same shape, from the real code]</a:t>
            </a:r>
          </a:p>
          <a:p/>
          <a:p>
            <a:r>
              <a:t>[DEMO: Output: `atlas [agent]`, `injection_check [guardrail]`, then `step 1 [chain]` to `step 4 [chain]`. Steps 1 and 2 hold `lookup_tick...]</a:t>
            </a:r>
          </a:p>
          <a:p/>
          <a:p>
            <a:r>
              <a:t>That diagram isn't a mock-up. Here it is from the repo's Langfuse-native layer, with the flaky-ticket scenario. Four steps, two timeouts, a not-found, an honest answer. Keep this output open; we'll answer the six questions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call that tool? Look at the generation immediately before it, in the same step. Its output is the model's decision, the tool it chose, and its finish reason says `tool_calls`. Its input and token count tell you what it saw when it decided. Cause and effect, one click apart.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what, and what came back: the tool observation. Input is the arguments as the model produced them, which is how you catch a model passing a ticket ID with a typo. Output is the result, clipped and masked. The level tells you it failed, and the output shows exactly what the model read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many steps? Count the chain observations. Did it stop on its own? The last generation's finish reason says `stop` if the model chose to end. If the loop intervened, there's an event: step limit reached, tool retries exhausted, or an escalation. And the same facts land as scores, so you can filter a week of traces by "hit the step limit."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did the tokens go? Every generation has usage. Read the input tokens down the steps: here, three thousand two hundred and sixty-one, then about seventy more each step. That slow climb is context growth, the Friday-night signature. Cached input should be high from step two once caching is on. And compare the trace's total to the day's average of a cent and a half per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did the time go? The waterfall. Generations should dominate. Tools should be milliseconds; a tool taking two seconds is a finding. Gaps between spans are your own code. And in Lecture 5.4, time to first token per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breaks readability? Flat traces, where the agent has twenty children and no steps. Missing arguments or results. Silent stopping. Escalation with no marker. And results the size of a web page, which nobody reads.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guardrail, one chain per step, the work inside each step, events for interventions, scores for outcomes. That's the pattern. Next lecture, you'll read the loop that produces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tracing the tool loop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chain per step, errors as levels, three events, one score. That's the whole pattern, and Atlas's own loop has the same shape with span events. Everything in Sections six, seven and eleven reads traces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RAG spans: retrieval quality is a production metric.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query and top-k as input. Document IDs and scores as output, not the article text, which already appears in the next model call's input. The hit count and an empty flag. A warning level when the result is empty. And later, a grounded score from the judge in Section eight.</a:t>
            </a:r>
          </a:p>
          <a:p/>
          <a:p>
            <a:r>
              <a:t>[SCREEN: VS Code, `app/knowledge.py`, `search`; then `src/northwind/config.py`, `kb_min_score: float = 0.5`.]</a:t>
            </a:r>
          </a:p>
          <a:p/>
          <a:p>
            <a:r>
              <a:t>[CODE: excerpt of `KnowledgeBase.search` in `app/knowledge.py`]</a:t>
            </a:r>
          </a:p>
          <a:p/>
          <a:p>
            <a:r>
              <a:t>First, the retriever itself. A small BM25 scorer over the fourteen articles. It scores every article, keeps the top four, and drops anything under a relevance floor, `KB_MIN_SCORE`, half a point by default. Why a floor? BM25 always returns something. Without a floor, "empty" is never true, and you never see the problem.</a:t>
            </a:r>
          </a:p>
          <a:p/>
          <a:p>
            <a:r>
              <a:t>[CODE: `set_retrieval` from `telemetry/genai_attrs.py` (Atlas's path)]</a:t>
            </a:r>
          </a:p>
          <a:p/>
          <a:p>
            <a:r>
              <a:t>On Atlas's own path, the search tool's span becomes a retriever with `set_retrieval`. Operation `retrieval`, Langfuse type `retriever`, the masked query as input. Then our own attributes: top-k, hit count, an empty flag, and the scores. The document IDs go out as the output. The Langfuse-native layer from 4.2 records the same facts, and sets a warning level when the list is empty.</a:t>
            </a:r>
          </a:p>
          <a:p/>
          <a:p>
            <a:r>
              <a:t>[CODE: ask something the knowledge base doesn't cover]</a:t>
            </a:r>
          </a:p>
          <a:p/>
          <a:p>
            <a:r>
              <a:t>[DEMO: `search_knowledge_base [retriever] level=WARNING output=[]` inside `step 1`; then `answer: I couldn't find a policy article for...]</a:t>
            </a:r>
          </a:p>
          <a:p/>
          <a:p>
            <a:r>
              <a:t>Ask about yoga classes. The retriever is yellow: warning level, empty output. And the answer? Our mock is honest: it couldn't find a policy, and offers a ticket. A live model might not be. Either way, the empty flag on this span is what lets you count how often it happens.</a:t>
            </a:r>
          </a:p>
          <a:p/>
          <a:p>
            <a:r>
              <a:t>[CODE: now something that isn't empty, but isn't right]</a:t>
            </a:r>
          </a:p>
          <a:p/>
          <a:p>
            <a:r>
              <a:t>[DEMO: `search_knowledge_base [retriever] output=[{"doc": "KB-012", "score": 2.414}, {"doc": "KB-005", "score": 2.34}, {"doc": "KB-002",...]</a:t>
            </a:r>
          </a:p>
          <a:p/>
          <a:p>
            <a:r>
              <a:t>Now add one word: "on Fridays". Three documents come back above the floor: the ticket article, expenses, password resets. They matched the word "Friday", not the question. Not empty, not relevant, and the model writes an answer from them. Can a retriever span catch that? Only partly: the scores look fine. That's why the second signal, the judge's grounded score, exists. It asks whether the answer is supported by what was retrieved.</a:t>
            </a:r>
          </a:p>
          <a:p/>
          <a:p>
            <a:r>
              <a:t>[SCREEN: Terminal: `OFFLINE=1 make replay` (if not already done). Ops Console → Quality page: tiles showing grounded rate 98.6 % and empt...]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replayed day the console's quality page has both rates. Empty retrievals: two point six percent, a hundred and sixty-five of six thousand three hundred and ninety-six searches. Grounded rate, from the judge's sample: ninety-eight point six percent. Write both in your build log. The retrieval page breaks top-k, result size and empty share down by tenant and hour. In Section eleven, someone changes top-k, and these lines move.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query, the documents, the scores, the emptiness. Warn on empty. Let the judge decide grounded. Two rates, on a dashboard, from day one. Retrieval quality isn't an offline benchmark; it's a production metric, and now you have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Streaming: time to first token and tokens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per generation. Time to first token, which is what the user feels as responsiveness. Time per output token after the first, which is reading speed. And total, which is what most dashboards show and which hides the difference.</a:t>
            </a:r>
          </a:p>
          <a:p/>
          <a:p>
            <a:r>
              <a:t>[SCREEN: VS Code, `app/agent.py`, `OpenAIChatClient.chat`.]</a:t>
            </a:r>
          </a:p>
          <a:p/>
          <a:p>
            <a:r>
              <a:t>[CODE: excerpt of `OpenAIChatClient.chat` in `app/agent.py`]</a:t>
            </a:r>
          </a:p>
          <a:p/>
          <a:p>
            <a:r>
              <a:t>First, ask for the right stream. When Atlas streams, it adds `include_usage`. Without that option the final chunk has no token counts, and you can't price the call: cost reads zero and every dashboard lies low.</a:t>
            </a:r>
          </a:p>
          <a:p/>
          <a:p>
            <a:r>
              <a:t>[CODE: excerpt of `collect_stream` in `app/agent.py`]</a:t>
            </a:r>
          </a:p>
          <a:p/>
          <a:p>
            <a:r>
              <a:t>Then consume it. For every chunk: keep the usage when it arrives on the last one, note the finish reason, and on the first chunk that carries content or a tool-call fragment, record the time since the call started. Not the first chunk of any kind: the first one often carries only a role and no text. Collect the text and the tool-call pieces, and at the end you have a normal message, the usage and the time to first token.</a:t>
            </a:r>
          </a:p>
          <a:p/>
          <a:p>
            <a:r>
              <a:t>[CODE: excerpt of `set_llm_usage` in `telemetry/genai_attrs.py`]</a:t>
            </a:r>
          </a:p>
          <a:p/>
          <a:p>
            <a:r>
              <a:t>Where does it land? On Atlas's path, two attributes on the generation span: the standard `gen_ai.response.time_to_first_chunk`, in seconds, incubating name, may change; and our own `atlas.ttft_ms`. On the Langfuse-native path, it's the `completion_start_time` argument you saw in 4.2, which Langfuse shows as time to first token on the generation.</a:t>
            </a:r>
          </a:p>
          <a:p/>
          <a:p>
            <a:r>
              <a:t>[SCREEN: Terminal 1: `OTEL_EXPORTER=console make run`. Terminal 2: the VPN `curl` from 2.3.]</a:t>
            </a:r>
          </a:p>
          <a:p/>
          <a:p>
            <a:r>
              <a:t>[DEMO: Console: first `chat gpt-4.1-mini` span with `"gen_ai.response.time_to_first_chunk": 0.3534`, `"atlas.ttft_ms": 353.4`, `"atlas.la...]</a:t>
            </a:r>
          </a:p>
          <a:p/>
          <a:p>
            <a:r>
              <a:t>Send the VPN question and read the console. First model call: first token at three hundred and fifty-three milliseconds. Second call: five hundred and sixty-five, then about two point seven seconds to finish two hundred and ninety tokens. That's roughly seven milliseconds per token after the first, about a hundred and thirty-five tokens a second. Now the agent span: time to first token, one thousand two hundred and fifty-eight milliseconds. Why so much bigger? Because the user sees nothing until the final answer starts, and that's after the whole first step.</a:t>
            </a:r>
          </a:p>
          <a:p/>
          <a:p>
            <a:r>
              <a:t>[CODE: excerpt of `RequestTiming.ttft_ms` in `src/northwind/latency.py`]</a:t>
            </a:r>
          </a:p>
          <a:p/>
          <a:p>
            <a:r>
              <a:t>The latency module writes that rule down: the time to the first token of the final answer is every earlier step's full duration plus the last step's first token. Six hundred and ninety-three plus five hundred and sixty-five. Its `LatencySample` also computes time per output token and tokens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measurement lands in several places for several audiences. The standard attribute and our own on the generation. Langfuse's field on the native path. The final-answer number on the agent span. And a Prometheus histogram for Grafana in Section nine.</a:t>
            </a:r>
          </a:p>
          <a:p/>
          <a:p>
            <a:r>
              <a:t>[SCREEN: Ops Console → Latency page, "Generation detail: atlas.ttft_ms p95 and duration p95" chart for the replayed 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replayed day: final-answer time to first token, median one point four seconds, p95 one point seven. Per generation, median about half a second. Two patterns to remember. TTFT climbs with input size, so context bloat shows up here before it shows up in your bill. And TPOT is mostly a property of the model; if it jumps, the provider changed something. Section seven sets budgets against these.</a:t>
            </a:r>
          </a:p>
          <a:p/>
          <a:p>
            <a:r>
              <a:t>One option on the request, one timestamp in the stream. Time to first token on every generation, and the number users actually feel on every request.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Logs vs traces vs metrics for agents.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signals. A trace answers what happened in one request. A metric answers how much and how often, right now, across all requests. A log answers what the code wanted to say at a moment. Their costs grow differently: traces with request volume, metrics with label combinations, logs with lines.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If it's about one request, in sequence, it's a span or an event on one. If it's a number you'd graph or alert on, it's a metric. If it's a message for a human, it's a log, with the trace ID attached. If it's both, span first, and emit the metric alongside.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Examples. The tool the model chose: a span. Tool error rate over five minutes: a metric. Step limit reached: an event on the agent span, and the request counter with outcome step limit, because you'll alert on the rate. Cost of one generation: on the span. Cost per hour by tenant: a metric. A retry warning: a log line, with the trace ID. TTFT of this call: on the span. TTFT p95 today: a histogram.</a:t>
            </a:r>
          </a:p>
          <a:p/>
          <a:p>
            <a:r>
              <a:t>[SCREEN: Terminal 2, after two requests to a running Atlas.]</a:t>
            </a:r>
          </a:p>
          <a:p/>
          <a:p>
            <a:r>
              <a:t>[CODE: what Atlas counts]</a:t>
            </a:r>
          </a:p>
          <a:p/>
          <a:p>
            <a:r>
              <a:t>[DEMO: Output:</a:t>
            </a:r>
          </a:p>
          <a:p>
            <a:r>
              <a:t>`atlas_requests_total{feature="policy_question",model="gpt-4.1-mini",outcome="resolved",tenant="ops"} 1.0`</a:t>
            </a:r>
          </a:p>
          <a:p>
            <a:r>
              <a:t>`atlas_requests_total{feature="ticket_lookup",model="gpt-4.1-mini",outcome="resolved",tenant="ops"} 1.0`</a:t>
            </a:r>
          </a:p>
          <a:p>
            <a:r>
              <a:t>`atlas_tokens_total{kind="input",model="gpt-4.1-mini",tenant="ops"} 16530.0`</a:t>
            </a:r>
          </a:p>
          <a:p>
            <a:r>
              <a:t>`atlas_tokens_total{kind="output",model="gpt-4.1-mini",tenant="ops"} 414.0`</a:t>
            </a:r>
          </a:p>
          <a:p>
            <a:r>
              <a:t>`atlas_cost_usd_total{feature="policy_question",model="gpt-4.1-mini",tenant="ops"} 0.0045144`</a:t>
            </a:r>
          </a:p>
          <a:p>
            <a:r>
              <a:t>`atlas_cost_usd_total{feature="ticket_lookup",model="gpt-4.1-mini",tenant="ops"} 0.00276`</a:t>
            </a:r>
          </a:p>
          <a:p>
            <a:r>
              <a:t>`atlas_tool_calls_total{outcome="ok",tool="search_knowledge_base"} 1.0`</a:t>
            </a:r>
          </a:p>
          <a:p>
            <a:r>
              <a:t>`atlas_tool_calls_total{outcome="error",tool="lookup_ticket"} 1.0`]</a:t>
            </a:r>
          </a:p>
          <a:p/>
          <a:p>
            <a:r>
              <a:t>Here's what that looks like on a running Atlas after two questions. Two requests, by feature and outcome. Sixteen and a half thousand input tokens. Cost per feature, to the same digits as the traces. And tool calls by outcome: one search that worked, one ticket lookup that didn't. What's missing from every label? No user, no session, no trace ID.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log worth having looks like this one, from Atlas's terminal during a retry-storm request. JSON, one line, a level, a message, and the trace and span IDs, read from the current span by the formatter. Paste that trace ID into Langfuse or the console's Traces page and the whole request opens. Two rules for logs: no message bodies, and no personal data. Logs are usually kept longer, and read by more people, than traces.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trap. A Prometheus metric is one series per unique combination of label values. Tokens by tenant, model and kind: five times five times four, at most a hundred series. Fine. Add a user ID label, with about four thousand eight hundred employees: up to four hundred and eighty thousand series. Add a session ID: unbounded, and your metrics server falls over at three in the morning. Labels are for dimensions with a small, fixed set of values. Users and sessions belong in traces, where they already are. Atlas even maps unknown tenants to `other`, so a typo in a header can't create a new series.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selection of what Atlas exposes, and every label set is small and fixed. A unit test checks the label names against an allowlist, so nobody adds a user ID by accident. Section nine builds the dashboard and alerts on exactly these.</a:t>
            </a:r>
          </a:p>
          <a:p/>
          <a:p>
            <a:r>
              <a:t>Span for the request, metric for the number, log for the human, trace ID on everything. And never, ever, a user ID on a metric label.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Break it: the loop you can only see in a trace.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else would you have seen this? The HTTP status was 200. Request count, one. Error logs: nothing, because a failed tool is data for the model, not an exception. The tool error counter did climb, and that's the alert you add in Section nine. But the shape of the failure, one conversation retrying itself into the ground, only exists in the trace.</a:t>
            </a:r>
          </a:p>
          <a:p/>
          <a:p>
            <a:r>
              <a:t>Two guards, both one setting. The step limit you saw in 5.2, six by default. And a limit on how often one tool may fail before Atlas stops and says so.</a:t>
            </a:r>
          </a:p>
          <a:p/>
          <a:p>
            <a:r>
              <a:t>[CODE: the default guard: the step limit]</a:t>
            </a:r>
          </a:p>
          <a:p/>
          <a:p>
            <a:r>
              <a:t>[DEMO: Six step lines, then `outcome=step_limit steps=6 model_calls=6 tool_calls=6 input_tokens=20,601 cached_tokens=0 cost=$0.0086...]</a:t>
            </a:r>
          </a:p>
          <a:p/>
          <a:p>
            <a:r>
              <a:t>Defaults back on. Six steps, then the step-limit answer. Less than a cent. Its trace ends with a `step_limit_reached` event. Better, but notice: six times, Atlas asked a service that was down.</a:t>
            </a:r>
          </a:p>
          <a:p/>
          <a:p>
            <a:r>
              <a:t>[SCREEN: VS Code, `app/agent.py`, `_loop`, the tool-retry guard.]</a:t>
            </a:r>
          </a:p>
          <a:p/>
          <a:p>
            <a:r>
              <a:t>[CODE: excerpt of `_loop` in `app/agent.py`]</a:t>
            </a:r>
          </a:p>
          <a:p/>
          <a:p>
            <a:r>
              <a:t>The second guard. Count failures per tool. Once one tool has failed more times than `ATLAS_MAX_TOOL_RETRIES`, stop: outcome `tool_error`, an event naming the tool and the count, the agent span at warning level, and an answer that tells the employee which system is down. The setting defaults to zero, which means unlimited, so you switch it on explicitly.</a:t>
            </a:r>
          </a:p>
          <a:p/>
          <a:p>
            <a:r>
              <a:t>[CODE: the fix: at most two retries per tool]</a:t>
            </a:r>
          </a:p>
          <a:p/>
          <a:p>
            <a:r>
              <a:t>[DEMO: Three step lines, then `outcome=tool_error steps=3 model_calls=3 tool_calls=3 input_tokens=9,990 cached_tokens=0 cost=$0.004...]</a:t>
            </a:r>
          </a:p>
          <a:p/>
          <a:p>
            <a:r>
              <a:t>Three steps. Three red tool calls. Then a `tool_retries_exhausted` event with the tool name and the count, and an honest message that names the broken service. Forty-two hundredths of a cent. Two seconds. And on Monday, a filter for that event shows every conversation the outage touched.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Terminal.]</a:t>
            </a:r>
          </a:p>
          <a:p/>
          <a:p>
            <a:r>
              <a:t>[CODE: the tests that keep it fixed]</a:t>
            </a:r>
          </a:p>
          <a:p/>
          <a:p>
            <a:r>
              <a:t>[DEMO: `2 passed, 17 deselected`.]</a:t>
            </a:r>
          </a:p>
          <a:p/>
          <a:p>
            <a:r>
              <a:t>[CODE: `test_loop_scenario_stops_early` from `tests/integration/test_spans.py`]</a:t>
            </a:r>
          </a:p>
          <a:p/>
          <a:p>
            <a:r>
              <a:t>And the tests. One asserts the defaults stop the loop at six steps with a `step_limit_reached` event. The other runs the fix: exactly three step spans, unresolved, outcome tool error, and the `tool_retries_exhausted` event on the agent span. Both green.</a:t>
            </a:r>
          </a:p>
          <a:p/>
          <a:p>
            <a:r>
              <a:t>The loop was always visible. It just wasn't visible anywhere people were looking. Now it's a three-step trace with a yellow event, and two tests that fail if anyone turns the guards off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3: Trace a multi-step ticket escalation.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now read an agent trace against six questions, trace the loop step by step, and measure what users feel. Deliverables: the green test and a screenshot showing the escalation event and the gpt-4.1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Agent patterns.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on mapping questions to spans. One on how tool errors should be recorded. One on events versus scores. One on retriever spans and grounding. One on time to first token. And one that gives you a fact and asks: log, span or metric?</a:t>
            </a:r>
          </a:p>
          <a:p/>
          <a:p>
            <a:r>
              <a:t>Tip for the last one: if the fact has a user in it, it's not a metric label.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One on mapping questions to spans. One on how tool errors should be recorded. One on events versus scores. One on retriever spans and grounding. One on time to first token. And one that gives you a fa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What an agent trace must answer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List the six questions an agent trace must answer: why that tool, with what, what came back, how many steps, where the…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questions an agent trace must answer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Why did it call that tool?</a:t>
            </a:r>
          </a:p>
          <a:p>
            <a:pPr marL="292608" indent="-292608">
              <a:lnSpc>
                <a:spcPct val="120000"/>
              </a:lnSpc>
              <a:spcAft>
                <a:spcPts val="1539"/>
              </a:spcAft>
              <a:buClr>
                <a:srgbClr val="00D4AA"/>
              </a:buClr>
              <a:buFont typeface="Inter"/>
              <a:buChar char="•"/>
            </a:pPr>
            <a:r>
              <a:rPr sz="2200" b="0">
                <a:solidFill>
                  <a:srgbClr val="FFFFFF"/>
                </a:solidFill>
                <a:latin typeface="Inter"/>
              </a:rPr>
              <a:t>With what arguments?</a:t>
            </a:r>
          </a:p>
          <a:p>
            <a:pPr marL="292608" indent="-292608">
              <a:lnSpc>
                <a:spcPct val="120000"/>
              </a:lnSpc>
              <a:spcAft>
                <a:spcPts val="1539"/>
              </a:spcAft>
              <a:buClr>
                <a:srgbClr val="00D4AA"/>
              </a:buClr>
              <a:buFont typeface="Inter"/>
              <a:buChar char="•"/>
            </a:pPr>
            <a:r>
              <a:rPr sz="2200" b="0">
                <a:solidFill>
                  <a:srgbClr val="FFFFFF"/>
                </a:solidFill>
                <a:latin typeface="Inter"/>
              </a:rPr>
              <a:t>What came back?</a:t>
            </a:r>
          </a:p>
          <a:p>
            <a:pPr marL="292608" indent="-292608">
              <a:lnSpc>
                <a:spcPct val="120000"/>
              </a:lnSpc>
              <a:spcAft>
                <a:spcPts val="1539"/>
              </a:spcAft>
              <a:buClr>
                <a:srgbClr val="00D4AA"/>
              </a:buClr>
              <a:buFont typeface="Inter"/>
              <a:buChar char="•"/>
            </a:pPr>
            <a:r>
              <a:rPr sz="2200" b="0">
                <a:solidFill>
                  <a:srgbClr val="FFFFFF"/>
                </a:solidFill>
                <a:latin typeface="Inter"/>
              </a:rPr>
              <a:t>How many steps, and did it stop on its own?</a:t>
            </a:r>
          </a:p>
          <a:p>
            <a:pPr marL="292608" indent="-292608">
              <a:lnSpc>
                <a:spcPct val="120000"/>
              </a:lnSpc>
              <a:spcAft>
                <a:spcPts val="1539"/>
              </a:spcAft>
              <a:buClr>
                <a:srgbClr val="00D4AA"/>
              </a:buClr>
              <a:buFont typeface="Inter"/>
              <a:buChar char="•"/>
            </a:pPr>
            <a:r>
              <a:rPr sz="2200" b="0">
                <a:solidFill>
                  <a:srgbClr val="FFFFFF"/>
                </a:solidFill>
                <a:latin typeface="Inter"/>
              </a:rPr>
              <a:t>Where did the tokens go?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Six questions an agent trace must answer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Where did the time 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D3-trace-waterfall.png"/>
          <p:cNvPicPr>
            <a:picLocks noChangeAspect="1"/>
          </p:cNvPicPr>
          <p:nvPr/>
        </p:nvPicPr>
        <p:blipFill>
          <a:blip r:embed="rId3"/>
          <a:stretch>
            <a:fillRect/>
          </a:stretch>
        </p:blipFill>
        <p:spPr>
          <a:xfrm>
            <a:off x="0" y="0"/>
            <a:ext cx="12191695" cy="6857828"/>
          </a:xfrm>
          <a:prstGeom prst="rect">
            <a:avLst/>
          </a:prstGeom>
        </p:spPr>
      </p:pic>
      <p:sp>
        <p:nvSpPr>
          <p:cNvPr id="3" name="TextBox 2"/>
          <p:cNvSpPr txBox="1"/>
          <p:nvPr/>
        </p:nvSpPr>
        <p:spPr>
          <a:xfrm>
            <a:off x="6217920" y="109728"/>
            <a:ext cx="5806440" cy="274320"/>
          </a:xfrm>
          <a:prstGeom prst="rect">
            <a:avLst/>
          </a:prstGeom>
          <a:noFill/>
        </p:spPr>
        <p:txBody>
          <a:bodyPr wrap="square" lIns="45720" rIns="45720" tIns="27432" bIns="27432" anchor="t">
            <a:spAutoFit/>
          </a:bodyPr>
          <a:lstStyle/>
          <a:p>
            <a:pPr algn="r"/>
            <a:r>
              <a:rPr sz="900" b="0">
                <a:solidFill>
                  <a:srgbClr val="64748B"/>
                </a:solidFill>
                <a:latin typeface="Inter"/>
              </a:rPr>
              <a:t>Section 05 · Lecture 5.1 · The trace we're aiming for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Q1. Why that tool? → the generation before it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The previous generation's output shows the tool call the model chose</a:t>
            </a:r>
          </a:p>
          <a:p>
            <a:pPr marL="292608" indent="-292608">
              <a:lnSpc>
                <a:spcPct val="120000"/>
              </a:lnSpc>
              <a:spcAft>
                <a:spcPts val="1539"/>
              </a:spcAft>
              <a:buClr>
                <a:srgbClr val="00D4AA"/>
              </a:buClr>
              <a:buFont typeface="Inter"/>
              <a:buChar char="•"/>
            </a:pPr>
            <a:r>
              <a:rPr sz="2024" b="0">
                <a:solidFill>
                  <a:srgbClr val="00D4AA"/>
                </a:solidFill>
                <a:latin typeface="JetBrains Mono"/>
              </a:rPr>
              <a:t>gen_ai.response.finish_reasons = ["tool_calls"]</a:t>
            </a:r>
          </a:p>
          <a:p>
            <a:pPr marL="292608" indent="-292608">
              <a:lnSpc>
                <a:spcPct val="120000"/>
              </a:lnSpc>
              <a:spcAft>
                <a:spcPts val="1539"/>
              </a:spcAft>
              <a:buClr>
                <a:srgbClr val="00D4AA"/>
              </a:buClr>
              <a:buFont typeface="Inter"/>
              <a:buChar char="•"/>
            </a:pPr>
            <a:r>
              <a:rPr sz="2200" b="0">
                <a:solidFill>
                  <a:srgbClr val="FFFFFF"/>
                </a:solidFill>
                <a:latin typeface="Inter"/>
              </a:rPr>
              <a:t>Read: what did the model see (input, tokens) → what did it decide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Q2 and Q3. With what, and what came back → the tool observation</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758461"/>
            <a:ext cx="10881360" cy="4550898"/>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Input: the arguments, exactly as the model produced them</a:t>
            </a:r>
          </a:p>
          <a:p>
            <a:pPr marL="292608" indent="-292608">
              <a:lnSpc>
                <a:spcPct val="120000"/>
              </a:lnSpc>
              <a:spcAft>
                <a:spcPts val="1260"/>
              </a:spcAft>
              <a:buClr>
                <a:srgbClr val="00D4AA"/>
              </a:buClr>
              <a:buFont typeface="Inter"/>
              <a:buChar char="•"/>
            </a:pPr>
            <a:r>
              <a:rPr sz="1800" b="0">
                <a:solidFill>
                  <a:srgbClr val="FFFFFF"/>
                </a:solidFill>
                <a:latin typeface="Inter"/>
              </a:rPr>
              <a:t>Output: the result, clipped and masked</a:t>
            </a:r>
          </a:p>
          <a:p>
            <a:pPr marL="292608" indent="-292608">
              <a:lnSpc>
                <a:spcPct val="120000"/>
              </a:lnSpc>
              <a:spcAft>
                <a:spcPts val="1260"/>
              </a:spcAft>
              <a:buClr>
                <a:srgbClr val="00D4AA"/>
              </a:buClr>
              <a:buFont typeface="Inter"/>
              <a:buChar char="•"/>
            </a:pPr>
            <a:r>
              <a:rPr sz="1800" b="0">
                <a:solidFill>
                  <a:srgbClr val="FFFFFF"/>
                </a:solidFill>
                <a:latin typeface="Inter"/>
              </a:rPr>
              <a:t>Level and status: DEFAULT, or ERROR with the message the model then saw</a:t>
            </a:r>
          </a:p>
          <a:p>
            <a:pPr marL="292608" indent="-292608">
              <a:lnSpc>
                <a:spcPct val="120000"/>
              </a:lnSpc>
              <a:spcAft>
                <a:spcPts val="1260"/>
              </a:spcAft>
              <a:buClr>
                <a:srgbClr val="00D4AA"/>
              </a:buClr>
              <a:buFont typeface="Inter"/>
              <a:buChar char="•"/>
            </a:pPr>
            <a:r>
              <a:rPr sz="1656" b="0">
                <a:solidFill>
                  <a:srgbClr val="00D4AA"/>
                </a:solidFill>
                <a:latin typeface="JetBrains Mono"/>
              </a:rPr>
              <a:t>gen_ai.tool.call.id</a:t>
            </a:r>
            <a:r>
              <a:rPr sz="1800" b="0">
                <a:solidFill>
                  <a:srgbClr val="FFFFFF"/>
                </a:solidFill>
                <a:latin typeface="Inter"/>
              </a:rPr>
              <a:t> ties it to the call in the generation's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Q4. How many steps, and who stopped it? → chains, events, scores</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758461"/>
            <a:ext cx="10881360" cy="4550898"/>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a:t>
            </a:r>
            <a:r>
              <a:rPr sz="1656" b="0">
                <a:solidFill>
                  <a:srgbClr val="00D4AA"/>
                </a:solidFill>
                <a:latin typeface="JetBrains Mono"/>
              </a:rPr>
              <a:t>chain</a:t>
            </a:r>
            <a:r>
              <a:rPr sz="1800" b="0">
                <a:solidFill>
                  <a:srgbClr val="FFFFFF"/>
                </a:solidFill>
                <a:latin typeface="Inter"/>
              </a:rPr>
              <a:t> per step: count them</a:t>
            </a:r>
          </a:p>
          <a:p>
            <a:pPr marL="292608" indent="-292608">
              <a:lnSpc>
                <a:spcPct val="120000"/>
              </a:lnSpc>
              <a:spcAft>
                <a:spcPts val="1260"/>
              </a:spcAft>
              <a:buClr>
                <a:srgbClr val="00D4AA"/>
              </a:buClr>
              <a:buFont typeface="Inter"/>
              <a:buChar char="•"/>
            </a:pPr>
            <a:r>
              <a:rPr sz="1800" b="0">
                <a:solidFill>
                  <a:srgbClr val="FFFFFF"/>
                </a:solidFill>
                <a:latin typeface="Inter"/>
              </a:rPr>
              <a:t>An event when the loop intervened: </a:t>
            </a:r>
            <a:r>
              <a:rPr sz="1656" b="0">
                <a:solidFill>
                  <a:srgbClr val="00D4AA"/>
                </a:solidFill>
                <a:latin typeface="JetBrains Mono"/>
              </a:rPr>
              <a:t>step_limit_reached</a:t>
            </a:r>
            <a:r>
              <a:rPr sz="1800" b="0">
                <a:solidFill>
                  <a:srgbClr val="FFFFFF"/>
                </a:solidFill>
                <a:latin typeface="Inter"/>
              </a:rPr>
              <a:t>, </a:t>
            </a:r>
            <a:r>
              <a:rPr sz="1656" b="0">
                <a:solidFill>
                  <a:srgbClr val="00D4AA"/>
                </a:solidFill>
                <a:latin typeface="JetBrains Mono"/>
              </a:rPr>
              <a:t>tool_retries_exhausted</a:t>
            </a:r>
            <a:r>
              <a:rPr sz="1800" b="0">
                <a:solidFill>
                  <a:srgbClr val="FFFFFF"/>
                </a:solidFill>
                <a:latin typeface="Inter"/>
              </a:rPr>
              <a:t>, </a:t>
            </a:r>
            <a:r>
              <a:rPr sz="1656" b="0">
                <a:solidFill>
                  <a:srgbClr val="00D4AA"/>
                </a:solidFill>
                <a:latin typeface="JetBrains Mono"/>
              </a:rPr>
              <a:t>escalation</a:t>
            </a:r>
          </a:p>
          <a:p>
            <a:pPr marL="292608" indent="-292608">
              <a:lnSpc>
                <a:spcPct val="120000"/>
              </a:lnSpc>
              <a:spcAft>
                <a:spcPts val="1260"/>
              </a:spcAft>
              <a:buClr>
                <a:srgbClr val="00D4AA"/>
              </a:buClr>
              <a:buFont typeface="Inter"/>
              <a:buChar char="•"/>
            </a:pPr>
            <a:r>
              <a:rPr sz="1800" b="0">
                <a:solidFill>
                  <a:srgbClr val="FFFFFF"/>
                </a:solidFill>
                <a:latin typeface="Inter"/>
              </a:rPr>
              <a:t>Scores on the trace: </a:t>
            </a:r>
            <a:r>
              <a:rPr sz="1656" b="0">
                <a:solidFill>
                  <a:srgbClr val="00D4AA"/>
                </a:solidFill>
                <a:latin typeface="JetBrains Mono"/>
              </a:rPr>
              <a:t>steps</a:t>
            </a:r>
            <a:r>
              <a:rPr sz="1800" b="0">
                <a:solidFill>
                  <a:srgbClr val="FFFFFF"/>
                </a:solidFill>
                <a:latin typeface="Inter"/>
              </a:rPr>
              <a:t>, </a:t>
            </a:r>
            <a:r>
              <a:rPr sz="1656" b="0">
                <a:solidFill>
                  <a:srgbClr val="00D4AA"/>
                </a:solidFill>
                <a:latin typeface="JetBrains Mono"/>
              </a:rPr>
              <a:t>resolved</a:t>
            </a:r>
            <a:r>
              <a:rPr sz="1800" b="0">
                <a:solidFill>
                  <a:srgbClr val="FFFFFF"/>
                </a:solidFill>
                <a:latin typeface="Inter"/>
              </a:rPr>
              <a:t>, </a:t>
            </a:r>
            <a:r>
              <a:rPr sz="1656" b="0">
                <a:solidFill>
                  <a:srgbClr val="00D4AA"/>
                </a:solidFill>
                <a:latin typeface="JetBrains Mono"/>
              </a:rPr>
              <a:t>step_limit_hit</a:t>
            </a:r>
          </a:p>
          <a:p>
            <a:pPr marL="292608" indent="-292608">
              <a:lnSpc>
                <a:spcPct val="120000"/>
              </a:lnSpc>
              <a:spcAft>
                <a:spcPts val="1260"/>
              </a:spcAft>
              <a:buClr>
                <a:srgbClr val="00D4AA"/>
              </a:buClr>
              <a:buFont typeface="Inter"/>
              <a:buChar char="•"/>
            </a:pPr>
            <a:r>
              <a:rPr sz="1800" b="0">
                <a:solidFill>
                  <a:srgbClr val="FFFFFF"/>
                </a:solidFill>
                <a:latin typeface="Inter"/>
              </a:rPr>
              <a:t>Finish reason </a:t>
            </a:r>
            <a:r>
              <a:rPr sz="1656" b="0">
                <a:solidFill>
                  <a:srgbClr val="00D4AA"/>
                </a:solidFill>
                <a:latin typeface="JetBrains Mono"/>
              </a:rPr>
              <a:t>stop</a:t>
            </a:r>
            <a:r>
              <a:rPr sz="1800" b="0">
                <a:solidFill>
                  <a:srgbClr val="FFFFFF"/>
                </a:solidFill>
                <a:latin typeface="Inter"/>
              </a:rPr>
              <a:t> on the last generation means the model chose to 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Q5. Where did the tokens go? → usage per generation, per step</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758461"/>
            <a:ext cx="10881360" cy="4550898"/>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Each generation: input, output, cached input</a:t>
            </a:r>
          </a:p>
          <a:p>
            <a:pPr marL="292608" indent="-292608">
              <a:lnSpc>
                <a:spcPct val="120000"/>
              </a:lnSpc>
              <a:spcAft>
                <a:spcPts val="1260"/>
              </a:spcAft>
              <a:buClr>
                <a:srgbClr val="00D4AA"/>
              </a:buClr>
              <a:buFont typeface="Inter"/>
              <a:buChar char="•"/>
            </a:pPr>
            <a:r>
              <a:rPr sz="1800" b="0">
                <a:solidFill>
                  <a:srgbClr val="FFFFFF"/>
                </a:solidFill>
                <a:latin typeface="Inter"/>
              </a:rPr>
              <a:t>Input tokens per step should be roughly flat; a rising line is context growth</a:t>
            </a:r>
          </a:p>
          <a:p>
            <a:pPr marL="292608" indent="-292608">
              <a:lnSpc>
                <a:spcPct val="120000"/>
              </a:lnSpc>
              <a:spcAft>
                <a:spcPts val="1260"/>
              </a:spcAft>
              <a:buClr>
                <a:srgbClr val="00D4AA"/>
              </a:buClr>
              <a:buFont typeface="Inter"/>
              <a:buChar char="•"/>
            </a:pPr>
            <a:r>
              <a:rPr sz="1800" b="0">
                <a:solidFill>
                  <a:srgbClr val="FFFFFF"/>
                </a:solidFill>
                <a:latin typeface="Inter"/>
              </a:rPr>
              <a:t>Cached input should be high from step 2 once caching is on (Section 6.4)</a:t>
            </a:r>
          </a:p>
          <a:p>
            <a:pPr marL="292608" indent="-292608">
              <a:lnSpc>
                <a:spcPct val="120000"/>
              </a:lnSpc>
              <a:spcAft>
                <a:spcPts val="1260"/>
              </a:spcAft>
              <a:buClr>
                <a:srgbClr val="00D4AA"/>
              </a:buClr>
              <a:buFont typeface="Inter"/>
              <a:buChar char="•"/>
            </a:pPr>
            <a:r>
              <a:rPr sz="1800" b="0">
                <a:solidFill>
                  <a:srgbClr val="FFFFFF"/>
                </a:solidFill>
                <a:latin typeface="Inter"/>
              </a:rPr>
              <a:t>Trace total = sum of generations; compare to the day's $0.0141 per conversation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Q6. Where did the time go? → the waterfall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Generations dominate; tools should be milliseconds</a:t>
            </a:r>
          </a:p>
          <a:p>
            <a:pPr marL="292608" indent="-292608">
              <a:lnSpc>
                <a:spcPct val="120000"/>
              </a:lnSpc>
              <a:spcAft>
                <a:spcPts val="1120"/>
              </a:spcAft>
              <a:buClr>
                <a:srgbClr val="00D4AA"/>
              </a:buClr>
              <a:buFont typeface="Inter"/>
              <a:buChar char="•"/>
            </a:pPr>
            <a:r>
              <a:rPr sz="1600" b="0">
                <a:solidFill>
                  <a:srgbClr val="FFFFFF"/>
                </a:solidFill>
                <a:latin typeface="Inter"/>
              </a:rPr>
              <a:t>Gaps between spans are your own code</a:t>
            </a:r>
          </a:p>
          <a:p>
            <a:pPr marL="292608" indent="-292608">
              <a:lnSpc>
                <a:spcPct val="120000"/>
              </a:lnSpc>
              <a:spcAft>
                <a:spcPts val="1120"/>
              </a:spcAft>
              <a:buClr>
                <a:srgbClr val="00D4AA"/>
              </a:buClr>
              <a:buFont typeface="Inter"/>
              <a:buChar char="•"/>
            </a:pPr>
            <a:r>
              <a:rPr sz="1600" b="0">
                <a:solidFill>
                  <a:srgbClr val="FFFFFF"/>
                </a:solidFill>
                <a:latin typeface="Inter"/>
              </a:rPr>
              <a:t>Time to first token per generation (5.4)</a:t>
            </a:r>
          </a:p>
          <a:p>
            <a:pPr marL="292608" indent="-292608">
              <a:lnSpc>
                <a:spcPct val="120000"/>
              </a:lnSpc>
              <a:spcAft>
                <a:spcPts val="1120"/>
              </a:spcAft>
              <a:buClr>
                <a:srgbClr val="00D4AA"/>
              </a:buClr>
              <a:buFont typeface="Inter"/>
              <a:buChar char="•"/>
            </a:pPr>
            <a:r>
              <a:rPr sz="1600" b="0">
                <a:solidFill>
                  <a:srgbClr val="FFFFFF"/>
                </a:solidFill>
                <a:latin typeface="Inter"/>
              </a:rPr>
              <a:t>One slow tool call at the wrong moment moves p95 (Section 7)</a:t>
            </a:r>
          </a:p>
        </p:txBody>
      </p:sp>
      <p:pic>
        <p:nvPicPr>
          <p:cNvPr id="6" name="Picture 5" descr="D3-trace-waterfal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breaks readability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Flat traces: agent and twenty children, no steps → can't tell which tool followed which call</a:t>
            </a:r>
          </a:p>
          <a:p>
            <a:pPr marL="292608" indent="-292608">
              <a:lnSpc>
                <a:spcPct val="120000"/>
              </a:lnSpc>
              <a:spcAft>
                <a:spcPts val="1260"/>
              </a:spcAft>
              <a:buClr>
                <a:srgbClr val="00D4AA"/>
              </a:buClr>
              <a:buFont typeface="Inter"/>
              <a:buChar char="•"/>
            </a:pPr>
            <a:r>
              <a:rPr sz="1800" b="0">
                <a:solidFill>
                  <a:srgbClr val="FFFFFF"/>
                </a:solidFill>
                <a:latin typeface="Inter"/>
              </a:rPr>
              <a:t>Missing arguments or results → can't answer Q2 or Q3</a:t>
            </a:r>
          </a:p>
          <a:p>
            <a:pPr marL="292608" indent="-292608">
              <a:lnSpc>
                <a:spcPct val="120000"/>
              </a:lnSpc>
              <a:spcAft>
                <a:spcPts val="1260"/>
              </a:spcAft>
              <a:buClr>
                <a:srgbClr val="00D4AA"/>
              </a:buClr>
              <a:buFont typeface="Inter"/>
              <a:buChar char="•"/>
            </a:pPr>
            <a:r>
              <a:rPr sz="1800" b="0">
                <a:solidFill>
                  <a:srgbClr val="FFFFFF"/>
                </a:solidFill>
                <a:latin typeface="Inter"/>
              </a:rPr>
              <a:t>Silent stopping → the loop ended, nothing says why</a:t>
            </a:r>
          </a:p>
          <a:p>
            <a:pPr marL="292608" indent="-292608">
              <a:lnSpc>
                <a:spcPct val="120000"/>
              </a:lnSpc>
              <a:spcAft>
                <a:spcPts val="1260"/>
              </a:spcAft>
              <a:buClr>
                <a:srgbClr val="00D4AA"/>
              </a:buClr>
              <a:buFont typeface="Inter"/>
              <a:buChar char="•"/>
            </a:pPr>
            <a:r>
              <a:rPr sz="1800" b="0">
                <a:solidFill>
                  <a:srgbClr val="FFFFFF"/>
                </a:solidFill>
                <a:latin typeface="Inter"/>
              </a:rPr>
              <a:t>Escalation without a marker → cost jumped, no reason in the trace</a:t>
            </a:r>
          </a:p>
          <a:p>
            <a:pPr marL="292608" indent="-292608">
              <a:lnSpc>
                <a:spcPct val="120000"/>
              </a:lnSpc>
              <a:spcAft>
                <a:spcPts val="1260"/>
              </a:spcAft>
              <a:buClr>
                <a:srgbClr val="00D4AA"/>
              </a:buClr>
              <a:buFont typeface="Inter"/>
              <a:buChar char="•"/>
            </a:pPr>
            <a:r>
              <a:rPr sz="1800" b="0">
                <a:solidFill>
                  <a:srgbClr val="FFFFFF"/>
                </a:solidFill>
                <a:latin typeface="Inter"/>
              </a:rPr>
              <a:t>Unclipped tool results the size of a web page → nobody scrolls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pattern, in one slide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Agent → guardrail → step (chain) → { generation | retriever | tool } per step</a:t>
            </a:r>
          </a:p>
          <a:p>
            <a:pPr marL="292608" indent="-292608">
              <a:lnSpc>
                <a:spcPct val="120000"/>
              </a:lnSpc>
              <a:spcAft>
                <a:spcPts val="1260"/>
              </a:spcAft>
              <a:buClr>
                <a:srgbClr val="00D4AA"/>
              </a:buClr>
              <a:buFont typeface="Inter"/>
              <a:buChar char="•"/>
            </a:pPr>
            <a:r>
              <a:rPr sz="1800" b="0">
                <a:solidFill>
                  <a:srgbClr val="FFFFFF"/>
                </a:solidFill>
                <a:latin typeface="Inter"/>
              </a:rPr>
              <a:t>Events for interventions: </a:t>
            </a:r>
            <a:r>
              <a:rPr sz="1656" b="0">
                <a:solidFill>
                  <a:srgbClr val="00D4AA"/>
                </a:solidFill>
                <a:latin typeface="JetBrains Mono"/>
              </a:rPr>
              <a:t>step_limit_reached</a:t>
            </a:r>
            <a:r>
              <a:rPr sz="1800" b="0">
                <a:solidFill>
                  <a:srgbClr val="FFFFFF"/>
                </a:solidFill>
                <a:latin typeface="Inter"/>
              </a:rPr>
              <a:t>, </a:t>
            </a:r>
            <a:r>
              <a:rPr sz="1656" b="0">
                <a:solidFill>
                  <a:srgbClr val="00D4AA"/>
                </a:solidFill>
                <a:latin typeface="JetBrains Mono"/>
              </a:rPr>
              <a:t>tool_retries_exhausted</a:t>
            </a:r>
            <a:r>
              <a:rPr sz="1800" b="0">
                <a:solidFill>
                  <a:srgbClr val="FFFFFF"/>
                </a:solidFill>
                <a:latin typeface="Inter"/>
              </a:rPr>
              <a:t>, </a:t>
            </a:r>
            <a:r>
              <a:rPr sz="1656" b="0">
                <a:solidFill>
                  <a:srgbClr val="00D4AA"/>
                </a:solidFill>
                <a:latin typeface="JetBrains Mono"/>
              </a:rPr>
              <a:t>escalation</a:t>
            </a:r>
          </a:p>
          <a:p>
            <a:pPr marL="292608" indent="-292608">
              <a:lnSpc>
                <a:spcPct val="120000"/>
              </a:lnSpc>
              <a:spcAft>
                <a:spcPts val="1260"/>
              </a:spcAft>
              <a:buClr>
                <a:srgbClr val="00D4AA"/>
              </a:buClr>
              <a:buFont typeface="Inter"/>
              <a:buChar char="•"/>
            </a:pPr>
            <a:r>
              <a:rPr sz="1800" b="0">
                <a:solidFill>
                  <a:srgbClr val="FFFFFF"/>
                </a:solidFill>
                <a:latin typeface="Inter"/>
              </a:rPr>
              <a:t>Scores for outcomes: </a:t>
            </a:r>
            <a:r>
              <a:rPr sz="1656" b="0">
                <a:solidFill>
                  <a:srgbClr val="00D4AA"/>
                </a:solidFill>
                <a:latin typeface="JetBrains Mono"/>
              </a:rPr>
              <a:t>resolved</a:t>
            </a:r>
            <a:r>
              <a:rPr sz="1800" b="0">
                <a:solidFill>
                  <a:srgbClr val="FFFFFF"/>
                </a:solidFill>
                <a:latin typeface="Inter"/>
              </a:rPr>
              <a:t>, </a:t>
            </a:r>
            <a:r>
              <a:rPr sz="1656" b="0">
                <a:solidFill>
                  <a:srgbClr val="00D4AA"/>
                </a:solidFill>
                <a:latin typeface="JetBrains Mono"/>
              </a:rPr>
              <a:t>steps</a:t>
            </a:r>
            <a:r>
              <a:rPr sz="1800" b="0">
                <a:solidFill>
                  <a:srgbClr val="FFFFFF"/>
                </a:solidFill>
                <a:latin typeface="Inter"/>
              </a:rPr>
              <a:t>, </a:t>
            </a:r>
            <a:r>
              <a:rPr sz="1656" b="0">
                <a:solidFill>
                  <a:srgbClr val="00D4AA"/>
                </a:solidFill>
                <a:latin typeface="JetBrains Mono"/>
              </a:rPr>
              <a:t>step_limit_hit</a:t>
            </a:r>
          </a:p>
          <a:p>
            <a:pPr marL="292608" indent="-292608">
              <a:lnSpc>
                <a:spcPct val="120000"/>
              </a:lnSpc>
              <a:spcAft>
                <a:spcPts val="1260"/>
              </a:spcAft>
              <a:buClr>
                <a:srgbClr val="00D4AA"/>
              </a:buClr>
              <a:buFont typeface="Inter"/>
              <a:buChar char="•"/>
            </a:pPr>
            <a:r>
              <a:rPr sz="1800" b="0">
                <a:solidFill>
                  <a:srgbClr val="FFFFFF"/>
                </a:solidFill>
                <a:latin typeface="Inter"/>
              </a:rPr>
              <a:t>Everything clipped, masked and typed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questions define a readable trace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chain per step, typed children</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Events for interventions, scores for outcomes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tracing the tool loop step by step</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code-along: step observations, tool errors as levels, the step limit and tool-retry limit as events, 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tracing the tool loop step by step</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Wrap each loop iteration in a </a:t>
            </a:r>
            <a:r>
              <a:rPr sz="1472" b="0">
                <a:solidFill>
                  <a:srgbClr val="00D4AA"/>
                </a:solidFill>
                <a:latin typeface="JetBrains Mono"/>
              </a:rPr>
              <a:t>chain</a:t>
            </a:r>
            <a:r>
              <a:rPr sz="1600" b="0">
                <a:solidFill>
                  <a:srgbClr val="CBD5E1"/>
                </a:solidFill>
                <a:latin typeface="Inter"/>
              </a:rPr>
              <a:t> observation named </a:t>
            </a:r>
            <a:r>
              <a:rPr sz="1472" b="0">
                <a:solidFill>
                  <a:srgbClr val="00D4AA"/>
                </a:solidFill>
                <a:latin typeface="JetBrains Mono"/>
              </a:rPr>
              <a:t>step n</a:t>
            </a:r>
            <a:r>
              <a:rPr sz="1600" b="0">
                <a:solidFill>
                  <a:srgbClr val="CBD5E1"/>
                </a:solidFill>
                <a:latin typeface="Inter"/>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each line bought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3764279"/>
                <a:gridCol w="7528559"/>
              </a:tblGrid>
              <a:tr h="384048">
                <a:tc>
                  <a:txBody>
                    <a:bodyPr wrap="square"/>
                    <a:lstStyle/>
                    <a:p>
                      <a:r>
                        <a:rPr sz="1200" b="1">
                          <a:solidFill>
                            <a:srgbClr val="0A1628"/>
                          </a:solidFill>
                          <a:latin typeface="Inter"/>
                        </a:rPr>
                        <a:t>Question</a:t>
                      </a:r>
                    </a:p>
                  </a:txBody>
                  <a:tcPr marL="91440" marR="91440" marT="45720" marB="45720" anchor="ctr">
                    <a:solidFill>
                      <a:srgbClr val="00D4AA"/>
                    </a:solidFill>
                  </a:tcPr>
                </a:tc>
                <a:tc>
                  <a:txBody>
                    <a:bodyPr wrap="square"/>
                    <a:lstStyle/>
                    <a:p>
                      <a:r>
                        <a:rPr sz="1200" b="1">
                          <a:solidFill>
                            <a:srgbClr val="0A1628"/>
                          </a:solidFill>
                          <a:latin typeface="Inter"/>
                        </a:rPr>
                        <a:t>Answered by</a:t>
                      </a:r>
                    </a:p>
                  </a:txBody>
                  <a:tcPr marL="91440" marR="91440" marT="45720" marB="45720" anchor="ctr">
                    <a:solidFill>
                      <a:srgbClr val="00D4AA"/>
                    </a:solidFill>
                  </a:tcPr>
                </a:tc>
              </a:tr>
              <a:tr h="384048">
                <a:tc>
                  <a:txBody>
                    <a:bodyPr wrap="square"/>
                    <a:lstStyle/>
                    <a:p>
                      <a:r>
                        <a:rPr sz="1200" b="1">
                          <a:solidFill>
                            <a:srgbClr val="FFFFFF"/>
                          </a:solidFill>
                          <a:latin typeface="Inter"/>
                        </a:rPr>
                        <a:t>Why that tool</a:t>
                      </a:r>
                    </a:p>
                  </a:txBody>
                  <a:tcPr marL="91440" marR="91440" marT="45720" marB="45720" anchor="ctr">
                    <a:solidFill>
                      <a:srgbClr val="1A2742"/>
                    </a:solidFill>
                  </a:tcPr>
                </a:tc>
                <a:tc>
                  <a:txBody>
                    <a:bodyPr wrap="square"/>
                    <a:lstStyle/>
                    <a:p>
                      <a:r>
                        <a:rPr sz="1200" b="0">
                          <a:solidFill>
                            <a:srgbClr val="FFFFFF"/>
                          </a:solidFill>
                          <a:latin typeface="Inter"/>
                        </a:rPr>
                        <a:t>the generation before it, inside the same step</a:t>
                      </a:r>
                    </a:p>
                  </a:txBody>
                  <a:tcPr marL="91440" marR="91440" marT="45720" marB="45720" anchor="ctr">
                    <a:solidFill>
                      <a:srgbClr val="1A2742"/>
                    </a:solidFill>
                  </a:tcPr>
                </a:tc>
              </a:tr>
              <a:tr h="384048">
                <a:tc>
                  <a:txBody>
                    <a:bodyPr wrap="square"/>
                    <a:lstStyle/>
                    <a:p>
                      <a:r>
                        <a:rPr sz="1200" b="1">
                          <a:solidFill>
                            <a:srgbClr val="FFFFFF"/>
                          </a:solidFill>
                          <a:latin typeface="Inter"/>
                        </a:rPr>
                        <a:t>With what / what came back</a:t>
                      </a:r>
                    </a:p>
                  </a:txBody>
                  <a:tcPr marL="91440" marR="91440" marT="45720" marB="45720" anchor="ctr">
                    <a:solidFill>
                      <a:srgbClr val="0F1E35"/>
                    </a:solidFill>
                  </a:tcPr>
                </a:tc>
                <a:tc>
                  <a:txBody>
                    <a:bodyPr wrap="square"/>
                    <a:lstStyle/>
                    <a:p>
                      <a:r>
                        <a:rPr sz="1200" b="0">
                          <a:solidFill>
                            <a:srgbClr val="FFFFFF"/>
                          </a:solidFill>
                          <a:latin typeface="Inter"/>
                        </a:rPr>
                        <a:t>tool observation input and output; ERROR level on failure</a:t>
                      </a:r>
                    </a:p>
                  </a:txBody>
                  <a:tcPr marL="91440" marR="91440" marT="45720" marB="45720" anchor="ctr">
                    <a:solidFill>
                      <a:srgbClr val="0F1E35"/>
                    </a:solidFill>
                  </a:tcPr>
                </a:tc>
              </a:tr>
              <a:tr h="384048">
                <a:tc>
                  <a:txBody>
                    <a:bodyPr wrap="square"/>
                    <a:lstStyle/>
                    <a:p>
                      <a:r>
                        <a:rPr sz="1200" b="1">
                          <a:solidFill>
                            <a:srgbClr val="FFFFFF"/>
                          </a:solidFill>
                          <a:latin typeface="Inter"/>
                        </a:rPr>
                        <a:t>How many steps, who stopped it</a:t>
                      </a:r>
                    </a:p>
                  </a:txBody>
                  <a:tcPr marL="91440" marR="91440" marT="45720" marB="45720" anchor="ctr">
                    <a:solidFill>
                      <a:srgbClr val="1A2742"/>
                    </a:solidFill>
                  </a:tcPr>
                </a:tc>
                <a:tc>
                  <a:txBody>
                    <a:bodyPr wrap="square"/>
                    <a:lstStyle/>
                    <a:p>
                      <a:r>
                        <a:rPr sz="1200" b="0">
                          <a:solidFill>
                            <a:srgbClr val="FFFFFF"/>
                          </a:solidFill>
                          <a:latin typeface="Inter"/>
                        </a:rPr>
                        <a:t>count of </a:t>
                      </a:r>
                      <a:r>
                        <a:rPr sz="1104" b="0">
                          <a:solidFill>
                            <a:srgbClr val="00D4AA"/>
                          </a:solidFill>
                          <a:latin typeface="JetBrains Mono"/>
                        </a:rPr>
                        <a:t>step n</a:t>
                      </a:r>
                      <a:r>
                        <a:rPr sz="1200" b="0">
                          <a:solidFill>
                            <a:srgbClr val="FFFFFF"/>
                          </a:solidFill>
                          <a:latin typeface="Inter"/>
                        </a:rPr>
                        <a:t>; </a:t>
                      </a:r>
                      <a:r>
                        <a:rPr sz="1104" b="0">
                          <a:solidFill>
                            <a:srgbClr val="00D4AA"/>
                          </a:solidFill>
                          <a:latin typeface="JetBrains Mono"/>
                        </a:rPr>
                        <a:t>step_limit_reached</a:t>
                      </a:r>
                      <a:r>
                        <a:rPr sz="1200" b="0">
                          <a:solidFill>
                            <a:srgbClr val="FFFFFF"/>
                          </a:solidFill>
                          <a:latin typeface="Inter"/>
                        </a:rPr>
                        <a:t> or </a:t>
                      </a:r>
                      <a:r>
                        <a:rPr sz="1104" b="0">
                          <a:solidFill>
                            <a:srgbClr val="00D4AA"/>
                          </a:solidFill>
                          <a:latin typeface="JetBrains Mono"/>
                        </a:rPr>
                        <a:t>tool_retries_exhausted</a:t>
                      </a:r>
                      <a:r>
                        <a:rPr sz="1200" b="0">
                          <a:solidFill>
                            <a:srgbClr val="FFFFFF"/>
                          </a:solidFill>
                          <a:latin typeface="Inter"/>
                        </a:rPr>
                        <a:t> event; </a:t>
                      </a:r>
                      <a:r>
                        <a:rPr sz="1104" b="0">
                          <a:solidFill>
                            <a:srgbClr val="00D4AA"/>
                          </a:solidFill>
                          <a:latin typeface="JetBrains Mono"/>
                        </a:rPr>
                        <a:t>steps</a:t>
                      </a:r>
                      <a:r>
                        <a:rPr sz="1200" b="0">
                          <a:solidFill>
                            <a:srgbClr val="FFFFFF"/>
                          </a:solidFill>
                          <a:latin typeface="Inter"/>
                        </a:rPr>
                        <a:t> and </a:t>
                      </a:r>
                      <a:r>
                        <a:rPr sz="1104" b="0">
                          <a:solidFill>
                            <a:srgbClr val="00D4AA"/>
                          </a:solidFill>
                          <a:latin typeface="JetBrains Mono"/>
                        </a:rPr>
                        <a:t>step_limit_hit</a:t>
                      </a:r>
                      <a:r>
                        <a:rPr sz="1200" b="0">
                          <a:solidFill>
                            <a:srgbClr val="FFFFFF"/>
                          </a:solidFill>
                          <a:latin typeface="Inter"/>
                        </a:rPr>
                        <a:t> scores</a:t>
                      </a:r>
                    </a:p>
                  </a:txBody>
                  <a:tcPr marL="91440" marR="91440" marT="45720" marB="45720" anchor="ctr">
                    <a:solidFill>
                      <a:srgbClr val="1A2742"/>
                    </a:solidFill>
                  </a:tcPr>
                </a:tc>
              </a:tr>
              <a:tr h="384048">
                <a:tc>
                  <a:txBody>
                    <a:bodyPr wrap="square"/>
                    <a:lstStyle/>
                    <a:p>
                      <a:r>
                        <a:rPr sz="1200" b="1">
                          <a:solidFill>
                            <a:srgbClr val="FFFFFF"/>
                          </a:solidFill>
                          <a:latin typeface="Inter"/>
                        </a:rPr>
                        <a:t>Where the tokens went</a:t>
                      </a:r>
                    </a:p>
                  </a:txBody>
                  <a:tcPr marL="91440" marR="91440" marT="45720" marB="45720" anchor="ctr">
                    <a:solidFill>
                      <a:srgbClr val="0F1E35"/>
                    </a:solidFill>
                  </a:tcPr>
                </a:tc>
                <a:tc>
                  <a:txBody>
                    <a:bodyPr wrap="square"/>
                    <a:lstStyle/>
                    <a:p>
                      <a:r>
                        <a:rPr sz="1200" b="0">
                          <a:solidFill>
                            <a:srgbClr val="FFFFFF"/>
                          </a:solidFill>
                          <a:latin typeface="Inter"/>
                        </a:rPr>
                        <a:t>usage per generation, per step; model per generation</a:t>
                      </a:r>
                    </a:p>
                  </a:txBody>
                  <a:tcPr marL="91440" marR="91440" marT="45720" marB="45720" anchor="ctr">
                    <a:solidFill>
                      <a:srgbClr val="0F1E35"/>
                    </a:solidFill>
                  </a:tcPr>
                </a:tc>
              </a:tr>
              <a:tr h="384048">
                <a:tc>
                  <a:txBody>
                    <a:bodyPr wrap="square"/>
                    <a:lstStyle/>
                    <a:p>
                      <a:r>
                        <a:rPr sz="1200" b="1">
                          <a:solidFill>
                            <a:srgbClr val="FFFFFF"/>
                          </a:solidFill>
                          <a:latin typeface="Inter"/>
                        </a:rPr>
                        <a:t>Where the time went</a:t>
                      </a:r>
                    </a:p>
                  </a:txBody>
                  <a:tcPr marL="91440" marR="91440" marT="45720" marB="45720" anchor="ctr">
                    <a:solidFill>
                      <a:srgbClr val="1A2742"/>
                    </a:solidFill>
                  </a:tcPr>
                </a:tc>
                <a:tc>
                  <a:txBody>
                    <a:bodyPr wrap="square"/>
                    <a:lstStyle/>
                    <a:p>
                      <a:r>
                        <a:rPr sz="1200" b="0">
                          <a:solidFill>
                            <a:srgbClr val="FFFFFF"/>
                          </a:solidFill>
                          <a:latin typeface="Inter"/>
                        </a:rPr>
                        <a:t>the waterfall per step</a:t>
                      </a:r>
                    </a:p>
                  </a:txBody>
                  <a:tcPr marL="91440" marR="91440" marT="45720" marB="45720" anchor="ctr">
                    <a:solidFill>
                      <a:srgbClr val="1A2742"/>
                    </a:solidFill>
                  </a:tcPr>
                </a:tc>
              </a:tr>
              <a:tr h="384048">
                <a:tc>
                  <a:txBody>
                    <a:bodyPr wrap="square"/>
                    <a:lstStyle/>
                    <a:p>
                      <a:r>
                        <a:rPr sz="1200" b="1">
                          <a:solidFill>
                            <a:srgbClr val="FFFFFF"/>
                          </a:solidFill>
                          <a:latin typeface="Inter"/>
                        </a:rPr>
                        <a:t>Why cost jumped</a:t>
                      </a:r>
                    </a:p>
                  </a:txBody>
                  <a:tcPr marL="91440" marR="91440" marT="45720" marB="45720" anchor="ctr">
                    <a:solidFill>
                      <a:srgbClr val="0F1E35"/>
                    </a:solidFill>
                  </a:tcPr>
                </a:tc>
                <a:tc>
                  <a:txBody>
                    <a:bodyPr wrap="square"/>
                    <a:lstStyle/>
                    <a:p>
                      <a:r>
                        <a:rPr sz="1104" b="0">
                          <a:solidFill>
                            <a:srgbClr val="00D4AA"/>
                          </a:solidFill>
                          <a:latin typeface="JetBrains Mono"/>
                        </a:rPr>
                        <a:t>escalation</a:t>
                      </a:r>
                      <a:r>
                        <a:rPr sz="1200" b="0">
                          <a:solidFill>
                            <a:srgbClr val="FFFFFF"/>
                          </a:solidFill>
                          <a:latin typeface="Inter"/>
                        </a:rPr>
                        <a:t> event and the model name on the next generation</a:t>
                      </a:r>
                    </a:p>
                  </a:txBody>
                  <a:tcPr marL="91440" marR="91440" marT="45720" marB="45720" anchor="ctr">
                    <a:solidFill>
                      <a:srgbClr val="0F1E3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chain per step nests the work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Failed tools are levels, not exceptions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Events mark escalation and both limits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RAG spans: retrieval quality is a production metric</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retriever: why "how good was the search" is a production metric, and how to record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RAG spans: retrieval quality is a production metric</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Record query, top-k, document IDs, scores and an empty flag on the retriever observation.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to record on a retriever observation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Input: the query text and </a:t>
            </a:r>
            <a:r>
              <a:rPr sz="1656" b="0">
                <a:solidFill>
                  <a:srgbClr val="00D4AA"/>
                </a:solidFill>
                <a:latin typeface="JetBrains Mono"/>
              </a:rPr>
              <a:t>top_k</a:t>
            </a:r>
          </a:p>
          <a:p>
            <a:pPr marL="292608" indent="-292608">
              <a:lnSpc>
                <a:spcPct val="120000"/>
              </a:lnSpc>
              <a:spcAft>
                <a:spcPts val="1260"/>
              </a:spcAft>
              <a:buClr>
                <a:srgbClr val="00D4AA"/>
              </a:buClr>
              <a:buFont typeface="Inter"/>
              <a:buChar char="•"/>
            </a:pPr>
            <a:r>
              <a:rPr sz="1800" b="0">
                <a:solidFill>
                  <a:srgbClr val="FFFFFF"/>
                </a:solidFill>
                <a:latin typeface="Inter"/>
              </a:rPr>
              <a:t>Output: document IDs and scores (not the article text; it's already in the next generation's input)</a:t>
            </a:r>
          </a:p>
          <a:p>
            <a:pPr marL="292608" indent="-292608">
              <a:lnSpc>
                <a:spcPct val="120000"/>
              </a:lnSpc>
              <a:spcAft>
                <a:spcPts val="1260"/>
              </a:spcAft>
              <a:buClr>
                <a:srgbClr val="00D4AA"/>
              </a:buClr>
              <a:buFont typeface="Inter"/>
              <a:buChar char="•"/>
            </a:pPr>
            <a:r>
              <a:rPr sz="1800" b="0">
                <a:solidFill>
                  <a:srgbClr val="FFFFFF"/>
                </a:solidFill>
                <a:latin typeface="Inter"/>
              </a:rPr>
              <a:t>Hits and an empty flag</a:t>
            </a:r>
          </a:p>
          <a:p>
            <a:pPr marL="292608" indent="-292608">
              <a:lnSpc>
                <a:spcPct val="120000"/>
              </a:lnSpc>
              <a:spcAft>
                <a:spcPts val="1260"/>
              </a:spcAft>
              <a:buClr>
                <a:srgbClr val="00D4AA"/>
              </a:buClr>
              <a:buFont typeface="Inter"/>
              <a:buChar char="•"/>
            </a:pPr>
            <a:r>
              <a:rPr sz="1800" b="0">
                <a:solidFill>
                  <a:srgbClr val="FFFFFF"/>
                </a:solidFill>
                <a:latin typeface="Inter"/>
              </a:rPr>
              <a:t>Level: WARNING when empty</a:t>
            </a:r>
          </a:p>
          <a:p>
            <a:pPr marL="292608" indent="-292608">
              <a:lnSpc>
                <a:spcPct val="120000"/>
              </a:lnSpc>
              <a:spcAft>
                <a:spcPts val="1260"/>
              </a:spcAft>
              <a:buClr>
                <a:srgbClr val="00D4AA"/>
              </a:buClr>
              <a:buFont typeface="Inter"/>
              <a:buChar char="•"/>
            </a:pPr>
            <a:r>
              <a:rPr sz="1800" b="0">
                <a:solidFill>
                  <a:srgbClr val="FFFFFF"/>
                </a:solidFill>
                <a:latin typeface="Inter"/>
              </a:rPr>
              <a:t>Later: a grounded score from the judge (Section 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rates you'll track from here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Empty-retrieval rate: retriever spans with </a:t>
            </a:r>
            <a:r>
              <a:rPr sz="1656" b="0">
                <a:solidFill>
                  <a:srgbClr val="00D4AA"/>
                </a:solidFill>
                <a:latin typeface="JetBrains Mono"/>
              </a:rPr>
              <a:t>atlas.retrieval.empty = true</a:t>
            </a:r>
            <a:r>
              <a:rPr sz="1800" b="0">
                <a:solidFill>
                  <a:srgbClr val="FFFFFF"/>
                </a:solidFill>
                <a:latin typeface="Inter"/>
              </a:rPr>
              <a:t> ÷ all retriever spans</a:t>
            </a:r>
          </a:p>
          <a:p>
            <a:pPr marL="292608" indent="-292608">
              <a:lnSpc>
                <a:spcPct val="120000"/>
              </a:lnSpc>
              <a:spcAft>
                <a:spcPts val="1260"/>
              </a:spcAft>
              <a:buClr>
                <a:srgbClr val="00D4AA"/>
              </a:buClr>
              <a:buFont typeface="Inter"/>
              <a:buChar char="•"/>
            </a:pPr>
            <a:r>
              <a:rPr sz="1800" b="0">
                <a:solidFill>
                  <a:srgbClr val="FFFFFF"/>
                </a:solidFill>
                <a:latin typeface="Inter"/>
              </a:rPr>
              <a:t>Grounded rate: judged traces with grounded ≥ 0.7 ÷ judged traces</a:t>
            </a:r>
          </a:p>
          <a:p>
            <a:pPr marL="292608" indent="-292608">
              <a:lnSpc>
                <a:spcPct val="120000"/>
              </a:lnSpc>
              <a:spcAft>
                <a:spcPts val="1260"/>
              </a:spcAft>
              <a:buClr>
                <a:srgbClr val="00D4AA"/>
              </a:buClr>
              <a:buFont typeface="Inter"/>
              <a:buChar char="•"/>
            </a:pPr>
            <a:r>
              <a:rPr sz="1800" b="0">
                <a:solidFill>
                  <a:srgbClr val="FFFFFF"/>
                </a:solidFill>
                <a:latin typeface="Inter"/>
              </a:rPr>
              <a:t>Baseline day: empty 2.6 % (165 of 6,396 retriever calls); grounded rate 98.6 %</a:t>
            </a:r>
          </a:p>
          <a:p>
            <a:pPr marL="292608" indent="-292608">
              <a:lnSpc>
                <a:spcPct val="120000"/>
              </a:lnSpc>
              <a:spcAft>
                <a:spcPts val="1260"/>
              </a:spcAft>
              <a:buClr>
                <a:srgbClr val="00D4AA"/>
              </a:buClr>
              <a:buFont typeface="Inter"/>
              <a:buChar char="•"/>
            </a:pPr>
            <a:r>
              <a:rPr sz="1800" b="0">
                <a:solidFill>
                  <a:srgbClr val="FFFFFF"/>
                </a:solidFill>
                <a:latin typeface="Inter"/>
              </a:rPr>
              <a:t>A change to top-k or the floor moves both; Section 11 shows what happens when someone tunes it without looking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top-k and the floor change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Record </a:t>
            </a:r>
            <a:r>
              <a:rPr sz="1656" b="0">
                <a:solidFill>
                  <a:srgbClr val="00D4AA"/>
                </a:solidFill>
                <a:latin typeface="JetBrains Mono"/>
              </a:rPr>
              <a:t>top_k</a:t>
            </a:r>
            <a:r>
              <a:rPr sz="1800" b="0">
                <a:solidFill>
                  <a:srgbClr val="FFFFFF"/>
                </a:solidFill>
                <a:latin typeface="Inter"/>
              </a:rPr>
              <a:t> on every retrieval so a change is visible in traces</a:t>
            </a:r>
          </a:p>
          <a:p>
            <a:pPr marL="292608" indent="-292608">
              <a:lnSpc>
                <a:spcPct val="120000"/>
              </a:lnSpc>
              <a:spcAft>
                <a:spcPts val="1260"/>
              </a:spcAft>
              <a:buClr>
                <a:srgbClr val="00D4AA"/>
              </a:buClr>
              <a:buFont typeface="Inter"/>
              <a:buChar char="•"/>
            </a:pPr>
            <a:r>
              <a:rPr sz="1800" b="0">
                <a:solidFill>
                  <a:srgbClr val="FFFFFF"/>
                </a:solidFill>
                <a:latin typeface="Inter"/>
              </a:rPr>
              <a:t>Higher top-k: more tokens per step (cost), fewer empties; lower: the reverse</a:t>
            </a:r>
          </a:p>
          <a:p>
            <a:pPr marL="292608" indent="-292608">
              <a:lnSpc>
                <a:spcPct val="120000"/>
              </a:lnSpc>
              <a:spcAft>
                <a:spcPts val="1260"/>
              </a:spcAft>
              <a:buClr>
                <a:srgbClr val="00D4AA"/>
              </a:buClr>
              <a:buFont typeface="Inter"/>
              <a:buChar char="•"/>
            </a:pPr>
            <a:r>
              <a:rPr sz="1800" b="0">
                <a:solidFill>
                  <a:srgbClr val="FFFFFF"/>
                </a:solidFill>
                <a:latin typeface="Inter"/>
              </a:rPr>
              <a:t>Section 6.5 tunes top-k for cost; Incident 1 shows what happens when someone tunes it without looking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Record query, top-k, IDs, scores, empty flag</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Empty is a warning; irrelevant needs the judge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Two rates: 2.6 % empty, 98.6 % grounded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Streaming: time to first token and tokens per second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streaming: measuring time to first token and tokens per second on every generation.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Streaming: time to first token and tokens per second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Stream a chat completion with usage included and capture the first token's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latency numbers per generation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TTFT: time to first token. What the user feels as "did it hear me?"</a:t>
            </a:r>
          </a:p>
          <a:p>
            <a:pPr marL="292608" indent="-292608">
              <a:lnSpc>
                <a:spcPct val="120000"/>
              </a:lnSpc>
              <a:spcAft>
                <a:spcPts val="1120"/>
              </a:spcAft>
              <a:buClr>
                <a:srgbClr val="00D4AA"/>
              </a:buClr>
              <a:buFont typeface="Inter"/>
              <a:buChar char="•"/>
            </a:pPr>
            <a:r>
              <a:rPr sz="1600" b="0">
                <a:solidFill>
                  <a:srgbClr val="FFFFFF"/>
                </a:solidFill>
                <a:latin typeface="Inter"/>
              </a:rPr>
              <a:t>TPOT: time per output token, after the first. Reading speed.</a:t>
            </a:r>
          </a:p>
          <a:p>
            <a:pPr marL="292608" indent="-292608">
              <a:lnSpc>
                <a:spcPct val="120000"/>
              </a:lnSpc>
              <a:spcAft>
                <a:spcPts val="1120"/>
              </a:spcAft>
              <a:buClr>
                <a:srgbClr val="00D4AA"/>
              </a:buClr>
              <a:buFont typeface="Inter"/>
              <a:buChar char="•"/>
            </a:pPr>
            <a:r>
              <a:rPr sz="1600" b="0">
                <a:solidFill>
                  <a:srgbClr val="FFFFFF"/>
                </a:solidFill>
                <a:latin typeface="Inter"/>
              </a:rPr>
              <a:t>Total: TTFT + (output_tokens − 1) × TPOT. What p95 dashboards usually show.</a:t>
            </a:r>
          </a:p>
          <a:p>
            <a:pPr marL="292608" indent="-292608">
              <a:lnSpc>
                <a:spcPct val="120000"/>
              </a:lnSpc>
              <a:spcAft>
                <a:spcPts val="1120"/>
              </a:spcAft>
              <a:buClr>
                <a:srgbClr val="00D4AA"/>
              </a:buClr>
              <a:buFont typeface="Inter"/>
              <a:buChar char="•"/>
            </a:pPr>
            <a:r>
              <a:rPr sz="1600" b="0">
                <a:solidFill>
                  <a:srgbClr val="FFFFFF"/>
                </a:solidFill>
                <a:latin typeface="Inter"/>
              </a:rPr>
              <a:t>Same total, different TTFT = completely different experience</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each number lives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920240"/>
        </p:xfrm>
        <a:graphic>
          <a:graphicData uri="http://schemas.openxmlformats.org/drawingml/2006/table">
            <a:tbl>
              <a:tblPr firstRow="1" bandRow="1">
                <a:tableStyleId>{5C22544A-7EE6-4342-B048-85BDC9FD1C3A}</a:tableStyleId>
              </a:tblPr>
              <a:tblGrid>
                <a:gridCol w="4655063"/>
                <a:gridCol w="3620605"/>
                <a:gridCol w="3017170"/>
              </a:tblGrid>
              <a:tr h="384048">
                <a:tc>
                  <a:txBody>
                    <a:bodyPr wrap="square"/>
                    <a:lstStyle/>
                    <a:p>
                      <a:r>
                        <a:rPr sz="1200" b="1">
                          <a:solidFill>
                            <a:srgbClr val="0A1628"/>
                          </a:solidFill>
                          <a:latin typeface="Inter"/>
                        </a:rPr>
                        <a:t>Number</a:t>
                      </a:r>
                    </a:p>
                  </a:txBody>
                  <a:tcPr marL="91440" marR="91440" marT="45720" marB="45720" anchor="ctr">
                    <a:solidFill>
                      <a:srgbClr val="00D4AA"/>
                    </a:solidFill>
                  </a:tcPr>
                </a:tc>
                <a:tc>
                  <a:txBody>
                    <a:bodyPr wrap="square"/>
                    <a:lstStyle/>
                    <a:p>
                      <a:r>
                        <a:rPr sz="1200" b="1">
                          <a:solidFill>
                            <a:srgbClr val="0A1628"/>
                          </a:solidFill>
                          <a:latin typeface="Inter"/>
                        </a:rPr>
                        <a:t>Where</a:t>
                      </a:r>
                    </a:p>
                  </a:txBody>
                  <a:tcPr marL="91440" marR="91440" marT="45720" marB="45720" anchor="ctr">
                    <a:solidFill>
                      <a:srgbClr val="00D4AA"/>
                    </a:solidFill>
                  </a:tcPr>
                </a:tc>
                <a:tc>
                  <a:txBody>
                    <a:bodyPr wrap="square"/>
                    <a:lstStyle/>
                    <a:p>
                      <a:r>
                        <a:rPr sz="1200" b="1">
                          <a:solidFill>
                            <a:srgbClr val="0A1628"/>
                          </a:solidFill>
                          <a:latin typeface="Inter"/>
                        </a:rPr>
                        <a:t>Used by</a:t>
                      </a:r>
                    </a:p>
                  </a:txBody>
                  <a:tcPr marL="91440" marR="91440" marT="45720" marB="45720" anchor="ctr">
                    <a:solidFill>
                      <a:srgbClr val="00D4AA"/>
                    </a:solidFill>
                  </a:tcPr>
                </a:tc>
              </a:tr>
              <a:tr h="384048">
                <a:tc>
                  <a:txBody>
                    <a:bodyPr wrap="square"/>
                    <a:lstStyle/>
                    <a:p>
                      <a:r>
                        <a:rPr sz="1104" b="0">
                          <a:solidFill>
                            <a:srgbClr val="00D4AA"/>
                          </a:solidFill>
                          <a:latin typeface="JetBrains Mono"/>
                        </a:rPr>
                        <a:t>gen_ai.response.time_to_first_chunk</a:t>
                      </a:r>
                      <a:r>
                        <a:rPr sz="1200" b="1">
                          <a:solidFill>
                            <a:srgbClr val="FFFFFF"/>
                          </a:solidFill>
                          <a:latin typeface="Inter"/>
                        </a:rPr>
                        <a:t>, </a:t>
                      </a:r>
                      <a:r>
                        <a:rPr sz="1104" b="0">
                          <a:solidFill>
                            <a:srgbClr val="00D4AA"/>
                          </a:solidFill>
                          <a:latin typeface="JetBrains Mono"/>
                        </a:rPr>
                        <a:t>atlas.ttft_ms</a:t>
                      </a:r>
                    </a:p>
                  </a:txBody>
                  <a:tcPr marL="91440" marR="91440" marT="45720" marB="45720" anchor="ctr">
                    <a:solidFill>
                      <a:srgbClr val="1A2742"/>
                    </a:solidFill>
                  </a:tcPr>
                </a:tc>
                <a:tc>
                  <a:txBody>
                    <a:bodyPr wrap="square"/>
                    <a:lstStyle/>
                    <a:p>
                      <a:r>
                        <a:rPr sz="1200" b="0">
                          <a:solidFill>
                            <a:srgbClr val="FFFFFF"/>
                          </a:solidFill>
                          <a:latin typeface="Inter"/>
                        </a:rPr>
                        <a:t>generation span (Atlas's path)</a:t>
                      </a:r>
                    </a:p>
                  </a:txBody>
                  <a:tcPr marL="91440" marR="91440" marT="45720" marB="45720" anchor="ctr">
                    <a:solidFill>
                      <a:srgbClr val="1A2742"/>
                    </a:solidFill>
                  </a:tcPr>
                </a:tc>
                <a:tc>
                  <a:txBody>
                    <a:bodyPr wrap="square"/>
                    <a:lstStyle/>
                    <a:p>
                      <a:r>
                        <a:rPr sz="1200" b="0">
                          <a:solidFill>
                            <a:srgbClr val="FFFFFF"/>
                          </a:solidFill>
                          <a:latin typeface="Inter"/>
                        </a:rPr>
                        <a:t>any OTel backend, the Ops Console</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completion_start_time</a:t>
                      </a:r>
                    </a:p>
                  </a:txBody>
                  <a:tcPr marL="91440" marR="91440" marT="45720" marB="45720" anchor="ctr">
                    <a:solidFill>
                      <a:srgbClr val="0F1E35"/>
                    </a:solidFill>
                  </a:tcPr>
                </a:tc>
                <a:tc>
                  <a:txBody>
                    <a:bodyPr wrap="square"/>
                    <a:lstStyle/>
                    <a:p>
                      <a:r>
                        <a:rPr sz="1200" b="0">
                          <a:solidFill>
                            <a:srgbClr val="FFFFFF"/>
                          </a:solidFill>
                          <a:latin typeface="Inter"/>
                        </a:rPr>
                        <a:t>Langfuse generation (Langfuse-native path)</a:t>
                      </a:r>
                    </a:p>
                  </a:txBody>
                  <a:tcPr marL="91440" marR="91440" marT="45720" marB="45720" anchor="ctr">
                    <a:solidFill>
                      <a:srgbClr val="0F1E35"/>
                    </a:solidFill>
                  </a:tcPr>
                </a:tc>
                <a:tc>
                  <a:txBody>
                    <a:bodyPr wrap="square"/>
                    <a:lstStyle/>
                    <a:p>
                      <a:r>
                        <a:rPr sz="1200" b="0">
                          <a:solidFill>
                            <a:srgbClr val="FFFFFF"/>
                          </a:solidFill>
                          <a:latin typeface="Inter"/>
                        </a:rPr>
                        <a:t>Langfuse's time-to-first-token view</a:t>
                      </a:r>
                    </a:p>
                  </a:txBody>
                  <a:tcPr marL="91440" marR="91440" marT="45720" marB="45720" anchor="ctr">
                    <a:solidFill>
                      <a:srgbClr val="0F1E35"/>
                    </a:solidFill>
                  </a:tcPr>
                </a:tc>
              </a:tr>
              <a:tr h="384048">
                <a:tc>
                  <a:txBody>
                    <a:bodyPr wrap="square"/>
                    <a:lstStyle/>
                    <a:p>
                      <a:r>
                        <a:rPr sz="1104" b="0">
                          <a:solidFill>
                            <a:srgbClr val="00D4AA"/>
                          </a:solidFill>
                          <a:latin typeface="JetBrains Mono"/>
                        </a:rPr>
                        <a:t>atlas.ttft_ms</a:t>
                      </a:r>
                      <a:r>
                        <a:rPr sz="1200" b="1">
                          <a:solidFill>
                            <a:srgbClr val="FFFFFF"/>
                          </a:solidFill>
                          <a:latin typeface="Inter"/>
                        </a:rPr>
                        <a:t> on the agent span</a:t>
                      </a:r>
                    </a:p>
                  </a:txBody>
                  <a:tcPr marL="91440" marR="91440" marT="45720" marB="45720" anchor="ctr">
                    <a:solidFill>
                      <a:srgbClr val="1A2742"/>
                    </a:solidFill>
                  </a:tcPr>
                </a:tc>
                <a:tc>
                  <a:txBody>
                    <a:bodyPr wrap="square"/>
                    <a:lstStyle/>
                    <a:p>
                      <a:r>
                        <a:rPr sz="1200" b="0">
                          <a:solidFill>
                            <a:srgbClr val="FFFFFF"/>
                          </a:solidFill>
                          <a:latin typeface="Inter"/>
                        </a:rPr>
                        <a:t>final-answer TTFT</a:t>
                      </a:r>
                    </a:p>
                  </a:txBody>
                  <a:tcPr marL="91440" marR="91440" marT="45720" marB="45720" anchor="ctr">
                    <a:solidFill>
                      <a:srgbClr val="1A2742"/>
                    </a:solidFill>
                  </a:tcPr>
                </a:tc>
                <a:tc>
                  <a:txBody>
                    <a:bodyPr wrap="square"/>
                    <a:lstStyle/>
                    <a:p>
                      <a:r>
                        <a:rPr sz="1200" b="0">
                          <a:solidFill>
                            <a:srgbClr val="FFFFFF"/>
                          </a:solidFill>
                          <a:latin typeface="Inter"/>
                        </a:rPr>
                        <a:t>Section 7 budgets</a:t>
                      </a:r>
                    </a:p>
                  </a:txBody>
                  <a:tcPr marL="91440" marR="91440" marT="45720" marB="45720" anchor="ctr">
                    <a:solidFill>
                      <a:srgbClr val="1A2742"/>
                    </a:solidFill>
                  </a:tcPr>
                </a:tc>
              </a:tr>
              <a:tr h="384048">
                <a:tc>
                  <a:txBody>
                    <a:bodyPr wrap="square"/>
                    <a:lstStyle/>
                    <a:p>
                      <a:r>
                        <a:rPr sz="1104" b="0">
                          <a:solidFill>
                            <a:srgbClr val="00D4AA"/>
                          </a:solidFill>
                          <a:latin typeface="JetBrains Mono"/>
                        </a:rPr>
                        <a:t>atlas_ttft_seconds{model}</a:t>
                      </a:r>
                    </a:p>
                  </a:txBody>
                  <a:tcPr marL="91440" marR="91440" marT="45720" marB="45720" anchor="ctr">
                    <a:solidFill>
                      <a:srgbClr val="0F1E35"/>
                    </a:solidFill>
                  </a:tcPr>
                </a:tc>
                <a:tc>
                  <a:txBody>
                    <a:bodyPr wrap="square"/>
                    <a:lstStyle/>
                    <a:p>
                      <a:r>
                        <a:rPr sz="1200" b="0">
                          <a:solidFill>
                            <a:srgbClr val="FFFFFF"/>
                          </a:solidFill>
                          <a:latin typeface="Inter"/>
                        </a:rPr>
                        <a:t>Prometheus histogram, per generation</a:t>
                      </a:r>
                    </a:p>
                  </a:txBody>
                  <a:tcPr marL="91440" marR="91440" marT="45720" marB="45720" anchor="ctr">
                    <a:solidFill>
                      <a:srgbClr val="0F1E35"/>
                    </a:solidFill>
                  </a:tcPr>
                </a:tc>
                <a:tc>
                  <a:txBody>
                    <a:bodyPr wrap="square"/>
                    <a:lstStyle/>
                    <a:p>
                      <a:r>
                        <a:rPr sz="1200" b="0">
                          <a:solidFill>
                            <a:srgbClr val="FFFFFF"/>
                          </a:solidFill>
                          <a:latin typeface="Inter"/>
                        </a:rPr>
                        <a:t>Grafana p95 (Section 9)</a:t>
                      </a:r>
                    </a:p>
                  </a:txBody>
                  <a:tcPr marL="91440" marR="91440" marT="45720" marB="45720" anchor="ctr">
                    <a:solidFill>
                      <a:srgbClr val="0F1E35"/>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Reading TTFT across a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Final-answer TTFT: p50 1,427 ms, p95 1,702 ms on the replayed day</a:t>
            </a:r>
          </a:p>
          <a:p>
            <a:pPr marL="292608" indent="-292608">
              <a:lnSpc>
                <a:spcPct val="120000"/>
              </a:lnSpc>
              <a:spcAft>
                <a:spcPts val="1120"/>
              </a:spcAft>
              <a:buClr>
                <a:srgbClr val="00D4AA"/>
              </a:buClr>
              <a:buFont typeface="Inter"/>
              <a:buChar char="•"/>
            </a:pPr>
            <a:r>
              <a:rPr sz="1600" b="0">
                <a:solidFill>
                  <a:srgbClr val="FFFFFF"/>
                </a:solidFill>
                <a:latin typeface="Inter"/>
              </a:rPr>
              <a:t>Per-generation TTFT (</a:t>
            </a:r>
            <a:r>
              <a:rPr sz="1472" b="0">
                <a:solidFill>
                  <a:srgbClr val="00D4AA"/>
                </a:solidFill>
                <a:latin typeface="JetBrains Mono"/>
              </a:rPr>
              <a:t>atlas_ttft_seconds</a:t>
            </a:r>
            <a:r>
              <a:rPr sz="1600" b="0">
                <a:solidFill>
                  <a:srgbClr val="FFFFFF"/>
                </a:solidFill>
                <a:latin typeface="Inter"/>
              </a:rPr>
              <a:t>): p50 509 ms, p95 652 ms</a:t>
            </a:r>
          </a:p>
          <a:p>
            <a:pPr marL="292608" indent="-292608">
              <a:lnSpc>
                <a:spcPct val="120000"/>
              </a:lnSpc>
              <a:spcAft>
                <a:spcPts val="1120"/>
              </a:spcAft>
              <a:buClr>
                <a:srgbClr val="00D4AA"/>
              </a:buClr>
              <a:buFont typeface="Inter"/>
              <a:buChar char="•"/>
            </a:pPr>
            <a:r>
              <a:rPr sz="1600" b="0">
                <a:solidFill>
                  <a:srgbClr val="FFFFFF"/>
                </a:solidFill>
                <a:latin typeface="Inter"/>
              </a:rPr>
              <a:t>TTFT climbs with input tokens: context bloat shows here first</a:t>
            </a:r>
          </a:p>
          <a:p>
            <a:pPr marL="292608" indent="-292608">
              <a:lnSpc>
                <a:spcPct val="120000"/>
              </a:lnSpc>
              <a:spcAft>
                <a:spcPts val="1120"/>
              </a:spcAft>
              <a:buClr>
                <a:srgbClr val="00D4AA"/>
              </a:buClr>
              <a:buFont typeface="Inter"/>
              <a:buChar char="•"/>
            </a:pPr>
            <a:r>
              <a:rPr sz="1600" b="0">
                <a:solidFill>
                  <a:srgbClr val="FFFFFF"/>
                </a:solidFill>
                <a:latin typeface="Inter"/>
              </a:rPr>
              <a:t>TPOT is mostly a property of the model; a jump means a provider change or a slow region</a:t>
            </a:r>
          </a:p>
        </p:txBody>
      </p:sp>
      <p:pic>
        <p:nvPicPr>
          <p:cNvPr id="6" name="Picture 5" descr="D7-latency-budget-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Stream with </a:t>
            </a:r>
            <a:r>
              <a:rPr sz="1656" b="0">
                <a:solidFill>
                  <a:srgbClr val="00D4AA"/>
                </a:solidFill>
                <a:latin typeface="JetBrains Mono"/>
              </a:rPr>
              <a:t>include_usage</a:t>
            </a:r>
            <a:r>
              <a:rPr sz="1800" b="1">
                <a:solidFill>
                  <a:srgbClr val="FFFFFF"/>
                </a:solidFill>
                <a:latin typeface="Inter"/>
              </a:rPr>
              <a:t>, or cost is zero</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Record the first content chunk's time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Users feel final-answer TTFT, not total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Logs vs traces vs metrics for agents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slides lecture on the three signals: when an agent should log, when it should trace, 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Logs vs traces vs metrics for agents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Decide, for a given fact about an agent, whether it belongs in a log, a span or a metric.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signals, three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755648"/>
        </p:xfrm>
        <a:graphic>
          <a:graphicData uri="http://schemas.openxmlformats.org/drawingml/2006/table">
            <a:tbl>
              <a:tblPr firstRow="1" bandRow="1">
                <a:tableStyleId>{5C22544A-7EE6-4342-B048-85BDC9FD1C3A}</a:tableStyleId>
              </a:tblPr>
              <a:tblGrid>
                <a:gridCol w="787872"/>
                <a:gridCol w="5121171"/>
                <a:gridCol w="3020178"/>
                <a:gridCol w="2363617"/>
              </a:tblGrid>
              <a:tr h="438912">
                <a:tc>
                  <a:txBody>
                    <a:bodyPr wrap="square"/>
                    <a:lstStyle/>
                    <a:p>
                      <a:r>
                        <a:rPr sz="1400" b="1">
                          <a:solidFill>
                            <a:srgbClr val="0A1628"/>
                          </a:solidFill>
                          <a:latin typeface="Inter"/>
                        </a:rPr>
                        <a:t>Signal</a:t>
                      </a:r>
                    </a:p>
                  </a:txBody>
                  <a:tcPr marL="91440" marR="91440" marT="45720" marB="45720" anchor="ctr">
                    <a:solidFill>
                      <a:srgbClr val="00D4AA"/>
                    </a:solidFill>
                  </a:tcPr>
                </a:tc>
                <a:tc>
                  <a:txBody>
                    <a:bodyPr wrap="square"/>
                    <a:lstStyle/>
                    <a:p>
                      <a:r>
                        <a:rPr sz="1400" b="1">
                          <a:solidFill>
                            <a:srgbClr val="0A1628"/>
                          </a:solidFill>
                          <a:latin typeface="Inter"/>
                        </a:rPr>
                        <a:t>Answers</a:t>
                      </a:r>
                    </a:p>
                  </a:txBody>
                  <a:tcPr marL="91440" marR="91440" marT="45720" marB="45720" anchor="ctr">
                    <a:solidFill>
                      <a:srgbClr val="00D4AA"/>
                    </a:solidFill>
                  </a:tcPr>
                </a:tc>
                <a:tc>
                  <a:txBody>
                    <a:bodyPr wrap="square"/>
                    <a:lstStyle/>
                    <a:p>
                      <a:r>
                        <a:rPr sz="1400" b="1">
                          <a:solidFill>
                            <a:srgbClr val="0A1628"/>
                          </a:solidFill>
                          <a:latin typeface="Inter"/>
                        </a:rPr>
                        <a:t>Shape</a:t>
                      </a:r>
                    </a:p>
                  </a:txBody>
                  <a:tcPr marL="91440" marR="91440" marT="45720" marB="45720" anchor="ctr">
                    <a:solidFill>
                      <a:srgbClr val="00D4AA"/>
                    </a:solidFill>
                  </a:tcPr>
                </a:tc>
                <a:tc>
                  <a:txBody>
                    <a:bodyPr wrap="square"/>
                    <a:lstStyle/>
                    <a:p>
                      <a:r>
                        <a:rPr sz="1400" b="1">
                          <a:solidFill>
                            <a:srgbClr val="0A1628"/>
                          </a:solidFill>
                          <a:latin typeface="Inter"/>
                        </a:rPr>
                        <a:t>Cost grows with</a:t>
                      </a:r>
                    </a:p>
                  </a:txBody>
                  <a:tcPr marL="91440" marR="91440" marT="45720" marB="45720" anchor="ctr">
                    <a:solidFill>
                      <a:srgbClr val="00D4AA"/>
                    </a:solidFill>
                  </a:tcPr>
                </a:tc>
              </a:tr>
              <a:tr h="438912">
                <a:tc>
                  <a:txBody>
                    <a:bodyPr wrap="square"/>
                    <a:lstStyle/>
                    <a:p>
                      <a:r>
                        <a:rPr sz="1400" b="1">
                          <a:solidFill>
                            <a:srgbClr val="FFFFFF"/>
                          </a:solidFill>
                          <a:latin typeface="Inter"/>
                        </a:rPr>
                        <a:t>Trace</a:t>
                      </a:r>
                    </a:p>
                  </a:txBody>
                  <a:tcPr marL="91440" marR="91440" marT="45720" marB="45720" anchor="ctr">
                    <a:solidFill>
                      <a:srgbClr val="1A2742"/>
                    </a:solidFill>
                  </a:tcPr>
                </a:tc>
                <a:tc>
                  <a:txBody>
                    <a:bodyPr wrap="square"/>
                    <a:lstStyle/>
                    <a:p>
                      <a:r>
                        <a:rPr sz="1400" b="0">
                          <a:solidFill>
                            <a:srgbClr val="FFFFFF"/>
                          </a:solidFill>
                          <a:latin typeface="Inter"/>
                        </a:rPr>
                        <a:t>what happened in this request, in order</a:t>
                      </a:r>
                    </a:p>
                  </a:txBody>
                  <a:tcPr marL="91440" marR="91440" marT="45720" marB="45720" anchor="ctr">
                    <a:solidFill>
                      <a:srgbClr val="1A2742"/>
                    </a:solidFill>
                  </a:tcPr>
                </a:tc>
                <a:tc>
                  <a:txBody>
                    <a:bodyPr wrap="square"/>
                    <a:lstStyle/>
                    <a:p>
                      <a:r>
                        <a:rPr sz="1400" b="0">
                          <a:solidFill>
                            <a:srgbClr val="FFFFFF"/>
                          </a:solidFill>
                          <a:latin typeface="Inter"/>
                        </a:rPr>
                        <a:t>tree of spans</a:t>
                      </a:r>
                    </a:p>
                  </a:txBody>
                  <a:tcPr marL="91440" marR="91440" marT="45720" marB="45720" anchor="ctr">
                    <a:solidFill>
                      <a:srgbClr val="1A2742"/>
                    </a:solidFill>
                  </a:tcPr>
                </a:tc>
                <a:tc>
                  <a:txBody>
                    <a:bodyPr wrap="square"/>
                    <a:lstStyle/>
                    <a:p>
                      <a:r>
                        <a:rPr sz="1400" b="0">
                          <a:solidFill>
                            <a:srgbClr val="FFFFFF"/>
                          </a:solidFill>
                          <a:latin typeface="Inter"/>
                        </a:rPr>
                        <a:t>requests × spans</a:t>
                      </a:r>
                    </a:p>
                  </a:txBody>
                  <a:tcPr marL="91440" marR="91440" marT="45720" marB="45720" anchor="ctr">
                    <a:solidFill>
                      <a:srgbClr val="1A2742"/>
                    </a:solidFill>
                  </a:tcPr>
                </a:tc>
              </a:tr>
              <a:tr h="438912">
                <a:tc>
                  <a:txBody>
                    <a:bodyPr wrap="square"/>
                    <a:lstStyle/>
                    <a:p>
                      <a:r>
                        <a:rPr sz="1400" b="1">
                          <a:solidFill>
                            <a:srgbClr val="FFFFFF"/>
                          </a:solidFill>
                          <a:latin typeface="Inter"/>
                        </a:rPr>
                        <a:t>Metric</a:t>
                      </a:r>
                    </a:p>
                  </a:txBody>
                  <a:tcPr marL="91440" marR="91440" marT="45720" marB="45720" anchor="ctr">
                    <a:solidFill>
                      <a:srgbClr val="0F1E35"/>
                    </a:solidFill>
                  </a:tcPr>
                </a:tc>
                <a:tc>
                  <a:txBody>
                    <a:bodyPr wrap="square"/>
                    <a:lstStyle/>
                    <a:p>
                      <a:r>
                        <a:rPr sz="1400" b="0">
                          <a:solidFill>
                            <a:srgbClr val="FFFFFF"/>
                          </a:solidFill>
                          <a:latin typeface="Inter"/>
                        </a:rPr>
                        <a:t>how much, how often, right now</a:t>
                      </a:r>
                    </a:p>
                  </a:txBody>
                  <a:tcPr marL="91440" marR="91440" marT="45720" marB="45720" anchor="ctr">
                    <a:solidFill>
                      <a:srgbClr val="0F1E35"/>
                    </a:solidFill>
                  </a:tcPr>
                </a:tc>
                <a:tc>
                  <a:txBody>
                    <a:bodyPr wrap="square"/>
                    <a:lstStyle/>
                    <a:p>
                      <a:r>
                        <a:rPr sz="1400" b="0">
                          <a:solidFill>
                            <a:srgbClr val="FFFFFF"/>
                          </a:solidFill>
                          <a:latin typeface="Inter"/>
                        </a:rPr>
                        <a:t>number series over time</a:t>
                      </a:r>
                    </a:p>
                  </a:txBody>
                  <a:tcPr marL="91440" marR="91440" marT="45720" marB="45720" anchor="ctr">
                    <a:solidFill>
                      <a:srgbClr val="0F1E35"/>
                    </a:solidFill>
                  </a:tcPr>
                </a:tc>
                <a:tc>
                  <a:txBody>
                    <a:bodyPr wrap="square"/>
                    <a:lstStyle/>
                    <a:p>
                      <a:r>
                        <a:rPr sz="1400" b="0">
                          <a:solidFill>
                            <a:srgbClr val="FFFFFF"/>
                          </a:solidFill>
                          <a:latin typeface="Inter"/>
                        </a:rPr>
                        <a:t>label combinations</a:t>
                      </a:r>
                    </a:p>
                  </a:txBody>
                  <a:tcPr marL="91440" marR="91440" marT="45720" marB="45720" anchor="ctr">
                    <a:solidFill>
                      <a:srgbClr val="0F1E35"/>
                    </a:solidFill>
                  </a:tcPr>
                </a:tc>
              </a:tr>
              <a:tr h="438912">
                <a:tc>
                  <a:txBody>
                    <a:bodyPr wrap="square"/>
                    <a:lstStyle/>
                    <a:p>
                      <a:r>
                        <a:rPr sz="1400" b="1">
                          <a:solidFill>
                            <a:srgbClr val="FFFFFF"/>
                          </a:solidFill>
                          <a:latin typeface="Inter"/>
                        </a:rPr>
                        <a:t>Log</a:t>
                      </a:r>
                    </a:p>
                  </a:txBody>
                  <a:tcPr marL="91440" marR="91440" marT="45720" marB="45720" anchor="ctr">
                    <a:solidFill>
                      <a:srgbClr val="1A2742"/>
                    </a:solidFill>
                  </a:tcPr>
                </a:tc>
                <a:tc>
                  <a:txBody>
                    <a:bodyPr wrap="square"/>
                    <a:lstStyle/>
                    <a:p>
                      <a:r>
                        <a:rPr sz="1400" b="0">
                          <a:solidFill>
                            <a:srgbClr val="FFFFFF"/>
                          </a:solidFill>
                          <a:latin typeface="Inter"/>
                        </a:rPr>
                        <a:t>what did the code say at this moment</a:t>
                      </a:r>
                    </a:p>
                  </a:txBody>
                  <a:tcPr marL="91440" marR="91440" marT="45720" marB="45720" anchor="ctr">
                    <a:solidFill>
                      <a:srgbClr val="1A2742"/>
                    </a:solidFill>
                  </a:tcPr>
                </a:tc>
                <a:tc>
                  <a:txBody>
                    <a:bodyPr wrap="square"/>
                    <a:lstStyle/>
                    <a:p>
                      <a:r>
                        <a:rPr sz="1400" b="0">
                          <a:solidFill>
                            <a:srgbClr val="FFFFFF"/>
                          </a:solidFill>
                          <a:latin typeface="Inter"/>
                        </a:rPr>
                        <a:t>line of JSON</a:t>
                      </a:r>
                    </a:p>
                  </a:txBody>
                  <a:tcPr marL="91440" marR="91440" marT="45720" marB="45720" anchor="ctr">
                    <a:solidFill>
                      <a:srgbClr val="1A2742"/>
                    </a:solidFill>
                  </a:tcPr>
                </a:tc>
                <a:tc>
                  <a:txBody>
                    <a:bodyPr wrap="square"/>
                    <a:lstStyle/>
                    <a:p>
                      <a:r>
                        <a:rPr sz="1400" b="0">
                          <a:solidFill>
                            <a:srgbClr val="FFFFFF"/>
                          </a:solidFill>
                          <a:latin typeface="Inter"/>
                        </a:rPr>
                        <a:t>lines</a:t>
                      </a:r>
                    </a:p>
                  </a:txBody>
                  <a:tcPr marL="91440" marR="91440" marT="45720" marB="45720" anchor="ctr">
                    <a:solidFill>
                      <a:srgbClr val="1A2742"/>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five-second rule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Is it about one request, in sequence? → span or event on the span</a:t>
            </a:r>
          </a:p>
          <a:p>
            <a:pPr marL="292608" indent="-292608">
              <a:lnSpc>
                <a:spcPct val="120000"/>
              </a:lnSpc>
              <a:spcAft>
                <a:spcPts val="1260"/>
              </a:spcAft>
              <a:buClr>
                <a:srgbClr val="00D4AA"/>
              </a:buClr>
              <a:buFont typeface="Inter"/>
              <a:buChar char="•"/>
            </a:pPr>
            <a:r>
              <a:rPr sz="1800" b="0">
                <a:solidFill>
                  <a:srgbClr val="FFFFFF"/>
                </a:solidFill>
                <a:latin typeface="Inter"/>
              </a:rPr>
              <a:t>Is it a number you'd graph over time or alert on? → metric</a:t>
            </a:r>
          </a:p>
          <a:p>
            <a:pPr marL="292608" indent="-292608">
              <a:lnSpc>
                <a:spcPct val="120000"/>
              </a:lnSpc>
              <a:spcAft>
                <a:spcPts val="1260"/>
              </a:spcAft>
              <a:buClr>
                <a:srgbClr val="00D4AA"/>
              </a:buClr>
              <a:buFont typeface="Inter"/>
              <a:buChar char="•"/>
            </a:pPr>
            <a:r>
              <a:rPr sz="1800" b="0">
                <a:solidFill>
                  <a:srgbClr val="FFFFFF"/>
                </a:solidFill>
                <a:latin typeface="Inter"/>
              </a:rPr>
              <a:t>Is it a message for a human debugging later? → log, with </a:t>
            </a:r>
            <a:r>
              <a:rPr sz="1656" b="0">
                <a:solidFill>
                  <a:srgbClr val="00D4AA"/>
                </a:solidFill>
                <a:latin typeface="JetBrains Mono"/>
              </a:rPr>
              <a:t>trace_id</a:t>
            </a:r>
          </a:p>
          <a:p>
            <a:pPr marL="292608" indent="-292608">
              <a:lnSpc>
                <a:spcPct val="120000"/>
              </a:lnSpc>
              <a:spcAft>
                <a:spcPts val="1260"/>
              </a:spcAft>
              <a:buClr>
                <a:srgbClr val="00D4AA"/>
              </a:buClr>
              <a:buFont typeface="Inter"/>
              <a:buChar char="•"/>
            </a:pPr>
            <a:r>
              <a:rPr sz="1800" b="0">
                <a:solidFill>
                  <a:srgbClr val="FFFFFF"/>
                </a:solidFill>
                <a:latin typeface="Inter"/>
              </a:rPr>
              <a:t>Is it both? → span first, and emit the metric alongside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Agent examples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456432"/>
        </p:xfrm>
        <a:graphic>
          <a:graphicData uri="http://schemas.openxmlformats.org/drawingml/2006/table">
            <a:tbl>
              <a:tblPr firstRow="1" bandRow="1">
                <a:tableStyleId>{5C22544A-7EE6-4342-B048-85BDC9FD1C3A}</a:tableStyleId>
              </a:tblPr>
              <a:tblGrid>
                <a:gridCol w="5243104"/>
                <a:gridCol w="6049735"/>
              </a:tblGrid>
              <a:tr h="384048">
                <a:tc>
                  <a:txBody>
                    <a:bodyPr wrap="square"/>
                    <a:lstStyle/>
                    <a:p>
                      <a:r>
                        <a:rPr sz="1100" b="1">
                          <a:solidFill>
                            <a:srgbClr val="0A1628"/>
                          </a:solidFill>
                          <a:latin typeface="Inter"/>
                        </a:rPr>
                        <a:t>Fact</a:t>
                      </a:r>
                    </a:p>
                  </a:txBody>
                  <a:tcPr marL="91440" marR="91440" marT="45720" marB="45720" anchor="ctr">
                    <a:solidFill>
                      <a:srgbClr val="00D4AA"/>
                    </a:solidFill>
                  </a:tcPr>
                </a:tc>
                <a:tc>
                  <a:txBody>
                    <a:bodyPr wrap="square"/>
                    <a:lstStyle/>
                    <a:p>
                      <a:r>
                        <a:rPr sz="1100" b="1">
                          <a:solidFill>
                            <a:srgbClr val="0A1628"/>
                          </a:solidFill>
                          <a:latin typeface="Inter"/>
                        </a:rPr>
                        <a:t>Signal</a:t>
                      </a:r>
                    </a:p>
                  </a:txBody>
                  <a:tcPr marL="91440" marR="91440" marT="45720" marB="45720" anchor="ctr">
                    <a:solidFill>
                      <a:srgbClr val="00D4AA"/>
                    </a:solidFill>
                  </a:tcPr>
                </a:tc>
              </a:tr>
              <a:tr h="384048">
                <a:tc>
                  <a:txBody>
                    <a:bodyPr wrap="square"/>
                    <a:lstStyle/>
                    <a:p>
                      <a:r>
                        <a:rPr sz="1100" b="1">
                          <a:solidFill>
                            <a:srgbClr val="FFFFFF"/>
                          </a:solidFill>
                          <a:latin typeface="Inter"/>
                        </a:rPr>
                        <a:t>The model chose </a:t>
                      </a:r>
                      <a:r>
                        <a:rPr sz="1012" b="0">
                          <a:solidFill>
                            <a:srgbClr val="00D4AA"/>
                          </a:solidFill>
                          <a:latin typeface="JetBrains Mono"/>
                        </a:rPr>
                        <a:t>lookup_ticket</a:t>
                      </a:r>
                      <a:r>
                        <a:rPr sz="1100" b="1">
                          <a:solidFill>
                            <a:srgbClr val="FFFFFF"/>
                          </a:solidFill>
                          <a:latin typeface="Inter"/>
                        </a:rPr>
                        <a:t> with these arguments</a:t>
                      </a:r>
                    </a:p>
                  </a:txBody>
                  <a:tcPr marL="91440" marR="91440" marT="45720" marB="45720" anchor="ctr">
                    <a:solidFill>
                      <a:srgbClr val="1A2742"/>
                    </a:solidFill>
                  </a:tcPr>
                </a:tc>
                <a:tc>
                  <a:txBody>
                    <a:bodyPr wrap="square"/>
                    <a:lstStyle/>
                    <a:p>
                      <a:r>
                        <a:rPr sz="1100" b="0">
                          <a:solidFill>
                            <a:srgbClr val="FFFFFF"/>
                          </a:solidFill>
                          <a:latin typeface="Inter"/>
                        </a:rPr>
                        <a:t>span (tool)</a:t>
                      </a:r>
                    </a:p>
                  </a:txBody>
                  <a:tcPr marL="91440" marR="91440" marT="45720" marB="45720" anchor="ctr">
                    <a:solidFill>
                      <a:srgbClr val="1A2742"/>
                    </a:solidFill>
                  </a:tcPr>
                </a:tc>
              </a:tr>
              <a:tr h="384048">
                <a:tc>
                  <a:txBody>
                    <a:bodyPr wrap="square"/>
                    <a:lstStyle/>
                    <a:p>
                      <a:r>
                        <a:rPr sz="1100" b="1">
                          <a:solidFill>
                            <a:srgbClr val="FFFFFF"/>
                          </a:solidFill>
                          <a:latin typeface="Inter"/>
                        </a:rPr>
                        <a:t>Tool error rate for </a:t>
                      </a:r>
                      <a:r>
                        <a:rPr sz="1012" b="0">
                          <a:solidFill>
                            <a:srgbClr val="00D4AA"/>
                          </a:solidFill>
                          <a:latin typeface="JetBrains Mono"/>
                        </a:rPr>
                        <a:t>lookup_ticket</a:t>
                      </a:r>
                      <a:r>
                        <a:rPr sz="1100" b="1">
                          <a:solidFill>
                            <a:srgbClr val="FFFFFF"/>
                          </a:solidFill>
                          <a:latin typeface="Inter"/>
                        </a:rPr>
                        <a:t>, last 5 minutes</a:t>
                      </a:r>
                    </a:p>
                  </a:txBody>
                  <a:tcPr marL="91440" marR="91440" marT="45720" marB="45720" anchor="ctr">
                    <a:solidFill>
                      <a:srgbClr val="0F1E35"/>
                    </a:solidFill>
                  </a:tcPr>
                </a:tc>
                <a:tc>
                  <a:txBody>
                    <a:bodyPr wrap="square"/>
                    <a:lstStyle/>
                    <a:p>
                      <a:r>
                        <a:rPr sz="1100" b="0">
                          <a:solidFill>
                            <a:srgbClr val="FFFFFF"/>
                          </a:solidFill>
                          <a:latin typeface="Inter"/>
                        </a:rPr>
                        <a:t>metric: </a:t>
                      </a:r>
                      <a:r>
                        <a:rPr sz="1012" b="0">
                          <a:solidFill>
                            <a:srgbClr val="00D4AA"/>
                          </a:solidFill>
                          <a:latin typeface="JetBrains Mono"/>
                        </a:rPr>
                        <a:t>atlas_tool_calls_total{tool, outcome}</a:t>
                      </a:r>
                    </a:p>
                  </a:txBody>
                  <a:tcPr marL="91440" marR="91440" marT="45720" marB="45720" anchor="ctr">
                    <a:solidFill>
                      <a:srgbClr val="0F1E35"/>
                    </a:solidFill>
                  </a:tcPr>
                </a:tc>
              </a:tr>
              <a:tr h="384048">
                <a:tc>
                  <a:txBody>
                    <a:bodyPr wrap="square"/>
                    <a:lstStyle/>
                    <a:p>
                      <a:r>
                        <a:rPr sz="1100" b="1">
                          <a:solidFill>
                            <a:srgbClr val="FFFFFF"/>
                          </a:solidFill>
                          <a:latin typeface="Inter"/>
                        </a:rPr>
                        <a:t>Step limit reached in this conversation</a:t>
                      </a:r>
                    </a:p>
                  </a:txBody>
                  <a:tcPr marL="91440" marR="91440" marT="45720" marB="45720" anchor="ctr">
                    <a:solidFill>
                      <a:srgbClr val="1A2742"/>
                    </a:solidFill>
                  </a:tcPr>
                </a:tc>
                <a:tc>
                  <a:txBody>
                    <a:bodyPr wrap="square"/>
                    <a:lstStyle/>
                    <a:p>
                      <a:r>
                        <a:rPr sz="1100" b="0">
                          <a:solidFill>
                            <a:srgbClr val="FFFFFF"/>
                          </a:solidFill>
                          <a:latin typeface="Inter"/>
                        </a:rPr>
                        <a:t>event on the agent span; metric </a:t>
                      </a:r>
                      <a:r>
                        <a:rPr sz="1012" b="0">
                          <a:solidFill>
                            <a:srgbClr val="00D4AA"/>
                          </a:solidFill>
                          <a:latin typeface="JetBrains Mono"/>
                        </a:rPr>
                        <a:t>atlas_requests_total{outcome="step_limit"}</a:t>
                      </a:r>
                    </a:p>
                  </a:txBody>
                  <a:tcPr marL="91440" marR="91440" marT="45720" marB="45720" anchor="ctr">
                    <a:solidFill>
                      <a:srgbClr val="1A2742"/>
                    </a:solidFill>
                  </a:tcPr>
                </a:tc>
              </a:tr>
              <a:tr h="384048">
                <a:tc>
                  <a:txBody>
                    <a:bodyPr wrap="square"/>
                    <a:lstStyle/>
                    <a:p>
                      <a:r>
                        <a:rPr sz="1100" b="1">
                          <a:solidFill>
                            <a:srgbClr val="FFFFFF"/>
                          </a:solidFill>
                          <a:latin typeface="Inter"/>
                        </a:rPr>
                        <a:t>Cost of this generation</a:t>
                      </a:r>
                    </a:p>
                  </a:txBody>
                  <a:tcPr marL="91440" marR="91440" marT="45720" marB="45720" anchor="ctr">
                    <a:solidFill>
                      <a:srgbClr val="0F1E35"/>
                    </a:solidFill>
                  </a:tcPr>
                </a:tc>
                <a:tc>
                  <a:txBody>
                    <a:bodyPr wrap="square"/>
                    <a:lstStyle/>
                    <a:p>
                      <a:r>
                        <a:rPr sz="1100" b="0">
                          <a:solidFill>
                            <a:srgbClr val="FFFFFF"/>
                          </a:solidFill>
                          <a:latin typeface="Inter"/>
                        </a:rPr>
                        <a:t>span (</a:t>
                      </a:r>
                      <a:r>
                        <a:rPr sz="1012" b="0">
                          <a:solidFill>
                            <a:srgbClr val="00D4AA"/>
                          </a:solidFill>
                          <a:latin typeface="JetBrains Mono"/>
                        </a:rPr>
                        <a:t>atlas.cost_usd</a:t>
                      </a:r>
                      <a:r>
                        <a:rPr sz="1100" b="0">
                          <a:solidFill>
                            <a:srgbClr val="FFFFFF"/>
                          </a:solidFill>
                          <a:latin typeface="Inter"/>
                        </a:rPr>
                        <a:t>, </a:t>
                      </a:r>
                      <a:r>
                        <a:rPr sz="1012" b="0">
                          <a:solidFill>
                            <a:srgbClr val="00D4AA"/>
                          </a:solidFill>
                          <a:latin typeface="JetBrains Mono"/>
                        </a:rPr>
                        <a:t>cost_details</a:t>
                      </a:r>
                      <a:r>
                        <a:rPr sz="1100" b="0">
                          <a:solidFill>
                            <a:srgbClr val="FFFFFF"/>
                          </a:solidFill>
                          <a:latin typeface="Inter"/>
                        </a:rPr>
                        <a:t>)</a:t>
                      </a:r>
                    </a:p>
                  </a:txBody>
                  <a:tcPr marL="91440" marR="91440" marT="45720" marB="45720" anchor="ctr">
                    <a:solidFill>
                      <a:srgbClr val="0F1E35"/>
                    </a:solidFill>
                  </a:tcPr>
                </a:tc>
              </a:tr>
              <a:tr h="384048">
                <a:tc>
                  <a:txBody>
                    <a:bodyPr wrap="square"/>
                    <a:lstStyle/>
                    <a:p>
                      <a:r>
                        <a:rPr sz="1100" b="1">
                          <a:solidFill>
                            <a:srgbClr val="FFFFFF"/>
                          </a:solidFill>
                          <a:latin typeface="Inter"/>
                        </a:rPr>
                        <a:t>Cost per hour by tenant</a:t>
                      </a:r>
                    </a:p>
                  </a:txBody>
                  <a:tcPr marL="91440" marR="91440" marT="45720" marB="45720" anchor="ctr">
                    <a:solidFill>
                      <a:srgbClr val="1A2742"/>
                    </a:solidFill>
                  </a:tcPr>
                </a:tc>
                <a:tc>
                  <a:txBody>
                    <a:bodyPr wrap="square"/>
                    <a:lstStyle/>
                    <a:p>
                      <a:r>
                        <a:rPr sz="1100" b="0">
                          <a:solidFill>
                            <a:srgbClr val="FFFFFF"/>
                          </a:solidFill>
                          <a:latin typeface="Inter"/>
                        </a:rPr>
                        <a:t>metric: </a:t>
                      </a:r>
                      <a:r>
                        <a:rPr sz="1012" b="0">
                          <a:solidFill>
                            <a:srgbClr val="00D4AA"/>
                          </a:solidFill>
                          <a:latin typeface="JetBrains Mono"/>
                        </a:rPr>
                        <a:t>atlas_cost_usd_total{tenant, model, feature}</a:t>
                      </a:r>
                    </a:p>
                  </a:txBody>
                  <a:tcPr marL="91440" marR="91440" marT="45720" marB="45720" anchor="ctr">
                    <a:solidFill>
                      <a:srgbClr val="1A2742"/>
                    </a:solidFill>
                  </a:tcPr>
                </a:tc>
              </a:tr>
              <a:tr h="384048">
                <a:tc>
                  <a:txBody>
                    <a:bodyPr wrap="square"/>
                    <a:lstStyle/>
                    <a:p>
                      <a:r>
                        <a:rPr sz="1100" b="1">
                          <a:solidFill>
                            <a:srgbClr val="FFFFFF"/>
                          </a:solidFill>
                          <a:latin typeface="Inter"/>
                        </a:rPr>
                        <a:t>"llm call failed, attempt 1/3"</a:t>
                      </a:r>
                    </a:p>
                  </a:txBody>
                  <a:tcPr marL="91440" marR="91440" marT="45720" marB="45720" anchor="ctr">
                    <a:solidFill>
                      <a:srgbClr val="0F1E35"/>
                    </a:solidFill>
                  </a:tcPr>
                </a:tc>
                <a:tc>
                  <a:txBody>
                    <a:bodyPr wrap="square"/>
                    <a:lstStyle/>
                    <a:p>
                      <a:r>
                        <a:rPr sz="1100" b="0">
                          <a:solidFill>
                            <a:srgbClr val="FFFFFF"/>
                          </a:solidFill>
                          <a:latin typeface="Inter"/>
                        </a:rPr>
                        <a:t>log, WARNING, with trace_id</a:t>
                      </a:r>
                    </a:p>
                  </a:txBody>
                  <a:tcPr marL="91440" marR="91440" marT="45720" marB="45720" anchor="ctr">
                    <a:solidFill>
                      <a:srgbClr val="0F1E35"/>
                    </a:solidFill>
                  </a:tcPr>
                </a:tc>
              </a:tr>
              <a:tr h="384048">
                <a:tc>
                  <a:txBody>
                    <a:bodyPr wrap="square"/>
                    <a:lstStyle/>
                    <a:p>
                      <a:r>
                        <a:rPr sz="1100" b="1">
                          <a:solidFill>
                            <a:srgbClr val="FFFFFF"/>
                          </a:solidFill>
                          <a:latin typeface="Inter"/>
                        </a:rPr>
                        <a:t>TTFT of this generation</a:t>
                      </a:r>
                    </a:p>
                  </a:txBody>
                  <a:tcPr marL="91440" marR="91440" marT="45720" marB="45720" anchor="ctr">
                    <a:solidFill>
                      <a:srgbClr val="1A2742"/>
                    </a:solidFill>
                  </a:tcPr>
                </a:tc>
                <a:tc>
                  <a:txBody>
                    <a:bodyPr wrap="square"/>
                    <a:lstStyle/>
                    <a:p>
                      <a:r>
                        <a:rPr sz="1100" b="0">
                          <a:solidFill>
                            <a:srgbClr val="FFFFFF"/>
                          </a:solidFill>
                          <a:latin typeface="Inter"/>
                        </a:rPr>
                        <a:t>span (</a:t>
                      </a:r>
                      <a:r>
                        <a:rPr sz="1012" b="0">
                          <a:solidFill>
                            <a:srgbClr val="00D4AA"/>
                          </a:solidFill>
                          <a:latin typeface="JetBrains Mono"/>
                        </a:rPr>
                        <a:t>atlas.ttft_ms</a:t>
                      </a:r>
                      <a:r>
                        <a:rPr sz="1100" b="0">
                          <a:solidFill>
                            <a:srgbClr val="FFFFFF"/>
                          </a:solidFill>
                          <a:latin typeface="Inter"/>
                        </a:rPr>
                        <a:t>)</a:t>
                      </a:r>
                    </a:p>
                  </a:txBody>
                  <a:tcPr marL="91440" marR="91440" marT="45720" marB="45720" anchor="ctr">
                    <a:solidFill>
                      <a:srgbClr val="1A2742"/>
                    </a:solidFill>
                  </a:tcPr>
                </a:tc>
              </a:tr>
              <a:tr h="384048">
                <a:tc>
                  <a:txBody>
                    <a:bodyPr wrap="square"/>
                    <a:lstStyle/>
                    <a:p>
                      <a:r>
                        <a:rPr sz="1100" b="1">
                          <a:solidFill>
                            <a:srgbClr val="FFFFFF"/>
                          </a:solidFill>
                          <a:latin typeface="Inter"/>
                        </a:rPr>
                        <a:t>TTFT p95 today</a:t>
                      </a:r>
                    </a:p>
                  </a:txBody>
                  <a:tcPr marL="91440" marR="91440" marT="45720" marB="45720" anchor="ctr">
                    <a:solidFill>
                      <a:srgbClr val="0F1E35"/>
                    </a:solidFill>
                  </a:tcPr>
                </a:tc>
                <a:tc>
                  <a:txBody>
                    <a:bodyPr wrap="square"/>
                    <a:lstStyle/>
                    <a:p>
                      <a:r>
                        <a:rPr sz="1100" b="0">
                          <a:solidFill>
                            <a:srgbClr val="FFFFFF"/>
                          </a:solidFill>
                          <a:latin typeface="Inter"/>
                        </a:rPr>
                        <a:t>metric: histogram </a:t>
                      </a:r>
                      <a:r>
                        <a:rPr sz="1012" b="0">
                          <a:solidFill>
                            <a:srgbClr val="00D4AA"/>
                          </a:solidFill>
                          <a:latin typeface="JetBrains Mono"/>
                        </a:rPr>
                        <a:t>atlas_ttft_seconds{model}</a:t>
                      </a:r>
                    </a:p>
                  </a:txBody>
                  <a:tcPr marL="91440" marR="91440" marT="45720" marB="45720" anchor="ctr">
                    <a:solidFill>
                      <a:srgbClr val="0F1E35"/>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Logs that are worth having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472" b="0">
                <a:solidFill>
                  <a:srgbClr val="00D4AA"/>
                </a:solidFill>
                <a:latin typeface="JetBrains Mono"/>
              </a:rPr>
              <a:t>telemetry/logging_setup.py</a:t>
            </a:r>
            <a:r>
              <a:rPr sz="1600" b="0">
                <a:solidFill>
                  <a:srgbClr val="FFFFFF"/>
                </a:solidFill>
                <a:latin typeface="Inter"/>
              </a:rPr>
              <a:t>: a JSON formatter that reads the current span context and masks PII in the message</a:t>
            </a:r>
          </a:p>
          <a:p>
            <a:pPr marL="292608" indent="-292608">
              <a:lnSpc>
                <a:spcPct val="120000"/>
              </a:lnSpc>
              <a:spcAft>
                <a:spcPts val="1120"/>
              </a:spcAft>
              <a:buClr>
                <a:srgbClr val="00D4AA"/>
              </a:buClr>
              <a:buFont typeface="Inter"/>
              <a:buChar char="•"/>
            </a:pPr>
            <a:r>
              <a:rPr sz="1600" b="0">
                <a:solidFill>
                  <a:srgbClr val="FFFFFF"/>
                </a:solidFill>
                <a:latin typeface="Inter"/>
              </a:rPr>
              <a:t>Paste the </a:t>
            </a:r>
            <a:r>
              <a:rPr sz="1472" b="0">
                <a:solidFill>
                  <a:srgbClr val="00D4AA"/>
                </a:solidFill>
                <a:latin typeface="JetBrains Mono"/>
              </a:rPr>
              <a:t>trace_id</a:t>
            </a:r>
            <a:r>
              <a:rPr sz="1600" b="0">
                <a:solidFill>
                  <a:srgbClr val="FFFFFF"/>
                </a:solidFill>
                <a:latin typeface="Inter"/>
              </a:rPr>
              <a:t> into Langfuse or the console's Traces page: the whole request appears</a:t>
            </a:r>
          </a:p>
          <a:p>
            <a:pPr marL="292608" indent="-292608">
              <a:lnSpc>
                <a:spcPct val="120000"/>
              </a:lnSpc>
              <a:spcAft>
                <a:spcPts val="1120"/>
              </a:spcAft>
              <a:buClr>
                <a:srgbClr val="00D4AA"/>
              </a:buClr>
              <a:buFont typeface="Inter"/>
              <a:buChar char="•"/>
            </a:pPr>
            <a:r>
              <a:rPr sz="1600" b="0">
                <a:solidFill>
                  <a:srgbClr val="FFFFFF"/>
                </a:solidFill>
                <a:latin typeface="Inter"/>
              </a:rPr>
              <a:t>No message bodies, no PII in logs; that's what masked spans are for</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json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FFFFFF"/>
                </a:solidFill>
                <a:latin typeface="JetBrains Mono"/>
              </a:rPr>
              <a:t>{"ts": "2026-10-02T00:56:41.070889+00:00", "level": "WARNING", "logger": "atlas.agent", "service": "atlas",</a:t>
            </a:r>
          </a:p>
          <a:p>
            <a:r>
              <a:rPr sz="1000">
                <a:solidFill>
                  <a:srgbClr val="FFFFFF"/>
                </a:solidFill>
                <a:latin typeface="JetBrains Mono"/>
              </a:rPr>
              <a:t> "message": "llm call failed (APITimeoutError) attempt 1/3",</a:t>
            </a:r>
          </a:p>
          <a:p>
            <a:r>
              <a:rPr sz="1000">
                <a:solidFill>
                  <a:srgbClr val="FFFFFF"/>
                </a:solidFill>
                <a:latin typeface="JetBrains Mono"/>
              </a:rPr>
              <a:t> "trace_id": "a5fedb4b9da10fcd6c0b5fd88e63df97", "span_id": "52b456398abbab7c"}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cardinality trap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metric series exists for every unique combination of label values</a:t>
            </a:r>
          </a:p>
          <a:p>
            <a:pPr marL="292608" indent="-292608">
              <a:lnSpc>
                <a:spcPct val="120000"/>
              </a:lnSpc>
              <a:spcAft>
                <a:spcPts val="1260"/>
              </a:spcAft>
              <a:buClr>
                <a:srgbClr val="00D4AA"/>
              </a:buClr>
              <a:buFont typeface="Inter"/>
              <a:buChar char="•"/>
            </a:pPr>
            <a:r>
              <a:rPr sz="1656" b="0">
                <a:solidFill>
                  <a:srgbClr val="00D4AA"/>
                </a:solidFill>
                <a:latin typeface="JetBrains Mono"/>
              </a:rPr>
              <a:t>atlas_tokens_total{tenant, model, kind}</a:t>
            </a:r>
            <a:r>
              <a:rPr sz="1800" b="0">
                <a:solidFill>
                  <a:srgbClr val="FFFFFF"/>
                </a:solidFill>
                <a:latin typeface="Inter"/>
              </a:rPr>
              <a:t>: 5 tenants (incl. </a:t>
            </a:r>
            <a:r>
              <a:rPr sz="1656" b="0">
                <a:solidFill>
                  <a:srgbClr val="00D4AA"/>
                </a:solidFill>
                <a:latin typeface="JetBrains Mono"/>
              </a:rPr>
              <a:t>other</a:t>
            </a:r>
            <a:r>
              <a:rPr sz="1800" b="0">
                <a:solidFill>
                  <a:srgbClr val="FFFFFF"/>
                </a:solidFill>
                <a:latin typeface="Inter"/>
              </a:rPr>
              <a:t>) × 5 models × 4 kinds = at most 100 series. Fine.</a:t>
            </a:r>
          </a:p>
          <a:p>
            <a:pPr marL="292608" indent="-292608">
              <a:lnSpc>
                <a:spcPct val="120000"/>
              </a:lnSpc>
              <a:spcAft>
                <a:spcPts val="1260"/>
              </a:spcAft>
              <a:buClr>
                <a:srgbClr val="00D4AA"/>
              </a:buClr>
              <a:buFont typeface="Inter"/>
              <a:buChar char="•"/>
            </a:pPr>
            <a:r>
              <a:rPr sz="1800" b="0">
                <a:solidFill>
                  <a:srgbClr val="FFFFFF"/>
                </a:solidFill>
                <a:latin typeface="Inter"/>
              </a:rPr>
              <a:t>Add </a:t>
            </a:r>
            <a:r>
              <a:rPr sz="1656" b="0">
                <a:solidFill>
                  <a:srgbClr val="00D4AA"/>
                </a:solidFill>
                <a:latin typeface="JetBrains Mono"/>
              </a:rPr>
              <a:t>user_id</a:t>
            </a:r>
            <a:r>
              <a:rPr sz="1800" b="0">
                <a:solidFill>
                  <a:srgbClr val="FFFFFF"/>
                </a:solidFill>
                <a:latin typeface="Inter"/>
              </a:rPr>
              <a:t> (about 4,800 employees) → up to 480,000 series. Memory, query time and dashboards all suffer.</a:t>
            </a:r>
          </a:p>
          <a:p>
            <a:pPr marL="292608" indent="-292608">
              <a:lnSpc>
                <a:spcPct val="120000"/>
              </a:lnSpc>
              <a:spcAft>
                <a:spcPts val="1260"/>
              </a:spcAft>
              <a:buClr>
                <a:srgbClr val="00D4AA"/>
              </a:buClr>
              <a:buFont typeface="Inter"/>
              <a:buChar char="•"/>
            </a:pPr>
            <a:r>
              <a:rPr sz="1800" b="0">
                <a:solidFill>
                  <a:srgbClr val="FFFFFF"/>
                </a:solidFill>
                <a:latin typeface="Inter"/>
              </a:rPr>
              <a:t>Add </a:t>
            </a:r>
            <a:r>
              <a:rPr sz="1656" b="0">
                <a:solidFill>
                  <a:srgbClr val="00D4AA"/>
                </a:solidFill>
                <a:latin typeface="JetBrains Mono"/>
              </a:rPr>
              <a:t>session_id</a:t>
            </a:r>
            <a:r>
              <a:rPr sz="1800" b="0">
                <a:solidFill>
                  <a:srgbClr val="FFFFFF"/>
                </a:solidFill>
                <a:latin typeface="Inter"/>
              </a:rPr>
              <a:t> → unbounded. This is how a metrics server dies.</a:t>
            </a:r>
          </a:p>
          <a:p>
            <a:pPr marL="292608" indent="-292608">
              <a:lnSpc>
                <a:spcPct val="120000"/>
              </a:lnSpc>
              <a:spcAft>
                <a:spcPts val="1260"/>
              </a:spcAft>
              <a:buClr>
                <a:srgbClr val="00D4AA"/>
              </a:buClr>
              <a:buFont typeface="Inter"/>
              <a:buChar char="•"/>
            </a:pPr>
            <a:r>
              <a:rPr sz="1800" b="0">
                <a:solidFill>
                  <a:srgbClr val="FFFFFF"/>
                </a:solidFill>
                <a:latin typeface="Inter"/>
              </a:rPr>
              <a:t>Rule: labels only for dimensions with a small, fixed set of values. Users and sessions are trace dimensions.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t>
            </a:r>
            <a:r>
              <a:rPr sz="2392" b="0">
                <a:solidFill>
                  <a:srgbClr val="00D4AA"/>
                </a:solidFill>
                <a:latin typeface="JetBrains Mono"/>
              </a:rPr>
              <a:t>telemetry/metrics.py</a:t>
            </a:r>
            <a:r>
              <a:rPr sz="2600" b="1">
                <a:solidFill>
                  <a:srgbClr val="FFFFFF"/>
                </a:solidFill>
                <a:latin typeface="Inter"/>
              </a:rPr>
              <a:t> exposes (selection)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000">
                <a:solidFill>
                  <a:srgbClr val="FFFFFF"/>
                </a:solidFill>
                <a:latin typeface="JetBrains Mono"/>
              </a:rPr>
              <a:t>atlas_requests_total{tenant, model, outcome, feature}</a:t>
            </a:r>
          </a:p>
          <a:p>
            <a:r>
              <a:rPr sz="1000">
                <a:solidFill>
                  <a:srgbClr val="FFFFFF"/>
                </a:solidFill>
                <a:latin typeface="JetBrains Mono"/>
              </a:rPr>
              <a:t>atlas_tokens_total{tenant, model, kind}            kind = input | output | cached | reasoning</a:t>
            </a:r>
          </a:p>
          <a:p>
            <a:r>
              <a:rPr sz="1000">
                <a:solidFill>
                  <a:srgbClr val="FFFFFF"/>
                </a:solidFill>
                <a:latin typeface="JetBrains Mono"/>
              </a:rPr>
              <a:t>atlas_cost_usd_total{tenant, model, feature}</a:t>
            </a:r>
          </a:p>
          <a:p>
            <a:r>
              <a:rPr sz="1000">
                <a:solidFill>
                  <a:srgbClr val="FFFFFF"/>
                </a:solidFill>
                <a:latin typeface="JetBrains Mono"/>
              </a:rPr>
              <a:t>atlas_tool_calls_total{tool, outcome}              outcome = ok | error</a:t>
            </a:r>
          </a:p>
          <a:p>
            <a:r>
              <a:rPr sz="1000">
                <a:solidFill>
                  <a:srgbClr val="FFFFFF"/>
                </a:solidFill>
                <a:latin typeface="JetBrains Mono"/>
              </a:rPr>
              <a:t>atlas_llm_retries_total{model, reason}</a:t>
            </a:r>
          </a:p>
          <a:p>
            <a:r>
              <a:rPr sz="1000">
                <a:solidFill>
                  <a:srgbClr val="FFFFFF"/>
                </a:solidFill>
                <a:latin typeface="JetBrains Mono"/>
              </a:rPr>
              <a:t>atlas_budget_decisions_total{tenant, decision}</a:t>
            </a:r>
          </a:p>
          <a:p>
            <a:r>
              <a:rPr sz="1000">
                <a:solidFill>
                  <a:srgbClr val="FFFFFF"/>
                </a:solidFill>
                <a:latin typeface="JetBrains Mono"/>
              </a:rPr>
              <a:t>atlas_guardrail_events_total{tenant, kind}</a:t>
            </a:r>
          </a:p>
          <a:p>
            <a:r>
              <a:rPr sz="1000">
                <a:solidFill>
                  <a:srgbClr val="FFFFFF"/>
                </a:solidFill>
                <a:latin typeface="JetBrains Mono"/>
              </a:rPr>
              <a:t>atlas_ttft_seconds{model}                          histogram, per generation</a:t>
            </a:r>
          </a:p>
          <a:p>
            <a:r>
              <a:rPr sz="1000">
                <a:solidFill>
                  <a:srgbClr val="FFFFFF"/>
                </a:solidFill>
                <a:latin typeface="JetBrains Mono"/>
              </a:rPr>
              <a:t>atlas_request_latency_seconds{tenant, feature}     histogram, end to end</a:t>
            </a:r>
          </a:p>
          <a:p>
            <a:r>
              <a:rPr sz="1000">
                <a:solidFill>
                  <a:srgbClr val="FFFFFF"/>
                </a:solidFill>
                <a:latin typeface="JetBrains Mono"/>
              </a:rPr>
              <a:t>atlas_agent_steps{tenant}                          histogram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Span for the request, metric for the number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Log for the human, with </a:t>
            </a:r>
            <a:r>
              <a:rPr sz="1656" b="0">
                <a:solidFill>
                  <a:srgbClr val="00D4AA"/>
                </a:solidFill>
                <a:latin typeface="JetBrains Mono"/>
              </a:rPr>
              <a:t>trace_id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Never a user or session label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Break it: the loop you can only see in a trace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break-it demo: the Friday loop, seen from inside the trace this time, and the setting that…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Break it: the loop you can only see in a trace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the </a:t>
            </a:r>
            <a:r>
              <a:rPr sz="1472" b="0">
                <a:solidFill>
                  <a:srgbClr val="00D4AA"/>
                </a:solidFill>
                <a:latin typeface="JetBrains Mono"/>
              </a:rPr>
              <a:t>loop</a:t>
            </a:r>
            <a:r>
              <a:rPr sz="1600" b="0">
                <a:solidFill>
                  <a:srgbClr val="CBD5E1"/>
                </a:solidFill>
                <a:latin typeface="Inter"/>
              </a:rPr>
              <a:t> scenario with the guards off and read the runaway trace: identical tool errors, climbing input tokens, a deadline stop.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else would this have shown up?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2493224"/>
                <a:gridCol w="8799615"/>
              </a:tblGrid>
              <a:tr h="384048">
                <a:tc>
                  <a:txBody>
                    <a:bodyPr wrap="square"/>
                    <a:lstStyle/>
                    <a:p>
                      <a:r>
                        <a:rPr sz="1200" b="1">
                          <a:solidFill>
                            <a:srgbClr val="0A1628"/>
                          </a:solidFill>
                          <a:latin typeface="Inter"/>
                        </a:rPr>
                        <a:t>Signal</a:t>
                      </a:r>
                    </a:p>
                  </a:txBody>
                  <a:tcPr marL="91440" marR="91440" marT="45720" marB="45720" anchor="ctr">
                    <a:solidFill>
                      <a:srgbClr val="00D4AA"/>
                    </a:solidFill>
                  </a:tcPr>
                </a:tc>
                <a:tc>
                  <a:txBody>
                    <a:bodyPr wrap="square"/>
                    <a:lstStyle/>
                    <a:p>
                      <a:r>
                        <a:rPr sz="1200" b="1">
                          <a:solidFill>
                            <a:srgbClr val="0A1628"/>
                          </a:solidFill>
                          <a:latin typeface="Inter"/>
                        </a:rPr>
                        <a:t>What it showed on Friday</a:t>
                      </a:r>
                    </a:p>
                  </a:txBody>
                  <a:tcPr marL="91440" marR="91440" marT="45720" marB="45720" anchor="ctr">
                    <a:solidFill>
                      <a:srgbClr val="00D4AA"/>
                    </a:solidFill>
                  </a:tcPr>
                </a:tc>
              </a:tr>
              <a:tr h="384048">
                <a:tc>
                  <a:txBody>
                    <a:bodyPr wrap="square"/>
                    <a:lstStyle/>
                    <a:p>
                      <a:r>
                        <a:rPr sz="1200" b="1">
                          <a:solidFill>
                            <a:srgbClr val="FFFFFF"/>
                          </a:solidFill>
                          <a:latin typeface="Inter"/>
                        </a:rPr>
                        <a:t>HTTP status</a:t>
                      </a:r>
                    </a:p>
                  </a:txBody>
                  <a:tcPr marL="91440" marR="91440" marT="45720" marB="45720" anchor="ctr">
                    <a:solidFill>
                      <a:srgbClr val="1A2742"/>
                    </a:solidFill>
                  </a:tcPr>
                </a:tc>
                <a:tc>
                  <a:txBody>
                    <a:bodyPr wrap="square"/>
                    <a:lstStyle/>
                    <a:p>
                      <a:r>
                        <a:rPr sz="1200" b="0">
                          <a:solidFill>
                            <a:srgbClr val="FFFFFF"/>
                          </a:solidFill>
                          <a:latin typeface="Inter"/>
                        </a:rPr>
                        <a:t>200, with a "took too long" answer after 10 minutes</a:t>
                      </a:r>
                    </a:p>
                  </a:txBody>
                  <a:tcPr marL="91440" marR="91440" marT="45720" marB="45720" anchor="ctr">
                    <a:solidFill>
                      <a:srgbClr val="1A2742"/>
                    </a:solidFill>
                  </a:tcPr>
                </a:tc>
              </a:tr>
              <a:tr h="384048">
                <a:tc>
                  <a:txBody>
                    <a:bodyPr wrap="square"/>
                    <a:lstStyle/>
                    <a:p>
                      <a:r>
                        <a:rPr sz="1200" b="1">
                          <a:solidFill>
                            <a:srgbClr val="FFFFFF"/>
                          </a:solidFill>
                          <a:latin typeface="Inter"/>
                        </a:rPr>
                        <a:t>Request count</a:t>
                      </a:r>
                    </a:p>
                  </a:txBody>
                  <a:tcPr marL="91440" marR="91440" marT="45720" marB="45720" anchor="ctr">
                    <a:solidFill>
                      <a:srgbClr val="0F1E35"/>
                    </a:solidFill>
                  </a:tcPr>
                </a:tc>
                <a:tc>
                  <a:txBody>
                    <a:bodyPr wrap="square"/>
                    <a:lstStyle/>
                    <a:p>
                      <a:r>
                        <a:rPr sz="1200" b="0">
                          <a:solidFill>
                            <a:srgbClr val="FFFFFF"/>
                          </a:solidFill>
                          <a:latin typeface="Inter"/>
                        </a:rPr>
                        <a:t>1</a:t>
                      </a:r>
                    </a:p>
                  </a:txBody>
                  <a:tcPr marL="91440" marR="91440" marT="45720" marB="45720" anchor="ctr">
                    <a:solidFill>
                      <a:srgbClr val="0F1E35"/>
                    </a:solidFill>
                  </a:tcPr>
                </a:tc>
              </a:tr>
              <a:tr h="384048">
                <a:tc>
                  <a:txBody>
                    <a:bodyPr wrap="square"/>
                    <a:lstStyle/>
                    <a:p>
                      <a:r>
                        <a:rPr sz="1200" b="1">
                          <a:solidFill>
                            <a:srgbClr val="FFFFFF"/>
                          </a:solidFill>
                          <a:latin typeface="Inter"/>
                        </a:rPr>
                        <a:t>Error logs</a:t>
                      </a:r>
                    </a:p>
                  </a:txBody>
                  <a:tcPr marL="91440" marR="91440" marT="45720" marB="45720" anchor="ctr">
                    <a:solidFill>
                      <a:srgbClr val="1A2742"/>
                    </a:solidFill>
                  </a:tcPr>
                </a:tc>
                <a:tc>
                  <a:txBody>
                    <a:bodyPr wrap="square"/>
                    <a:lstStyle/>
                    <a:p>
                      <a:r>
                        <a:rPr sz="1200" b="0">
                          <a:solidFill>
                            <a:srgbClr val="FFFFFF"/>
                          </a:solidFill>
                          <a:latin typeface="Inter"/>
                        </a:rPr>
                        <a:t>none: a failed tool is data, not an exception</a:t>
                      </a:r>
                    </a:p>
                  </a:txBody>
                  <a:tcPr marL="91440" marR="91440" marT="45720" marB="45720" anchor="ctr">
                    <a:solidFill>
                      <a:srgbClr val="1A2742"/>
                    </a:solidFill>
                  </a:tcPr>
                </a:tc>
              </a:tr>
              <a:tr h="384048">
                <a:tc>
                  <a:txBody>
                    <a:bodyPr wrap="square"/>
                    <a:lstStyle/>
                    <a:p>
                      <a:r>
                        <a:rPr sz="1200" b="1">
                          <a:solidFill>
                            <a:srgbClr val="FFFFFF"/>
                          </a:solidFill>
                          <a:latin typeface="Inter"/>
                        </a:rPr>
                        <a:t>Tool error metric</a:t>
                      </a:r>
                    </a:p>
                  </a:txBody>
                  <a:tcPr marL="91440" marR="91440" marT="45720" marB="45720" anchor="ctr">
                    <a:solidFill>
                      <a:srgbClr val="0F1E35"/>
                    </a:solidFill>
                  </a:tcPr>
                </a:tc>
                <a:tc>
                  <a:txBody>
                    <a:bodyPr wrap="square"/>
                    <a:lstStyle/>
                    <a:p>
                      <a:r>
                        <a:rPr sz="1104" b="0">
                          <a:solidFill>
                            <a:srgbClr val="00D4AA"/>
                          </a:solidFill>
                          <a:latin typeface="JetBrains Mono"/>
                        </a:rPr>
                        <a:t>atlas_tool_calls_total{tool="lookup_ticket", outcome="error"}</a:t>
                      </a:r>
                      <a:r>
                        <a:rPr sz="1200" b="0">
                          <a:solidFill>
                            <a:srgbClr val="FFFFFF"/>
                          </a:solidFill>
                          <a:latin typeface="Inter"/>
                        </a:rPr>
                        <a:t> +549: a real signal, if anyone had the alert</a:t>
                      </a:r>
                    </a:p>
                  </a:txBody>
                  <a:tcPr marL="91440" marR="91440" marT="45720" marB="45720" anchor="ctr">
                    <a:solidFill>
                      <a:srgbClr val="0F1E35"/>
                    </a:solidFill>
                  </a:tcPr>
                </a:tc>
              </a:tr>
              <a:tr h="384048">
                <a:tc>
                  <a:txBody>
                    <a:bodyPr wrap="square"/>
                    <a:lstStyle/>
                    <a:p>
                      <a:r>
                        <a:rPr sz="1200" b="1">
                          <a:solidFill>
                            <a:srgbClr val="FFFFFF"/>
                          </a:solidFill>
                          <a:latin typeface="Inter"/>
                        </a:rPr>
                        <a:t>Trace</a:t>
                      </a:r>
                    </a:p>
                  </a:txBody>
                  <a:tcPr marL="91440" marR="91440" marT="45720" marB="45720" anchor="ctr">
                    <a:solidFill>
                      <a:srgbClr val="1A2742"/>
                    </a:solidFill>
                  </a:tcPr>
                </a:tc>
                <a:tc>
                  <a:txBody>
                    <a:bodyPr wrap="square"/>
                    <a:lstStyle/>
                    <a:p>
                      <a:r>
                        <a:rPr sz="1200" b="0">
                          <a:solidFill>
                            <a:srgbClr val="FFFFFF"/>
                          </a:solidFill>
                          <a:latin typeface="Inter"/>
                        </a:rPr>
                        <a:t>549 identical steps, climbing tokens, a deadline stop</a:t>
                      </a:r>
                    </a:p>
                  </a:txBody>
                  <a:tcPr marL="91440" marR="91440" marT="45720" marB="45720" anchor="ctr">
                    <a:solidFill>
                      <a:srgbClr val="1A2742"/>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Before and after, from the trace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33472"/>
        </p:xfrm>
        <a:graphic>
          <a:graphicData uri="http://schemas.openxmlformats.org/drawingml/2006/table">
            <a:tbl>
              <a:tblPr firstRow="1" bandRow="1">
                <a:tableStyleId>{5C22544A-7EE6-4342-B048-85BDC9FD1C3A}</a:tableStyleId>
              </a:tblPr>
              <a:tblGrid>
                <a:gridCol w="2091266"/>
                <a:gridCol w="2823210"/>
                <a:gridCol w="2300393"/>
                <a:gridCol w="4077970"/>
              </a:tblGrid>
              <a:tr h="438912">
                <a:tc>
                  <a:txBody>
                    <a:bodyPr wrap="square"/>
                    <a:lstStyle/>
                    <a:p/>
                  </a:txBody>
                  <a:tcPr marL="91440" marR="91440" marT="45720" marB="45720" anchor="ctr">
                    <a:solidFill>
                      <a:srgbClr val="00D4AA"/>
                    </a:solidFill>
                  </a:tcPr>
                </a:tc>
                <a:tc>
                  <a:txBody>
                    <a:bodyPr wrap="square"/>
                    <a:lstStyle/>
                    <a:p>
                      <a:r>
                        <a:rPr sz="1400" b="1">
                          <a:solidFill>
                            <a:srgbClr val="0A1628"/>
                          </a:solidFill>
                          <a:latin typeface="Inter"/>
                        </a:rPr>
                        <a:t>Guards off</a:t>
                      </a:r>
                    </a:p>
                  </a:txBody>
                  <a:tcPr marL="91440" marR="91440" marT="45720" marB="45720" anchor="ctr">
                    <a:solidFill>
                      <a:srgbClr val="00D4AA"/>
                    </a:solidFill>
                  </a:tcPr>
                </a:tc>
                <a:tc>
                  <a:txBody>
                    <a:bodyPr wrap="square"/>
                    <a:lstStyle/>
                    <a:p>
                      <a:r>
                        <a:rPr sz="1400" b="1">
                          <a:solidFill>
                            <a:srgbClr val="0A1628"/>
                          </a:solidFill>
                          <a:latin typeface="Inter"/>
                        </a:rPr>
                        <a:t>Step limit (default)</a:t>
                      </a:r>
                    </a:p>
                  </a:txBody>
                  <a:tcPr marL="91440" marR="91440" marT="45720" marB="45720" anchor="ctr">
                    <a:solidFill>
                      <a:srgbClr val="00D4AA"/>
                    </a:solidFill>
                  </a:tcPr>
                </a:tc>
                <a:tc>
                  <a:txBody>
                    <a:bodyPr wrap="square"/>
                    <a:lstStyle/>
                    <a:p>
                      <a:r>
                        <a:rPr sz="1400" b="1">
                          <a:solidFill>
                            <a:srgbClr val="0A1628"/>
                          </a:solidFill>
                          <a:latin typeface="Inter"/>
                        </a:rPr>
                        <a:t>Step limit + </a:t>
                      </a:r>
                      <a:r>
                        <a:rPr sz="1288" b="0">
                          <a:solidFill>
                            <a:srgbClr val="0A1628"/>
                          </a:solidFill>
                          <a:latin typeface="JetBrains Mono"/>
                        </a:rPr>
                        <a:t>ATLAS_MAX_TOOL_RETRIES=2</a:t>
                      </a:r>
                    </a:p>
                  </a:txBody>
                  <a:tcPr marL="91440" marR="91440" marT="45720" marB="45720" anchor="ctr">
                    <a:solidFill>
                      <a:srgbClr val="00D4AA"/>
                    </a:solidFill>
                  </a:tcPr>
                </a:tc>
              </a:tr>
              <a:tr h="438912">
                <a:tc>
                  <a:txBody>
                    <a:bodyPr wrap="square"/>
                    <a:lstStyle/>
                    <a:p>
                      <a:r>
                        <a:rPr sz="1400" b="1">
                          <a:solidFill>
                            <a:srgbClr val="FFFFFF"/>
                          </a:solidFill>
                          <a:latin typeface="Inter"/>
                        </a:rPr>
                        <a:t>Steps</a:t>
                      </a:r>
                    </a:p>
                  </a:txBody>
                  <a:tcPr marL="91440" marR="91440" marT="45720" marB="45720" anchor="ctr">
                    <a:solidFill>
                      <a:srgbClr val="1A2742"/>
                    </a:solidFill>
                  </a:tcPr>
                </a:tc>
                <a:tc>
                  <a:txBody>
                    <a:bodyPr wrap="square"/>
                    <a:lstStyle/>
                    <a:p>
                      <a:r>
                        <a:rPr sz="1400" b="0">
                          <a:solidFill>
                            <a:srgbClr val="FFFFFF"/>
                          </a:solidFill>
                          <a:latin typeface="Inter"/>
                        </a:rPr>
                        <a:t>549</a:t>
                      </a:r>
                    </a:p>
                  </a:txBody>
                  <a:tcPr marL="91440" marR="91440" marT="45720" marB="45720" anchor="ctr">
                    <a:solidFill>
                      <a:srgbClr val="1A2742"/>
                    </a:solidFill>
                  </a:tcPr>
                </a:tc>
                <a:tc>
                  <a:txBody>
                    <a:bodyPr wrap="square"/>
                    <a:lstStyle/>
                    <a:p>
                      <a:r>
                        <a:rPr sz="1400" b="0">
                          <a:solidFill>
                            <a:srgbClr val="FFFFFF"/>
                          </a:solidFill>
                          <a:latin typeface="Inter"/>
                        </a:rPr>
                        <a:t>6</a:t>
                      </a:r>
                    </a:p>
                  </a:txBody>
                  <a:tcPr marL="91440" marR="91440" marT="45720" marB="45720" anchor="ctr">
                    <a:solidFill>
                      <a:srgbClr val="1A2742"/>
                    </a:solidFill>
                  </a:tcPr>
                </a:tc>
                <a:tc>
                  <a:txBody>
                    <a:bodyPr wrap="square"/>
                    <a:lstStyle/>
                    <a:p>
                      <a:r>
                        <a:rPr sz="1400" b="0">
                          <a:solidFill>
                            <a:srgbClr val="FFFFFF"/>
                          </a:solidFill>
                          <a:latin typeface="Inter"/>
                        </a:rPr>
                        <a:t>3</a:t>
                      </a:r>
                    </a:p>
                  </a:txBody>
                  <a:tcPr marL="91440" marR="91440" marT="45720" marB="45720" anchor="ctr">
                    <a:solidFill>
                      <a:srgbClr val="1A2742"/>
                    </a:solidFill>
                  </a:tcPr>
                </a:tc>
              </a:tr>
              <a:tr h="438912">
                <a:tc>
                  <a:txBody>
                    <a:bodyPr wrap="square"/>
                    <a:lstStyle/>
                    <a:p>
                      <a:r>
                        <a:rPr sz="1400" b="1">
                          <a:solidFill>
                            <a:srgbClr val="FFFFFF"/>
                          </a:solidFill>
                          <a:latin typeface="Inter"/>
                        </a:rPr>
                        <a:t>Stop reason in trace</a:t>
                      </a:r>
                    </a:p>
                  </a:txBody>
                  <a:tcPr marL="91440" marR="91440" marT="45720" marB="45720" anchor="ctr">
                    <a:solidFill>
                      <a:srgbClr val="0F1E35"/>
                    </a:solidFill>
                  </a:tcPr>
                </a:tc>
                <a:tc>
                  <a:txBody>
                    <a:bodyPr wrap="square"/>
                    <a:lstStyle/>
                    <a:p>
                      <a:r>
                        <a:rPr sz="1288" b="0">
                          <a:solidFill>
                            <a:srgbClr val="00D4AA"/>
                          </a:solidFill>
                          <a:latin typeface="JetBrains Mono"/>
                        </a:rPr>
                        <a:t>request_deadline_exceeded</a:t>
                      </a:r>
                    </a:p>
                  </a:txBody>
                  <a:tcPr marL="91440" marR="91440" marT="45720" marB="45720" anchor="ctr">
                    <a:solidFill>
                      <a:srgbClr val="0F1E35"/>
                    </a:solidFill>
                  </a:tcPr>
                </a:tc>
                <a:tc>
                  <a:txBody>
                    <a:bodyPr wrap="square"/>
                    <a:lstStyle/>
                    <a:p>
                      <a:r>
                        <a:rPr sz="1288" b="0">
                          <a:solidFill>
                            <a:srgbClr val="00D4AA"/>
                          </a:solidFill>
                          <a:latin typeface="JetBrains Mono"/>
                        </a:rPr>
                        <a:t>step_limit_reached</a:t>
                      </a:r>
                    </a:p>
                  </a:txBody>
                  <a:tcPr marL="91440" marR="91440" marT="45720" marB="45720" anchor="ctr">
                    <a:solidFill>
                      <a:srgbClr val="0F1E35"/>
                    </a:solidFill>
                  </a:tcPr>
                </a:tc>
                <a:tc>
                  <a:txBody>
                    <a:bodyPr wrap="square"/>
                    <a:lstStyle/>
                    <a:p>
                      <a:r>
                        <a:rPr sz="1288" b="0">
                          <a:solidFill>
                            <a:srgbClr val="00D4AA"/>
                          </a:solidFill>
                          <a:latin typeface="JetBrains Mono"/>
                        </a:rPr>
                        <a:t>tool_retries_exhausted</a:t>
                      </a:r>
                    </a:p>
                  </a:txBody>
                  <a:tcPr marL="91440" marR="91440" marT="45720" marB="45720" anchor="ctr">
                    <a:solidFill>
                      <a:srgbClr val="0F1E35"/>
                    </a:solidFill>
                  </a:tcPr>
                </a:tc>
              </a:tr>
              <a:tr h="438912">
                <a:tc>
                  <a:txBody>
                    <a:bodyPr wrap="square"/>
                    <a:lstStyle/>
                    <a:p>
                      <a:r>
                        <a:rPr sz="1400" b="1">
                          <a:solidFill>
                            <a:srgbClr val="FFFFFF"/>
                          </a:solidFill>
                          <a:latin typeface="Inter"/>
                        </a:rPr>
                        <a:t>Cost</a:t>
                      </a:r>
                    </a:p>
                  </a:txBody>
                  <a:tcPr marL="91440" marR="91440" marT="45720" marB="45720" anchor="ctr">
                    <a:solidFill>
                      <a:srgbClr val="1A2742"/>
                    </a:solidFill>
                  </a:tcPr>
                </a:tc>
                <a:tc>
                  <a:txBody>
                    <a:bodyPr wrap="square"/>
                    <a:lstStyle/>
                    <a:p>
                      <a:r>
                        <a:rPr sz="1400" b="0">
                          <a:solidFill>
                            <a:srgbClr val="FFFFFF"/>
                          </a:solidFill>
                          <a:latin typeface="Inter"/>
                        </a:rPr>
                        <a:t>$4.90</a:t>
                      </a:r>
                    </a:p>
                  </a:txBody>
                  <a:tcPr marL="91440" marR="91440" marT="45720" marB="45720" anchor="ctr">
                    <a:solidFill>
                      <a:srgbClr val="1A2742"/>
                    </a:solidFill>
                  </a:tcPr>
                </a:tc>
                <a:tc>
                  <a:txBody>
                    <a:bodyPr wrap="square"/>
                    <a:lstStyle/>
                    <a:p>
                      <a:r>
                        <a:rPr sz="1400" b="0">
                          <a:solidFill>
                            <a:srgbClr val="FFFFFF"/>
                          </a:solidFill>
                          <a:latin typeface="Inter"/>
                        </a:rPr>
                        <a:t>$0.0086</a:t>
                      </a:r>
                    </a:p>
                  </a:txBody>
                  <a:tcPr marL="91440" marR="91440" marT="45720" marB="45720" anchor="ctr">
                    <a:solidFill>
                      <a:srgbClr val="1A2742"/>
                    </a:solidFill>
                  </a:tcPr>
                </a:tc>
                <a:tc>
                  <a:txBody>
                    <a:bodyPr wrap="square"/>
                    <a:lstStyle/>
                    <a:p>
                      <a:r>
                        <a:rPr sz="1400" b="0">
                          <a:solidFill>
                            <a:srgbClr val="FFFFFF"/>
                          </a:solidFill>
                          <a:latin typeface="Inter"/>
                        </a:rPr>
                        <a:t>$0.0042</a:t>
                      </a:r>
                    </a:p>
                  </a:txBody>
                  <a:tcPr marL="91440" marR="91440" marT="45720" marB="45720" anchor="ctr">
                    <a:solidFill>
                      <a:srgbClr val="1A2742"/>
                    </a:solidFill>
                  </a:tcPr>
                </a:tc>
              </a:tr>
              <a:tr h="438912">
                <a:tc>
                  <a:txBody>
                    <a:bodyPr wrap="square"/>
                    <a:lstStyle/>
                    <a:p>
                      <a:r>
                        <a:rPr sz="1400" b="1">
                          <a:solidFill>
                            <a:srgbClr val="FFFFFF"/>
                          </a:solidFill>
                          <a:latin typeface="Inter"/>
                        </a:rPr>
                        <a:t>Simulated time</a:t>
                      </a:r>
                    </a:p>
                  </a:txBody>
                  <a:tcPr marL="91440" marR="91440" marT="45720" marB="45720" anchor="ctr">
                    <a:solidFill>
                      <a:srgbClr val="0F1E35"/>
                    </a:solidFill>
                  </a:tcPr>
                </a:tc>
                <a:tc>
                  <a:txBody>
                    <a:bodyPr wrap="square"/>
                    <a:lstStyle/>
                    <a:p>
                      <a:r>
                        <a:rPr sz="1400" b="0">
                          <a:solidFill>
                            <a:srgbClr val="FFFFFF"/>
                          </a:solidFill>
                          <a:latin typeface="Inter"/>
                        </a:rPr>
                        <a:t>600.8 s</a:t>
                      </a:r>
                    </a:p>
                  </a:txBody>
                  <a:tcPr marL="91440" marR="91440" marT="45720" marB="45720" anchor="ctr">
                    <a:solidFill>
                      <a:srgbClr val="0F1E35"/>
                    </a:solidFill>
                  </a:tcPr>
                </a:tc>
                <a:tc>
                  <a:txBody>
                    <a:bodyPr wrap="square"/>
                    <a:lstStyle/>
                    <a:p>
                      <a:r>
                        <a:rPr sz="1400" b="0">
                          <a:solidFill>
                            <a:srgbClr val="FFFFFF"/>
                          </a:solidFill>
                          <a:latin typeface="Inter"/>
                        </a:rPr>
                        <a:t>4.3 s</a:t>
                      </a:r>
                    </a:p>
                  </a:txBody>
                  <a:tcPr marL="91440" marR="91440" marT="45720" marB="45720" anchor="ctr">
                    <a:solidFill>
                      <a:srgbClr val="0F1E35"/>
                    </a:solidFill>
                  </a:tcPr>
                </a:tc>
                <a:tc>
                  <a:txBody>
                    <a:bodyPr wrap="square"/>
                    <a:lstStyle/>
                    <a:p>
                      <a:r>
                        <a:rPr sz="1400" b="0">
                          <a:solidFill>
                            <a:srgbClr val="FFFFFF"/>
                          </a:solidFill>
                          <a:latin typeface="Inter"/>
                        </a:rPr>
                        <a:t>2.0 s</a:t>
                      </a:r>
                    </a:p>
                  </a:txBody>
                  <a:tcPr marL="91440" marR="91440" marT="45720" marB="45720" anchor="ctr">
                    <a:solidFill>
                      <a:srgbClr val="0F1E35"/>
                    </a:solidFill>
                  </a:tcPr>
                </a:tc>
              </a:tr>
              <a:tr h="438912">
                <a:tc>
                  <a:txBody>
                    <a:bodyPr wrap="square"/>
                    <a:lstStyle/>
                    <a:p>
                      <a:r>
                        <a:rPr sz="1400" b="1">
                          <a:solidFill>
                            <a:srgbClr val="FFFFFF"/>
                          </a:solidFill>
                          <a:latin typeface="Inter"/>
                        </a:rPr>
                        <a:t>Employee saw</a:t>
                      </a:r>
                    </a:p>
                  </a:txBody>
                  <a:tcPr marL="91440" marR="91440" marT="45720" marB="45720" anchor="ctr">
                    <a:solidFill>
                      <a:srgbClr val="1A2742"/>
                    </a:solidFill>
                  </a:tcPr>
                </a:tc>
                <a:tc>
                  <a:txBody>
                    <a:bodyPr wrap="square"/>
                    <a:lstStyle/>
                    <a:p>
                      <a:r>
                        <a:rPr sz="1400" b="0">
                          <a:solidFill>
                            <a:srgbClr val="FFFFFF"/>
                          </a:solidFill>
                          <a:latin typeface="Inter"/>
                        </a:rPr>
                        <a:t>"took too long"</a:t>
                      </a:r>
                    </a:p>
                  </a:txBody>
                  <a:tcPr marL="91440" marR="91440" marT="45720" marB="45720" anchor="ctr">
                    <a:solidFill>
                      <a:srgbClr val="1A2742"/>
                    </a:solidFill>
                  </a:tcPr>
                </a:tc>
                <a:tc>
                  <a:txBody>
                    <a:bodyPr wrap="square"/>
                    <a:lstStyle/>
                    <a:p>
                      <a:r>
                        <a:rPr sz="1400" b="0">
                          <a:solidFill>
                            <a:srgbClr val="FFFFFF"/>
                          </a:solidFill>
                          <a:latin typeface="Inter"/>
                        </a:rPr>
                        <a:t>"please open a ticket"</a:t>
                      </a:r>
                    </a:p>
                  </a:txBody>
                  <a:tcPr marL="91440" marR="91440" marT="45720" marB="45720" anchor="ctr">
                    <a:solidFill>
                      <a:srgbClr val="1A2742"/>
                    </a:solidFill>
                  </a:tcPr>
                </a:tc>
                <a:tc>
                  <a:txBody>
                    <a:bodyPr wrap="square"/>
                    <a:lstStyle/>
                    <a:p>
                      <a:r>
                        <a:rPr sz="1400" b="0">
                          <a:solidFill>
                            <a:srgbClr val="FFFFFF"/>
                          </a:solidFill>
                          <a:latin typeface="Inter"/>
                        </a:rPr>
                        <a:t>"lookup_ticket is not responding"</a:t>
                      </a:r>
                    </a:p>
                  </a:txBody>
                  <a:tcPr marL="91440" marR="91440" marT="45720" marB="45720" anchor="ctr">
                    <a:solidFill>
                      <a:srgbClr val="1A2742"/>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loop is invisible to status codes and logs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Its trace: identical errors, tokens climbing</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Step limit plus tool-retry limit stop 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3: Trace a multi-step ticket escalation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Lab 3: trace the escalation path yourself and write the test for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3: Trace a multi-step ticket escalation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Trace an escalation path and check it against the six questions from 5.1.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Read any agent trace against six questions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Trace steps, tool errors, events and escalation</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Measure TTFT and choose log, span or metric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Agent patterns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six-question quiz on agent patterns, then Section 6, the signature section: where the money goes, and how…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5 · AGENT OBSERVABILITY PATTERNS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5.8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Agent patterns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the six questions and the step pattern.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5 quiz: what's covered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The six questions and which span answers each</a:t>
            </a:r>
          </a:p>
          <a:p>
            <a:pPr marL="292608" indent="-292608">
              <a:lnSpc>
                <a:spcPct val="120000"/>
              </a:lnSpc>
              <a:spcAft>
                <a:spcPts val="1539"/>
              </a:spcAft>
              <a:buClr>
                <a:srgbClr val="00D4AA"/>
              </a:buClr>
              <a:buFont typeface="Inter"/>
              <a:buChar char="•"/>
            </a:pPr>
            <a:r>
              <a:rPr sz="2200" b="0">
                <a:solidFill>
                  <a:srgbClr val="FFFFFF"/>
                </a:solidFill>
                <a:latin typeface="Inter"/>
              </a:rPr>
              <a:t>Tool errors: level and output, not exceptions</a:t>
            </a:r>
          </a:p>
          <a:p>
            <a:pPr marL="292608" indent="-292608">
              <a:lnSpc>
                <a:spcPct val="120000"/>
              </a:lnSpc>
              <a:spcAft>
                <a:spcPts val="1539"/>
              </a:spcAft>
              <a:buClr>
                <a:srgbClr val="00D4AA"/>
              </a:buClr>
              <a:buFont typeface="Inter"/>
              <a:buChar char="•"/>
            </a:pPr>
            <a:r>
              <a:rPr sz="2200" b="0">
                <a:solidFill>
                  <a:srgbClr val="FFFFFF"/>
                </a:solidFill>
                <a:latin typeface="Inter"/>
              </a:rPr>
              <a:t>Events vs scores for the step limit</a:t>
            </a:r>
          </a:p>
          <a:p>
            <a:pPr marL="292608" indent="-292608">
              <a:lnSpc>
                <a:spcPct val="120000"/>
              </a:lnSpc>
              <a:spcAft>
                <a:spcPts val="1539"/>
              </a:spcAft>
              <a:buClr>
                <a:srgbClr val="00D4AA"/>
              </a:buClr>
              <a:buFont typeface="Inter"/>
              <a:buChar char="•"/>
            </a:pPr>
            <a:r>
              <a:rPr sz="2200" b="0">
                <a:solidFill>
                  <a:srgbClr val="FFFFFF"/>
                </a:solidFill>
                <a:latin typeface="Inter"/>
              </a:rPr>
              <a:t>What to record on a retriever; empty vs grounded</a:t>
            </a:r>
          </a:p>
          <a:p>
            <a:pPr marL="292608" indent="-292608">
              <a:lnSpc>
                <a:spcPct val="120000"/>
              </a:lnSpc>
              <a:spcAft>
                <a:spcPts val="1539"/>
              </a:spcAft>
              <a:buClr>
                <a:srgbClr val="00D4AA"/>
              </a:buClr>
              <a:buFont typeface="Inter"/>
              <a:buChar char="•"/>
            </a:pPr>
            <a:r>
              <a:rPr sz="2200" b="0">
                <a:solidFill>
                  <a:srgbClr val="FFFFFF"/>
                </a:solidFill>
                <a:latin typeface="Inter"/>
              </a:rPr>
              <a:t>TTFT vs total latency; </a:t>
            </a:r>
            <a:r>
              <a:rPr sz="2024" b="0">
                <a:solidFill>
                  <a:srgbClr val="00D4AA"/>
                </a:solidFill>
                <a:latin typeface="JetBrains Mono"/>
              </a:rPr>
              <a:t>include_usage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5 quiz: what's covered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Log, span or metric? Cardinality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05 · Lecture 5.8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Where the money goes: token anatomy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6, Cost engineering: token anatomy, a price table you can trust, and the challenge to cut…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