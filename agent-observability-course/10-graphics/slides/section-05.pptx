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What an agent trace must answer.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it call that tool. With what. What came back. How many steps, and did it stop by itself or was it stopped. Where did the tokens go. Where did the time go. If a trace answers all six in ninety seconds, it's a good trace. If it answers three, you're going to be reading logs.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Why did it call that tool. With what. What came back. How many steps, and did it stop by itself or was it stopped. Where did the tokens go. Where did the time go. If a trace answers all six in ninety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trace we're building towards. Agent at the root. A guardrail first. Then one chain observation per step, and inside each step, whatever happened: a retriever, a generation, a tool. Step two's tool failed. Step three escalated to the big model. An event marks the escalation. Scores at the end. Let's take the six questions against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it call that tool? Look at the generation immediately before it. Its output is the model's decision, including the tool name and arguments it chose, and its input is everything the model saw when it decided. The finish reason says `tool_calls`. Cause and effect, one click apart.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what, and what came back: the tool observation. Input is the arguments as the model produced them, which is how you catch a model passing a ticket ID with a typo. Output is the result, clipped and masked. Level and status tell you it failed, and the message shows what the model read next. The call ID ties it back to the generation.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many steps? Count the chain observations. Did it stop on its own? The last generation's finish reason says `stop` if the model chose to end. If the loop intervened, there's an event: step limit reached, or escalated. And the same facts land as scores, so you can filter a week of traces by "hit the step limit."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did the tokens go? Every generation has usage. Read the input tokens down the steps: flat is healthy; climbing is context growth, the Friday-night signature. Cached input should be high from step two onward once caching is on. And the trace total against the day's median tells you if this conversation is an outlier.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did the time go? The waterfall. Generations should dominate. Tools should be milliseconds; a tool taking two seconds is a finding. Gaps between spans are your own code. And in the next lectures, time to first token per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breaks readability? Flat traces, where the agent has twenty children and no steps. Missing arguments or results. Silent stopping. Escalation with no marker. And results the size of a web page, which nobody reads.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guardrail, one chain per step, the work inside each step, events for interventions, scores for outcomes. That's the pattern. Next lecture you'll build it into the loop.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Code-along: tracing the tool loop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lines: a chain per step, errors as levels, two events, one score, and a model argument. That's the whole pattern. Everything in Sections six, seven and eleven reads traces shaped like this.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RAG spans: retrieval quality is a production metric.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things. The query and top-k as input. Document IDs and scores as output, not the chunk text, which already appears in the generation's input. Metadata with the hit count, top score and an empty flag. A warning level when the result is empty or weak. And a boolean `grounded` score on the trace, so a week of traces can be filtered by it.</a:t>
            </a:r>
          </a:p>
          <a:p/>
          <a:p>
            <a:r>
              <a:t>[SCREEN: VS Code, `app/knowledge.py`.]</a:t>
            </a:r>
          </a:p>
          <a:p/>
          <a:p>
            <a:r>
              <a:t>[CODE: the retriever, fully recorded]</a:t>
            </a:r>
          </a:p>
          <a:p/>
          <a:p>
            <a:r>
              <a:t>The retriever. Search, then split hits into good ones above a threshold. Update the span: input with query and top-k; output with doc names and rounded scores; metadata with hits, good hits, top score, an empty flag and the index version. Warning level when nothing cleared the threshold. And return only the good hits, so the model never sees junk with a score of point one.</a:t>
            </a:r>
          </a:p>
          <a:p/>
          <a:p>
            <a:r>
              <a:t>[SCREEN: `app/agent.py`, where the retriever is called in step 1.]</a:t>
            </a:r>
          </a:p>
          <a:p/>
          <a:p>
            <a:r>
              <a:t>[CODE: the grounded score]</a:t>
            </a:r>
          </a:p>
          <a:p/>
          <a:p>
            <a:r>
              <a:t>In the agent, right after retrieval, score the trace: grounded true if we had at least one good document, false otherwise. One line, and "how often do we answer ungrounded" becomes a filter.</a:t>
            </a:r>
          </a:p>
          <a:p/>
          <a:p>
            <a:r>
              <a:t>[SCREEN: Terminal: send "What's the policy on bringing my dog to the office?" (not in the KB). Browser: the trace. Retriever at WARNING,...]</a:t>
            </a:r>
          </a:p>
          <a:p/>
          <a:p>
            <a:r>
              <a:t>[DEMO: Warning-level retriever with low scores, grounded false, and a confident-sounding answer from the model.]</a:t>
            </a:r>
          </a:p>
          <a:p/>
          <a:p>
            <a:r>
              <a:t>Ask something the knowledge base doesn't cover. The retriever is yellow. Three hits, all under the threshold, empty true. Grounded false. And look at the answer: the model produced two polite sentences of policy that doesn't exist. Without the retriever span, this trace looks like a success.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rates. Empty-result rate, from the retriever metadata. Grounded rate, from the score. On the replayed day the baseline is six point eight percent empty, ninety-three point two grounded. Write those in your build log. In Section eleven, a change to top-k moves those numbers, and you'll be asked to notice.</a:t>
            </a:r>
          </a:p>
          <a:p/>
          <a:p>
            <a:r>
              <a:t>[SCREEN: Terminal: `OFFLINE=1 make replay`. Ops Console → Quality page now shows "Grounded rate 93.2%" and "Empty retrievals 6.8%". Brows...]</a:t>
            </a:r>
          </a:p>
          <a:p/>
          <a:p>
            <a:r>
              <a:t>[DEMO: Console shows the two rates; Langfuse lists ungrounded traces.]</a:t>
            </a:r>
          </a:p>
          <a:p/>
          <a:p>
            <a:r>
              <a:t>Replay the day, and the console's quality page has its first two real numbers. In Langfuse, filter by grounded false: about eighty traces. Open a few. Pets, parking, the gym. That list is a to-do list for whoever owns the knowledge base, produced by the agent's own telemetry.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 the query, the documents, the scores, the emptiness. Score the trace as grounded or not. Two rates, on a dashboard, from day one. Retrieval quality is not an offline benchmark; it's a production metric, and now you have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Streaming: time to first token and tokens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numbers per generation. Time to first token, which is what the user feels as responsiveness. Time per output token after the first, which is reading speed. And total, which is what most dashboards show and which hides the difference.</a:t>
            </a:r>
          </a:p>
          <a:p/>
          <a:p>
            <a:r>
              <a:t>[SCREEN: VS Code, `src/northwind/latency.py`. Show `ttft_ms`, `tpot_ms`, `percentile`.]</a:t>
            </a:r>
          </a:p>
          <a:p/>
          <a:p>
            <a:r>
              <a:t>The latency module has the arithmetic: `ttft_ms` from two timestamps, `tpot_ms` from first-token time, end time and output tokens, and a percentile function you'll use in Section seven. Pure Python, unit-tested.</a:t>
            </a:r>
          </a:p>
          <a:p/>
          <a:p>
            <a:r>
              <a:t>[SCREEN: `app/agent.py`. Add `_call_model_stream`.]</a:t>
            </a:r>
          </a:p>
          <a:p/>
          <a:p>
            <a:r>
              <a:t>[CODE: the streaming generation]</a:t>
            </a:r>
          </a:p>
          <a:p/>
          <a:p>
            <a:r>
              <a:t>The streaming version. Note the start time. Ask for a stream, and ask for usage to be included; without that option the final chunk has no token counts and you can't price the call. Then iterate. On the first chunk with content, record the time, and do two things with it. Tell Langfuse via `completion_start_time`, which is how its UI shows time to first token on the generation. And set the standard attribute, `gen_ai.response.time_to_first_chunk`, on the underlying OpenTelemetry span, in seconds. Incubating name, may change. Collect the text, catch the usage on the last chunk, note the end time.</a:t>
            </a:r>
          </a:p>
          <a:p/>
          <a:p>
            <a:r>
              <a:t>[CODE: finish the generation]</a:t>
            </a:r>
          </a:p>
          <a:p/>
          <a:p>
            <a:r>
              <a:t>After the loop, finish the generation: output, usage, cost, and the two computed numbers in metadata, so they're filterable per generation. Then assemble a response object shaped like the non-streaming one, so the loop doesn't care which path ran.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measurement lands in four places for four audiences. Langfuse's own field for its UI. The standard attribute for any OpenTelemetry backend. Our metadata for the console. And, in Section nine, a Prometheus histogram for Grafana.</a:t>
            </a:r>
          </a:p>
          <a:p/>
          <a:p>
            <a:r>
              <a:t>[SCREEN: Terminal: `OFFLINE=1 make run` with `ATLAS_STREAM=1`. Send a question. Browser: the generation shows "Time to first token 312 ms...]</a:t>
            </a:r>
          </a:p>
          <a:p/>
          <a:p>
            <a:r>
              <a:t>[DEMO: The mock streams offline too, with realistic TTFT and TPOT distributions.]</a:t>
            </a:r>
          </a:p>
          <a:p/>
          <a:p>
            <a:r>
              <a:t>Run with streaming on and send a question. The generation now shows time to first token: three hundred and twelve milliseconds, against a total of two point six seconds. TPOT sixteen milliseconds, about sixty tokens a second. The mock streams offline as well, with realistic distributions, so the day's replay has TTFT for every generation.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 day: median TTFT about three hundred and fifty milliseconds, p95 around one point one seconds. Two patterns to remember. TTFT climbs with input size, so context bloat shows up here before it shows up in your bill. And TPOT is mostly a property of the model; if it jumps, the provider changed something. Section seven sets budgets for both.</a:t>
            </a:r>
          </a:p>
          <a:p/>
          <a:p>
            <a:r>
              <a:t>Two timestamps and one flag on the request. Time to first token in Langfuse, the standard attribute for everyone else, and the number users actually feel, on every generation.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Logs vs traces vs metrics for agents.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signals. A trace answers what happened in one request. A metric answers how much and how often, right now, across all requests. A log answers what the code wanted to say at a moment. Their costs grow differently: traces with request volume, metrics with label combinations, logs with lines.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If it's about one request, in sequence, it's a span or an event on one. If it's a number you'd graph or alert on, it's a metric. If it's a message for a human, it's a log, with the trace ID attached. If it's both, span first, and emit the metric alongside.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 The tool the model chose: a span. Tool error rate over five minutes: a metric. Step limit reached: an event on the span, a score, and a metric counter, because you'll alert on the rate. Cost of one generation: on the span. Cost per hour by tenant: a metric. "Prompt fetched from fallback": a log at warning level, with the trace ID. TTFT of this call: on the span. TTFT p95 today: a histogram.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log that's worth having looks like this. JSON, one line, a level, a message, and the trace and span IDs read from the current span context by the formatter. Paste that trace ID into Langfuse and the whole request opens. Our logging setup does this for every line. Two rules for logs: no message bodies, and no personal data. Logs are usually retained longer and read by more people than traces.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trap. A Prometheus metric is one series per unique combination of label values. Tenant, model, tool, outcome: four times three times five times two, a hundred and twenty series. Fine. Add a user ID label, with two thousand employees: two hundred and forty thousand series. Add a session ID: unbounded, and your metrics server falls over at three in the morning. Labels are for dimensions with a small, fixed set of values. Users and sessions belong in traces, where they already are.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Atlas exposes at slash metrics, and every label set is small and fixed. Tokens by kind, so cached and reasoning tokens are visible as series. Cost by tenant and model. Tool calls by outcome. Step limits and budget hits. Two histograms. Section nine builds the dashboard and alerts on exactly these.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one request: spans to Langfuse for what happened. Metrics to Prometheus for how much and how often. Logs to standard out, in JSON, with the trace ID, for the human notes. The trace ID is the thread that ties a log line back to the request it came from.</a:t>
            </a:r>
          </a:p>
          <a:p/>
          <a:p>
            <a:r>
              <a:t>Span for the request, metric for the number, log for the human, trace ID on everything. And never, ever, a user ID on a metric label.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Break it: the loop you can only see in a trace.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else would you have seen this? The HTTP status was 200. Request count, one. The error logs had sixty lines saying 503, which look exactly like sixty different users having a bad day. The tool error metric did spike, and that's the alert we add in Section nine. But the shape of the failure, one conversation retrying itself into the ground, only exists in the trace.</a:t>
            </a:r>
          </a:p>
          <a:p/>
          <a:p>
            <a:r>
              <a:t>Two fixes, both in the agent, both from Lecture 5.2. A step limit, with an event. And surfacing consecutive tool errors instead of feeding them back forever.</a:t>
            </a:r>
          </a:p>
          <a:p/>
          <a:p>
            <a:r>
              <a:t>[SCREEN: VS Code, `app/agent.py`. Highlight the `max_steps` block with `create_event("step_limit_reached")` and the new consecutive-error...]</a:t>
            </a:r>
          </a:p>
          <a:p/>
          <a:p>
            <a:r>
              <a:t>[CODE: the second guard, consecutive identical tool errors]</a:t>
            </a:r>
          </a:p>
          <a:p/>
          <a:p>
            <a:r>
              <a:t>The step limit you saw in 5.2. This is the second guard. After more than two consecutive errors from the same tool, stop. Emit a `tool_retry_exhausted` event with the tool, the attempt count and the last error. Score the trace. And tell the employee the truth, with the system's name in plain English. This fires long before the step limit would, on exactly the failure that caused Friday.</a:t>
            </a:r>
          </a:p>
          <a:p/>
          <a:p>
            <a:r>
              <a:t>[SCREEN: Terminal 1: `OFFLINE=1 make run` (defaults). Terminal 2: `OFFLINE=1 make swarm SCENARIO=loop`, one conversation.]</a:t>
            </a:r>
          </a:p>
          <a:p/>
          <a:p>
            <a:r>
              <a:t>[SCREEN: Browser: newest trace. `atlas` → `injection_check` → `step 1` { retriever, chat } → `step 2` { `lookup_ticket` ERROR, chat } → `...]</a:t>
            </a:r>
          </a:p>
          <a:p/>
          <a:p>
            <a:r>
              <a:t>[DEMO: Short, readable trace with a warning event and an honest answer as the trace output.]</a:t>
            </a:r>
          </a:p>
          <a:p/>
          <a:p>
            <a:r>
              <a:t>Same scenario, guards on. Four steps. Three red tool calls. Then a yellow event, `tool_retry_exhausted`, with the tool name and "ticketing API 503" in its metadata. Resolved false, so it's honest about the outcome. Two cents. Seven seconds. And the trace output is the message the employee saw.</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Sixty-one steps to four. Three ninety to two cents. And the reason it stopped is written in the trace, as an event and a score, so a filter for `tool_retry_exhausted = true` on Monday shows every conversation the outage touched.</a:t>
            </a:r>
          </a:p>
          <a:p/>
          <a:p>
            <a:r>
              <a:t>[SCREEN: `tests/integration/test_spans.py`, `test_loop_scenario_stops_at_step_limit`. Run `make test`.]</a:t>
            </a:r>
          </a:p>
          <a:p/>
          <a:p>
            <a:r>
              <a:t>[CODE: the regression test]</a:t>
            </a:r>
          </a:p>
          <a:p/>
          <a:p>
            <a:r>
              <a:t>And the test that keeps it fixed: run the loop scenario offline, assert at most four steps, an unresolved result and the event. Green.</a:t>
            </a:r>
          </a:p>
          <a:p/>
          <a:p>
            <a:r>
              <a:t>The loop was always visible. It just wasn't visible anywhere people were looking. Now it's a four-step trace with a yellow event, and a test that fails if anyone turns the guards off again.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3: Trace a multi-step ticket escalation.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Agent patterns.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on mapping questions to spans. One on how tool errors should be recorded. One on events versus scores. One on retriever spans and grounding. One on time to first token. And one that gives you a fact and asks: log, span or metric?</a:t>
            </a:r>
          </a:p>
          <a:p/>
          <a:p>
            <a:r>
              <a:t>Tip for the last one: if the fact has a user in it, it's not a metric label.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One on mapping questions to spans. One on how tool errors should be recorded. One on events versus scores. One on retriever spans and grounding. One on time to first token. And one that gives you a fa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AGENT OBSERVABILITY PATTERNS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What an agent trace must answer</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List the six questions an agent trace must answer: why that tool, with what, what came back, how many steps, where the…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Six questions an agent trace must answer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Why did it call that tool?</a:t>
            </a:r>
          </a:p>
          <a:p>
            <a:pPr marL="292608" indent="-292608">
              <a:lnSpc>
                <a:spcPct val="120000"/>
              </a:lnSpc>
              <a:spcAft>
                <a:spcPts val="1539"/>
              </a:spcAft>
              <a:buClr>
                <a:srgbClr val="00D4AA"/>
              </a:buClr>
              <a:buFont typeface="Inter"/>
              <a:buChar char="•"/>
            </a:pPr>
            <a:r>
              <a:rPr sz="2200" b="0">
                <a:solidFill>
                  <a:srgbClr val="FFFFFF"/>
                </a:solidFill>
                <a:latin typeface="Inter"/>
              </a:rPr>
              <a:t>With what arguments?</a:t>
            </a:r>
          </a:p>
          <a:p>
            <a:pPr marL="292608" indent="-292608">
              <a:lnSpc>
                <a:spcPct val="120000"/>
              </a:lnSpc>
              <a:spcAft>
                <a:spcPts val="1539"/>
              </a:spcAft>
              <a:buClr>
                <a:srgbClr val="00D4AA"/>
              </a:buClr>
              <a:buFont typeface="Inter"/>
              <a:buChar char="•"/>
            </a:pPr>
            <a:r>
              <a:rPr sz="2200" b="0">
                <a:solidFill>
                  <a:srgbClr val="FFFFFF"/>
                </a:solidFill>
                <a:latin typeface="Inter"/>
              </a:rPr>
              <a:t>What came back?</a:t>
            </a:r>
          </a:p>
          <a:p>
            <a:pPr marL="292608" indent="-292608">
              <a:lnSpc>
                <a:spcPct val="120000"/>
              </a:lnSpc>
              <a:spcAft>
                <a:spcPts val="1539"/>
              </a:spcAft>
              <a:buClr>
                <a:srgbClr val="00D4AA"/>
              </a:buClr>
              <a:buFont typeface="Inter"/>
              <a:buChar char="•"/>
            </a:pPr>
            <a:r>
              <a:rPr sz="2200" b="0">
                <a:solidFill>
                  <a:srgbClr val="FFFFFF"/>
                </a:solidFill>
                <a:latin typeface="Inter"/>
              </a:rPr>
              <a:t>How many steps, and did it stop on its own?</a:t>
            </a:r>
          </a:p>
          <a:p>
            <a:pPr marL="292608" indent="-292608">
              <a:lnSpc>
                <a:spcPct val="120000"/>
              </a:lnSpc>
              <a:spcAft>
                <a:spcPts val="1539"/>
              </a:spcAft>
              <a:buClr>
                <a:srgbClr val="00D4AA"/>
              </a:buClr>
              <a:buFont typeface="Inter"/>
              <a:buChar char="•"/>
            </a:pPr>
            <a:r>
              <a:rPr sz="2200" b="0">
                <a:solidFill>
                  <a:srgbClr val="FFFFFF"/>
                </a:solidFill>
                <a:latin typeface="Inter"/>
              </a:rPr>
              <a:t>Where did the tokens go?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Six questions an agent trace must answer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Where did the time go?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3-trace-waterfall.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05 · Lecture 5.1 · The trace we're aiming for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Q1. Why that tool? → the generation before it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The model's output message in the previous generation shows the tool call it chose and any reasoning text</a:t>
            </a:r>
          </a:p>
          <a:p>
            <a:pPr marL="292608" indent="-292608">
              <a:lnSpc>
                <a:spcPct val="120000"/>
              </a:lnSpc>
              <a:spcAft>
                <a:spcPts val="1260"/>
              </a:spcAft>
              <a:buClr>
                <a:srgbClr val="00D4AA"/>
              </a:buClr>
              <a:buFont typeface="Inter"/>
              <a:buChar char="•"/>
            </a:pPr>
            <a:r>
              <a:rPr sz="1656" b="0">
                <a:solidFill>
                  <a:srgbClr val="00D4AA"/>
                </a:solidFill>
                <a:latin typeface="JetBrains Mono"/>
              </a:rPr>
              <a:t>gen_ai.response.finish_reasons = ["tool_calls"]</a:t>
            </a:r>
          </a:p>
          <a:p>
            <a:pPr marL="292608" indent="-292608">
              <a:lnSpc>
                <a:spcPct val="120000"/>
              </a:lnSpc>
              <a:spcAft>
                <a:spcPts val="1260"/>
              </a:spcAft>
              <a:buClr>
                <a:srgbClr val="00D4AA"/>
              </a:buClr>
              <a:buFont typeface="Inter"/>
              <a:buChar char="•"/>
            </a:pPr>
            <a:r>
              <a:rPr sz="1800" b="0">
                <a:solidFill>
                  <a:srgbClr val="FFFFFF"/>
                </a:solidFill>
                <a:latin typeface="Inter"/>
              </a:rPr>
              <a:t>Read: what did the model see (input messages) → what did it decide (output)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Q2 and Q3. With what, and what came back → the tool observation</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758461"/>
            <a:ext cx="10881360" cy="4550898"/>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Input: the arguments, exactly as the model produced them</a:t>
            </a:r>
          </a:p>
          <a:p>
            <a:pPr marL="292608" indent="-292608">
              <a:lnSpc>
                <a:spcPct val="120000"/>
              </a:lnSpc>
              <a:spcAft>
                <a:spcPts val="1260"/>
              </a:spcAft>
              <a:buClr>
                <a:srgbClr val="00D4AA"/>
              </a:buClr>
              <a:buFont typeface="Inter"/>
              <a:buChar char="•"/>
            </a:pPr>
            <a:r>
              <a:rPr sz="1800" b="0">
                <a:solidFill>
                  <a:srgbClr val="FFFFFF"/>
                </a:solidFill>
                <a:latin typeface="Inter"/>
              </a:rPr>
              <a:t>Output: the result, clipped, masked</a:t>
            </a:r>
          </a:p>
          <a:p>
            <a:pPr marL="292608" indent="-292608">
              <a:lnSpc>
                <a:spcPct val="120000"/>
              </a:lnSpc>
              <a:spcAft>
                <a:spcPts val="1260"/>
              </a:spcAft>
              <a:buClr>
                <a:srgbClr val="00D4AA"/>
              </a:buClr>
              <a:buFont typeface="Inter"/>
              <a:buChar char="•"/>
            </a:pPr>
            <a:r>
              <a:rPr sz="1800" b="0">
                <a:solidFill>
                  <a:srgbClr val="FFFFFF"/>
                </a:solidFill>
                <a:latin typeface="Inter"/>
              </a:rPr>
              <a:t>Status and level: OK, or ERROR with the message the model then saw</a:t>
            </a:r>
          </a:p>
          <a:p>
            <a:pPr marL="292608" indent="-292608">
              <a:lnSpc>
                <a:spcPct val="120000"/>
              </a:lnSpc>
              <a:spcAft>
                <a:spcPts val="1260"/>
              </a:spcAft>
              <a:buClr>
                <a:srgbClr val="00D4AA"/>
              </a:buClr>
              <a:buFont typeface="Inter"/>
              <a:buChar char="•"/>
            </a:pPr>
            <a:r>
              <a:rPr sz="1656" b="0">
                <a:solidFill>
                  <a:srgbClr val="00D4AA"/>
                </a:solidFill>
                <a:latin typeface="JetBrains Mono"/>
              </a:rPr>
              <a:t>gen_ai.tool.call.id</a:t>
            </a:r>
            <a:r>
              <a:rPr sz="1800" b="0">
                <a:solidFill>
                  <a:srgbClr val="FFFFFF"/>
                </a:solidFill>
                <a:latin typeface="Inter"/>
              </a:rPr>
              <a:t> matches the call in the generation's output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Q4. How many steps, and did it stop itself? → chain spans and events</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758461"/>
            <a:ext cx="10881360" cy="4550898"/>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One </a:t>
            </a:r>
            <a:r>
              <a:rPr sz="2024" b="0">
                <a:solidFill>
                  <a:srgbClr val="00D4AA"/>
                </a:solidFill>
                <a:latin typeface="JetBrains Mono"/>
              </a:rPr>
              <a:t>chain</a:t>
            </a:r>
            <a:r>
              <a:rPr sz="2200" b="0">
                <a:solidFill>
                  <a:srgbClr val="FFFFFF"/>
                </a:solidFill>
                <a:latin typeface="Inter"/>
              </a:rPr>
              <a:t> per step: count them</a:t>
            </a:r>
          </a:p>
          <a:p>
            <a:pPr marL="292608" indent="-292608">
              <a:lnSpc>
                <a:spcPct val="120000"/>
              </a:lnSpc>
              <a:spcAft>
                <a:spcPts val="1539"/>
              </a:spcAft>
              <a:buClr>
                <a:srgbClr val="00D4AA"/>
              </a:buClr>
              <a:buFont typeface="Inter"/>
              <a:buChar char="•"/>
            </a:pPr>
            <a:r>
              <a:rPr sz="2200" b="0">
                <a:solidFill>
                  <a:srgbClr val="FFFFFF"/>
                </a:solidFill>
                <a:latin typeface="Inter"/>
              </a:rPr>
              <a:t>Event </a:t>
            </a:r>
            <a:r>
              <a:rPr sz="2024" b="0">
                <a:solidFill>
                  <a:srgbClr val="00D4AA"/>
                </a:solidFill>
                <a:latin typeface="JetBrains Mono"/>
              </a:rPr>
              <a:t>step_limit_reached</a:t>
            </a:r>
            <a:r>
              <a:rPr sz="2200" b="0">
                <a:solidFill>
                  <a:srgbClr val="FFFFFF"/>
                </a:solidFill>
                <a:latin typeface="Inter"/>
              </a:rPr>
              <a:t> or </a:t>
            </a:r>
            <a:r>
              <a:rPr sz="2024" b="0">
                <a:solidFill>
                  <a:srgbClr val="00D4AA"/>
                </a:solidFill>
                <a:latin typeface="JetBrains Mono"/>
              </a:rPr>
              <a:t>escalated</a:t>
            </a:r>
            <a:r>
              <a:rPr sz="2200" b="0">
                <a:solidFill>
                  <a:srgbClr val="FFFFFF"/>
                </a:solidFill>
                <a:latin typeface="Inter"/>
              </a:rPr>
              <a:t> when the loop intervened</a:t>
            </a:r>
          </a:p>
          <a:p>
            <a:pPr marL="292608" indent="-292608">
              <a:lnSpc>
                <a:spcPct val="120000"/>
              </a:lnSpc>
              <a:spcAft>
                <a:spcPts val="1539"/>
              </a:spcAft>
              <a:buClr>
                <a:srgbClr val="00D4AA"/>
              </a:buClr>
              <a:buFont typeface="Inter"/>
              <a:buChar char="•"/>
            </a:pPr>
            <a:r>
              <a:rPr sz="2200" b="0">
                <a:solidFill>
                  <a:srgbClr val="FFFFFF"/>
                </a:solidFill>
                <a:latin typeface="Inter"/>
              </a:rPr>
              <a:t>Score </a:t>
            </a:r>
            <a:r>
              <a:rPr sz="2024" b="0">
                <a:solidFill>
                  <a:srgbClr val="00D4AA"/>
                </a:solidFill>
                <a:latin typeface="JetBrains Mono"/>
              </a:rPr>
              <a:t>steps</a:t>
            </a:r>
            <a:r>
              <a:rPr sz="2200" b="0">
                <a:solidFill>
                  <a:srgbClr val="FFFFFF"/>
                </a:solidFill>
                <a:latin typeface="Inter"/>
              </a:rPr>
              <a:t> and </a:t>
            </a:r>
            <a:r>
              <a:rPr sz="2024" b="0">
                <a:solidFill>
                  <a:srgbClr val="00D4AA"/>
                </a:solidFill>
                <a:latin typeface="JetBrains Mono"/>
              </a:rPr>
              <a:t>step_limit_hit</a:t>
            </a:r>
            <a:r>
              <a:rPr sz="2200" b="0">
                <a:solidFill>
                  <a:srgbClr val="FFFFFF"/>
                </a:solidFill>
                <a:latin typeface="Inter"/>
              </a:rPr>
              <a:t> on the trace</a:t>
            </a:r>
          </a:p>
          <a:p>
            <a:pPr marL="292608" indent="-292608">
              <a:lnSpc>
                <a:spcPct val="120000"/>
              </a:lnSpc>
              <a:spcAft>
                <a:spcPts val="1539"/>
              </a:spcAft>
              <a:buClr>
                <a:srgbClr val="00D4AA"/>
              </a:buClr>
              <a:buFont typeface="Inter"/>
              <a:buChar char="•"/>
            </a:pPr>
            <a:r>
              <a:rPr sz="2200" b="0">
                <a:solidFill>
                  <a:srgbClr val="FFFFFF"/>
                </a:solidFill>
                <a:latin typeface="Inter"/>
              </a:rPr>
              <a:t>Finish reason </a:t>
            </a:r>
            <a:r>
              <a:rPr sz="2024" b="0">
                <a:solidFill>
                  <a:srgbClr val="00D4AA"/>
                </a:solidFill>
                <a:latin typeface="JetBrains Mono"/>
              </a:rPr>
              <a:t>stop</a:t>
            </a:r>
            <a:r>
              <a:rPr sz="2200" b="0">
                <a:solidFill>
                  <a:srgbClr val="FFFFFF"/>
                </a:solidFill>
                <a:latin typeface="Inter"/>
              </a:rPr>
              <a:t> on the last generation means the model chose to 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Q5. Where did the tokens go? → usage per generation, per step</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758461"/>
            <a:ext cx="10881360" cy="4550898"/>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Each generation: input, output, cached input</a:t>
            </a:r>
          </a:p>
          <a:p>
            <a:pPr marL="292608" indent="-292608">
              <a:lnSpc>
                <a:spcPct val="120000"/>
              </a:lnSpc>
              <a:spcAft>
                <a:spcPts val="1260"/>
              </a:spcAft>
              <a:buClr>
                <a:srgbClr val="00D4AA"/>
              </a:buClr>
              <a:buFont typeface="Inter"/>
              <a:buChar char="•"/>
            </a:pPr>
            <a:r>
              <a:rPr sz="1800" b="0">
                <a:solidFill>
                  <a:srgbClr val="FFFFFF"/>
                </a:solidFill>
                <a:latin typeface="Inter"/>
              </a:rPr>
              <a:t>Input tokens per step should be roughly flat; a rising line is context growth</a:t>
            </a:r>
          </a:p>
          <a:p>
            <a:pPr marL="292608" indent="-292608">
              <a:lnSpc>
                <a:spcPct val="120000"/>
              </a:lnSpc>
              <a:spcAft>
                <a:spcPts val="1260"/>
              </a:spcAft>
              <a:buClr>
                <a:srgbClr val="00D4AA"/>
              </a:buClr>
              <a:buFont typeface="Inter"/>
              <a:buChar char="•"/>
            </a:pPr>
            <a:r>
              <a:rPr sz="1800" b="0">
                <a:solidFill>
                  <a:srgbClr val="FFFFFF"/>
                </a:solidFill>
                <a:latin typeface="Inter"/>
              </a:rPr>
              <a:t>Cached tokens should be high on step 2+ if caching works (Section 6.4)</a:t>
            </a:r>
          </a:p>
          <a:p>
            <a:pPr marL="292608" indent="-292608">
              <a:lnSpc>
                <a:spcPct val="120000"/>
              </a:lnSpc>
              <a:spcAft>
                <a:spcPts val="1260"/>
              </a:spcAft>
              <a:buClr>
                <a:srgbClr val="00D4AA"/>
              </a:buClr>
              <a:buFont typeface="Inter"/>
              <a:buChar char="•"/>
            </a:pPr>
            <a:r>
              <a:rPr sz="1800" b="0">
                <a:solidFill>
                  <a:srgbClr val="FFFFFF"/>
                </a:solidFill>
                <a:latin typeface="Inter"/>
              </a:rPr>
              <a:t>Trace total = sum of generations; compare to the day's median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Q6. Where did the time go? → the waterfall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Generations dominate; tools should be milliseconds</a:t>
            </a:r>
          </a:p>
          <a:p>
            <a:pPr marL="292608" indent="-292608">
              <a:lnSpc>
                <a:spcPct val="120000"/>
              </a:lnSpc>
              <a:spcAft>
                <a:spcPts val="1120"/>
              </a:spcAft>
              <a:buClr>
                <a:srgbClr val="00D4AA"/>
              </a:buClr>
              <a:buFont typeface="Inter"/>
              <a:buChar char="•"/>
            </a:pPr>
            <a:r>
              <a:rPr sz="1600" b="0">
                <a:solidFill>
                  <a:srgbClr val="FFFFFF"/>
                </a:solidFill>
                <a:latin typeface="Inter"/>
              </a:rPr>
              <a:t>Gaps between spans are your own code</a:t>
            </a:r>
          </a:p>
          <a:p>
            <a:pPr marL="292608" indent="-292608">
              <a:lnSpc>
                <a:spcPct val="120000"/>
              </a:lnSpc>
              <a:spcAft>
                <a:spcPts val="1120"/>
              </a:spcAft>
              <a:buClr>
                <a:srgbClr val="00D4AA"/>
              </a:buClr>
              <a:buFont typeface="Inter"/>
              <a:buChar char="•"/>
            </a:pPr>
            <a:r>
              <a:rPr sz="1600" b="0">
                <a:solidFill>
                  <a:srgbClr val="FFFFFF"/>
                </a:solidFill>
                <a:latin typeface="Inter"/>
              </a:rPr>
              <a:t>Time to first token per generation (5.4)</a:t>
            </a:r>
          </a:p>
          <a:p>
            <a:pPr marL="292608" indent="-292608">
              <a:lnSpc>
                <a:spcPct val="120000"/>
              </a:lnSpc>
              <a:spcAft>
                <a:spcPts val="1120"/>
              </a:spcAft>
              <a:buClr>
                <a:srgbClr val="00D4AA"/>
              </a:buClr>
              <a:buFont typeface="Inter"/>
              <a:buChar char="•"/>
            </a:pPr>
            <a:r>
              <a:rPr sz="1600" b="0">
                <a:solidFill>
                  <a:srgbClr val="FFFFFF"/>
                </a:solidFill>
                <a:latin typeface="Inter"/>
              </a:rPr>
              <a:t>One slow tool call at the wrong moment doubles p95 (Section 7)</a:t>
            </a:r>
          </a:p>
        </p:txBody>
      </p:sp>
      <p:pic>
        <p:nvPicPr>
          <p:cNvPr id="6" name="Picture 5" descr="D3-trace-waterfall-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breaks readability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Flat traces: agent and twenty children, no steps → can't tell which tool followed which call</a:t>
            </a:r>
          </a:p>
          <a:p>
            <a:pPr marL="292608" indent="-292608">
              <a:lnSpc>
                <a:spcPct val="120000"/>
              </a:lnSpc>
              <a:spcAft>
                <a:spcPts val="1260"/>
              </a:spcAft>
              <a:buClr>
                <a:srgbClr val="00D4AA"/>
              </a:buClr>
              <a:buFont typeface="Inter"/>
              <a:buChar char="•"/>
            </a:pPr>
            <a:r>
              <a:rPr sz="1800" b="0">
                <a:solidFill>
                  <a:srgbClr val="FFFFFF"/>
                </a:solidFill>
                <a:latin typeface="Inter"/>
              </a:rPr>
              <a:t>Missing arguments or results → can't answer Q2 or Q3</a:t>
            </a:r>
          </a:p>
          <a:p>
            <a:pPr marL="292608" indent="-292608">
              <a:lnSpc>
                <a:spcPct val="120000"/>
              </a:lnSpc>
              <a:spcAft>
                <a:spcPts val="1260"/>
              </a:spcAft>
              <a:buClr>
                <a:srgbClr val="00D4AA"/>
              </a:buClr>
              <a:buFont typeface="Inter"/>
              <a:buChar char="•"/>
            </a:pPr>
            <a:r>
              <a:rPr sz="1800" b="0">
                <a:solidFill>
                  <a:srgbClr val="FFFFFF"/>
                </a:solidFill>
                <a:latin typeface="Inter"/>
              </a:rPr>
              <a:t>Silent stopping → loop ended, nothing says why</a:t>
            </a:r>
          </a:p>
          <a:p>
            <a:pPr marL="292608" indent="-292608">
              <a:lnSpc>
                <a:spcPct val="120000"/>
              </a:lnSpc>
              <a:spcAft>
                <a:spcPts val="1260"/>
              </a:spcAft>
              <a:buClr>
                <a:srgbClr val="00D4AA"/>
              </a:buClr>
              <a:buFont typeface="Inter"/>
              <a:buChar char="•"/>
            </a:pPr>
            <a:r>
              <a:rPr sz="1800" b="0">
                <a:solidFill>
                  <a:srgbClr val="FFFFFF"/>
                </a:solidFill>
                <a:latin typeface="Inter"/>
              </a:rPr>
              <a:t>Escalation without a marker → cost jumped, no reason in the trace</a:t>
            </a:r>
          </a:p>
          <a:p>
            <a:pPr marL="292608" indent="-292608">
              <a:lnSpc>
                <a:spcPct val="120000"/>
              </a:lnSpc>
              <a:spcAft>
                <a:spcPts val="1260"/>
              </a:spcAft>
              <a:buClr>
                <a:srgbClr val="00D4AA"/>
              </a:buClr>
              <a:buFont typeface="Inter"/>
              <a:buChar char="•"/>
            </a:pPr>
            <a:r>
              <a:rPr sz="1800" b="0">
                <a:solidFill>
                  <a:srgbClr val="FFFFFF"/>
                </a:solidFill>
                <a:latin typeface="Inter"/>
              </a:rPr>
              <a:t>Unredacted tool results the size of a web page → nobody scrolls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pattern, in one slide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Agent → guardrail → step (chain) → { retriever | generation | tool } per step</a:t>
            </a:r>
          </a:p>
          <a:p>
            <a:pPr marL="292608" indent="-292608">
              <a:lnSpc>
                <a:spcPct val="120000"/>
              </a:lnSpc>
              <a:spcAft>
                <a:spcPts val="1260"/>
              </a:spcAft>
              <a:buClr>
                <a:srgbClr val="00D4AA"/>
              </a:buClr>
              <a:buFont typeface="Inter"/>
              <a:buChar char="•"/>
            </a:pPr>
            <a:r>
              <a:rPr sz="1800" b="0">
                <a:solidFill>
                  <a:srgbClr val="FFFFFF"/>
                </a:solidFill>
                <a:latin typeface="Inter"/>
              </a:rPr>
              <a:t>Events for interventions: </a:t>
            </a:r>
            <a:r>
              <a:rPr sz="1656" b="0">
                <a:solidFill>
                  <a:srgbClr val="00D4AA"/>
                </a:solidFill>
                <a:latin typeface="JetBrains Mono"/>
              </a:rPr>
              <a:t>step_limit_reached</a:t>
            </a:r>
            <a:r>
              <a:rPr sz="1800" b="0">
                <a:solidFill>
                  <a:srgbClr val="FFFFFF"/>
                </a:solidFill>
                <a:latin typeface="Inter"/>
              </a:rPr>
              <a:t>, </a:t>
            </a:r>
            <a:r>
              <a:rPr sz="1656" b="0">
                <a:solidFill>
                  <a:srgbClr val="00D4AA"/>
                </a:solidFill>
                <a:latin typeface="JetBrains Mono"/>
              </a:rPr>
              <a:t>escalated</a:t>
            </a:r>
            <a:r>
              <a:rPr sz="1800" b="0">
                <a:solidFill>
                  <a:srgbClr val="FFFFFF"/>
                </a:solidFill>
                <a:latin typeface="Inter"/>
              </a:rPr>
              <a:t>, </a:t>
            </a:r>
            <a:r>
              <a:rPr sz="1656" b="0">
                <a:solidFill>
                  <a:srgbClr val="00D4AA"/>
                </a:solidFill>
                <a:latin typeface="JetBrains Mono"/>
              </a:rPr>
              <a:t>tool_retry_exhausted</a:t>
            </a:r>
          </a:p>
          <a:p>
            <a:pPr marL="292608" indent="-292608">
              <a:lnSpc>
                <a:spcPct val="120000"/>
              </a:lnSpc>
              <a:spcAft>
                <a:spcPts val="1260"/>
              </a:spcAft>
              <a:buClr>
                <a:srgbClr val="00D4AA"/>
              </a:buClr>
              <a:buFont typeface="Inter"/>
              <a:buChar char="•"/>
            </a:pPr>
            <a:r>
              <a:rPr sz="1800" b="0">
                <a:solidFill>
                  <a:srgbClr val="FFFFFF"/>
                </a:solidFill>
                <a:latin typeface="Inter"/>
              </a:rPr>
              <a:t>Scores for outcomes: </a:t>
            </a:r>
            <a:r>
              <a:rPr sz="1656" b="0">
                <a:solidFill>
                  <a:srgbClr val="00D4AA"/>
                </a:solidFill>
                <a:latin typeface="JetBrains Mono"/>
              </a:rPr>
              <a:t>resolved</a:t>
            </a:r>
            <a:r>
              <a:rPr sz="1800" b="0">
                <a:solidFill>
                  <a:srgbClr val="FFFFFF"/>
                </a:solidFill>
                <a:latin typeface="Inter"/>
              </a:rPr>
              <a:t>, </a:t>
            </a:r>
            <a:r>
              <a:rPr sz="1656" b="0">
                <a:solidFill>
                  <a:srgbClr val="00D4AA"/>
                </a:solidFill>
                <a:latin typeface="JetBrains Mono"/>
              </a:rPr>
              <a:t>steps</a:t>
            </a:r>
            <a:r>
              <a:rPr sz="1800" b="0">
                <a:solidFill>
                  <a:srgbClr val="FFFFFF"/>
                </a:solidFill>
                <a:latin typeface="Inter"/>
              </a:rPr>
              <a:t>, </a:t>
            </a:r>
            <a:r>
              <a:rPr sz="1656" b="0">
                <a:solidFill>
                  <a:srgbClr val="00D4AA"/>
                </a:solidFill>
                <a:latin typeface="JetBrains Mono"/>
              </a:rPr>
              <a:t>step_limit_hit</a:t>
            </a:r>
          </a:p>
          <a:p>
            <a:pPr marL="292608" indent="-292608">
              <a:lnSpc>
                <a:spcPct val="120000"/>
              </a:lnSpc>
              <a:spcAft>
                <a:spcPts val="1260"/>
              </a:spcAft>
              <a:buClr>
                <a:srgbClr val="00D4AA"/>
              </a:buClr>
              <a:buFont typeface="Inter"/>
              <a:buChar char="•"/>
            </a:pPr>
            <a:r>
              <a:rPr sz="1800" b="0">
                <a:solidFill>
                  <a:srgbClr val="FFFFFF"/>
                </a:solidFill>
                <a:latin typeface="Inter"/>
              </a:rPr>
              <a:t>Everything clipped, masked and typed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Code-along: tracing the tool loop step by step</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code-along: step spans, redacted tool results, the step limit as an event, and escalation as 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AGENT OBSERVABILITY PATTERNS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Code-along: tracing the tool loop step by step</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Wrap each loop iteration in a </a:t>
            </a:r>
            <a:r>
              <a:rPr sz="1472" b="0">
                <a:solidFill>
                  <a:srgbClr val="00D4AA"/>
                </a:solidFill>
                <a:latin typeface="JetBrains Mono"/>
              </a:rPr>
              <a:t>chain</a:t>
            </a:r>
            <a:r>
              <a:rPr sz="1600" b="0">
                <a:solidFill>
                  <a:srgbClr val="CBD5E1"/>
                </a:solidFill>
                <a:latin typeface="Inter"/>
              </a:rPr>
              <a:t> observation named </a:t>
            </a:r>
            <a:r>
              <a:rPr sz="1472" b="0">
                <a:solidFill>
                  <a:srgbClr val="00D4AA"/>
                </a:solidFill>
                <a:latin typeface="JetBrains Mono"/>
              </a:rPr>
              <a:t>step n</a:t>
            </a:r>
            <a:r>
              <a:rPr sz="1600" b="0">
                <a:solidFill>
                  <a:srgbClr val="CBD5E1"/>
                </a:solidFill>
                <a:latin typeface="Inter"/>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the six lines bought you</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688336"/>
        </p:xfrm>
        <a:graphic>
          <a:graphicData uri="http://schemas.openxmlformats.org/drawingml/2006/table">
            <a:tbl>
              <a:tblPr firstRow="1" bandRow="1">
                <a:tableStyleId>{5C22544A-7EE6-4342-B048-85BDC9FD1C3A}</a:tableStyleId>
              </a:tblPr>
              <a:tblGrid>
                <a:gridCol w="3764279"/>
                <a:gridCol w="7528559"/>
              </a:tblGrid>
              <a:tr h="384048">
                <a:tc>
                  <a:txBody>
                    <a:bodyPr wrap="square"/>
                    <a:lstStyle/>
                    <a:p>
                      <a:r>
                        <a:rPr sz="1200" b="1">
                          <a:solidFill>
                            <a:srgbClr val="0A1628"/>
                          </a:solidFill>
                          <a:latin typeface="Inter"/>
                        </a:rPr>
                        <a:t>Question</a:t>
                      </a:r>
                    </a:p>
                  </a:txBody>
                  <a:tcPr marL="91440" marR="91440" marT="45720" marB="45720" anchor="ctr">
                    <a:solidFill>
                      <a:srgbClr val="00D4AA"/>
                    </a:solidFill>
                  </a:tcPr>
                </a:tc>
                <a:tc>
                  <a:txBody>
                    <a:bodyPr wrap="square"/>
                    <a:lstStyle/>
                    <a:p>
                      <a:r>
                        <a:rPr sz="1200" b="1">
                          <a:solidFill>
                            <a:srgbClr val="0A1628"/>
                          </a:solidFill>
                          <a:latin typeface="Inter"/>
                        </a:rPr>
                        <a:t>Answered by</a:t>
                      </a:r>
                    </a:p>
                  </a:txBody>
                  <a:tcPr marL="91440" marR="91440" marT="45720" marB="45720" anchor="ctr">
                    <a:solidFill>
                      <a:srgbClr val="00D4AA"/>
                    </a:solidFill>
                  </a:tcPr>
                </a:tc>
              </a:tr>
              <a:tr h="384048">
                <a:tc>
                  <a:txBody>
                    <a:bodyPr wrap="square"/>
                    <a:lstStyle/>
                    <a:p>
                      <a:r>
                        <a:rPr sz="1200" b="1">
                          <a:solidFill>
                            <a:srgbClr val="FFFFFF"/>
                          </a:solidFill>
                          <a:latin typeface="Inter"/>
                        </a:rPr>
                        <a:t>Why that tool</a:t>
                      </a:r>
                    </a:p>
                  </a:txBody>
                  <a:tcPr marL="91440" marR="91440" marT="45720" marB="45720" anchor="ctr">
                    <a:solidFill>
                      <a:srgbClr val="1A2742"/>
                    </a:solidFill>
                  </a:tcPr>
                </a:tc>
                <a:tc>
                  <a:txBody>
                    <a:bodyPr wrap="square"/>
                    <a:lstStyle/>
                    <a:p>
                      <a:r>
                        <a:rPr sz="1200" b="0">
                          <a:solidFill>
                            <a:srgbClr val="FFFFFF"/>
                          </a:solidFill>
                          <a:latin typeface="Inter"/>
                        </a:rPr>
                        <a:t>previous generation's output, inside the same step</a:t>
                      </a:r>
                    </a:p>
                  </a:txBody>
                  <a:tcPr marL="91440" marR="91440" marT="45720" marB="45720" anchor="ctr">
                    <a:solidFill>
                      <a:srgbClr val="1A2742"/>
                    </a:solidFill>
                  </a:tcPr>
                </a:tc>
              </a:tr>
              <a:tr h="384048">
                <a:tc>
                  <a:txBody>
                    <a:bodyPr wrap="square"/>
                    <a:lstStyle/>
                    <a:p>
                      <a:r>
                        <a:rPr sz="1200" b="1">
                          <a:solidFill>
                            <a:srgbClr val="FFFFFF"/>
                          </a:solidFill>
                          <a:latin typeface="Inter"/>
                        </a:rPr>
                        <a:t>With what / what came back</a:t>
                      </a:r>
                    </a:p>
                  </a:txBody>
                  <a:tcPr marL="91440" marR="91440" marT="45720" marB="45720" anchor="ctr">
                    <a:solidFill>
                      <a:srgbClr val="0F1E35"/>
                    </a:solidFill>
                  </a:tcPr>
                </a:tc>
                <a:tc>
                  <a:txBody>
                    <a:bodyPr wrap="square"/>
                    <a:lstStyle/>
                    <a:p>
                      <a:r>
                        <a:rPr sz="1200" b="0">
                          <a:solidFill>
                            <a:srgbClr val="FFFFFF"/>
                          </a:solidFill>
                          <a:latin typeface="Inter"/>
                        </a:rPr>
                        <a:t>tool observation input and clipped output; ERROR level on failure</a:t>
                      </a:r>
                    </a:p>
                  </a:txBody>
                  <a:tcPr marL="91440" marR="91440" marT="45720" marB="45720" anchor="ctr">
                    <a:solidFill>
                      <a:srgbClr val="0F1E35"/>
                    </a:solidFill>
                  </a:tcPr>
                </a:tc>
              </a:tr>
              <a:tr h="384048">
                <a:tc>
                  <a:txBody>
                    <a:bodyPr wrap="square"/>
                    <a:lstStyle/>
                    <a:p>
                      <a:r>
                        <a:rPr sz="1200" b="1">
                          <a:solidFill>
                            <a:srgbClr val="FFFFFF"/>
                          </a:solidFill>
                          <a:latin typeface="Inter"/>
                        </a:rPr>
                        <a:t>How many steps, who stopped it</a:t>
                      </a:r>
                    </a:p>
                  </a:txBody>
                  <a:tcPr marL="91440" marR="91440" marT="45720" marB="45720" anchor="ctr">
                    <a:solidFill>
                      <a:srgbClr val="1A2742"/>
                    </a:solidFill>
                  </a:tcPr>
                </a:tc>
                <a:tc>
                  <a:txBody>
                    <a:bodyPr wrap="square"/>
                    <a:lstStyle/>
                    <a:p>
                      <a:r>
                        <a:rPr sz="1200" b="0">
                          <a:solidFill>
                            <a:srgbClr val="FFFFFF"/>
                          </a:solidFill>
                          <a:latin typeface="Inter"/>
                        </a:rPr>
                        <a:t>count of </a:t>
                      </a:r>
                      <a:r>
                        <a:rPr sz="1104" b="0">
                          <a:solidFill>
                            <a:srgbClr val="00D4AA"/>
                          </a:solidFill>
                          <a:latin typeface="JetBrains Mono"/>
                        </a:rPr>
                        <a:t>step n</a:t>
                      </a:r>
                      <a:r>
                        <a:rPr sz="1200" b="0">
                          <a:solidFill>
                            <a:srgbClr val="FFFFFF"/>
                          </a:solidFill>
                          <a:latin typeface="Inter"/>
                        </a:rPr>
                        <a:t>; </a:t>
                      </a:r>
                      <a:r>
                        <a:rPr sz="1104" b="0">
                          <a:solidFill>
                            <a:srgbClr val="00D4AA"/>
                          </a:solidFill>
                          <a:latin typeface="JetBrains Mono"/>
                        </a:rPr>
                        <a:t>step_limit_reached</a:t>
                      </a:r>
                      <a:r>
                        <a:rPr sz="1200" b="0">
                          <a:solidFill>
                            <a:srgbClr val="FFFFFF"/>
                          </a:solidFill>
                          <a:latin typeface="Inter"/>
                        </a:rPr>
                        <a:t> event; </a:t>
                      </a:r>
                      <a:r>
                        <a:rPr sz="1104" b="0">
                          <a:solidFill>
                            <a:srgbClr val="00D4AA"/>
                          </a:solidFill>
                          <a:latin typeface="JetBrains Mono"/>
                        </a:rPr>
                        <a:t>steps</a:t>
                      </a:r>
                      <a:r>
                        <a:rPr sz="1200" b="0">
                          <a:solidFill>
                            <a:srgbClr val="FFFFFF"/>
                          </a:solidFill>
                          <a:latin typeface="Inter"/>
                        </a:rPr>
                        <a:t> and </a:t>
                      </a:r>
                      <a:r>
                        <a:rPr sz="1104" b="0">
                          <a:solidFill>
                            <a:srgbClr val="00D4AA"/>
                          </a:solidFill>
                          <a:latin typeface="JetBrains Mono"/>
                        </a:rPr>
                        <a:t>step_limit_hit</a:t>
                      </a:r>
                      <a:r>
                        <a:rPr sz="1200" b="0">
                          <a:solidFill>
                            <a:srgbClr val="FFFFFF"/>
                          </a:solidFill>
                          <a:latin typeface="Inter"/>
                        </a:rPr>
                        <a:t> scores</a:t>
                      </a:r>
                    </a:p>
                  </a:txBody>
                  <a:tcPr marL="91440" marR="91440" marT="45720" marB="45720" anchor="ctr">
                    <a:solidFill>
                      <a:srgbClr val="1A2742"/>
                    </a:solidFill>
                  </a:tcPr>
                </a:tc>
              </a:tr>
              <a:tr h="384048">
                <a:tc>
                  <a:txBody>
                    <a:bodyPr wrap="square"/>
                    <a:lstStyle/>
                    <a:p>
                      <a:r>
                        <a:rPr sz="1200" b="1">
                          <a:solidFill>
                            <a:srgbClr val="FFFFFF"/>
                          </a:solidFill>
                          <a:latin typeface="Inter"/>
                        </a:rPr>
                        <a:t>Where the tokens went</a:t>
                      </a:r>
                    </a:p>
                  </a:txBody>
                  <a:tcPr marL="91440" marR="91440" marT="45720" marB="45720" anchor="ctr">
                    <a:solidFill>
                      <a:srgbClr val="0F1E35"/>
                    </a:solidFill>
                  </a:tcPr>
                </a:tc>
                <a:tc>
                  <a:txBody>
                    <a:bodyPr wrap="square"/>
                    <a:lstStyle/>
                    <a:p>
                      <a:r>
                        <a:rPr sz="1200" b="0">
                          <a:solidFill>
                            <a:srgbClr val="FFFFFF"/>
                          </a:solidFill>
                          <a:latin typeface="Inter"/>
                        </a:rPr>
                        <a:t>usage per generation, per step; model per generation</a:t>
                      </a:r>
                    </a:p>
                  </a:txBody>
                  <a:tcPr marL="91440" marR="91440" marT="45720" marB="45720" anchor="ctr">
                    <a:solidFill>
                      <a:srgbClr val="0F1E35"/>
                    </a:solidFill>
                  </a:tcPr>
                </a:tc>
              </a:tr>
              <a:tr h="384048">
                <a:tc>
                  <a:txBody>
                    <a:bodyPr wrap="square"/>
                    <a:lstStyle/>
                    <a:p>
                      <a:r>
                        <a:rPr sz="1200" b="1">
                          <a:solidFill>
                            <a:srgbClr val="FFFFFF"/>
                          </a:solidFill>
                          <a:latin typeface="Inter"/>
                        </a:rPr>
                        <a:t>Where the time went</a:t>
                      </a:r>
                    </a:p>
                  </a:txBody>
                  <a:tcPr marL="91440" marR="91440" marT="45720" marB="45720" anchor="ctr">
                    <a:solidFill>
                      <a:srgbClr val="1A2742"/>
                    </a:solidFill>
                  </a:tcPr>
                </a:tc>
                <a:tc>
                  <a:txBody>
                    <a:bodyPr wrap="square"/>
                    <a:lstStyle/>
                    <a:p>
                      <a:r>
                        <a:rPr sz="1200" b="0">
                          <a:solidFill>
                            <a:srgbClr val="FFFFFF"/>
                          </a:solidFill>
                          <a:latin typeface="Inter"/>
                        </a:rPr>
                        <a:t>the waterfall per step</a:t>
                      </a:r>
                    </a:p>
                  </a:txBody>
                  <a:tcPr marL="91440" marR="91440" marT="45720" marB="45720" anchor="ctr">
                    <a:solidFill>
                      <a:srgbClr val="1A2742"/>
                    </a:solidFill>
                  </a:tcPr>
                </a:tc>
              </a:tr>
              <a:tr h="384048">
                <a:tc>
                  <a:txBody>
                    <a:bodyPr wrap="square"/>
                    <a:lstStyle/>
                    <a:p>
                      <a:r>
                        <a:rPr sz="1200" b="1">
                          <a:solidFill>
                            <a:srgbClr val="FFFFFF"/>
                          </a:solidFill>
                          <a:latin typeface="Inter"/>
                        </a:rPr>
                        <a:t>Why cost jumped</a:t>
                      </a:r>
                    </a:p>
                  </a:txBody>
                  <a:tcPr marL="91440" marR="91440" marT="45720" marB="45720" anchor="ctr">
                    <a:solidFill>
                      <a:srgbClr val="0F1E35"/>
                    </a:solidFill>
                  </a:tcPr>
                </a:tc>
                <a:tc>
                  <a:txBody>
                    <a:bodyPr wrap="square"/>
                    <a:lstStyle/>
                    <a:p>
                      <a:r>
                        <a:rPr sz="1104" b="0">
                          <a:solidFill>
                            <a:srgbClr val="00D4AA"/>
                          </a:solidFill>
                          <a:latin typeface="JetBrains Mono"/>
                        </a:rPr>
                        <a:t>escalated</a:t>
                      </a:r>
                      <a:r>
                        <a:rPr sz="1200" b="0">
                          <a:solidFill>
                            <a:srgbClr val="FFFFFF"/>
                          </a:solidFill>
                          <a:latin typeface="Inter"/>
                        </a:rPr>
                        <a:t> event and model name on the generation</a:t>
                      </a:r>
                    </a:p>
                  </a:txBody>
                  <a:tcPr marL="91440" marR="91440" marT="45720" marB="45720" anchor="ctr">
                    <a:solidFill>
                      <a:srgbClr val="0F1E35"/>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RAG spans: retrieval quality is a production metric</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retriever: why "how good was the search" is a production metric, and how to record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AGENT OBSERVABILITY PATTERNS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RAG spans: retrieval quality is a production metric</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Record query, top-k, document IDs and scores on the retriever observation.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to record on a retriever observation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Input: the query text and </a:t>
            </a:r>
            <a:r>
              <a:rPr sz="1656" b="0">
                <a:solidFill>
                  <a:srgbClr val="00D4AA"/>
                </a:solidFill>
                <a:latin typeface="JetBrains Mono"/>
              </a:rPr>
              <a:t>top_k</a:t>
            </a:r>
          </a:p>
          <a:p>
            <a:pPr marL="292608" indent="-292608">
              <a:lnSpc>
                <a:spcPct val="120000"/>
              </a:lnSpc>
              <a:spcAft>
                <a:spcPts val="1260"/>
              </a:spcAft>
              <a:buClr>
                <a:srgbClr val="00D4AA"/>
              </a:buClr>
              <a:buFont typeface="Inter"/>
              <a:buChar char="•"/>
            </a:pPr>
            <a:r>
              <a:rPr sz="1800" b="0">
                <a:solidFill>
                  <a:srgbClr val="FFFFFF"/>
                </a:solidFill>
                <a:latin typeface="Inter"/>
              </a:rPr>
              <a:t>Output: document IDs and scores (not full chunk text; it's already in the generation's input)</a:t>
            </a:r>
          </a:p>
          <a:p>
            <a:pPr marL="292608" indent="-292608">
              <a:lnSpc>
                <a:spcPct val="120000"/>
              </a:lnSpc>
              <a:spcAft>
                <a:spcPts val="1260"/>
              </a:spcAft>
              <a:buClr>
                <a:srgbClr val="00D4AA"/>
              </a:buClr>
              <a:buFont typeface="Inter"/>
              <a:buChar char="•"/>
            </a:pPr>
            <a:r>
              <a:rPr sz="1800" b="0">
                <a:solidFill>
                  <a:srgbClr val="FFFFFF"/>
                </a:solidFill>
                <a:latin typeface="Inter"/>
              </a:rPr>
              <a:t>Metadata: </a:t>
            </a:r>
            <a:r>
              <a:rPr sz="1656" b="0">
                <a:solidFill>
                  <a:srgbClr val="00D4AA"/>
                </a:solidFill>
                <a:latin typeface="JetBrains Mono"/>
              </a:rPr>
              <a:t>hits</a:t>
            </a:r>
            <a:r>
              <a:rPr sz="1800" b="0">
                <a:solidFill>
                  <a:srgbClr val="FFFFFF"/>
                </a:solidFill>
                <a:latin typeface="Inter"/>
              </a:rPr>
              <a:t>, </a:t>
            </a:r>
            <a:r>
              <a:rPr sz="1656" b="0">
                <a:solidFill>
                  <a:srgbClr val="00D4AA"/>
                </a:solidFill>
                <a:latin typeface="JetBrains Mono"/>
              </a:rPr>
              <a:t>top_score</a:t>
            </a:r>
            <a:r>
              <a:rPr sz="1800" b="0">
                <a:solidFill>
                  <a:srgbClr val="FFFFFF"/>
                </a:solidFill>
                <a:latin typeface="Inter"/>
              </a:rPr>
              <a:t>, </a:t>
            </a:r>
            <a:r>
              <a:rPr sz="1656" b="0">
                <a:solidFill>
                  <a:srgbClr val="00D4AA"/>
                </a:solidFill>
                <a:latin typeface="JetBrains Mono"/>
              </a:rPr>
              <a:t>empty</a:t>
            </a:r>
            <a:r>
              <a:rPr sz="1800" b="0">
                <a:solidFill>
                  <a:srgbClr val="FFFFFF"/>
                </a:solidFill>
                <a:latin typeface="Inter"/>
              </a:rPr>
              <a:t>, </a:t>
            </a:r>
            <a:r>
              <a:rPr sz="1656" b="0">
                <a:solidFill>
                  <a:srgbClr val="00D4AA"/>
                </a:solidFill>
                <a:latin typeface="JetBrains Mono"/>
              </a:rPr>
              <a:t>index_version</a:t>
            </a:r>
          </a:p>
          <a:p>
            <a:pPr marL="292608" indent="-292608">
              <a:lnSpc>
                <a:spcPct val="120000"/>
              </a:lnSpc>
              <a:spcAft>
                <a:spcPts val="1260"/>
              </a:spcAft>
              <a:buClr>
                <a:srgbClr val="00D4AA"/>
              </a:buClr>
              <a:buFont typeface="Inter"/>
              <a:buChar char="•"/>
            </a:pPr>
            <a:r>
              <a:rPr sz="1800" b="0">
                <a:solidFill>
                  <a:srgbClr val="FFFFFF"/>
                </a:solidFill>
                <a:latin typeface="Inter"/>
              </a:rPr>
              <a:t>Level: WARNING when empty or below a confidence threshold</a:t>
            </a:r>
          </a:p>
          <a:p>
            <a:pPr marL="292608" indent="-292608">
              <a:lnSpc>
                <a:spcPct val="120000"/>
              </a:lnSpc>
              <a:spcAft>
                <a:spcPts val="1260"/>
              </a:spcAft>
              <a:buClr>
                <a:srgbClr val="00D4AA"/>
              </a:buClr>
              <a:buFont typeface="Inter"/>
              <a:buChar char="•"/>
            </a:pPr>
            <a:r>
              <a:rPr sz="1800" b="0">
                <a:solidFill>
                  <a:srgbClr val="FFFFFF"/>
                </a:solidFill>
                <a:latin typeface="Inter"/>
              </a:rPr>
              <a:t>Score on the trace: </a:t>
            </a:r>
            <a:r>
              <a:rPr sz="1656" b="0">
                <a:solidFill>
                  <a:srgbClr val="00D4AA"/>
                </a:solidFill>
                <a:latin typeface="JetBrains Mono"/>
              </a:rPr>
              <a:t>grounded</a:t>
            </a:r>
            <a:r>
              <a:rPr sz="1800" b="0">
                <a:solidFill>
                  <a:srgbClr val="FFFFFF"/>
                </a:solidFill>
                <a:latin typeface="Inter"/>
              </a:rPr>
              <a:t> (boolean)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rates you'll track from here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Empty-result rate: retriever observations with </a:t>
            </a:r>
            <a:r>
              <a:rPr sz="1656" b="0">
                <a:solidFill>
                  <a:srgbClr val="00D4AA"/>
                </a:solidFill>
                <a:latin typeface="JetBrains Mono"/>
              </a:rPr>
              <a:t>empty = true</a:t>
            </a:r>
            <a:r>
              <a:rPr sz="1800" b="0">
                <a:solidFill>
                  <a:srgbClr val="FFFFFF"/>
                </a:solidFill>
                <a:latin typeface="Inter"/>
              </a:rPr>
              <a:t> ÷ all retrievals</a:t>
            </a:r>
          </a:p>
          <a:p>
            <a:pPr marL="292608" indent="-292608">
              <a:lnSpc>
                <a:spcPct val="120000"/>
              </a:lnSpc>
              <a:spcAft>
                <a:spcPts val="1260"/>
              </a:spcAft>
              <a:buClr>
                <a:srgbClr val="00D4AA"/>
              </a:buClr>
              <a:buFont typeface="Inter"/>
              <a:buChar char="•"/>
            </a:pPr>
            <a:r>
              <a:rPr sz="1800" b="0">
                <a:solidFill>
                  <a:srgbClr val="FFFFFF"/>
                </a:solidFill>
                <a:latin typeface="Inter"/>
              </a:rPr>
              <a:t>Grounded rate: traces with </a:t>
            </a:r>
            <a:r>
              <a:rPr sz="1656" b="0">
                <a:solidFill>
                  <a:srgbClr val="00D4AA"/>
                </a:solidFill>
                <a:latin typeface="JetBrains Mono"/>
              </a:rPr>
              <a:t>grounded = true</a:t>
            </a:r>
            <a:r>
              <a:rPr sz="1800" b="0">
                <a:solidFill>
                  <a:srgbClr val="FFFFFF"/>
                </a:solidFill>
                <a:latin typeface="Inter"/>
              </a:rPr>
              <a:t> ÷ all traces with a retrieval</a:t>
            </a:r>
          </a:p>
          <a:p>
            <a:pPr marL="292608" indent="-292608">
              <a:lnSpc>
                <a:spcPct val="120000"/>
              </a:lnSpc>
              <a:spcAft>
                <a:spcPts val="1260"/>
              </a:spcAft>
              <a:buClr>
                <a:srgbClr val="00D4AA"/>
              </a:buClr>
              <a:buFont typeface="Inter"/>
              <a:buChar char="•"/>
            </a:pPr>
            <a:r>
              <a:rPr sz="1800" b="0">
                <a:solidFill>
                  <a:srgbClr val="FFFFFF"/>
                </a:solidFill>
                <a:latin typeface="Inter"/>
              </a:rPr>
              <a:t>Baseline on the replayed day: empty 6.8%, grounded 93.2%</a:t>
            </a:r>
          </a:p>
          <a:p>
            <a:pPr marL="292608" indent="-292608">
              <a:lnSpc>
                <a:spcPct val="120000"/>
              </a:lnSpc>
              <a:spcAft>
                <a:spcPts val="1260"/>
              </a:spcAft>
              <a:buClr>
                <a:srgbClr val="00D4AA"/>
              </a:buClr>
              <a:buFont typeface="Inter"/>
              <a:buChar char="•"/>
            </a:pPr>
            <a:r>
              <a:rPr sz="1800" b="0">
                <a:solidFill>
                  <a:srgbClr val="FFFFFF"/>
                </a:solidFill>
                <a:latin typeface="Inter"/>
              </a:rPr>
              <a:t>A jump in empty rate after a KB or index change is Incident 2's second cause (Section 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When top-k and thresholds change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Record </a:t>
            </a:r>
            <a:r>
              <a:rPr sz="1656" b="0">
                <a:solidFill>
                  <a:srgbClr val="00D4AA"/>
                </a:solidFill>
                <a:latin typeface="JetBrains Mono"/>
              </a:rPr>
              <a:t>top_k</a:t>
            </a:r>
            <a:r>
              <a:rPr sz="1800" b="0">
                <a:solidFill>
                  <a:srgbClr val="FFFFFF"/>
                </a:solidFill>
                <a:latin typeface="Inter"/>
              </a:rPr>
              <a:t> and </a:t>
            </a:r>
            <a:r>
              <a:rPr sz="1656" b="0">
                <a:solidFill>
                  <a:srgbClr val="00D4AA"/>
                </a:solidFill>
                <a:latin typeface="JetBrains Mono"/>
              </a:rPr>
              <a:t>index_version</a:t>
            </a:r>
            <a:r>
              <a:rPr sz="1800" b="0">
                <a:solidFill>
                  <a:srgbClr val="FFFFFF"/>
                </a:solidFill>
                <a:latin typeface="Inter"/>
              </a:rPr>
              <a:t> so a change is visible in traces</a:t>
            </a:r>
          </a:p>
          <a:p>
            <a:pPr marL="292608" indent="-292608">
              <a:lnSpc>
                <a:spcPct val="120000"/>
              </a:lnSpc>
              <a:spcAft>
                <a:spcPts val="1260"/>
              </a:spcAft>
              <a:buClr>
                <a:srgbClr val="00D4AA"/>
              </a:buClr>
              <a:buFont typeface="Inter"/>
              <a:buChar char="•"/>
            </a:pPr>
            <a:r>
              <a:rPr sz="1800" b="0">
                <a:solidFill>
                  <a:srgbClr val="FFFFFF"/>
                </a:solidFill>
                <a:latin typeface="Inter"/>
              </a:rPr>
              <a:t>Higher top-k: more tokens per step (cost), fewer empties; lower: the reverse</a:t>
            </a:r>
          </a:p>
          <a:p>
            <a:pPr marL="292608" indent="-292608">
              <a:lnSpc>
                <a:spcPct val="120000"/>
              </a:lnSpc>
              <a:spcAft>
                <a:spcPts val="1260"/>
              </a:spcAft>
              <a:buClr>
                <a:srgbClr val="00D4AA"/>
              </a:buClr>
              <a:buFont typeface="Inter"/>
              <a:buChar char="•"/>
            </a:pPr>
            <a:r>
              <a:rPr sz="1800" b="0">
                <a:solidFill>
                  <a:srgbClr val="FFFFFF"/>
                </a:solidFill>
                <a:latin typeface="Inter"/>
              </a:rPr>
              <a:t>Section 6.5 tunes top-k for cost; Section 11 shows what happens when someone tunes it without looking 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Streaming: time to first token and tokens per second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streaming: measuring time to first token and tokens per second on every generation.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AGENT OBSERVABILITY PATTERNS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Streaming: time to first token and tokens per second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Stream a chat completion with usage included and assemble the response.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latency numbers per generation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TTFT: time to first token. What the user feels as "did it hear me?"</a:t>
            </a:r>
          </a:p>
          <a:p>
            <a:pPr marL="292608" indent="-292608">
              <a:lnSpc>
                <a:spcPct val="120000"/>
              </a:lnSpc>
              <a:spcAft>
                <a:spcPts val="1120"/>
              </a:spcAft>
              <a:buClr>
                <a:srgbClr val="00D4AA"/>
              </a:buClr>
              <a:buFont typeface="Inter"/>
              <a:buChar char="•"/>
            </a:pPr>
            <a:r>
              <a:rPr sz="1600" b="0">
                <a:solidFill>
                  <a:srgbClr val="FFFFFF"/>
                </a:solidFill>
                <a:latin typeface="Inter"/>
              </a:rPr>
              <a:t>TPOT: time per output token, after the first. Reading speed.</a:t>
            </a:r>
          </a:p>
          <a:p>
            <a:pPr marL="292608" indent="-292608">
              <a:lnSpc>
                <a:spcPct val="120000"/>
              </a:lnSpc>
              <a:spcAft>
                <a:spcPts val="1120"/>
              </a:spcAft>
              <a:buClr>
                <a:srgbClr val="00D4AA"/>
              </a:buClr>
              <a:buFont typeface="Inter"/>
              <a:buChar char="•"/>
            </a:pPr>
            <a:r>
              <a:rPr sz="1600" b="0">
                <a:solidFill>
                  <a:srgbClr val="FFFFFF"/>
                </a:solidFill>
                <a:latin typeface="Inter"/>
              </a:rPr>
              <a:t>Total: TTFT + (output_tokens − 1) × TPOT. What p95 dashboards usually show.</a:t>
            </a:r>
          </a:p>
          <a:p>
            <a:pPr marL="292608" indent="-292608">
              <a:lnSpc>
                <a:spcPct val="120000"/>
              </a:lnSpc>
              <a:spcAft>
                <a:spcPts val="1120"/>
              </a:spcAft>
              <a:buClr>
                <a:srgbClr val="00D4AA"/>
              </a:buClr>
              <a:buFont typeface="Inter"/>
              <a:buChar char="•"/>
            </a:pPr>
            <a:r>
              <a:rPr sz="1600" b="0">
                <a:solidFill>
                  <a:srgbClr val="FFFFFF"/>
                </a:solidFill>
                <a:latin typeface="Inter"/>
              </a:rPr>
              <a:t>Same total, different TTFT = completely different experience</a:t>
            </a:r>
          </a:p>
        </p:txBody>
      </p:sp>
      <p:pic>
        <p:nvPicPr>
          <p:cNvPr id="6" name="Picture 5" descr="D7-latency-budget-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each number lives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1920240"/>
        </p:xfrm>
        <a:graphic>
          <a:graphicData uri="http://schemas.openxmlformats.org/drawingml/2006/table">
            <a:tbl>
              <a:tblPr firstRow="1" bandRow="1">
                <a:tableStyleId>{5C22544A-7EE6-4342-B048-85BDC9FD1C3A}</a:tableStyleId>
              </a:tblPr>
              <a:tblGrid>
                <a:gridCol w="3957319"/>
                <a:gridCol w="2316480"/>
                <a:gridCol w="5019039"/>
              </a:tblGrid>
              <a:tr h="384048">
                <a:tc>
                  <a:txBody>
                    <a:bodyPr wrap="square"/>
                    <a:lstStyle/>
                    <a:p>
                      <a:r>
                        <a:rPr sz="1200" b="1">
                          <a:solidFill>
                            <a:srgbClr val="0A1628"/>
                          </a:solidFill>
                          <a:latin typeface="Inter"/>
                        </a:rPr>
                        <a:t>Number</a:t>
                      </a:r>
                    </a:p>
                  </a:txBody>
                  <a:tcPr marL="91440" marR="91440" marT="45720" marB="45720" anchor="ctr">
                    <a:solidFill>
                      <a:srgbClr val="00D4AA"/>
                    </a:solidFill>
                  </a:tcPr>
                </a:tc>
                <a:tc>
                  <a:txBody>
                    <a:bodyPr wrap="square"/>
                    <a:lstStyle/>
                    <a:p>
                      <a:r>
                        <a:rPr sz="1200" b="1">
                          <a:solidFill>
                            <a:srgbClr val="0A1628"/>
                          </a:solidFill>
                          <a:latin typeface="Inter"/>
                        </a:rPr>
                        <a:t>Where</a:t>
                      </a:r>
                    </a:p>
                  </a:txBody>
                  <a:tcPr marL="91440" marR="91440" marT="45720" marB="45720" anchor="ctr">
                    <a:solidFill>
                      <a:srgbClr val="00D4AA"/>
                    </a:solidFill>
                  </a:tcPr>
                </a:tc>
                <a:tc>
                  <a:txBody>
                    <a:bodyPr wrap="square"/>
                    <a:lstStyle/>
                    <a:p>
                      <a:r>
                        <a:rPr sz="1200" b="1">
                          <a:solidFill>
                            <a:srgbClr val="0A1628"/>
                          </a:solidFill>
                          <a:latin typeface="Inter"/>
                        </a:rPr>
                        <a:t>Used by</a:t>
                      </a:r>
                    </a:p>
                  </a:txBody>
                  <a:tcPr marL="91440" marR="91440" marT="45720" marB="45720" anchor="ctr">
                    <a:solidFill>
                      <a:srgbClr val="00D4AA"/>
                    </a:solidFill>
                  </a:tcPr>
                </a:tc>
              </a:tr>
              <a:tr h="384048">
                <a:tc>
                  <a:txBody>
                    <a:bodyPr wrap="square"/>
                    <a:lstStyle/>
                    <a:p>
                      <a:r>
                        <a:rPr sz="1104" b="0">
                          <a:solidFill>
                            <a:srgbClr val="00D4AA"/>
                          </a:solidFill>
                          <a:latin typeface="JetBrains Mono"/>
                        </a:rPr>
                        <a:t>completion_start_time</a:t>
                      </a:r>
                    </a:p>
                  </a:txBody>
                  <a:tcPr marL="91440" marR="91440" marT="45720" marB="45720" anchor="ctr">
                    <a:solidFill>
                      <a:srgbClr val="1A2742"/>
                    </a:solidFill>
                  </a:tcPr>
                </a:tc>
                <a:tc>
                  <a:txBody>
                    <a:bodyPr wrap="square"/>
                    <a:lstStyle/>
                    <a:p>
                      <a:r>
                        <a:rPr sz="1200" b="0">
                          <a:solidFill>
                            <a:srgbClr val="FFFFFF"/>
                          </a:solidFill>
                          <a:latin typeface="Inter"/>
                        </a:rPr>
                        <a:t>Langfuse generation</a:t>
                      </a:r>
                    </a:p>
                  </a:txBody>
                  <a:tcPr marL="91440" marR="91440" marT="45720" marB="45720" anchor="ctr">
                    <a:solidFill>
                      <a:srgbClr val="1A2742"/>
                    </a:solidFill>
                  </a:tcPr>
                </a:tc>
                <a:tc>
                  <a:txBody>
                    <a:bodyPr wrap="square"/>
                    <a:lstStyle/>
                    <a:p>
                      <a:r>
                        <a:rPr sz="1200" b="0">
                          <a:solidFill>
                            <a:srgbClr val="FFFFFF"/>
                          </a:solidFill>
                          <a:latin typeface="Inter"/>
                        </a:rPr>
                        <a:t>Langfuse latency views, "time to first token" column</a:t>
                      </a:r>
                    </a:p>
                  </a:txBody>
                  <a:tcPr marL="91440" marR="91440" marT="45720" marB="45720" anchor="ctr">
                    <a:solidFill>
                      <a:srgbClr val="1A2742"/>
                    </a:solidFill>
                  </a:tcPr>
                </a:tc>
              </a:tr>
              <a:tr h="384048">
                <a:tc>
                  <a:txBody>
                    <a:bodyPr wrap="square"/>
                    <a:lstStyle/>
                    <a:p>
                      <a:r>
                        <a:rPr sz="1104" b="0">
                          <a:solidFill>
                            <a:srgbClr val="00D4AA"/>
                          </a:solidFill>
                          <a:latin typeface="JetBrains Mono"/>
                        </a:rPr>
                        <a:t>gen_ai.response.time_to_first_chunk</a:t>
                      </a:r>
                    </a:p>
                  </a:txBody>
                  <a:tcPr marL="91440" marR="91440" marT="45720" marB="45720" anchor="ctr">
                    <a:solidFill>
                      <a:srgbClr val="0F1E35"/>
                    </a:solidFill>
                  </a:tcPr>
                </a:tc>
                <a:tc>
                  <a:txBody>
                    <a:bodyPr wrap="square"/>
                    <a:lstStyle/>
                    <a:p>
                      <a:r>
                        <a:rPr sz="1200" b="0">
                          <a:solidFill>
                            <a:srgbClr val="FFFFFF"/>
                          </a:solidFill>
                          <a:latin typeface="Inter"/>
                        </a:rPr>
                        <a:t>span attribute (seconds)</a:t>
                      </a:r>
                    </a:p>
                  </a:txBody>
                  <a:tcPr marL="91440" marR="91440" marT="45720" marB="45720" anchor="ctr">
                    <a:solidFill>
                      <a:srgbClr val="0F1E35"/>
                    </a:solidFill>
                  </a:tcPr>
                </a:tc>
                <a:tc>
                  <a:txBody>
                    <a:bodyPr wrap="square"/>
                    <a:lstStyle/>
                    <a:p>
                      <a:r>
                        <a:rPr sz="1200" b="0">
                          <a:solidFill>
                            <a:srgbClr val="FFFFFF"/>
                          </a:solidFill>
                          <a:latin typeface="Inter"/>
                        </a:rPr>
                        <a:t>any OTel backend; collector → metrics (Section 9)</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ttft_ms</a:t>
                      </a:r>
                      <a:r>
                        <a:rPr sz="1200" b="1">
                          <a:solidFill>
                            <a:srgbClr val="FFFFFF"/>
                          </a:solidFill>
                          <a:latin typeface="Inter"/>
                        </a:rPr>
                        <a:t>, </a:t>
                      </a:r>
                      <a:r>
                        <a:rPr sz="1104" b="0">
                          <a:solidFill>
                            <a:srgbClr val="00D4AA"/>
                          </a:solidFill>
                          <a:latin typeface="JetBrains Mono"/>
                        </a:rPr>
                        <a:t>tpot_ms</a:t>
                      </a:r>
                    </a:p>
                  </a:txBody>
                  <a:tcPr marL="91440" marR="91440" marT="45720" marB="45720" anchor="ctr">
                    <a:solidFill>
                      <a:srgbClr val="1A2742"/>
                    </a:solidFill>
                  </a:tcPr>
                </a:tc>
                <a:tc>
                  <a:txBody>
                    <a:bodyPr wrap="square"/>
                    <a:lstStyle/>
                    <a:p>
                      <a:r>
                        <a:rPr sz="1200" b="0">
                          <a:solidFill>
                            <a:srgbClr val="FFFFFF"/>
                          </a:solidFill>
                          <a:latin typeface="Inter"/>
                        </a:rPr>
                        <a:t>generation metadata</a:t>
                      </a:r>
                    </a:p>
                  </a:txBody>
                  <a:tcPr marL="91440" marR="91440" marT="45720" marB="45720" anchor="ctr">
                    <a:solidFill>
                      <a:srgbClr val="1A2742"/>
                    </a:solidFill>
                  </a:tcPr>
                </a:tc>
                <a:tc>
                  <a:txBody>
                    <a:bodyPr wrap="square"/>
                    <a:lstStyle/>
                    <a:p>
                      <a:r>
                        <a:rPr sz="1200" b="0">
                          <a:solidFill>
                            <a:srgbClr val="FFFFFF"/>
                          </a:solidFill>
                          <a:latin typeface="Inter"/>
                        </a:rPr>
                        <a:t>Ops Console latency page, Section 7 budgets</a:t>
                      </a:r>
                    </a:p>
                  </a:txBody>
                  <a:tcPr marL="91440" marR="91440" marT="45720" marB="45720" anchor="ctr">
                    <a:solidFill>
                      <a:srgbClr val="1A2742"/>
                    </a:solidFill>
                  </a:tcPr>
                </a:tc>
              </a:tr>
              <a:tr h="384048">
                <a:tc>
                  <a:txBody>
                    <a:bodyPr wrap="square"/>
                    <a:lstStyle/>
                    <a:p>
                      <a:r>
                        <a:rPr sz="1200" b="1">
                          <a:solidFill>
                            <a:srgbClr val="FFFFFF"/>
                          </a:solidFill>
                          <a:latin typeface="Inter"/>
                        </a:rPr>
                        <a:t>Prometheus histogram </a:t>
                      </a:r>
                      <a:r>
                        <a:rPr sz="1104" b="0">
                          <a:solidFill>
                            <a:srgbClr val="00D4AA"/>
                          </a:solidFill>
                          <a:latin typeface="JetBrains Mono"/>
                        </a:rPr>
                        <a:t>atlas_ttft_seconds</a:t>
                      </a:r>
                    </a:p>
                  </a:txBody>
                  <a:tcPr marL="91440" marR="91440" marT="45720" marB="45720" anchor="ctr">
                    <a:solidFill>
                      <a:srgbClr val="0F1E35"/>
                    </a:solidFill>
                  </a:tcPr>
                </a:tc>
                <a:tc>
                  <a:txBody>
                    <a:bodyPr wrap="square"/>
                    <a:lstStyle/>
                    <a:p>
                      <a:r>
                        <a:rPr sz="1104" b="0">
                          <a:solidFill>
                            <a:srgbClr val="00D4AA"/>
                          </a:solidFill>
                          <a:latin typeface="JetBrains Mono"/>
                        </a:rPr>
                        <a:t>/metrics</a:t>
                      </a:r>
                    </a:p>
                  </a:txBody>
                  <a:tcPr marL="91440" marR="91440" marT="45720" marB="45720" anchor="ctr">
                    <a:solidFill>
                      <a:srgbClr val="0F1E35"/>
                    </a:solidFill>
                  </a:tcPr>
                </a:tc>
                <a:tc>
                  <a:txBody>
                    <a:bodyPr wrap="square"/>
                    <a:lstStyle/>
                    <a:p>
                      <a:r>
                        <a:rPr sz="1200" b="0">
                          <a:solidFill>
                            <a:srgbClr val="FFFFFF"/>
                          </a:solidFill>
                          <a:latin typeface="Inter"/>
                        </a:rPr>
                        <a:t>Grafana p95 (Section 9)</a:t>
                      </a:r>
                    </a:p>
                  </a:txBody>
                  <a:tcPr marL="91440" marR="91440" marT="45720" marB="45720" anchor="ctr">
                    <a:solidFill>
                      <a:srgbClr val="0F1E35"/>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Reading TTFT across a day</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p50 TTFT ≈ 350 ms, p95 ≈ 1.1 s on the replayed day</a:t>
            </a:r>
          </a:p>
          <a:p>
            <a:pPr marL="292608" indent="-292608">
              <a:lnSpc>
                <a:spcPct val="120000"/>
              </a:lnSpc>
              <a:spcAft>
                <a:spcPts val="1120"/>
              </a:spcAft>
              <a:buClr>
                <a:srgbClr val="00D4AA"/>
              </a:buClr>
              <a:buFont typeface="Inter"/>
              <a:buChar char="•"/>
            </a:pPr>
            <a:r>
              <a:rPr sz="1600" b="0">
                <a:solidFill>
                  <a:srgbClr val="FFFFFF"/>
                </a:solidFill>
                <a:latin typeface="Inter"/>
              </a:rPr>
              <a:t>TTFT climbs with input tokens: context bloat shows here first</a:t>
            </a:r>
          </a:p>
          <a:p>
            <a:pPr marL="292608" indent="-292608">
              <a:lnSpc>
                <a:spcPct val="120000"/>
              </a:lnSpc>
              <a:spcAft>
                <a:spcPts val="1120"/>
              </a:spcAft>
              <a:buClr>
                <a:srgbClr val="00D4AA"/>
              </a:buClr>
              <a:buFont typeface="Inter"/>
              <a:buChar char="•"/>
            </a:pPr>
            <a:r>
              <a:rPr sz="1600" b="0">
                <a:solidFill>
                  <a:srgbClr val="FFFFFF"/>
                </a:solidFill>
                <a:latin typeface="Inter"/>
              </a:rPr>
              <a:t>TPOT is mostly a property of the model; a jump means a provider change or a slow region</a:t>
            </a:r>
          </a:p>
          <a:p>
            <a:pPr marL="292608" indent="-292608">
              <a:lnSpc>
                <a:spcPct val="120000"/>
              </a:lnSpc>
              <a:spcAft>
                <a:spcPts val="1120"/>
              </a:spcAft>
              <a:buClr>
                <a:srgbClr val="00D4AA"/>
              </a:buClr>
              <a:buFont typeface="Inter"/>
              <a:buChar char="•"/>
            </a:pPr>
            <a:r>
              <a:rPr sz="1600" b="0">
                <a:solidFill>
                  <a:srgbClr val="FFFFFF"/>
                </a:solidFill>
                <a:latin typeface="Inter"/>
              </a:rPr>
              <a:t>Section 7 sets budgets: TTFT p95 under 1.5 s, total p95 under 4 s</a:t>
            </a:r>
          </a:p>
        </p:txBody>
      </p:sp>
      <p:pic>
        <p:nvPicPr>
          <p:cNvPr id="6" name="Picture 5" descr="D7-latency-budget-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Logs vs traces vs metrics for agents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a slides lecture on the three signals: when an agent should log, when it should trace, and…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AGENT OBSERVABILITY PATTERNS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Logs vs traces vs metrics for agents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Decide, for a given fact about an agent, whether it belongs in a log, a span or a metric.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Three signals, three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1755648"/>
        </p:xfrm>
        <a:graphic>
          <a:graphicData uri="http://schemas.openxmlformats.org/drawingml/2006/table">
            <a:tbl>
              <a:tblPr firstRow="1" bandRow="1">
                <a:tableStyleId>{5C22544A-7EE6-4342-B048-85BDC9FD1C3A}</a:tableStyleId>
              </a:tblPr>
              <a:tblGrid>
                <a:gridCol w="787872"/>
                <a:gridCol w="5121171"/>
                <a:gridCol w="3020178"/>
                <a:gridCol w="2363617"/>
              </a:tblGrid>
              <a:tr h="438912">
                <a:tc>
                  <a:txBody>
                    <a:bodyPr wrap="square"/>
                    <a:lstStyle/>
                    <a:p>
                      <a:r>
                        <a:rPr sz="1400" b="1">
                          <a:solidFill>
                            <a:srgbClr val="0A1628"/>
                          </a:solidFill>
                          <a:latin typeface="Inter"/>
                        </a:rPr>
                        <a:t>Signal</a:t>
                      </a:r>
                    </a:p>
                  </a:txBody>
                  <a:tcPr marL="91440" marR="91440" marT="45720" marB="45720" anchor="ctr">
                    <a:solidFill>
                      <a:srgbClr val="00D4AA"/>
                    </a:solidFill>
                  </a:tcPr>
                </a:tc>
                <a:tc>
                  <a:txBody>
                    <a:bodyPr wrap="square"/>
                    <a:lstStyle/>
                    <a:p>
                      <a:r>
                        <a:rPr sz="1400" b="1">
                          <a:solidFill>
                            <a:srgbClr val="0A1628"/>
                          </a:solidFill>
                          <a:latin typeface="Inter"/>
                        </a:rPr>
                        <a:t>Answers</a:t>
                      </a:r>
                    </a:p>
                  </a:txBody>
                  <a:tcPr marL="91440" marR="91440" marT="45720" marB="45720" anchor="ctr">
                    <a:solidFill>
                      <a:srgbClr val="00D4AA"/>
                    </a:solidFill>
                  </a:tcPr>
                </a:tc>
                <a:tc>
                  <a:txBody>
                    <a:bodyPr wrap="square"/>
                    <a:lstStyle/>
                    <a:p>
                      <a:r>
                        <a:rPr sz="1400" b="1">
                          <a:solidFill>
                            <a:srgbClr val="0A1628"/>
                          </a:solidFill>
                          <a:latin typeface="Inter"/>
                        </a:rPr>
                        <a:t>Shape</a:t>
                      </a:r>
                    </a:p>
                  </a:txBody>
                  <a:tcPr marL="91440" marR="91440" marT="45720" marB="45720" anchor="ctr">
                    <a:solidFill>
                      <a:srgbClr val="00D4AA"/>
                    </a:solidFill>
                  </a:tcPr>
                </a:tc>
                <a:tc>
                  <a:txBody>
                    <a:bodyPr wrap="square"/>
                    <a:lstStyle/>
                    <a:p>
                      <a:r>
                        <a:rPr sz="1400" b="1">
                          <a:solidFill>
                            <a:srgbClr val="0A1628"/>
                          </a:solidFill>
                          <a:latin typeface="Inter"/>
                        </a:rPr>
                        <a:t>Cost grows with</a:t>
                      </a:r>
                    </a:p>
                  </a:txBody>
                  <a:tcPr marL="91440" marR="91440" marT="45720" marB="45720" anchor="ctr">
                    <a:solidFill>
                      <a:srgbClr val="00D4AA"/>
                    </a:solidFill>
                  </a:tcPr>
                </a:tc>
              </a:tr>
              <a:tr h="438912">
                <a:tc>
                  <a:txBody>
                    <a:bodyPr wrap="square"/>
                    <a:lstStyle/>
                    <a:p>
                      <a:r>
                        <a:rPr sz="1400" b="1">
                          <a:solidFill>
                            <a:srgbClr val="FFFFFF"/>
                          </a:solidFill>
                          <a:latin typeface="Inter"/>
                        </a:rPr>
                        <a:t>Trace</a:t>
                      </a:r>
                    </a:p>
                  </a:txBody>
                  <a:tcPr marL="91440" marR="91440" marT="45720" marB="45720" anchor="ctr">
                    <a:solidFill>
                      <a:srgbClr val="1A2742"/>
                    </a:solidFill>
                  </a:tcPr>
                </a:tc>
                <a:tc>
                  <a:txBody>
                    <a:bodyPr wrap="square"/>
                    <a:lstStyle/>
                    <a:p>
                      <a:r>
                        <a:rPr sz="1400" b="0">
                          <a:solidFill>
                            <a:srgbClr val="FFFFFF"/>
                          </a:solidFill>
                          <a:latin typeface="Inter"/>
                        </a:rPr>
                        <a:t>what happened in this request, in order</a:t>
                      </a:r>
                    </a:p>
                  </a:txBody>
                  <a:tcPr marL="91440" marR="91440" marT="45720" marB="45720" anchor="ctr">
                    <a:solidFill>
                      <a:srgbClr val="1A2742"/>
                    </a:solidFill>
                  </a:tcPr>
                </a:tc>
                <a:tc>
                  <a:txBody>
                    <a:bodyPr wrap="square"/>
                    <a:lstStyle/>
                    <a:p>
                      <a:r>
                        <a:rPr sz="1400" b="0">
                          <a:solidFill>
                            <a:srgbClr val="FFFFFF"/>
                          </a:solidFill>
                          <a:latin typeface="Inter"/>
                        </a:rPr>
                        <a:t>tree of spans</a:t>
                      </a:r>
                    </a:p>
                  </a:txBody>
                  <a:tcPr marL="91440" marR="91440" marT="45720" marB="45720" anchor="ctr">
                    <a:solidFill>
                      <a:srgbClr val="1A2742"/>
                    </a:solidFill>
                  </a:tcPr>
                </a:tc>
                <a:tc>
                  <a:txBody>
                    <a:bodyPr wrap="square"/>
                    <a:lstStyle/>
                    <a:p>
                      <a:r>
                        <a:rPr sz="1400" b="0">
                          <a:solidFill>
                            <a:srgbClr val="FFFFFF"/>
                          </a:solidFill>
                          <a:latin typeface="Inter"/>
                        </a:rPr>
                        <a:t>requests × spans</a:t>
                      </a:r>
                    </a:p>
                  </a:txBody>
                  <a:tcPr marL="91440" marR="91440" marT="45720" marB="45720" anchor="ctr">
                    <a:solidFill>
                      <a:srgbClr val="1A2742"/>
                    </a:solidFill>
                  </a:tcPr>
                </a:tc>
              </a:tr>
              <a:tr h="438912">
                <a:tc>
                  <a:txBody>
                    <a:bodyPr wrap="square"/>
                    <a:lstStyle/>
                    <a:p>
                      <a:r>
                        <a:rPr sz="1400" b="1">
                          <a:solidFill>
                            <a:srgbClr val="FFFFFF"/>
                          </a:solidFill>
                          <a:latin typeface="Inter"/>
                        </a:rPr>
                        <a:t>Metric</a:t>
                      </a:r>
                    </a:p>
                  </a:txBody>
                  <a:tcPr marL="91440" marR="91440" marT="45720" marB="45720" anchor="ctr">
                    <a:solidFill>
                      <a:srgbClr val="0F1E35"/>
                    </a:solidFill>
                  </a:tcPr>
                </a:tc>
                <a:tc>
                  <a:txBody>
                    <a:bodyPr wrap="square"/>
                    <a:lstStyle/>
                    <a:p>
                      <a:r>
                        <a:rPr sz="1400" b="0">
                          <a:solidFill>
                            <a:srgbClr val="FFFFFF"/>
                          </a:solidFill>
                          <a:latin typeface="Inter"/>
                        </a:rPr>
                        <a:t>how much, how often, right now</a:t>
                      </a:r>
                    </a:p>
                  </a:txBody>
                  <a:tcPr marL="91440" marR="91440" marT="45720" marB="45720" anchor="ctr">
                    <a:solidFill>
                      <a:srgbClr val="0F1E35"/>
                    </a:solidFill>
                  </a:tcPr>
                </a:tc>
                <a:tc>
                  <a:txBody>
                    <a:bodyPr wrap="square"/>
                    <a:lstStyle/>
                    <a:p>
                      <a:r>
                        <a:rPr sz="1400" b="0">
                          <a:solidFill>
                            <a:srgbClr val="FFFFFF"/>
                          </a:solidFill>
                          <a:latin typeface="Inter"/>
                        </a:rPr>
                        <a:t>number series over time</a:t>
                      </a:r>
                    </a:p>
                  </a:txBody>
                  <a:tcPr marL="91440" marR="91440" marT="45720" marB="45720" anchor="ctr">
                    <a:solidFill>
                      <a:srgbClr val="0F1E35"/>
                    </a:solidFill>
                  </a:tcPr>
                </a:tc>
                <a:tc>
                  <a:txBody>
                    <a:bodyPr wrap="square"/>
                    <a:lstStyle/>
                    <a:p>
                      <a:r>
                        <a:rPr sz="1400" b="0">
                          <a:solidFill>
                            <a:srgbClr val="FFFFFF"/>
                          </a:solidFill>
                          <a:latin typeface="Inter"/>
                        </a:rPr>
                        <a:t>label combinations</a:t>
                      </a:r>
                    </a:p>
                  </a:txBody>
                  <a:tcPr marL="91440" marR="91440" marT="45720" marB="45720" anchor="ctr">
                    <a:solidFill>
                      <a:srgbClr val="0F1E35"/>
                    </a:solidFill>
                  </a:tcPr>
                </a:tc>
              </a:tr>
              <a:tr h="438912">
                <a:tc>
                  <a:txBody>
                    <a:bodyPr wrap="square"/>
                    <a:lstStyle/>
                    <a:p>
                      <a:r>
                        <a:rPr sz="1400" b="1">
                          <a:solidFill>
                            <a:srgbClr val="FFFFFF"/>
                          </a:solidFill>
                          <a:latin typeface="Inter"/>
                        </a:rPr>
                        <a:t>Log</a:t>
                      </a:r>
                    </a:p>
                  </a:txBody>
                  <a:tcPr marL="91440" marR="91440" marT="45720" marB="45720" anchor="ctr">
                    <a:solidFill>
                      <a:srgbClr val="1A2742"/>
                    </a:solidFill>
                  </a:tcPr>
                </a:tc>
                <a:tc>
                  <a:txBody>
                    <a:bodyPr wrap="square"/>
                    <a:lstStyle/>
                    <a:p>
                      <a:r>
                        <a:rPr sz="1400" b="0">
                          <a:solidFill>
                            <a:srgbClr val="FFFFFF"/>
                          </a:solidFill>
                          <a:latin typeface="Inter"/>
                        </a:rPr>
                        <a:t>what did the code say at this moment</a:t>
                      </a:r>
                    </a:p>
                  </a:txBody>
                  <a:tcPr marL="91440" marR="91440" marT="45720" marB="45720" anchor="ctr">
                    <a:solidFill>
                      <a:srgbClr val="1A2742"/>
                    </a:solidFill>
                  </a:tcPr>
                </a:tc>
                <a:tc>
                  <a:txBody>
                    <a:bodyPr wrap="square"/>
                    <a:lstStyle/>
                    <a:p>
                      <a:r>
                        <a:rPr sz="1400" b="0">
                          <a:solidFill>
                            <a:srgbClr val="FFFFFF"/>
                          </a:solidFill>
                          <a:latin typeface="Inter"/>
                        </a:rPr>
                        <a:t>line of text or JSON</a:t>
                      </a:r>
                    </a:p>
                  </a:txBody>
                  <a:tcPr marL="91440" marR="91440" marT="45720" marB="45720" anchor="ctr">
                    <a:solidFill>
                      <a:srgbClr val="1A2742"/>
                    </a:solidFill>
                  </a:tcPr>
                </a:tc>
                <a:tc>
                  <a:txBody>
                    <a:bodyPr wrap="square"/>
                    <a:lstStyle/>
                    <a:p>
                      <a:r>
                        <a:rPr sz="1400" b="0">
                          <a:solidFill>
                            <a:srgbClr val="FFFFFF"/>
                          </a:solidFill>
                          <a:latin typeface="Inter"/>
                        </a:rPr>
                        <a:t>lines</a:t>
                      </a:r>
                    </a:p>
                  </a:txBody>
                  <a:tcPr marL="91440" marR="91440" marT="45720" marB="45720" anchor="ctr">
                    <a:solidFill>
                      <a:srgbClr val="1A2742"/>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five-second rule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Is it about one request, in sequence? → span or event on the span</a:t>
            </a:r>
          </a:p>
          <a:p>
            <a:pPr marL="292608" indent="-292608">
              <a:lnSpc>
                <a:spcPct val="120000"/>
              </a:lnSpc>
              <a:spcAft>
                <a:spcPts val="1260"/>
              </a:spcAft>
              <a:buClr>
                <a:srgbClr val="00D4AA"/>
              </a:buClr>
              <a:buFont typeface="Inter"/>
              <a:buChar char="•"/>
            </a:pPr>
            <a:r>
              <a:rPr sz="1800" b="0">
                <a:solidFill>
                  <a:srgbClr val="FFFFFF"/>
                </a:solidFill>
                <a:latin typeface="Inter"/>
              </a:rPr>
              <a:t>Is it a number you'd graph over time or alert on? → metric</a:t>
            </a:r>
          </a:p>
          <a:p>
            <a:pPr marL="292608" indent="-292608">
              <a:lnSpc>
                <a:spcPct val="120000"/>
              </a:lnSpc>
              <a:spcAft>
                <a:spcPts val="1260"/>
              </a:spcAft>
              <a:buClr>
                <a:srgbClr val="00D4AA"/>
              </a:buClr>
              <a:buFont typeface="Inter"/>
              <a:buChar char="•"/>
            </a:pPr>
            <a:r>
              <a:rPr sz="1800" b="0">
                <a:solidFill>
                  <a:srgbClr val="FFFFFF"/>
                </a:solidFill>
                <a:latin typeface="Inter"/>
              </a:rPr>
              <a:t>Is it a message for a human debugging later? → log, with </a:t>
            </a:r>
            <a:r>
              <a:rPr sz="1656" b="0">
                <a:solidFill>
                  <a:srgbClr val="00D4AA"/>
                </a:solidFill>
                <a:latin typeface="JetBrains Mono"/>
              </a:rPr>
              <a:t>trace_id</a:t>
            </a:r>
          </a:p>
          <a:p>
            <a:pPr marL="292608" indent="-292608">
              <a:lnSpc>
                <a:spcPct val="120000"/>
              </a:lnSpc>
              <a:spcAft>
                <a:spcPts val="1260"/>
              </a:spcAft>
              <a:buClr>
                <a:srgbClr val="00D4AA"/>
              </a:buClr>
              <a:buFont typeface="Inter"/>
              <a:buChar char="•"/>
            </a:pPr>
            <a:r>
              <a:rPr sz="1800" b="0">
                <a:solidFill>
                  <a:srgbClr val="FFFFFF"/>
                </a:solidFill>
                <a:latin typeface="Inter"/>
              </a:rPr>
              <a:t>Is it both? → span first; derive the metric from spans or emit both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Agent examples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3456432"/>
        </p:xfrm>
        <a:graphic>
          <a:graphicData uri="http://schemas.openxmlformats.org/drawingml/2006/table">
            <a:tbl>
              <a:tblPr firstRow="1" bandRow="1">
                <a:tableStyleId>{5C22544A-7EE6-4342-B048-85BDC9FD1C3A}</a:tableStyleId>
              </a:tblPr>
              <a:tblGrid>
                <a:gridCol w="5243104"/>
                <a:gridCol w="6049735"/>
              </a:tblGrid>
              <a:tr h="384048">
                <a:tc>
                  <a:txBody>
                    <a:bodyPr wrap="square"/>
                    <a:lstStyle/>
                    <a:p>
                      <a:r>
                        <a:rPr sz="1100" b="1">
                          <a:solidFill>
                            <a:srgbClr val="0A1628"/>
                          </a:solidFill>
                          <a:latin typeface="Inter"/>
                        </a:rPr>
                        <a:t>Fact</a:t>
                      </a:r>
                    </a:p>
                  </a:txBody>
                  <a:tcPr marL="91440" marR="91440" marT="45720" marB="45720" anchor="ctr">
                    <a:solidFill>
                      <a:srgbClr val="00D4AA"/>
                    </a:solidFill>
                  </a:tcPr>
                </a:tc>
                <a:tc>
                  <a:txBody>
                    <a:bodyPr wrap="square"/>
                    <a:lstStyle/>
                    <a:p>
                      <a:r>
                        <a:rPr sz="1100" b="1">
                          <a:solidFill>
                            <a:srgbClr val="0A1628"/>
                          </a:solidFill>
                          <a:latin typeface="Inter"/>
                        </a:rPr>
                        <a:t>Signal</a:t>
                      </a:r>
                    </a:p>
                  </a:txBody>
                  <a:tcPr marL="91440" marR="91440" marT="45720" marB="45720" anchor="ctr">
                    <a:solidFill>
                      <a:srgbClr val="00D4AA"/>
                    </a:solidFill>
                  </a:tcPr>
                </a:tc>
              </a:tr>
              <a:tr h="384048">
                <a:tc>
                  <a:txBody>
                    <a:bodyPr wrap="square"/>
                    <a:lstStyle/>
                    <a:p>
                      <a:r>
                        <a:rPr sz="1100" b="1">
                          <a:solidFill>
                            <a:srgbClr val="FFFFFF"/>
                          </a:solidFill>
                          <a:latin typeface="Inter"/>
                        </a:rPr>
                        <a:t>The model chose </a:t>
                      </a:r>
                      <a:r>
                        <a:rPr sz="1012" b="0">
                          <a:solidFill>
                            <a:srgbClr val="00D4AA"/>
                          </a:solidFill>
                          <a:latin typeface="JetBrains Mono"/>
                        </a:rPr>
                        <a:t>lookup_ticket</a:t>
                      </a:r>
                      <a:r>
                        <a:rPr sz="1100" b="1">
                          <a:solidFill>
                            <a:srgbClr val="FFFFFF"/>
                          </a:solidFill>
                          <a:latin typeface="Inter"/>
                        </a:rPr>
                        <a:t> with these arguments</a:t>
                      </a:r>
                    </a:p>
                  </a:txBody>
                  <a:tcPr marL="91440" marR="91440" marT="45720" marB="45720" anchor="ctr">
                    <a:solidFill>
                      <a:srgbClr val="1A2742"/>
                    </a:solidFill>
                  </a:tcPr>
                </a:tc>
                <a:tc>
                  <a:txBody>
                    <a:bodyPr wrap="square"/>
                    <a:lstStyle/>
                    <a:p>
                      <a:r>
                        <a:rPr sz="1100" b="0">
                          <a:solidFill>
                            <a:srgbClr val="FFFFFF"/>
                          </a:solidFill>
                          <a:latin typeface="Inter"/>
                        </a:rPr>
                        <a:t>span (tool observation)</a:t>
                      </a:r>
                    </a:p>
                  </a:txBody>
                  <a:tcPr marL="91440" marR="91440" marT="45720" marB="45720" anchor="ctr">
                    <a:solidFill>
                      <a:srgbClr val="1A2742"/>
                    </a:solidFill>
                  </a:tcPr>
                </a:tc>
              </a:tr>
              <a:tr h="384048">
                <a:tc>
                  <a:txBody>
                    <a:bodyPr wrap="square"/>
                    <a:lstStyle/>
                    <a:p>
                      <a:r>
                        <a:rPr sz="1100" b="1">
                          <a:solidFill>
                            <a:srgbClr val="FFFFFF"/>
                          </a:solidFill>
                          <a:latin typeface="Inter"/>
                        </a:rPr>
                        <a:t>Tool error rate for </a:t>
                      </a:r>
                      <a:r>
                        <a:rPr sz="1012" b="0">
                          <a:solidFill>
                            <a:srgbClr val="00D4AA"/>
                          </a:solidFill>
                          <a:latin typeface="JetBrains Mono"/>
                        </a:rPr>
                        <a:t>lookup_ticket</a:t>
                      </a:r>
                      <a:r>
                        <a:rPr sz="1100" b="1">
                          <a:solidFill>
                            <a:srgbClr val="FFFFFF"/>
                          </a:solidFill>
                          <a:latin typeface="Inter"/>
                        </a:rPr>
                        <a:t>, last 5 minutes</a:t>
                      </a:r>
                    </a:p>
                  </a:txBody>
                  <a:tcPr marL="91440" marR="91440" marT="45720" marB="45720" anchor="ctr">
                    <a:solidFill>
                      <a:srgbClr val="0F1E35"/>
                    </a:solidFill>
                  </a:tcPr>
                </a:tc>
                <a:tc>
                  <a:txBody>
                    <a:bodyPr wrap="square"/>
                    <a:lstStyle/>
                    <a:p>
                      <a:r>
                        <a:rPr sz="1100" b="0">
                          <a:solidFill>
                            <a:srgbClr val="FFFFFF"/>
                          </a:solidFill>
                          <a:latin typeface="Inter"/>
                        </a:rPr>
                        <a:t>metric: </a:t>
                      </a:r>
                      <a:r>
                        <a:rPr sz="1012" b="0">
                          <a:solidFill>
                            <a:srgbClr val="00D4AA"/>
                          </a:solidFill>
                          <a:latin typeface="JetBrains Mono"/>
                        </a:rPr>
                        <a:t>atlas_tool_calls_total{tool, outcome}</a:t>
                      </a:r>
                    </a:p>
                  </a:txBody>
                  <a:tcPr marL="91440" marR="91440" marT="45720" marB="45720" anchor="ctr">
                    <a:solidFill>
                      <a:srgbClr val="0F1E35"/>
                    </a:solidFill>
                  </a:tcPr>
                </a:tc>
              </a:tr>
              <a:tr h="384048">
                <a:tc>
                  <a:txBody>
                    <a:bodyPr wrap="square"/>
                    <a:lstStyle/>
                    <a:p>
                      <a:r>
                        <a:rPr sz="1100" b="1">
                          <a:solidFill>
                            <a:srgbClr val="FFFFFF"/>
                          </a:solidFill>
                          <a:latin typeface="Inter"/>
                        </a:rPr>
                        <a:t>Step limit reached in this conversation</a:t>
                      </a:r>
                    </a:p>
                  </a:txBody>
                  <a:tcPr marL="91440" marR="91440" marT="45720" marB="45720" anchor="ctr">
                    <a:solidFill>
                      <a:srgbClr val="1A2742"/>
                    </a:solidFill>
                  </a:tcPr>
                </a:tc>
                <a:tc>
                  <a:txBody>
                    <a:bodyPr wrap="square"/>
                    <a:lstStyle/>
                    <a:p>
                      <a:r>
                        <a:rPr sz="1100" b="0">
                          <a:solidFill>
                            <a:srgbClr val="FFFFFF"/>
                          </a:solidFill>
                          <a:latin typeface="Inter"/>
                        </a:rPr>
                        <a:t>event on the span + score; and metric </a:t>
                      </a:r>
                      <a:r>
                        <a:rPr sz="1012" b="0">
                          <a:solidFill>
                            <a:srgbClr val="00D4AA"/>
                          </a:solidFill>
                          <a:latin typeface="JetBrains Mono"/>
                        </a:rPr>
                        <a:t>atlas_step_limit_total{tenant}</a:t>
                      </a:r>
                    </a:p>
                  </a:txBody>
                  <a:tcPr marL="91440" marR="91440" marT="45720" marB="45720" anchor="ctr">
                    <a:solidFill>
                      <a:srgbClr val="1A2742"/>
                    </a:solidFill>
                  </a:tcPr>
                </a:tc>
              </a:tr>
              <a:tr h="384048">
                <a:tc>
                  <a:txBody>
                    <a:bodyPr wrap="square"/>
                    <a:lstStyle/>
                    <a:p>
                      <a:r>
                        <a:rPr sz="1100" b="1">
                          <a:solidFill>
                            <a:srgbClr val="FFFFFF"/>
                          </a:solidFill>
                          <a:latin typeface="Inter"/>
                        </a:rPr>
                        <a:t>Cost of this generation</a:t>
                      </a:r>
                    </a:p>
                  </a:txBody>
                  <a:tcPr marL="91440" marR="91440" marT="45720" marB="45720" anchor="ctr">
                    <a:solidFill>
                      <a:srgbClr val="0F1E35"/>
                    </a:solidFill>
                  </a:tcPr>
                </a:tc>
                <a:tc>
                  <a:txBody>
                    <a:bodyPr wrap="square"/>
                    <a:lstStyle/>
                    <a:p>
                      <a:r>
                        <a:rPr sz="1100" b="0">
                          <a:solidFill>
                            <a:srgbClr val="FFFFFF"/>
                          </a:solidFill>
                          <a:latin typeface="Inter"/>
                        </a:rPr>
                        <a:t>span (generation cost_details)</a:t>
                      </a:r>
                    </a:p>
                  </a:txBody>
                  <a:tcPr marL="91440" marR="91440" marT="45720" marB="45720" anchor="ctr">
                    <a:solidFill>
                      <a:srgbClr val="0F1E35"/>
                    </a:solidFill>
                  </a:tcPr>
                </a:tc>
              </a:tr>
              <a:tr h="384048">
                <a:tc>
                  <a:txBody>
                    <a:bodyPr wrap="square"/>
                    <a:lstStyle/>
                    <a:p>
                      <a:r>
                        <a:rPr sz="1100" b="1">
                          <a:solidFill>
                            <a:srgbClr val="FFFFFF"/>
                          </a:solidFill>
                          <a:latin typeface="Inter"/>
                        </a:rPr>
                        <a:t>Cost per hour by tenant</a:t>
                      </a:r>
                    </a:p>
                  </a:txBody>
                  <a:tcPr marL="91440" marR="91440" marT="45720" marB="45720" anchor="ctr">
                    <a:solidFill>
                      <a:srgbClr val="1A2742"/>
                    </a:solidFill>
                  </a:tcPr>
                </a:tc>
                <a:tc>
                  <a:txBody>
                    <a:bodyPr wrap="square"/>
                    <a:lstStyle/>
                    <a:p>
                      <a:r>
                        <a:rPr sz="1100" b="0">
                          <a:solidFill>
                            <a:srgbClr val="FFFFFF"/>
                          </a:solidFill>
                          <a:latin typeface="Inter"/>
                        </a:rPr>
                        <a:t>metric: </a:t>
                      </a:r>
                      <a:r>
                        <a:rPr sz="1012" b="0">
                          <a:solidFill>
                            <a:srgbClr val="00D4AA"/>
                          </a:solidFill>
                          <a:latin typeface="JetBrains Mono"/>
                        </a:rPr>
                        <a:t>atlas_cost_usd_total{tenant, model}</a:t>
                      </a:r>
                    </a:p>
                  </a:txBody>
                  <a:tcPr marL="91440" marR="91440" marT="45720" marB="45720" anchor="ctr">
                    <a:solidFill>
                      <a:srgbClr val="1A2742"/>
                    </a:solidFill>
                  </a:tcPr>
                </a:tc>
              </a:tr>
              <a:tr h="384048">
                <a:tc>
                  <a:txBody>
                    <a:bodyPr wrap="square"/>
                    <a:lstStyle/>
                    <a:p>
                      <a:r>
                        <a:rPr sz="1100" b="1">
                          <a:solidFill>
                            <a:srgbClr val="FFFFFF"/>
                          </a:solidFill>
                          <a:latin typeface="Inter"/>
                        </a:rPr>
                        <a:t>"Prompt fetched from fallback: Langfuse unreachable"</a:t>
                      </a:r>
                    </a:p>
                  </a:txBody>
                  <a:tcPr marL="91440" marR="91440" marT="45720" marB="45720" anchor="ctr">
                    <a:solidFill>
                      <a:srgbClr val="0F1E35"/>
                    </a:solidFill>
                  </a:tcPr>
                </a:tc>
                <a:tc>
                  <a:txBody>
                    <a:bodyPr wrap="square"/>
                    <a:lstStyle/>
                    <a:p>
                      <a:r>
                        <a:rPr sz="1100" b="0">
                          <a:solidFill>
                            <a:srgbClr val="FFFFFF"/>
                          </a:solidFill>
                          <a:latin typeface="Inter"/>
                        </a:rPr>
                        <a:t>log, WARNING, with trace_id</a:t>
                      </a:r>
                    </a:p>
                  </a:txBody>
                  <a:tcPr marL="91440" marR="91440" marT="45720" marB="45720" anchor="ctr">
                    <a:solidFill>
                      <a:srgbClr val="0F1E35"/>
                    </a:solidFill>
                  </a:tcPr>
                </a:tc>
              </a:tr>
              <a:tr h="384048">
                <a:tc>
                  <a:txBody>
                    <a:bodyPr wrap="square"/>
                    <a:lstStyle/>
                    <a:p>
                      <a:r>
                        <a:rPr sz="1100" b="1">
                          <a:solidFill>
                            <a:srgbClr val="FFFFFF"/>
                          </a:solidFill>
                          <a:latin typeface="Inter"/>
                        </a:rPr>
                        <a:t>TTFT of this generation</a:t>
                      </a:r>
                    </a:p>
                  </a:txBody>
                  <a:tcPr marL="91440" marR="91440" marT="45720" marB="45720" anchor="ctr">
                    <a:solidFill>
                      <a:srgbClr val="1A2742"/>
                    </a:solidFill>
                  </a:tcPr>
                </a:tc>
                <a:tc>
                  <a:txBody>
                    <a:bodyPr wrap="square"/>
                    <a:lstStyle/>
                    <a:p>
                      <a:r>
                        <a:rPr sz="1100" b="0">
                          <a:solidFill>
                            <a:srgbClr val="FFFFFF"/>
                          </a:solidFill>
                          <a:latin typeface="Inter"/>
                        </a:rPr>
                        <a:t>span (completion_start_time)</a:t>
                      </a:r>
                    </a:p>
                  </a:txBody>
                  <a:tcPr marL="91440" marR="91440" marT="45720" marB="45720" anchor="ctr">
                    <a:solidFill>
                      <a:srgbClr val="1A2742"/>
                    </a:solidFill>
                  </a:tcPr>
                </a:tc>
              </a:tr>
              <a:tr h="384048">
                <a:tc>
                  <a:txBody>
                    <a:bodyPr wrap="square"/>
                    <a:lstStyle/>
                    <a:p>
                      <a:r>
                        <a:rPr sz="1100" b="1">
                          <a:solidFill>
                            <a:srgbClr val="FFFFFF"/>
                          </a:solidFill>
                          <a:latin typeface="Inter"/>
                        </a:rPr>
                        <a:t>TTFT p95 today</a:t>
                      </a:r>
                    </a:p>
                  </a:txBody>
                  <a:tcPr marL="91440" marR="91440" marT="45720" marB="45720" anchor="ctr">
                    <a:solidFill>
                      <a:srgbClr val="0F1E35"/>
                    </a:solidFill>
                  </a:tcPr>
                </a:tc>
                <a:tc>
                  <a:txBody>
                    <a:bodyPr wrap="square"/>
                    <a:lstStyle/>
                    <a:p>
                      <a:r>
                        <a:rPr sz="1100" b="0">
                          <a:solidFill>
                            <a:srgbClr val="FFFFFF"/>
                          </a:solidFill>
                          <a:latin typeface="Inter"/>
                        </a:rPr>
                        <a:t>metric: histogram </a:t>
                      </a:r>
                      <a:r>
                        <a:rPr sz="1012" b="0">
                          <a:solidFill>
                            <a:srgbClr val="00D4AA"/>
                          </a:solidFill>
                          <a:latin typeface="JetBrains Mono"/>
                        </a:rPr>
                        <a:t>atlas_ttft_seconds{model}</a:t>
                      </a:r>
                    </a:p>
                  </a:txBody>
                  <a:tcPr marL="91440" marR="91440" marT="45720" marB="45720" anchor="ctr">
                    <a:solidFill>
                      <a:srgbClr val="0F1E35"/>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Logs that are worth having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472" b="0">
                <a:solidFill>
                  <a:srgbClr val="00D4AA"/>
                </a:solidFill>
                <a:latin typeface="JetBrains Mono"/>
              </a:rPr>
              <a:t>telemetry/logging_setup.py</a:t>
            </a:r>
            <a:r>
              <a:rPr sz="1600" b="0">
                <a:solidFill>
                  <a:srgbClr val="FFFFFF"/>
                </a:solidFill>
                <a:latin typeface="Inter"/>
              </a:rPr>
              <a:t>: JSON formatter that reads the current span context</a:t>
            </a:r>
          </a:p>
          <a:p>
            <a:pPr marL="292608" indent="-292608">
              <a:lnSpc>
                <a:spcPct val="120000"/>
              </a:lnSpc>
              <a:spcAft>
                <a:spcPts val="1120"/>
              </a:spcAft>
              <a:buClr>
                <a:srgbClr val="00D4AA"/>
              </a:buClr>
              <a:buFont typeface="Inter"/>
              <a:buChar char="•"/>
            </a:pPr>
            <a:r>
              <a:rPr sz="1600" b="0">
                <a:solidFill>
                  <a:srgbClr val="FFFFFF"/>
                </a:solidFill>
                <a:latin typeface="Inter"/>
              </a:rPr>
              <a:t>Paste the </a:t>
            </a:r>
            <a:r>
              <a:rPr sz="1472" b="0">
                <a:solidFill>
                  <a:srgbClr val="00D4AA"/>
                </a:solidFill>
                <a:latin typeface="JetBrains Mono"/>
              </a:rPr>
              <a:t>trace_id</a:t>
            </a:r>
            <a:r>
              <a:rPr sz="1600" b="0">
                <a:solidFill>
                  <a:srgbClr val="FFFFFF"/>
                </a:solidFill>
                <a:latin typeface="Inter"/>
              </a:rPr>
              <a:t> into Langfuse: the whole request appears</a:t>
            </a:r>
          </a:p>
          <a:p>
            <a:pPr marL="292608" indent="-292608">
              <a:lnSpc>
                <a:spcPct val="120000"/>
              </a:lnSpc>
              <a:spcAft>
                <a:spcPts val="1120"/>
              </a:spcAft>
              <a:buClr>
                <a:srgbClr val="00D4AA"/>
              </a:buClr>
              <a:buFont typeface="Inter"/>
              <a:buChar char="•"/>
            </a:pPr>
            <a:r>
              <a:rPr sz="1600" b="0">
                <a:solidFill>
                  <a:srgbClr val="FFFFFF"/>
                </a:solidFill>
                <a:latin typeface="Inter"/>
              </a:rPr>
              <a:t>No message bodies, no PII in logs; that's what masked spans are for</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json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200">
                <a:solidFill>
                  <a:srgbClr val="FFFFFF"/>
                </a:solidFill>
                <a:latin typeface="JetBrains Mono"/>
              </a:rPr>
              <a:t>{"ts": "2026-09-28T14:02:07Z", "level": "WARNING", "logger": "atlas.prompts",</a:t>
            </a:r>
          </a:p>
          <a:p>
            <a:r>
              <a:rPr sz="1200">
                <a:solidFill>
                  <a:srgbClr val="FFFFFF"/>
                </a:solidFill>
                <a:latin typeface="JetBrains Mono"/>
              </a:rPr>
              <a:t> "msg": "prompt fetched from fallback", "prompt": "atlas-system",</a:t>
            </a:r>
          </a:p>
          <a:p>
            <a:r>
              <a:rPr sz="1200">
                <a:solidFill>
                  <a:srgbClr val="FFFFFF"/>
                </a:solidFill>
                <a:latin typeface="JetBrains Mono"/>
              </a:rPr>
              <a:t> "trace_id": "c8e0b7a1c432fda1dd0b3d28692756c3", "span_id": "21c0b128c8a0a5b9",</a:t>
            </a:r>
          </a:p>
          <a:p>
            <a:r>
              <a:rPr sz="1200">
                <a:solidFill>
                  <a:srgbClr val="FFFFFF"/>
                </a:solidFill>
                <a:latin typeface="JetBrains Mono"/>
              </a:rPr>
              <a:t> "tenant": "ops", "service": "atlas", "env": "dev"}</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cardinality trap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A metric series exists for every unique combination of label values</a:t>
            </a:r>
          </a:p>
          <a:p>
            <a:pPr marL="292608" indent="-292608">
              <a:lnSpc>
                <a:spcPct val="120000"/>
              </a:lnSpc>
              <a:spcAft>
                <a:spcPts val="1260"/>
              </a:spcAft>
              <a:buClr>
                <a:srgbClr val="00D4AA"/>
              </a:buClr>
              <a:buFont typeface="Inter"/>
              <a:buChar char="•"/>
            </a:pPr>
            <a:r>
              <a:rPr sz="1656" b="0">
                <a:solidFill>
                  <a:srgbClr val="00D4AA"/>
                </a:solidFill>
                <a:latin typeface="JetBrains Mono"/>
              </a:rPr>
              <a:t>tenant</a:t>
            </a:r>
            <a:r>
              <a:rPr sz="1800" b="0">
                <a:solidFill>
                  <a:srgbClr val="FFFFFF"/>
                </a:solidFill>
                <a:latin typeface="Inter"/>
              </a:rPr>
              <a:t> (4) × </a:t>
            </a:r>
            <a:r>
              <a:rPr sz="1656" b="0">
                <a:solidFill>
                  <a:srgbClr val="00D4AA"/>
                </a:solidFill>
                <a:latin typeface="JetBrains Mono"/>
              </a:rPr>
              <a:t>model</a:t>
            </a:r>
            <a:r>
              <a:rPr sz="1800" b="0">
                <a:solidFill>
                  <a:srgbClr val="FFFFFF"/>
                </a:solidFill>
                <a:latin typeface="Inter"/>
              </a:rPr>
              <a:t> (3) × </a:t>
            </a:r>
            <a:r>
              <a:rPr sz="1656" b="0">
                <a:solidFill>
                  <a:srgbClr val="00D4AA"/>
                </a:solidFill>
                <a:latin typeface="JetBrains Mono"/>
              </a:rPr>
              <a:t>tool</a:t>
            </a:r>
            <a:r>
              <a:rPr sz="1800" b="0">
                <a:solidFill>
                  <a:srgbClr val="FFFFFF"/>
                </a:solidFill>
                <a:latin typeface="Inter"/>
              </a:rPr>
              <a:t> (5) × </a:t>
            </a:r>
            <a:r>
              <a:rPr sz="1656" b="0">
                <a:solidFill>
                  <a:srgbClr val="00D4AA"/>
                </a:solidFill>
                <a:latin typeface="JetBrains Mono"/>
              </a:rPr>
              <a:t>outcome</a:t>
            </a:r>
            <a:r>
              <a:rPr sz="1800" b="0">
                <a:solidFill>
                  <a:srgbClr val="FFFFFF"/>
                </a:solidFill>
                <a:latin typeface="Inter"/>
              </a:rPr>
              <a:t> (2) = 120 series. Fine.</a:t>
            </a:r>
          </a:p>
          <a:p>
            <a:pPr marL="292608" indent="-292608">
              <a:lnSpc>
                <a:spcPct val="120000"/>
              </a:lnSpc>
              <a:spcAft>
                <a:spcPts val="1260"/>
              </a:spcAft>
              <a:buClr>
                <a:srgbClr val="00D4AA"/>
              </a:buClr>
              <a:buFont typeface="Inter"/>
              <a:buChar char="•"/>
            </a:pPr>
            <a:r>
              <a:rPr sz="1800" b="0">
                <a:solidFill>
                  <a:srgbClr val="FFFFFF"/>
                </a:solidFill>
                <a:latin typeface="Inter"/>
              </a:rPr>
              <a:t>Add </a:t>
            </a:r>
            <a:r>
              <a:rPr sz="1656" b="0">
                <a:solidFill>
                  <a:srgbClr val="00D4AA"/>
                </a:solidFill>
                <a:latin typeface="JetBrains Mono"/>
              </a:rPr>
              <a:t>user_id</a:t>
            </a:r>
            <a:r>
              <a:rPr sz="1800" b="0">
                <a:solidFill>
                  <a:srgbClr val="FFFFFF"/>
                </a:solidFill>
                <a:latin typeface="Inter"/>
              </a:rPr>
              <a:t> (2,000) → 240,000 series. Prometheus memory, query time and your dashboards all suffer.</a:t>
            </a:r>
          </a:p>
          <a:p>
            <a:pPr marL="292608" indent="-292608">
              <a:lnSpc>
                <a:spcPct val="120000"/>
              </a:lnSpc>
              <a:spcAft>
                <a:spcPts val="1260"/>
              </a:spcAft>
              <a:buClr>
                <a:srgbClr val="00D4AA"/>
              </a:buClr>
              <a:buFont typeface="Inter"/>
              <a:buChar char="•"/>
            </a:pPr>
            <a:r>
              <a:rPr sz="1800" b="0">
                <a:solidFill>
                  <a:srgbClr val="FFFFFF"/>
                </a:solidFill>
                <a:latin typeface="Inter"/>
              </a:rPr>
              <a:t>Add </a:t>
            </a:r>
            <a:r>
              <a:rPr sz="1656" b="0">
                <a:solidFill>
                  <a:srgbClr val="00D4AA"/>
                </a:solidFill>
                <a:latin typeface="JetBrains Mono"/>
              </a:rPr>
              <a:t>session_id</a:t>
            </a:r>
            <a:r>
              <a:rPr sz="1800" b="0">
                <a:solidFill>
                  <a:srgbClr val="FFFFFF"/>
                </a:solidFill>
                <a:latin typeface="Inter"/>
              </a:rPr>
              <a:t> → unbounded. This is how a metrics server dies.</a:t>
            </a:r>
          </a:p>
          <a:p>
            <a:pPr marL="292608" indent="-292608">
              <a:lnSpc>
                <a:spcPct val="120000"/>
              </a:lnSpc>
              <a:spcAft>
                <a:spcPts val="1260"/>
              </a:spcAft>
              <a:buClr>
                <a:srgbClr val="00D4AA"/>
              </a:buClr>
              <a:buFont typeface="Inter"/>
              <a:buChar char="•"/>
            </a:pPr>
            <a:r>
              <a:rPr sz="1800" b="0">
                <a:solidFill>
                  <a:srgbClr val="FFFFFF"/>
                </a:solidFill>
                <a:latin typeface="Inter"/>
              </a:rPr>
              <a:t>Rule: labels are for dimensions with a small, fixed set of values. Users and sessions are trace dimensions, never metric labels.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t>
            </a:r>
            <a:r>
              <a:rPr sz="2392" b="0">
                <a:solidFill>
                  <a:srgbClr val="00D4AA"/>
                </a:solidFill>
                <a:latin typeface="JetBrains Mono"/>
              </a:rPr>
              <a:t>telemetry/metrics.py</a:t>
            </a:r>
            <a:r>
              <a:rPr sz="2600" b="1">
                <a:solidFill>
                  <a:srgbClr val="FFFFFF"/>
                </a:solidFill>
                <a:latin typeface="Inter"/>
              </a:rPr>
              <a:t> exposes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457200" y="1325880"/>
            <a:ext cx="1129284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45720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1399032"/>
            <a:ext cx="10927080" cy="320040"/>
          </a:xfrm>
          <a:prstGeom prst="rect">
            <a:avLst/>
          </a:prstGeom>
          <a:noFill/>
        </p:spPr>
        <p:txBody>
          <a:bodyPr wrap="square" lIns="45720" rIns="45720" tIns="27432" bIns="27432" anchor="t">
            <a:spAutoFit/>
          </a:bodyPr>
          <a:lstStyle/>
          <a:p>
            <a:r>
              <a:rPr sz="1000" b="0">
                <a:solidFill>
                  <a:srgbClr val="94A3B8"/>
                </a:solidFill>
                <a:latin typeface="JetBrains Mono"/>
              </a:rPr>
              <a:t>text</a:t>
            </a:r>
          </a:p>
        </p:txBody>
      </p:sp>
      <p:sp>
        <p:nvSpPr>
          <p:cNvPr id="8" name="TextBox 7"/>
          <p:cNvSpPr txBox="1"/>
          <p:nvPr/>
        </p:nvSpPr>
        <p:spPr>
          <a:xfrm>
            <a:off x="685800" y="1737360"/>
            <a:ext cx="10927080" cy="4526280"/>
          </a:xfrm>
          <a:prstGeom prst="rect">
            <a:avLst/>
          </a:prstGeom>
          <a:noFill/>
        </p:spPr>
        <p:txBody>
          <a:bodyPr wrap="none" lIns="45720" rIns="45720" tIns="27432" bIns="27432" anchor="t">
            <a:spAutoFit/>
          </a:bodyPr>
          <a:lstStyle/>
          <a:p>
            <a:r>
              <a:rPr sz="1000">
                <a:solidFill>
                  <a:srgbClr val="FFFFFF"/>
                </a:solidFill>
                <a:latin typeface="JetBrains Mono"/>
              </a:rPr>
              <a:t>atlas_requests_total{tenant, outcome}</a:t>
            </a:r>
          </a:p>
          <a:p>
            <a:r>
              <a:rPr sz="1000">
                <a:solidFill>
                  <a:srgbClr val="FFFFFF"/>
                </a:solidFill>
                <a:latin typeface="JetBrains Mono"/>
              </a:rPr>
              <a:t>atlas_tokens_total{tenant, model, kind}          kind = input | output | cache_read | reasoning</a:t>
            </a:r>
          </a:p>
          <a:p>
            <a:r>
              <a:rPr sz="1000">
                <a:solidFill>
                  <a:srgbClr val="FFFFFF"/>
                </a:solidFill>
                <a:latin typeface="JetBrains Mono"/>
              </a:rPr>
              <a:t>atlas_cost_usd_total{tenant, model}</a:t>
            </a:r>
          </a:p>
          <a:p>
            <a:r>
              <a:rPr sz="1000">
                <a:solidFill>
                  <a:srgbClr val="FFFFFF"/>
                </a:solidFill>
                <a:latin typeface="JetBrains Mono"/>
              </a:rPr>
              <a:t>atlas_tool_calls_total{tenant, tool, outcome}</a:t>
            </a:r>
          </a:p>
          <a:p>
            <a:r>
              <a:rPr sz="1000">
                <a:solidFill>
                  <a:srgbClr val="FFFFFF"/>
                </a:solidFill>
                <a:latin typeface="JetBrains Mono"/>
              </a:rPr>
              <a:t>atlas_step_limit_total{tenant}</a:t>
            </a:r>
          </a:p>
          <a:p>
            <a:r>
              <a:rPr sz="1000">
                <a:solidFill>
                  <a:srgbClr val="FFFFFF"/>
                </a:solidFill>
                <a:latin typeface="JetBrains Mono"/>
              </a:rPr>
              <a:t>atlas_budget_hits_total{tenant, level}           level = soft | hard</a:t>
            </a:r>
          </a:p>
          <a:p>
            <a:r>
              <a:rPr sz="1000">
                <a:solidFill>
                  <a:srgbClr val="FFFFFF"/>
                </a:solidFill>
                <a:latin typeface="JetBrains Mono"/>
              </a:rPr>
              <a:t>atlas_ttft_seconds{model}     histogram</a:t>
            </a:r>
          </a:p>
          <a:p>
            <a:r>
              <a:rPr sz="1000">
                <a:solidFill>
                  <a:srgbClr val="FFFFFF"/>
                </a:solidFill>
                <a:latin typeface="JetBrains Mono"/>
              </a:rPr>
              <a:t>atlas_request_latency_seconds{tenant} histogram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Putting it together for one request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one request flows through Atlas. Three arrows out: "spans → Langfuse (what happened, cost, TTFT)", "metrics → Prometheus (rates, totals, histograms, by tenant/model/tool)", "logs → stdout JSON with trace_id (human notes)". A dotted line from a log line to the trace it names.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Break it: the loop you can only see in a trace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a break-it demo: the Friday loop, seen from inside the trace this time, and the code that…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AGENT OBSERVABILITY PATTERNS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Break it: the loop you can only see in a trace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Inject the </a:t>
            </a:r>
            <a:r>
              <a:rPr sz="1472" b="0">
                <a:solidFill>
                  <a:srgbClr val="00D4AA"/>
                </a:solidFill>
                <a:latin typeface="JetBrains Mono"/>
              </a:rPr>
              <a:t>loop</a:t>
            </a:r>
            <a:r>
              <a:rPr sz="1600" b="0">
                <a:solidFill>
                  <a:srgbClr val="CBD5E1"/>
                </a:solidFill>
                <a:latin typeface="Inter"/>
              </a:rPr>
              <a:t> scenario and read the runaway trace: repeated identical tool errors, climbing input tokens, escalation.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else would this have shown up?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304288"/>
        </p:xfrm>
        <a:graphic>
          <a:graphicData uri="http://schemas.openxmlformats.org/drawingml/2006/table">
            <a:tbl>
              <a:tblPr firstRow="1" bandRow="1">
                <a:tableStyleId>{5C22544A-7EE6-4342-B048-85BDC9FD1C3A}</a:tableStyleId>
              </a:tblPr>
              <a:tblGrid>
                <a:gridCol w="2493224"/>
                <a:gridCol w="8799615"/>
              </a:tblGrid>
              <a:tr h="384048">
                <a:tc>
                  <a:txBody>
                    <a:bodyPr wrap="square"/>
                    <a:lstStyle/>
                    <a:p>
                      <a:r>
                        <a:rPr sz="1200" b="1">
                          <a:solidFill>
                            <a:srgbClr val="0A1628"/>
                          </a:solidFill>
                          <a:latin typeface="Inter"/>
                        </a:rPr>
                        <a:t>Signal</a:t>
                      </a:r>
                    </a:p>
                  </a:txBody>
                  <a:tcPr marL="91440" marR="91440" marT="45720" marB="45720" anchor="ctr">
                    <a:solidFill>
                      <a:srgbClr val="00D4AA"/>
                    </a:solidFill>
                  </a:tcPr>
                </a:tc>
                <a:tc>
                  <a:txBody>
                    <a:bodyPr wrap="square"/>
                    <a:lstStyle/>
                    <a:p>
                      <a:r>
                        <a:rPr sz="1200" b="1">
                          <a:solidFill>
                            <a:srgbClr val="0A1628"/>
                          </a:solidFill>
                          <a:latin typeface="Inter"/>
                        </a:rPr>
                        <a:t>What it showed on Friday</a:t>
                      </a:r>
                    </a:p>
                  </a:txBody>
                  <a:tcPr marL="91440" marR="91440" marT="45720" marB="45720" anchor="ctr">
                    <a:solidFill>
                      <a:srgbClr val="00D4AA"/>
                    </a:solidFill>
                  </a:tcPr>
                </a:tc>
              </a:tr>
              <a:tr h="384048">
                <a:tc>
                  <a:txBody>
                    <a:bodyPr wrap="square"/>
                    <a:lstStyle/>
                    <a:p>
                      <a:r>
                        <a:rPr sz="1200" b="1">
                          <a:solidFill>
                            <a:srgbClr val="FFFFFF"/>
                          </a:solidFill>
                          <a:latin typeface="Inter"/>
                        </a:rPr>
                        <a:t>HTTP status</a:t>
                      </a:r>
                    </a:p>
                  </a:txBody>
                  <a:tcPr marL="91440" marR="91440" marT="45720" marB="45720" anchor="ctr">
                    <a:solidFill>
                      <a:srgbClr val="1A2742"/>
                    </a:solidFill>
                  </a:tcPr>
                </a:tc>
                <a:tc>
                  <a:txBody>
                    <a:bodyPr wrap="square"/>
                    <a:lstStyle/>
                    <a:p>
                      <a:r>
                        <a:rPr sz="1200" b="0">
                          <a:solidFill>
                            <a:srgbClr val="FFFFFF"/>
                          </a:solidFill>
                          <a:latin typeface="Inter"/>
                        </a:rPr>
                        <a:t>200</a:t>
                      </a:r>
                    </a:p>
                  </a:txBody>
                  <a:tcPr marL="91440" marR="91440" marT="45720" marB="45720" anchor="ctr">
                    <a:solidFill>
                      <a:srgbClr val="1A2742"/>
                    </a:solidFill>
                  </a:tcPr>
                </a:tc>
              </a:tr>
              <a:tr h="384048">
                <a:tc>
                  <a:txBody>
                    <a:bodyPr wrap="square"/>
                    <a:lstStyle/>
                    <a:p>
                      <a:r>
                        <a:rPr sz="1200" b="1">
                          <a:solidFill>
                            <a:srgbClr val="FFFFFF"/>
                          </a:solidFill>
                          <a:latin typeface="Inter"/>
                        </a:rPr>
                        <a:t>Request count</a:t>
                      </a:r>
                    </a:p>
                  </a:txBody>
                  <a:tcPr marL="91440" marR="91440" marT="45720" marB="45720" anchor="ctr">
                    <a:solidFill>
                      <a:srgbClr val="0F1E35"/>
                    </a:solidFill>
                  </a:tcPr>
                </a:tc>
                <a:tc>
                  <a:txBody>
                    <a:bodyPr wrap="square"/>
                    <a:lstStyle/>
                    <a:p>
                      <a:r>
                        <a:rPr sz="1200" b="0">
                          <a:solidFill>
                            <a:srgbClr val="FFFFFF"/>
                          </a:solidFill>
                          <a:latin typeface="Inter"/>
                        </a:rPr>
                        <a:t>1</a:t>
                      </a:r>
                    </a:p>
                  </a:txBody>
                  <a:tcPr marL="91440" marR="91440" marT="45720" marB="45720" anchor="ctr">
                    <a:solidFill>
                      <a:srgbClr val="0F1E35"/>
                    </a:solidFill>
                  </a:tcPr>
                </a:tc>
              </a:tr>
              <a:tr h="384048">
                <a:tc>
                  <a:txBody>
                    <a:bodyPr wrap="square"/>
                    <a:lstStyle/>
                    <a:p>
                      <a:r>
                        <a:rPr sz="1200" b="1">
                          <a:solidFill>
                            <a:srgbClr val="FFFFFF"/>
                          </a:solidFill>
                          <a:latin typeface="Inter"/>
                        </a:rPr>
                        <a:t>Error logs</a:t>
                      </a:r>
                    </a:p>
                  </a:txBody>
                  <a:tcPr marL="91440" marR="91440" marT="45720" marB="45720" anchor="ctr">
                    <a:solidFill>
                      <a:srgbClr val="1A2742"/>
                    </a:solidFill>
                  </a:tcPr>
                </a:tc>
                <a:tc>
                  <a:txBody>
                    <a:bodyPr wrap="square"/>
                    <a:lstStyle/>
                    <a:p>
                      <a:r>
                        <a:rPr sz="1200" b="0">
                          <a:solidFill>
                            <a:srgbClr val="FFFFFF"/>
                          </a:solidFill>
                          <a:latin typeface="Inter"/>
                        </a:rPr>
                        <a:t>60 lines "ticketing API 503", indistinguishable from 60 different users</a:t>
                      </a:r>
                    </a:p>
                  </a:txBody>
                  <a:tcPr marL="91440" marR="91440" marT="45720" marB="45720" anchor="ctr">
                    <a:solidFill>
                      <a:srgbClr val="1A2742"/>
                    </a:solidFill>
                  </a:tcPr>
                </a:tc>
              </a:tr>
              <a:tr h="384048">
                <a:tc>
                  <a:txBody>
                    <a:bodyPr wrap="square"/>
                    <a:lstStyle/>
                    <a:p>
                      <a:r>
                        <a:rPr sz="1200" b="1">
                          <a:solidFill>
                            <a:srgbClr val="FFFFFF"/>
                          </a:solidFill>
                          <a:latin typeface="Inter"/>
                        </a:rPr>
                        <a:t>Tool error metric</a:t>
                      </a:r>
                    </a:p>
                  </a:txBody>
                  <a:tcPr marL="91440" marR="91440" marT="45720" marB="45720" anchor="ctr">
                    <a:solidFill>
                      <a:srgbClr val="0F1E35"/>
                    </a:solidFill>
                  </a:tcPr>
                </a:tc>
                <a:tc>
                  <a:txBody>
                    <a:bodyPr wrap="square"/>
                    <a:lstStyle/>
                    <a:p>
                      <a:r>
                        <a:rPr sz="1200" b="0">
                          <a:solidFill>
                            <a:srgbClr val="FFFFFF"/>
                          </a:solidFill>
                          <a:latin typeface="Inter"/>
                        </a:rPr>
                        <a:t>100% error rate for </a:t>
                      </a:r>
                      <a:r>
                        <a:rPr sz="1104" b="0">
                          <a:solidFill>
                            <a:srgbClr val="00D4AA"/>
                          </a:solidFill>
                          <a:latin typeface="JetBrains Mono"/>
                        </a:rPr>
                        <a:t>lookup_ticket</a:t>
                      </a:r>
                      <a:r>
                        <a:rPr sz="1200" b="0">
                          <a:solidFill>
                            <a:srgbClr val="FFFFFF"/>
                          </a:solidFill>
                          <a:latin typeface="Inter"/>
                        </a:rPr>
                        <a:t>: a real signal, if anyone had the alert</a:t>
                      </a:r>
                    </a:p>
                  </a:txBody>
                  <a:tcPr marL="91440" marR="91440" marT="45720" marB="45720" anchor="ctr">
                    <a:solidFill>
                      <a:srgbClr val="0F1E35"/>
                    </a:solidFill>
                  </a:tcPr>
                </a:tc>
              </a:tr>
              <a:tr h="384048">
                <a:tc>
                  <a:txBody>
                    <a:bodyPr wrap="square"/>
                    <a:lstStyle/>
                    <a:p>
                      <a:r>
                        <a:rPr sz="1200" b="1">
                          <a:solidFill>
                            <a:srgbClr val="FFFFFF"/>
                          </a:solidFill>
                          <a:latin typeface="Inter"/>
                        </a:rPr>
                        <a:t>Trace</a:t>
                      </a:r>
                    </a:p>
                  </a:txBody>
                  <a:tcPr marL="91440" marR="91440" marT="45720" marB="45720" anchor="ctr">
                    <a:solidFill>
                      <a:srgbClr val="1A2742"/>
                    </a:solidFill>
                  </a:tcPr>
                </a:tc>
                <a:tc>
                  <a:txBody>
                    <a:bodyPr wrap="square"/>
                    <a:lstStyle/>
                    <a:p>
                      <a:r>
                        <a:rPr sz="1200" b="0">
                          <a:solidFill>
                            <a:srgbClr val="FFFFFF"/>
                          </a:solidFill>
                          <a:latin typeface="Inter"/>
                        </a:rPr>
                        <a:t>61 identical steps, climbing tokens, silent escalation, no stop</a:t>
                      </a:r>
                    </a:p>
                  </a:txBody>
                  <a:tcPr marL="91440" marR="91440" marT="45720" marB="45720" anchor="ctr">
                    <a:solidFill>
                      <a:srgbClr val="1A274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Before and after, from the trace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688336"/>
        </p:xfrm>
        <a:graphic>
          <a:graphicData uri="http://schemas.openxmlformats.org/drawingml/2006/table">
            <a:tbl>
              <a:tblPr firstRow="1" bandRow="1">
                <a:tableStyleId>{5C22544A-7EE6-4342-B048-85BDC9FD1C3A}</a:tableStyleId>
              </a:tblPr>
              <a:tblGrid>
                <a:gridCol w="4436472"/>
                <a:gridCol w="2016578"/>
                <a:gridCol w="4839788"/>
              </a:tblGrid>
              <a:tr h="384048">
                <a:tc>
                  <a:txBody>
                    <a:bodyPr wrap="square"/>
                    <a:lstStyle/>
                    <a:p/>
                  </a:txBody>
                  <a:tcPr marL="91440" marR="91440" marT="45720" marB="45720" anchor="ctr">
                    <a:solidFill>
                      <a:srgbClr val="00D4AA"/>
                    </a:solidFill>
                  </a:tcPr>
                </a:tc>
                <a:tc>
                  <a:txBody>
                    <a:bodyPr wrap="square"/>
                    <a:lstStyle/>
                    <a:p>
                      <a:r>
                        <a:rPr sz="1200" b="1">
                          <a:solidFill>
                            <a:srgbClr val="0A1628"/>
                          </a:solidFill>
                          <a:latin typeface="Inter"/>
                        </a:rPr>
                        <a:t>Before</a:t>
                      </a:r>
                    </a:p>
                  </a:txBody>
                  <a:tcPr marL="91440" marR="91440" marT="45720" marB="45720" anchor="ctr">
                    <a:solidFill>
                      <a:srgbClr val="00D4AA"/>
                    </a:solidFill>
                  </a:tcPr>
                </a:tc>
                <a:tc>
                  <a:txBody>
                    <a:bodyPr wrap="square"/>
                    <a:lstStyle/>
                    <a:p>
                      <a:r>
                        <a:rPr sz="1200" b="1">
                          <a:solidFill>
                            <a:srgbClr val="0A1628"/>
                          </a:solidFill>
                          <a:latin typeface="Inter"/>
                        </a:rPr>
                        <a:t>After</a:t>
                      </a:r>
                    </a:p>
                  </a:txBody>
                  <a:tcPr marL="91440" marR="91440" marT="45720" marB="45720" anchor="ctr">
                    <a:solidFill>
                      <a:srgbClr val="00D4AA"/>
                    </a:solidFill>
                  </a:tcPr>
                </a:tc>
              </a:tr>
              <a:tr h="384048">
                <a:tc>
                  <a:txBody>
                    <a:bodyPr wrap="square"/>
                    <a:lstStyle/>
                    <a:p>
                      <a:r>
                        <a:rPr sz="1200" b="1">
                          <a:solidFill>
                            <a:srgbClr val="FFFFFF"/>
                          </a:solidFill>
                          <a:latin typeface="Inter"/>
                        </a:rPr>
                        <a:t>Steps</a:t>
                      </a:r>
                    </a:p>
                  </a:txBody>
                  <a:tcPr marL="91440" marR="91440" marT="45720" marB="45720" anchor="ctr">
                    <a:solidFill>
                      <a:srgbClr val="1A2742"/>
                    </a:solidFill>
                  </a:tcPr>
                </a:tc>
                <a:tc>
                  <a:txBody>
                    <a:bodyPr wrap="square"/>
                    <a:lstStyle/>
                    <a:p>
                      <a:r>
                        <a:rPr sz="1200" b="0">
                          <a:solidFill>
                            <a:srgbClr val="FFFFFF"/>
                          </a:solidFill>
                          <a:latin typeface="Inter"/>
                        </a:rPr>
                        <a:t>61</a:t>
                      </a:r>
                    </a:p>
                  </a:txBody>
                  <a:tcPr marL="91440" marR="91440" marT="45720" marB="45720" anchor="ctr">
                    <a:solidFill>
                      <a:srgbClr val="1A2742"/>
                    </a:solidFill>
                  </a:tcPr>
                </a:tc>
                <a:tc>
                  <a:txBody>
                    <a:bodyPr wrap="square"/>
                    <a:lstStyle/>
                    <a:p>
                      <a:r>
                        <a:rPr sz="1200" b="0">
                          <a:solidFill>
                            <a:srgbClr val="FFFFFF"/>
                          </a:solidFill>
                          <a:latin typeface="Inter"/>
                        </a:rPr>
                        <a:t>4</a:t>
                      </a:r>
                    </a:p>
                  </a:txBody>
                  <a:tcPr marL="91440" marR="91440" marT="45720" marB="45720" anchor="ctr">
                    <a:solidFill>
                      <a:srgbClr val="1A2742"/>
                    </a:solidFill>
                  </a:tcPr>
                </a:tc>
              </a:tr>
              <a:tr h="384048">
                <a:tc>
                  <a:txBody>
                    <a:bodyPr wrap="square"/>
                    <a:lstStyle/>
                    <a:p>
                      <a:r>
                        <a:rPr sz="1200" b="1">
                          <a:solidFill>
                            <a:srgbClr val="FFFFFF"/>
                          </a:solidFill>
                          <a:latin typeface="Inter"/>
                        </a:rPr>
                        <a:t>Tool errors fed back to the model</a:t>
                      </a:r>
                    </a:p>
                  </a:txBody>
                  <a:tcPr marL="91440" marR="91440" marT="45720" marB="45720" anchor="ctr">
                    <a:solidFill>
                      <a:srgbClr val="0F1E35"/>
                    </a:solidFill>
                  </a:tcPr>
                </a:tc>
                <a:tc>
                  <a:txBody>
                    <a:bodyPr wrap="square"/>
                    <a:lstStyle/>
                    <a:p>
                      <a:r>
                        <a:rPr sz="1200" b="0">
                          <a:solidFill>
                            <a:srgbClr val="FFFFFF"/>
                          </a:solidFill>
                          <a:latin typeface="Inter"/>
                        </a:rPr>
                        <a:t>60</a:t>
                      </a:r>
                    </a:p>
                  </a:txBody>
                  <a:tcPr marL="91440" marR="91440" marT="45720" marB="45720" anchor="ctr">
                    <a:solidFill>
                      <a:srgbClr val="0F1E35"/>
                    </a:solidFill>
                  </a:tcPr>
                </a:tc>
                <a:tc>
                  <a:txBody>
                    <a:bodyPr wrap="square"/>
                    <a:lstStyle/>
                    <a:p>
                      <a:r>
                        <a:rPr sz="1200" b="0">
                          <a:solidFill>
                            <a:srgbClr val="FFFFFF"/>
                          </a:solidFill>
                          <a:latin typeface="Inter"/>
                        </a:rPr>
                        <a:t>3</a:t>
                      </a:r>
                    </a:p>
                  </a:txBody>
                  <a:tcPr marL="91440" marR="91440" marT="45720" marB="45720" anchor="ctr">
                    <a:solidFill>
                      <a:srgbClr val="0F1E35"/>
                    </a:solidFill>
                  </a:tcPr>
                </a:tc>
              </a:tr>
              <a:tr h="384048">
                <a:tc>
                  <a:txBody>
                    <a:bodyPr wrap="square"/>
                    <a:lstStyle/>
                    <a:p>
                      <a:r>
                        <a:rPr sz="1200" b="1">
                          <a:solidFill>
                            <a:srgbClr val="FFFFFF"/>
                          </a:solidFill>
                          <a:latin typeface="Inter"/>
                        </a:rPr>
                        <a:t>Escalation</a:t>
                      </a:r>
                    </a:p>
                  </a:txBody>
                  <a:tcPr marL="91440" marR="91440" marT="45720" marB="45720" anchor="ctr">
                    <a:solidFill>
                      <a:srgbClr val="1A2742"/>
                    </a:solidFill>
                  </a:tcPr>
                </a:tc>
                <a:tc>
                  <a:txBody>
                    <a:bodyPr wrap="square"/>
                    <a:lstStyle/>
                    <a:p>
                      <a:r>
                        <a:rPr sz="1200" b="0">
                          <a:solidFill>
                            <a:srgbClr val="FFFFFF"/>
                          </a:solidFill>
                          <a:latin typeface="Inter"/>
                        </a:rPr>
                        <a:t>silent, step 14</a:t>
                      </a:r>
                    </a:p>
                  </a:txBody>
                  <a:tcPr marL="91440" marR="91440" marT="45720" marB="45720" anchor="ctr">
                    <a:solidFill>
                      <a:srgbClr val="1A2742"/>
                    </a:solidFill>
                  </a:tcPr>
                </a:tc>
                <a:tc>
                  <a:txBody>
                    <a:bodyPr wrap="square"/>
                    <a:lstStyle/>
                    <a:p>
                      <a:r>
                        <a:rPr sz="1200" b="0">
                          <a:solidFill>
                            <a:srgbClr val="FFFFFF"/>
                          </a:solidFill>
                          <a:latin typeface="Inter"/>
                        </a:rPr>
                        <a:t>never reached</a:t>
                      </a:r>
                    </a:p>
                  </a:txBody>
                  <a:tcPr marL="91440" marR="91440" marT="45720" marB="45720" anchor="ctr">
                    <a:solidFill>
                      <a:srgbClr val="1A2742"/>
                    </a:solidFill>
                  </a:tcPr>
                </a:tc>
              </a:tr>
              <a:tr h="384048">
                <a:tc>
                  <a:txBody>
                    <a:bodyPr wrap="square"/>
                    <a:lstStyle/>
                    <a:p>
                      <a:r>
                        <a:rPr sz="1200" b="1">
                          <a:solidFill>
                            <a:srgbClr val="FFFFFF"/>
                          </a:solidFill>
                          <a:latin typeface="Inter"/>
                        </a:rPr>
                        <a:t>Stop reason in trace</a:t>
                      </a:r>
                    </a:p>
                  </a:txBody>
                  <a:tcPr marL="91440" marR="91440" marT="45720" marB="45720" anchor="ctr">
                    <a:solidFill>
                      <a:srgbClr val="0F1E35"/>
                    </a:solidFill>
                  </a:tcPr>
                </a:tc>
                <a:tc>
                  <a:txBody>
                    <a:bodyPr wrap="square"/>
                    <a:lstStyle/>
                    <a:p>
                      <a:r>
                        <a:rPr sz="1200" b="0">
                          <a:solidFill>
                            <a:srgbClr val="FFFFFF"/>
                          </a:solidFill>
                          <a:latin typeface="Inter"/>
                        </a:rPr>
                        <a:t>none</a:t>
                      </a:r>
                    </a:p>
                  </a:txBody>
                  <a:tcPr marL="91440" marR="91440" marT="45720" marB="45720" anchor="ctr">
                    <a:solidFill>
                      <a:srgbClr val="0F1E35"/>
                    </a:solidFill>
                  </a:tcPr>
                </a:tc>
                <a:tc>
                  <a:txBody>
                    <a:bodyPr wrap="square"/>
                    <a:lstStyle/>
                    <a:p>
                      <a:r>
                        <a:rPr sz="1104" b="0">
                          <a:solidFill>
                            <a:srgbClr val="00D4AA"/>
                          </a:solidFill>
                          <a:latin typeface="JetBrains Mono"/>
                        </a:rPr>
                        <a:t>tool_retry_exhausted</a:t>
                      </a:r>
                      <a:r>
                        <a:rPr sz="1200" b="0">
                          <a:solidFill>
                            <a:srgbClr val="FFFFFF"/>
                          </a:solidFill>
                          <a:latin typeface="Inter"/>
                        </a:rPr>
                        <a:t> event + score</a:t>
                      </a:r>
                    </a:p>
                  </a:txBody>
                  <a:tcPr marL="91440" marR="91440" marT="45720" marB="45720" anchor="ctr">
                    <a:solidFill>
                      <a:srgbClr val="0F1E35"/>
                    </a:solidFill>
                  </a:tcPr>
                </a:tc>
              </a:tr>
              <a:tr h="384048">
                <a:tc>
                  <a:txBody>
                    <a:bodyPr wrap="square"/>
                    <a:lstStyle/>
                    <a:p>
                      <a:r>
                        <a:rPr sz="1200" b="1">
                          <a:solidFill>
                            <a:srgbClr val="FFFFFF"/>
                          </a:solidFill>
                          <a:latin typeface="Inter"/>
                        </a:rPr>
                        <a:t>Cost</a:t>
                      </a:r>
                    </a:p>
                  </a:txBody>
                  <a:tcPr marL="91440" marR="91440" marT="45720" marB="45720" anchor="ctr">
                    <a:solidFill>
                      <a:srgbClr val="1A2742"/>
                    </a:solidFill>
                  </a:tcPr>
                </a:tc>
                <a:tc>
                  <a:txBody>
                    <a:bodyPr wrap="square"/>
                    <a:lstStyle/>
                    <a:p>
                      <a:r>
                        <a:rPr sz="1200" b="0">
                          <a:solidFill>
                            <a:srgbClr val="FFFFFF"/>
                          </a:solidFill>
                          <a:latin typeface="Inter"/>
                        </a:rPr>
                        <a:t>$3.90</a:t>
                      </a:r>
                    </a:p>
                  </a:txBody>
                  <a:tcPr marL="91440" marR="91440" marT="45720" marB="45720" anchor="ctr">
                    <a:solidFill>
                      <a:srgbClr val="1A2742"/>
                    </a:solidFill>
                  </a:tcPr>
                </a:tc>
                <a:tc>
                  <a:txBody>
                    <a:bodyPr wrap="square"/>
                    <a:lstStyle/>
                    <a:p>
                      <a:r>
                        <a:rPr sz="1200" b="0">
                          <a:solidFill>
                            <a:srgbClr val="FFFFFF"/>
                          </a:solidFill>
                          <a:latin typeface="Inter"/>
                        </a:rPr>
                        <a:t>$0.02</a:t>
                      </a:r>
                    </a:p>
                  </a:txBody>
                  <a:tcPr marL="91440" marR="91440" marT="45720" marB="45720" anchor="ctr">
                    <a:solidFill>
                      <a:srgbClr val="1A2742"/>
                    </a:solidFill>
                  </a:tcPr>
                </a:tc>
              </a:tr>
              <a:tr h="384048">
                <a:tc>
                  <a:txBody>
                    <a:bodyPr wrap="square"/>
                    <a:lstStyle/>
                    <a:p>
                      <a:r>
                        <a:rPr sz="1200" b="1">
                          <a:solidFill>
                            <a:srgbClr val="FFFFFF"/>
                          </a:solidFill>
                          <a:latin typeface="Inter"/>
                        </a:rPr>
                        <a:t>User saw</a:t>
                      </a:r>
                    </a:p>
                  </a:txBody>
                  <a:tcPr marL="91440" marR="91440" marT="45720" marB="45720" anchor="ctr">
                    <a:solidFill>
                      <a:srgbClr val="0F1E35"/>
                    </a:solidFill>
                  </a:tcPr>
                </a:tc>
                <a:tc>
                  <a:txBody>
                    <a:bodyPr wrap="square"/>
                    <a:lstStyle/>
                    <a:p>
                      <a:r>
                        <a:rPr sz="1200" b="0">
                          <a:solidFill>
                            <a:srgbClr val="FFFFFF"/>
                          </a:solidFill>
                          <a:latin typeface="Inter"/>
                        </a:rPr>
                        <a:t>timeout</a:t>
                      </a:r>
                    </a:p>
                  </a:txBody>
                  <a:tcPr marL="91440" marR="91440" marT="45720" marB="45720" anchor="ctr">
                    <a:solidFill>
                      <a:srgbClr val="0F1E35"/>
                    </a:solidFill>
                  </a:tcPr>
                </a:tc>
                <a:tc>
                  <a:txBody>
                    <a:bodyPr wrap="square"/>
                    <a:lstStyle/>
                    <a:p>
                      <a:r>
                        <a:rPr sz="1200" b="0">
                          <a:solidFill>
                            <a:srgbClr val="FFFFFF"/>
                          </a:solidFill>
                          <a:latin typeface="Inter"/>
                        </a:rPr>
                        <a:t>honest message in 7 s</a:t>
                      </a:r>
                    </a:p>
                  </a:txBody>
                  <a:tcPr marL="91440" marR="91440" marT="45720" marB="45720" anchor="ctr">
                    <a:solidFill>
                      <a:srgbClr val="0F1E35"/>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3: Trace a multi-step ticket escalation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Lab 3: trace the ticket escalation path yourself and write the test for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AGENT OBSERVABILITY PATTERNS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3: Trace a multi-step ticket escalation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Trace the path lookup fails → create_ticket → escalation with steps, events and scores.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Agent patterns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A six-question quiz on agent patterns, then Section 6, the signature section: where the money goes, and how…</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5.8</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5 · AGENT OBSERVABILITY PATTERNS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5.8</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Agent patterns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understanding of the six questions and the step-span pattern.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5 quiz: what's covered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six questions and which span answers each</a:t>
            </a:r>
          </a:p>
          <a:p>
            <a:pPr marL="292608" indent="-292608">
              <a:lnSpc>
                <a:spcPct val="120000"/>
              </a:lnSpc>
              <a:spcAft>
                <a:spcPts val="1539"/>
              </a:spcAft>
              <a:buClr>
                <a:srgbClr val="00D4AA"/>
              </a:buClr>
              <a:buFont typeface="Inter"/>
              <a:buChar char="•"/>
            </a:pPr>
            <a:r>
              <a:rPr sz="2200" b="0">
                <a:solidFill>
                  <a:srgbClr val="FFFFFF"/>
                </a:solidFill>
                <a:latin typeface="Inter"/>
              </a:rPr>
              <a:t>Tool errors: level and output, not exceptions</a:t>
            </a:r>
          </a:p>
          <a:p>
            <a:pPr marL="292608" indent="-292608">
              <a:lnSpc>
                <a:spcPct val="120000"/>
              </a:lnSpc>
              <a:spcAft>
                <a:spcPts val="1539"/>
              </a:spcAft>
              <a:buClr>
                <a:srgbClr val="00D4AA"/>
              </a:buClr>
              <a:buFont typeface="Inter"/>
              <a:buChar char="•"/>
            </a:pPr>
            <a:r>
              <a:rPr sz="2200" b="0">
                <a:solidFill>
                  <a:srgbClr val="FFFFFF"/>
                </a:solidFill>
                <a:latin typeface="Inter"/>
              </a:rPr>
              <a:t>Events vs scores for the step limit</a:t>
            </a:r>
          </a:p>
          <a:p>
            <a:pPr marL="292608" indent="-292608">
              <a:lnSpc>
                <a:spcPct val="120000"/>
              </a:lnSpc>
              <a:spcAft>
                <a:spcPts val="1539"/>
              </a:spcAft>
              <a:buClr>
                <a:srgbClr val="00D4AA"/>
              </a:buClr>
              <a:buFont typeface="Inter"/>
              <a:buChar char="•"/>
            </a:pPr>
            <a:r>
              <a:rPr sz="2200" b="0">
                <a:solidFill>
                  <a:srgbClr val="FFFFFF"/>
                </a:solidFill>
                <a:latin typeface="Inter"/>
              </a:rPr>
              <a:t>What to record on a retriever; the grounded score</a:t>
            </a:r>
          </a:p>
          <a:p>
            <a:pPr marL="292608" indent="-292608">
              <a:lnSpc>
                <a:spcPct val="120000"/>
              </a:lnSpc>
              <a:spcAft>
                <a:spcPts val="1539"/>
              </a:spcAft>
              <a:buClr>
                <a:srgbClr val="00D4AA"/>
              </a:buClr>
              <a:buFont typeface="Inter"/>
              <a:buChar char="•"/>
            </a:pPr>
            <a:r>
              <a:rPr sz="2200" b="0">
                <a:solidFill>
                  <a:srgbClr val="FFFFFF"/>
                </a:solidFill>
                <a:latin typeface="Inter"/>
              </a:rPr>
              <a:t>TTFT vs total latency; </a:t>
            </a:r>
            <a:r>
              <a:rPr sz="2024" b="0">
                <a:solidFill>
                  <a:srgbClr val="00D4AA"/>
                </a:solidFill>
                <a:latin typeface="JetBrains Mono"/>
              </a:rPr>
              <a:t>include_usage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5.8</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5 quiz: what's covered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Log, span or metric? Cardinality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05 · Lecture 5.8</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Where the money goes: token anatomy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Section 6, Cost engineering: token anatomy, a price table you can trust, and the challenge to cut…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