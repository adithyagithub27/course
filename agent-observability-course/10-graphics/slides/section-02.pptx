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Accounts, keys and spending caps.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 Browser, `https://cloud.langfuse.com`. Sign up, choose a region, create an organisation and a project called `atlas-dev`.]</a:t>
            </a:r>
          </a:p>
          <a:p/>
          <a:p>
            <a:r>
              <a:t>Start with Langfuse. Sign up at cloud dot langfuse dot com. Pick a region; EU and US are both fine, and the base URL differs, so note which one you picked. Create an organisation, then a project. Call it `atlas-dev`. In Section ten we'll talk about why you want one project per environment; for now one is enough.</a:t>
            </a:r>
          </a:p>
          <a:p/>
          <a:p>
            <a:r>
              <a:t>[SCREEN: Project settings → API Keys → Create new API key. Show the public key, blur the secret key, and the "Host" or base URL field.]</a:t>
            </a:r>
          </a:p>
          <a:p/>
          <a:p>
            <a:r>
              <a:t>In project settings, create an API key. You get three values: a public key starting with `pk-lf`, a secret key starting with `sk-lf`, and the base URL for your region. Copy all three now. The secret is shown once.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free tier counts observations per month. Every span is one observation, and a replayed day of traffic is thousands of them. So the course defaults to sending replays to the local store, and sends to Langfuse only when you ask. You'll never hit the limit if you follow the labs as written.</a:t>
            </a:r>
          </a:p>
          <a:p/>
          <a:p>
            <a:r>
              <a:t>[SCREEN: Browser, `https://platform.openai.com`. Create a project called `atlas-course`. Go to Billing → Limits (or the current equivalen...]</a:t>
            </a:r>
          </a:p>
          <a:p/>
          <a:p>
            <a:r>
              <a:t>Now OpenAI. Create a project just for this course, `atlas-course`. Then, before you create a key, go to billing limits. Set a hard monthly budget of twenty dollars and an email alert at five. If the interface has moved since I recorded this, the resource guide has the current path. This one setting is your last line of defence. Everything we build in Section six is a better line of defence, but this one works even when your code is wrong.</a:t>
            </a:r>
          </a:p>
          <a:p/>
          <a:p>
            <a:r>
              <a:t>[SCREEN: API keys → Create new secret key, scoped to the `atlas-course` project. Copy it.]</a:t>
            </a:r>
          </a:p>
          <a:p/>
          <a:p>
            <a:r>
              <a:t>Create a key scoped to that project. Copy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insist on the cap? Because in Section one, one integer set to zero cost three dollars ninety per conversation. A hard cap turns a bad night into a bounded bill. By Section thirteen you'll have per-tenant budgets and a CI gate so the cap never actually fires. Belt, then braces.</a:t>
            </a:r>
          </a:p>
          <a:p/>
          <a:p>
            <a:r>
              <a:t>[SCREEN: VS Code, `03-code/.env.example`. Copy to `.env`. Fill in the keys, keep `OFFLINE=1` for now.]</a:t>
            </a:r>
          </a:p>
          <a:p/>
          <a:p>
            <a:r>
              <a:t>[CODE: create your `.env`]</a:t>
            </a:r>
          </a:p>
          <a:p/>
          <a:p>
            <a:r>
              <a:t>[CODE: `.env` (values redacted)]</a:t>
            </a:r>
          </a:p>
          <a:p/>
          <a:p>
            <a:r>
              <a:t>Copy the example to dot env and fill it in. The OpenAI key. The two Langfuse keys and the base URL for your region. Leave `OFFLINE=1` for now. We'll flip it to zero for exactly one request in Lecture 2.3, then back.</a:t>
            </a:r>
          </a:p>
          <a:p/>
          <a:p>
            <a:r>
              <a:t>The model variables are already set: `gpt-4.1-mini` for Atlas, `gpt-4.1` for escalation. Every model choice in this course is an env var, so a rename by the provider is a one-line fix.</a:t>
            </a:r>
          </a:p>
          <a:p/>
          <a:p>
            <a:r>
              <a:t>[SCREEN: Show `.gitignore` with `.env` listed. Run `git status` to confirm `.env` does not appear.]</a:t>
            </a:r>
          </a:p>
          <a:p/>
          <a:p>
            <a:r>
              <a:t>Dot env is in the gitignore. Check with git status. If you ever see dot env in that list, stop and fix it before you commit. A leaked key with a twenty-dollar cap is annoying; a leaked key with no cap is a very bad week.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cost guide in the resources folder lists what each section costs if you run it live, and the offline path for each. There are only four moments in the course where live is genuinely worth it. Everything else, run offline.</a:t>
            </a:r>
          </a:p>
          <a:p/>
          <a:p>
            <a:r>
              <a:t>Two accounts, three keys, one cap, one dot env. You're now safe to make mistakes, which is the whole point. Next, the code.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Project setup with uv and the Makefile.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did that prove? That the pure-Python library works: pricing, budgets, latency maths, PII masking. That the simulator is deterministic. And that a request through the app produces the expected spans. You now have a working OpenTelemetry pipeline before you've written any of it. In Sections three to five you'll take it apart and rebuild it.</a:t>
            </a:r>
          </a:p>
          <a:p/>
          <a:p>
            <a:r>
              <a:t>[CODE: start Atlas]</a:t>
            </a:r>
          </a:p>
          <a:p/>
          <a:p>
            <a:r>
              <a:t>[DEMO: uvicorn starts on `http://127.0.0.1:8000`. A log line shows `OFFLINE=1: using mock LLM` and `telemetry: exporter=langfuse+local`.]</a:t>
            </a:r>
          </a:p>
          <a:p/>
          <a:p>
            <a:r>
              <a:t>Make run starts Atlas with uvicorn on port eight thousand. Read the two startup lines. Offline, using the mock LLM. Telemetry going to Langfuse and the local store. Those two lines answer most "why don't I see anything" questions later.</a:t>
            </a:r>
          </a:p>
          <a:p/>
          <a:p>
            <a:r>
              <a:t>[SCREEN: Second terminal.]</a:t>
            </a:r>
          </a:p>
          <a:p/>
          <a:p>
            <a:r>
              <a:t>[CODE: health check]</a:t>
            </a:r>
          </a:p>
          <a:p/>
          <a:p>
            <a:r>
              <a:t>[DEMO: `{"status":"ok","offline":true,"model":"gpt-4.1-mini"}`]</a:t>
            </a:r>
          </a:p>
          <a:p/>
          <a:p>
            <a:r>
              <a:t>And a health check from a second terminal. Status ok, offline true, model gpt-4.1-mini. Atlas is up.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used to this layout. Terminal one runs Atlas and shows its logs. Terminal two is where you poke it. Browser for Langfuse and the console. You'll use this arrangement in almost every lecture.</a:t>
            </a:r>
          </a:p>
          <a:p/>
          <a:p>
            <a:r>
              <a:t>Installed, tested, running. Fifteen minutes from clone to a healthy agent, with a test suite that tells you when you break something. Now let's send it a real question and see the trace.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Quick win: one request, one trace.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top to bottom. The header first. Latency, two point eight seconds. Cost, four tenths of a cent. Tokens, about three thousand in, a hundred and forty out. Session `sess-demo-1`, user `emp-1042`, and a tag, `tenant:ops`. The three headers made it all the way here.</a:t>
            </a:r>
          </a:p>
          <a:p/>
          <a:p>
            <a:r>
              <a:t>[SCREEN: Click the root observation `atlas`.]</a:t>
            </a:r>
          </a:p>
          <a:p/>
          <a:p>
            <a:r>
              <a:t>The root observation is `atlas`, and its type is agent. Its input is the question, its output is the answer. Everything below it happened in service of this one request.</a:t>
            </a:r>
          </a:p>
          <a:p/>
          <a:p>
            <a:r>
              <a:t>[SCREEN: Click `search_knowledge_base`.]</a:t>
            </a:r>
          </a:p>
          <a:p/>
          <a:p>
            <a:r>
              <a:t>First child, `search_knowledge_base`. Type retriever. Input: the query. Output: the top three knowledge base chunks with their scores; vpn dot md is first. Forty milliseconds. In Section five you'll turn this into a quality metric: how often does retrieval come back empty?</a:t>
            </a:r>
          </a:p>
          <a:p/>
          <a:p>
            <a:r>
              <a:t>[SCREEN: Click the generation `chat gpt-4.1-mini`. Scroll the details: model, usage details (input, output, cache read), cost details, mo...]</a:t>
            </a:r>
          </a:p>
          <a:p/>
          <a:p>
            <a:r>
              <a:t>Now the generation. This is the model call. Model, gpt-4.1-mini. Usage details: input tokens, output tokens, and cached input tokens, currently zero. Cost details, computed from the price table at the time of the call, not from an invoice a month later. Two point six seconds of the two point eight total; the model is where time goes. And below, the exact messages that were sent and the exact reply.</a:t>
            </a:r>
          </a:p>
          <a:p/>
          <a:p>
            <a:r>
              <a:t>Look at the input messages for a second. System prompt, the retrieved chunks, the user question. That is what you're paying for, every step. Section six is largely about making this smaller.</a:t>
            </a:r>
          </a:p>
          <a:p/>
          <a:p>
            <a:r>
              <a:t>[SCREEN: Click the tool observation if present, or point to where it would sit. Show arguments and result.]</a:t>
            </a:r>
          </a:p>
          <a:p/>
          <a:p>
            <a:r>
              <a:t>And a tool observation, when Atlas calls one. Type tool, with the arguments the model chose and the result the tool returned. For a VPN question there's often no tool call; ask about a ticket and you'll see `lookup_ticket` here with its arguments.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map of where this screen comes from. The tree is OpenTelemetry spans with Langfuse observation types; you rebuild that in Sections three and four. Session, user and tags come from the headers, via a Langfuse call you'll write in 4.3. Usage and cost are set on the generation in 4.2 and priced properly in 6.2. Every lecture in the next four sections points at a part of this screen.</a:t>
            </a:r>
          </a:p>
          <a:p/>
          <a:p>
            <a:r>
              <a:t>[SCREEN: VS Code, `.env`. Set `OFFLINE=1` again. Restart `make run`.]</a:t>
            </a:r>
          </a:p>
          <a:p/>
          <a:p>
            <a:r>
              <a:t>Now flip back to offline and restart. Total live spend so far, about half a cent.</a:t>
            </a:r>
          </a:p>
          <a:p/>
          <a:p>
            <a:r>
              <a:t>One request, one trace. Four observations, three headers, one cost number computed at call time. You'll see thousands of these. Learn to read this one slowly.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Offline mode: a full day of traffic for free.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exactly what offline swaps. Model calls go to the mock instead of OpenAI. Token counts are realistic estimates instead of API numbers. Latency is sampled from realistic distributions. Spans go to a local SQLite store instead of, or as well as, Langfuse. And prices come from the same table either way. So the dollars you see offline are real prices times realistic tokens.</a:t>
            </a:r>
          </a:p>
          <a:p/>
          <a:p>
            <a:r>
              <a:t>[SCREEN: VS Code, `app/mock_llm.py`. Scroll to where it picks a tool call based on the persona's intent, and where it computes usage from...]</a:t>
            </a:r>
          </a:p>
          <a:p/>
          <a:p>
            <a:r>
              <a:t>A quick look at the mock. Given the messages and the persona's intent, it decides whether to answer or call a tool, the way the real model usually does. It estimates input tokens from the message text, generates plausible output lengths, and adds latency drawn from a distribution with a realistic tail. It's also scenario-aware: tell it a tool is down, and it retries like the real model did on Friday night.</a:t>
            </a:r>
          </a:p>
          <a:p/>
          <a:p>
            <a:r>
              <a:t>[SCREEN: Terminal 2.]</a:t>
            </a:r>
          </a:p>
          <a:p/>
          <a:p>
            <a:r>
              <a:t>[CODE: replay a day]</a:t>
            </a:r>
          </a:p>
          <a:p/>
          <a:p>
            <a:r>
              <a:t>[DEMO: Progress output: `seed=20260928 personas=412 conversations=1184 ... writing spans to .local/atlas.sqlite ... done in 38.2s`. Summa...]</a:t>
            </a:r>
          </a:p>
          <a:p/>
          <a:p>
            <a:r>
              <a:t>Make replay. It walks a full simulated working day, seven in the morning to seven at night, with a fixed seed. Four hundred and twelve personas, eleven hundred and eighty-four conversations, thirty-nine hundred model calls. It writes every span to the local store. Thirty-eight seconds.</a:t>
            </a:r>
          </a:p>
          <a:p/>
          <a:p>
            <a:r>
              <a:t>Read the summary. Six dollars forty-two for the day. p95 latency four point one seconds. Those two numbers are going to be under attack for most of this course.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seed matters. Same seed, identical day, on your machine and mine. That's how a lab can tell you your answer should be six dollars forty-two, and how Section eleven can hand everyone the same incident. Change the seed to get a different day; add a scenario to inject an incident.</a:t>
            </a:r>
          </a:p>
          <a:p/>
          <a:p>
            <a:r>
              <a:t>[SCREEN: Terminal 3.]</a:t>
            </a:r>
          </a:p>
          <a:p/>
          <a:p>
            <a:r>
              <a:t>[CODE: open the Ops Console]</a:t>
            </a:r>
          </a:p>
          <a:p/>
          <a:p>
            <a:r>
              <a:t>[DEMO: Streamlit opens `http://localhost:8501`. Landing page: four tiles: Cost today $6.42, Conversations 1,184, p95 4.1 s, Judge score "...]</a:t>
            </a:r>
          </a:p>
          <a:p/>
          <a:p>
            <a:r>
              <a:t>Make console starts the Ops Console. This is the same app from Lecture 1.1, reading the local store.</a:t>
            </a:r>
          </a:p>
          <a:p/>
          <a:p>
            <a:r>
              <a:t>[SCREEN: Cost page. Bar chart of cost by tenant: ops $2.63, eng $1.71, hr $1.19, finance $0.89. Below: cost by feature: knowledge_base, t...]</a:t>
            </a:r>
          </a:p>
          <a:p/>
          <a:p>
            <a:r>
              <a:t>The cost page. By tenant, ops is two sixty-three of six forty-two. Forty-one percent of the spend from one department. Is that because ops asks more, or because ops questions are more expensive? Hold that question; you'll answer it in Section six. Below, cost by feature, and the ten most expensive conversations of the day, each linking to its trace.</a:t>
            </a:r>
          </a:p>
          <a:p/>
          <a:p>
            <a:r>
              <a:t>[SCREEN: Latency page. Histogram with p50, p95, p99 lines; a per-hour line chart showing a lunchtime bump.]</a:t>
            </a:r>
          </a:p>
          <a:p/>
          <a:p>
            <a:r>
              <a:t>Latency. p50 one point nine seconds, p95 four point one, p99 seven point three. And by hour, a bump around one in the afternoon. That's the shape Section seven investigates.</a:t>
            </a:r>
          </a:p>
          <a:p/>
          <a:p>
            <a:r>
              <a:t>[SCREEN: Quality page: mostly empty, "no scores yet". Budgets page: four tenants, each with a daily budget bar, all green.]</a:t>
            </a:r>
          </a:p>
          <a:p/>
          <a:p>
            <a:r>
              <a:t>Quality is empty, because nothing has judged these conversations yet. Section eight fills it. Budgets shows each tenant against its daily allowance; all green today.</a:t>
            </a:r>
          </a:p>
          <a:p/>
          <a:p>
            <a:r>
              <a:t>[SCREEN: Traces page. Pick one conversation; a simple waterfall of its spans opens.]</a:t>
            </a:r>
          </a:p>
          <a:p/>
          <a:p>
            <a:r>
              <a:t>And traces. A simple waterfall, so you can go from "ops is expensive" to one specific conversation without leaving the console.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more switch. Add `LANGFUSE=1` and the replay also exports to your Langfuse project, so you can slice the day with Langfuse's own filters. It's thousands of observations against your monthly allowance, so do it when a lab asks, not every time.</a:t>
            </a:r>
          </a:p>
          <a:p/>
          <a:p>
            <a:r>
              <a:t>A day of traffic, six dollars forty-two, forty-one percent from ops, p95 of four point one seconds, all in forty seconds and for free. This is your dataset for the next twelve sections. Whenever a lecture says "look at the day," this is the day.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Lab 1: Environment and first trace.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Quiz: Setup and tracing basics.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question on keys and caps. One on the Make targets. One on what offline mode swaps and what stays real. One on the first trace: agent, retriever, generation, tool, and which one carries cost. And one on why the replay is seeded.</a:t>
            </a:r>
          </a:p>
          <a:p/>
          <a:p>
            <a:r>
              <a:t>If you're unsure about a "where does cost live" question, remember: cost belongs to the model call. Everything above it is a sum.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2.1</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2 · SETUP AND YOUR FIRST TRACE IN 10 MINUTES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2.1</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Accounts, keys and spending caps</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Create a Langfuse Cloud project and copy its public key, secret key and base URL.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you need</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Langfuse Cloud project: free tier, EU or US region (or self-host in Section 13)</a:t>
            </a:r>
          </a:p>
          <a:p>
            <a:pPr marL="292608" indent="-292608">
              <a:lnSpc>
                <a:spcPct val="120000"/>
              </a:lnSpc>
              <a:spcAft>
                <a:spcPts val="1539"/>
              </a:spcAft>
              <a:buClr>
                <a:srgbClr val="00D4AA"/>
              </a:buClr>
              <a:buFont typeface="Inter"/>
              <a:buChar char="•"/>
            </a:pPr>
            <a:r>
              <a:rPr sz="2200" b="0">
                <a:solidFill>
                  <a:srgbClr val="FFFFFF"/>
                </a:solidFill>
                <a:latin typeface="Inter"/>
              </a:rPr>
              <a:t>OpenAI project: pay-as-you-go, with a hard cap</a:t>
            </a:r>
          </a:p>
          <a:p>
            <a:pPr marL="292608" indent="-292608">
              <a:lnSpc>
                <a:spcPct val="120000"/>
              </a:lnSpc>
              <a:spcAft>
                <a:spcPts val="1539"/>
              </a:spcAft>
              <a:buClr>
                <a:srgbClr val="00D4AA"/>
              </a:buClr>
              <a:buFont typeface="Inter"/>
              <a:buChar char="•"/>
            </a:pPr>
            <a:r>
              <a:rPr sz="2024" b="0">
                <a:solidFill>
                  <a:srgbClr val="00D4AA"/>
                </a:solidFill>
                <a:latin typeface="JetBrains Mono"/>
              </a:rPr>
              <a:t>.env</a:t>
            </a:r>
            <a:r>
              <a:rPr sz="2200" b="0">
                <a:solidFill>
                  <a:srgbClr val="FFFFFF"/>
                </a:solidFill>
                <a:latin typeface="Inter"/>
              </a:rPr>
              <a:t> filled from </a:t>
            </a:r>
            <a:r>
              <a:rPr sz="2024" b="0">
                <a:solidFill>
                  <a:srgbClr val="00D4AA"/>
                </a:solidFill>
                <a:latin typeface="JetBrains Mono"/>
              </a:rPr>
              <a:t>.env.example</a:t>
            </a:r>
            <a:r>
              <a:rPr sz="2200" b="0">
                <a:solidFill>
                  <a:srgbClr val="FFFFFF"/>
                </a:solidFill>
                <a:latin typeface="Inter"/>
              </a:rPr>
              <a:t>, never committed</a:t>
            </a:r>
          </a:p>
          <a:p>
            <a:pPr marL="292608" indent="-292608">
              <a:lnSpc>
                <a:spcPct val="120000"/>
              </a:lnSpc>
              <a:spcAft>
                <a:spcPts val="1539"/>
              </a:spcAft>
              <a:buClr>
                <a:srgbClr val="00D4AA"/>
              </a:buClr>
              <a:buFont typeface="Inter"/>
              <a:buChar char="•"/>
            </a:pPr>
            <a:r>
              <a:rPr sz="2200" b="0">
                <a:solidFill>
                  <a:srgbClr val="FFFFFF"/>
                </a:solidFill>
                <a:latin typeface="Inter"/>
              </a:rPr>
              <a:t>Expected spend for the whole course: $5-15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Langfuse free tier</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Generous monthly allowance of observations, plenty for this course</a:t>
            </a:r>
          </a:p>
          <a:p>
            <a:pPr marL="292608" indent="-292608">
              <a:lnSpc>
                <a:spcPct val="120000"/>
              </a:lnSpc>
              <a:spcAft>
                <a:spcPts val="1260"/>
              </a:spcAft>
              <a:buClr>
                <a:srgbClr val="00D4AA"/>
              </a:buClr>
              <a:buFont typeface="Inter"/>
              <a:buChar char="•"/>
            </a:pPr>
            <a:r>
              <a:rPr sz="1800" b="0">
                <a:solidFill>
                  <a:srgbClr val="FFFFFF"/>
                </a:solidFill>
                <a:latin typeface="Inter"/>
              </a:rPr>
              <a:t>Every span you send is one observation; a day of replayed traffic is thousands</a:t>
            </a:r>
          </a:p>
          <a:p>
            <a:pPr marL="292608" indent="-292608">
              <a:lnSpc>
                <a:spcPct val="120000"/>
              </a:lnSpc>
              <a:spcAft>
                <a:spcPts val="1260"/>
              </a:spcAft>
              <a:buClr>
                <a:srgbClr val="00D4AA"/>
              </a:buClr>
              <a:buFont typeface="Inter"/>
              <a:buChar char="•"/>
            </a:pPr>
            <a:r>
              <a:rPr sz="1800" b="0">
                <a:solidFill>
                  <a:srgbClr val="FFFFFF"/>
                </a:solidFill>
                <a:latin typeface="Inter"/>
              </a:rPr>
              <a:t>Default in this course: replay to the local store; send to Langfuse only when you want a trace to click</a:t>
            </a:r>
          </a:p>
          <a:p>
            <a:pPr marL="292608" indent="-292608">
              <a:lnSpc>
                <a:spcPct val="120000"/>
              </a:lnSpc>
              <a:spcAft>
                <a:spcPts val="1260"/>
              </a:spcAft>
              <a:buClr>
                <a:srgbClr val="00D4AA"/>
              </a:buClr>
              <a:buFont typeface="Inter"/>
              <a:buChar char="•"/>
            </a:pPr>
            <a:r>
              <a:rPr sz="1800" b="0">
                <a:solidFill>
                  <a:srgbClr val="FFFFFF"/>
                </a:solidFill>
                <a:latin typeface="Inter"/>
              </a:rPr>
              <a:t>Self-hosting (Section 13) has no limits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Why a cap and not just care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Section 1 cost $3.90 per conversation with one integer switched off</a:t>
            </a:r>
          </a:p>
          <a:p>
            <a:pPr marL="292608" indent="-292608">
              <a:lnSpc>
                <a:spcPct val="120000"/>
              </a:lnSpc>
              <a:spcAft>
                <a:spcPts val="1539"/>
              </a:spcAft>
              <a:buClr>
                <a:srgbClr val="00D4AA"/>
              </a:buClr>
              <a:buFont typeface="Inter"/>
              <a:buChar char="•"/>
            </a:pPr>
            <a:r>
              <a:rPr sz="2200" b="0">
                <a:solidFill>
                  <a:srgbClr val="FFFFFF"/>
                </a:solidFill>
                <a:latin typeface="Inter"/>
              </a:rPr>
              <a:t>A cap turns a bad night into a bounded bill</a:t>
            </a:r>
          </a:p>
          <a:p>
            <a:pPr marL="292608" indent="-292608">
              <a:lnSpc>
                <a:spcPct val="120000"/>
              </a:lnSpc>
              <a:spcAft>
                <a:spcPts val="1539"/>
              </a:spcAft>
              <a:buClr>
                <a:srgbClr val="00D4AA"/>
              </a:buClr>
              <a:buFont typeface="Inter"/>
              <a:buChar char="•"/>
            </a:pPr>
            <a:r>
              <a:rPr sz="2200" b="0">
                <a:solidFill>
                  <a:srgbClr val="FFFFFF"/>
                </a:solidFill>
                <a:latin typeface="Inter"/>
              </a:rPr>
              <a:t>Later: budgets per tenant (6.7), CI budget gate (13.3), so the cap is never the thing that fires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Cost guide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656" b="0">
                <a:solidFill>
                  <a:srgbClr val="00D4AA"/>
                </a:solidFill>
                <a:latin typeface="JetBrains Mono"/>
              </a:rPr>
              <a:t>10-resources/cost-guide.md</a:t>
            </a:r>
            <a:r>
              <a:rPr sz="1800" b="0">
                <a:solidFill>
                  <a:srgbClr val="FFFFFF"/>
                </a:solidFill>
                <a:latin typeface="Inter"/>
              </a:rPr>
              <a:t>: what each section costs live, and the offline path for each</a:t>
            </a:r>
          </a:p>
          <a:p>
            <a:pPr marL="292608" indent="-292608">
              <a:lnSpc>
                <a:spcPct val="120000"/>
              </a:lnSpc>
              <a:spcAft>
                <a:spcPts val="1260"/>
              </a:spcAft>
              <a:buClr>
                <a:srgbClr val="00D4AA"/>
              </a:buClr>
              <a:buFont typeface="Inter"/>
              <a:buChar char="•"/>
            </a:pPr>
            <a:r>
              <a:rPr sz="1800" b="0">
                <a:solidFill>
                  <a:srgbClr val="FFFFFF"/>
                </a:solidFill>
                <a:latin typeface="Inter"/>
              </a:rPr>
              <a:t>Rule of thumb: offline to learn, live for the screenshot</a:t>
            </a:r>
          </a:p>
          <a:p>
            <a:pPr marL="292608" indent="-292608">
              <a:lnSpc>
                <a:spcPct val="120000"/>
              </a:lnSpc>
              <a:spcAft>
                <a:spcPts val="1260"/>
              </a:spcAft>
              <a:buClr>
                <a:srgbClr val="00D4AA"/>
              </a:buClr>
              <a:buFont typeface="Inter"/>
              <a:buChar char="•"/>
            </a:pPr>
            <a:r>
              <a:rPr sz="1800" b="0">
                <a:solidFill>
                  <a:srgbClr val="FFFFFF"/>
                </a:solidFill>
                <a:latin typeface="Inter"/>
              </a:rPr>
              <a:t>Live-only moments: 2.3 (one request), 6.4 (a cache hit), 8.2 (a judge call), 14 (a short live run)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2.1</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Project setup with uv and the Makefile</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one command to install everything and prove the whole repo works, offline, before you spend a cent.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2.2</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2 · SETUP AND YOUR FIRST TRACE IN 10 MINUTES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2.2</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Project setup with uv and the Makefile</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Install the project with </a:t>
            </a:r>
            <a:r>
              <a:rPr sz="1472" b="0">
                <a:solidFill>
                  <a:srgbClr val="00D4AA"/>
                </a:solidFill>
                <a:latin typeface="JetBrains Mono"/>
              </a:rPr>
              <a:t>uv</a:t>
            </a:r>
            <a:r>
              <a:rPr sz="1600" b="0">
                <a:solidFill>
                  <a:srgbClr val="CBD5E1"/>
                </a:solidFill>
                <a:latin typeface="Inter"/>
              </a:rPr>
              <a:t> via </a:t>
            </a:r>
            <a:r>
              <a:rPr sz="1472" b="0">
                <a:solidFill>
                  <a:srgbClr val="00D4AA"/>
                </a:solidFill>
                <a:latin typeface="JetBrains Mono"/>
              </a:rPr>
              <a:t>make install</a:t>
            </a:r>
            <a:r>
              <a:rPr sz="1600" b="0">
                <a:solidFill>
                  <a:srgbClr val="CBD5E1"/>
                </a:solidFill>
                <a:latin typeface="Inter"/>
              </a:rPr>
              <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the tests just proved</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656" b="0">
                <a:solidFill>
                  <a:srgbClr val="00D4AA"/>
                </a:solidFill>
                <a:latin typeface="JetBrains Mono"/>
              </a:rPr>
              <a:t>src/northwind</a:t>
            </a:r>
            <a:r>
              <a:rPr sz="1800" b="0">
                <a:solidFill>
                  <a:srgbClr val="FFFFFF"/>
                </a:solidFill>
                <a:latin typeface="Inter"/>
              </a:rPr>
              <a:t>: pricing, cost, budgets, tokens, latency, SLOs, sampling, drift, PII, report</a:t>
            </a:r>
          </a:p>
          <a:p>
            <a:pPr marL="292608" indent="-292608">
              <a:lnSpc>
                <a:spcPct val="120000"/>
              </a:lnSpc>
              <a:spcAft>
                <a:spcPts val="1260"/>
              </a:spcAft>
              <a:buClr>
                <a:srgbClr val="00D4AA"/>
              </a:buClr>
              <a:buFont typeface="Inter"/>
              <a:buChar char="•"/>
            </a:pPr>
            <a:r>
              <a:rPr sz="1656" b="0">
                <a:solidFill>
                  <a:srgbClr val="00D4AA"/>
                </a:solidFill>
                <a:latin typeface="JetBrains Mono"/>
              </a:rPr>
              <a:t>simulator</a:t>
            </a:r>
            <a:r>
              <a:rPr sz="1800" b="0">
                <a:solidFill>
                  <a:srgbClr val="FFFFFF"/>
                </a:solidFill>
                <a:latin typeface="Inter"/>
              </a:rPr>
              <a:t>: personas and scenarios are deterministic under a seed</a:t>
            </a:r>
          </a:p>
          <a:p>
            <a:pPr marL="292608" indent="-292608">
              <a:lnSpc>
                <a:spcPct val="120000"/>
              </a:lnSpc>
              <a:spcAft>
                <a:spcPts val="1260"/>
              </a:spcAft>
              <a:buClr>
                <a:srgbClr val="00D4AA"/>
              </a:buClr>
              <a:buFont typeface="Inter"/>
              <a:buChar char="•"/>
            </a:pPr>
            <a:r>
              <a:rPr sz="1656" b="0">
                <a:solidFill>
                  <a:srgbClr val="00D4AA"/>
                </a:solidFill>
                <a:latin typeface="JetBrains Mono"/>
              </a:rPr>
              <a:t>app</a:t>
            </a:r>
            <a:r>
              <a:rPr sz="1800" b="0">
                <a:solidFill>
                  <a:srgbClr val="FFFFFF"/>
                </a:solidFill>
                <a:latin typeface="Inter"/>
              </a:rPr>
              <a:t> in </a:t>
            </a:r>
            <a:r>
              <a:rPr sz="1656" b="0">
                <a:solidFill>
                  <a:srgbClr val="00D4AA"/>
                </a:solidFill>
                <a:latin typeface="JetBrains Mono"/>
              </a:rPr>
              <a:t>OFFLINE=1</a:t>
            </a:r>
            <a:r>
              <a:rPr sz="1800" b="0">
                <a:solidFill>
                  <a:srgbClr val="FFFFFF"/>
                </a:solidFill>
                <a:latin typeface="Inter"/>
              </a:rPr>
              <a:t>: a request produces the expected spans, with the expected attributes</a:t>
            </a:r>
          </a:p>
          <a:p>
            <a:pPr marL="292608" indent="-292608">
              <a:lnSpc>
                <a:spcPct val="120000"/>
              </a:lnSpc>
              <a:spcAft>
                <a:spcPts val="1260"/>
              </a:spcAft>
              <a:buClr>
                <a:srgbClr val="00D4AA"/>
              </a:buClr>
              <a:buFont typeface="Inter"/>
              <a:buChar char="•"/>
            </a:pPr>
            <a:r>
              <a:rPr sz="1800" b="0">
                <a:solidFill>
                  <a:srgbClr val="FFFFFF"/>
                </a:solidFill>
                <a:latin typeface="Inter"/>
              </a:rPr>
              <a:t>You have a working OTel pipeline before writing any of it yourself</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Your two-terminal layout for the course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Terminal 1: </a:t>
            </a:r>
            <a:r>
              <a:rPr sz="2024" b="0">
                <a:solidFill>
                  <a:srgbClr val="00D4AA"/>
                </a:solidFill>
                <a:latin typeface="JetBrains Mono"/>
              </a:rPr>
              <a:t>make run</a:t>
            </a:r>
            <a:r>
              <a:rPr sz="2200" b="0">
                <a:solidFill>
                  <a:srgbClr val="FFFFFF"/>
                </a:solidFill>
                <a:latin typeface="Inter"/>
              </a:rPr>
              <a:t> (leave it running; watch its logs)</a:t>
            </a:r>
          </a:p>
          <a:p>
            <a:pPr marL="292608" indent="-292608">
              <a:lnSpc>
                <a:spcPct val="120000"/>
              </a:lnSpc>
              <a:spcAft>
                <a:spcPts val="1539"/>
              </a:spcAft>
              <a:buClr>
                <a:srgbClr val="00D4AA"/>
              </a:buClr>
              <a:buFont typeface="Inter"/>
              <a:buChar char="•"/>
            </a:pPr>
            <a:r>
              <a:rPr sz="2200" b="0">
                <a:solidFill>
                  <a:srgbClr val="FFFFFF"/>
                </a:solidFill>
                <a:latin typeface="Inter"/>
              </a:rPr>
              <a:t>Terminal 2: </a:t>
            </a:r>
            <a:r>
              <a:rPr sz="2024" b="0">
                <a:solidFill>
                  <a:srgbClr val="00D4AA"/>
                </a:solidFill>
                <a:latin typeface="JetBrains Mono"/>
              </a:rPr>
              <a:t>curl</a:t>
            </a:r>
            <a:r>
              <a:rPr sz="2200" b="0">
                <a:solidFill>
                  <a:srgbClr val="FFFFFF"/>
                </a:solidFill>
                <a:latin typeface="Inter"/>
              </a:rPr>
              <a:t>, </a:t>
            </a:r>
            <a:r>
              <a:rPr sz="2024" b="0">
                <a:solidFill>
                  <a:srgbClr val="00D4AA"/>
                </a:solidFill>
                <a:latin typeface="JetBrains Mono"/>
              </a:rPr>
              <a:t>make swarm</a:t>
            </a:r>
            <a:r>
              <a:rPr sz="2200" b="0">
                <a:solidFill>
                  <a:srgbClr val="FFFFFF"/>
                </a:solidFill>
                <a:latin typeface="Inter"/>
              </a:rPr>
              <a:t>, </a:t>
            </a:r>
            <a:r>
              <a:rPr sz="2024" b="0">
                <a:solidFill>
                  <a:srgbClr val="00D4AA"/>
                </a:solidFill>
                <a:latin typeface="JetBrains Mono"/>
              </a:rPr>
              <a:t>make replay</a:t>
            </a:r>
            <a:r>
              <a:rPr sz="2200" b="0">
                <a:solidFill>
                  <a:srgbClr val="FFFFFF"/>
                </a:solidFill>
                <a:latin typeface="Inter"/>
              </a:rPr>
              <a:t>, tests</a:t>
            </a:r>
          </a:p>
          <a:p>
            <a:pPr marL="292608" indent="-292608">
              <a:lnSpc>
                <a:spcPct val="120000"/>
              </a:lnSpc>
              <a:spcAft>
                <a:spcPts val="1539"/>
              </a:spcAft>
              <a:buClr>
                <a:srgbClr val="00D4AA"/>
              </a:buClr>
              <a:buFont typeface="Inter"/>
              <a:buChar char="•"/>
            </a:pPr>
            <a:r>
              <a:rPr sz="2200" b="0">
                <a:solidFill>
                  <a:srgbClr val="FFFFFF"/>
                </a:solidFill>
                <a:latin typeface="Inter"/>
              </a:rPr>
              <a:t>Browser: Langfuse, and the Ops Console on port 8501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2.2</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Quick win: one request, one trace</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the quick win: one request, one trace, and the screen the whole course is about.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2.3</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2 · SETUP AND YOUR FIRST TRACE IN 10 MINUTES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2.3</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Quick win: one request, one trace</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Send one question to Atlas with tenant, user and session headers.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Read a trace top to bottom</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Header: latency, cost, tokens, session, user, tags</a:t>
            </a:r>
          </a:p>
          <a:p>
            <a:pPr marL="292608" indent="-292608">
              <a:lnSpc>
                <a:spcPct val="120000"/>
              </a:lnSpc>
              <a:spcAft>
                <a:spcPts val="1260"/>
              </a:spcAft>
              <a:buClr>
                <a:srgbClr val="00D4AA"/>
              </a:buClr>
              <a:buFont typeface="Inter"/>
              <a:buChar char="•"/>
            </a:pPr>
            <a:r>
              <a:rPr sz="1800" b="0">
                <a:solidFill>
                  <a:srgbClr val="FFFFFF"/>
                </a:solidFill>
                <a:latin typeface="Inter"/>
              </a:rPr>
              <a:t>Root: </a:t>
            </a:r>
            <a:r>
              <a:rPr sz="1656" b="0">
                <a:solidFill>
                  <a:srgbClr val="00D4AA"/>
                </a:solidFill>
                <a:latin typeface="JetBrains Mono"/>
              </a:rPr>
              <a:t>atlas</a:t>
            </a:r>
            <a:r>
              <a:rPr sz="1800" b="0">
                <a:solidFill>
                  <a:srgbClr val="FFFFFF"/>
                </a:solidFill>
                <a:latin typeface="Inter"/>
              </a:rPr>
              <a:t> (type: agent)</a:t>
            </a:r>
          </a:p>
          <a:p>
            <a:pPr marL="292608" indent="-292608">
              <a:lnSpc>
                <a:spcPct val="120000"/>
              </a:lnSpc>
              <a:spcAft>
                <a:spcPts val="1260"/>
              </a:spcAft>
              <a:buClr>
                <a:srgbClr val="00D4AA"/>
              </a:buClr>
              <a:buFont typeface="Inter"/>
              <a:buChar char="•"/>
            </a:pPr>
            <a:r>
              <a:rPr sz="1800" b="0">
                <a:solidFill>
                  <a:srgbClr val="FFFFFF"/>
                </a:solidFill>
                <a:latin typeface="Inter"/>
              </a:rPr>
              <a:t>Child: </a:t>
            </a:r>
            <a:r>
              <a:rPr sz="1656" b="0">
                <a:solidFill>
                  <a:srgbClr val="00D4AA"/>
                </a:solidFill>
                <a:latin typeface="JetBrains Mono"/>
              </a:rPr>
              <a:t>search_knowledge_base</a:t>
            </a:r>
            <a:r>
              <a:rPr sz="1800" b="0">
                <a:solidFill>
                  <a:srgbClr val="FFFFFF"/>
                </a:solidFill>
                <a:latin typeface="Inter"/>
              </a:rPr>
              <a:t> (type: retriever)</a:t>
            </a:r>
          </a:p>
          <a:p>
            <a:pPr marL="292608" indent="-292608">
              <a:lnSpc>
                <a:spcPct val="120000"/>
              </a:lnSpc>
              <a:spcAft>
                <a:spcPts val="1260"/>
              </a:spcAft>
              <a:buClr>
                <a:srgbClr val="00D4AA"/>
              </a:buClr>
              <a:buFont typeface="Inter"/>
              <a:buChar char="•"/>
            </a:pPr>
            <a:r>
              <a:rPr sz="1800" b="0">
                <a:solidFill>
                  <a:srgbClr val="FFFFFF"/>
                </a:solidFill>
                <a:latin typeface="Inter"/>
              </a:rPr>
              <a:t>Child: </a:t>
            </a:r>
            <a:r>
              <a:rPr sz="1656" b="0">
                <a:solidFill>
                  <a:srgbClr val="00D4AA"/>
                </a:solidFill>
                <a:latin typeface="JetBrains Mono"/>
              </a:rPr>
              <a:t>chat gpt-4.1-mini</a:t>
            </a:r>
            <a:r>
              <a:rPr sz="1800" b="0">
                <a:solidFill>
                  <a:srgbClr val="FFFFFF"/>
                </a:solidFill>
                <a:latin typeface="Inter"/>
              </a:rPr>
              <a:t> (type: generation): usage, cost, model, input and output messages</a:t>
            </a:r>
          </a:p>
          <a:p>
            <a:pPr marL="292608" indent="-292608">
              <a:lnSpc>
                <a:spcPct val="120000"/>
              </a:lnSpc>
              <a:spcAft>
                <a:spcPts val="1260"/>
              </a:spcAft>
              <a:buClr>
                <a:srgbClr val="00D4AA"/>
              </a:buClr>
              <a:buFont typeface="Inter"/>
              <a:buChar char="•"/>
            </a:pPr>
            <a:r>
              <a:rPr sz="1800" b="0">
                <a:solidFill>
                  <a:srgbClr val="FFFFFF"/>
                </a:solidFill>
                <a:latin typeface="Inter"/>
              </a:rPr>
              <a:t>Child: </a:t>
            </a:r>
            <a:r>
              <a:rPr sz="1656" b="0">
                <a:solidFill>
                  <a:srgbClr val="00D4AA"/>
                </a:solidFill>
                <a:latin typeface="JetBrains Mono"/>
              </a:rPr>
              <a:t>execute_tool ...</a:t>
            </a:r>
            <a:r>
              <a:rPr sz="1800" b="0">
                <a:solidFill>
                  <a:srgbClr val="FFFFFF"/>
                </a:solidFill>
                <a:latin typeface="Inter"/>
              </a:rPr>
              <a:t> (type: tool): arguments and result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Where each piece of this screen comes from</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8" cy="2304288"/>
        </p:xfrm>
        <a:graphic>
          <a:graphicData uri="http://schemas.openxmlformats.org/drawingml/2006/table">
            <a:tbl>
              <a:tblPr firstRow="1" bandRow="1">
                <a:tableStyleId>{5C22544A-7EE6-4342-B048-85BDC9FD1C3A}</a:tableStyleId>
              </a:tblPr>
              <a:tblGrid>
                <a:gridCol w="3542851"/>
                <a:gridCol w="6421418"/>
                <a:gridCol w="1328569"/>
              </a:tblGrid>
              <a:tr h="384048">
                <a:tc>
                  <a:txBody>
                    <a:bodyPr wrap="square"/>
                    <a:lstStyle/>
                    <a:p>
                      <a:r>
                        <a:rPr sz="1200" b="1">
                          <a:solidFill>
                            <a:srgbClr val="0A1628"/>
                          </a:solidFill>
                          <a:latin typeface="Inter"/>
                        </a:rPr>
                        <a:t>On screen</a:t>
                      </a:r>
                    </a:p>
                  </a:txBody>
                  <a:tcPr marL="91440" marR="91440" marT="45720" marB="45720" anchor="ctr">
                    <a:solidFill>
                      <a:srgbClr val="00D4AA"/>
                    </a:solidFill>
                  </a:tcPr>
                </a:tc>
                <a:tc>
                  <a:txBody>
                    <a:bodyPr wrap="square"/>
                    <a:lstStyle/>
                    <a:p>
                      <a:r>
                        <a:rPr sz="1200" b="1">
                          <a:solidFill>
                            <a:srgbClr val="0A1628"/>
                          </a:solidFill>
                          <a:latin typeface="Inter"/>
                        </a:rPr>
                        <a:t>Set by</a:t>
                      </a:r>
                    </a:p>
                  </a:txBody>
                  <a:tcPr marL="91440" marR="91440" marT="45720" marB="45720" anchor="ctr">
                    <a:solidFill>
                      <a:srgbClr val="00D4AA"/>
                    </a:solidFill>
                  </a:tcPr>
                </a:tc>
                <a:tc>
                  <a:txBody>
                    <a:bodyPr wrap="square"/>
                    <a:lstStyle/>
                    <a:p>
                      <a:r>
                        <a:rPr sz="1200" b="1">
                          <a:solidFill>
                            <a:srgbClr val="0A1628"/>
                          </a:solidFill>
                          <a:latin typeface="Inter"/>
                        </a:rPr>
                        <a:t>Rebuilt in</a:t>
                      </a:r>
                    </a:p>
                  </a:txBody>
                  <a:tcPr marL="91440" marR="91440" marT="45720" marB="45720" anchor="ctr">
                    <a:solidFill>
                      <a:srgbClr val="00D4AA"/>
                    </a:solidFill>
                  </a:tcPr>
                </a:tc>
              </a:tr>
              <a:tr h="384048">
                <a:tc>
                  <a:txBody>
                    <a:bodyPr wrap="square"/>
                    <a:lstStyle/>
                    <a:p>
                      <a:r>
                        <a:rPr sz="1200" b="1">
                          <a:solidFill>
                            <a:srgbClr val="FFFFFF"/>
                          </a:solidFill>
                          <a:latin typeface="Inter"/>
                        </a:rPr>
                        <a:t>Tree of observations</a:t>
                      </a:r>
                    </a:p>
                  </a:txBody>
                  <a:tcPr marL="91440" marR="91440" marT="45720" marB="45720" anchor="ctr">
                    <a:solidFill>
                      <a:srgbClr val="1A2742"/>
                    </a:solidFill>
                  </a:tcPr>
                </a:tc>
                <a:tc>
                  <a:txBody>
                    <a:bodyPr wrap="square"/>
                    <a:lstStyle/>
                    <a:p>
                      <a:r>
                        <a:rPr sz="1200" b="0">
                          <a:solidFill>
                            <a:srgbClr val="FFFFFF"/>
                          </a:solidFill>
                          <a:latin typeface="Inter"/>
                        </a:rPr>
                        <a:t>OpenTelemetry spans with Langfuse types</a:t>
                      </a:r>
                    </a:p>
                  </a:txBody>
                  <a:tcPr marL="91440" marR="91440" marT="45720" marB="45720" anchor="ctr">
                    <a:solidFill>
                      <a:srgbClr val="1A2742"/>
                    </a:solidFill>
                  </a:tcPr>
                </a:tc>
                <a:tc>
                  <a:txBody>
                    <a:bodyPr wrap="square"/>
                    <a:lstStyle/>
                    <a:p>
                      <a:r>
                        <a:rPr sz="1200" b="0">
                          <a:solidFill>
                            <a:srgbClr val="FFFFFF"/>
                          </a:solidFill>
                          <a:latin typeface="Inter"/>
                        </a:rPr>
                        <a:t>Section 3, 4</a:t>
                      </a:r>
                    </a:p>
                  </a:txBody>
                  <a:tcPr marL="91440" marR="91440" marT="45720" marB="45720" anchor="ctr">
                    <a:solidFill>
                      <a:srgbClr val="1A2742"/>
                    </a:solidFill>
                  </a:tcPr>
                </a:tc>
              </a:tr>
              <a:tr h="384048">
                <a:tc>
                  <a:txBody>
                    <a:bodyPr wrap="square"/>
                    <a:lstStyle/>
                    <a:p>
                      <a:r>
                        <a:rPr sz="1200" b="1">
                          <a:solidFill>
                            <a:srgbClr val="FFFFFF"/>
                          </a:solidFill>
                          <a:latin typeface="Inter"/>
                        </a:rPr>
                        <a:t>Session, user, tags</a:t>
                      </a:r>
                    </a:p>
                  </a:txBody>
                  <a:tcPr marL="91440" marR="91440" marT="45720" marB="45720" anchor="ctr">
                    <a:solidFill>
                      <a:srgbClr val="0F1E35"/>
                    </a:solidFill>
                  </a:tcPr>
                </a:tc>
                <a:tc>
                  <a:txBody>
                    <a:bodyPr wrap="square"/>
                    <a:lstStyle/>
                    <a:p>
                      <a:r>
                        <a:rPr sz="1104" b="0">
                          <a:solidFill>
                            <a:srgbClr val="00D4AA"/>
                          </a:solidFill>
                          <a:latin typeface="JetBrains Mono"/>
                        </a:rPr>
                        <a:t>propagate_attributes(...)</a:t>
                      </a:r>
                      <a:r>
                        <a:rPr sz="1200" b="0">
                          <a:solidFill>
                            <a:srgbClr val="FFFFFF"/>
                          </a:solidFill>
                          <a:latin typeface="Inter"/>
                        </a:rPr>
                        <a:t> from the request headers</a:t>
                      </a:r>
                    </a:p>
                  </a:txBody>
                  <a:tcPr marL="91440" marR="91440" marT="45720" marB="45720" anchor="ctr">
                    <a:solidFill>
                      <a:srgbClr val="0F1E35"/>
                    </a:solidFill>
                  </a:tcPr>
                </a:tc>
                <a:tc>
                  <a:txBody>
                    <a:bodyPr wrap="square"/>
                    <a:lstStyle/>
                    <a:p>
                      <a:r>
                        <a:rPr sz="1200" b="0">
                          <a:solidFill>
                            <a:srgbClr val="FFFFFF"/>
                          </a:solidFill>
                          <a:latin typeface="Inter"/>
                        </a:rPr>
                        <a:t>4.3</a:t>
                      </a:r>
                    </a:p>
                  </a:txBody>
                  <a:tcPr marL="91440" marR="91440" marT="45720" marB="45720" anchor="ctr">
                    <a:solidFill>
                      <a:srgbClr val="0F1E35"/>
                    </a:solidFill>
                  </a:tcPr>
                </a:tc>
              </a:tr>
              <a:tr h="384048">
                <a:tc>
                  <a:txBody>
                    <a:bodyPr wrap="square"/>
                    <a:lstStyle/>
                    <a:p>
                      <a:r>
                        <a:rPr sz="1200" b="1">
                          <a:solidFill>
                            <a:srgbClr val="FFFFFF"/>
                          </a:solidFill>
                          <a:latin typeface="Inter"/>
                        </a:rPr>
                        <a:t>Usage and cost on the generation</a:t>
                      </a:r>
                    </a:p>
                  </a:txBody>
                  <a:tcPr marL="91440" marR="91440" marT="45720" marB="45720" anchor="ctr">
                    <a:solidFill>
                      <a:srgbClr val="1A2742"/>
                    </a:solidFill>
                  </a:tcPr>
                </a:tc>
                <a:tc>
                  <a:txBody>
                    <a:bodyPr wrap="square"/>
                    <a:lstStyle/>
                    <a:p>
                      <a:r>
                        <a:rPr sz="1104" b="0">
                          <a:solidFill>
                            <a:srgbClr val="00D4AA"/>
                          </a:solidFill>
                          <a:latin typeface="JetBrains Mono"/>
                        </a:rPr>
                        <a:t>update_current_generation(usage_details=, cost_details=)</a:t>
                      </a:r>
                    </a:p>
                  </a:txBody>
                  <a:tcPr marL="91440" marR="91440" marT="45720" marB="45720" anchor="ctr">
                    <a:solidFill>
                      <a:srgbClr val="1A2742"/>
                    </a:solidFill>
                  </a:tcPr>
                </a:tc>
                <a:tc>
                  <a:txBody>
                    <a:bodyPr wrap="square"/>
                    <a:lstStyle/>
                    <a:p>
                      <a:r>
                        <a:rPr sz="1200" b="0">
                          <a:solidFill>
                            <a:srgbClr val="FFFFFF"/>
                          </a:solidFill>
                          <a:latin typeface="Inter"/>
                        </a:rPr>
                        <a:t>4.2, 6.2</a:t>
                      </a:r>
                    </a:p>
                  </a:txBody>
                  <a:tcPr marL="91440" marR="91440" marT="45720" marB="45720" anchor="ctr">
                    <a:solidFill>
                      <a:srgbClr val="1A2742"/>
                    </a:solidFill>
                  </a:tcPr>
                </a:tc>
              </a:tr>
              <a:tr h="384048">
                <a:tc>
                  <a:txBody>
                    <a:bodyPr wrap="square"/>
                    <a:lstStyle/>
                    <a:p>
                      <a:r>
                        <a:rPr sz="1200" b="1">
                          <a:solidFill>
                            <a:srgbClr val="FFFFFF"/>
                          </a:solidFill>
                          <a:latin typeface="Inter"/>
                        </a:rPr>
                        <a:t>Retriever output and scores</a:t>
                      </a:r>
                    </a:p>
                  </a:txBody>
                  <a:tcPr marL="91440" marR="91440" marT="45720" marB="45720" anchor="ctr">
                    <a:solidFill>
                      <a:srgbClr val="0F1E35"/>
                    </a:solidFill>
                  </a:tcPr>
                </a:tc>
                <a:tc>
                  <a:txBody>
                    <a:bodyPr wrap="square"/>
                    <a:lstStyle/>
                    <a:p>
                      <a:r>
                        <a:rPr sz="1200" b="0">
                          <a:solidFill>
                            <a:srgbClr val="FFFFFF"/>
                          </a:solidFill>
                          <a:latin typeface="Inter"/>
                        </a:rPr>
                        <a:t>retriever observation</a:t>
                      </a:r>
                    </a:p>
                  </a:txBody>
                  <a:tcPr marL="91440" marR="91440" marT="45720" marB="45720" anchor="ctr">
                    <a:solidFill>
                      <a:srgbClr val="0F1E35"/>
                    </a:solidFill>
                  </a:tcPr>
                </a:tc>
                <a:tc>
                  <a:txBody>
                    <a:bodyPr wrap="square"/>
                    <a:lstStyle/>
                    <a:p>
                      <a:r>
                        <a:rPr sz="1200" b="0">
                          <a:solidFill>
                            <a:srgbClr val="FFFFFF"/>
                          </a:solidFill>
                          <a:latin typeface="Inter"/>
                        </a:rPr>
                        <a:t>5.3</a:t>
                      </a:r>
                    </a:p>
                  </a:txBody>
                  <a:tcPr marL="91440" marR="91440" marT="45720" marB="45720" anchor="ctr">
                    <a:solidFill>
                      <a:srgbClr val="0F1E35"/>
                    </a:solidFill>
                  </a:tcPr>
                </a:tc>
              </a:tr>
              <a:tr h="384048">
                <a:tc>
                  <a:txBody>
                    <a:bodyPr wrap="square"/>
                    <a:lstStyle/>
                    <a:p>
                      <a:r>
                        <a:rPr sz="1200" b="1">
                          <a:solidFill>
                            <a:srgbClr val="FFFFFF"/>
                          </a:solidFill>
                          <a:latin typeface="Inter"/>
                        </a:rPr>
                        <a:t>Latency per observation</a:t>
                      </a:r>
                    </a:p>
                  </a:txBody>
                  <a:tcPr marL="91440" marR="91440" marT="45720" marB="45720" anchor="ctr">
                    <a:solidFill>
                      <a:srgbClr val="1A2742"/>
                    </a:solidFill>
                  </a:tcPr>
                </a:tc>
                <a:tc>
                  <a:txBody>
                    <a:bodyPr wrap="square"/>
                    <a:lstStyle/>
                    <a:p>
                      <a:r>
                        <a:rPr sz="1200" b="0">
                          <a:solidFill>
                            <a:srgbClr val="FFFFFF"/>
                          </a:solidFill>
                          <a:latin typeface="Inter"/>
                        </a:rPr>
                        <a:t>span start and end times</a:t>
                      </a:r>
                    </a:p>
                  </a:txBody>
                  <a:tcPr marL="91440" marR="91440" marT="45720" marB="45720" anchor="ctr">
                    <a:solidFill>
                      <a:srgbClr val="1A2742"/>
                    </a:solidFill>
                  </a:tcPr>
                </a:tc>
                <a:tc>
                  <a:txBody>
                    <a:bodyPr wrap="square"/>
                    <a:lstStyle/>
                    <a:p>
                      <a:r>
                        <a:rPr sz="1200" b="0">
                          <a:solidFill>
                            <a:srgbClr val="FFFFFF"/>
                          </a:solidFill>
                          <a:latin typeface="Inter"/>
                        </a:rPr>
                        <a:t>5.4, 7.2</a:t>
                      </a:r>
                    </a:p>
                  </a:txBody>
                  <a:tcPr marL="91440" marR="91440" marT="45720" marB="45720" anchor="ctr">
                    <a:solidFill>
                      <a:srgbClr val="1A2742"/>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2.3</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Offline mode: a full day of traffic for free</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a whole day of these traces, for free, in about forty seconds.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2.4</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2 · SETUP AND YOUR FIRST TRACE IN 10 MINUTES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2.4</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Offline mode: a full day of traffic for free</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Replay a deterministic day of traffic into the local store with </a:t>
            </a:r>
            <a:r>
              <a:rPr sz="1472" b="0">
                <a:solidFill>
                  <a:srgbClr val="00D4AA"/>
                </a:solidFill>
                <a:latin typeface="JetBrains Mono"/>
              </a:rPr>
              <a:t>OFFLINE=1 make replay</a:t>
            </a:r>
            <a:r>
              <a:rPr sz="1600" b="0">
                <a:solidFill>
                  <a:srgbClr val="CBD5E1"/>
                </a:solidFill>
                <a:latin typeface="Inter"/>
              </a:rP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a:t>
            </a:r>
            <a:r>
              <a:rPr sz="2392" b="0">
                <a:solidFill>
                  <a:srgbClr val="00D4AA"/>
                </a:solidFill>
                <a:latin typeface="JetBrains Mono"/>
              </a:rPr>
              <a:t>OFFLINE=1</a:t>
            </a:r>
            <a:r>
              <a:rPr sz="2600" b="1">
                <a:solidFill>
                  <a:srgbClr val="FFFFFF"/>
                </a:solidFill>
                <a:latin typeface="Inter"/>
              </a:rPr>
              <a:t> swaps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9" cy="2304288"/>
        </p:xfrm>
        <a:graphic>
          <a:graphicData uri="http://schemas.openxmlformats.org/drawingml/2006/table">
            <a:tbl>
              <a:tblPr firstRow="1" bandRow="1">
                <a:tableStyleId>{5C22544A-7EE6-4342-B048-85BDC9FD1C3A}</a:tableStyleId>
              </a:tblPr>
              <a:tblGrid>
                <a:gridCol w="1457140"/>
                <a:gridCol w="2549996"/>
                <a:gridCol w="7285703"/>
              </a:tblGrid>
              <a:tr h="384048">
                <a:tc>
                  <a:txBody>
                    <a:bodyPr wrap="square"/>
                    <a:lstStyle/>
                    <a:p>
                      <a:r>
                        <a:rPr sz="1200" b="1">
                          <a:solidFill>
                            <a:srgbClr val="0A1628"/>
                          </a:solidFill>
                          <a:latin typeface="Inter"/>
                        </a:rPr>
                        <a:t>Component</a:t>
                      </a:r>
                    </a:p>
                  </a:txBody>
                  <a:tcPr marL="91440" marR="91440" marT="45720" marB="45720" anchor="ctr">
                    <a:solidFill>
                      <a:srgbClr val="00D4AA"/>
                    </a:solidFill>
                  </a:tcPr>
                </a:tc>
                <a:tc>
                  <a:txBody>
                    <a:bodyPr wrap="square"/>
                    <a:lstStyle/>
                    <a:p>
                      <a:r>
                        <a:rPr sz="1200" b="1">
                          <a:solidFill>
                            <a:srgbClr val="0A1628"/>
                          </a:solidFill>
                          <a:latin typeface="Inter"/>
                        </a:rPr>
                        <a:t>Live</a:t>
                      </a:r>
                    </a:p>
                  </a:txBody>
                  <a:tcPr marL="91440" marR="91440" marT="45720" marB="45720" anchor="ctr">
                    <a:solidFill>
                      <a:srgbClr val="00D4AA"/>
                    </a:solidFill>
                  </a:tcPr>
                </a:tc>
                <a:tc>
                  <a:txBody>
                    <a:bodyPr wrap="square"/>
                    <a:lstStyle/>
                    <a:p>
                      <a:r>
                        <a:rPr sz="1200" b="1">
                          <a:solidFill>
                            <a:srgbClr val="0A1628"/>
                          </a:solidFill>
                          <a:latin typeface="Inter"/>
                        </a:rPr>
                        <a:t>Offline</a:t>
                      </a:r>
                    </a:p>
                  </a:txBody>
                  <a:tcPr marL="91440" marR="91440" marT="45720" marB="45720" anchor="ctr">
                    <a:solidFill>
                      <a:srgbClr val="00D4AA"/>
                    </a:solidFill>
                  </a:tcPr>
                </a:tc>
              </a:tr>
              <a:tr h="384048">
                <a:tc>
                  <a:txBody>
                    <a:bodyPr wrap="square"/>
                    <a:lstStyle/>
                    <a:p>
                      <a:r>
                        <a:rPr sz="1200" b="1">
                          <a:solidFill>
                            <a:srgbClr val="FFFFFF"/>
                          </a:solidFill>
                          <a:latin typeface="Inter"/>
                        </a:rPr>
                        <a:t>Model calls</a:t>
                      </a:r>
                    </a:p>
                  </a:txBody>
                  <a:tcPr marL="91440" marR="91440" marT="45720" marB="45720" anchor="ctr">
                    <a:solidFill>
                      <a:srgbClr val="1A2742"/>
                    </a:solidFill>
                  </a:tcPr>
                </a:tc>
                <a:tc>
                  <a:txBody>
                    <a:bodyPr wrap="square"/>
                    <a:lstStyle/>
                    <a:p>
                      <a:r>
                        <a:rPr sz="1200" b="0">
                          <a:solidFill>
                            <a:srgbClr val="FFFFFF"/>
                          </a:solidFill>
                          <a:latin typeface="Inter"/>
                        </a:rPr>
                        <a:t>OpenAI API</a:t>
                      </a:r>
                    </a:p>
                  </a:txBody>
                  <a:tcPr marL="91440" marR="91440" marT="45720" marB="45720" anchor="ctr">
                    <a:solidFill>
                      <a:srgbClr val="1A2742"/>
                    </a:solidFill>
                  </a:tcPr>
                </a:tc>
                <a:tc>
                  <a:txBody>
                    <a:bodyPr wrap="square"/>
                    <a:lstStyle/>
                    <a:p>
                      <a:r>
                        <a:rPr sz="1104" b="0">
                          <a:solidFill>
                            <a:srgbClr val="00D4AA"/>
                          </a:solidFill>
                          <a:latin typeface="JetBrains Mono"/>
                        </a:rPr>
                        <a:t>app/mock_llm.py</a:t>
                      </a:r>
                      <a:r>
                        <a:rPr sz="1200" b="0">
                          <a:solidFill>
                            <a:srgbClr val="FFFFFF"/>
                          </a:solidFill>
                          <a:latin typeface="Inter"/>
                        </a:rPr>
                        <a:t>: deterministic, scenario-aware</a:t>
                      </a:r>
                    </a:p>
                  </a:txBody>
                  <a:tcPr marL="91440" marR="91440" marT="45720" marB="45720" anchor="ctr">
                    <a:solidFill>
                      <a:srgbClr val="1A2742"/>
                    </a:solidFill>
                  </a:tcPr>
                </a:tc>
              </a:tr>
              <a:tr h="384048">
                <a:tc>
                  <a:txBody>
                    <a:bodyPr wrap="square"/>
                    <a:lstStyle/>
                    <a:p>
                      <a:r>
                        <a:rPr sz="1200" b="1">
                          <a:solidFill>
                            <a:srgbClr val="FFFFFF"/>
                          </a:solidFill>
                          <a:latin typeface="Inter"/>
                        </a:rPr>
                        <a:t>Token counts</a:t>
                      </a:r>
                    </a:p>
                  </a:txBody>
                  <a:tcPr marL="91440" marR="91440" marT="45720" marB="45720" anchor="ctr">
                    <a:solidFill>
                      <a:srgbClr val="0F1E35"/>
                    </a:solidFill>
                  </a:tcPr>
                </a:tc>
                <a:tc>
                  <a:txBody>
                    <a:bodyPr wrap="square"/>
                    <a:lstStyle/>
                    <a:p>
                      <a:r>
                        <a:rPr sz="1200" b="0">
                          <a:solidFill>
                            <a:srgbClr val="FFFFFF"/>
                          </a:solidFill>
                          <a:latin typeface="Inter"/>
                        </a:rPr>
                        <a:t>from the API response</a:t>
                      </a:r>
                    </a:p>
                  </a:txBody>
                  <a:tcPr marL="91440" marR="91440" marT="45720" marB="45720" anchor="ctr">
                    <a:solidFill>
                      <a:srgbClr val="0F1E35"/>
                    </a:solidFill>
                  </a:tcPr>
                </a:tc>
                <a:tc>
                  <a:txBody>
                    <a:bodyPr wrap="square"/>
                    <a:lstStyle/>
                    <a:p>
                      <a:r>
                        <a:rPr sz="1200" b="0">
                          <a:solidFill>
                            <a:srgbClr val="FFFFFF"/>
                          </a:solidFill>
                          <a:latin typeface="Inter"/>
                        </a:rPr>
                        <a:t>realistic estimates from the mock</a:t>
                      </a:r>
                    </a:p>
                  </a:txBody>
                  <a:tcPr marL="91440" marR="91440" marT="45720" marB="45720" anchor="ctr">
                    <a:solidFill>
                      <a:srgbClr val="0F1E35"/>
                    </a:solidFill>
                  </a:tcPr>
                </a:tc>
              </a:tr>
              <a:tr h="384048">
                <a:tc>
                  <a:txBody>
                    <a:bodyPr wrap="square"/>
                    <a:lstStyle/>
                    <a:p>
                      <a:r>
                        <a:rPr sz="1200" b="1">
                          <a:solidFill>
                            <a:srgbClr val="FFFFFF"/>
                          </a:solidFill>
                          <a:latin typeface="Inter"/>
                        </a:rPr>
                        <a:t>Latency</a:t>
                      </a:r>
                    </a:p>
                  </a:txBody>
                  <a:tcPr marL="91440" marR="91440" marT="45720" marB="45720" anchor="ctr">
                    <a:solidFill>
                      <a:srgbClr val="1A2742"/>
                    </a:solidFill>
                  </a:tcPr>
                </a:tc>
                <a:tc>
                  <a:txBody>
                    <a:bodyPr wrap="square"/>
                    <a:lstStyle/>
                    <a:p>
                      <a:r>
                        <a:rPr sz="1200" b="0">
                          <a:solidFill>
                            <a:srgbClr val="FFFFFF"/>
                          </a:solidFill>
                          <a:latin typeface="Inter"/>
                        </a:rPr>
                        <a:t>real</a:t>
                      </a:r>
                    </a:p>
                  </a:txBody>
                  <a:tcPr marL="91440" marR="91440" marT="45720" marB="45720" anchor="ctr">
                    <a:solidFill>
                      <a:srgbClr val="1A2742"/>
                    </a:solidFill>
                  </a:tcPr>
                </a:tc>
                <a:tc>
                  <a:txBody>
                    <a:bodyPr wrap="square"/>
                    <a:lstStyle/>
                    <a:p>
                      <a:r>
                        <a:rPr sz="1200" b="0">
                          <a:solidFill>
                            <a:srgbClr val="FFFFFF"/>
                          </a:solidFill>
                          <a:latin typeface="Inter"/>
                        </a:rPr>
                        <a:t>sampled from realistic distributions</a:t>
                      </a:r>
                    </a:p>
                  </a:txBody>
                  <a:tcPr marL="91440" marR="91440" marT="45720" marB="45720" anchor="ctr">
                    <a:solidFill>
                      <a:srgbClr val="1A2742"/>
                    </a:solidFill>
                  </a:tcPr>
                </a:tc>
              </a:tr>
              <a:tr h="384048">
                <a:tc>
                  <a:txBody>
                    <a:bodyPr wrap="square"/>
                    <a:lstStyle/>
                    <a:p>
                      <a:r>
                        <a:rPr sz="1200" b="1">
                          <a:solidFill>
                            <a:srgbClr val="FFFFFF"/>
                          </a:solidFill>
                          <a:latin typeface="Inter"/>
                        </a:rPr>
                        <a:t>Span storage</a:t>
                      </a:r>
                    </a:p>
                  </a:txBody>
                  <a:tcPr marL="91440" marR="91440" marT="45720" marB="45720" anchor="ctr">
                    <a:solidFill>
                      <a:srgbClr val="0F1E35"/>
                    </a:solidFill>
                  </a:tcPr>
                </a:tc>
                <a:tc>
                  <a:txBody>
                    <a:bodyPr wrap="square"/>
                    <a:lstStyle/>
                    <a:p>
                      <a:r>
                        <a:rPr sz="1200" b="0">
                          <a:solidFill>
                            <a:srgbClr val="FFFFFF"/>
                          </a:solidFill>
                          <a:latin typeface="Inter"/>
                        </a:rPr>
                        <a:t>Langfuse</a:t>
                      </a:r>
                    </a:p>
                  </a:txBody>
                  <a:tcPr marL="91440" marR="91440" marT="45720" marB="45720" anchor="ctr">
                    <a:solidFill>
                      <a:srgbClr val="0F1E35"/>
                    </a:solidFill>
                  </a:tcPr>
                </a:tc>
                <a:tc>
                  <a:txBody>
                    <a:bodyPr wrap="square"/>
                    <a:lstStyle/>
                    <a:p>
                      <a:r>
                        <a:rPr sz="1104" b="0">
                          <a:solidFill>
                            <a:srgbClr val="00D4AA"/>
                          </a:solidFill>
                          <a:latin typeface="JetBrains Mono"/>
                        </a:rPr>
                        <a:t>telemetry/local_store.py</a:t>
                      </a:r>
                      <a:r>
                        <a:rPr sz="1200" b="0">
                          <a:solidFill>
                            <a:srgbClr val="FFFFFF"/>
                          </a:solidFill>
                          <a:latin typeface="Inter"/>
                        </a:rPr>
                        <a:t> (SQLite + JSONL), and Langfuse if asked</a:t>
                      </a:r>
                    </a:p>
                  </a:txBody>
                  <a:tcPr marL="91440" marR="91440" marT="45720" marB="45720" anchor="ctr">
                    <a:solidFill>
                      <a:srgbClr val="0F1E35"/>
                    </a:solidFill>
                  </a:tcPr>
                </a:tc>
              </a:tr>
              <a:tr h="384048">
                <a:tc>
                  <a:txBody>
                    <a:bodyPr wrap="square"/>
                    <a:lstStyle/>
                    <a:p>
                      <a:r>
                        <a:rPr sz="1200" b="1">
                          <a:solidFill>
                            <a:srgbClr val="FFFFFF"/>
                          </a:solidFill>
                          <a:latin typeface="Inter"/>
                        </a:rPr>
                        <a:t>Prices</a:t>
                      </a:r>
                    </a:p>
                  </a:txBody>
                  <a:tcPr marL="91440" marR="91440" marT="45720" marB="45720" anchor="ctr">
                    <a:solidFill>
                      <a:srgbClr val="1A2742"/>
                    </a:solidFill>
                  </a:tcPr>
                </a:tc>
                <a:tc>
                  <a:txBody>
                    <a:bodyPr wrap="square"/>
                    <a:lstStyle/>
                    <a:p>
                      <a:r>
                        <a:rPr sz="1104" b="0">
                          <a:solidFill>
                            <a:srgbClr val="00D4AA"/>
                          </a:solidFill>
                          <a:latin typeface="JetBrains Mono"/>
                        </a:rPr>
                        <a:t>litellm.model_cost</a:t>
                      </a:r>
                    </a:p>
                  </a:txBody>
                  <a:tcPr marL="91440" marR="91440" marT="45720" marB="45720" anchor="ctr">
                    <a:solidFill>
                      <a:srgbClr val="1A2742"/>
                    </a:solidFill>
                  </a:tcPr>
                </a:tc>
                <a:tc>
                  <a:txBody>
                    <a:bodyPr wrap="square"/>
                    <a:lstStyle/>
                    <a:p>
                      <a:r>
                        <a:rPr sz="1200" b="0">
                          <a:solidFill>
                            <a:srgbClr val="FFFFFF"/>
                          </a:solidFill>
                          <a:latin typeface="Inter"/>
                        </a:rPr>
                        <a:t>the same table</a:t>
                      </a:r>
                    </a:p>
                  </a:txBody>
                  <a:tcPr marL="91440" marR="91440" marT="45720" marB="45720" anchor="ctr">
                    <a:solidFill>
                      <a:srgbClr val="1A2742"/>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Same seed, same day</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656" b="0">
                <a:solidFill>
                  <a:srgbClr val="00D4AA"/>
                </a:solidFill>
                <a:latin typeface="JetBrains Mono"/>
              </a:rPr>
              <a:t>seed=20260928</a:t>
            </a:r>
            <a:r>
              <a:rPr sz="1800" b="0">
                <a:solidFill>
                  <a:srgbClr val="FFFFFF"/>
                </a:solidFill>
                <a:latin typeface="Inter"/>
              </a:rPr>
              <a:t> by default; change it with </a:t>
            </a:r>
            <a:r>
              <a:rPr sz="1656" b="0">
                <a:solidFill>
                  <a:srgbClr val="00D4AA"/>
                </a:solidFill>
                <a:latin typeface="JetBrains Mono"/>
              </a:rPr>
              <a:t>SEED=</a:t>
            </a:r>
          </a:p>
          <a:p>
            <a:pPr marL="292608" indent="-292608">
              <a:lnSpc>
                <a:spcPct val="120000"/>
              </a:lnSpc>
              <a:spcAft>
                <a:spcPts val="1260"/>
              </a:spcAft>
              <a:buClr>
                <a:srgbClr val="00D4AA"/>
              </a:buClr>
              <a:buFont typeface="Inter"/>
              <a:buChar char="•"/>
            </a:pPr>
            <a:r>
              <a:rPr sz="1800" b="0">
                <a:solidFill>
                  <a:srgbClr val="FFFFFF"/>
                </a:solidFill>
                <a:latin typeface="Inter"/>
              </a:rPr>
              <a:t>Same seed → identical spans, costs and latencies, on any machine</a:t>
            </a:r>
          </a:p>
          <a:p>
            <a:pPr marL="292608" indent="-292608">
              <a:lnSpc>
                <a:spcPct val="120000"/>
              </a:lnSpc>
              <a:spcAft>
                <a:spcPts val="1260"/>
              </a:spcAft>
              <a:buClr>
                <a:srgbClr val="00D4AA"/>
              </a:buClr>
              <a:buFont typeface="Inter"/>
              <a:buChar char="•"/>
            </a:pPr>
            <a:r>
              <a:rPr sz="1800" b="0">
                <a:solidFill>
                  <a:srgbClr val="FFFFFF"/>
                </a:solidFill>
                <a:latin typeface="Inter"/>
              </a:rPr>
              <a:t>This is how labs can say "your answer should be $6.42"</a:t>
            </a:r>
          </a:p>
          <a:p>
            <a:pPr marL="292608" indent="-292608">
              <a:lnSpc>
                <a:spcPct val="120000"/>
              </a:lnSpc>
              <a:spcAft>
                <a:spcPts val="1260"/>
              </a:spcAft>
              <a:buClr>
                <a:srgbClr val="00D4AA"/>
              </a:buClr>
              <a:buFont typeface="Inter"/>
              <a:buChar char="•"/>
            </a:pPr>
            <a:r>
              <a:rPr sz="1800" b="0">
                <a:solidFill>
                  <a:srgbClr val="FFFFFF"/>
                </a:solidFill>
                <a:latin typeface="Inter"/>
              </a:rPr>
              <a:t>Incidents are injected on top: </a:t>
            </a:r>
            <a:r>
              <a:rPr sz="1656" b="0">
                <a:solidFill>
                  <a:srgbClr val="00D4AA"/>
                </a:solidFill>
                <a:latin typeface="JetBrains Mono"/>
              </a:rPr>
              <a:t>SCENARIO=loop</a:t>
            </a:r>
            <a:r>
              <a:rPr sz="1800" b="0">
                <a:solidFill>
                  <a:srgbClr val="FFFFFF"/>
                </a:solidFill>
                <a:latin typeface="Inter"/>
              </a:rPr>
              <a:t>, </a:t>
            </a:r>
            <a:r>
              <a:rPr sz="1656" b="0">
                <a:solidFill>
                  <a:srgbClr val="00D4AA"/>
                </a:solidFill>
                <a:latin typeface="JetBrains Mono"/>
              </a:rPr>
              <a:t>context_bloat</a:t>
            </a:r>
            <a:r>
              <a:rPr sz="1800" b="0">
                <a:solidFill>
                  <a:srgbClr val="FFFFFF"/>
                </a:solidFill>
                <a:latin typeface="Inter"/>
              </a:rPr>
              <a:t>, </a:t>
            </a:r>
            <a:r>
              <a:rPr sz="1656" b="0">
                <a:solidFill>
                  <a:srgbClr val="00D4AA"/>
                </a:solidFill>
                <a:latin typeface="JetBrains Mono"/>
              </a:rPr>
              <a:t>retry_storm</a:t>
            </a:r>
            <a:r>
              <a:rPr sz="1800" b="0">
                <a:solidFill>
                  <a:srgbClr val="FFFFFF"/>
                </a:solidFill>
                <a:latin typeface="Inter"/>
              </a:rPr>
              <a:t>, </a:t>
            </a:r>
            <a:r>
              <a:rPr sz="1656" b="0">
                <a:solidFill>
                  <a:srgbClr val="00D4AA"/>
                </a:solidFill>
                <a:latin typeface="JetBrains Mono"/>
              </a:rPr>
              <a:t>slow_provider</a:t>
            </a:r>
            <a:r>
              <a:rPr sz="1800" b="0">
                <a:solidFill>
                  <a:srgbClr val="FFFFFF"/>
                </a:solidFill>
                <a:latin typeface="Inter"/>
              </a:rPr>
              <a:t>, </a:t>
            </a:r>
            <a:r>
              <a:rPr sz="1656" b="0">
                <a:solidFill>
                  <a:srgbClr val="00D4AA"/>
                </a:solidFill>
                <a:latin typeface="JetBrains Mono"/>
              </a:rPr>
              <a:t>prompt_regression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When to also send to Langfuse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02336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600" b="0">
                <a:solidFill>
                  <a:srgbClr val="FFFFFF"/>
                </a:solidFill>
                <a:latin typeface="Inter"/>
              </a:rPr>
              <a:t>Thousands of observations against your monthly allowance</a:t>
            </a:r>
          </a:p>
          <a:p>
            <a:pPr marL="292608" indent="-292608">
              <a:lnSpc>
                <a:spcPct val="120000"/>
              </a:lnSpc>
              <a:spcAft>
                <a:spcPts val="1120"/>
              </a:spcAft>
              <a:buClr>
                <a:srgbClr val="00D4AA"/>
              </a:buClr>
              <a:buFont typeface="Inter"/>
              <a:buChar char="•"/>
            </a:pPr>
            <a:r>
              <a:rPr sz="1600" b="0">
                <a:solidFill>
                  <a:srgbClr val="FFFFFF"/>
                </a:solidFill>
                <a:latin typeface="Inter"/>
              </a:rPr>
              <a:t>Do it once, when a lab asks, not every time</a:t>
            </a:r>
          </a:p>
          <a:p>
            <a:pPr marL="292608" indent="-292608">
              <a:lnSpc>
                <a:spcPct val="120000"/>
              </a:lnSpc>
              <a:spcAft>
                <a:spcPts val="1120"/>
              </a:spcAft>
              <a:buClr>
                <a:srgbClr val="00D4AA"/>
              </a:buClr>
              <a:buFont typeface="Inter"/>
              <a:buChar char="•"/>
            </a:pPr>
            <a:r>
              <a:rPr sz="1600" b="0">
                <a:solidFill>
                  <a:srgbClr val="FFFFFF"/>
                </a:solidFill>
                <a:latin typeface="Inter"/>
              </a:rPr>
              <a:t>Everything the console shows is also available as Langfuse filters and dashboards (Section 9.4)</a:t>
            </a:r>
          </a:p>
        </p:txBody>
      </p:sp>
      <p:sp>
        <p:nvSpPr>
          <p:cNvPr id="6" name="Rounded Rectangle 5"/>
          <p:cNvSpPr/>
          <p:nvPr/>
        </p:nvSpPr>
        <p:spPr>
          <a:xfrm>
            <a:off x="4663440" y="1325880"/>
            <a:ext cx="7086600" cy="4983480"/>
          </a:xfrm>
          <a:prstGeom prst="roundRect">
            <a:avLst>
              <a:gd name="adj" fmla="val 1027"/>
            </a:avLst>
          </a:prstGeom>
          <a:solidFill>
            <a:srgbClr val="0F1E35"/>
          </a:solidFill>
          <a:ln w="19050">
            <a:solidFill>
              <a:srgbClr val="1A274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4663440" y="1325880"/>
            <a:ext cx="54864" cy="498348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92040" y="1399032"/>
            <a:ext cx="6720840" cy="320040"/>
          </a:xfrm>
          <a:prstGeom prst="rect">
            <a:avLst/>
          </a:prstGeom>
          <a:noFill/>
        </p:spPr>
        <p:txBody>
          <a:bodyPr wrap="square" lIns="45720" rIns="45720" tIns="27432" bIns="27432" anchor="t">
            <a:spAutoFit/>
          </a:bodyPr>
          <a:lstStyle/>
          <a:p>
            <a:r>
              <a:rPr sz="1000" b="0">
                <a:solidFill>
                  <a:srgbClr val="94A3B8"/>
                </a:solidFill>
                <a:latin typeface="JetBrains Mono"/>
              </a:rPr>
              <a:t>bash</a:t>
            </a:r>
          </a:p>
        </p:txBody>
      </p:sp>
      <p:sp>
        <p:nvSpPr>
          <p:cNvPr id="9" name="TextBox 8"/>
          <p:cNvSpPr txBox="1"/>
          <p:nvPr/>
        </p:nvSpPr>
        <p:spPr>
          <a:xfrm>
            <a:off x="4892040" y="1737360"/>
            <a:ext cx="6720840" cy="4526280"/>
          </a:xfrm>
          <a:prstGeom prst="rect">
            <a:avLst/>
          </a:prstGeom>
          <a:noFill/>
        </p:spPr>
        <p:txBody>
          <a:bodyPr wrap="none" lIns="45720" rIns="45720" tIns="27432" bIns="27432" anchor="t">
            <a:spAutoFit/>
          </a:bodyPr>
          <a:lstStyle/>
          <a:p>
            <a:r>
              <a:rPr sz="1200">
                <a:solidFill>
                  <a:srgbClr val="FFFFFF"/>
                </a:solidFill>
                <a:latin typeface="JetBrains Mono"/>
              </a:rPr>
              <a:t>OFFLINE=1 make replay LANGFUSE=1        # also export the day to your Langfuse project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2.4</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Lab 1: Environment and first trace</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Now it's your turn: Lab 1 walks you through the environment checklist and your first trace screenshot.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2.5</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2 · SETUP AND YOUR FIRST TRACE IN 10 MINUTES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2.5</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Lab 1: Environment and first trace</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Complete the environment checklist: tests green, Atlas healthy, offline day replayed.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2.5</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Quiz: Setup and tracing basics</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A five-question quiz on setup and tracing basics, then Section 3: what a trace actually is, and how…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2.6</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2 · SETUP AND YOUR FIRST TRACE IN 10 MINUTES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2.6</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Quiz: Setup and tracing basics</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Check understanding of the env vars, the Make targets and what offline mode swaps.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Section 2 quiz: what's covered</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Which env vars Langfuse reads, and why a hard cap</a:t>
            </a:r>
          </a:p>
          <a:p>
            <a:pPr marL="292608" indent="-292608">
              <a:lnSpc>
                <a:spcPct val="120000"/>
              </a:lnSpc>
              <a:spcAft>
                <a:spcPts val="1260"/>
              </a:spcAft>
              <a:buClr>
                <a:srgbClr val="00D4AA"/>
              </a:buClr>
              <a:buFont typeface="Inter"/>
              <a:buChar char="•"/>
            </a:pPr>
            <a:r>
              <a:rPr sz="1800" b="0">
                <a:solidFill>
                  <a:srgbClr val="FFFFFF"/>
                </a:solidFill>
                <a:latin typeface="Inter"/>
              </a:rPr>
              <a:t>What </a:t>
            </a:r>
            <a:r>
              <a:rPr sz="1656" b="0">
                <a:solidFill>
                  <a:srgbClr val="00D4AA"/>
                </a:solidFill>
                <a:latin typeface="JetBrains Mono"/>
              </a:rPr>
              <a:t>make test</a:t>
            </a:r>
            <a:r>
              <a:rPr sz="1800" b="0">
                <a:solidFill>
                  <a:srgbClr val="FFFFFF"/>
                </a:solidFill>
                <a:latin typeface="Inter"/>
              </a:rPr>
              <a:t>, </a:t>
            </a:r>
            <a:r>
              <a:rPr sz="1656" b="0">
                <a:solidFill>
                  <a:srgbClr val="00D4AA"/>
                </a:solidFill>
                <a:latin typeface="JetBrains Mono"/>
              </a:rPr>
              <a:t>make run</a:t>
            </a:r>
            <a:r>
              <a:rPr sz="1800" b="0">
                <a:solidFill>
                  <a:srgbClr val="FFFFFF"/>
                </a:solidFill>
                <a:latin typeface="Inter"/>
              </a:rPr>
              <a:t>, </a:t>
            </a:r>
            <a:r>
              <a:rPr sz="1656" b="0">
                <a:solidFill>
                  <a:srgbClr val="00D4AA"/>
                </a:solidFill>
                <a:latin typeface="JetBrains Mono"/>
              </a:rPr>
              <a:t>make replay</a:t>
            </a:r>
            <a:r>
              <a:rPr sz="1800" b="0">
                <a:solidFill>
                  <a:srgbClr val="FFFFFF"/>
                </a:solidFill>
                <a:latin typeface="Inter"/>
              </a:rPr>
              <a:t>, </a:t>
            </a:r>
            <a:r>
              <a:rPr sz="1656" b="0">
                <a:solidFill>
                  <a:srgbClr val="00D4AA"/>
                </a:solidFill>
                <a:latin typeface="JetBrains Mono"/>
              </a:rPr>
              <a:t>make console</a:t>
            </a:r>
            <a:r>
              <a:rPr sz="1800" b="0">
                <a:solidFill>
                  <a:srgbClr val="FFFFFF"/>
                </a:solidFill>
                <a:latin typeface="Inter"/>
              </a:rPr>
              <a:t> each do</a:t>
            </a:r>
          </a:p>
          <a:p>
            <a:pPr marL="292608" indent="-292608">
              <a:lnSpc>
                <a:spcPct val="120000"/>
              </a:lnSpc>
              <a:spcAft>
                <a:spcPts val="1260"/>
              </a:spcAft>
              <a:buClr>
                <a:srgbClr val="00D4AA"/>
              </a:buClr>
              <a:buFont typeface="Inter"/>
              <a:buChar char="•"/>
            </a:pPr>
            <a:r>
              <a:rPr sz="1800" b="0">
                <a:solidFill>
                  <a:srgbClr val="FFFFFF"/>
                </a:solidFill>
                <a:latin typeface="Inter"/>
              </a:rPr>
              <a:t>What </a:t>
            </a:r>
            <a:r>
              <a:rPr sz="1656" b="0">
                <a:solidFill>
                  <a:srgbClr val="00D4AA"/>
                </a:solidFill>
                <a:latin typeface="JetBrains Mono"/>
              </a:rPr>
              <a:t>OFFLINE=1</a:t>
            </a:r>
            <a:r>
              <a:rPr sz="1800" b="0">
                <a:solidFill>
                  <a:srgbClr val="FFFFFF"/>
                </a:solidFill>
                <a:latin typeface="Inter"/>
              </a:rPr>
              <a:t> swaps and what it keeps real</a:t>
            </a:r>
          </a:p>
          <a:p>
            <a:pPr marL="292608" indent="-292608">
              <a:lnSpc>
                <a:spcPct val="120000"/>
              </a:lnSpc>
              <a:spcAft>
                <a:spcPts val="1260"/>
              </a:spcAft>
              <a:buClr>
                <a:srgbClr val="00D4AA"/>
              </a:buClr>
              <a:buFont typeface="Inter"/>
              <a:buChar char="•"/>
            </a:pPr>
            <a:r>
              <a:rPr sz="1800" b="0">
                <a:solidFill>
                  <a:srgbClr val="FFFFFF"/>
                </a:solidFill>
                <a:latin typeface="Inter"/>
              </a:rPr>
              <a:t>The four observations in your first trace and where cost lives</a:t>
            </a:r>
          </a:p>
          <a:p>
            <a:pPr marL="292608" indent="-292608">
              <a:lnSpc>
                <a:spcPct val="120000"/>
              </a:lnSpc>
              <a:spcAft>
                <a:spcPts val="1260"/>
              </a:spcAft>
              <a:buClr>
                <a:srgbClr val="00D4AA"/>
              </a:buClr>
              <a:buFont typeface="Inter"/>
              <a:buChar char="•"/>
            </a:pPr>
            <a:r>
              <a:rPr sz="1800" b="0">
                <a:solidFill>
                  <a:srgbClr val="FFFFFF"/>
                </a:solidFill>
                <a:latin typeface="Inter"/>
              </a:rPr>
              <a:t>Why the seed matters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02 · Lecture 2.6</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Traces, spans and context in five minutes</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Section 3: traces, spans and context in five minutes, then you build Atlas's OpenTelemetry instrumentation from scratch.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