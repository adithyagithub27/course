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Accounts, keys and spending caps.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Browser, `https://cloud.langfuse.com`. Sign up, choose a region, create an organisation and a project called `atlas-dev`. Verify...]</a:t>
            </a:r>
          </a:p>
          <a:p/>
          <a:p>
            <a:r>
              <a:t>Start with Langfuse. Sign up at cloud dot langfuse dot com. Pick a region; EU and US are both fine, and the base URL differs, so note which one you picked. Create an organisation, then a project. Call it `atlas-dev`. In Section ten we'll talk about why you want one project per environment; for now one is enough.</a:t>
            </a:r>
          </a:p>
          <a:p/>
          <a:p>
            <a:r>
              <a:t>[SCREEN: Project settings → API Keys → Create new API key. Show the public key, blur the secret key, and the base URL field. Verify the m...]</a:t>
            </a:r>
          </a:p>
          <a:p/>
          <a:p>
            <a:r>
              <a:t>In project settings, create an API key. You get three values: a public key starting with `pk-lf`, a secret key starting with `sk-lf`, and the base URL for your region. Copy all three now. The secret is shown once.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free tier counts observations per month. Every span is one observation, and a replayed day of traffic is about seventy thousand of them. So the course replays to a local store by default, and sends to Langfuse only when you ask. Follow the labs as written and you won't hit the limit.</a:t>
            </a:r>
          </a:p>
          <a:p/>
          <a:p>
            <a:r>
              <a:t>[SCREEN: Browser, `https://platform.openai.com`. Create a project called `atlas-course`. Go to the project's billing limits (verify the c...]</a:t>
            </a:r>
          </a:p>
          <a:p/>
          <a:p>
            <a:r>
              <a:t>Now OpenAI. Create a project just for this course, `atlas-course`. Then, before you create a key, go to the billing limits. Set a hard monthly budget of twenty dollars and an email alert at five. If the interface has moved since I recorded this, the resource guide has the current path. This one setting is your last line of defence. Everything we build in Section six is a better line of defence, but this one works even when your code is wrong.</a:t>
            </a:r>
          </a:p>
          <a:p/>
          <a:p>
            <a:r>
              <a:t>[SCREEN: API keys → Create new secret key, scoped to the `atlas-course` project. Copy it.]</a:t>
            </a:r>
          </a:p>
          <a:p/>
          <a:p>
            <a:r>
              <a:t>Create a key scoped to that project. Copy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insist on the cap? Because in Section one, one integer set to zero cost four dollars ninety per conversation. A hard cap turns a bad night into a bounded bill. By Section thirteen you'll have per-tenant budgets and a CI gate, so the cap never actually fires. Belt, then braces.</a:t>
            </a:r>
          </a:p>
          <a:p/>
          <a:p>
            <a:r>
              <a:t>[SCREEN: VS Code, `03-code/.env.example`. Copy to `.env`. Fill in the keys, keep `OFFLINE=1`.]</a:t>
            </a:r>
          </a:p>
          <a:p/>
          <a:p>
            <a:r>
              <a:t>[CODE: create your `.env` (`make install` in the next lecture also does this if the file is missing)]</a:t>
            </a:r>
          </a:p>
          <a:p/>
          <a:p>
            <a:r>
              <a:t>[CODE: the lines you edit in `.env` (excerpt; values redacted)]</a:t>
            </a:r>
          </a:p>
          <a:p/>
          <a:p>
            <a:r>
              <a:t>Copy the example to dot env and fill it in. The OpenAI key. The two Langfuse keys and the base URL for your region. Leave `OFFLINE=1`: the mock model answers, and the traces still go to Langfuse because the keys are set. And set the OpenTelemetry exporter to `none` for now, so your terminal isn't flooded with raw spans; Section three turns it back on.</a:t>
            </a:r>
          </a:p>
          <a:p/>
          <a:p>
            <a:r>
              <a:t>The model variables are already in the file: `gpt-4.1-mini` for Atlas, `gpt-4.1` for escalation. Every model choice in this course is an env var, so a rename by the provider is a one-line fix.</a:t>
            </a:r>
          </a:p>
          <a:p/>
          <a:p>
            <a:r>
              <a:t>[CODE: load `.env` into this terminal (repeat in every new terminal that runs Atlas)]</a:t>
            </a:r>
          </a:p>
          <a:p/>
          <a:p>
            <a:r>
              <a:t>One step people miss. Atlas reads its settings from environment variables, and nothing loads dot env for you. So in every terminal where you run Atlas, source it with `set -a` first, which exports every line. Forget it, and Atlas runs with defaults and never sees your keys.</a:t>
            </a:r>
          </a:p>
          <a:p/>
          <a:p>
            <a:r>
              <a:t>[SCREEN: Show `.gitignore` with `.env` listed. Run `git status` to confirm `.env` does not appear.]</a:t>
            </a:r>
          </a:p>
          <a:p/>
          <a:p>
            <a:r>
              <a:t>Dot env is in the gitignore. Check with git status. If you ever see dot env in that list, stop and fix it before you commit. A leaked key with a twenty-dollar cap is annoying; a leaked key with no cap is a very bad week.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guide in the resources folder lists what each section costs if you run it live, and the offline path for each. Only four moments in the course genuinely benefit from going live. Everything else, run offline.</a:t>
            </a:r>
          </a:p>
          <a:p/>
          <a:p>
            <a:r>
              <a:t>Two accounts, three keys, one cap, one dot env, loaded into your shell. You're now safe to make mistakes, which is the whole 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Project setup with uv and the Makefile.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did that prove? That the pure-Python library works: pricing, budgets, latency maths, PII masking. That the simulator is deterministic. And that a request through the app produces exactly the spans the course expects. You have a working OpenTelemetry pipeline before you've written any of it. In Sections three to five you'll take it apart and rebuild it.</a:t>
            </a:r>
          </a:p>
          <a:p/>
          <a:p>
            <a:r>
              <a:t>[CODE: start Atlas (load `.env` first, as in 2.1)]</a:t>
            </a:r>
          </a:p>
          <a:p/>
          <a:p>
            <a:r>
              <a:t>[DEMO: uvicorn starts on port 8000. Terminal 1 shows `INFO: Uvicorn running on http://0.0.0.0:8000` and one JSON log line: `{"ts": "....]</a:t>
            </a:r>
          </a:p>
          <a:p/>
          <a:p>
            <a:r>
              <a:t>Make run starts Atlas with uvicorn on port eight thousand. What is that JSON log line telling you? Offline, true: the mock model answers. Exporter, none: no raw spans in this terminal. Those two fields answer most "why don't I see anything" questions later.</a:t>
            </a:r>
          </a:p>
          <a:p/>
          <a:p>
            <a:r>
              <a:t>[SCREEN: Second terminal.]</a:t>
            </a:r>
          </a:p>
          <a:p/>
          <a:p>
            <a:r>
              <a:t>[CODE: health check]</a:t>
            </a:r>
          </a:p>
          <a:p/>
          <a:p>
            <a:r>
              <a:t>[DEMO: `{"status":"ok","offline":true,"model":"gpt-4.1-mini","prompt_version":"v1","exporters":[{"name":"local_store","exported":0,"failu...]</a:t>
            </a:r>
          </a:p>
          <a:p/>
          <a:p>
            <a:r>
              <a:t>And a health check from a second terminal. Status ok, offline true, model gpt-4.1-mini, prompt version one. And an exporters list: right now the local span store, with zero spans exported and zero failures. Section thirteen comes back to that failure counter.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used to this layout. Terminal one runs Atlas and shows its logs. Terminal two is where you poke it. Browser for Langfuse and the console. You'll use this arrangement in almost every lecture.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Quick win: one request, one trace.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top to bottom. The header first. Total cost, the same forty-five hundredths of a cent. Tokens: nine thousand nine hundred and fifty in, three hundred and thirty-four out. Session `sess-demo-1`, user `NW-40213`, and four tags: `tenant:ops`, `feature:policy_question`, `intent:vpn` and `prompt:v1`. The three headers made it all the way here.</a:t>
            </a:r>
          </a:p>
          <a:p/>
          <a:p>
            <a:r>
              <a:t>[SCREEN: Click the root observation `invoke_agent atlas`.]</a:t>
            </a:r>
          </a:p>
          <a:p/>
          <a:p>
            <a:r>
              <a:t>The root is the agent observation. Its input is the question, its output is the answer. Everything below it happened in service of this one request.</a:t>
            </a:r>
          </a:p>
          <a:p/>
          <a:p>
            <a:r>
              <a:t>[SCREEN: Click `guardrail injection_check`.]</a:t>
            </a:r>
          </a:p>
          <a:p/>
          <a:p>
            <a:r>
              <a:t>First child: a guardrail. Before any model call, Atlas checks the message for prompt injection. Its output says flagged false. You'll build your own version of this in the Section four challenge.</a:t>
            </a:r>
          </a:p>
          <a:p/>
          <a:p>
            <a:r>
              <a:t>[SCREEN: Expand `step 1`; click `execute_tool search_knowledge_base`.]</a:t>
            </a:r>
          </a:p>
          <a:p/>
          <a:p>
            <a:r>
              <a:t>Then step one. Inside it, a retriever: the knowledge-base search. Input: the query. Output: four article IDs, with `KB-001`, VPN access and troubleshooting, first. A few milliseconds. In Section five you'll turn this into a quality metric: how often does retrieval come back empty?</a:t>
            </a:r>
          </a:p>
          <a:p/>
          <a:p>
            <a:r>
              <a:t>[SCREEN: Click the step 1 generation `chat gpt-4.1-mini`. Scroll the details: model, usage (input 3,262, output 44), cost details, input...]</a:t>
            </a:r>
          </a:p>
          <a:p/>
          <a:p>
            <a:r>
              <a:t>Now the first generation, the model call that decided to search. Model, gpt-4.1-mini. Usage: 3,262 tokens in, 44 out. Cost details, computed from the price table at the moment of the call, not from an invoice a month later.</a:t>
            </a:r>
          </a:p>
          <a:p/>
          <a:p>
            <a:r>
              <a:t>[SCREEN: Expand `step 2`; click its generation. Usage: input 6,688, output 290. The bar for this generation covers most of the trace's du...]</a:t>
            </a:r>
          </a:p>
          <a:p/>
          <a:p>
            <a:r>
              <a:t>And the second generation, the one that wrote the answer. Six thousand six hundred and eighty-eight tokens in, two hundred and ninety out, and most of the request's time. Why is the input twice as big? Because by step two the model is re-reading the three-thousand-token system prompt, the question, and the knowledge-base articles the search returned. That's what you pay for, every step. Section six is largely about making it smaller.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map of where this screen comes from. The tree is OpenTelemetry spans with Langfuse observation types; you rebuild that in Section three. Session, user and tags come from the headers, through one context manager you'll study in 4.3. Usage and cost are attributes on each generation, set in 3.4 and priced properly in 6.2. Every lecture in the next four sections points at a part of this screen.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Want a real model's trace? Start Atlas with `OFFLINE=0` for one request. It costs roughly half a cent. The numbers will differ from mine, and that's expected. Then go straight back to offline.</a:t>
            </a:r>
          </a:p>
          <a:p/>
          <a:p>
            <a:r>
              <a:t>One request, one trace. Three headers, two steps, two model calls, one cost number computed at call time. You'll see thousands of these. Learn to read this one slowly.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Offline mode: a full day of traffic for free.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exactly what offline swaps. Model calls go to the mock instead of OpenAI. Token counts are realistic counts from the mock instead of API numbers. Latency is simulated from realistic distributions. Span storage and prices don't change: spans go to the local SQLite store, and to Langfuse if your keys are set, and prices come from the same table either way. So the dollars you see offline are real prices times realistic tokens.</a:t>
            </a:r>
          </a:p>
          <a:p/>
          <a:p>
            <a:r>
              <a:t>[SCREEN: VS Code, `app/mock_llm.py`. Scroll to where it picks a tool call for the message's intent, and where it builds usage and latency.]</a:t>
            </a:r>
          </a:p>
          <a:p/>
          <a:p>
            <a:r>
              <a:t>A quick look at the mock. Given the messages, it classifies the intent and decides whether to answer or call a tool, the way the real model usually does. It counts input tokens from the actual message text, generates plausible output lengths, and adds latency with a realistic tail. It's also scenario-aware: tell it a tool is down, and it keeps retrying like the model did on Friday night.</a:t>
            </a:r>
          </a:p>
          <a:p/>
          <a:p>
            <a:r>
              <a:t>[SCREEN: Terminal 2.]</a:t>
            </a:r>
          </a:p>
          <a:p/>
          <a:p>
            <a:r>
              <a:t>[CODE: replay a day]</a:t>
            </a:r>
          </a:p>
          <a:p/>
          <a:p>
            <a:r>
              <a:t>[DEMO: Output, after about 20 seconds:</a:t>
            </a:r>
          </a:p>
          <a:p>
            <a:r>
              <a:t>`Replay seed=7 requests=10184 sessions=4000 spans=70560 scores=11884 feedback=1291`</a:t>
            </a:r>
          </a:p>
          <a:p>
            <a:r>
              <a:t>`Total cost $56.2810 p95 latency 3827 ms elapsed 20.8s`</a:t>
            </a:r>
          </a:p>
          <a:p>
            <a:r>
              <a:t>`Cost by tenant: eng=$12.5033, finance=$11.9125, hr=$11.5908, ops=$20.2745`</a:t>
            </a:r>
          </a:p>
          <a:p>
            <a:r>
              <a:t>`Outcomes: escalated=43, guardrail=72, resolved=10069`</a:t>
            </a:r>
          </a:p>
          <a:p>
            <a:r>
              <a:t>`Scenarios: none=10184`</a:t>
            </a:r>
          </a:p>
          <a:p>
            <a:r>
              <a:t>`Store: .atlas/spans.sqlite (total spans now 70560)`]</a:t>
            </a:r>
          </a:p>
          <a:p/>
          <a:p>
            <a:r>
              <a:t>Make replay. It walks a full simulated day, Monday the fourteenth of September, with a fixed seed. Four thousand conversations, ten thousand one hundred and eighty-four requests, seventy thousand spans, written to the local store. About twenty seconds.</a:t>
            </a:r>
          </a:p>
          <a:p/>
          <a:p>
            <a:r>
              <a:t>Read the summary. Fifty-six dollars twenty-eight for the day. p95 latency three thousand eight hundred and twenty-seven milliseconds. Those two numbers are going to be under attack for most of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seed matters. Same seed, identical day, on your machine and mine. That's how a lab can tell you your answer should be fifty-six dollars twenty-eight, and how Section eleven can hand everyone the same incident. Change the seed to get a different day; add a scenario to inject an incident.</a:t>
            </a:r>
          </a:p>
          <a:p/>
          <a:p>
            <a:r>
              <a:t>[SCREEN: Terminal 3.]</a:t>
            </a:r>
          </a:p>
          <a:p/>
          <a:p>
            <a:r>
              <a:t>[CODE: open the Ops Console]</a:t>
            </a:r>
          </a:p>
          <a:p/>
          <a:p>
            <a:r>
              <a:t>[DEMO: Streamlit opens `http://localhost:8501`. Home page: four tiles: "Cost (store) $56.28", "Requests / sessions 10,184 / 4,000", "p95...]</a:t>
            </a:r>
          </a:p>
          <a:p/>
          <a:p>
            <a:r>
              <a:t>Make console starts the Ops Console: the same app you watched in Lecture 1.1, reading the local store. Four tiles on the home page, and twelve pages in the sidebar. We'll look at five today.</a:t>
            </a:r>
          </a:p>
          <a:p/>
          <a:p>
            <a:r>
              <a:t>[SCREEN: Cost page. Tiles: "Total cost $56.28", "Cost / session $0.0141", "Cost / resolved session $0.0144", "Cache hit ratio 0%". Bar ch...]</a:t>
            </a:r>
          </a:p>
          <a:p/>
          <a:p>
            <a:r>
              <a:t>The cost page. A cent and a half per conversation. By tenant, ops is twenty dollars twenty-seven of fifty-six twenty-eight: thirty-six percent of the spend from one department. Is that because ops asks more, or because ops questions are more expensive? Hold that question; Section six answers it, and the answer is in this console. By feature, policy questions are three quarters of the bill.</a:t>
            </a:r>
          </a:p>
          <a:p/>
          <a:p>
            <a:r>
              <a:t>[SCREEN: Scroll to "Ten most expensive conversations". Top row: `s07-00666`, finance, policy_question, 4 turns, 8 steps, $0.0362, "open t...]</a:t>
            </a:r>
          </a:p>
          <a:p/>
          <a:p>
            <a:r>
              <a:t>At the bottom, the ten most expensive conversations of the day. The top one, a four-turn finance conversation, cost three point six cents. Each row links to its trace.</a:t>
            </a:r>
          </a:p>
          <a:p/>
          <a:p>
            <a:r>
              <a:t>[SCREEN: Traces page opens on that conversation's first trace: a waterfall with `invoke_agent atlas`, `guardrail injection_check`, `step...]</a:t>
            </a:r>
          </a:p>
          <a:p/>
          <a:p>
            <a:r>
              <a:t>And here's the waterfall. The same shape you read in Langfuse in 2.3, from the local store, without leaving the console. From "finance is expensive" to one specific conversation in two clicks.</a:t>
            </a:r>
          </a:p>
          <a:p/>
          <a:p>
            <a:r>
              <a:t>[SCREEN: Latency page. Tiles p50 3,232 ms, p95 3,827 ms. The hourly p50/p95 chart with a flat p95 line between about 3.6 and 3.9 s, under...]</a:t>
            </a:r>
          </a:p>
          <a:p/>
          <a:p>
            <a:r>
              <a:t>Latency. p50 three point two seconds, p95 three point eight, against a budget line at four seconds. Is there a lunchtime bump? No: by hour, p95 is flat all day. Remember that flatness: in Section eleven an incident bends it, and you'll be the one who notices.</a:t>
            </a:r>
          </a:p>
          <a:p/>
          <a:p>
            <a:r>
              <a:t>[SCREEN: Quality page tiles: "Judge overall 0.912", "Grounded rate 98.6%", "Empty retrievals 2.6%", "Feedback 79% of 12.7%" (79 % of feed...]</a:t>
            </a:r>
          </a:p>
          <a:p/>
          <a:p>
            <a:r>
              <a:t>Quality already has numbers, because the replay simulates the judge you'll build in Section eight on a sample of traces: overall point nine one. Budgets shows each tenant's spend against its caps. Ops reaches about half its forty-dollar hard cap. All green today.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switch. Add `LANGFUSE=1` and the replay also exports to your Langfuse project, so you can slice the day with Langfuse's own filters. That's about seventy thousand observations against your monthly allowance, so do it when a lab asks, not every time.</a:t>
            </a:r>
          </a:p>
          <a:p/>
          <a:p>
            <a:r>
              <a:t>A day of traffic, fifty-six dollars twenty-eight, thirty-six percent from ops, p95 of three point eight seconds, all in twenty seconds and for free. This is your dataset for the rest of the course. Whenever a lecture says "look at the day," this is the 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1: Environment and first trace.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run Atlas offline, read a trace, and replay a whole day. One rule for the lab: if something fails, run it offline first. If it fails offline, it's the environment, not your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Setup and tracing basics.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on keys and caps. One on the Make targets. One on what offline mode swaps and what stays real. One on the first trace: agent, guardrail, retriever, generations, and which one carries cost. And one on why the replay is seeded.</a:t>
            </a:r>
          </a:p>
          <a:p/>
          <a:p>
            <a:r>
              <a:t>If you're unsure about a "where does cost live" question, remember: cost belongs to the model call. Everything above it is a sum.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AND YOUR FIRST TRACE IN 10 MINUTES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Accounts, keys and spending caps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Create a Langfuse Cloud project and copy its public key, secret key and base URL.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 need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Langfuse Cloud project: free tier, EU or US region (or self-host in Section 13)</a:t>
            </a:r>
          </a:p>
          <a:p>
            <a:pPr marL="292608" indent="-292608">
              <a:lnSpc>
                <a:spcPct val="120000"/>
              </a:lnSpc>
              <a:spcAft>
                <a:spcPts val="1539"/>
              </a:spcAft>
              <a:buClr>
                <a:srgbClr val="00D4AA"/>
              </a:buClr>
              <a:buFont typeface="Inter"/>
              <a:buChar char="•"/>
            </a:pPr>
            <a:r>
              <a:rPr sz="2200" b="0">
                <a:solidFill>
                  <a:srgbClr val="FFFFFF"/>
                </a:solidFill>
                <a:latin typeface="Inter"/>
              </a:rPr>
              <a:t>OpenAI project: pay-as-you-go, with a hard cap</a:t>
            </a:r>
          </a:p>
          <a:p>
            <a:pPr marL="292608" indent="-292608">
              <a:lnSpc>
                <a:spcPct val="120000"/>
              </a:lnSpc>
              <a:spcAft>
                <a:spcPts val="1539"/>
              </a:spcAft>
              <a:buClr>
                <a:srgbClr val="00D4AA"/>
              </a:buClr>
              <a:buFont typeface="Inter"/>
              <a:buChar char="•"/>
            </a:pPr>
            <a:r>
              <a:rPr sz="2024" b="0">
                <a:solidFill>
                  <a:srgbClr val="00D4AA"/>
                </a:solidFill>
                <a:latin typeface="JetBrains Mono"/>
              </a:rPr>
              <a:t>.env</a:t>
            </a:r>
            <a:r>
              <a:rPr sz="2200" b="0">
                <a:solidFill>
                  <a:srgbClr val="FFFFFF"/>
                </a:solidFill>
                <a:latin typeface="Inter"/>
              </a:rPr>
              <a:t> filled from </a:t>
            </a:r>
            <a:r>
              <a:rPr sz="2024" b="0">
                <a:solidFill>
                  <a:srgbClr val="00D4AA"/>
                </a:solidFill>
                <a:latin typeface="JetBrains Mono"/>
              </a:rPr>
              <a:t>.env.example</a:t>
            </a:r>
            <a:r>
              <a:rPr sz="2200" b="0">
                <a:solidFill>
                  <a:srgbClr val="FFFFFF"/>
                </a:solidFill>
                <a:latin typeface="Inter"/>
              </a:rPr>
              <a:t>, never committed</a:t>
            </a:r>
          </a:p>
          <a:p>
            <a:pPr marL="292608" indent="-292608">
              <a:lnSpc>
                <a:spcPct val="120000"/>
              </a:lnSpc>
              <a:spcAft>
                <a:spcPts val="1539"/>
              </a:spcAft>
              <a:buClr>
                <a:srgbClr val="00D4AA"/>
              </a:buClr>
              <a:buFont typeface="Inter"/>
              <a:buChar char="•"/>
            </a:pPr>
            <a:r>
              <a:rPr sz="2200" b="0">
                <a:solidFill>
                  <a:srgbClr val="FFFFFF"/>
                </a:solidFill>
                <a:latin typeface="Inter"/>
              </a:rPr>
              <a:t>Expected spend for the whole course: $5-15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Langfuse free tier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 monthly allowance of observations, plenty for this course (verify current limits)</a:t>
            </a:r>
          </a:p>
          <a:p>
            <a:pPr marL="292608" indent="-292608">
              <a:lnSpc>
                <a:spcPct val="120000"/>
              </a:lnSpc>
              <a:spcAft>
                <a:spcPts val="1260"/>
              </a:spcAft>
              <a:buClr>
                <a:srgbClr val="00D4AA"/>
              </a:buClr>
              <a:buFont typeface="Inter"/>
              <a:buChar char="•"/>
            </a:pPr>
            <a:r>
              <a:rPr sz="1800" b="0">
                <a:solidFill>
                  <a:srgbClr val="FFFFFF"/>
                </a:solidFill>
                <a:latin typeface="Inter"/>
              </a:rPr>
              <a:t>Every span you send is one observation; a replayed day is about seventy thousand</a:t>
            </a:r>
          </a:p>
          <a:p>
            <a:pPr marL="292608" indent="-292608">
              <a:lnSpc>
                <a:spcPct val="120000"/>
              </a:lnSpc>
              <a:spcAft>
                <a:spcPts val="1260"/>
              </a:spcAft>
              <a:buClr>
                <a:srgbClr val="00D4AA"/>
              </a:buClr>
              <a:buFont typeface="Inter"/>
              <a:buChar char="•"/>
            </a:pPr>
            <a:r>
              <a:rPr sz="1800" b="0">
                <a:solidFill>
                  <a:srgbClr val="FFFFFF"/>
                </a:solidFill>
                <a:latin typeface="Inter"/>
              </a:rPr>
              <a:t>Default in this course: replay to the local store; send to Langfuse only when you want a trace to click</a:t>
            </a:r>
          </a:p>
          <a:p>
            <a:pPr marL="292608" indent="-292608">
              <a:lnSpc>
                <a:spcPct val="120000"/>
              </a:lnSpc>
              <a:spcAft>
                <a:spcPts val="1260"/>
              </a:spcAft>
              <a:buClr>
                <a:srgbClr val="00D4AA"/>
              </a:buClr>
              <a:buFont typeface="Inter"/>
              <a:buChar char="•"/>
            </a:pPr>
            <a:r>
              <a:rPr sz="1800" b="0">
                <a:solidFill>
                  <a:srgbClr val="FFFFFF"/>
                </a:solidFill>
                <a:latin typeface="Inter"/>
              </a:rPr>
              <a:t>Self-hosting (Section 13) has no allowance to watch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a cap and not just care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Section 1: $4.90 per conversation with one integer set to zero</a:t>
            </a:r>
          </a:p>
          <a:p>
            <a:pPr marL="292608" indent="-292608">
              <a:lnSpc>
                <a:spcPct val="120000"/>
              </a:lnSpc>
              <a:spcAft>
                <a:spcPts val="1539"/>
              </a:spcAft>
              <a:buClr>
                <a:srgbClr val="00D4AA"/>
              </a:buClr>
              <a:buFont typeface="Inter"/>
              <a:buChar char="•"/>
            </a:pPr>
            <a:r>
              <a:rPr sz="2200" b="0">
                <a:solidFill>
                  <a:srgbClr val="FFFFFF"/>
                </a:solidFill>
                <a:latin typeface="Inter"/>
              </a:rPr>
              <a:t>A cap turns a bad night into a bounded bill</a:t>
            </a:r>
          </a:p>
          <a:p>
            <a:pPr marL="292608" indent="-292608">
              <a:lnSpc>
                <a:spcPct val="120000"/>
              </a:lnSpc>
              <a:spcAft>
                <a:spcPts val="1539"/>
              </a:spcAft>
              <a:buClr>
                <a:srgbClr val="00D4AA"/>
              </a:buClr>
              <a:buFont typeface="Inter"/>
              <a:buChar char="•"/>
            </a:pPr>
            <a:r>
              <a:rPr sz="2200" b="0">
                <a:solidFill>
                  <a:srgbClr val="FFFFFF"/>
                </a:solidFill>
                <a:latin typeface="Inter"/>
              </a:rPr>
              <a:t>Later: budgets per tenant (6.7) and a CI budget gate (13.3), so the cap never fires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Cost guide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10-resources/cost-guide.md</a:t>
            </a:r>
            <a:r>
              <a:rPr sz="1800" b="0">
                <a:solidFill>
                  <a:srgbClr val="FFFFFF"/>
                </a:solidFill>
                <a:latin typeface="Inter"/>
              </a:rPr>
              <a:t>: what each section costs live, and the offline path for each</a:t>
            </a:r>
          </a:p>
          <a:p>
            <a:pPr marL="292608" indent="-292608">
              <a:lnSpc>
                <a:spcPct val="120000"/>
              </a:lnSpc>
              <a:spcAft>
                <a:spcPts val="1260"/>
              </a:spcAft>
              <a:buClr>
                <a:srgbClr val="00D4AA"/>
              </a:buClr>
              <a:buFont typeface="Inter"/>
              <a:buChar char="•"/>
            </a:pPr>
            <a:r>
              <a:rPr sz="1800" b="0">
                <a:solidFill>
                  <a:srgbClr val="FFFFFF"/>
                </a:solidFill>
                <a:latin typeface="Inter"/>
              </a:rPr>
              <a:t>Rule of thumb: offline to learn, live for the screenshot</a:t>
            </a:r>
          </a:p>
          <a:p>
            <a:pPr marL="292608" indent="-292608">
              <a:lnSpc>
                <a:spcPct val="120000"/>
              </a:lnSpc>
              <a:spcAft>
                <a:spcPts val="1260"/>
              </a:spcAft>
              <a:buClr>
                <a:srgbClr val="00D4AA"/>
              </a:buClr>
              <a:buFont typeface="Inter"/>
              <a:buChar char="•"/>
            </a:pPr>
            <a:r>
              <a:rPr sz="1800" b="0">
                <a:solidFill>
                  <a:srgbClr val="FFFFFF"/>
                </a:solidFill>
                <a:latin typeface="Inter"/>
              </a:rPr>
              <a:t>Live-only moments: 2.3 (one optional request), 6.4 (a cache hit), 8.2 (a judge call), 14 (a short live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Langfuse project: two keys and a base URL</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OpenAI project with a hard cap</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.env</a:t>
            </a:r>
            <a:r>
              <a:rPr sz="1800" b="1">
                <a:solidFill>
                  <a:srgbClr val="FFFFFF"/>
                </a:solidFill>
                <a:latin typeface="Inter"/>
              </a:rPr>
              <a:t> filled, sourced, never committed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Project setup with uv and the Makefile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one command to install everything and prove the whole repo works, offline, before you spend a cent.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AND YOUR FIRST TRACE IN 10 MINUTES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Project setup with uv and the Makefile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Install the project with </a:t>
            </a:r>
            <a:r>
              <a:rPr sz="1472" b="0">
                <a:solidFill>
                  <a:srgbClr val="00D4AA"/>
                </a:solidFill>
                <a:latin typeface="JetBrains Mono"/>
              </a:rPr>
              <a:t>make install</a:t>
            </a:r>
            <a:r>
              <a:rPr sz="1600" b="0">
                <a:solidFill>
                  <a:srgbClr val="CBD5E1"/>
                </a:solidFill>
                <a:latin typeface="Inter"/>
              </a:rPr>
              <a:t> (uv, dev extra) and add the </a:t>
            </a:r>
            <a:r>
              <a:rPr sz="1472" b="0">
                <a:solidFill>
                  <a:srgbClr val="00D4AA"/>
                </a:solidFill>
                <a:latin typeface="JetBrains Mono"/>
              </a:rPr>
              <a:t>dashboards</a:t>
            </a:r>
            <a:r>
              <a:rPr sz="1600" b="0">
                <a:solidFill>
                  <a:srgbClr val="CBD5E1"/>
                </a:solidFill>
                <a:latin typeface="Inter"/>
              </a:rPr>
              <a:t> extra for the console.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the tests just proved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src/northwind</a:t>
            </a:r>
            <a:r>
              <a:rPr sz="1800" b="0">
                <a:solidFill>
                  <a:srgbClr val="FFFFFF"/>
                </a:solidFill>
                <a:latin typeface="Inter"/>
              </a:rPr>
              <a:t>: pricing, cost, budgets, tokens, latency, SLOs, sampling, drift, PII, report</a:t>
            </a:r>
          </a:p>
          <a:p>
            <a:pPr marL="292608" indent="-292608">
              <a:lnSpc>
                <a:spcPct val="120000"/>
              </a:lnSpc>
              <a:spcAft>
                <a:spcPts val="1260"/>
              </a:spcAft>
              <a:buClr>
                <a:srgbClr val="00D4AA"/>
              </a:buClr>
              <a:buFont typeface="Inter"/>
              <a:buChar char="•"/>
            </a:pPr>
            <a:r>
              <a:rPr sz="1656" b="0">
                <a:solidFill>
                  <a:srgbClr val="00D4AA"/>
                </a:solidFill>
                <a:latin typeface="JetBrains Mono"/>
              </a:rPr>
              <a:t>simulator</a:t>
            </a:r>
            <a:r>
              <a:rPr sz="1800" b="0">
                <a:solidFill>
                  <a:srgbClr val="FFFFFF"/>
                </a:solidFill>
                <a:latin typeface="Inter"/>
              </a:rPr>
              <a:t>: personas and scenarios are deterministic under a seed</a:t>
            </a:r>
          </a:p>
          <a:p>
            <a:pPr marL="292608" indent="-292608">
              <a:lnSpc>
                <a:spcPct val="120000"/>
              </a:lnSpc>
              <a:spcAft>
                <a:spcPts val="1260"/>
              </a:spcAft>
              <a:buClr>
                <a:srgbClr val="00D4AA"/>
              </a:buClr>
              <a:buFont typeface="Inter"/>
              <a:buChar char="•"/>
            </a:pPr>
            <a:r>
              <a:rPr sz="1656" b="0">
                <a:solidFill>
                  <a:srgbClr val="00D4AA"/>
                </a:solidFill>
                <a:latin typeface="JetBrains Mono"/>
              </a:rPr>
              <a:t>app</a:t>
            </a:r>
            <a:r>
              <a:rPr sz="1800" b="0">
                <a:solidFill>
                  <a:srgbClr val="FFFFFF"/>
                </a:solidFill>
                <a:latin typeface="Inter"/>
              </a:rPr>
              <a:t> in </a:t>
            </a:r>
            <a:r>
              <a:rPr sz="1656" b="0">
                <a:solidFill>
                  <a:srgbClr val="00D4AA"/>
                </a:solidFill>
                <a:latin typeface="JetBrains Mono"/>
              </a:rPr>
              <a:t>OFFLINE=1</a:t>
            </a:r>
            <a:r>
              <a:rPr sz="1800" b="0">
                <a:solidFill>
                  <a:srgbClr val="FFFFFF"/>
                </a:solidFill>
                <a:latin typeface="Inter"/>
              </a:rPr>
              <a:t>: a request produces the expected spans, with the expected attributes</a:t>
            </a:r>
          </a:p>
          <a:p>
            <a:pPr marL="292608" indent="-292608">
              <a:lnSpc>
                <a:spcPct val="120000"/>
              </a:lnSpc>
              <a:spcAft>
                <a:spcPts val="1260"/>
              </a:spcAft>
              <a:buClr>
                <a:srgbClr val="00D4AA"/>
              </a:buClr>
              <a:buFont typeface="Inter"/>
              <a:buChar char="•"/>
            </a:pPr>
            <a:r>
              <a:rPr sz="1800" b="0">
                <a:solidFill>
                  <a:srgbClr val="FFFFFF"/>
                </a:solidFill>
                <a:latin typeface="Inter"/>
              </a:rPr>
              <a:t>You have a working OpenTelemetry pipeline before writing any of it yourself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two-terminal layout for the course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Terminal 1: </a:t>
            </a:r>
            <a:r>
              <a:rPr sz="2024" b="0">
                <a:solidFill>
                  <a:srgbClr val="00D4AA"/>
                </a:solidFill>
                <a:latin typeface="JetBrains Mono"/>
              </a:rPr>
              <a:t>make run</a:t>
            </a:r>
            <a:r>
              <a:rPr sz="2200" b="0">
                <a:solidFill>
                  <a:srgbClr val="FFFFFF"/>
                </a:solidFill>
                <a:latin typeface="Inter"/>
              </a:rPr>
              <a:t> (leave it running; watch its logs)</a:t>
            </a:r>
          </a:p>
          <a:p>
            <a:pPr marL="292608" indent="-292608">
              <a:lnSpc>
                <a:spcPct val="120000"/>
              </a:lnSpc>
              <a:spcAft>
                <a:spcPts val="1539"/>
              </a:spcAft>
              <a:buClr>
                <a:srgbClr val="00D4AA"/>
              </a:buClr>
              <a:buFont typeface="Inter"/>
              <a:buChar char="•"/>
            </a:pPr>
            <a:r>
              <a:rPr sz="2200" b="0">
                <a:solidFill>
                  <a:srgbClr val="FFFFFF"/>
                </a:solidFill>
                <a:latin typeface="Inter"/>
              </a:rPr>
              <a:t>Terminal 2: </a:t>
            </a:r>
            <a:r>
              <a:rPr sz="2024" b="0">
                <a:solidFill>
                  <a:srgbClr val="00D4AA"/>
                </a:solidFill>
                <a:latin typeface="JetBrains Mono"/>
              </a:rPr>
              <a:t>curl</a:t>
            </a:r>
            <a:r>
              <a:rPr sz="2200" b="0">
                <a:solidFill>
                  <a:srgbClr val="FFFFFF"/>
                </a:solidFill>
                <a:latin typeface="Inter"/>
              </a:rPr>
              <a:t>, </a:t>
            </a:r>
            <a:r>
              <a:rPr sz="2024" b="0">
                <a:solidFill>
                  <a:srgbClr val="00D4AA"/>
                </a:solidFill>
                <a:latin typeface="JetBrains Mono"/>
              </a:rPr>
              <a:t>make swarm</a:t>
            </a:r>
            <a:r>
              <a:rPr sz="2200" b="0">
                <a:solidFill>
                  <a:srgbClr val="FFFFFF"/>
                </a:solidFill>
                <a:latin typeface="Inter"/>
              </a:rPr>
              <a:t>, </a:t>
            </a:r>
            <a:r>
              <a:rPr sz="2024" b="0">
                <a:solidFill>
                  <a:srgbClr val="00D4AA"/>
                </a:solidFill>
                <a:latin typeface="JetBrains Mono"/>
              </a:rPr>
              <a:t>make replay</a:t>
            </a:r>
            <a:r>
              <a:rPr sz="2200" b="0">
                <a:solidFill>
                  <a:srgbClr val="FFFFFF"/>
                </a:solidFill>
                <a:latin typeface="Inter"/>
              </a:rPr>
              <a:t>, tests</a:t>
            </a:r>
          </a:p>
          <a:p>
            <a:pPr marL="292608" indent="-292608">
              <a:lnSpc>
                <a:spcPct val="120000"/>
              </a:lnSpc>
              <a:spcAft>
                <a:spcPts val="1539"/>
              </a:spcAft>
              <a:buClr>
                <a:srgbClr val="00D4AA"/>
              </a:buClr>
              <a:buFont typeface="Inter"/>
              <a:buChar char="•"/>
            </a:pPr>
            <a:r>
              <a:rPr sz="2200" b="0">
                <a:solidFill>
                  <a:srgbClr val="FFFFFF"/>
                </a:solidFill>
                <a:latin typeface="Inter"/>
              </a:rPr>
              <a:t>Browser: Langfuse, and the Ops Console on port 8501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make install</a:t>
            </a:r>
            <a:r>
              <a:rPr sz="1800" b="1">
                <a:solidFill>
                  <a:srgbClr val="FFFFFF"/>
                </a:solidFill>
                <a:latin typeface="Inter"/>
              </a:rPr>
              <a:t>: venv, dev extra, </a:t>
            </a:r>
            <a:r>
              <a:rPr sz="1656" b="0">
                <a:solidFill>
                  <a:srgbClr val="00D4AA"/>
                </a:solidFill>
                <a:latin typeface="JetBrains Mono"/>
              </a:rPr>
              <a:t>.env</a:t>
            </a:r>
            <a:r>
              <a:rPr sz="1800" b="1">
                <a:solidFill>
                  <a:srgbClr val="FFFFFF"/>
                </a:solidFill>
                <a:latin typeface="Inter"/>
              </a:rPr>
              <a:t> copy</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make test</a:t>
            </a:r>
            <a:r>
              <a:rPr sz="1800" b="1">
                <a:solidFill>
                  <a:srgbClr val="FFFFFF"/>
                </a:solidFill>
                <a:latin typeface="Inter"/>
              </a:rPr>
              <a:t>: 419 passed, offline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make run</a:t>
            </a:r>
            <a:r>
              <a:rPr sz="1800" b="1">
                <a:solidFill>
                  <a:srgbClr val="FFFFFF"/>
                </a:solidFill>
                <a:latin typeface="Inter"/>
              </a:rPr>
              <a:t> plus </a:t>
            </a:r>
            <a:r>
              <a:rPr sz="1656" b="0">
                <a:solidFill>
                  <a:srgbClr val="00D4AA"/>
                </a:solidFill>
                <a:latin typeface="JetBrains Mono"/>
              </a:rPr>
              <a:t>/healthz</a:t>
            </a:r>
            <a:r>
              <a:rPr sz="1800" b="1">
                <a:solidFill>
                  <a:srgbClr val="FFFFFF"/>
                </a:solidFill>
                <a:latin typeface="Inter"/>
              </a:rPr>
              <a:t>: Atlas is 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Quick win: one request, one trace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quick win: one request, one trace, and the screen the whole course is about.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AND YOUR FIRST TRACE IN 10 MINUTES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Quick win: one request, one trace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Send one question to Atlas with tenant, user and session headers.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Read a trace top to bottom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Header: latency, cost, tokens, session, user, tags</a:t>
            </a:r>
          </a:p>
          <a:p>
            <a:pPr marL="292608" indent="-292608">
              <a:lnSpc>
                <a:spcPct val="120000"/>
              </a:lnSpc>
              <a:spcAft>
                <a:spcPts val="1260"/>
              </a:spcAft>
              <a:buClr>
                <a:srgbClr val="00D4AA"/>
              </a:buClr>
              <a:buFont typeface="Inter"/>
              <a:buChar char="•"/>
            </a:pPr>
            <a:r>
              <a:rPr sz="1800" b="0">
                <a:solidFill>
                  <a:srgbClr val="FFFFFF"/>
                </a:solidFill>
                <a:latin typeface="Inter"/>
              </a:rPr>
              <a:t>Root: </a:t>
            </a:r>
            <a:r>
              <a:rPr sz="1656" b="0">
                <a:solidFill>
                  <a:srgbClr val="00D4AA"/>
                </a:solidFill>
                <a:latin typeface="JetBrains Mono"/>
              </a:rPr>
              <a:t>invoke_agent atlas</a:t>
            </a:r>
            <a:r>
              <a:rPr sz="1800" b="0">
                <a:solidFill>
                  <a:srgbClr val="FFFFFF"/>
                </a:solidFill>
                <a:latin typeface="Inter"/>
              </a:rPr>
              <a:t> (type: agent)</a:t>
            </a:r>
          </a:p>
          <a:p>
            <a:pPr marL="292608" indent="-292608">
              <a:lnSpc>
                <a:spcPct val="120000"/>
              </a:lnSpc>
              <a:spcAft>
                <a:spcPts val="1260"/>
              </a:spcAft>
              <a:buClr>
                <a:srgbClr val="00D4AA"/>
              </a:buClr>
              <a:buFont typeface="Inter"/>
              <a:buChar char="•"/>
            </a:pPr>
            <a:r>
              <a:rPr sz="1656" b="0">
                <a:solidFill>
                  <a:srgbClr val="00D4AA"/>
                </a:solidFill>
                <a:latin typeface="JetBrains Mono"/>
              </a:rPr>
              <a:t>guardrail injection_check</a:t>
            </a:r>
            <a:r>
              <a:rPr sz="1800" b="0">
                <a:solidFill>
                  <a:srgbClr val="FFFFFF"/>
                </a:solidFill>
                <a:latin typeface="Inter"/>
              </a:rPr>
              <a:t> (type: guardrail)</a:t>
            </a:r>
          </a:p>
          <a:p>
            <a:pPr marL="292608" indent="-292608">
              <a:lnSpc>
                <a:spcPct val="120000"/>
              </a:lnSpc>
              <a:spcAft>
                <a:spcPts val="1260"/>
              </a:spcAft>
              <a:buClr>
                <a:srgbClr val="00D4AA"/>
              </a:buClr>
              <a:buFont typeface="Inter"/>
              <a:buChar char="•"/>
            </a:pPr>
            <a:r>
              <a:rPr sz="1656" b="0">
                <a:solidFill>
                  <a:srgbClr val="00D4AA"/>
                </a:solidFill>
                <a:latin typeface="JetBrains Mono"/>
              </a:rPr>
              <a:t>step 1</a:t>
            </a:r>
            <a:r>
              <a:rPr sz="1800" b="0">
                <a:solidFill>
                  <a:srgbClr val="FFFFFF"/>
                </a:solidFill>
                <a:latin typeface="Inter"/>
              </a:rPr>
              <a:t> → </a:t>
            </a:r>
            <a:r>
              <a:rPr sz="1656" b="0">
                <a:solidFill>
                  <a:srgbClr val="00D4AA"/>
                </a:solidFill>
                <a:latin typeface="JetBrains Mono"/>
              </a:rPr>
              <a:t>chat gpt-4.1-mini</a:t>
            </a:r>
            <a:r>
              <a:rPr sz="1800" b="0">
                <a:solidFill>
                  <a:srgbClr val="FFFFFF"/>
                </a:solidFill>
                <a:latin typeface="Inter"/>
              </a:rPr>
              <a:t> (generation) and </a:t>
            </a:r>
            <a:r>
              <a:rPr sz="1656" b="0">
                <a:solidFill>
                  <a:srgbClr val="00D4AA"/>
                </a:solidFill>
                <a:latin typeface="JetBrains Mono"/>
              </a:rPr>
              <a:t>execute_tool search_knowledge_base</a:t>
            </a:r>
            <a:r>
              <a:rPr sz="1800" b="0">
                <a:solidFill>
                  <a:srgbClr val="FFFFFF"/>
                </a:solidFill>
                <a:latin typeface="Inter"/>
              </a:rPr>
              <a:t> (retriever)</a:t>
            </a:r>
          </a:p>
          <a:p>
            <a:pPr marL="292608" indent="-292608">
              <a:lnSpc>
                <a:spcPct val="120000"/>
              </a:lnSpc>
              <a:spcAft>
                <a:spcPts val="1260"/>
              </a:spcAft>
              <a:buClr>
                <a:srgbClr val="00D4AA"/>
              </a:buClr>
              <a:buFont typeface="Inter"/>
              <a:buChar char="•"/>
            </a:pPr>
            <a:r>
              <a:rPr sz="1656" b="0">
                <a:solidFill>
                  <a:srgbClr val="00D4AA"/>
                </a:solidFill>
                <a:latin typeface="JetBrains Mono"/>
              </a:rPr>
              <a:t>step 2</a:t>
            </a:r>
            <a:r>
              <a:rPr sz="1800" b="0">
                <a:solidFill>
                  <a:srgbClr val="FFFFFF"/>
                </a:solidFill>
                <a:latin typeface="Inter"/>
              </a:rPr>
              <a:t> → </a:t>
            </a:r>
            <a:r>
              <a:rPr sz="1656" b="0">
                <a:solidFill>
                  <a:srgbClr val="00D4AA"/>
                </a:solidFill>
                <a:latin typeface="JetBrains Mono"/>
              </a:rPr>
              <a:t>chat gpt-4.1-mini</a:t>
            </a:r>
            <a:r>
              <a:rPr sz="1800" b="0">
                <a:solidFill>
                  <a:srgbClr val="FFFFFF"/>
                </a:solidFill>
                <a:latin typeface="Inter"/>
              </a:rPr>
              <a:t> (generation): the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each piece of this screen comes from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304288"/>
        </p:xfrm>
        <a:graphic>
          <a:graphicData uri="http://schemas.openxmlformats.org/drawingml/2006/table">
            <a:tbl>
              <a:tblPr firstRow="1" bandRow="1">
                <a:tableStyleId>{5C22544A-7EE6-4342-B048-85BDC9FD1C3A}</a:tableStyleId>
              </a:tblPr>
              <a:tblGrid>
                <a:gridCol w="3515695"/>
                <a:gridCol w="6392173"/>
                <a:gridCol w="1384970"/>
              </a:tblGrid>
              <a:tr h="384048">
                <a:tc>
                  <a:txBody>
                    <a:bodyPr wrap="square"/>
                    <a:lstStyle/>
                    <a:p>
                      <a:r>
                        <a:rPr sz="1200" b="1">
                          <a:solidFill>
                            <a:srgbClr val="0A1628"/>
                          </a:solidFill>
                          <a:latin typeface="Inter"/>
                        </a:rPr>
                        <a:t>On screen</a:t>
                      </a:r>
                    </a:p>
                  </a:txBody>
                  <a:tcPr marL="91440" marR="91440" marT="45720" marB="45720" anchor="ctr">
                    <a:solidFill>
                      <a:srgbClr val="00D4AA"/>
                    </a:solidFill>
                  </a:tcPr>
                </a:tc>
                <a:tc>
                  <a:txBody>
                    <a:bodyPr wrap="square"/>
                    <a:lstStyle/>
                    <a:p>
                      <a:r>
                        <a:rPr sz="1200" b="1">
                          <a:solidFill>
                            <a:srgbClr val="0A1628"/>
                          </a:solidFill>
                          <a:latin typeface="Inter"/>
                        </a:rPr>
                        <a:t>Set by</a:t>
                      </a:r>
                    </a:p>
                  </a:txBody>
                  <a:tcPr marL="91440" marR="91440" marT="45720" marB="45720" anchor="ctr">
                    <a:solidFill>
                      <a:srgbClr val="00D4AA"/>
                    </a:solidFill>
                  </a:tcPr>
                </a:tc>
                <a:tc>
                  <a:txBody>
                    <a:bodyPr wrap="square"/>
                    <a:lstStyle/>
                    <a:p>
                      <a:r>
                        <a:rPr sz="1200" b="1">
                          <a:solidFill>
                            <a:srgbClr val="0A1628"/>
                          </a:solidFill>
                          <a:latin typeface="Inter"/>
                        </a:rPr>
                        <a:t>Rebuilt in</a:t>
                      </a:r>
                    </a:p>
                  </a:txBody>
                  <a:tcPr marL="91440" marR="91440" marT="45720" marB="45720" anchor="ctr">
                    <a:solidFill>
                      <a:srgbClr val="00D4AA"/>
                    </a:solidFill>
                  </a:tcPr>
                </a:tc>
              </a:tr>
              <a:tr h="384048">
                <a:tc>
                  <a:txBody>
                    <a:bodyPr wrap="square"/>
                    <a:lstStyle/>
                    <a:p>
                      <a:r>
                        <a:rPr sz="1200" b="1">
                          <a:solidFill>
                            <a:srgbClr val="FFFFFF"/>
                          </a:solidFill>
                          <a:latin typeface="Inter"/>
                        </a:rPr>
                        <a:t>Tree of observations</a:t>
                      </a:r>
                    </a:p>
                  </a:txBody>
                  <a:tcPr marL="91440" marR="91440" marT="45720" marB="45720" anchor="ctr">
                    <a:solidFill>
                      <a:srgbClr val="1A2742"/>
                    </a:solidFill>
                  </a:tcPr>
                </a:tc>
                <a:tc>
                  <a:txBody>
                    <a:bodyPr wrap="square"/>
                    <a:lstStyle/>
                    <a:p>
                      <a:r>
                        <a:rPr sz="1200" b="0">
                          <a:solidFill>
                            <a:srgbClr val="FFFFFF"/>
                          </a:solidFill>
                          <a:latin typeface="Inter"/>
                        </a:rPr>
                        <a:t>OpenTelemetry spans; </a:t>
                      </a:r>
                      <a:r>
                        <a:rPr sz="1104" b="0">
                          <a:solidFill>
                            <a:srgbClr val="00D4AA"/>
                          </a:solidFill>
                          <a:latin typeface="JetBrains Mono"/>
                        </a:rPr>
                        <a:t>langfuse.observation.type</a:t>
                      </a:r>
                      <a:r>
                        <a:rPr sz="1200" b="0">
                          <a:solidFill>
                            <a:srgbClr val="FFFFFF"/>
                          </a:solidFill>
                          <a:latin typeface="Inter"/>
                        </a:rPr>
                        <a:t> from </a:t>
                      </a:r>
                      <a:r>
                        <a:rPr sz="1104" b="0">
                          <a:solidFill>
                            <a:srgbClr val="00D4AA"/>
                          </a:solidFill>
                          <a:latin typeface="JetBrains Mono"/>
                        </a:rPr>
                        <a:t>telemetry/genai_attrs.py</a:t>
                      </a:r>
                    </a:p>
                  </a:txBody>
                  <a:tcPr marL="91440" marR="91440" marT="45720" marB="45720" anchor="ctr">
                    <a:solidFill>
                      <a:srgbClr val="1A2742"/>
                    </a:solidFill>
                  </a:tcPr>
                </a:tc>
                <a:tc>
                  <a:txBody>
                    <a:bodyPr wrap="square"/>
                    <a:lstStyle/>
                    <a:p>
                      <a:r>
                        <a:rPr sz="1200" b="0">
                          <a:solidFill>
                            <a:srgbClr val="FFFFFF"/>
                          </a:solidFill>
                          <a:latin typeface="Inter"/>
                        </a:rPr>
                        <a:t>3.2, 3.4</a:t>
                      </a:r>
                    </a:p>
                  </a:txBody>
                  <a:tcPr marL="91440" marR="91440" marT="45720" marB="45720" anchor="ctr">
                    <a:solidFill>
                      <a:srgbClr val="1A2742"/>
                    </a:solidFill>
                  </a:tcPr>
                </a:tc>
              </a:tr>
              <a:tr h="384048">
                <a:tc>
                  <a:txBody>
                    <a:bodyPr wrap="square"/>
                    <a:lstStyle/>
                    <a:p>
                      <a:r>
                        <a:rPr sz="1200" b="1">
                          <a:solidFill>
                            <a:srgbClr val="FFFFFF"/>
                          </a:solidFill>
                          <a:latin typeface="Inter"/>
                        </a:rPr>
                        <a:t>Session, user, tags</a:t>
                      </a:r>
                    </a:p>
                  </a:txBody>
                  <a:tcPr marL="91440" marR="91440" marT="45720" marB="45720" anchor="ctr">
                    <a:solidFill>
                      <a:srgbClr val="0F1E35"/>
                    </a:solidFill>
                  </a:tcPr>
                </a:tc>
                <a:tc>
                  <a:txBody>
                    <a:bodyPr wrap="square"/>
                    <a:lstStyle/>
                    <a:p>
                      <a:r>
                        <a:rPr sz="1104" b="0">
                          <a:solidFill>
                            <a:srgbClr val="00D4AA"/>
                          </a:solidFill>
                          <a:latin typeface="JetBrains Mono"/>
                        </a:rPr>
                        <a:t>trace_attributes(...)</a:t>
                      </a:r>
                      <a:r>
                        <a:rPr sz="1200" b="0">
                          <a:solidFill>
                            <a:srgbClr val="FFFFFF"/>
                          </a:solidFill>
                          <a:latin typeface="Inter"/>
                        </a:rPr>
                        <a:t> in </a:t>
                      </a:r>
                      <a:r>
                        <a:rPr sz="1104" b="0">
                          <a:solidFill>
                            <a:srgbClr val="00D4AA"/>
                          </a:solidFill>
                          <a:latin typeface="JetBrains Mono"/>
                        </a:rPr>
                        <a:t>AtlasAgent.run</a:t>
                      </a:r>
                      <a:r>
                        <a:rPr sz="1200" b="0">
                          <a:solidFill>
                            <a:srgbClr val="FFFFFF"/>
                          </a:solidFill>
                          <a:latin typeface="Inter"/>
                        </a:rPr>
                        <a:t> (wraps Langfuse </a:t>
                      </a:r>
                      <a:r>
                        <a:rPr sz="1104" b="0">
                          <a:solidFill>
                            <a:srgbClr val="00D4AA"/>
                          </a:solidFill>
                          <a:latin typeface="JetBrains Mono"/>
                        </a:rPr>
                        <a:t>propagate_attributes</a:t>
                      </a:r>
                      <a:r>
                        <a:rPr sz="1200" b="0">
                          <a:solidFill>
                            <a:srgbClr val="FFFFFF"/>
                          </a:solidFill>
                          <a:latin typeface="Inter"/>
                        </a:rPr>
                        <a:t>)</a:t>
                      </a:r>
                    </a:p>
                  </a:txBody>
                  <a:tcPr marL="91440" marR="91440" marT="45720" marB="45720" anchor="ctr">
                    <a:solidFill>
                      <a:srgbClr val="0F1E35"/>
                    </a:solidFill>
                  </a:tcPr>
                </a:tc>
                <a:tc>
                  <a:txBody>
                    <a:bodyPr wrap="square"/>
                    <a:lstStyle/>
                    <a:p>
                      <a:r>
                        <a:rPr sz="1200" b="0">
                          <a:solidFill>
                            <a:srgbClr val="FFFFFF"/>
                          </a:solidFill>
                          <a:latin typeface="Inter"/>
                        </a:rPr>
                        <a:t>4.3</a:t>
                      </a:r>
                    </a:p>
                  </a:txBody>
                  <a:tcPr marL="91440" marR="91440" marT="45720" marB="45720" anchor="ctr">
                    <a:solidFill>
                      <a:srgbClr val="0F1E35"/>
                    </a:solidFill>
                  </a:tcPr>
                </a:tc>
              </a:tr>
              <a:tr h="384048">
                <a:tc>
                  <a:txBody>
                    <a:bodyPr wrap="square"/>
                    <a:lstStyle/>
                    <a:p>
                      <a:r>
                        <a:rPr sz="1200" b="1">
                          <a:solidFill>
                            <a:srgbClr val="FFFFFF"/>
                          </a:solidFill>
                          <a:latin typeface="Inter"/>
                        </a:rPr>
                        <a:t>Usage and cost on each generation</a:t>
                      </a:r>
                    </a:p>
                  </a:txBody>
                  <a:tcPr marL="91440" marR="91440" marT="45720" marB="45720" anchor="ctr">
                    <a:solidFill>
                      <a:srgbClr val="1A2742"/>
                    </a:solidFill>
                  </a:tcPr>
                </a:tc>
                <a:tc>
                  <a:txBody>
                    <a:bodyPr wrap="square"/>
                    <a:lstStyle/>
                    <a:p>
                      <a:r>
                        <a:rPr sz="1104" b="0">
                          <a:solidFill>
                            <a:srgbClr val="00D4AA"/>
                          </a:solidFill>
                          <a:latin typeface="JetBrains Mono"/>
                        </a:rPr>
                        <a:t>ga.set_llm_usage</a:t>
                      </a:r>
                      <a:r>
                        <a:rPr sz="1200" b="0">
                          <a:solidFill>
                            <a:srgbClr val="FFFFFF"/>
                          </a:solidFill>
                          <a:latin typeface="Inter"/>
                        </a:rPr>
                        <a:t> and </a:t>
                      </a:r>
                      <a:r>
                        <a:rPr sz="1104" b="0">
                          <a:solidFill>
                            <a:srgbClr val="00D4AA"/>
                          </a:solidFill>
                          <a:latin typeface="JetBrains Mono"/>
                        </a:rPr>
                        <a:t>ga.set_cost</a:t>
                      </a:r>
                      <a:r>
                        <a:rPr sz="1200" b="0">
                          <a:solidFill>
                            <a:srgbClr val="FFFFFF"/>
                          </a:solidFill>
                          <a:latin typeface="Inter"/>
                        </a:rPr>
                        <a:t>; Langfuse-native: </a:t>
                      </a:r>
                      <a:r>
                        <a:rPr sz="1104" b="0">
                          <a:solidFill>
                            <a:srgbClr val="00D4AA"/>
                          </a:solidFill>
                          <a:latin typeface="JetBrains Mono"/>
                        </a:rPr>
                        <a:t>update_current_generation</a:t>
                      </a:r>
                    </a:p>
                  </a:txBody>
                  <a:tcPr marL="91440" marR="91440" marT="45720" marB="45720" anchor="ctr">
                    <a:solidFill>
                      <a:srgbClr val="1A2742"/>
                    </a:solidFill>
                  </a:tcPr>
                </a:tc>
                <a:tc>
                  <a:txBody>
                    <a:bodyPr wrap="square"/>
                    <a:lstStyle/>
                    <a:p>
                      <a:r>
                        <a:rPr sz="1200" b="0">
                          <a:solidFill>
                            <a:srgbClr val="FFFFFF"/>
                          </a:solidFill>
                          <a:latin typeface="Inter"/>
                        </a:rPr>
                        <a:t>3.4, 4.2, 6.2</a:t>
                      </a:r>
                    </a:p>
                  </a:txBody>
                  <a:tcPr marL="91440" marR="91440" marT="45720" marB="45720" anchor="ctr">
                    <a:solidFill>
                      <a:srgbClr val="1A2742"/>
                    </a:solidFill>
                  </a:tcPr>
                </a:tc>
              </a:tr>
              <a:tr h="384048">
                <a:tc>
                  <a:txBody>
                    <a:bodyPr wrap="square"/>
                    <a:lstStyle/>
                    <a:p>
                      <a:r>
                        <a:rPr sz="1200" b="1">
                          <a:solidFill>
                            <a:srgbClr val="FFFFFF"/>
                          </a:solidFill>
                          <a:latin typeface="Inter"/>
                        </a:rPr>
                        <a:t>Retriever query and documents</a:t>
                      </a:r>
                    </a:p>
                  </a:txBody>
                  <a:tcPr marL="91440" marR="91440" marT="45720" marB="45720" anchor="ctr">
                    <a:solidFill>
                      <a:srgbClr val="0F1E35"/>
                    </a:solidFill>
                  </a:tcPr>
                </a:tc>
                <a:tc>
                  <a:txBody>
                    <a:bodyPr wrap="square"/>
                    <a:lstStyle/>
                    <a:p>
                      <a:r>
                        <a:rPr sz="1104" b="0">
                          <a:solidFill>
                            <a:srgbClr val="00D4AA"/>
                          </a:solidFill>
                          <a:latin typeface="JetBrains Mono"/>
                        </a:rPr>
                        <a:t>ga.set_retrieval</a:t>
                      </a:r>
                    </a:p>
                  </a:txBody>
                  <a:tcPr marL="91440" marR="91440" marT="45720" marB="45720" anchor="ctr">
                    <a:solidFill>
                      <a:srgbClr val="0F1E35"/>
                    </a:solidFill>
                  </a:tcPr>
                </a:tc>
                <a:tc>
                  <a:txBody>
                    <a:bodyPr wrap="square"/>
                    <a:lstStyle/>
                    <a:p>
                      <a:r>
                        <a:rPr sz="1200" b="0">
                          <a:solidFill>
                            <a:srgbClr val="FFFFFF"/>
                          </a:solidFill>
                          <a:latin typeface="Inter"/>
                        </a:rPr>
                        <a:t>5.3</a:t>
                      </a:r>
                    </a:p>
                  </a:txBody>
                  <a:tcPr marL="91440" marR="91440" marT="45720" marB="45720" anchor="ctr">
                    <a:solidFill>
                      <a:srgbClr val="0F1E35"/>
                    </a:solidFill>
                  </a:tcPr>
                </a:tc>
              </a:tr>
              <a:tr h="384048">
                <a:tc>
                  <a:txBody>
                    <a:bodyPr wrap="square"/>
                    <a:lstStyle/>
                    <a:p>
                      <a:r>
                        <a:rPr sz="1200" b="1">
                          <a:solidFill>
                            <a:srgbClr val="FFFFFF"/>
                          </a:solidFill>
                          <a:latin typeface="Inter"/>
                        </a:rPr>
                        <a:t>Latency per observation</a:t>
                      </a:r>
                    </a:p>
                  </a:txBody>
                  <a:tcPr marL="91440" marR="91440" marT="45720" marB="45720" anchor="ctr">
                    <a:solidFill>
                      <a:srgbClr val="1A2742"/>
                    </a:solidFill>
                  </a:tcPr>
                </a:tc>
                <a:tc>
                  <a:txBody>
                    <a:bodyPr wrap="square"/>
                    <a:lstStyle/>
                    <a:p>
                      <a:r>
                        <a:rPr sz="1200" b="0">
                          <a:solidFill>
                            <a:srgbClr val="FFFFFF"/>
                          </a:solidFill>
                          <a:latin typeface="Inter"/>
                        </a:rPr>
                        <a:t>span start and end times</a:t>
                      </a:r>
                    </a:p>
                  </a:txBody>
                  <a:tcPr marL="91440" marR="91440" marT="45720" marB="45720" anchor="ctr">
                    <a:solidFill>
                      <a:srgbClr val="1A2742"/>
                    </a:solidFill>
                  </a:tcPr>
                </a:tc>
                <a:tc>
                  <a:txBody>
                    <a:bodyPr wrap="square"/>
                    <a:lstStyle/>
                    <a:p>
                      <a:r>
                        <a:rPr sz="1200" b="0">
                          <a:solidFill>
                            <a:srgbClr val="FFFFFF"/>
                          </a:solidFill>
                          <a:latin typeface="Inter"/>
                        </a:rPr>
                        <a:t>5.4, 7.2</a:t>
                      </a:r>
                    </a:p>
                  </a:txBody>
                  <a:tcPr marL="91440" marR="91440" marT="45720" marB="45720" anchor="ctr">
                    <a:solidFill>
                      <a:srgbClr val="1A274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Going live, once (optional)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Costs roughly half a cent with </a:t>
            </a:r>
            <a:r>
              <a:rPr sz="1472" b="0">
                <a:solidFill>
                  <a:srgbClr val="00D4AA"/>
                </a:solidFill>
                <a:latin typeface="JetBrains Mono"/>
              </a:rPr>
              <a:t>gpt-4.1-mini</a:t>
            </a:r>
            <a:r>
              <a:rPr sz="1600" b="0">
                <a:solidFill>
                  <a:srgbClr val="FFFFFF"/>
                </a:solidFill>
                <a:latin typeface="Inter"/>
              </a:rPr>
              <a:t> (verify current pricing)</a:t>
            </a:r>
          </a:p>
          <a:p>
            <a:pPr marL="292608" indent="-292608">
              <a:lnSpc>
                <a:spcPct val="120000"/>
              </a:lnSpc>
              <a:spcAft>
                <a:spcPts val="1120"/>
              </a:spcAft>
              <a:buClr>
                <a:srgbClr val="00D4AA"/>
              </a:buClr>
              <a:buFont typeface="Inter"/>
              <a:buChar char="•"/>
            </a:pPr>
            <a:r>
              <a:rPr sz="1600" b="0">
                <a:solidFill>
                  <a:srgbClr val="FFFFFF"/>
                </a:solidFill>
                <a:latin typeface="Inter"/>
              </a:rPr>
              <a:t>Token counts and the answer text will differ from the mock's</a:t>
            </a:r>
          </a:p>
          <a:p>
            <a:pPr marL="292608" indent="-292608">
              <a:lnSpc>
                <a:spcPct val="120000"/>
              </a:lnSpc>
              <a:spcAft>
                <a:spcPts val="1120"/>
              </a:spcAft>
              <a:buClr>
                <a:srgbClr val="00D4AA"/>
              </a:buClr>
              <a:buFont typeface="Inter"/>
              <a:buChar char="•"/>
            </a:pPr>
            <a:r>
              <a:rPr sz="1600" b="0">
                <a:solidFill>
                  <a:srgbClr val="FFFFFF"/>
                </a:solidFill>
                <a:latin typeface="Inter"/>
              </a:rPr>
              <a:t>Switch back to </a:t>
            </a:r>
            <a:r>
              <a:rPr sz="1472" b="0">
                <a:solidFill>
                  <a:srgbClr val="00D4AA"/>
                </a:solidFill>
                <a:latin typeface="JetBrains Mono"/>
              </a:rPr>
              <a:t>OFFLINE=1</a:t>
            </a:r>
            <a:r>
              <a:rPr sz="1600" b="0">
                <a:solidFill>
                  <a:srgbClr val="FFFFFF"/>
                </a:solidFill>
                <a:latin typeface="Inter"/>
              </a:rPr>
              <a:t> before anything else</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bash</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200">
                <a:solidFill>
                  <a:srgbClr val="FFFFFF"/>
                </a:solidFill>
                <a:latin typeface="JetBrains Mono"/>
              </a:rPr>
              <a:t>OFFLINE=0 ATLAS_MOCK_LATENCY_SCALE=0 make run     # same terminal, after sourcing .env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a:t>
            </a:r>
            <a:r>
              <a:rPr sz="1656" b="0">
                <a:solidFill>
                  <a:srgbClr val="00D4AA"/>
                </a:solidFill>
                <a:latin typeface="JetBrains Mono"/>
              </a:rPr>
              <a:t>curl</a:t>
            </a:r>
            <a:r>
              <a:rPr sz="1800" b="1">
                <a:solidFill>
                  <a:srgbClr val="FFFFFF"/>
                </a:solidFill>
                <a:latin typeface="Inter"/>
              </a:rPr>
              <a:t>, three headers, one trace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Agent, guardrail, steps, generations, retriever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Cost is computed per model call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Offline mode: a full day of traffic for free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a whole day of these traces, for free, in about twenty seconds.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AND YOUR FIRST TRACE IN 10 MINUTES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Offline mode: a full day of traffic for free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Replay a deterministic day of traffic into the local store with </a:t>
            </a:r>
            <a:r>
              <a:rPr sz="1472" b="0">
                <a:solidFill>
                  <a:srgbClr val="00D4AA"/>
                </a:solidFill>
                <a:latin typeface="JetBrains Mono"/>
              </a:rPr>
              <a:t>OFFLINE=1 make replay</a:t>
            </a:r>
            <a:r>
              <a:rPr sz="1600" b="0">
                <a:solidFill>
                  <a:srgbClr val="CBD5E1"/>
                </a:solidFill>
                <a:latin typeface="Inter"/>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t>
            </a:r>
            <a:r>
              <a:rPr sz="2392" b="0">
                <a:solidFill>
                  <a:srgbClr val="00D4AA"/>
                </a:solidFill>
                <a:latin typeface="JetBrains Mono"/>
              </a:rPr>
              <a:t>OFFLINE=1</a:t>
            </a:r>
            <a:r>
              <a:rPr sz="2600" b="1">
                <a:solidFill>
                  <a:srgbClr val="FFFFFF"/>
                </a:solidFill>
                <a:latin typeface="Inter"/>
              </a:rPr>
              <a:t> swaps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304288"/>
        </p:xfrm>
        <a:graphic>
          <a:graphicData uri="http://schemas.openxmlformats.org/drawingml/2006/table">
            <a:tbl>
              <a:tblPr firstRow="1" bandRow="1">
                <a:tableStyleId>{5C22544A-7EE6-4342-B048-85BDC9FD1C3A}</a:tableStyleId>
              </a:tblPr>
              <a:tblGrid>
                <a:gridCol w="1303019"/>
                <a:gridCol w="4777740"/>
                <a:gridCol w="5212079"/>
              </a:tblGrid>
              <a:tr h="384048">
                <a:tc>
                  <a:txBody>
                    <a:bodyPr wrap="square"/>
                    <a:lstStyle/>
                    <a:p>
                      <a:r>
                        <a:rPr sz="1200" b="1">
                          <a:solidFill>
                            <a:srgbClr val="0A1628"/>
                          </a:solidFill>
                          <a:latin typeface="Inter"/>
                        </a:rPr>
                        <a:t>Component</a:t>
                      </a:r>
                    </a:p>
                  </a:txBody>
                  <a:tcPr marL="91440" marR="91440" marT="45720" marB="45720" anchor="ctr">
                    <a:solidFill>
                      <a:srgbClr val="00D4AA"/>
                    </a:solidFill>
                  </a:tcPr>
                </a:tc>
                <a:tc>
                  <a:txBody>
                    <a:bodyPr wrap="square"/>
                    <a:lstStyle/>
                    <a:p>
                      <a:r>
                        <a:rPr sz="1200" b="1">
                          <a:solidFill>
                            <a:srgbClr val="0A1628"/>
                          </a:solidFill>
                          <a:latin typeface="Inter"/>
                        </a:rPr>
                        <a:t>Live</a:t>
                      </a:r>
                    </a:p>
                  </a:txBody>
                  <a:tcPr marL="91440" marR="91440" marT="45720" marB="45720" anchor="ctr">
                    <a:solidFill>
                      <a:srgbClr val="00D4AA"/>
                    </a:solidFill>
                  </a:tcPr>
                </a:tc>
                <a:tc>
                  <a:txBody>
                    <a:bodyPr wrap="square"/>
                    <a:lstStyle/>
                    <a:p>
                      <a:r>
                        <a:rPr sz="1200" b="1">
                          <a:solidFill>
                            <a:srgbClr val="0A1628"/>
                          </a:solidFill>
                          <a:latin typeface="Inter"/>
                        </a:rPr>
                        <a:t>Offline</a:t>
                      </a:r>
                    </a:p>
                  </a:txBody>
                  <a:tcPr marL="91440" marR="91440" marT="45720" marB="45720" anchor="ctr">
                    <a:solidFill>
                      <a:srgbClr val="00D4AA"/>
                    </a:solidFill>
                  </a:tcPr>
                </a:tc>
              </a:tr>
              <a:tr h="384048">
                <a:tc>
                  <a:txBody>
                    <a:bodyPr wrap="square"/>
                    <a:lstStyle/>
                    <a:p>
                      <a:r>
                        <a:rPr sz="1200" b="1">
                          <a:solidFill>
                            <a:srgbClr val="FFFFFF"/>
                          </a:solidFill>
                          <a:latin typeface="Inter"/>
                        </a:rPr>
                        <a:t>Model calls</a:t>
                      </a:r>
                    </a:p>
                  </a:txBody>
                  <a:tcPr marL="91440" marR="91440" marT="45720" marB="45720" anchor="ctr">
                    <a:solidFill>
                      <a:srgbClr val="1A2742"/>
                    </a:solidFill>
                  </a:tcPr>
                </a:tc>
                <a:tc>
                  <a:txBody>
                    <a:bodyPr wrap="square"/>
                    <a:lstStyle/>
                    <a:p>
                      <a:r>
                        <a:rPr sz="1200" b="0">
                          <a:solidFill>
                            <a:srgbClr val="FFFFFF"/>
                          </a:solidFill>
                          <a:latin typeface="Inter"/>
                        </a:rPr>
                        <a:t>OpenAI API</a:t>
                      </a:r>
                    </a:p>
                  </a:txBody>
                  <a:tcPr marL="91440" marR="91440" marT="45720" marB="45720" anchor="ctr">
                    <a:solidFill>
                      <a:srgbClr val="1A2742"/>
                    </a:solidFill>
                  </a:tcPr>
                </a:tc>
                <a:tc>
                  <a:txBody>
                    <a:bodyPr wrap="square"/>
                    <a:lstStyle/>
                    <a:p>
                      <a:r>
                        <a:rPr sz="1104" b="0">
                          <a:solidFill>
                            <a:srgbClr val="00D4AA"/>
                          </a:solidFill>
                          <a:latin typeface="JetBrains Mono"/>
                        </a:rPr>
                        <a:t>app/mock_llm.py</a:t>
                      </a:r>
                      <a:r>
                        <a:rPr sz="1200" b="0">
                          <a:solidFill>
                            <a:srgbClr val="FFFFFF"/>
                          </a:solidFill>
                          <a:latin typeface="Inter"/>
                        </a:rPr>
                        <a:t>: deterministic, scenario-aware</a:t>
                      </a:r>
                    </a:p>
                  </a:txBody>
                  <a:tcPr marL="91440" marR="91440" marT="45720" marB="45720" anchor="ctr">
                    <a:solidFill>
                      <a:srgbClr val="1A2742"/>
                    </a:solidFill>
                  </a:tcPr>
                </a:tc>
              </a:tr>
              <a:tr h="384048">
                <a:tc>
                  <a:txBody>
                    <a:bodyPr wrap="square"/>
                    <a:lstStyle/>
                    <a:p>
                      <a:r>
                        <a:rPr sz="1200" b="1">
                          <a:solidFill>
                            <a:srgbClr val="FFFFFF"/>
                          </a:solidFill>
                          <a:latin typeface="Inter"/>
                        </a:rPr>
                        <a:t>Token counts</a:t>
                      </a:r>
                    </a:p>
                  </a:txBody>
                  <a:tcPr marL="91440" marR="91440" marT="45720" marB="45720" anchor="ctr">
                    <a:solidFill>
                      <a:srgbClr val="0F1E35"/>
                    </a:solidFill>
                  </a:tcPr>
                </a:tc>
                <a:tc>
                  <a:txBody>
                    <a:bodyPr wrap="square"/>
                    <a:lstStyle/>
                    <a:p>
                      <a:r>
                        <a:rPr sz="1200" b="0">
                          <a:solidFill>
                            <a:srgbClr val="FFFFFF"/>
                          </a:solidFill>
                          <a:latin typeface="Inter"/>
                        </a:rPr>
                        <a:t>from the API response</a:t>
                      </a:r>
                    </a:p>
                  </a:txBody>
                  <a:tcPr marL="91440" marR="91440" marT="45720" marB="45720" anchor="ctr">
                    <a:solidFill>
                      <a:srgbClr val="0F1E35"/>
                    </a:solidFill>
                  </a:tcPr>
                </a:tc>
                <a:tc>
                  <a:txBody>
                    <a:bodyPr wrap="square"/>
                    <a:lstStyle/>
                    <a:p>
                      <a:r>
                        <a:rPr sz="1200" b="0">
                          <a:solidFill>
                            <a:srgbClr val="FFFFFF"/>
                          </a:solidFill>
                          <a:latin typeface="Inter"/>
                        </a:rPr>
                        <a:t>realistic counts from the mock</a:t>
                      </a:r>
                    </a:p>
                  </a:txBody>
                  <a:tcPr marL="91440" marR="91440" marT="45720" marB="45720" anchor="ctr">
                    <a:solidFill>
                      <a:srgbClr val="0F1E35"/>
                    </a:solidFill>
                  </a:tcPr>
                </a:tc>
              </a:tr>
              <a:tr h="384048">
                <a:tc>
                  <a:txBody>
                    <a:bodyPr wrap="square"/>
                    <a:lstStyle/>
                    <a:p>
                      <a:r>
                        <a:rPr sz="1200" b="1">
                          <a:solidFill>
                            <a:srgbClr val="FFFFFF"/>
                          </a:solidFill>
                          <a:latin typeface="Inter"/>
                        </a:rPr>
                        <a:t>Latency</a:t>
                      </a:r>
                    </a:p>
                  </a:txBody>
                  <a:tcPr marL="91440" marR="91440" marT="45720" marB="45720" anchor="ctr">
                    <a:solidFill>
                      <a:srgbClr val="1A2742"/>
                    </a:solidFill>
                  </a:tcPr>
                </a:tc>
                <a:tc>
                  <a:txBody>
                    <a:bodyPr wrap="square"/>
                    <a:lstStyle/>
                    <a:p>
                      <a:r>
                        <a:rPr sz="1200" b="0">
                          <a:solidFill>
                            <a:srgbClr val="FFFFFF"/>
                          </a:solidFill>
                          <a:latin typeface="Inter"/>
                        </a:rPr>
                        <a:t>real</a:t>
                      </a:r>
                    </a:p>
                  </a:txBody>
                  <a:tcPr marL="91440" marR="91440" marT="45720" marB="45720" anchor="ctr">
                    <a:solidFill>
                      <a:srgbClr val="1A2742"/>
                    </a:solidFill>
                  </a:tcPr>
                </a:tc>
                <a:tc>
                  <a:txBody>
                    <a:bodyPr wrap="square"/>
                    <a:lstStyle/>
                    <a:p>
                      <a:r>
                        <a:rPr sz="1200" b="0">
                          <a:solidFill>
                            <a:srgbClr val="FFFFFF"/>
                          </a:solidFill>
                          <a:latin typeface="Inter"/>
                        </a:rPr>
                        <a:t>simulated from realistic distributions</a:t>
                      </a:r>
                    </a:p>
                  </a:txBody>
                  <a:tcPr marL="91440" marR="91440" marT="45720" marB="45720" anchor="ctr">
                    <a:solidFill>
                      <a:srgbClr val="1A2742"/>
                    </a:solidFill>
                  </a:tcPr>
                </a:tc>
              </a:tr>
              <a:tr h="384048">
                <a:tc>
                  <a:txBody>
                    <a:bodyPr wrap="square"/>
                    <a:lstStyle/>
                    <a:p>
                      <a:r>
                        <a:rPr sz="1200" b="1">
                          <a:solidFill>
                            <a:srgbClr val="FFFFFF"/>
                          </a:solidFill>
                          <a:latin typeface="Inter"/>
                        </a:rPr>
                        <a:t>Span storage</a:t>
                      </a:r>
                    </a:p>
                  </a:txBody>
                  <a:tcPr marL="91440" marR="91440" marT="45720" marB="45720" anchor="ctr">
                    <a:solidFill>
                      <a:srgbClr val="0F1E35"/>
                    </a:solidFill>
                  </a:tcPr>
                </a:tc>
                <a:tc>
                  <a:txBody>
                    <a:bodyPr wrap="square"/>
                    <a:lstStyle/>
                    <a:p>
                      <a:r>
                        <a:rPr sz="1200" b="0">
                          <a:solidFill>
                            <a:srgbClr val="FFFFFF"/>
                          </a:solidFill>
                          <a:latin typeface="Inter"/>
                        </a:rPr>
                        <a:t>local store, plus Langfuse when keys are set</a:t>
                      </a:r>
                    </a:p>
                  </a:txBody>
                  <a:tcPr marL="91440" marR="91440" marT="45720" marB="45720" anchor="ctr">
                    <a:solidFill>
                      <a:srgbClr val="0F1E35"/>
                    </a:solidFill>
                  </a:tcPr>
                </a:tc>
                <a:tc>
                  <a:txBody>
                    <a:bodyPr wrap="square"/>
                    <a:lstStyle/>
                    <a:p>
                      <a:r>
                        <a:rPr sz="1200" b="0">
                          <a:solidFill>
                            <a:srgbClr val="FFFFFF"/>
                          </a:solidFill>
                          <a:latin typeface="Inter"/>
                        </a:rPr>
                        <a:t>the same</a:t>
                      </a:r>
                    </a:p>
                  </a:txBody>
                  <a:tcPr marL="91440" marR="91440" marT="45720" marB="45720" anchor="ctr">
                    <a:solidFill>
                      <a:srgbClr val="0F1E35"/>
                    </a:solidFill>
                  </a:tcPr>
                </a:tc>
              </a:tr>
              <a:tr h="384048">
                <a:tc>
                  <a:txBody>
                    <a:bodyPr wrap="square"/>
                    <a:lstStyle/>
                    <a:p>
                      <a:r>
                        <a:rPr sz="1200" b="1">
                          <a:solidFill>
                            <a:srgbClr val="FFFFFF"/>
                          </a:solidFill>
                          <a:latin typeface="Inter"/>
                        </a:rPr>
                        <a:t>Prices</a:t>
                      </a:r>
                    </a:p>
                  </a:txBody>
                  <a:tcPr marL="91440" marR="91440" marT="45720" marB="45720" anchor="ctr">
                    <a:solidFill>
                      <a:srgbClr val="1A2742"/>
                    </a:solidFill>
                  </a:tcPr>
                </a:tc>
                <a:tc>
                  <a:txBody>
                    <a:bodyPr wrap="square"/>
                    <a:lstStyle/>
                    <a:p>
                      <a:r>
                        <a:rPr sz="1104" b="0">
                          <a:solidFill>
                            <a:srgbClr val="00D4AA"/>
                          </a:solidFill>
                          <a:latin typeface="JetBrains Mono"/>
                        </a:rPr>
                        <a:t>src/northwind/pricing.py</a:t>
                      </a:r>
                    </a:p>
                  </a:txBody>
                  <a:tcPr marL="91440" marR="91440" marT="45720" marB="45720" anchor="ctr">
                    <a:solidFill>
                      <a:srgbClr val="1A2742"/>
                    </a:solidFill>
                  </a:tcPr>
                </a:tc>
                <a:tc>
                  <a:txBody>
                    <a:bodyPr wrap="square"/>
                    <a:lstStyle/>
                    <a:p>
                      <a:r>
                        <a:rPr sz="1200" b="0">
                          <a:solidFill>
                            <a:srgbClr val="FFFFFF"/>
                          </a:solidFill>
                          <a:latin typeface="Inter"/>
                        </a:rPr>
                        <a:t>the same table</a:t>
                      </a:r>
                    </a:p>
                  </a:txBody>
                  <a:tcPr marL="91440" marR="91440" marT="45720" marB="45720" anchor="ctr">
                    <a:solidFill>
                      <a:srgbClr val="1A274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Same seed, same day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Defaults: </a:t>
            </a:r>
            <a:r>
              <a:rPr sz="1656" b="0">
                <a:solidFill>
                  <a:srgbClr val="00D4AA"/>
                </a:solidFill>
                <a:latin typeface="JetBrains Mono"/>
              </a:rPr>
              <a:t>SEED=7</a:t>
            </a:r>
            <a:r>
              <a:rPr sz="1800" b="0">
                <a:solidFill>
                  <a:srgbClr val="FFFFFF"/>
                </a:solidFill>
                <a:latin typeface="Inter"/>
              </a:rPr>
              <a:t>, </a:t>
            </a:r>
            <a:r>
              <a:rPr sz="1656" b="0">
                <a:solidFill>
                  <a:srgbClr val="00D4AA"/>
                </a:solidFill>
                <a:latin typeface="JetBrains Mono"/>
              </a:rPr>
              <a:t>SESSIONS=4000</a:t>
            </a:r>
            <a:r>
              <a:rPr sz="1800" b="0">
                <a:solidFill>
                  <a:srgbClr val="FFFFFF"/>
                </a:solidFill>
                <a:latin typeface="Inter"/>
              </a:rPr>
              <a:t>, day 2026-09-14</a:t>
            </a:r>
          </a:p>
          <a:p>
            <a:pPr marL="292608" indent="-292608">
              <a:lnSpc>
                <a:spcPct val="120000"/>
              </a:lnSpc>
              <a:spcAft>
                <a:spcPts val="1260"/>
              </a:spcAft>
              <a:buClr>
                <a:srgbClr val="00D4AA"/>
              </a:buClr>
              <a:buFont typeface="Inter"/>
              <a:buChar char="•"/>
            </a:pPr>
            <a:r>
              <a:rPr sz="1800" b="0">
                <a:solidFill>
                  <a:srgbClr val="FFFFFF"/>
                </a:solidFill>
                <a:latin typeface="Inter"/>
              </a:rPr>
              <a:t>Same seed → identical spans, costs and latencies, on any machine</a:t>
            </a:r>
          </a:p>
          <a:p>
            <a:pPr marL="292608" indent="-292608">
              <a:lnSpc>
                <a:spcPct val="120000"/>
              </a:lnSpc>
              <a:spcAft>
                <a:spcPts val="1260"/>
              </a:spcAft>
              <a:buClr>
                <a:srgbClr val="00D4AA"/>
              </a:buClr>
              <a:buFont typeface="Inter"/>
              <a:buChar char="•"/>
            </a:pPr>
            <a:r>
              <a:rPr sz="1800" b="0">
                <a:solidFill>
                  <a:srgbClr val="FFFFFF"/>
                </a:solidFill>
                <a:latin typeface="Inter"/>
              </a:rPr>
              <a:t>This is how a lab can say "your answer should be $56.28"</a:t>
            </a:r>
          </a:p>
          <a:p>
            <a:pPr marL="292608" indent="-292608">
              <a:lnSpc>
                <a:spcPct val="120000"/>
              </a:lnSpc>
              <a:spcAft>
                <a:spcPts val="1260"/>
              </a:spcAft>
              <a:buClr>
                <a:srgbClr val="00D4AA"/>
              </a:buClr>
              <a:buFont typeface="Inter"/>
              <a:buChar char="•"/>
            </a:pPr>
            <a:r>
              <a:rPr sz="1800" b="0">
                <a:solidFill>
                  <a:srgbClr val="FFFFFF"/>
                </a:solidFill>
                <a:latin typeface="Inter"/>
              </a:rPr>
              <a:t>Incidents are injected on top: </a:t>
            </a:r>
            <a:r>
              <a:rPr sz="1656" b="0">
                <a:solidFill>
                  <a:srgbClr val="00D4AA"/>
                </a:solidFill>
                <a:latin typeface="JetBrains Mono"/>
              </a:rPr>
              <a:t>SCENARIO=loop</a:t>
            </a:r>
            <a:r>
              <a:rPr sz="1800" b="0">
                <a:solidFill>
                  <a:srgbClr val="FFFFFF"/>
                </a:solidFill>
                <a:latin typeface="Inter"/>
              </a:rPr>
              <a:t>, </a:t>
            </a:r>
            <a:r>
              <a:rPr sz="1656" b="0">
                <a:solidFill>
                  <a:srgbClr val="00D4AA"/>
                </a:solidFill>
                <a:latin typeface="JetBrains Mono"/>
              </a:rPr>
              <a:t>context_bloat</a:t>
            </a:r>
            <a:r>
              <a:rPr sz="1800" b="0">
                <a:solidFill>
                  <a:srgbClr val="FFFFFF"/>
                </a:solidFill>
                <a:latin typeface="Inter"/>
              </a:rPr>
              <a:t>, </a:t>
            </a:r>
            <a:r>
              <a:rPr sz="1656" b="0">
                <a:solidFill>
                  <a:srgbClr val="00D4AA"/>
                </a:solidFill>
                <a:latin typeface="JetBrains Mono"/>
              </a:rPr>
              <a:t>retry_storm</a:t>
            </a:r>
            <a:r>
              <a:rPr sz="1800" b="0">
                <a:solidFill>
                  <a:srgbClr val="FFFFFF"/>
                </a:solidFill>
                <a:latin typeface="Inter"/>
              </a:rPr>
              <a:t>, </a:t>
            </a:r>
            <a:r>
              <a:rPr sz="1656" b="0">
                <a:solidFill>
                  <a:srgbClr val="00D4AA"/>
                </a:solidFill>
                <a:latin typeface="JetBrains Mono"/>
              </a:rPr>
              <a:t>slow_provider</a:t>
            </a:r>
            <a:r>
              <a:rPr sz="1800" b="0">
                <a:solidFill>
                  <a:srgbClr val="FFFFFF"/>
                </a:solidFill>
                <a:latin typeface="Inter"/>
              </a:rPr>
              <a:t>, </a:t>
            </a:r>
            <a:r>
              <a:rPr sz="1656" b="0">
                <a:solidFill>
                  <a:srgbClr val="00D4AA"/>
                </a:solidFill>
                <a:latin typeface="JetBrains Mono"/>
              </a:rPr>
              <a:t>prompt_regression</a:t>
            </a:r>
            <a:r>
              <a:rPr sz="1800" b="0">
                <a:solidFill>
                  <a:srgbClr val="FFFFFF"/>
                </a:solidFill>
                <a:latin typeface="Inter"/>
              </a:rPr>
              <a:t>, or a preset such as </a:t>
            </a:r>
            <a:r>
              <a:rPr sz="1656" b="0">
                <a:solidFill>
                  <a:srgbClr val="00D4AA"/>
                </a:solidFill>
                <a:latin typeface="JetBrains Mono"/>
              </a:rPr>
              <a:t>cost_spike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to also send to Langfuse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About seventy thousand observations against your monthly allowance</a:t>
            </a:r>
          </a:p>
          <a:p>
            <a:pPr marL="292608" indent="-292608">
              <a:lnSpc>
                <a:spcPct val="120000"/>
              </a:lnSpc>
              <a:spcAft>
                <a:spcPts val="1120"/>
              </a:spcAft>
              <a:buClr>
                <a:srgbClr val="00D4AA"/>
              </a:buClr>
              <a:buFont typeface="Inter"/>
              <a:buChar char="•"/>
            </a:pPr>
            <a:r>
              <a:rPr sz="1600" b="0">
                <a:solidFill>
                  <a:srgbClr val="FFFFFF"/>
                </a:solidFill>
                <a:latin typeface="Inter"/>
              </a:rPr>
              <a:t>Do it once, when a lab asks, not every time</a:t>
            </a:r>
          </a:p>
          <a:p>
            <a:pPr marL="292608" indent="-292608">
              <a:lnSpc>
                <a:spcPct val="120000"/>
              </a:lnSpc>
              <a:spcAft>
                <a:spcPts val="1120"/>
              </a:spcAft>
              <a:buClr>
                <a:srgbClr val="00D4AA"/>
              </a:buClr>
              <a:buFont typeface="Inter"/>
              <a:buChar char="•"/>
            </a:pPr>
            <a:r>
              <a:rPr sz="1600" b="0">
                <a:solidFill>
                  <a:srgbClr val="FFFFFF"/>
                </a:solidFill>
                <a:latin typeface="Inter"/>
              </a:rPr>
              <a:t>Everything the console shows is also available as Langfuse filters and dashboards (Section 9.4)</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bash</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200">
                <a:solidFill>
                  <a:srgbClr val="FFFFFF"/>
                </a:solidFill>
                <a:latin typeface="JetBrains Mono"/>
              </a:rPr>
              <a:t>OFFLINE=1 make replay LANGFUSE=1        # also export the day to your Langfuse project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make replay</a:t>
            </a:r>
            <a:r>
              <a:rPr sz="1800" b="1">
                <a:solidFill>
                  <a:srgbClr val="FFFFFF"/>
                </a:solidFill>
                <a:latin typeface="Inter"/>
              </a:rPr>
              <a:t>: 10,184 requests, $56.28, seed 7</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Console: cost, latency, quality, budgets, traces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Real prices times realistic tokens, for free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1: Environment and first trace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it's your turn: Lab 1 walks you through the environment checklist and your first trace screenshot.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AND YOUR FIRST TRACE IN 10 MINUTES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1: Environment and first trace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Complete the environment checklist: tests green, Atlas healthy, offline day replayed.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Install, test and run Atlas offline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one trace: steps, generations, cost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Replay a day and read the console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Setup and tracing basics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A five-question quiz on setup and tracing basics, then Section 3: what a trace actually is, and how…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AND YOUR FIRST TRACE IN 10 MINUTES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Setup and tracing basics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understanding of the env vars, the Make targets and what offline mode swaps.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2 quiz: what's covered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Which env vars Langfuse reads, and why a hard cap</a:t>
            </a:r>
          </a:p>
          <a:p>
            <a:pPr marL="292608" indent="-292608">
              <a:lnSpc>
                <a:spcPct val="120000"/>
              </a:lnSpc>
              <a:spcAft>
                <a:spcPts val="1260"/>
              </a:spcAft>
              <a:buClr>
                <a:srgbClr val="00D4AA"/>
              </a:buClr>
              <a:buFont typeface="Inter"/>
              <a:buChar char="•"/>
            </a:pPr>
            <a:r>
              <a:rPr sz="1800" b="0">
                <a:solidFill>
                  <a:srgbClr val="FFFFFF"/>
                </a:solidFill>
                <a:latin typeface="Inter"/>
              </a:rPr>
              <a:t>What </a:t>
            </a:r>
            <a:r>
              <a:rPr sz="1656" b="0">
                <a:solidFill>
                  <a:srgbClr val="00D4AA"/>
                </a:solidFill>
                <a:latin typeface="JetBrains Mono"/>
              </a:rPr>
              <a:t>make test</a:t>
            </a:r>
            <a:r>
              <a:rPr sz="1800" b="0">
                <a:solidFill>
                  <a:srgbClr val="FFFFFF"/>
                </a:solidFill>
                <a:latin typeface="Inter"/>
              </a:rPr>
              <a:t>, </a:t>
            </a:r>
            <a:r>
              <a:rPr sz="1656" b="0">
                <a:solidFill>
                  <a:srgbClr val="00D4AA"/>
                </a:solidFill>
                <a:latin typeface="JetBrains Mono"/>
              </a:rPr>
              <a:t>make run</a:t>
            </a:r>
            <a:r>
              <a:rPr sz="1800" b="0">
                <a:solidFill>
                  <a:srgbClr val="FFFFFF"/>
                </a:solidFill>
                <a:latin typeface="Inter"/>
              </a:rPr>
              <a:t>, </a:t>
            </a:r>
            <a:r>
              <a:rPr sz="1656" b="0">
                <a:solidFill>
                  <a:srgbClr val="00D4AA"/>
                </a:solidFill>
                <a:latin typeface="JetBrains Mono"/>
              </a:rPr>
              <a:t>make replay</a:t>
            </a:r>
            <a:r>
              <a:rPr sz="1800" b="0">
                <a:solidFill>
                  <a:srgbClr val="FFFFFF"/>
                </a:solidFill>
                <a:latin typeface="Inter"/>
              </a:rPr>
              <a:t>, </a:t>
            </a:r>
            <a:r>
              <a:rPr sz="1656" b="0">
                <a:solidFill>
                  <a:srgbClr val="00D4AA"/>
                </a:solidFill>
                <a:latin typeface="JetBrains Mono"/>
              </a:rPr>
              <a:t>make console</a:t>
            </a:r>
            <a:r>
              <a:rPr sz="1800" b="0">
                <a:solidFill>
                  <a:srgbClr val="FFFFFF"/>
                </a:solidFill>
                <a:latin typeface="Inter"/>
              </a:rPr>
              <a:t> each do</a:t>
            </a:r>
          </a:p>
          <a:p>
            <a:pPr marL="292608" indent="-292608">
              <a:lnSpc>
                <a:spcPct val="120000"/>
              </a:lnSpc>
              <a:spcAft>
                <a:spcPts val="1260"/>
              </a:spcAft>
              <a:buClr>
                <a:srgbClr val="00D4AA"/>
              </a:buClr>
              <a:buFont typeface="Inter"/>
              <a:buChar char="•"/>
            </a:pPr>
            <a:r>
              <a:rPr sz="1800" b="0">
                <a:solidFill>
                  <a:srgbClr val="FFFFFF"/>
                </a:solidFill>
                <a:latin typeface="Inter"/>
              </a:rPr>
              <a:t>What </a:t>
            </a:r>
            <a:r>
              <a:rPr sz="1656" b="0">
                <a:solidFill>
                  <a:srgbClr val="00D4AA"/>
                </a:solidFill>
                <a:latin typeface="JetBrains Mono"/>
              </a:rPr>
              <a:t>OFFLINE=1</a:t>
            </a:r>
            <a:r>
              <a:rPr sz="1800" b="0">
                <a:solidFill>
                  <a:srgbClr val="FFFFFF"/>
                </a:solidFill>
                <a:latin typeface="Inter"/>
              </a:rPr>
              <a:t> swaps and what it keeps real</a:t>
            </a:r>
          </a:p>
          <a:p>
            <a:pPr marL="292608" indent="-292608">
              <a:lnSpc>
                <a:spcPct val="120000"/>
              </a:lnSpc>
              <a:spcAft>
                <a:spcPts val="1260"/>
              </a:spcAft>
              <a:buClr>
                <a:srgbClr val="00D4AA"/>
              </a:buClr>
              <a:buFont typeface="Inter"/>
              <a:buChar char="•"/>
            </a:pPr>
            <a:r>
              <a:rPr sz="1800" b="0">
                <a:solidFill>
                  <a:srgbClr val="FFFFFF"/>
                </a:solidFill>
                <a:latin typeface="Inter"/>
              </a:rPr>
              <a:t>The observations in your first trace and where cost lives</a:t>
            </a:r>
          </a:p>
          <a:p>
            <a:pPr marL="292608" indent="-292608">
              <a:lnSpc>
                <a:spcPct val="120000"/>
              </a:lnSpc>
              <a:spcAft>
                <a:spcPts val="1260"/>
              </a:spcAft>
              <a:buClr>
                <a:srgbClr val="00D4AA"/>
              </a:buClr>
              <a:buFont typeface="Inter"/>
              <a:buChar char="•"/>
            </a:pPr>
            <a:r>
              <a:rPr sz="1800" b="0">
                <a:solidFill>
                  <a:srgbClr val="FFFFFF"/>
                </a:solidFill>
                <a:latin typeface="Inter"/>
              </a:rPr>
              <a:t>Why the replay is seeded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02 · Lecture 2.6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Traces, spans and context in five minutes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Section 3: traces, spans and context in five minutes, then you build OpenTelemetry instrumentation by hand.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