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Your traces are a data breach waiting to happen.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Identifiers, starting with the user id on every single request. The input, which is whatever the employee typed, including the password they pasted by mistake. Tool results, which are records from systems that have their own access controls. The output, which echoes the above. The retrieval context. And then the copies: the judge sees the question and the answer, and feedback comments are free text. Your agent's memory is also your telemetry's memory, and telemetry remembers longer.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Everything. Identifiers, starting with the user id on every single request. The input, which is whatever the employee typed, including the password they pasted by mistake. Tool results, which are reco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destinations. Langfuse, where every project member can read every trace. The collector, which fans out to whatever backends you configure; Atlas's sends to Langfuse and Phoenix. The local span store on your laptop, which keeps everything until you run `make clean`. Logs, which in most companies have the widest audience of any system. The judge provider, which sees what you send it under its own data terms. And Prometheus, the one place ids shouldn't be, because the label allow-list keeps them out. Count how many of those had a security review at your company. In most places the answer is one, and it's the database the data came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scale on the replayed day. An employee ID on every one of ten thousand requests. Every question and every answer, in plain text. And the six hundred seventy-eight answers the PII detector from 8.4 flagged before it learned which values the knowledge base publishes, a reminder that the detector reads text that is already stored. Multiply by a month of retention and a few destinations, and a helpdesk is holding over a million identifiers at rest. Masking a value before it leaves the process costs a fraction of a millisecond. No tokens. No dollars. This is the cheapest security control you will ever ship.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threats, and the section maps onto them. Over-collection: you captured more than you needed. Over-retention: you kept it too long. Over-access: too many readers. And third-party leakage: vendors and judge models. Masking handles the first and most of the fourth. Retention and access handle the second and third. And there's a twist in 10.4: some regulations require you to keep certain logs. Governance isn't "delete everything." It's "keep exactly what you must, protect it, and delete the rest on schedule."</a:t>
            </a:r>
          </a:p>
          <a:p/>
          <a:p>
            <a:r>
              <a:t>[B-ROLL: D10 build 2, the same flow with shields: SDK `mask=`, the collector's attributes processor, retention, RBAC, "judge: send it mas...]</a:t>
            </a:r>
          </a:p>
          <a:p/>
          <a:p>
            <a:r>
              <a:t>One principle for the whole section. The safest data is the data you never collected. Every control downstream, retention, access, encryption, is a mitigation for a value that shouldn't have been there. So the order is: don't capture it; if you must, mask it before it leaves the process; if you must keep it raw, keep it short and keep it locked.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masking in the SDK and the collector.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VS Code, `telemetry/genai_attrs.py`: `_safe`, then `set_tool` calling it for `gen_ai.tool.call.arguments` and `gen_ai.tool.call....]</a:t>
            </a:r>
          </a:p>
          <a:p/>
          <a:p>
            <a:r>
              <a:t>Layer one is the one that does most of the work. Every helper that puts content on a span calls `_safe` first: mask, then clip to four thousand characters. Tool results are where most of the sensitive data arrives, and this is the line that catches it before the span exists. One deliberate gap: `user.id` goes on the span as-is, because the local store needs the real id for the user showback in 6.3. The collector deletes it on the way out, and deletes rather than hashes because the collector's hash is plain SHA-256 with no key, which for a five-digit ID is the lookup table we just built. If you export straight to Langfuse without the collector, put the HMAC pseudonym on the span yourself before the raw id becomes an attribute.</a:t>
            </a:r>
          </a:p>
          <a:p/>
          <a:p>
            <a:r>
              <a:t>Layer two: the SDK.</a:t>
            </a:r>
          </a:p>
          <a:p/>
          <a:p>
            <a:r>
              <a:t>[CODE: `telemetry/langfuse_setup.py` (excerpt from `init_langfuse`)]</a:t>
            </a:r>
          </a:p>
          <a:p/>
          <a:p>
            <a:r>
              <a:t>One argument, `mask=langfuse_mask`, and every input, output and metadata value the Langfuse SDK records passes through it before export. That's the layer that protects the Langfuse-native `@observe` code from Section 4, which never calls `_safe`.</a:t>
            </a:r>
          </a:p>
          <a:p/>
          <a:p>
            <a:r>
              <a:t>Layer three: the collector.</a:t>
            </a:r>
          </a:p>
          <a:p/>
          <a:p>
            <a:r>
              <a:t>[SCREEN: `deploy/otel-collector.yaml`]</a:t>
            </a:r>
          </a:p>
          <a:p/>
          <a:p>
            <a:r>
              <a:t>[CODE: `deploy/otel-collector.yaml` (excerpt; verify processor options against the collector-contrib docs)]</a:t>
            </a:r>
          </a:p>
          <a:p/>
          <a:p>
            <a:r>
              <a:t>Four processors, in order: `memory_limiter`, `attributes/redact`, `tail_sampling`, `batch`. The redaction step deletes outright what a backend never needs: tool results, message bodies, the system instructions, the Langfuse input and output copies, and the raw user ids. It hashes one thing, the tool arguments, and only because Atlas has already masked them at the source, so the digest just groups identical calls and exposes nothing new.</a:t>
            </a:r>
          </a:p>
          <a:p/>
          <a:p>
            <a:r>
              <a:t>[SCREEN: zoom on the `delete` and `hash` actions]</a:t>
            </a:r>
          </a:p>
          <a:p/>
          <a:p>
            <a:r>
              <a:t>Now the test that makes this permanent.</a:t>
            </a:r>
          </a:p>
          <a:p/>
          <a:p>
            <a:r>
              <a:t>[SCREEN: `tests/integration/test_spans.py`, then terminal]</a:t>
            </a:r>
          </a:p>
          <a:p/>
          <a:p>
            <a:r>
              <a:t>[CODE: `tests/integration/test_spans.py::test_no_raw_pii_reaches_any_span`]</a:t>
            </a:r>
          </a:p>
          <a:p/>
          <a:p>
            <a:r>
              <a:t>Send a question containing all four kinds of PII through the real `/chat` endpoint with an in-memory exporter. Serialise every span's attributes. Assert none of the raw values is anywhere in the blob, and that the placeholders are. This test runs on every pull request. If anyone adds a tool that copies a record into a span without `_safe`, it goes red. That's the control that lasts after you've stopped paying attention.</a:t>
            </a:r>
          </a:p>
          <a:p/>
          <a:p>
            <a:r>
              <a:t>[DEMO: `38 passed`]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Mask before export, never with a cleanup job, because a cleanup job runs after the leak. Delete what nobody needs, hash what you join on, placeholder the rest. Key your hashes for anything with a small value space, and keep the key out of the repo. Luhn-check cards so you don't blind yourself. And one test in CI that fails on any raw value.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Retention, access and tenant separation.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table, one row per data class. Raw production traces, masked, thirty days. Dev and staging, seven, because nobody debugs last month's dev run. Scores and aggregates carry no PII, just ids and numbers, so thirteen months for year-over-year comparison. Datasets are your tests, so they stay, with a quarterly review. Logs match traces. Prometheus, forty-five days, the twenty-eight-day SLO window plus margin. And the local store on your laptop: synthetic only in offline mode, purged on clean, never committed.</a:t>
            </a:r>
          </a:p>
          <a:p/>
          <a:p>
            <a:r>
              <a:t>[SCREEN: three files side by side. `deploy/docker-compose.observability.yml` with `--storage.tsdb.retention.time=45d` highlighted; the `M...]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Projects. One per environment, with different keys and different retention. Roles, least privilege: two owners, the on-call rotation as admins, the engineers who work on Atlas as members, and stakeholders as viewers. The role names vary by Langfuse version; the shape doesn't. API keys belong to services, not people, so a departure doesn't mean a rotation of every key. And the judge and the dataset job run with a key that can write scores and items, and can't delete a project. The question to ask about every reader is: what's the worst thing this role can do at three in the morning?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Tags or projects for tenants. Three questions. May an engineer supporting one tenant see another's traces? If not, separate projects. Are the tenants different legal entities, or in different jurisdictions? If so, separate projects, possibly separate regions. And do you need cross-tenant dashboards, like the showback? If so, tags, or aggregate outside Langfuse. Northwind is four departments of one company with one support team and a showback report: tags in one project, which is what we've done since Section 4. If Atlas were a product sold to external customers, the answer flips: a project per customer, and the cross-customer numbers live in Prometheus, which has no PII to begin with.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other destinations. The collector's secrets come from the environment, never the YAML in git. Logs get the same retention as traces, and because masking happened at the source, their wide audience is acceptable. Grafana gets viewer accounts, and the compose admin password is for the lab, not for anything with a public IP. The judge provider: read the data terms, prefer zero-retention endpoints, and remember it only ever sees masked inputs anyway. And laptops: offline mode is synthetic. If someone needs a real-data export to debug something, that's a ticket, with a deletion date on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is in the governance checklist in the resources folder. Retention table, project and role map, the tenant decision with the three answers, and every destination with its owner and where the setting lives. Fill it once, date it, review it quarterly. It's the document your security team will ask for. Having it before they ask is the difference between a review and an audit.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Regulatory logging obligations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this section has said: collect less, keep it shorter, restrict access. Some regulations say the opposite for specific records: keep a trail, for a minimum period. Both are right, about different data. A small, deliberate audit trail with a long retention. And short-lived, masked debugging telemetry. The mistake is treating them as one dataset with one retention setting. Then you either keep everything for years, or delete the thing an auditor asks for.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EU AI Act works in tiers, and the strict record-keeping rules target systems it classifies as high-risk, in an annex of use cases. Employment is on that list: recruitment, promotion, termination, task allocation, monitoring workers. Atlas today answers policy questions, opens tickets and resets passwords. It's probably not making employment decisions. Atlas next year, wired into leave approvals or asked to flag underperformers, might be. Have that conversation with counsel before the feature ships.</a:t>
            </a:r>
          </a:p>
          <a:p/>
          <a:p>
            <a:r>
              <a:t>For high-risk systems, the obligations include automatic logging of events over the system's lifetime, kept for a minimum period the Act sets in months, verify the current number, plus human oversight and documentation. Separately, transparency duties: users should know they're talking to an AI. Say so in the interface where people meet Atlas, and keep it that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 EU AI Act works in tiers, and the strict record-keeping rules target systems it classifies as high-risk, in an annex of use cases. Employment is on that list: recruitment, promotion, termination,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AI Act. Data protection law: traces are personal data, so lawful basis, minimisation and subject rights apply. An erasure request reaches your tracing backend, and the hash from 10.2, keyed in production, is how you find one person's traces. Sector rules for health and finance: a card number stored raw is a PCI problem; masked before export, it's a non-event. Assurance frameworks expect an access log for the telemetry itself. And contracts on both sides set terms. None of this is exotic. It's the rules your production database already lives under, applied to a copy of its data you forgot you were making.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audit trail? Per request: when, the trace id, the hashed user, the tenant, which prompt version and model actually answered, which tools were called, with arguments hashed or summarised, what decisions were taken, guardrail outcomes, and a hash of the final answer. Not the raw prompt. Not the raw tool results. Not the retrieval chunks. Every field is already a span attribute from Sections 3 to 5. Here's one line, built from a real span in the replayed day's store.</a:t>
            </a:r>
          </a:p>
          <a:p/>
          <a:p>
            <a:r>
              <a:t>[SCREEN: terminal]</a:t>
            </a:r>
          </a:p>
          <a:p/>
          <a:p>
            <a:r>
              <a:t>[DEMO: output (the replay is deterministic, so yours matches):]</a:t>
            </a:r>
          </a:p>
          <a:p/>
          <a:p>
            <a:r>
              <a:t>When, which trace, which user as a hash, which department, which prompt and model, which tools, what happened, and a fingerprint of the answer. No question text, no answer text, no phone number. A job writes one of these per request to an append-only store with long retention and narrow access. It answers "what did the system do, and could a human have intervened" without containing anyone's data. And remember 10.2: that user hash is `short_hash`, an HMAC, and it is exactly as secret as `ATLAS_PII_HASH_KEY`; this demo ran with the public demo key, so in production set the key before the first line is written.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list of things that go nowhere. Credentials, including one-time codes and verification answers: Atlas's `reset_password` takes only an employee ID and a verified flag, and the code goes to the employee's phone, never through Atlas. Keep it that way. Full card and bank numbers. Special-category data, like health, if the helpdesk ever sees it. Raw injection payloads beyond what security needs. And anything your vendor's agreement says can't go to that vendor. Build this list into the source-level masking from 10.2, and the CI test, so it's enforced rather than remembered.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questions for the meeting, on the slide. Bring the checklist from 10.3 and the retention table. Counsel will change some numbers. That's the point. What you're bringing is the engineering: masked telemetry, a separate audit trail, and a hash that finds one person's data. Those don't change.</a:t>
            </a:r>
          </a:p>
          <a:p/>
          <a:p>
            <a:r>
              <a:t>Last word. This is a map, not the territory. Laws differ, they change, and your use case is yours. Get it checked. But don't wait for the lawyer to start masking. That part is right under every regime I've seen.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Six questions for the meeting, on the slide. Bring the checklist from 10.3 and the retention table. Counsel will change some numbers. That's the point. What you're bringing is the engineering: masked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tip: for any field, ask two questions in order. Do I need to join on it later? If yes, hash. Do I need it at all? If no, don't collect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Your traces are a data breach waiting to happen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Telemetry copies the most sensitive data in your system into the least protected place, and you need a threat model for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 trace contains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Identifiers: </a:t>
            </a:r>
            <a:r>
              <a:rPr sz="1656" b="0">
                <a:solidFill>
                  <a:srgbClr val="00D4AA"/>
                </a:solidFill>
                <a:latin typeface="JetBrains Mono"/>
              </a:rPr>
              <a:t>user.id</a:t>
            </a:r>
            <a:r>
              <a:rPr sz="1800" b="0">
                <a:solidFill>
                  <a:srgbClr val="FFFFFF"/>
                </a:solidFill>
                <a:latin typeface="Inter"/>
              </a:rPr>
              <a:t>, </a:t>
            </a:r>
            <a:r>
              <a:rPr sz="1656" b="0">
                <a:solidFill>
                  <a:srgbClr val="00D4AA"/>
                </a:solidFill>
                <a:latin typeface="JetBrains Mono"/>
              </a:rPr>
              <a:t>session.id</a:t>
            </a:r>
            <a:r>
              <a:rPr sz="1800" b="0">
                <a:solidFill>
                  <a:srgbClr val="FFFFFF"/>
                </a:solidFill>
                <a:latin typeface="Inter"/>
              </a:rPr>
              <a:t>, tenant; IPs and emails if you're careless</a:t>
            </a:r>
          </a:p>
          <a:p>
            <a:pPr marL="292608" indent="-292608">
              <a:lnSpc>
                <a:spcPct val="120000"/>
              </a:lnSpc>
              <a:spcAft>
                <a:spcPts val="1260"/>
              </a:spcAft>
              <a:buClr>
                <a:srgbClr val="00D4AA"/>
              </a:buClr>
              <a:buFont typeface="Inter"/>
              <a:buChar char="•"/>
            </a:pPr>
            <a:r>
              <a:rPr sz="1800" b="0">
                <a:solidFill>
                  <a:srgbClr val="FFFFFF"/>
                </a:solidFill>
                <a:latin typeface="Inter"/>
              </a:rPr>
              <a:t>User input: whatever the employee typed, including what they shouldn't have</a:t>
            </a:r>
          </a:p>
          <a:p>
            <a:pPr marL="292608" indent="-292608">
              <a:lnSpc>
                <a:spcPct val="120000"/>
              </a:lnSpc>
              <a:spcAft>
                <a:spcPts val="1260"/>
              </a:spcAft>
              <a:buClr>
                <a:srgbClr val="00D4AA"/>
              </a:buClr>
              <a:buFont typeface="Inter"/>
              <a:buChar char="•"/>
            </a:pPr>
            <a:r>
              <a:rPr sz="1800" b="0">
                <a:solidFill>
                  <a:srgbClr val="FFFFFF"/>
                </a:solidFill>
                <a:latin typeface="Inter"/>
              </a:rPr>
              <a:t>Tool arguments and results: records from ticketing, HR and shipping, sometimes whole documents</a:t>
            </a:r>
          </a:p>
          <a:p>
            <a:pPr marL="292608" indent="-292608">
              <a:lnSpc>
                <a:spcPct val="120000"/>
              </a:lnSpc>
              <a:spcAft>
                <a:spcPts val="1260"/>
              </a:spcAft>
              <a:buClr>
                <a:srgbClr val="00D4AA"/>
              </a:buClr>
              <a:buFont typeface="Inter"/>
              <a:buChar char="•"/>
            </a:pPr>
            <a:r>
              <a:rPr sz="1800" b="0">
                <a:solidFill>
                  <a:srgbClr val="FFFFFF"/>
                </a:solidFill>
                <a:latin typeface="Inter"/>
              </a:rPr>
              <a:t>The model's output: which may echo any of the above</a:t>
            </a:r>
          </a:p>
          <a:p>
            <a:pPr marL="292608" indent="-292608">
              <a:lnSpc>
                <a:spcPct val="120000"/>
              </a:lnSpc>
              <a:spcAft>
                <a:spcPts val="1260"/>
              </a:spcAft>
              <a:buClr>
                <a:srgbClr val="00D4AA"/>
              </a:buClr>
              <a:buFont typeface="Inter"/>
              <a:buChar char="•"/>
            </a:pPr>
            <a:r>
              <a:rPr sz="1800" b="0">
                <a:solidFill>
                  <a:srgbClr val="FFFFFF"/>
                </a:solidFill>
                <a:latin typeface="Inter"/>
              </a:rPr>
              <a:t>Retrieval context: knowledge-base passages, sometimes internal-only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 trace contains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Copies: judge inputs (Section 8), feedback comments (8.3), screenshots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it goes (Atlas as built so far)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88336"/>
        </p:xfrm>
        <a:graphic>
          <a:graphicData uri="http://schemas.openxmlformats.org/drawingml/2006/table">
            <a:tbl>
              <a:tblPr firstRow="1" bandRow="1">
                <a:tableStyleId>{5C22544A-7EE6-4342-B048-85BDC9FD1C3A}</a:tableStyleId>
              </a:tblPr>
              <a:tblGrid>
                <a:gridCol w="3896825"/>
                <a:gridCol w="4771622"/>
                <a:gridCol w="2624392"/>
              </a:tblGrid>
              <a:tr h="384048">
                <a:tc>
                  <a:txBody>
                    <a:bodyPr wrap="square"/>
                    <a:lstStyle/>
                    <a:p>
                      <a:r>
                        <a:rPr sz="1200" b="1">
                          <a:solidFill>
                            <a:srgbClr val="0A1628"/>
                          </a:solidFill>
                          <a:latin typeface="Inter"/>
                        </a:rPr>
                        <a:t>Destination</a:t>
                      </a:r>
                    </a:p>
                  </a:txBody>
                  <a:tcPr marL="91440" marR="91440" marT="45720" marB="45720" anchor="ctr">
                    <a:solidFill>
                      <a:srgbClr val="00D4AA"/>
                    </a:solidFill>
                  </a:tcPr>
                </a:tc>
                <a:tc>
                  <a:txBody>
                    <a:bodyPr wrap="square"/>
                    <a:lstStyle/>
                    <a:p>
                      <a:r>
                        <a:rPr sz="1200" b="1">
                          <a:solidFill>
                            <a:srgbClr val="0A1628"/>
                          </a:solidFill>
                          <a:latin typeface="Inter"/>
                        </a:rPr>
                        <a:t>Who can read it</a:t>
                      </a:r>
                    </a:p>
                  </a:txBody>
                  <a:tcPr marL="91440" marR="91440" marT="45720" marB="45720" anchor="ctr">
                    <a:solidFill>
                      <a:srgbClr val="00D4AA"/>
                    </a:solidFill>
                  </a:tcPr>
                </a:tc>
                <a:tc>
                  <a:txBody>
                    <a:bodyPr wrap="square"/>
                    <a:lstStyle/>
                    <a:p>
                      <a:r>
                        <a:rPr sz="1200" b="1">
                          <a:solidFill>
                            <a:srgbClr val="0A1628"/>
                          </a:solidFill>
                          <a:latin typeface="Inter"/>
                        </a:rPr>
                        <a:t>Retention</a:t>
                      </a:r>
                    </a:p>
                  </a:txBody>
                  <a:tcPr marL="91440" marR="91440" marT="45720" marB="45720" anchor="ctr">
                    <a:solidFill>
                      <a:srgbClr val="00D4AA"/>
                    </a:solidFill>
                  </a:tcPr>
                </a:tc>
              </a:tr>
              <a:tr h="384048">
                <a:tc>
                  <a:txBody>
                    <a:bodyPr wrap="square"/>
                    <a:lstStyle/>
                    <a:p>
                      <a:r>
                        <a:rPr sz="1200" b="1">
                          <a:solidFill>
                            <a:srgbClr val="FFFFFF"/>
                          </a:solidFill>
                          <a:latin typeface="Inter"/>
                        </a:rPr>
                        <a:t>Langfuse (Cloud or self-hosted)</a:t>
                      </a:r>
                    </a:p>
                  </a:txBody>
                  <a:tcPr marL="91440" marR="91440" marT="45720" marB="45720" anchor="ctr">
                    <a:solidFill>
                      <a:srgbClr val="1A2742"/>
                    </a:solidFill>
                  </a:tcPr>
                </a:tc>
                <a:tc>
                  <a:txBody>
                    <a:bodyPr wrap="square"/>
                    <a:lstStyle/>
                    <a:p>
                      <a:r>
                        <a:rPr sz="1200" b="0">
                          <a:solidFill>
                            <a:srgbClr val="FFFFFF"/>
                          </a:solidFill>
                          <a:latin typeface="Inter"/>
                        </a:rPr>
                        <a:t>every project member</a:t>
                      </a:r>
                    </a:p>
                  </a:txBody>
                  <a:tcPr marL="91440" marR="91440" marT="45720" marB="45720" anchor="ctr">
                    <a:solidFill>
                      <a:srgbClr val="1A2742"/>
                    </a:solidFill>
                  </a:tcPr>
                </a:tc>
                <a:tc>
                  <a:txBody>
                    <a:bodyPr wrap="square"/>
                    <a:lstStyle/>
                    <a:p>
                      <a:r>
                        <a:rPr sz="1200" b="0">
                          <a:solidFill>
                            <a:srgbClr val="FFFFFF"/>
                          </a:solidFill>
                          <a:latin typeface="Inter"/>
                        </a:rPr>
                        <a:t>project setting; verify</a:t>
                      </a:r>
                    </a:p>
                  </a:txBody>
                  <a:tcPr marL="91440" marR="91440" marT="45720" marB="45720" anchor="ctr">
                    <a:solidFill>
                      <a:srgbClr val="1A2742"/>
                    </a:solidFill>
                  </a:tcPr>
                </a:tc>
              </a:tr>
              <a:tr h="384048">
                <a:tc>
                  <a:txBody>
                    <a:bodyPr wrap="square"/>
                    <a:lstStyle/>
                    <a:p>
                      <a:r>
                        <a:rPr sz="1200" b="1">
                          <a:solidFill>
                            <a:srgbClr val="FFFFFF"/>
                          </a:solidFill>
                          <a:latin typeface="Inter"/>
                        </a:rPr>
                        <a:t>OTel Collector → any exporter (Langfuse, Phoenix)</a:t>
                      </a:r>
                    </a:p>
                  </a:txBody>
                  <a:tcPr marL="91440" marR="91440" marT="45720" marB="45720" anchor="ctr">
                    <a:solidFill>
                      <a:srgbClr val="0F1E35"/>
                    </a:solidFill>
                  </a:tcPr>
                </a:tc>
                <a:tc>
                  <a:txBody>
                    <a:bodyPr wrap="square"/>
                    <a:lstStyle/>
                    <a:p>
                      <a:r>
                        <a:rPr sz="1200" b="0">
                          <a:solidFill>
                            <a:srgbClr val="FFFFFF"/>
                          </a:solidFill>
                          <a:latin typeface="Inter"/>
                        </a:rPr>
                        <a:t>whoever runs the collector, plus every backend it fans out to</a:t>
                      </a:r>
                    </a:p>
                  </a:txBody>
                  <a:tcPr marL="91440" marR="91440" marT="45720" marB="45720" anchor="ctr">
                    <a:solidFill>
                      <a:srgbClr val="0F1E35"/>
                    </a:solidFill>
                  </a:tcPr>
                </a:tc>
                <a:tc>
                  <a:txBody>
                    <a:bodyPr wrap="square"/>
                    <a:lstStyle/>
                    <a:p>
                      <a:r>
                        <a:rPr sz="1200" b="0">
                          <a:solidFill>
                            <a:srgbClr val="FFFFFF"/>
                          </a:solidFill>
                          <a:latin typeface="Inter"/>
                        </a:rPr>
                        <a:t>per backend</a:t>
                      </a:r>
                    </a:p>
                  </a:txBody>
                  <a:tcPr marL="91440" marR="91440" marT="45720" marB="45720" anchor="ctr">
                    <a:solidFill>
                      <a:srgbClr val="0F1E35"/>
                    </a:solidFill>
                  </a:tcPr>
                </a:tc>
              </a:tr>
              <a:tr h="384048">
                <a:tc>
                  <a:txBody>
                    <a:bodyPr wrap="square"/>
                    <a:lstStyle/>
                    <a:p>
                      <a:r>
                        <a:rPr sz="1200" b="1">
                          <a:solidFill>
                            <a:srgbClr val="FFFFFF"/>
                          </a:solidFill>
                          <a:latin typeface="Inter"/>
                        </a:rPr>
                        <a:t>Local span store (</a:t>
                      </a:r>
                      <a:r>
                        <a:rPr sz="1104" b="0">
                          <a:solidFill>
                            <a:srgbClr val="00D4AA"/>
                          </a:solidFill>
                          <a:latin typeface="JetBrains Mono"/>
                        </a:rPr>
                        <a:t>.atlas/*.sqlite</a:t>
                      </a:r>
                      <a:r>
                        <a:rPr sz="1200" b="1">
                          <a:solidFill>
                            <a:srgbClr val="FFFFFF"/>
                          </a:solidFill>
                          <a:latin typeface="Inter"/>
                        </a:rPr>
                        <a:t>)</a:t>
                      </a:r>
                    </a:p>
                  </a:txBody>
                  <a:tcPr marL="91440" marR="91440" marT="45720" marB="45720" anchor="ctr">
                    <a:solidFill>
                      <a:srgbClr val="1A2742"/>
                    </a:solidFill>
                  </a:tcPr>
                </a:tc>
                <a:tc>
                  <a:txBody>
                    <a:bodyPr wrap="square"/>
                    <a:lstStyle/>
                    <a:p>
                      <a:r>
                        <a:rPr sz="1200" b="0">
                          <a:solidFill>
                            <a:srgbClr val="FFFFFF"/>
                          </a:solidFill>
                          <a:latin typeface="Inter"/>
                        </a:rPr>
                        <a:t>anyone with the laptop</a:t>
                      </a:r>
                    </a:p>
                  </a:txBody>
                  <a:tcPr marL="91440" marR="91440" marT="45720" marB="45720" anchor="ctr">
                    <a:solidFill>
                      <a:srgbClr val="1A2742"/>
                    </a:solidFill>
                  </a:tcPr>
                </a:tc>
                <a:tc>
                  <a:txBody>
                    <a:bodyPr wrap="square"/>
                    <a:lstStyle/>
                    <a:p>
                      <a:r>
                        <a:rPr sz="1200" b="0">
                          <a:solidFill>
                            <a:srgbClr val="FFFFFF"/>
                          </a:solidFill>
                          <a:latin typeface="Inter"/>
                        </a:rPr>
                        <a:t>until </a:t>
                      </a:r>
                      <a:r>
                        <a:rPr sz="1104" b="0">
                          <a:solidFill>
                            <a:srgbClr val="00D4AA"/>
                          </a:solidFill>
                          <a:latin typeface="JetBrains Mono"/>
                        </a:rPr>
                        <a:t>make clean</a:t>
                      </a:r>
                    </a:p>
                  </a:txBody>
                  <a:tcPr marL="91440" marR="91440" marT="45720" marB="45720" anchor="ctr">
                    <a:solidFill>
                      <a:srgbClr val="1A2742"/>
                    </a:solidFill>
                  </a:tcPr>
                </a:tc>
              </a:tr>
              <a:tr h="384048">
                <a:tc>
                  <a:txBody>
                    <a:bodyPr wrap="square"/>
                    <a:lstStyle/>
                    <a:p>
                      <a:r>
                        <a:rPr sz="1200" b="1">
                          <a:solidFill>
                            <a:srgbClr val="FFFFFF"/>
                          </a:solidFill>
                          <a:latin typeface="Inter"/>
                        </a:rPr>
                        <a:t>Structured logs</a:t>
                      </a:r>
                    </a:p>
                  </a:txBody>
                  <a:tcPr marL="91440" marR="91440" marT="45720" marB="45720" anchor="ctr">
                    <a:solidFill>
                      <a:srgbClr val="0F1E35"/>
                    </a:solidFill>
                  </a:tcPr>
                </a:tc>
                <a:tc>
                  <a:txBody>
                    <a:bodyPr wrap="square"/>
                    <a:lstStyle/>
                    <a:p>
                      <a:r>
                        <a:rPr sz="1200" b="0">
                          <a:solidFill>
                            <a:srgbClr val="FFFFFF"/>
                          </a:solidFill>
                          <a:latin typeface="Inter"/>
                        </a:rPr>
                        <a:t>log platform users; often the widest group in the company</a:t>
                      </a:r>
                    </a:p>
                  </a:txBody>
                  <a:tcPr marL="91440" marR="91440" marT="45720" marB="45720" anchor="ctr">
                    <a:solidFill>
                      <a:srgbClr val="0F1E35"/>
                    </a:solidFill>
                  </a:tcPr>
                </a:tc>
                <a:tc>
                  <a:txBody>
                    <a:bodyPr wrap="square"/>
                    <a:lstStyle/>
                    <a:p>
                      <a:r>
                        <a:rPr sz="1200" b="0">
                          <a:solidFill>
                            <a:srgbClr val="FFFFFF"/>
                          </a:solidFill>
                          <a:latin typeface="Inter"/>
                        </a:rPr>
                        <a:t>30 to 90 days, typically</a:t>
                      </a:r>
                    </a:p>
                  </a:txBody>
                  <a:tcPr marL="91440" marR="91440" marT="45720" marB="45720" anchor="ctr">
                    <a:solidFill>
                      <a:srgbClr val="0F1E35"/>
                    </a:solidFill>
                  </a:tcPr>
                </a:tc>
              </a:tr>
              <a:tr h="384048">
                <a:tc>
                  <a:txBody>
                    <a:bodyPr wrap="square"/>
                    <a:lstStyle/>
                    <a:p>
                      <a:r>
                        <a:rPr sz="1200" b="1">
                          <a:solidFill>
                            <a:srgbClr val="FFFFFF"/>
                          </a:solidFill>
                          <a:latin typeface="Inter"/>
                        </a:rPr>
                        <a:t>Judge model provider (8.2)</a:t>
                      </a:r>
                    </a:p>
                  </a:txBody>
                  <a:tcPr marL="91440" marR="91440" marT="45720" marB="45720" anchor="ctr">
                    <a:solidFill>
                      <a:srgbClr val="1A2742"/>
                    </a:solidFill>
                  </a:tcPr>
                </a:tc>
                <a:tc>
                  <a:txBody>
                    <a:bodyPr wrap="square"/>
                    <a:lstStyle/>
                    <a:p>
                      <a:r>
                        <a:rPr sz="1200" b="0">
                          <a:solidFill>
                            <a:srgbClr val="FFFFFF"/>
                          </a:solidFill>
                          <a:latin typeface="Inter"/>
                        </a:rPr>
                        <a:t>the provider, under its data terms</a:t>
                      </a:r>
                    </a:p>
                  </a:txBody>
                  <a:tcPr marL="91440" marR="91440" marT="45720" marB="45720" anchor="ctr">
                    <a:solidFill>
                      <a:srgbClr val="1A2742"/>
                    </a:solidFill>
                  </a:tcPr>
                </a:tc>
                <a:tc>
                  <a:txBody>
                    <a:bodyPr wrap="square"/>
                    <a:lstStyle/>
                    <a:p>
                      <a:r>
                        <a:rPr sz="1200" b="0">
                          <a:solidFill>
                            <a:srgbClr val="FFFFFF"/>
                          </a:solidFill>
                          <a:latin typeface="Inter"/>
                        </a:rPr>
                        <a:t>per the provider's policy; verify</a:t>
                      </a:r>
                    </a:p>
                  </a:txBody>
                  <a:tcPr marL="91440" marR="91440" marT="45720" marB="45720" anchor="ctr">
                    <a:solidFill>
                      <a:srgbClr val="1A2742"/>
                    </a:solidFill>
                  </a:tcPr>
                </a:tc>
              </a:tr>
              <a:tr h="384048">
                <a:tc>
                  <a:txBody>
                    <a:bodyPr wrap="square"/>
                    <a:lstStyle/>
                    <a:p>
                      <a:r>
                        <a:rPr sz="1200" b="1">
                          <a:solidFill>
                            <a:srgbClr val="FFFFFF"/>
                          </a:solidFill>
                          <a:latin typeface="Inter"/>
                        </a:rPr>
                        <a:t>Prometheus</a:t>
                      </a:r>
                    </a:p>
                  </a:txBody>
                  <a:tcPr marL="91440" marR="91440" marT="45720" marB="45720" anchor="ctr">
                    <a:solidFill>
                      <a:srgbClr val="0F1E35"/>
                    </a:solidFill>
                  </a:tcPr>
                </a:tc>
                <a:tc>
                  <a:txBody>
                    <a:bodyPr wrap="square"/>
                    <a:lstStyle/>
                    <a:p>
                      <a:r>
                        <a:rPr sz="1200" b="0">
                          <a:solidFill>
                            <a:srgbClr val="FFFFFF"/>
                          </a:solidFill>
                          <a:latin typeface="Inter"/>
                        </a:rPr>
                        <a:t>dashboard viewers; no ids by design (9.2)</a:t>
                      </a:r>
                    </a:p>
                  </a:txBody>
                  <a:tcPr marL="91440" marR="91440" marT="45720" marB="45720" anchor="ctr">
                    <a:solidFill>
                      <a:srgbClr val="0F1E35"/>
                    </a:solidFill>
                  </a:tcPr>
                </a:tc>
                <a:tc>
                  <a:txBody>
                    <a:bodyPr wrap="square"/>
                    <a:lstStyle/>
                    <a:p>
                      <a:r>
                        <a:rPr sz="1200" b="0">
                          <a:solidFill>
                            <a:srgbClr val="FFFFFF"/>
                          </a:solidFill>
                          <a:latin typeface="Inter"/>
                        </a:rPr>
                        <a:t>45 days in our compose</a:t>
                      </a:r>
                    </a:p>
                  </a:txBody>
                  <a:tcPr marL="91440" marR="91440" marT="45720" marB="45720" anchor="ctr">
                    <a:solidFill>
                      <a:srgbClr val="0F1E35"/>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scale (one replayed day, synthetic)</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An employee ID on every one of the 10,184 agent spans</a:t>
            </a:r>
          </a:p>
          <a:p>
            <a:pPr marL="292608" indent="-292608">
              <a:lnSpc>
                <a:spcPct val="120000"/>
              </a:lnSpc>
              <a:spcAft>
                <a:spcPts val="1260"/>
              </a:spcAft>
              <a:buClr>
                <a:srgbClr val="00D4AA"/>
              </a:buClr>
              <a:buFont typeface="Inter"/>
              <a:buChar char="•"/>
            </a:pPr>
            <a:r>
              <a:rPr sz="1800" b="0">
                <a:solidFill>
                  <a:srgbClr val="FFFFFF"/>
                </a:solidFill>
                <a:latin typeface="Inter"/>
              </a:rPr>
              <a:t>Every question and every answer, in plain text, on the agent span</a:t>
            </a:r>
          </a:p>
          <a:p>
            <a:pPr marL="292608" indent="-292608">
              <a:lnSpc>
                <a:spcPct val="120000"/>
              </a:lnSpc>
              <a:spcAft>
                <a:spcPts val="1260"/>
              </a:spcAft>
              <a:buClr>
                <a:srgbClr val="00D4AA"/>
              </a:buClr>
              <a:buFont typeface="Inter"/>
              <a:buChar char="•"/>
            </a:pPr>
            <a:r>
              <a:rPr sz="1800" b="0">
                <a:solidFill>
                  <a:srgbClr val="FFFFFF"/>
                </a:solidFill>
                <a:latin typeface="Inter"/>
              </a:rPr>
              <a:t>678 answers the PII detector in 8.4 flagged before its allowlist of published values, every one of them policy text</a:t>
            </a:r>
          </a:p>
          <a:p>
            <a:pPr marL="292608" indent="-292608">
              <a:lnSpc>
                <a:spcPct val="120000"/>
              </a:lnSpc>
              <a:spcAft>
                <a:spcPts val="1260"/>
              </a:spcAft>
              <a:buClr>
                <a:srgbClr val="00D4AA"/>
              </a:buClr>
              <a:buFont typeface="Inter"/>
              <a:buChar char="•"/>
            </a:pPr>
            <a:r>
              <a:rPr sz="1800" b="0">
                <a:solidFill>
                  <a:srgbClr val="FFFFFF"/>
                </a:solidFill>
                <a:latin typeface="Inter"/>
              </a:rPr>
              <a:t>Illustrative: multiply by 30 days of retention and four destinations, and a helpdesk holds over a million identifiers at rest</a:t>
            </a:r>
          </a:p>
          <a:p>
            <a:pPr marL="292608" indent="-292608">
              <a:lnSpc>
                <a:spcPct val="120000"/>
              </a:lnSpc>
              <a:spcAft>
                <a:spcPts val="1260"/>
              </a:spcAft>
              <a:buClr>
                <a:srgbClr val="00D4AA"/>
              </a:buClr>
              <a:buFont typeface="Inter"/>
              <a:buChar char="•"/>
            </a:pPr>
            <a:r>
              <a:rPr sz="1800" b="0">
                <a:solidFill>
                  <a:srgbClr val="FFFFFF"/>
                </a:solidFill>
                <a:latin typeface="Inter"/>
              </a:rPr>
              <a:t>Masking a value costs a fraction of a millisecond and no tokens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threats, four answers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Over-collection: you captured what you didn't need → masking at the source, the SDK and the collector (10.2)</a:t>
            </a:r>
          </a:p>
          <a:p>
            <a:pPr marL="292608" indent="-292608">
              <a:lnSpc>
                <a:spcPct val="120000"/>
              </a:lnSpc>
              <a:spcAft>
                <a:spcPts val="1120"/>
              </a:spcAft>
              <a:buClr>
                <a:srgbClr val="00D4AA"/>
              </a:buClr>
              <a:buFont typeface="Inter"/>
              <a:buChar char="•"/>
            </a:pPr>
            <a:r>
              <a:rPr sz="1600" b="0">
                <a:solidFill>
                  <a:srgbClr val="FFFFFF"/>
                </a:solidFill>
                <a:latin typeface="Inter"/>
              </a:rPr>
              <a:t>Over-retention: you kept it longer than you needed → retention windows (10.3)</a:t>
            </a:r>
          </a:p>
          <a:p>
            <a:pPr marL="292608" indent="-292608">
              <a:lnSpc>
                <a:spcPct val="120000"/>
              </a:lnSpc>
              <a:spcAft>
                <a:spcPts val="1120"/>
              </a:spcAft>
              <a:buClr>
                <a:srgbClr val="00D4AA"/>
              </a:buClr>
              <a:buFont typeface="Inter"/>
              <a:buChar char="•"/>
            </a:pPr>
            <a:r>
              <a:rPr sz="1600" b="0">
                <a:solidFill>
                  <a:srgbClr val="FFFFFF"/>
                </a:solidFill>
                <a:latin typeface="Inter"/>
              </a:rPr>
              <a:t>Over-access: more people can read it than should → projects, roles, tenant separation (10.3)</a:t>
            </a:r>
          </a:p>
          <a:p>
            <a:pPr marL="292608" indent="-292608">
              <a:lnSpc>
                <a:spcPct val="120000"/>
              </a:lnSpc>
              <a:spcAft>
                <a:spcPts val="1120"/>
              </a:spcAft>
              <a:buClr>
                <a:srgbClr val="00D4AA"/>
              </a:buClr>
              <a:buFont typeface="Inter"/>
              <a:buChar char="•"/>
            </a:pPr>
            <a:r>
              <a:rPr sz="1600" b="0">
                <a:solidFill>
                  <a:srgbClr val="FFFFFF"/>
                </a:solidFill>
                <a:latin typeface="Inter"/>
              </a:rPr>
              <a:t>Third-party leakage: vendors and judge models see it → masking before export, data terms, self-hosting (10.2, 10.4)</a:t>
            </a:r>
          </a:p>
          <a:p>
            <a:pPr marL="292608" indent="-292608">
              <a:lnSpc>
                <a:spcPct val="120000"/>
              </a:lnSpc>
              <a:spcAft>
                <a:spcPts val="1120"/>
              </a:spcAft>
              <a:buClr>
                <a:srgbClr val="00D4AA"/>
              </a:buClr>
              <a:buFont typeface="Inter"/>
              <a:buChar char="•"/>
            </a:pPr>
            <a:r>
              <a:rPr sz="1600" b="0">
                <a:solidFill>
                  <a:srgbClr val="FFFFFF"/>
                </a:solidFill>
                <a:latin typeface="Inter"/>
              </a:rPr>
              <a:t>Plus: what the regulations require you to keep, which is not "nothing" (10.4)</a:t>
            </a:r>
          </a:p>
        </p:txBody>
      </p:sp>
      <p:pic>
        <p:nvPicPr>
          <p:cNvPr id="6" name="Picture 5" descr="D10-telemetry-threat-model-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trace copies identifiers, questions and answers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Six destinations, each with its own readers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Mask before export: the cheapest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masking in the SDK and the collector</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code-along: masking at the source, in the Langfuse SDK and in the OpenTelemetry collector, with 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masking in the SDK and the collector</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Mask PII in three layers, at the source when a span attribute is set, in the Langfuse SDK with </a:t>
            </a:r>
            <a:r>
              <a:rPr sz="1472" b="0">
                <a:solidFill>
                  <a:srgbClr val="00D4AA"/>
                </a:solidFill>
                <a:latin typeface="JetBrains Mono"/>
              </a:rPr>
              <a:t>mask=</a:t>
            </a:r>
            <a:r>
              <a:rPr sz="1600" b="0">
                <a:solidFill>
                  <a:srgbClr val="CBD5E1"/>
                </a:solidFill>
                <a:latin typeface="Inter"/>
              </a:rPr>
              <a:t>, and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Layer one: at the source (</a:t>
            </a:r>
            <a:r>
              <a:rPr sz="2392" b="0">
                <a:solidFill>
                  <a:srgbClr val="00D4AA"/>
                </a:solidFill>
                <a:latin typeface="JetBrains Mono"/>
              </a:rPr>
              <a:t>telemetry/genai_attrs.py</a:t>
            </a:r>
            <a:r>
              <a:rPr sz="2600" b="1">
                <a:solidFill>
                  <a:srgbClr val="FFFFFF"/>
                </a:solidFill>
                <a:latin typeface="Inter"/>
              </a:rPr>
              <a: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Every content attribute goes through </a:t>
            </a:r>
            <a:r>
              <a:rPr sz="1656" b="0">
                <a:solidFill>
                  <a:srgbClr val="00D4AA"/>
                </a:solidFill>
                <a:latin typeface="JetBrains Mono"/>
              </a:rPr>
              <a:t>_safe(value, redact=True)</a:t>
            </a:r>
            <a:r>
              <a:rPr sz="1800" b="0">
                <a:solidFill>
                  <a:srgbClr val="FFFFFF"/>
                </a:solidFill>
                <a:latin typeface="Inter"/>
              </a:rPr>
              <a:t>: </a:t>
            </a:r>
            <a:r>
              <a:rPr sz="1656" b="0">
                <a:solidFill>
                  <a:srgbClr val="00D4AA"/>
                </a:solidFill>
                <a:latin typeface="JetBrains Mono"/>
              </a:rPr>
              <a:t>mask_value(..., hash_ids=True)</a:t>
            </a:r>
            <a:r>
              <a:rPr sz="1800" b="0">
                <a:solidFill>
                  <a:srgbClr val="FFFFFF"/>
                </a:solidFill>
                <a:latin typeface="Inter"/>
              </a:rPr>
              <a:t>, then clipped to 4,000 characters</a:t>
            </a:r>
          </a:p>
          <a:p>
            <a:pPr marL="292608" indent="-292608">
              <a:lnSpc>
                <a:spcPct val="120000"/>
              </a:lnSpc>
              <a:spcAft>
                <a:spcPts val="1260"/>
              </a:spcAft>
              <a:buClr>
                <a:srgbClr val="00D4AA"/>
              </a:buClr>
              <a:buFont typeface="Inter"/>
              <a:buChar char="•"/>
            </a:pPr>
            <a:r>
              <a:rPr sz="1800" b="0">
                <a:solidFill>
                  <a:srgbClr val="FFFFFF"/>
                </a:solidFill>
                <a:latin typeface="Inter"/>
              </a:rPr>
              <a:t>That covers message bodies, tool arguments and results, retrieval queries, and Langfuse input/output</a:t>
            </a:r>
          </a:p>
          <a:p>
            <a:pPr marL="292608" indent="-292608">
              <a:lnSpc>
                <a:spcPct val="120000"/>
              </a:lnSpc>
              <a:spcAft>
                <a:spcPts val="1260"/>
              </a:spcAft>
              <a:buClr>
                <a:srgbClr val="00D4AA"/>
              </a:buClr>
              <a:buFont typeface="Inter"/>
              <a:buChar char="•"/>
            </a:pPr>
            <a:r>
              <a:rPr sz="1800" b="0">
                <a:solidFill>
                  <a:srgbClr val="FFFFFF"/>
                </a:solidFill>
                <a:latin typeface="Inter"/>
              </a:rPr>
              <a:t>Masked before the span exists, so the local store and every exporter get the masked text</a:t>
            </a:r>
          </a:p>
          <a:p>
            <a:pPr marL="292608" indent="-292608">
              <a:lnSpc>
                <a:spcPct val="120000"/>
              </a:lnSpc>
              <a:spcAft>
                <a:spcPts val="1260"/>
              </a:spcAft>
              <a:buClr>
                <a:srgbClr val="00D4AA"/>
              </a:buClr>
              <a:buFont typeface="Inter"/>
              <a:buChar char="•"/>
            </a:pPr>
            <a:r>
              <a:rPr sz="1656" b="0">
                <a:solidFill>
                  <a:srgbClr val="00D4AA"/>
                </a:solidFill>
                <a:latin typeface="JetBrains Mono"/>
              </a:rPr>
              <a:t>user.id</a:t>
            </a:r>
            <a:r>
              <a:rPr sz="1800" b="0">
                <a:solidFill>
                  <a:srgbClr val="FFFFFF"/>
                </a:solidFill>
                <a:latin typeface="Inter"/>
              </a:rPr>
              <a:t> is set as-is in-process: the local store needs it for the showback; the collector deletes it on export (its own </a:t>
            </a:r>
            <a:r>
              <a:rPr sz="1656" b="0">
                <a:solidFill>
                  <a:srgbClr val="00D4AA"/>
                </a:solidFill>
                <a:latin typeface="JetBrains Mono"/>
              </a:rPr>
              <a:t>hash</a:t>
            </a:r>
            <a:r>
              <a:rPr sz="1800" b="0">
                <a:solidFill>
                  <a:srgbClr val="FFFFFF"/>
                </a:solidFill>
                <a:latin typeface="Inter"/>
              </a:rPr>
              <a:t> action is unkeyed SHA-256, reversible for a five-digit ID)</a:t>
            </a:r>
          </a:p>
          <a:p>
            <a:pPr marL="292608" indent="-292608">
              <a:lnSpc>
                <a:spcPct val="120000"/>
              </a:lnSpc>
              <a:spcAft>
                <a:spcPts val="1260"/>
              </a:spcAft>
              <a:buClr>
                <a:srgbClr val="00D4AA"/>
              </a:buClr>
              <a:buFont typeface="Inter"/>
              <a:buChar char="•"/>
            </a:pPr>
            <a:r>
              <a:rPr sz="1800" b="0">
                <a:solidFill>
                  <a:srgbClr val="FFFFFF"/>
                </a:solidFill>
                <a:latin typeface="Inter"/>
              </a:rPr>
              <a:t>Exporting straight to Langfuse, without the collector? Put the HMAC pseudonym on the span yourself, not the raw id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Masking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Mask before export, never after: at the source and in the SDK, not a cleanup job</a:t>
            </a:r>
          </a:p>
          <a:p>
            <a:pPr marL="292608" indent="-292608">
              <a:lnSpc>
                <a:spcPct val="120000"/>
              </a:lnSpc>
              <a:spcAft>
                <a:spcPts val="1120"/>
              </a:spcAft>
              <a:buClr>
                <a:srgbClr val="00D4AA"/>
              </a:buClr>
              <a:buFont typeface="Inter"/>
              <a:buChar char="•"/>
            </a:pPr>
            <a:r>
              <a:rPr sz="1600" b="0">
                <a:solidFill>
                  <a:srgbClr val="FFFFFF"/>
                </a:solidFill>
                <a:latin typeface="Inter"/>
              </a:rPr>
              <a:t>Delete what nobody needs; hash what you join on; placeholder the rest</a:t>
            </a:r>
          </a:p>
          <a:p>
            <a:pPr marL="292608" indent="-292608">
              <a:lnSpc>
                <a:spcPct val="120000"/>
              </a:lnSpc>
              <a:spcAft>
                <a:spcPts val="1120"/>
              </a:spcAft>
              <a:buClr>
                <a:srgbClr val="00D4AA"/>
              </a:buClr>
              <a:buFont typeface="Inter"/>
              <a:buChar char="•"/>
            </a:pPr>
            <a:r>
              <a:rPr sz="1600" b="0">
                <a:solidFill>
                  <a:srgbClr val="FFFFFF"/>
                </a:solidFill>
                <a:latin typeface="Inter"/>
              </a:rPr>
              <a:t>Low-entropy ids need a keyed HMAC, and the key must be a secret: set </a:t>
            </a:r>
            <a:r>
              <a:rPr sz="1472" b="0">
                <a:solidFill>
                  <a:srgbClr val="00D4AA"/>
                </a:solidFill>
                <a:latin typeface="JetBrains Mono"/>
              </a:rPr>
              <a:t>ATLAS_PII_HASH_KEY</a:t>
            </a:r>
          </a:p>
          <a:p>
            <a:pPr marL="292608" indent="-292608">
              <a:lnSpc>
                <a:spcPct val="120000"/>
              </a:lnSpc>
              <a:spcAft>
                <a:spcPts val="1120"/>
              </a:spcAft>
              <a:buClr>
                <a:srgbClr val="00D4AA"/>
              </a:buClr>
              <a:buFont typeface="Inter"/>
              <a:buChar char="•"/>
            </a:pPr>
            <a:r>
              <a:rPr sz="1600" b="0">
                <a:solidFill>
                  <a:srgbClr val="FFFFFF"/>
                </a:solidFill>
                <a:latin typeface="Inter"/>
              </a:rPr>
              <a:t>Luhn-check card candidates; protect ticket and shipment ids</a:t>
            </a:r>
          </a:p>
          <a:p>
            <a:pPr marL="292608" indent="-292608">
              <a:lnSpc>
                <a:spcPct val="120000"/>
              </a:lnSpc>
              <a:spcAft>
                <a:spcPts val="1120"/>
              </a:spcAft>
              <a:buClr>
                <a:srgbClr val="00D4AA"/>
              </a:buClr>
              <a:buFont typeface="Inter"/>
              <a:buChar char="•"/>
            </a:pPr>
            <a:r>
              <a:rPr sz="1600" b="0">
                <a:solidFill>
                  <a:srgbClr val="FFFFFF"/>
                </a:solidFill>
                <a:latin typeface="Inter"/>
              </a:rPr>
              <a:t>One test, in CI, that fails on any raw value</a:t>
            </a:r>
          </a:p>
        </p:txBody>
      </p:sp>
      <p:pic>
        <p:nvPicPr>
          <p:cNvPr id="6" name="Picture 5" descr="D10-telemetry-threat-model-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Three layers: source, SDK, collector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Delete, hash or placeholder each field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CI test fails on any raw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Retention, access and tenant separation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Masking limits what gets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Retention, access and tenant separation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Set a retention window per data class, one project per environment with roles, and decide tenant tags versus separate projects by who…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Retention by data class (Atlas policy)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3456432"/>
        </p:xfrm>
        <a:graphic>
          <a:graphicData uri="http://schemas.openxmlformats.org/drawingml/2006/table">
            <a:tbl>
              <a:tblPr firstRow="1" bandRow="1">
                <a:tableStyleId>{5C22544A-7EE6-4342-B048-85BDC9FD1C3A}</a:tableStyleId>
              </a:tblPr>
              <a:tblGrid>
                <a:gridCol w="2331425"/>
                <a:gridCol w="2768567"/>
                <a:gridCol w="2549996"/>
                <a:gridCol w="3642851"/>
              </a:tblGrid>
              <a:tr h="384048">
                <a:tc>
                  <a:txBody>
                    <a:bodyPr wrap="square"/>
                    <a:lstStyle/>
                    <a:p>
                      <a:r>
                        <a:rPr sz="1100" b="1">
                          <a:solidFill>
                            <a:srgbClr val="0A1628"/>
                          </a:solidFill>
                          <a:latin typeface="Inter"/>
                        </a:rPr>
                        <a:t>Data class</a:t>
                      </a:r>
                    </a:p>
                  </a:txBody>
                  <a:tcPr marL="91440" marR="91440" marT="45720" marB="45720" anchor="ctr">
                    <a:solidFill>
                      <a:srgbClr val="00D4AA"/>
                    </a:solidFill>
                  </a:tcPr>
                </a:tc>
                <a:tc>
                  <a:txBody>
                    <a:bodyPr wrap="square"/>
                    <a:lstStyle/>
                    <a:p>
                      <a:r>
                        <a:rPr sz="1100" b="1">
                          <a:solidFill>
                            <a:srgbClr val="0A1628"/>
                          </a:solidFill>
                          <a:latin typeface="Inter"/>
                        </a:rPr>
                        <a:t>Contains PII?</a:t>
                      </a:r>
                    </a:p>
                  </a:txBody>
                  <a:tcPr marL="91440" marR="91440" marT="45720" marB="45720" anchor="ctr">
                    <a:solidFill>
                      <a:srgbClr val="00D4AA"/>
                    </a:solidFill>
                  </a:tcPr>
                </a:tc>
                <a:tc>
                  <a:txBody>
                    <a:bodyPr wrap="square"/>
                    <a:lstStyle/>
                    <a:p>
                      <a:r>
                        <a:rPr sz="1100" b="1">
                          <a:solidFill>
                            <a:srgbClr val="0A1628"/>
                          </a:solidFill>
                          <a:latin typeface="Inter"/>
                        </a:rPr>
                        <a:t>Retention</a:t>
                      </a:r>
                    </a:p>
                  </a:txBody>
                  <a:tcPr marL="91440" marR="91440" marT="45720" marB="45720" anchor="ctr">
                    <a:solidFill>
                      <a:srgbClr val="00D4AA"/>
                    </a:solidFill>
                  </a:tcPr>
                </a:tc>
                <a:tc>
                  <a:txBody>
                    <a:bodyPr wrap="square"/>
                    <a:lstStyle/>
                    <a:p>
                      <a:r>
                        <a:rPr sz="1100" b="1">
                          <a:solidFill>
                            <a:srgbClr val="0A1628"/>
                          </a:solidFill>
                          <a:latin typeface="Inter"/>
                        </a:rPr>
                        <a:t>Why</a:t>
                      </a:r>
                    </a:p>
                  </a:txBody>
                  <a:tcPr marL="91440" marR="91440" marT="45720" marB="45720" anchor="ctr">
                    <a:solidFill>
                      <a:srgbClr val="00D4AA"/>
                    </a:solidFill>
                  </a:tcPr>
                </a:tc>
              </a:tr>
              <a:tr h="384048">
                <a:tc>
                  <a:txBody>
                    <a:bodyPr wrap="square"/>
                    <a:lstStyle/>
                    <a:p>
                      <a:r>
                        <a:rPr sz="1100" b="1">
                          <a:solidFill>
                            <a:srgbClr val="FFFFFF"/>
                          </a:solidFill>
                          <a:latin typeface="Inter"/>
                        </a:rPr>
                        <a:t>Raw traces, prod</a:t>
                      </a:r>
                    </a:p>
                  </a:txBody>
                  <a:tcPr marL="91440" marR="91440" marT="45720" marB="45720" anchor="ctr">
                    <a:solidFill>
                      <a:srgbClr val="1A2742"/>
                    </a:solidFill>
                  </a:tcPr>
                </a:tc>
                <a:tc>
                  <a:txBody>
                    <a:bodyPr wrap="square"/>
                    <a:lstStyle/>
                    <a:p>
                      <a:r>
                        <a:rPr sz="1100" b="0">
                          <a:solidFill>
                            <a:srgbClr val="FFFFFF"/>
                          </a:solidFill>
                          <a:latin typeface="Inter"/>
                        </a:rPr>
                        <a:t>masked, hashed ids</a:t>
                      </a:r>
                    </a:p>
                  </a:txBody>
                  <a:tcPr marL="91440" marR="91440" marT="45720" marB="45720" anchor="ctr">
                    <a:solidFill>
                      <a:srgbClr val="1A2742"/>
                    </a:solidFill>
                  </a:tcPr>
                </a:tc>
                <a:tc>
                  <a:txBody>
                    <a:bodyPr wrap="square"/>
                    <a:lstStyle/>
                    <a:p>
                      <a:r>
                        <a:rPr sz="1100" b="0">
                          <a:solidFill>
                            <a:srgbClr val="FFFFFF"/>
                          </a:solidFill>
                          <a:latin typeface="Inter"/>
                        </a:rPr>
                        <a:t>30 days</a:t>
                      </a:r>
                    </a:p>
                  </a:txBody>
                  <a:tcPr marL="91440" marR="91440" marT="45720" marB="45720" anchor="ctr">
                    <a:solidFill>
                      <a:srgbClr val="1A2742"/>
                    </a:solidFill>
                  </a:tcPr>
                </a:tc>
                <a:tc>
                  <a:txBody>
                    <a:bodyPr wrap="square"/>
                    <a:lstStyle/>
                    <a:p>
                      <a:r>
                        <a:rPr sz="1100" b="0">
                          <a:solidFill>
                            <a:srgbClr val="FFFFFF"/>
                          </a:solidFill>
                          <a:latin typeface="Inter"/>
                        </a:rPr>
                        <a:t>incidents and drift need 2 weeks; 30 is the margin</a:t>
                      </a:r>
                    </a:p>
                  </a:txBody>
                  <a:tcPr marL="91440" marR="91440" marT="45720" marB="45720" anchor="ctr">
                    <a:solidFill>
                      <a:srgbClr val="1A2742"/>
                    </a:solidFill>
                  </a:tcPr>
                </a:tc>
              </a:tr>
              <a:tr h="384048">
                <a:tc>
                  <a:txBody>
                    <a:bodyPr wrap="square"/>
                    <a:lstStyle/>
                    <a:p>
                      <a:r>
                        <a:rPr sz="1100" b="1">
                          <a:solidFill>
                            <a:srgbClr val="FFFFFF"/>
                          </a:solidFill>
                          <a:latin typeface="Inter"/>
                        </a:rPr>
                        <a:t>Raw traces, dev and staging</a:t>
                      </a:r>
                    </a:p>
                  </a:txBody>
                  <a:tcPr marL="91440" marR="91440" marT="45720" marB="45720" anchor="ctr">
                    <a:solidFill>
                      <a:srgbClr val="0F1E35"/>
                    </a:solidFill>
                  </a:tcPr>
                </a:tc>
                <a:tc>
                  <a:txBody>
                    <a:bodyPr wrap="square"/>
                    <a:lstStyle/>
                    <a:p>
                      <a:r>
                        <a:rPr sz="1100" b="0">
                          <a:solidFill>
                            <a:srgbClr val="FFFFFF"/>
                          </a:solidFill>
                          <a:latin typeface="Inter"/>
                        </a:rPr>
                        <a:t>synthetic only</a:t>
                      </a:r>
                    </a:p>
                  </a:txBody>
                  <a:tcPr marL="91440" marR="91440" marT="45720" marB="45720" anchor="ctr">
                    <a:solidFill>
                      <a:srgbClr val="0F1E35"/>
                    </a:solidFill>
                  </a:tcPr>
                </a:tc>
                <a:tc>
                  <a:txBody>
                    <a:bodyPr wrap="square"/>
                    <a:lstStyle/>
                    <a:p>
                      <a:r>
                        <a:rPr sz="1100" b="0">
                          <a:solidFill>
                            <a:srgbClr val="FFFFFF"/>
                          </a:solidFill>
                          <a:latin typeface="Inter"/>
                        </a:rPr>
                        <a:t>7 days</a:t>
                      </a:r>
                    </a:p>
                  </a:txBody>
                  <a:tcPr marL="91440" marR="91440" marT="45720" marB="45720" anchor="ctr">
                    <a:solidFill>
                      <a:srgbClr val="0F1E35"/>
                    </a:solidFill>
                  </a:tcPr>
                </a:tc>
                <a:tc>
                  <a:txBody>
                    <a:bodyPr wrap="square"/>
                    <a:lstStyle/>
                    <a:p>
                      <a:r>
                        <a:rPr sz="1100" b="0">
                          <a:solidFill>
                            <a:srgbClr val="FFFFFF"/>
                          </a:solidFill>
                          <a:latin typeface="Inter"/>
                        </a:rPr>
                        <a:t>nobody debugs last month's dev run</a:t>
                      </a:r>
                    </a:p>
                  </a:txBody>
                  <a:tcPr marL="91440" marR="91440" marT="45720" marB="45720" anchor="ctr">
                    <a:solidFill>
                      <a:srgbClr val="0F1E35"/>
                    </a:solidFill>
                  </a:tcPr>
                </a:tc>
              </a:tr>
              <a:tr h="384048">
                <a:tc>
                  <a:txBody>
                    <a:bodyPr wrap="square"/>
                    <a:lstStyle/>
                    <a:p>
                      <a:r>
                        <a:rPr sz="1100" b="1">
                          <a:solidFill>
                            <a:srgbClr val="FFFFFF"/>
                          </a:solidFill>
                          <a:latin typeface="Inter"/>
                        </a:rPr>
                        <a:t>Scores (judge, feedback)</a:t>
                      </a:r>
                    </a:p>
                  </a:txBody>
                  <a:tcPr marL="91440" marR="91440" marT="45720" marB="45720" anchor="ctr">
                    <a:solidFill>
                      <a:srgbClr val="1A2742"/>
                    </a:solidFill>
                  </a:tcPr>
                </a:tc>
                <a:tc>
                  <a:txBody>
                    <a:bodyPr wrap="square"/>
                    <a:lstStyle/>
                    <a:p>
                      <a:r>
                        <a:rPr sz="1100" b="0">
                          <a:solidFill>
                            <a:srgbClr val="FFFFFF"/>
                          </a:solidFill>
                          <a:latin typeface="Inter"/>
                        </a:rPr>
                        <a:t>no (trace id and value)</a:t>
                      </a:r>
                    </a:p>
                  </a:txBody>
                  <a:tcPr marL="91440" marR="91440" marT="45720" marB="45720" anchor="ctr">
                    <a:solidFill>
                      <a:srgbClr val="1A2742"/>
                    </a:solidFill>
                  </a:tcPr>
                </a:tc>
                <a:tc>
                  <a:txBody>
                    <a:bodyPr wrap="square"/>
                    <a:lstStyle/>
                    <a:p>
                      <a:r>
                        <a:rPr sz="1100" b="0">
                          <a:solidFill>
                            <a:srgbClr val="FFFFFF"/>
                          </a:solidFill>
                          <a:latin typeface="Inter"/>
                        </a:rPr>
                        <a:t>13 months</a:t>
                      </a:r>
                    </a:p>
                  </a:txBody>
                  <a:tcPr marL="91440" marR="91440" marT="45720" marB="45720" anchor="ctr">
                    <a:solidFill>
                      <a:srgbClr val="1A2742"/>
                    </a:solidFill>
                  </a:tcPr>
                </a:tc>
                <a:tc>
                  <a:txBody>
                    <a:bodyPr wrap="square"/>
                    <a:lstStyle/>
                    <a:p>
                      <a:r>
                        <a:rPr sz="1100" b="0">
                          <a:solidFill>
                            <a:srgbClr val="FFFFFF"/>
                          </a:solidFill>
                          <a:latin typeface="Inter"/>
                        </a:rPr>
                        <a:t>year-over-year drift</a:t>
                      </a:r>
                    </a:p>
                  </a:txBody>
                  <a:tcPr marL="91440" marR="91440" marT="45720" marB="45720" anchor="ctr">
                    <a:solidFill>
                      <a:srgbClr val="1A2742"/>
                    </a:solidFill>
                  </a:tcPr>
                </a:tc>
              </a:tr>
              <a:tr h="384048">
                <a:tc>
                  <a:txBody>
                    <a:bodyPr wrap="square"/>
                    <a:lstStyle/>
                    <a:p>
                      <a:r>
                        <a:rPr sz="1100" b="1">
                          <a:solidFill>
                            <a:srgbClr val="FFFFFF"/>
                          </a:solidFill>
                          <a:latin typeface="Inter"/>
                        </a:rPr>
                        <a:t>Aggregates (cost, latency, SLIs)</a:t>
                      </a:r>
                    </a:p>
                  </a:txBody>
                  <a:tcPr marL="91440" marR="91440" marT="45720" marB="45720" anchor="ctr">
                    <a:solidFill>
                      <a:srgbClr val="0F1E35"/>
                    </a:solidFill>
                  </a:tcPr>
                </a:tc>
                <a:tc>
                  <a:txBody>
                    <a:bodyPr wrap="square"/>
                    <a:lstStyle/>
                    <a:p>
                      <a:r>
                        <a:rPr sz="1100" b="0">
                          <a:solidFill>
                            <a:srgbClr val="FFFFFF"/>
                          </a:solidFill>
                          <a:latin typeface="Inter"/>
                        </a:rPr>
                        <a:t>no</a:t>
                      </a:r>
                    </a:p>
                  </a:txBody>
                  <a:tcPr marL="91440" marR="91440" marT="45720" marB="45720" anchor="ctr">
                    <a:solidFill>
                      <a:srgbClr val="0F1E35"/>
                    </a:solidFill>
                  </a:tcPr>
                </a:tc>
                <a:tc>
                  <a:txBody>
                    <a:bodyPr wrap="square"/>
                    <a:lstStyle/>
                    <a:p>
                      <a:r>
                        <a:rPr sz="1100" b="0">
                          <a:solidFill>
                            <a:srgbClr val="FFFFFF"/>
                          </a:solidFill>
                          <a:latin typeface="Inter"/>
                        </a:rPr>
                        <a:t>13 months+</a:t>
                      </a:r>
                    </a:p>
                  </a:txBody>
                  <a:tcPr marL="91440" marR="91440" marT="45720" marB="45720" anchor="ctr">
                    <a:solidFill>
                      <a:srgbClr val="0F1E35"/>
                    </a:solidFill>
                  </a:tcPr>
                </a:tc>
                <a:tc>
                  <a:txBody>
                    <a:bodyPr wrap="square"/>
                    <a:lstStyle/>
                    <a:p>
                      <a:r>
                        <a:rPr sz="1100" b="0">
                          <a:solidFill>
                            <a:srgbClr val="FFFFFF"/>
                          </a:solidFill>
                          <a:latin typeface="Inter"/>
                        </a:rPr>
                        <a:t>showback history; finance wants trend</a:t>
                      </a:r>
                    </a:p>
                  </a:txBody>
                  <a:tcPr marL="91440" marR="91440" marT="45720" marB="45720" anchor="ctr">
                    <a:solidFill>
                      <a:srgbClr val="0F1E35"/>
                    </a:solidFill>
                  </a:tcPr>
                </a:tc>
              </a:tr>
              <a:tr h="384048">
                <a:tc>
                  <a:txBody>
                    <a:bodyPr wrap="square"/>
                    <a:lstStyle/>
                    <a:p>
                      <a:r>
                        <a:rPr sz="1100" b="1">
                          <a:solidFill>
                            <a:srgbClr val="FFFFFF"/>
                          </a:solidFill>
                          <a:latin typeface="Inter"/>
                        </a:rPr>
                        <a:t>Datasets (</a:t>
                      </a:r>
                      <a:r>
                        <a:rPr sz="1012" b="0">
                          <a:solidFill>
                            <a:srgbClr val="00D4AA"/>
                          </a:solidFill>
                          <a:latin typeface="JetBrains Mono"/>
                        </a:rPr>
                        <a:t>atlas-failures</a:t>
                      </a:r>
                      <a:r>
                        <a:rPr sz="1100" b="1">
                          <a:solidFill>
                            <a:srgbClr val="FFFFFF"/>
                          </a:solidFill>
                          <a:latin typeface="Inter"/>
                        </a:rPr>
                        <a:t>)</a:t>
                      </a:r>
                    </a:p>
                  </a:txBody>
                  <a:tcPr marL="91440" marR="91440" marT="45720" marB="45720" anchor="ctr">
                    <a:solidFill>
                      <a:srgbClr val="1A2742"/>
                    </a:solidFill>
                  </a:tcPr>
                </a:tc>
                <a:tc>
                  <a:txBody>
                    <a:bodyPr wrap="square"/>
                    <a:lstStyle/>
                    <a:p>
                      <a:r>
                        <a:rPr sz="1100" b="0">
                          <a:solidFill>
                            <a:srgbClr val="FFFFFF"/>
                          </a:solidFill>
                          <a:latin typeface="Inter"/>
                        </a:rPr>
                        <a:t>masked inputs</a:t>
                      </a:r>
                    </a:p>
                  </a:txBody>
                  <a:tcPr marL="91440" marR="91440" marT="45720" marB="45720" anchor="ctr">
                    <a:solidFill>
                      <a:srgbClr val="1A2742"/>
                    </a:solidFill>
                  </a:tcPr>
                </a:tc>
                <a:tc>
                  <a:txBody>
                    <a:bodyPr wrap="square"/>
                    <a:lstStyle/>
                    <a:p>
                      <a:r>
                        <a:rPr sz="1100" b="0">
                          <a:solidFill>
                            <a:srgbClr val="FFFFFF"/>
                          </a:solidFill>
                          <a:latin typeface="Inter"/>
                        </a:rPr>
                        <a:t>indefinite, reviewed quarterly</a:t>
                      </a:r>
                    </a:p>
                  </a:txBody>
                  <a:tcPr marL="91440" marR="91440" marT="45720" marB="45720" anchor="ctr">
                    <a:solidFill>
                      <a:srgbClr val="1A2742"/>
                    </a:solidFill>
                  </a:tcPr>
                </a:tc>
                <a:tc>
                  <a:txBody>
                    <a:bodyPr wrap="square"/>
                    <a:lstStyle/>
                    <a:p>
                      <a:r>
                        <a:rPr sz="1100" b="0">
                          <a:solidFill>
                            <a:srgbClr val="FFFFFF"/>
                          </a:solidFill>
                          <a:latin typeface="Inter"/>
                        </a:rPr>
                        <a:t>they are your tests</a:t>
                      </a:r>
                    </a:p>
                  </a:txBody>
                  <a:tcPr marL="91440" marR="91440" marT="45720" marB="45720" anchor="ctr">
                    <a:solidFill>
                      <a:srgbClr val="1A2742"/>
                    </a:solidFill>
                  </a:tcPr>
                </a:tc>
              </a:tr>
              <a:tr h="384048">
                <a:tc>
                  <a:txBody>
                    <a:bodyPr wrap="square"/>
                    <a:lstStyle/>
                    <a:p>
                      <a:r>
                        <a:rPr sz="1100" b="1">
                          <a:solidFill>
                            <a:srgbClr val="FFFFFF"/>
                          </a:solidFill>
                          <a:latin typeface="Inter"/>
                        </a:rPr>
                        <a:t>Structured logs</a:t>
                      </a:r>
                    </a:p>
                  </a:txBody>
                  <a:tcPr marL="91440" marR="91440" marT="45720" marB="45720" anchor="ctr">
                    <a:solidFill>
                      <a:srgbClr val="0F1E35"/>
                    </a:solidFill>
                  </a:tcPr>
                </a:tc>
                <a:tc>
                  <a:txBody>
                    <a:bodyPr wrap="square"/>
                    <a:lstStyle/>
                    <a:p>
                      <a:r>
                        <a:rPr sz="1100" b="0">
                          <a:solidFill>
                            <a:srgbClr val="FFFFFF"/>
                          </a:solidFill>
                          <a:latin typeface="Inter"/>
                        </a:rPr>
                        <a:t>masked, trace id</a:t>
                      </a:r>
                    </a:p>
                  </a:txBody>
                  <a:tcPr marL="91440" marR="91440" marT="45720" marB="45720" anchor="ctr">
                    <a:solidFill>
                      <a:srgbClr val="0F1E35"/>
                    </a:solidFill>
                  </a:tcPr>
                </a:tc>
                <a:tc>
                  <a:txBody>
                    <a:bodyPr wrap="square"/>
                    <a:lstStyle/>
                    <a:p>
                      <a:r>
                        <a:rPr sz="1100" b="0">
                          <a:solidFill>
                            <a:srgbClr val="FFFFFF"/>
                          </a:solidFill>
                          <a:latin typeface="Inter"/>
                        </a:rPr>
                        <a:t>30 days</a:t>
                      </a:r>
                    </a:p>
                  </a:txBody>
                  <a:tcPr marL="91440" marR="91440" marT="45720" marB="45720" anchor="ctr">
                    <a:solidFill>
                      <a:srgbClr val="0F1E35"/>
                    </a:solidFill>
                  </a:tcPr>
                </a:tc>
                <a:tc>
                  <a:txBody>
                    <a:bodyPr wrap="square"/>
                    <a:lstStyle/>
                    <a:p>
                      <a:r>
                        <a:rPr sz="1100" b="0">
                          <a:solidFill>
                            <a:srgbClr val="FFFFFF"/>
                          </a:solidFill>
                          <a:latin typeface="Inter"/>
                        </a:rPr>
                        <a:t>same as traces</a:t>
                      </a:r>
                    </a:p>
                  </a:txBody>
                  <a:tcPr marL="91440" marR="91440" marT="45720" marB="45720" anchor="ctr">
                    <a:solidFill>
                      <a:srgbClr val="0F1E35"/>
                    </a:solidFill>
                  </a:tcPr>
                </a:tc>
              </a:tr>
              <a:tr h="384048">
                <a:tc>
                  <a:txBody>
                    <a:bodyPr wrap="square"/>
                    <a:lstStyle/>
                    <a:p>
                      <a:r>
                        <a:rPr sz="1100" b="1">
                          <a:solidFill>
                            <a:srgbClr val="FFFFFF"/>
                          </a:solidFill>
                          <a:latin typeface="Inter"/>
                        </a:rPr>
                        <a:t>Prometheus</a:t>
                      </a:r>
                    </a:p>
                  </a:txBody>
                  <a:tcPr marL="91440" marR="91440" marT="45720" marB="45720" anchor="ctr">
                    <a:solidFill>
                      <a:srgbClr val="1A2742"/>
                    </a:solidFill>
                  </a:tcPr>
                </a:tc>
                <a:tc>
                  <a:txBody>
                    <a:bodyPr wrap="square"/>
                    <a:lstStyle/>
                    <a:p>
                      <a:r>
                        <a:rPr sz="1100" b="0">
                          <a:solidFill>
                            <a:srgbClr val="FFFFFF"/>
                          </a:solidFill>
                          <a:latin typeface="Inter"/>
                        </a:rPr>
                        <a:t>no PII by design</a:t>
                      </a:r>
                    </a:p>
                  </a:txBody>
                  <a:tcPr marL="91440" marR="91440" marT="45720" marB="45720" anchor="ctr">
                    <a:solidFill>
                      <a:srgbClr val="1A2742"/>
                    </a:solidFill>
                  </a:tcPr>
                </a:tc>
                <a:tc>
                  <a:txBody>
                    <a:bodyPr wrap="square"/>
                    <a:lstStyle/>
                    <a:p>
                      <a:r>
                        <a:rPr sz="1100" b="0">
                          <a:solidFill>
                            <a:srgbClr val="FFFFFF"/>
                          </a:solidFill>
                          <a:latin typeface="Inter"/>
                        </a:rPr>
                        <a:t>45 days</a:t>
                      </a:r>
                    </a:p>
                  </a:txBody>
                  <a:tcPr marL="91440" marR="91440" marT="45720" marB="45720" anchor="ctr">
                    <a:solidFill>
                      <a:srgbClr val="1A2742"/>
                    </a:solidFill>
                  </a:tcPr>
                </a:tc>
                <a:tc>
                  <a:txBody>
                    <a:bodyPr wrap="square"/>
                    <a:lstStyle/>
                    <a:p>
                      <a:r>
                        <a:rPr sz="1100" b="0">
                          <a:solidFill>
                            <a:srgbClr val="FFFFFF"/>
                          </a:solidFill>
                          <a:latin typeface="Inter"/>
                        </a:rPr>
                        <a:t>28-day SLO window plus margin</a:t>
                      </a:r>
                    </a:p>
                  </a:txBody>
                  <a:tcPr marL="91440" marR="91440" marT="45720" marB="45720" anchor="ctr">
                    <a:solidFill>
                      <a:srgbClr val="1A2742"/>
                    </a:solidFill>
                  </a:tcPr>
                </a:tc>
              </a:tr>
              <a:tr h="384048">
                <a:tc>
                  <a:txBody>
                    <a:bodyPr wrap="square"/>
                    <a:lstStyle/>
                    <a:p>
                      <a:r>
                        <a:rPr sz="1100" b="1">
                          <a:solidFill>
                            <a:srgbClr val="FFFFFF"/>
                          </a:solidFill>
                          <a:latin typeface="Inter"/>
                        </a:rPr>
                        <a:t>Local span store (laptops)</a:t>
                      </a:r>
                    </a:p>
                  </a:txBody>
                  <a:tcPr marL="91440" marR="91440" marT="45720" marB="45720" anchor="ctr">
                    <a:solidFill>
                      <a:srgbClr val="0F1E35"/>
                    </a:solidFill>
                  </a:tcPr>
                </a:tc>
                <a:tc>
                  <a:txBody>
                    <a:bodyPr wrap="square"/>
                    <a:lstStyle/>
                    <a:p>
                      <a:r>
                        <a:rPr sz="1100" b="0">
                          <a:solidFill>
                            <a:srgbClr val="FFFFFF"/>
                          </a:solidFill>
                          <a:latin typeface="Inter"/>
                        </a:rPr>
                        <a:t>synthetic only in OFFLINE; else masked</a:t>
                      </a:r>
                    </a:p>
                  </a:txBody>
                  <a:tcPr marL="91440" marR="91440" marT="45720" marB="45720" anchor="ctr">
                    <a:solidFill>
                      <a:srgbClr val="0F1E35"/>
                    </a:solidFill>
                  </a:tcPr>
                </a:tc>
                <a:tc>
                  <a:txBody>
                    <a:bodyPr wrap="square"/>
                    <a:lstStyle/>
                    <a:p>
                      <a:r>
                        <a:rPr sz="1100" b="0">
                          <a:solidFill>
                            <a:srgbClr val="FFFFFF"/>
                          </a:solidFill>
                          <a:latin typeface="Inter"/>
                        </a:rPr>
                        <a:t>purge on </a:t>
                      </a:r>
                      <a:r>
                        <a:rPr sz="1012" b="0">
                          <a:solidFill>
                            <a:srgbClr val="00D4AA"/>
                          </a:solidFill>
                          <a:latin typeface="JetBrains Mono"/>
                        </a:rPr>
                        <a:t>make clean</a:t>
                      </a:r>
                      <a:r>
                        <a:rPr sz="1100" b="0">
                          <a:solidFill>
                            <a:srgbClr val="FFFFFF"/>
                          </a:solidFill>
                          <a:latin typeface="Inter"/>
                        </a:rPr>
                        <a:t>; never commit</a:t>
                      </a:r>
                    </a:p>
                  </a:txBody>
                  <a:tcPr marL="91440" marR="91440" marT="45720" marB="45720" anchor="ctr">
                    <a:solidFill>
                      <a:srgbClr val="0F1E35"/>
                    </a:solidFill>
                  </a:tcPr>
                </a:tc>
                <a:tc>
                  <a:txBody>
                    <a:bodyPr wrap="square"/>
                    <a:lstStyle/>
                    <a:p>
                      <a:r>
                        <a:rPr sz="1100" b="0">
                          <a:solidFill>
                            <a:srgbClr val="FFFFFF"/>
                          </a:solidFill>
                          <a:latin typeface="Inter"/>
                        </a:rPr>
                        <a:t>it's a laptop</a:t>
                      </a:r>
                    </a:p>
                  </a:txBody>
                  <a:tcPr marL="91440" marR="91440" marT="45720" marB="45720" anchor="ctr">
                    <a:solidFill>
                      <a:srgbClr val="0F1E3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Projects and roles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Langfuse project per environment: </a:t>
            </a:r>
            <a:r>
              <a:rPr sz="1656" b="0">
                <a:solidFill>
                  <a:srgbClr val="00D4AA"/>
                </a:solidFill>
                <a:latin typeface="JetBrains Mono"/>
              </a:rPr>
              <a:t>atlas-dev</a:t>
            </a:r>
            <a:r>
              <a:rPr sz="1800" b="0">
                <a:solidFill>
                  <a:srgbClr val="FFFFFF"/>
                </a:solidFill>
                <a:latin typeface="Inter"/>
              </a:rPr>
              <a:t>, </a:t>
            </a:r>
            <a:r>
              <a:rPr sz="1656" b="0">
                <a:solidFill>
                  <a:srgbClr val="00D4AA"/>
                </a:solidFill>
                <a:latin typeface="JetBrains Mono"/>
              </a:rPr>
              <a:t>atlas-staging</a:t>
            </a:r>
            <a:r>
              <a:rPr sz="1800" b="0">
                <a:solidFill>
                  <a:srgbClr val="FFFFFF"/>
                </a:solidFill>
                <a:latin typeface="Inter"/>
              </a:rPr>
              <a:t>, </a:t>
            </a:r>
            <a:r>
              <a:rPr sz="1656" b="0">
                <a:solidFill>
                  <a:srgbClr val="00D4AA"/>
                </a:solidFill>
                <a:latin typeface="JetBrains Mono"/>
              </a:rPr>
              <a:t>atlas-prod</a:t>
            </a:r>
            <a:r>
              <a:rPr sz="1800" b="0">
                <a:solidFill>
                  <a:srgbClr val="FFFFFF"/>
                </a:solidFill>
                <a:latin typeface="Inter"/>
              </a:rPr>
              <a:t>; keys differ, retention differs</a:t>
            </a:r>
          </a:p>
          <a:p>
            <a:pPr marL="292608" indent="-292608">
              <a:lnSpc>
                <a:spcPct val="120000"/>
              </a:lnSpc>
              <a:spcAft>
                <a:spcPts val="1260"/>
              </a:spcAft>
              <a:buClr>
                <a:srgbClr val="00D4AA"/>
              </a:buClr>
              <a:buFont typeface="Inter"/>
              <a:buChar char="•"/>
            </a:pPr>
            <a:r>
              <a:rPr sz="1800" b="0">
                <a:solidFill>
                  <a:srgbClr val="FFFFFF"/>
                </a:solidFill>
                <a:latin typeface="Inter"/>
              </a:rPr>
              <a:t>Roles: Owner (2 people), Admin (the on-call rotation), Member (engineers on Atlas), Viewer (stakeholders, 9.4)</a:t>
            </a:r>
          </a:p>
          <a:p>
            <a:pPr marL="292608" indent="-292608">
              <a:lnSpc>
                <a:spcPct val="120000"/>
              </a:lnSpc>
              <a:spcAft>
                <a:spcPts val="1260"/>
              </a:spcAft>
              <a:buClr>
                <a:srgbClr val="00D4AA"/>
              </a:buClr>
              <a:buFont typeface="Inter"/>
              <a:buChar char="•"/>
            </a:pPr>
            <a:r>
              <a:rPr sz="1800" b="0">
                <a:solidFill>
                  <a:srgbClr val="FFFFFF"/>
                </a:solidFill>
                <a:latin typeface="Inter"/>
              </a:rPr>
              <a:t>Prod traces: Members and above; dev traces: anyone on the team</a:t>
            </a:r>
          </a:p>
          <a:p>
            <a:pPr marL="292608" indent="-292608">
              <a:lnSpc>
                <a:spcPct val="120000"/>
              </a:lnSpc>
              <a:spcAft>
                <a:spcPts val="1260"/>
              </a:spcAft>
              <a:buClr>
                <a:srgbClr val="00D4AA"/>
              </a:buClr>
              <a:buFont typeface="Inter"/>
              <a:buChar char="•"/>
            </a:pPr>
            <a:r>
              <a:rPr sz="1800" b="0">
                <a:solidFill>
                  <a:srgbClr val="FFFFFF"/>
                </a:solidFill>
                <a:latin typeface="Inter"/>
              </a:rPr>
              <a:t>API keys per service, never per person; rotate on departure</a:t>
            </a:r>
          </a:p>
          <a:p>
            <a:pPr marL="292608" indent="-292608">
              <a:lnSpc>
                <a:spcPct val="120000"/>
              </a:lnSpc>
              <a:spcAft>
                <a:spcPts val="1260"/>
              </a:spcAft>
              <a:buClr>
                <a:srgbClr val="00D4AA"/>
              </a:buClr>
              <a:buFont typeface="Inter"/>
              <a:buChar char="•"/>
            </a:pPr>
            <a:r>
              <a:rPr sz="1800" b="0">
                <a:solidFill>
                  <a:srgbClr val="FFFFFF"/>
                </a:solidFill>
                <a:latin typeface="Inter"/>
              </a:rPr>
              <a:t>Judge and </a:t>
            </a:r>
            <a:r>
              <a:rPr sz="1656" b="0">
                <a:solidFill>
                  <a:srgbClr val="00D4AA"/>
                </a:solidFill>
                <a:latin typeface="JetBrains Mono"/>
              </a:rPr>
              <a:t>to_dataset</a:t>
            </a:r>
            <a:r>
              <a:rPr sz="1800" b="0">
                <a:solidFill>
                  <a:srgbClr val="FFFFFF"/>
                </a:solidFill>
                <a:latin typeface="Inter"/>
              </a:rPr>
              <a:t> jobs run with a scoped key that can write scores and dataset items, not delete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Tenant tags or separate projects? Three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May an engineer who supports tenant A see tenant B's traces? If no: separate projects</a:t>
            </a:r>
          </a:p>
          <a:p>
            <a:pPr marL="292608" indent="-292608">
              <a:lnSpc>
                <a:spcPct val="120000"/>
              </a:lnSpc>
              <a:spcAft>
                <a:spcPts val="1260"/>
              </a:spcAft>
              <a:buClr>
                <a:srgbClr val="00D4AA"/>
              </a:buClr>
              <a:buFont typeface="Inter"/>
              <a:buChar char="•"/>
            </a:pPr>
            <a:r>
              <a:rPr sz="1800" b="0">
                <a:solidFill>
                  <a:srgbClr val="FFFFFF"/>
                </a:solidFill>
                <a:latin typeface="Inter"/>
              </a:rPr>
              <a:t>Are tenants different legal entities or jurisdictions? If yes: separate projects, maybe separate regions</a:t>
            </a:r>
          </a:p>
          <a:p>
            <a:pPr marL="292608" indent="-292608">
              <a:lnSpc>
                <a:spcPct val="120000"/>
              </a:lnSpc>
              <a:spcAft>
                <a:spcPts val="1260"/>
              </a:spcAft>
              <a:buClr>
                <a:srgbClr val="00D4AA"/>
              </a:buClr>
              <a:buFont typeface="Inter"/>
              <a:buChar char="•"/>
            </a:pPr>
            <a:r>
              <a:rPr sz="1800" b="0">
                <a:solidFill>
                  <a:srgbClr val="FFFFFF"/>
                </a:solidFill>
                <a:latin typeface="Inter"/>
              </a:rPr>
              <a:t>Do you need cross-tenant dashboards (the showback, 6.3)? If yes: tags, or aggregate outside Langfuse</a:t>
            </a:r>
          </a:p>
          <a:p>
            <a:pPr marL="292608" indent="-292608">
              <a:lnSpc>
                <a:spcPct val="120000"/>
              </a:lnSpc>
              <a:spcAft>
                <a:spcPts val="1260"/>
              </a:spcAft>
              <a:buClr>
                <a:srgbClr val="00D4AA"/>
              </a:buClr>
              <a:buFont typeface="Inter"/>
              <a:buChar char="•"/>
            </a:pPr>
            <a:r>
              <a:rPr sz="1800" b="0">
                <a:solidFill>
                  <a:srgbClr val="FFFFFF"/>
                </a:solidFill>
                <a:latin typeface="Inter"/>
              </a:rPr>
              <a:t>Northwind: four departments of one company, one legal entity, shared support team, showback needed → tags in one project</a:t>
            </a:r>
          </a:p>
          <a:p>
            <a:pPr marL="292608" indent="-292608">
              <a:lnSpc>
                <a:spcPct val="120000"/>
              </a:lnSpc>
              <a:spcAft>
                <a:spcPts val="1260"/>
              </a:spcAft>
              <a:buClr>
                <a:srgbClr val="00D4AA"/>
              </a:buClr>
              <a:buFont typeface="Inter"/>
              <a:buChar char="•"/>
            </a:pPr>
            <a:r>
              <a:rPr sz="1800" b="0">
                <a:solidFill>
                  <a:srgbClr val="FFFFFF"/>
                </a:solidFill>
                <a:latin typeface="Inter"/>
              </a:rPr>
              <a:t>A SaaS with external customers → project per customer, aggregates in Prometheus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Access to the other destinations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Collector: runs in your network; config in git; exporters use secrets from the environment, never from the YAML</a:t>
            </a:r>
          </a:p>
          <a:p>
            <a:pPr marL="292608" indent="-292608">
              <a:lnSpc>
                <a:spcPct val="120000"/>
              </a:lnSpc>
              <a:spcAft>
                <a:spcPts val="1260"/>
              </a:spcAft>
              <a:buClr>
                <a:srgbClr val="00D4AA"/>
              </a:buClr>
              <a:buFont typeface="Inter"/>
              <a:buChar char="•"/>
            </a:pPr>
            <a:r>
              <a:rPr sz="1800" b="0">
                <a:solidFill>
                  <a:srgbClr val="FFFFFF"/>
                </a:solidFill>
                <a:latin typeface="Inter"/>
              </a:rPr>
              <a:t>Logs: same retention as traces; PII masked at the source, so the wide audience is acceptable</a:t>
            </a:r>
          </a:p>
          <a:p>
            <a:pPr marL="292608" indent="-292608">
              <a:lnSpc>
                <a:spcPct val="120000"/>
              </a:lnSpc>
              <a:spcAft>
                <a:spcPts val="1260"/>
              </a:spcAft>
              <a:buClr>
                <a:srgbClr val="00D4AA"/>
              </a:buClr>
              <a:buFont typeface="Inter"/>
              <a:buChar char="•"/>
            </a:pPr>
            <a:r>
              <a:rPr sz="1800" b="0">
                <a:solidFill>
                  <a:srgbClr val="FFFFFF"/>
                </a:solidFill>
                <a:latin typeface="Inter"/>
              </a:rPr>
              <a:t>Prometheus and Grafana: viewer accounts for stakeholders; the compose default admin password is for the lab only</a:t>
            </a:r>
          </a:p>
          <a:p>
            <a:pPr marL="292608" indent="-292608">
              <a:lnSpc>
                <a:spcPct val="120000"/>
              </a:lnSpc>
              <a:spcAft>
                <a:spcPts val="1260"/>
              </a:spcAft>
              <a:buClr>
                <a:srgbClr val="00D4AA"/>
              </a:buClr>
              <a:buFont typeface="Inter"/>
              <a:buChar char="•"/>
            </a:pPr>
            <a:r>
              <a:rPr sz="1800" b="0">
                <a:solidFill>
                  <a:srgbClr val="FFFFFF"/>
                </a:solidFill>
                <a:latin typeface="Inter"/>
              </a:rPr>
              <a:t>Judge provider: check the data terms; prefer zero-retention endpoints where offered; masked inputs regardless</a:t>
            </a:r>
          </a:p>
          <a:p>
            <a:pPr marL="292608" indent="-292608">
              <a:lnSpc>
                <a:spcPct val="120000"/>
              </a:lnSpc>
              <a:spcAft>
                <a:spcPts val="1260"/>
              </a:spcAft>
              <a:buClr>
                <a:srgbClr val="00D4AA"/>
              </a:buClr>
              <a:buFont typeface="Inter"/>
              <a:buChar char="•"/>
            </a:pPr>
            <a:r>
              <a:rPr sz="1800" b="0">
                <a:solidFill>
                  <a:srgbClr val="FFFFFF"/>
                </a:solidFill>
                <a:latin typeface="Inter"/>
              </a:rPr>
              <a:t>Laptops: </a:t>
            </a:r>
            <a:r>
              <a:rPr sz="1656" b="0">
                <a:solidFill>
                  <a:srgbClr val="00D4AA"/>
                </a:solidFill>
                <a:latin typeface="JetBrains Mono"/>
              </a:rPr>
              <a:t>OFFLINE=1</a:t>
            </a:r>
            <a:r>
              <a:rPr sz="1800" b="0">
                <a:solidFill>
                  <a:srgbClr val="FFFFFF"/>
                </a:solidFill>
                <a:latin typeface="Inter"/>
              </a:rPr>
              <a:t> uses synthetic data; a real-data export needs a ticket and a deletion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checklist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10-resources/telemetry-governance-checklist.md</a:t>
            </a:r>
            <a:r>
              <a:rPr sz="1800" b="0">
                <a:solidFill>
                  <a:srgbClr val="FFFFFF"/>
                </a:solidFill>
                <a:latin typeface="Inter"/>
              </a:rPr>
              <a:t>: retention table, project and role map, tenant decision, destinations and their owners</a:t>
            </a:r>
          </a:p>
          <a:p>
            <a:pPr marL="292608" indent="-292608">
              <a:lnSpc>
                <a:spcPct val="120000"/>
              </a:lnSpc>
              <a:spcAft>
                <a:spcPts val="1260"/>
              </a:spcAft>
              <a:buClr>
                <a:srgbClr val="00D4AA"/>
              </a:buClr>
              <a:buFont typeface="Inter"/>
              <a:buChar char="•"/>
            </a:pPr>
            <a:r>
              <a:rPr sz="1800" b="0">
                <a:solidFill>
                  <a:srgbClr val="FFFFFF"/>
                </a:solidFill>
                <a:latin typeface="Inter"/>
              </a:rPr>
              <a:t>Fill it once, date it, review quarterly</a:t>
            </a:r>
          </a:p>
          <a:p>
            <a:pPr marL="292608" indent="-292608">
              <a:lnSpc>
                <a:spcPct val="120000"/>
              </a:lnSpc>
              <a:spcAft>
                <a:spcPts val="1260"/>
              </a:spcAft>
              <a:buClr>
                <a:srgbClr val="00D4AA"/>
              </a:buClr>
              <a:buFont typeface="Inter"/>
              <a:buChar char="•"/>
            </a:pPr>
            <a:r>
              <a:rPr sz="1800" b="0">
                <a:solidFill>
                  <a:srgbClr val="FFFFFF"/>
                </a:solidFill>
                <a:latin typeface="Inter"/>
              </a:rPr>
              <a:t>Every row has an owner and a place where the setting lives</a:t>
            </a:r>
          </a:p>
          <a:p>
            <a:pPr marL="292608" indent="-292608">
              <a:lnSpc>
                <a:spcPct val="120000"/>
              </a:lnSpc>
              <a:spcAft>
                <a:spcPts val="1260"/>
              </a:spcAft>
              <a:buClr>
                <a:srgbClr val="00D4AA"/>
              </a:buClr>
              <a:buFont typeface="Inter"/>
              <a:buChar char="•"/>
            </a:pPr>
            <a:r>
              <a:rPr sz="1800" b="0">
                <a:solidFill>
                  <a:srgbClr val="FFFFFF"/>
                </a:solidFill>
                <a:latin typeface="Inter"/>
              </a:rPr>
              <a:t>It's the document your security team asks for; have it before they ask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Retention per data class, written down</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project per environment, least privilege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Tags or projects: ask who may see whom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Regulatory logging obligations (not legal advice)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Everything so far is about keeping less.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Regulatory logging obligations (not legal advice)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Some rules require you to keep an audit trail of what your agent did; know the shape of those obligations, build the…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"delete everything" is also wrong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Section 10 so far: collect less, keep it shorter, restrict who reads it</a:t>
            </a:r>
          </a:p>
          <a:p>
            <a:pPr marL="292608" indent="-292608">
              <a:lnSpc>
                <a:spcPct val="120000"/>
              </a:lnSpc>
              <a:spcAft>
                <a:spcPts val="1260"/>
              </a:spcAft>
              <a:buClr>
                <a:srgbClr val="00D4AA"/>
              </a:buClr>
              <a:buFont typeface="Inter"/>
              <a:buChar char="•"/>
            </a:pPr>
            <a:r>
              <a:rPr sz="1800" b="0">
                <a:solidFill>
                  <a:srgbClr val="FFFFFF"/>
                </a:solidFill>
                <a:latin typeface="Inter"/>
              </a:rPr>
              <a:t>Some regulations require the opposite for specific records: keep an audit trail, for a minimum period</a:t>
            </a:r>
          </a:p>
          <a:p>
            <a:pPr marL="292608" indent="-292608">
              <a:lnSpc>
                <a:spcPct val="120000"/>
              </a:lnSpc>
              <a:spcAft>
                <a:spcPts val="1260"/>
              </a:spcAft>
              <a:buClr>
                <a:srgbClr val="00D4AA"/>
              </a:buClr>
              <a:buFont typeface="Inter"/>
              <a:buChar char="•"/>
            </a:pPr>
            <a:r>
              <a:rPr sz="1800" b="0">
                <a:solidFill>
                  <a:srgbClr val="FFFFFF"/>
                </a:solidFill>
                <a:latin typeface="Inter"/>
              </a:rPr>
              <a:t>The two are compatible: a small, deliberate audit trail; short-lived, masked debugging telemetry</a:t>
            </a:r>
          </a:p>
          <a:p>
            <a:pPr marL="292608" indent="-292608">
              <a:lnSpc>
                <a:spcPct val="120000"/>
              </a:lnSpc>
              <a:spcAft>
                <a:spcPts val="1260"/>
              </a:spcAft>
              <a:buClr>
                <a:srgbClr val="00D4AA"/>
              </a:buClr>
              <a:buFont typeface="Inter"/>
              <a:buChar char="•"/>
            </a:pPr>
            <a:r>
              <a:rPr sz="1800" b="0">
                <a:solidFill>
                  <a:srgbClr val="FFFFFF"/>
                </a:solidFill>
                <a:latin typeface="Inter"/>
              </a:rPr>
              <a:t>The mistake is treating them as one dataset with one retention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EU AI Act, in one slide (verify with counsel)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Applies in tiers; the strict record-keeping rules target "high-risk" systems listed in the Act's annexes</a:t>
            </a:r>
          </a:p>
          <a:p>
            <a:pPr marL="292608" indent="-292608">
              <a:lnSpc>
                <a:spcPct val="120000"/>
              </a:lnSpc>
              <a:spcAft>
                <a:spcPts val="1260"/>
              </a:spcAft>
              <a:buClr>
                <a:srgbClr val="00D4AA"/>
              </a:buClr>
              <a:buFont typeface="Inter"/>
              <a:buChar char="•"/>
            </a:pPr>
            <a:r>
              <a:rPr sz="1800" b="0">
                <a:solidFill>
                  <a:srgbClr val="FFFFFF"/>
                </a:solidFill>
                <a:latin typeface="Inter"/>
              </a:rPr>
              <a:t>Employment-related uses are on that list: recruitment, promotion, termination, task allocation, monitoring and evaluation of workers</a:t>
            </a:r>
          </a:p>
          <a:p>
            <a:pPr marL="292608" indent="-292608">
              <a:lnSpc>
                <a:spcPct val="120000"/>
              </a:lnSpc>
              <a:spcAft>
                <a:spcPts val="1260"/>
              </a:spcAft>
              <a:buClr>
                <a:srgbClr val="00D4AA"/>
              </a:buClr>
              <a:buFont typeface="Inter"/>
              <a:buChar char="•"/>
            </a:pPr>
            <a:r>
              <a:rPr sz="1800" b="0">
                <a:solidFill>
                  <a:srgbClr val="FFFFFF"/>
                </a:solidFill>
                <a:latin typeface="Inter"/>
              </a:rPr>
              <a:t>Atlas today answers policy questions, opens tickets, resets passwords: probably not making employment decisions</a:t>
            </a:r>
          </a:p>
          <a:p>
            <a:pPr marL="292608" indent="-292608">
              <a:lnSpc>
                <a:spcPct val="120000"/>
              </a:lnSpc>
              <a:spcAft>
                <a:spcPts val="1260"/>
              </a:spcAft>
              <a:buClr>
                <a:srgbClr val="00D4AA"/>
              </a:buClr>
              <a:buFont typeface="Inter"/>
              <a:buChar char="•"/>
            </a:pPr>
            <a:r>
              <a:rPr sz="1800" b="0">
                <a:solidFill>
                  <a:srgbClr val="FFFFFF"/>
                </a:solidFill>
                <a:latin typeface="Inter"/>
              </a:rPr>
              <a:t>Atlas tomorrow, if it triages leave requests or flags "underperforming" employees: that's a different conversation</a:t>
            </a:r>
          </a:p>
          <a:p>
            <a:pPr marL="292608" indent="-292608">
              <a:lnSpc>
                <a:spcPct val="120000"/>
              </a:lnSpc>
              <a:spcAft>
                <a:spcPts val="1260"/>
              </a:spcAft>
              <a:buClr>
                <a:srgbClr val="00D4AA"/>
              </a:buClr>
              <a:buFont typeface="Inter"/>
              <a:buChar char="•"/>
            </a:pPr>
            <a:r>
              <a:rPr sz="1800" b="0">
                <a:solidFill>
                  <a:srgbClr val="FFFFFF"/>
                </a:solidFill>
                <a:latin typeface="Inter"/>
              </a:rPr>
              <a:t>High-risk obligations include automatic logging of events over the system's lifetime, kept for a minimum period (the Act sets a floor in months; verify the current number), plus human oversight and technical documentation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EU AI Act, in one slide (verify with counsel)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Also: general transparency duties for AI that interacts with people; telling users they're talking to an AI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Other rules that touch telemetry (verify which apply to you)</a:t>
            </a:r>
          </a:p>
        </p:txBody>
      </p:sp>
      <p:sp>
        <p:nvSpPr>
          <p:cNvPr id="4" name="Rectangle 3"/>
          <p:cNvSpPr/>
          <p:nvPr/>
        </p:nvSpPr>
        <p:spPr>
          <a:xfrm>
            <a:off x="502920" y="1435607"/>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828800"/>
            <a:ext cx="10881360" cy="448056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GDPR and similar: traces are personal data; lawful basis, minimisation, purpose limitation, and subject rights apply. Access and erasure requests reach your tracing backend. The hash in 10.2 is how you find one person's traces</a:t>
            </a:r>
          </a:p>
          <a:p>
            <a:pPr marL="292608" indent="-292608">
              <a:lnSpc>
                <a:spcPct val="120000"/>
              </a:lnSpc>
              <a:spcAft>
                <a:spcPts val="1260"/>
              </a:spcAft>
              <a:buClr>
                <a:srgbClr val="00D4AA"/>
              </a:buClr>
              <a:buFont typeface="Inter"/>
              <a:buChar char="•"/>
            </a:pPr>
            <a:r>
              <a:rPr sz="1800" b="0">
                <a:solidFill>
                  <a:srgbClr val="FFFFFF"/>
                </a:solidFill>
                <a:latin typeface="Inter"/>
              </a:rPr>
              <a:t>Sector rules: health (HIPAA), finance (GLBA, PCI DSS for card data: a card number stored raw in a trace is a PCI event)</a:t>
            </a:r>
          </a:p>
          <a:p>
            <a:pPr marL="292608" indent="-292608">
              <a:lnSpc>
                <a:spcPct val="120000"/>
              </a:lnSpc>
              <a:spcAft>
                <a:spcPts val="1260"/>
              </a:spcAft>
              <a:buClr>
                <a:srgbClr val="00D4AA"/>
              </a:buClr>
              <a:buFont typeface="Inter"/>
              <a:buChar char="•"/>
            </a:pPr>
            <a:r>
              <a:rPr sz="1800" b="0">
                <a:solidFill>
                  <a:srgbClr val="FFFFFF"/>
                </a:solidFill>
                <a:latin typeface="Inter"/>
              </a:rPr>
              <a:t>Audit and assurance: SOC 2, ISO 27001: expect "show me who accessed what, when"</a:t>
            </a:r>
          </a:p>
          <a:p>
            <a:pPr marL="292608" indent="-292608">
              <a:lnSpc>
                <a:spcPct val="120000"/>
              </a:lnSpc>
              <a:spcAft>
                <a:spcPts val="1260"/>
              </a:spcAft>
              <a:buClr>
                <a:srgbClr val="00D4AA"/>
              </a:buClr>
              <a:buFont typeface="Inter"/>
              <a:buChar char="•"/>
            </a:pPr>
            <a:r>
              <a:rPr sz="1800" b="0">
                <a:solidFill>
                  <a:srgbClr val="FFFFFF"/>
                </a:solidFill>
                <a:latin typeface="Inter"/>
              </a:rPr>
              <a:t>Contracts: your enterprise customers' DPAs may set retention and location; your vendor's DPA sets theirs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An audit trail for an agent (what to keep, long)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Per request: timestamp, trace id, hashed user, tenant, prompt name and version, model and version actually served, tool calls with arguments hashed or summarised, decisions taken (ticket created, password reset, escalated to human), guardrail outcomes, the final answer's hash</a:t>
            </a:r>
          </a:p>
          <a:p>
            <a:pPr marL="292608" indent="-292608">
              <a:lnSpc>
                <a:spcPct val="120000"/>
              </a:lnSpc>
              <a:spcAft>
                <a:spcPts val="1260"/>
              </a:spcAft>
              <a:buClr>
                <a:srgbClr val="00D4AA"/>
              </a:buClr>
              <a:buFont typeface="Inter"/>
              <a:buChar char="•"/>
            </a:pPr>
            <a:r>
              <a:rPr sz="1800" b="0">
                <a:solidFill>
                  <a:srgbClr val="FFFFFF"/>
                </a:solidFill>
                <a:latin typeface="Inter"/>
              </a:rPr>
              <a:t>Not the raw prompt, not the raw tool results, not the retrieval chunks</a:t>
            </a:r>
          </a:p>
          <a:p>
            <a:pPr marL="292608" indent="-292608">
              <a:lnSpc>
                <a:spcPct val="120000"/>
              </a:lnSpc>
              <a:spcAft>
                <a:spcPts val="1260"/>
              </a:spcAft>
              <a:buClr>
                <a:srgbClr val="00D4AA"/>
              </a:buClr>
              <a:buFont typeface="Inter"/>
              <a:buChar char="•"/>
            </a:pPr>
            <a:r>
              <a:rPr sz="1800" b="0">
                <a:solidFill>
                  <a:srgbClr val="FFFFFF"/>
                </a:solidFill>
                <a:latin typeface="Inter"/>
              </a:rPr>
              <a:t>Built from spans you already emit (Sections 3 to 5); a small job writes one line per request to an append-only store</a:t>
            </a:r>
          </a:p>
          <a:p>
            <a:pPr marL="292608" indent="-292608">
              <a:lnSpc>
                <a:spcPct val="120000"/>
              </a:lnSpc>
              <a:spcAft>
                <a:spcPts val="1260"/>
              </a:spcAft>
              <a:buClr>
                <a:srgbClr val="00D4AA"/>
              </a:buClr>
              <a:buFont typeface="Inter"/>
              <a:buChar char="•"/>
            </a:pPr>
            <a:r>
              <a:rPr sz="1800" b="0">
                <a:solidFill>
                  <a:srgbClr val="FFFFFF"/>
                </a:solidFill>
                <a:latin typeface="Inter"/>
              </a:rPr>
              <a:t>Retention: long, per counsel; access: narrower than debugging telemetry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never to log, anywhere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Credentials and secrets: passwords, tokens, one-time codes, the answers to identity verification questions</a:t>
            </a:r>
          </a:p>
          <a:p>
            <a:pPr marL="292608" indent="-292608">
              <a:lnSpc>
                <a:spcPct val="120000"/>
              </a:lnSpc>
              <a:spcAft>
                <a:spcPts val="1260"/>
              </a:spcAft>
              <a:buClr>
                <a:srgbClr val="00D4AA"/>
              </a:buClr>
              <a:buFont typeface="Inter"/>
              <a:buChar char="•"/>
            </a:pPr>
            <a:r>
              <a:rPr sz="1800" b="0">
                <a:solidFill>
                  <a:srgbClr val="FFFFFF"/>
                </a:solidFill>
                <a:latin typeface="Inter"/>
              </a:rPr>
              <a:t>Full payment card numbers, bank details</a:t>
            </a:r>
          </a:p>
          <a:p>
            <a:pPr marL="292608" indent="-292608">
              <a:lnSpc>
                <a:spcPct val="120000"/>
              </a:lnSpc>
              <a:spcAft>
                <a:spcPts val="1260"/>
              </a:spcAft>
              <a:buClr>
                <a:srgbClr val="00D4AA"/>
              </a:buClr>
              <a:buFont typeface="Inter"/>
              <a:buChar char="•"/>
            </a:pPr>
            <a:r>
              <a:rPr sz="1800" b="0">
                <a:solidFill>
                  <a:srgbClr val="FFFFFF"/>
                </a:solidFill>
                <a:latin typeface="Inter"/>
              </a:rPr>
              <a:t>Special-category data: health, biometrics, beliefs; if the helpdesk sees it, mask it at the source</a:t>
            </a:r>
          </a:p>
          <a:p>
            <a:pPr marL="292608" indent="-292608">
              <a:lnSpc>
                <a:spcPct val="120000"/>
              </a:lnSpc>
              <a:spcAft>
                <a:spcPts val="1260"/>
              </a:spcAft>
              <a:buClr>
                <a:srgbClr val="00D4AA"/>
              </a:buClr>
              <a:buFont typeface="Inter"/>
              <a:buChar char="•"/>
            </a:pPr>
            <a:r>
              <a:rPr sz="1800" b="0">
                <a:solidFill>
                  <a:srgbClr val="FFFFFF"/>
                </a:solidFill>
                <a:latin typeface="Inter"/>
              </a:rPr>
              <a:t>Raw content of a suspected prompt injection beyond what security needs</a:t>
            </a:r>
          </a:p>
          <a:p>
            <a:pPr marL="292608" indent="-292608">
              <a:lnSpc>
                <a:spcPct val="120000"/>
              </a:lnSpc>
              <a:spcAft>
                <a:spcPts val="1260"/>
              </a:spcAft>
              <a:buClr>
                <a:srgbClr val="00D4AA"/>
              </a:buClr>
              <a:buFont typeface="Inter"/>
              <a:buChar char="•"/>
            </a:pPr>
            <a:r>
              <a:rPr sz="1800" b="0">
                <a:solidFill>
                  <a:srgbClr val="FFFFFF"/>
                </a:solidFill>
                <a:latin typeface="Inter"/>
              </a:rPr>
              <a:t>Anything the DPA with your vendor prohibits sending to that vendor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Questions to take to counsel and the DPO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Is Atlas, or any planned feature, in scope for high-risk obligations under the AI Act or a national equivalent?</a:t>
            </a:r>
          </a:p>
          <a:p>
            <a:pPr marL="292608" indent="-292608">
              <a:lnSpc>
                <a:spcPct val="120000"/>
              </a:lnSpc>
              <a:spcAft>
                <a:spcPts val="1260"/>
              </a:spcAft>
              <a:buClr>
                <a:srgbClr val="00D4AA"/>
              </a:buClr>
              <a:buFont typeface="Inter"/>
              <a:buChar char="•"/>
            </a:pPr>
            <a:r>
              <a:rPr sz="1800" b="0">
                <a:solidFill>
                  <a:srgbClr val="FFFFFF"/>
                </a:solidFill>
                <a:latin typeface="Inter"/>
              </a:rPr>
              <a:t>What is our lawful basis for processing employee data in traces, and does the retention table match it?</a:t>
            </a:r>
          </a:p>
          <a:p>
            <a:pPr marL="292608" indent="-292608">
              <a:lnSpc>
                <a:spcPct val="120000"/>
              </a:lnSpc>
              <a:spcAft>
                <a:spcPts val="1260"/>
              </a:spcAft>
              <a:buClr>
                <a:srgbClr val="00D4AA"/>
              </a:buClr>
              <a:buFont typeface="Inter"/>
              <a:buChar char="•"/>
            </a:pPr>
            <a:r>
              <a:rPr sz="1800" b="0">
                <a:solidFill>
                  <a:srgbClr val="FFFFFF"/>
                </a:solidFill>
                <a:latin typeface="Inter"/>
              </a:rPr>
              <a:t>What is the minimum audit-trail retention that applies to us, and what must it contain?</a:t>
            </a:r>
          </a:p>
          <a:p>
            <a:pPr marL="292608" indent="-292608">
              <a:lnSpc>
                <a:spcPct val="120000"/>
              </a:lnSpc>
              <a:spcAft>
                <a:spcPts val="1260"/>
              </a:spcAft>
              <a:buClr>
                <a:srgbClr val="00D4AA"/>
              </a:buClr>
              <a:buFont typeface="Inter"/>
              <a:buChar char="•"/>
            </a:pPr>
            <a:r>
              <a:rPr sz="1800" b="0">
                <a:solidFill>
                  <a:srgbClr val="FFFFFF"/>
                </a:solidFill>
                <a:latin typeface="Inter"/>
              </a:rPr>
              <a:t>Does our tracing vendor's DPA cover the data we send, in the region we send it to?</a:t>
            </a:r>
          </a:p>
          <a:p>
            <a:pPr marL="292608" indent="-292608">
              <a:lnSpc>
                <a:spcPct val="120000"/>
              </a:lnSpc>
              <a:spcAft>
                <a:spcPts val="1260"/>
              </a:spcAft>
              <a:buClr>
                <a:srgbClr val="00D4AA"/>
              </a:buClr>
              <a:buFont typeface="Inter"/>
              <a:buChar char="•"/>
            </a:pPr>
            <a:r>
              <a:rPr sz="1800" b="0">
                <a:solidFill>
                  <a:srgbClr val="FFFFFF"/>
                </a:solidFill>
                <a:latin typeface="Inter"/>
              </a:rPr>
              <a:t>How do we fulfil an access or erasure request against traces, scores and datasets?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Questions to take to counsel and the DPO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Who signs off the governance checklist, and how often?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Audit trail and telemetry are different datasets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Keep decisions and hashes; never credentials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Take six questions to counsel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Mask PII in three layers and prove it in CI</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Set retention and access per data class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Separate an audit trail from debugging telemetry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Governance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Section 10 quiz, and then Section 11, where you go on call and investigate three real-shaped incidents…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Governance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place a masking control at the right layer, set retention per data class, and separate an audit trail from…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6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Masking layers and hash vs placeholder</a:t>
            </a:r>
          </a:p>
          <a:p>
            <a:pPr marL="292608" indent="-292608">
              <a:lnSpc>
                <a:spcPct val="120000"/>
              </a:lnSpc>
              <a:spcAft>
                <a:spcPts val="1539"/>
              </a:spcAft>
              <a:buClr>
                <a:srgbClr val="00D4AA"/>
              </a:buClr>
              <a:buFont typeface="Inter"/>
              <a:buChar char="•"/>
            </a:pPr>
            <a:r>
              <a:rPr sz="2200" b="0">
                <a:solidFill>
                  <a:srgbClr val="FFFFFF"/>
                </a:solidFill>
                <a:latin typeface="Inter"/>
              </a:rPr>
              <a:t>Retention by data class</a:t>
            </a:r>
          </a:p>
          <a:p>
            <a:pPr marL="292608" indent="-292608">
              <a:lnSpc>
                <a:spcPct val="120000"/>
              </a:lnSpc>
              <a:spcAft>
                <a:spcPts val="1539"/>
              </a:spcAft>
              <a:buClr>
                <a:srgbClr val="00D4AA"/>
              </a:buClr>
              <a:buFont typeface="Inter"/>
              <a:buChar char="•"/>
            </a:pPr>
            <a:r>
              <a:rPr sz="2200" b="0">
                <a:solidFill>
                  <a:srgbClr val="FFFFFF"/>
                </a:solidFill>
                <a:latin typeface="Inter"/>
              </a:rPr>
              <a:t>Tags vs projects</a:t>
            </a:r>
          </a:p>
          <a:p>
            <a:pPr marL="292608" indent="-292608">
              <a:lnSpc>
                <a:spcPct val="120000"/>
              </a:lnSpc>
              <a:spcAft>
                <a:spcPts val="1539"/>
              </a:spcAft>
              <a:buClr>
                <a:srgbClr val="00D4AA"/>
              </a:buClr>
              <a:buFont typeface="Inter"/>
              <a:buChar char="•"/>
            </a:pPr>
            <a:r>
              <a:rPr sz="2200" b="0">
                <a:solidFill>
                  <a:srgbClr val="FFFFFF"/>
                </a:solidFill>
                <a:latin typeface="Inter"/>
              </a:rPr>
              <a:t>Audit trail vs telemetry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How to read an incident like an SRE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section, you're on call.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