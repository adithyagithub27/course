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Your traces are a data breach waiting to happen.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The input, which is whatever the employee typed, including the password they pasted by mistake. Tool results, which are records from ticketing, HR and shipping systems that have their own access controls. The output, which echoes the above. The retrieval context. And then the copies: the judge sees all of it, and feedback comments are free text. Your agent's memory is also your telemetry's memory, and telemetry remembers longer.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(continued) Everything. The input, which is whatever the employee typed, including the password they pasted by mistake. Tool results, which are records from ticketing, HR and shipping systems that have their own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[B-ROLL: the diagram builds: Atlas in the centre, six arrows out, each destination with a small "who can read" badge.]</a:t>
            </a:r>
          </a:p>
          <a:p/>
          <a:p>
            <a:r>
              <a:t>Six destinations. Langfuse, where every project member can read every trace. The collector, which fans out to whatever backends you configure. The local span store on your laptop, which has no retention at all. Logs, which in most companies have the widest audience of any system. The judge provider, which sees the full trace under its own data terms. And Prometheus, which is the one place PII shouldn't be, because we never put ids in labels. Count how many of those had a security review at your company. In most places the answer is one, and it's Prometheus.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scale, from the replayed day. Twelve hundred emails. Three hundred phone numbers. An employee ID in essentially every request. Six card numbers, from people asking about declined expense cards. Most of it, sixty-two percent, arrived in tool results, which is the part nobody looks at in the UI. Thirty days of retention, four destinations: about a million and a half personal data values at rest, for a helpdesk. And the cost of masking every one of them before they leave the process is four tenths of a millisecond per span. No tokens. No dollars. This is the cheapest security control you will ever ship.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threats, and the section maps onto them. Over-collection: you captured more than you needed. Over-retention: you kept it too long. Over-access: too many readers. And third-party leakage: vendors and judge models. Masking handles the first and most of the fourth. Retention and access handle the second and third. And there's a twist in 10.4: some regulations require you to keep certain logs. Governance isn't "delete everything." It's "keep exactly what you must, protect it, and delete the rest on schedule."</a:t>
            </a:r>
          </a:p>
          <a:p/>
          <a:p>
            <a:r>
              <a:t>One principle for the whole section. The safest data is the data you never collected. Every control we add downstream, retention, access, encryption, is a mitigation for a value that shouldn't have been there. So the order is: don't capture it; if you must, mask it before it leaves the process; if you must keep it raw, keep it short and keep it locked. Let's start with the code.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Code-along: masking in the SDK and the collector.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Rules. Mask before export, never with a cleanup job, because a cleanup job runs after the leak. Hash what you need for joins, placeholder the rest. Luhn-check cards so you don't blind yourself. The collector is the net, not the plan. And one test in CI that fails on any raw value.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Retention, access and tenant separation.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table, one row per data class. Raw production traces, masked, thirty days. Dev and staging, seven, because nobody debugs last month's dev run. Scores and aggregates carry no PII, just ids and numbers, so thirteen months for year-over-year comparison. Datasets are your tests, so they stay, with a quarterly review. Logs match traces. Prometheus, forty-five days, a thirty-day SLO window plus margin. And the local store on your laptop: synthetic only in offline mode, purged on clean, never committed. Where do you set these? Langfuse has a project-level data retention setting; the exact screen depends on your plan and version, so verify. Prometheus takes a retention flag in the compose file. Logs are your log platform's setting. Write all of them in the checklist, with a date.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Projects. One per environment, with different keys and different retention. Roles, least privilege: two owners, the on-call rotation as admins, the engineers who work on Atlas as members, and stakeholders as viewers. The role names vary by Langfuse version; the shape doesn't. API keys belong to services, not people, so a departure doesn't mean a rotation of every key. And the judge and the dataset job run with a key that can write scores and items, and can't delete a project. The question to ask about every reader is: what's the worst thing this role can do at three in the morning?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Tags or projects for tenants. Three questions. May an engineer supporting one tenant see another's traces? If not, separate projects. Are the tenants different legal entities, or in different jurisdictions? If so, separate projects, possibly separate regions. And do you need cross-tenant dashboards, like the showback? If so, tags, or aggregate outside Langfuse. Northwind is four departments of one company with one support team and a showback report: tags in one project, which is what we've done since Section 4. If Atlas were a product sold to external customers, the answer flips: a project per customer, and the cross-customer numbers live in Prometheus, which has no PII to begin with.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the other destinations. The collector's secrets come from the environment, never the YAML in git. Logs get the same retention as traces, and because masking happened at the source, their wide audience is acceptable. Grafana gets viewer accounts, and the compose admin password is for the lab, not for anything with a public IP. The judge provider: read the data terms, prefer zero-retention endpoints, and remember it only ever sees masked inputs anyway. And laptops: offline mode is synthetic. If someone needs a real-data export to debug something, that's a ticket, with a deletion date on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of this is in the governance checklist in the resources folder. Retention table, project and role map, the tenant decision with the three answers, and every destination with its owner and where the setting lives. Fill it once, date it, review it quarterly. It's the document your security team will ask for. Having it before they ask is the difference between a review and an audit.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Regulatory logging obligations (not legal advice).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far this section has said: collect less, keep it shorter, restrict access. Some regulations say the opposite for specific records: keep a trail, for a minimum period. Both are right, because they're talking about different data. A small, deliberate audit trail with a long retention. And short-lived, masked debugging telemetry. The mistake is treating them as one dataset with one retention setting. Then you either keep everything for years, or delete the thing an auditor asks for.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EU AI Act works in tiers, and the strict record-keeping rules target systems it classifies as high-risk, in an annex of use cases. Employment is on that list: recruitment, promotion, termination, task allocation, monitoring workers. Atlas today answers policy questions, opens tickets and resets passwords. It's probably not making employment decisions. Atlas next year, wired into leave approvals or asked to flag underperformers, might be. Have that conversation with counsel before the feature ships.</a:t>
            </a:r>
          </a:p>
          <a:p/>
          <a:p>
            <a:r>
              <a:t>For high-risk systems, the obligations include automatic logging of events over the system's lifetime, kept for a minimum period the Act sets in months, verify the current number, plus human oversight and documentation. Separately, transparency duties: users should know they're talking to an AI. Atlas says so in its greeting. Keep it that way.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(continued) The EU AI Act works in tiers, and the strict record-keeping rules target systems it classifies as high-risk, in an annex of use cases. Employment is on that list: recruitment, promotion, termination, </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the AI Act. Data protection law: traces are personal data, so lawful basis, minimisation and subject rights apply. An erasure request reaches your tracing backend, and the keyed hash from 10.2 is how you find one person's traces. Sector rules for health and finance. Card data: the six numbers from the replayed day are a PCI problem if stored raw, and a non-event because they were masked before export. Assurance frameworks expect an access log for the telemetry itself. And contracts on both sides set terms. None of this is exotic. It's the rules your production database already lives under, applied to a copy of its data you forgot you were making.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what's the audit trail? Per request: when, the trace id, the hashed user, the tenant, which prompt version and model actually answered, which tools were called, with arguments hashed or summarised, what decisions were taken, guardrail outcomes, and a hash of the final answer. Not the raw prompt. Not the raw tool results. Not the retrieval chunks. Every field is already a span attribute from Sections 3 to 5. A small exporter writes one line per request to an append-only store with long retention and narrow access. It answers "what did the system do, and could a human have intervened" without containing anyone's phone number.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the list of things that go nowhere. Credentials, including the answers to the verification questions in the password reset flow: `reset_password` takes them, checks them, and never puts them on a span. Full card and bank numbers. Special-category data, like health, if the helpdesk ever sees it. Raw injection payloads beyond what security needs. And anything your vendor's agreement says can't go to that vendor. Build this list into the source-level masking from 10.2, and the CI test, so it's enforced rather than remembered.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questions for the meeting, on the slide. Bring the checklist from 10.3 and the retention table. Counsel will change some numbers. That's the point. What you're bringing is the engineering: masked telemetry, a separate audit trail, and a hash that finds one person's data. Those don't change.</a:t>
            </a:r>
          </a:p>
          <a:p/>
          <a:p>
            <a:r>
              <a:t>Last word. This is a map, not the territory. Laws differ, they change, and your use case is yours. Get it checked. But don't wait for the lawyer to start masking. That part is right under every regime I've seen.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(continued) Six questions for the meeting, on the slide. Bring the checklist from 10.3 and the retention table. Counsel will change some numbers. That's the point. What you're bringing is the engineering: masked </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Quiz: Governance.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tip: for any field, ask two questions in order. Do I need to join on it later? If yes, hash. Do I need it at all? If no, don't collect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10 · Lecture 10.1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10 · PRIVACY, SECURITY AND GOVERNANCE OF TELEMETRY</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10.1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Your traces are a data breach waiting to happen</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Telemetry copies the most sensitive data in your system into the least protected place, and you need a threat model for 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10 · Lecture 10.1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a trace contains (1/2)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User input: whatever the employee typed, including what they shouldn't have</a:t>
            </a:r>
          </a:p>
          <a:p>
            <a:pPr marL="292608" indent="-292608">
              <a:lnSpc>
                <a:spcPct val="120000"/>
              </a:lnSpc>
              <a:spcAft>
                <a:spcPts val="1260"/>
              </a:spcAft>
              <a:buClr>
                <a:srgbClr val="00D4AA"/>
              </a:buClr>
              <a:buFont typeface="Inter"/>
              <a:buChar char="•"/>
            </a:pPr>
            <a:r>
              <a:rPr sz="1800" b="0">
                <a:solidFill>
                  <a:srgbClr val="FFFFFF"/>
                </a:solidFill>
                <a:latin typeface="Inter"/>
              </a:rPr>
              <a:t>Tool arguments and results: records from ticketing, HR, shipping, sometimes whole documents</a:t>
            </a:r>
          </a:p>
          <a:p>
            <a:pPr marL="292608" indent="-292608">
              <a:lnSpc>
                <a:spcPct val="120000"/>
              </a:lnSpc>
              <a:spcAft>
                <a:spcPts val="1260"/>
              </a:spcAft>
              <a:buClr>
                <a:srgbClr val="00D4AA"/>
              </a:buClr>
              <a:buFont typeface="Inter"/>
              <a:buChar char="•"/>
            </a:pPr>
            <a:r>
              <a:rPr sz="1800" b="0">
                <a:solidFill>
                  <a:srgbClr val="FFFFFF"/>
                </a:solidFill>
                <a:latin typeface="Inter"/>
              </a:rPr>
              <a:t>The model's output: which may echo any of the above</a:t>
            </a:r>
          </a:p>
          <a:p>
            <a:pPr marL="292608" indent="-292608">
              <a:lnSpc>
                <a:spcPct val="120000"/>
              </a:lnSpc>
              <a:spcAft>
                <a:spcPts val="1260"/>
              </a:spcAft>
              <a:buClr>
                <a:srgbClr val="00D4AA"/>
              </a:buClr>
              <a:buFont typeface="Inter"/>
              <a:buChar char="•"/>
            </a:pPr>
            <a:r>
              <a:rPr sz="1800" b="0">
                <a:solidFill>
                  <a:srgbClr val="FFFFFF"/>
                </a:solidFill>
                <a:latin typeface="Inter"/>
              </a:rPr>
              <a:t>Retrieval context: knowledge-base chunks, sometimes internal-only</a:t>
            </a:r>
          </a:p>
          <a:p>
            <a:pPr marL="292608" indent="-292608">
              <a:lnSpc>
                <a:spcPct val="120000"/>
              </a:lnSpc>
              <a:spcAft>
                <a:spcPts val="1260"/>
              </a:spcAft>
              <a:buClr>
                <a:srgbClr val="00D4AA"/>
              </a:buClr>
              <a:buFont typeface="Inter"/>
              <a:buChar char="•"/>
            </a:pPr>
            <a:r>
              <a:rPr sz="1800" b="0">
                <a:solidFill>
                  <a:srgbClr val="FFFFFF"/>
                </a:solidFill>
                <a:latin typeface="Inter"/>
              </a:rPr>
              <a:t>Judge inputs (Section 8): all of the above, sent to a second model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10 · Lecture 10.1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a trace contains (2/2)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Feedback comments (8.3): free text, and people paste anything</a:t>
            </a:r>
          </a:p>
          <a:p>
            <a:pPr marL="292608" indent="-292608">
              <a:lnSpc>
                <a:spcPct val="120000"/>
              </a:lnSpc>
              <a:spcAft>
                <a:spcPts val="1539"/>
              </a:spcAft>
              <a:buClr>
                <a:srgbClr val="00D4AA"/>
              </a:buClr>
              <a:buFont typeface="Inter"/>
              <a:buChar char="•"/>
            </a:pPr>
            <a:r>
              <a:rPr sz="2200" b="0">
                <a:solidFill>
                  <a:srgbClr val="FFFFFF"/>
                </a:solidFill>
                <a:latin typeface="Inter"/>
              </a:rPr>
              <a:t>Metadata: </a:t>
            </a:r>
            <a:r>
              <a:rPr sz="2024" b="0">
                <a:solidFill>
                  <a:srgbClr val="00D4AA"/>
                </a:solidFill>
                <a:latin typeface="JetBrains Mono"/>
              </a:rPr>
              <a:t>user_id</a:t>
            </a:r>
            <a:r>
              <a:rPr sz="2200" b="0">
                <a:solidFill>
                  <a:srgbClr val="FFFFFF"/>
                </a:solidFill>
                <a:latin typeface="Inter"/>
              </a:rPr>
              <a:t>, </a:t>
            </a:r>
            <a:r>
              <a:rPr sz="2024" b="0">
                <a:solidFill>
                  <a:srgbClr val="00D4AA"/>
                </a:solidFill>
                <a:latin typeface="JetBrains Mono"/>
              </a:rPr>
              <a:t>session_id</a:t>
            </a:r>
            <a:r>
              <a:rPr sz="2200" b="0">
                <a:solidFill>
                  <a:srgbClr val="FFFFFF"/>
                </a:solidFill>
                <a:latin typeface="Inter"/>
              </a:rPr>
              <a:t>, tenant, IPs if you're careless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10 · Lecture 10.1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Where it goes (Atlas as built so far)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8" cy="2688336"/>
        </p:xfrm>
        <a:graphic>
          <a:graphicData uri="http://schemas.openxmlformats.org/drawingml/2006/table">
            <a:tbl>
              <a:tblPr firstRow="1" bandRow="1">
                <a:tableStyleId>{5C22544A-7EE6-4342-B048-85BDC9FD1C3A}</a:tableStyleId>
              </a:tblPr>
              <a:tblGrid>
                <a:gridCol w="3087885"/>
                <a:gridCol w="5293518"/>
                <a:gridCol w="2911435"/>
              </a:tblGrid>
              <a:tr h="384048">
                <a:tc>
                  <a:txBody>
                    <a:bodyPr wrap="square"/>
                    <a:lstStyle/>
                    <a:p>
                      <a:r>
                        <a:rPr sz="1200" b="1">
                          <a:solidFill>
                            <a:srgbClr val="0A1628"/>
                          </a:solidFill>
                          <a:latin typeface="Inter"/>
                        </a:rPr>
                        <a:t>Destination</a:t>
                      </a:r>
                    </a:p>
                  </a:txBody>
                  <a:tcPr marL="91440" marR="91440" marT="45720" marB="45720" anchor="ctr">
                    <a:solidFill>
                      <a:srgbClr val="00D4AA"/>
                    </a:solidFill>
                  </a:tcPr>
                </a:tc>
                <a:tc>
                  <a:txBody>
                    <a:bodyPr wrap="square"/>
                    <a:lstStyle/>
                    <a:p>
                      <a:r>
                        <a:rPr sz="1200" b="1">
                          <a:solidFill>
                            <a:srgbClr val="0A1628"/>
                          </a:solidFill>
                          <a:latin typeface="Inter"/>
                        </a:rPr>
                        <a:t>Who can read it</a:t>
                      </a:r>
                    </a:p>
                  </a:txBody>
                  <a:tcPr marL="91440" marR="91440" marT="45720" marB="45720" anchor="ctr">
                    <a:solidFill>
                      <a:srgbClr val="00D4AA"/>
                    </a:solidFill>
                  </a:tcPr>
                </a:tc>
                <a:tc>
                  <a:txBody>
                    <a:bodyPr wrap="square"/>
                    <a:lstStyle/>
                    <a:p>
                      <a:r>
                        <a:rPr sz="1200" b="1">
                          <a:solidFill>
                            <a:srgbClr val="0A1628"/>
                          </a:solidFill>
                          <a:latin typeface="Inter"/>
                        </a:rPr>
                        <a:t>Default retention</a:t>
                      </a:r>
                    </a:p>
                  </a:txBody>
                  <a:tcPr marL="91440" marR="91440" marT="45720" marB="45720" anchor="ctr">
                    <a:solidFill>
                      <a:srgbClr val="00D4AA"/>
                    </a:solidFill>
                  </a:tcPr>
                </a:tc>
              </a:tr>
              <a:tr h="384048">
                <a:tc>
                  <a:txBody>
                    <a:bodyPr wrap="square"/>
                    <a:lstStyle/>
                    <a:p>
                      <a:r>
                        <a:rPr sz="1200" b="1">
                          <a:solidFill>
                            <a:srgbClr val="FFFFFF"/>
                          </a:solidFill>
                          <a:latin typeface="Inter"/>
                        </a:rPr>
                        <a:t>Langfuse (Cloud or self-hosted)</a:t>
                      </a:r>
                    </a:p>
                  </a:txBody>
                  <a:tcPr marL="91440" marR="91440" marT="45720" marB="45720" anchor="ctr">
                    <a:solidFill>
                      <a:srgbClr val="1A2742"/>
                    </a:solidFill>
                  </a:tcPr>
                </a:tc>
                <a:tc>
                  <a:txBody>
                    <a:bodyPr wrap="square"/>
                    <a:lstStyle/>
                    <a:p>
                      <a:r>
                        <a:rPr sz="1200" b="0">
                          <a:solidFill>
                            <a:srgbClr val="FFFFFF"/>
                          </a:solidFill>
                          <a:latin typeface="Inter"/>
                        </a:rPr>
                        <a:t>every project member</a:t>
                      </a:r>
                    </a:p>
                  </a:txBody>
                  <a:tcPr marL="91440" marR="91440" marT="45720" marB="45720" anchor="ctr">
                    <a:solidFill>
                      <a:srgbClr val="1A2742"/>
                    </a:solidFill>
                  </a:tcPr>
                </a:tc>
                <a:tc>
                  <a:txBody>
                    <a:bodyPr wrap="square"/>
                    <a:lstStyle/>
                    <a:p>
                      <a:r>
                        <a:rPr sz="1200" b="0">
                          <a:solidFill>
                            <a:srgbClr val="FFFFFF"/>
                          </a:solidFill>
                          <a:latin typeface="Inter"/>
                        </a:rPr>
                        <a:t>project setting; verify</a:t>
                      </a:r>
                    </a:p>
                  </a:txBody>
                  <a:tcPr marL="91440" marR="91440" marT="45720" marB="45720" anchor="ctr">
                    <a:solidFill>
                      <a:srgbClr val="1A2742"/>
                    </a:solidFill>
                  </a:tcPr>
                </a:tc>
              </a:tr>
              <a:tr h="384048">
                <a:tc>
                  <a:txBody>
                    <a:bodyPr wrap="square"/>
                    <a:lstStyle/>
                    <a:p>
                      <a:r>
                        <a:rPr sz="1200" b="1">
                          <a:solidFill>
                            <a:srgbClr val="FFFFFF"/>
                          </a:solidFill>
                          <a:latin typeface="Inter"/>
                        </a:rPr>
                        <a:t>OTel Collector → any exporter</a:t>
                      </a:r>
                    </a:p>
                  </a:txBody>
                  <a:tcPr marL="91440" marR="91440" marT="45720" marB="45720" anchor="ctr">
                    <a:solidFill>
                      <a:srgbClr val="0F1E35"/>
                    </a:solidFill>
                  </a:tcPr>
                </a:tc>
                <a:tc>
                  <a:txBody>
                    <a:bodyPr wrap="square"/>
                    <a:lstStyle/>
                    <a:p>
                      <a:r>
                        <a:rPr sz="1200" b="0">
                          <a:solidFill>
                            <a:srgbClr val="FFFFFF"/>
                          </a:solidFill>
                          <a:latin typeface="Inter"/>
                        </a:rPr>
                        <a:t>whoever runs the collector, plus every backend it fans out to</a:t>
                      </a:r>
                    </a:p>
                  </a:txBody>
                  <a:tcPr marL="91440" marR="91440" marT="45720" marB="45720" anchor="ctr">
                    <a:solidFill>
                      <a:srgbClr val="0F1E35"/>
                    </a:solidFill>
                  </a:tcPr>
                </a:tc>
                <a:tc>
                  <a:txBody>
                    <a:bodyPr wrap="square"/>
                    <a:lstStyle/>
                    <a:p>
                      <a:r>
                        <a:rPr sz="1200" b="0">
                          <a:solidFill>
                            <a:srgbClr val="FFFFFF"/>
                          </a:solidFill>
                          <a:latin typeface="Inter"/>
                        </a:rPr>
                        <a:t>per backend</a:t>
                      </a:r>
                    </a:p>
                  </a:txBody>
                  <a:tcPr marL="91440" marR="91440" marT="45720" marB="45720" anchor="ctr">
                    <a:solidFill>
                      <a:srgbClr val="0F1E35"/>
                    </a:solidFill>
                  </a:tcPr>
                </a:tc>
              </a:tr>
              <a:tr h="384048">
                <a:tc>
                  <a:txBody>
                    <a:bodyPr wrap="square"/>
                    <a:lstStyle/>
                    <a:p>
                      <a:r>
                        <a:rPr sz="1200" b="1">
                          <a:solidFill>
                            <a:srgbClr val="FFFFFF"/>
                          </a:solidFill>
                          <a:latin typeface="Inter"/>
                        </a:rPr>
                        <a:t>Local span store (</a:t>
                      </a:r>
                      <a:r>
                        <a:rPr sz="1104" b="0">
                          <a:solidFill>
                            <a:srgbClr val="00D4AA"/>
                          </a:solidFill>
                          <a:latin typeface="JetBrains Mono"/>
                        </a:rPr>
                        <a:t>local_store.py</a:t>
                      </a:r>
                      <a:r>
                        <a:rPr sz="1200" b="1">
                          <a:solidFill>
                            <a:srgbClr val="FFFFFF"/>
                          </a:solidFill>
                          <a:latin typeface="Inter"/>
                        </a:rPr>
                        <a:t>)</a:t>
                      </a:r>
                    </a:p>
                  </a:txBody>
                  <a:tcPr marL="91440" marR="91440" marT="45720" marB="45720" anchor="ctr">
                    <a:solidFill>
                      <a:srgbClr val="1A2742"/>
                    </a:solidFill>
                  </a:tcPr>
                </a:tc>
                <a:tc>
                  <a:txBody>
                    <a:bodyPr wrap="square"/>
                    <a:lstStyle/>
                    <a:p>
                      <a:r>
                        <a:rPr sz="1200" b="0">
                          <a:solidFill>
                            <a:srgbClr val="FFFFFF"/>
                          </a:solidFill>
                          <a:latin typeface="Inter"/>
                        </a:rPr>
                        <a:t>anyone with the laptop</a:t>
                      </a:r>
                    </a:p>
                  </a:txBody>
                  <a:tcPr marL="91440" marR="91440" marT="45720" marB="45720" anchor="ctr">
                    <a:solidFill>
                      <a:srgbClr val="1A2742"/>
                    </a:solidFill>
                  </a:tcPr>
                </a:tc>
                <a:tc>
                  <a:txBody>
                    <a:bodyPr wrap="square"/>
                    <a:lstStyle/>
                    <a:p>
                      <a:r>
                        <a:rPr sz="1200" b="0">
                          <a:solidFill>
                            <a:srgbClr val="FFFFFF"/>
                          </a:solidFill>
                          <a:latin typeface="Inter"/>
                        </a:rPr>
                        <a:t>forever</a:t>
                      </a:r>
                    </a:p>
                  </a:txBody>
                  <a:tcPr marL="91440" marR="91440" marT="45720" marB="45720" anchor="ctr">
                    <a:solidFill>
                      <a:srgbClr val="1A2742"/>
                    </a:solidFill>
                  </a:tcPr>
                </a:tc>
              </a:tr>
              <a:tr h="384048">
                <a:tc>
                  <a:txBody>
                    <a:bodyPr wrap="square"/>
                    <a:lstStyle/>
                    <a:p>
                      <a:r>
                        <a:rPr sz="1200" b="1">
                          <a:solidFill>
                            <a:srgbClr val="FFFFFF"/>
                          </a:solidFill>
                          <a:latin typeface="Inter"/>
                        </a:rPr>
                        <a:t>Structured logs</a:t>
                      </a:r>
                    </a:p>
                  </a:txBody>
                  <a:tcPr marL="91440" marR="91440" marT="45720" marB="45720" anchor="ctr">
                    <a:solidFill>
                      <a:srgbClr val="0F1E35"/>
                    </a:solidFill>
                  </a:tcPr>
                </a:tc>
                <a:tc>
                  <a:txBody>
                    <a:bodyPr wrap="square"/>
                    <a:lstStyle/>
                    <a:p>
                      <a:r>
                        <a:rPr sz="1200" b="0">
                          <a:solidFill>
                            <a:srgbClr val="FFFFFF"/>
                          </a:solidFill>
                          <a:latin typeface="Inter"/>
                        </a:rPr>
                        <a:t>log platform users; often the widest group in the company</a:t>
                      </a:r>
                    </a:p>
                  </a:txBody>
                  <a:tcPr marL="91440" marR="91440" marT="45720" marB="45720" anchor="ctr">
                    <a:solidFill>
                      <a:srgbClr val="0F1E35"/>
                    </a:solidFill>
                  </a:tcPr>
                </a:tc>
                <a:tc>
                  <a:txBody>
                    <a:bodyPr wrap="square"/>
                    <a:lstStyle/>
                    <a:p>
                      <a:r>
                        <a:rPr sz="1200" b="0">
                          <a:solidFill>
                            <a:srgbClr val="FFFFFF"/>
                          </a:solidFill>
                          <a:latin typeface="Inter"/>
                        </a:rPr>
                        <a:t>30 to 90 days, typically</a:t>
                      </a:r>
                    </a:p>
                  </a:txBody>
                  <a:tcPr marL="91440" marR="91440" marT="45720" marB="45720" anchor="ctr">
                    <a:solidFill>
                      <a:srgbClr val="0F1E35"/>
                    </a:solidFill>
                  </a:tcPr>
                </a:tc>
              </a:tr>
              <a:tr h="384048">
                <a:tc>
                  <a:txBody>
                    <a:bodyPr wrap="square"/>
                    <a:lstStyle/>
                    <a:p>
                      <a:r>
                        <a:rPr sz="1200" b="1">
                          <a:solidFill>
                            <a:srgbClr val="FFFFFF"/>
                          </a:solidFill>
                          <a:latin typeface="Inter"/>
                        </a:rPr>
                        <a:t>Judge model provider (8.2)</a:t>
                      </a:r>
                    </a:p>
                  </a:txBody>
                  <a:tcPr marL="91440" marR="91440" marT="45720" marB="45720" anchor="ctr">
                    <a:solidFill>
                      <a:srgbClr val="1A2742"/>
                    </a:solidFill>
                  </a:tcPr>
                </a:tc>
                <a:tc>
                  <a:txBody>
                    <a:bodyPr wrap="square"/>
                    <a:lstStyle/>
                    <a:p>
                      <a:r>
                        <a:rPr sz="1200" b="0">
                          <a:solidFill>
                            <a:srgbClr val="FFFFFF"/>
                          </a:solidFill>
                          <a:latin typeface="Inter"/>
                        </a:rPr>
                        <a:t>the provider, under its data terms</a:t>
                      </a:r>
                    </a:p>
                  </a:txBody>
                  <a:tcPr marL="91440" marR="91440" marT="45720" marB="45720" anchor="ctr">
                    <a:solidFill>
                      <a:srgbClr val="1A2742"/>
                    </a:solidFill>
                  </a:tcPr>
                </a:tc>
                <a:tc>
                  <a:txBody>
                    <a:bodyPr wrap="square"/>
                    <a:lstStyle/>
                    <a:p>
                      <a:r>
                        <a:rPr sz="1200" b="0">
                          <a:solidFill>
                            <a:srgbClr val="FFFFFF"/>
                          </a:solidFill>
                          <a:latin typeface="Inter"/>
                        </a:rPr>
                        <a:t>per the provider's policy; verify</a:t>
                      </a:r>
                    </a:p>
                  </a:txBody>
                  <a:tcPr marL="91440" marR="91440" marT="45720" marB="45720" anchor="ctr">
                    <a:solidFill>
                      <a:srgbClr val="1A2742"/>
                    </a:solidFill>
                  </a:tcPr>
                </a:tc>
              </a:tr>
              <a:tr h="384048">
                <a:tc>
                  <a:txBody>
                    <a:bodyPr wrap="square"/>
                    <a:lstStyle/>
                    <a:p>
                      <a:r>
                        <a:rPr sz="1200" b="1">
                          <a:solidFill>
                            <a:srgbClr val="FFFFFF"/>
                          </a:solidFill>
                          <a:latin typeface="Inter"/>
                        </a:rPr>
                        <a:t>Prometheus</a:t>
                      </a:r>
                    </a:p>
                  </a:txBody>
                  <a:tcPr marL="91440" marR="91440" marT="45720" marB="45720" anchor="ctr">
                    <a:solidFill>
                      <a:srgbClr val="0F1E35"/>
                    </a:solidFill>
                  </a:tcPr>
                </a:tc>
                <a:tc>
                  <a:txBody>
                    <a:bodyPr wrap="square"/>
                    <a:lstStyle/>
                    <a:p>
                      <a:r>
                        <a:rPr sz="1200" b="0">
                          <a:solidFill>
                            <a:srgbClr val="FFFFFF"/>
                          </a:solidFill>
                          <a:latin typeface="Inter"/>
                        </a:rPr>
                        <a:t>dashboard viewers; no PII by design if you followed 5.5</a:t>
                      </a:r>
                    </a:p>
                  </a:txBody>
                  <a:tcPr marL="91440" marR="91440" marT="45720" marB="45720" anchor="ctr">
                    <a:solidFill>
                      <a:srgbClr val="0F1E35"/>
                    </a:solidFill>
                  </a:tcPr>
                </a:tc>
                <a:tc>
                  <a:txBody>
                    <a:bodyPr wrap="square"/>
                    <a:lstStyle/>
                    <a:p>
                      <a:r>
                        <a:rPr sz="1200" b="0">
                          <a:solidFill>
                            <a:srgbClr val="FFFFFF"/>
                          </a:solidFill>
                          <a:latin typeface="Inter"/>
                        </a:rPr>
                        <a:t>45 days in our compose</a:t>
                      </a:r>
                    </a:p>
                  </a:txBody>
                  <a:tcPr marL="91440" marR="91440" marT="45720" marB="45720" anchor="ctr">
                    <a:solidFill>
                      <a:srgbClr val="0F1E35"/>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10 · Lecture 10.1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numbers (one replayed day, synthetic)</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1,240 email addresses, 310 phone numbers, about 10,000 employee IDs, 6 card numbers, 90 addresses</a:t>
            </a:r>
          </a:p>
          <a:p>
            <a:pPr marL="292608" indent="-292608">
              <a:lnSpc>
                <a:spcPct val="120000"/>
              </a:lnSpc>
              <a:spcAft>
                <a:spcPts val="1260"/>
              </a:spcAft>
              <a:buClr>
                <a:srgbClr val="00D4AA"/>
              </a:buClr>
              <a:buFont typeface="Inter"/>
              <a:buChar char="•"/>
            </a:pPr>
            <a:r>
              <a:rPr sz="1800" b="0">
                <a:solidFill>
                  <a:srgbClr val="FFFFFF"/>
                </a:solidFill>
                <a:latin typeface="Inter"/>
              </a:rPr>
              <a:t>62% in tool results, 31% in user input, 7% in Atlas's output</a:t>
            </a:r>
          </a:p>
          <a:p>
            <a:pPr marL="292608" indent="-292608">
              <a:lnSpc>
                <a:spcPct val="120000"/>
              </a:lnSpc>
              <a:spcAft>
                <a:spcPts val="1260"/>
              </a:spcAft>
              <a:buClr>
                <a:srgbClr val="00D4AA"/>
              </a:buClr>
              <a:buFont typeface="Inter"/>
              <a:buChar char="•"/>
            </a:pPr>
            <a:r>
              <a:rPr sz="1800" b="0">
                <a:solidFill>
                  <a:srgbClr val="FFFFFF"/>
                </a:solidFill>
                <a:latin typeface="Inter"/>
              </a:rPr>
              <a:t>Multiply by 30 days of retention and 4 destinations: about 1.5 million PII values at rest</a:t>
            </a:r>
          </a:p>
          <a:p>
            <a:pPr marL="292608" indent="-292608">
              <a:lnSpc>
                <a:spcPct val="120000"/>
              </a:lnSpc>
              <a:spcAft>
                <a:spcPts val="1260"/>
              </a:spcAft>
              <a:buClr>
                <a:srgbClr val="00D4AA"/>
              </a:buClr>
              <a:buFont typeface="Inter"/>
              <a:buChar char="•"/>
            </a:pPr>
            <a:r>
              <a:rPr sz="1800" b="0">
                <a:solidFill>
                  <a:srgbClr val="FFFFFF"/>
                </a:solidFill>
                <a:latin typeface="Inter"/>
              </a:rPr>
              <a:t>Cost of masking all of it: about 0.4 ms per span, zero tokens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10 · Lecture 10.1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Four threats, four lectures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Over-collection: you captured what you didn't need → masking at the SDK and the collector (10.2)</a:t>
            </a:r>
          </a:p>
          <a:p>
            <a:pPr marL="292608" indent="-292608">
              <a:lnSpc>
                <a:spcPct val="120000"/>
              </a:lnSpc>
              <a:spcAft>
                <a:spcPts val="1120"/>
              </a:spcAft>
              <a:buClr>
                <a:srgbClr val="00D4AA"/>
              </a:buClr>
              <a:buFont typeface="Inter"/>
              <a:buChar char="•"/>
            </a:pPr>
            <a:r>
              <a:rPr sz="1600" b="0">
                <a:solidFill>
                  <a:srgbClr val="FFFFFF"/>
                </a:solidFill>
                <a:latin typeface="Inter"/>
              </a:rPr>
              <a:t>Over-retention: you kept it longer than you needed → retention windows (10.3)</a:t>
            </a:r>
          </a:p>
          <a:p>
            <a:pPr marL="292608" indent="-292608">
              <a:lnSpc>
                <a:spcPct val="120000"/>
              </a:lnSpc>
              <a:spcAft>
                <a:spcPts val="1120"/>
              </a:spcAft>
              <a:buClr>
                <a:srgbClr val="00D4AA"/>
              </a:buClr>
              <a:buFont typeface="Inter"/>
              <a:buChar char="•"/>
            </a:pPr>
            <a:r>
              <a:rPr sz="1600" b="0">
                <a:solidFill>
                  <a:srgbClr val="FFFFFF"/>
                </a:solidFill>
                <a:latin typeface="Inter"/>
              </a:rPr>
              <a:t>Over-access: more people can read it than should → projects, roles, tenant separation (10.3)</a:t>
            </a:r>
          </a:p>
          <a:p>
            <a:pPr marL="292608" indent="-292608">
              <a:lnSpc>
                <a:spcPct val="120000"/>
              </a:lnSpc>
              <a:spcAft>
                <a:spcPts val="1120"/>
              </a:spcAft>
              <a:buClr>
                <a:srgbClr val="00D4AA"/>
              </a:buClr>
              <a:buFont typeface="Inter"/>
              <a:buChar char="•"/>
            </a:pPr>
            <a:r>
              <a:rPr sz="1600" b="0">
                <a:solidFill>
                  <a:srgbClr val="FFFFFF"/>
                </a:solidFill>
                <a:latin typeface="Inter"/>
              </a:rPr>
              <a:t>Third-party leakage: vendors and judge models see it → masking before export, data terms, self-hosting (10.2, 10.4)</a:t>
            </a:r>
          </a:p>
          <a:p>
            <a:pPr marL="292608" indent="-292608">
              <a:lnSpc>
                <a:spcPct val="120000"/>
              </a:lnSpc>
              <a:spcAft>
                <a:spcPts val="1120"/>
              </a:spcAft>
              <a:buClr>
                <a:srgbClr val="00D4AA"/>
              </a:buClr>
              <a:buFont typeface="Inter"/>
              <a:buChar char="•"/>
            </a:pPr>
            <a:r>
              <a:rPr sz="1600" b="0">
                <a:solidFill>
                  <a:srgbClr val="FFFFFF"/>
                </a:solidFill>
                <a:latin typeface="Inter"/>
              </a:rPr>
              <a:t>Plus: what the regulations require you to keep, which is not "nothing" (10.4)</a:t>
            </a:r>
          </a:p>
        </p:txBody>
      </p:sp>
      <p:pic>
        <p:nvPicPr>
          <p:cNvPr id="6" name="Picture 5" descr="D10-telemetry-threat-model-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10 · Lecture 10.1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Code-along: masking in the SDK and the collector</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the code-along: masking in the Langfuse SDK, in the OpenTelemetry collector, and at the source in tool…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10 · Lecture 10.2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10 · PRIVACY, SECURITY AND GOVERNANCE OF TELEMETRY</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10.2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Code-along: masking in the SDK and the collector</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Mask PII in three layers, at the source in tool results, in the Langfuse SDK with </a:t>
            </a:r>
            <a:r>
              <a:rPr sz="1472" b="0">
                <a:solidFill>
                  <a:srgbClr val="00D4AA"/>
                </a:solidFill>
                <a:latin typeface="JetBrains Mono"/>
              </a:rPr>
              <a:t>mask=</a:t>
            </a:r>
            <a:r>
              <a:rPr sz="1600" b="0">
                <a:solidFill>
                  <a:srgbClr val="CBD5E1"/>
                </a:solidFill>
                <a:latin typeface="Inter"/>
              </a:rPr>
              <a:t>, and in the collector for…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10 · Lecture 10.2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Masking rules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Mask before export, never after: the SDK hook and the source summary, not a cleanup job</a:t>
            </a:r>
          </a:p>
          <a:p>
            <a:pPr marL="292608" indent="-292608">
              <a:lnSpc>
                <a:spcPct val="120000"/>
              </a:lnSpc>
              <a:spcAft>
                <a:spcPts val="1120"/>
              </a:spcAft>
              <a:buClr>
                <a:srgbClr val="00D4AA"/>
              </a:buClr>
              <a:buFont typeface="Inter"/>
              <a:buChar char="•"/>
            </a:pPr>
            <a:r>
              <a:rPr sz="1600" b="0">
                <a:solidFill>
                  <a:srgbClr val="FFFFFF"/>
                </a:solidFill>
                <a:latin typeface="Inter"/>
              </a:rPr>
              <a:t>Hash identifiers you need for joins; placeholder everything else</a:t>
            </a:r>
          </a:p>
          <a:p>
            <a:pPr marL="292608" indent="-292608">
              <a:lnSpc>
                <a:spcPct val="120000"/>
              </a:lnSpc>
              <a:spcAft>
                <a:spcPts val="1120"/>
              </a:spcAft>
              <a:buClr>
                <a:srgbClr val="00D4AA"/>
              </a:buClr>
              <a:buFont typeface="Inter"/>
              <a:buChar char="•"/>
            </a:pPr>
            <a:r>
              <a:rPr sz="1600" b="0">
                <a:solidFill>
                  <a:srgbClr val="FFFFFF"/>
                </a:solidFill>
                <a:latin typeface="Inter"/>
              </a:rPr>
              <a:t>Luhn-check card candidates; don't mask ticket numbers into uselessness</a:t>
            </a:r>
          </a:p>
          <a:p>
            <a:pPr marL="292608" indent="-292608">
              <a:lnSpc>
                <a:spcPct val="120000"/>
              </a:lnSpc>
              <a:spcAft>
                <a:spcPts val="1120"/>
              </a:spcAft>
              <a:buClr>
                <a:srgbClr val="00D4AA"/>
              </a:buClr>
              <a:buFont typeface="Inter"/>
              <a:buChar char="•"/>
            </a:pPr>
            <a:r>
              <a:rPr sz="1600" b="0">
                <a:solidFill>
                  <a:srgbClr val="FFFFFF"/>
                </a:solidFill>
                <a:latin typeface="Inter"/>
              </a:rPr>
              <a:t>Collector processors are the safety net, not the plan</a:t>
            </a:r>
          </a:p>
          <a:p>
            <a:pPr marL="292608" indent="-292608">
              <a:lnSpc>
                <a:spcPct val="120000"/>
              </a:lnSpc>
              <a:spcAft>
                <a:spcPts val="1120"/>
              </a:spcAft>
              <a:buClr>
                <a:srgbClr val="00D4AA"/>
              </a:buClr>
              <a:buFont typeface="Inter"/>
              <a:buChar char="•"/>
            </a:pPr>
            <a:r>
              <a:rPr sz="1600" b="0">
                <a:solidFill>
                  <a:srgbClr val="FFFFFF"/>
                </a:solidFill>
                <a:latin typeface="Inter"/>
              </a:rPr>
              <a:t>One test, in CI, that fails on any raw value</a:t>
            </a:r>
          </a:p>
        </p:txBody>
      </p:sp>
      <p:pic>
        <p:nvPicPr>
          <p:cNvPr id="6" name="Picture 5" descr="D10-telemetry-threat-model-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10 · Lecture 10.2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Retention, access and tenant separation</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Masking limits what gets 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10 · Lecture 10.3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10 · PRIVACY, SECURITY AND GOVERNANCE OF TELEMETRY</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10.3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Retention, access and tenant separation</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Set a retention window per data class, one project per environment with roles, and decide tenant tags versus separate projects by who…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10 · Lecture 10.3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Retention by data class (Atlas policy)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3456432"/>
        </p:xfrm>
        <a:graphic>
          <a:graphicData uri="http://schemas.openxmlformats.org/drawingml/2006/table">
            <a:tbl>
              <a:tblPr firstRow="1" bandRow="1">
                <a:tableStyleId>{5C22544A-7EE6-4342-B048-85BDC9FD1C3A}</a:tableStyleId>
              </a:tblPr>
              <a:tblGrid>
                <a:gridCol w="2331425"/>
                <a:gridCol w="2768567"/>
                <a:gridCol w="2549996"/>
                <a:gridCol w="3642851"/>
              </a:tblGrid>
              <a:tr h="384048">
                <a:tc>
                  <a:txBody>
                    <a:bodyPr wrap="square"/>
                    <a:lstStyle/>
                    <a:p>
                      <a:r>
                        <a:rPr sz="1100" b="1">
                          <a:solidFill>
                            <a:srgbClr val="0A1628"/>
                          </a:solidFill>
                          <a:latin typeface="Inter"/>
                        </a:rPr>
                        <a:t>Data class</a:t>
                      </a:r>
                    </a:p>
                  </a:txBody>
                  <a:tcPr marL="91440" marR="91440" marT="45720" marB="45720" anchor="ctr">
                    <a:solidFill>
                      <a:srgbClr val="00D4AA"/>
                    </a:solidFill>
                  </a:tcPr>
                </a:tc>
                <a:tc>
                  <a:txBody>
                    <a:bodyPr wrap="square"/>
                    <a:lstStyle/>
                    <a:p>
                      <a:r>
                        <a:rPr sz="1100" b="1">
                          <a:solidFill>
                            <a:srgbClr val="0A1628"/>
                          </a:solidFill>
                          <a:latin typeface="Inter"/>
                        </a:rPr>
                        <a:t>Contains PII?</a:t>
                      </a:r>
                    </a:p>
                  </a:txBody>
                  <a:tcPr marL="91440" marR="91440" marT="45720" marB="45720" anchor="ctr">
                    <a:solidFill>
                      <a:srgbClr val="00D4AA"/>
                    </a:solidFill>
                  </a:tcPr>
                </a:tc>
                <a:tc>
                  <a:txBody>
                    <a:bodyPr wrap="square"/>
                    <a:lstStyle/>
                    <a:p>
                      <a:r>
                        <a:rPr sz="1100" b="1">
                          <a:solidFill>
                            <a:srgbClr val="0A1628"/>
                          </a:solidFill>
                          <a:latin typeface="Inter"/>
                        </a:rPr>
                        <a:t>Retention</a:t>
                      </a:r>
                    </a:p>
                  </a:txBody>
                  <a:tcPr marL="91440" marR="91440" marT="45720" marB="45720" anchor="ctr">
                    <a:solidFill>
                      <a:srgbClr val="00D4AA"/>
                    </a:solidFill>
                  </a:tcPr>
                </a:tc>
                <a:tc>
                  <a:txBody>
                    <a:bodyPr wrap="square"/>
                    <a:lstStyle/>
                    <a:p>
                      <a:r>
                        <a:rPr sz="1100" b="1">
                          <a:solidFill>
                            <a:srgbClr val="0A1628"/>
                          </a:solidFill>
                          <a:latin typeface="Inter"/>
                        </a:rPr>
                        <a:t>Why</a:t>
                      </a:r>
                    </a:p>
                  </a:txBody>
                  <a:tcPr marL="91440" marR="91440" marT="45720" marB="45720" anchor="ctr">
                    <a:solidFill>
                      <a:srgbClr val="00D4AA"/>
                    </a:solidFill>
                  </a:tcPr>
                </a:tc>
              </a:tr>
              <a:tr h="384048">
                <a:tc>
                  <a:txBody>
                    <a:bodyPr wrap="square"/>
                    <a:lstStyle/>
                    <a:p>
                      <a:r>
                        <a:rPr sz="1100" b="1">
                          <a:solidFill>
                            <a:srgbClr val="FFFFFF"/>
                          </a:solidFill>
                          <a:latin typeface="Inter"/>
                        </a:rPr>
                        <a:t>Raw traces, prod</a:t>
                      </a:r>
                    </a:p>
                  </a:txBody>
                  <a:tcPr marL="91440" marR="91440" marT="45720" marB="45720" anchor="ctr">
                    <a:solidFill>
                      <a:srgbClr val="1A2742"/>
                    </a:solidFill>
                  </a:tcPr>
                </a:tc>
                <a:tc>
                  <a:txBody>
                    <a:bodyPr wrap="square"/>
                    <a:lstStyle/>
                    <a:p>
                      <a:r>
                        <a:rPr sz="1100" b="0">
                          <a:solidFill>
                            <a:srgbClr val="FFFFFF"/>
                          </a:solidFill>
                          <a:latin typeface="Inter"/>
                        </a:rPr>
                        <a:t>masked, hashed ids</a:t>
                      </a:r>
                    </a:p>
                  </a:txBody>
                  <a:tcPr marL="91440" marR="91440" marT="45720" marB="45720" anchor="ctr">
                    <a:solidFill>
                      <a:srgbClr val="1A2742"/>
                    </a:solidFill>
                  </a:tcPr>
                </a:tc>
                <a:tc>
                  <a:txBody>
                    <a:bodyPr wrap="square"/>
                    <a:lstStyle/>
                    <a:p>
                      <a:r>
                        <a:rPr sz="1100" b="0">
                          <a:solidFill>
                            <a:srgbClr val="FFFFFF"/>
                          </a:solidFill>
                          <a:latin typeface="Inter"/>
                        </a:rPr>
                        <a:t>30 days</a:t>
                      </a:r>
                    </a:p>
                  </a:txBody>
                  <a:tcPr marL="91440" marR="91440" marT="45720" marB="45720" anchor="ctr">
                    <a:solidFill>
                      <a:srgbClr val="1A2742"/>
                    </a:solidFill>
                  </a:tcPr>
                </a:tc>
                <a:tc>
                  <a:txBody>
                    <a:bodyPr wrap="square"/>
                    <a:lstStyle/>
                    <a:p>
                      <a:r>
                        <a:rPr sz="1100" b="0">
                          <a:solidFill>
                            <a:srgbClr val="FFFFFF"/>
                          </a:solidFill>
                          <a:latin typeface="Inter"/>
                        </a:rPr>
                        <a:t>incidents and drift need 2 weeks; 30 is the margin</a:t>
                      </a:r>
                    </a:p>
                  </a:txBody>
                  <a:tcPr marL="91440" marR="91440" marT="45720" marB="45720" anchor="ctr">
                    <a:solidFill>
                      <a:srgbClr val="1A2742"/>
                    </a:solidFill>
                  </a:tcPr>
                </a:tc>
              </a:tr>
              <a:tr h="384048">
                <a:tc>
                  <a:txBody>
                    <a:bodyPr wrap="square"/>
                    <a:lstStyle/>
                    <a:p>
                      <a:r>
                        <a:rPr sz="1100" b="1">
                          <a:solidFill>
                            <a:srgbClr val="FFFFFF"/>
                          </a:solidFill>
                          <a:latin typeface="Inter"/>
                        </a:rPr>
                        <a:t>Raw traces, dev and staging</a:t>
                      </a:r>
                    </a:p>
                  </a:txBody>
                  <a:tcPr marL="91440" marR="91440" marT="45720" marB="45720" anchor="ctr">
                    <a:solidFill>
                      <a:srgbClr val="0F1E35"/>
                    </a:solidFill>
                  </a:tcPr>
                </a:tc>
                <a:tc>
                  <a:txBody>
                    <a:bodyPr wrap="square"/>
                    <a:lstStyle/>
                    <a:p>
                      <a:r>
                        <a:rPr sz="1100" b="0">
                          <a:solidFill>
                            <a:srgbClr val="FFFFFF"/>
                          </a:solidFill>
                          <a:latin typeface="Inter"/>
                        </a:rPr>
                        <a:t>synthetic only</a:t>
                      </a:r>
                    </a:p>
                  </a:txBody>
                  <a:tcPr marL="91440" marR="91440" marT="45720" marB="45720" anchor="ctr">
                    <a:solidFill>
                      <a:srgbClr val="0F1E35"/>
                    </a:solidFill>
                  </a:tcPr>
                </a:tc>
                <a:tc>
                  <a:txBody>
                    <a:bodyPr wrap="square"/>
                    <a:lstStyle/>
                    <a:p>
                      <a:r>
                        <a:rPr sz="1100" b="0">
                          <a:solidFill>
                            <a:srgbClr val="FFFFFF"/>
                          </a:solidFill>
                          <a:latin typeface="Inter"/>
                        </a:rPr>
                        <a:t>7 days</a:t>
                      </a:r>
                    </a:p>
                  </a:txBody>
                  <a:tcPr marL="91440" marR="91440" marT="45720" marB="45720" anchor="ctr">
                    <a:solidFill>
                      <a:srgbClr val="0F1E35"/>
                    </a:solidFill>
                  </a:tcPr>
                </a:tc>
                <a:tc>
                  <a:txBody>
                    <a:bodyPr wrap="square"/>
                    <a:lstStyle/>
                    <a:p>
                      <a:r>
                        <a:rPr sz="1100" b="0">
                          <a:solidFill>
                            <a:srgbClr val="FFFFFF"/>
                          </a:solidFill>
                          <a:latin typeface="Inter"/>
                        </a:rPr>
                        <a:t>nobody debugs last month's dev run</a:t>
                      </a:r>
                    </a:p>
                  </a:txBody>
                  <a:tcPr marL="91440" marR="91440" marT="45720" marB="45720" anchor="ctr">
                    <a:solidFill>
                      <a:srgbClr val="0F1E35"/>
                    </a:solidFill>
                  </a:tcPr>
                </a:tc>
              </a:tr>
              <a:tr h="384048">
                <a:tc>
                  <a:txBody>
                    <a:bodyPr wrap="square"/>
                    <a:lstStyle/>
                    <a:p>
                      <a:r>
                        <a:rPr sz="1100" b="1">
                          <a:solidFill>
                            <a:srgbClr val="FFFFFF"/>
                          </a:solidFill>
                          <a:latin typeface="Inter"/>
                        </a:rPr>
                        <a:t>Scores (judge, feedback)</a:t>
                      </a:r>
                    </a:p>
                  </a:txBody>
                  <a:tcPr marL="91440" marR="91440" marT="45720" marB="45720" anchor="ctr">
                    <a:solidFill>
                      <a:srgbClr val="1A2742"/>
                    </a:solidFill>
                  </a:tcPr>
                </a:tc>
                <a:tc>
                  <a:txBody>
                    <a:bodyPr wrap="square"/>
                    <a:lstStyle/>
                    <a:p>
                      <a:r>
                        <a:rPr sz="1100" b="0">
                          <a:solidFill>
                            <a:srgbClr val="FFFFFF"/>
                          </a:solidFill>
                          <a:latin typeface="Inter"/>
                        </a:rPr>
                        <a:t>no (trace id and value)</a:t>
                      </a:r>
                    </a:p>
                  </a:txBody>
                  <a:tcPr marL="91440" marR="91440" marT="45720" marB="45720" anchor="ctr">
                    <a:solidFill>
                      <a:srgbClr val="1A2742"/>
                    </a:solidFill>
                  </a:tcPr>
                </a:tc>
                <a:tc>
                  <a:txBody>
                    <a:bodyPr wrap="square"/>
                    <a:lstStyle/>
                    <a:p>
                      <a:r>
                        <a:rPr sz="1100" b="0">
                          <a:solidFill>
                            <a:srgbClr val="FFFFFF"/>
                          </a:solidFill>
                          <a:latin typeface="Inter"/>
                        </a:rPr>
                        <a:t>13 months</a:t>
                      </a:r>
                    </a:p>
                  </a:txBody>
                  <a:tcPr marL="91440" marR="91440" marT="45720" marB="45720" anchor="ctr">
                    <a:solidFill>
                      <a:srgbClr val="1A2742"/>
                    </a:solidFill>
                  </a:tcPr>
                </a:tc>
                <a:tc>
                  <a:txBody>
                    <a:bodyPr wrap="square"/>
                    <a:lstStyle/>
                    <a:p>
                      <a:r>
                        <a:rPr sz="1100" b="0">
                          <a:solidFill>
                            <a:srgbClr val="FFFFFF"/>
                          </a:solidFill>
                          <a:latin typeface="Inter"/>
                        </a:rPr>
                        <a:t>year-over-year drift</a:t>
                      </a:r>
                    </a:p>
                  </a:txBody>
                  <a:tcPr marL="91440" marR="91440" marT="45720" marB="45720" anchor="ctr">
                    <a:solidFill>
                      <a:srgbClr val="1A2742"/>
                    </a:solidFill>
                  </a:tcPr>
                </a:tc>
              </a:tr>
              <a:tr h="384048">
                <a:tc>
                  <a:txBody>
                    <a:bodyPr wrap="square"/>
                    <a:lstStyle/>
                    <a:p>
                      <a:r>
                        <a:rPr sz="1100" b="1">
                          <a:solidFill>
                            <a:srgbClr val="FFFFFF"/>
                          </a:solidFill>
                          <a:latin typeface="Inter"/>
                        </a:rPr>
                        <a:t>Aggregates (cost, latency, SLIs)</a:t>
                      </a:r>
                    </a:p>
                  </a:txBody>
                  <a:tcPr marL="91440" marR="91440" marT="45720" marB="45720" anchor="ctr">
                    <a:solidFill>
                      <a:srgbClr val="0F1E35"/>
                    </a:solidFill>
                  </a:tcPr>
                </a:tc>
                <a:tc>
                  <a:txBody>
                    <a:bodyPr wrap="square"/>
                    <a:lstStyle/>
                    <a:p>
                      <a:r>
                        <a:rPr sz="1100" b="0">
                          <a:solidFill>
                            <a:srgbClr val="FFFFFF"/>
                          </a:solidFill>
                          <a:latin typeface="Inter"/>
                        </a:rPr>
                        <a:t>no</a:t>
                      </a:r>
                    </a:p>
                  </a:txBody>
                  <a:tcPr marL="91440" marR="91440" marT="45720" marB="45720" anchor="ctr">
                    <a:solidFill>
                      <a:srgbClr val="0F1E35"/>
                    </a:solidFill>
                  </a:tcPr>
                </a:tc>
                <a:tc>
                  <a:txBody>
                    <a:bodyPr wrap="square"/>
                    <a:lstStyle/>
                    <a:p>
                      <a:r>
                        <a:rPr sz="1100" b="0">
                          <a:solidFill>
                            <a:srgbClr val="FFFFFF"/>
                          </a:solidFill>
                          <a:latin typeface="Inter"/>
                        </a:rPr>
                        <a:t>13 months+</a:t>
                      </a:r>
                    </a:p>
                  </a:txBody>
                  <a:tcPr marL="91440" marR="91440" marT="45720" marB="45720" anchor="ctr">
                    <a:solidFill>
                      <a:srgbClr val="0F1E35"/>
                    </a:solidFill>
                  </a:tcPr>
                </a:tc>
                <a:tc>
                  <a:txBody>
                    <a:bodyPr wrap="square"/>
                    <a:lstStyle/>
                    <a:p>
                      <a:r>
                        <a:rPr sz="1100" b="0">
                          <a:solidFill>
                            <a:srgbClr val="FFFFFF"/>
                          </a:solidFill>
                          <a:latin typeface="Inter"/>
                        </a:rPr>
                        <a:t>showback history; finance wants trend</a:t>
                      </a:r>
                    </a:p>
                  </a:txBody>
                  <a:tcPr marL="91440" marR="91440" marT="45720" marB="45720" anchor="ctr">
                    <a:solidFill>
                      <a:srgbClr val="0F1E35"/>
                    </a:solidFill>
                  </a:tcPr>
                </a:tc>
              </a:tr>
              <a:tr h="384048">
                <a:tc>
                  <a:txBody>
                    <a:bodyPr wrap="square"/>
                    <a:lstStyle/>
                    <a:p>
                      <a:r>
                        <a:rPr sz="1100" b="1">
                          <a:solidFill>
                            <a:srgbClr val="FFFFFF"/>
                          </a:solidFill>
                          <a:latin typeface="Inter"/>
                        </a:rPr>
                        <a:t>Datasets (</a:t>
                      </a:r>
                      <a:r>
                        <a:rPr sz="1012" b="0">
                          <a:solidFill>
                            <a:srgbClr val="00D4AA"/>
                          </a:solidFill>
                          <a:latin typeface="JetBrains Mono"/>
                        </a:rPr>
                        <a:t>atlas-failures</a:t>
                      </a:r>
                      <a:r>
                        <a:rPr sz="1100" b="1">
                          <a:solidFill>
                            <a:srgbClr val="FFFFFF"/>
                          </a:solidFill>
                          <a:latin typeface="Inter"/>
                        </a:rPr>
                        <a:t>)</a:t>
                      </a:r>
                    </a:p>
                  </a:txBody>
                  <a:tcPr marL="91440" marR="91440" marT="45720" marB="45720" anchor="ctr">
                    <a:solidFill>
                      <a:srgbClr val="1A2742"/>
                    </a:solidFill>
                  </a:tcPr>
                </a:tc>
                <a:tc>
                  <a:txBody>
                    <a:bodyPr wrap="square"/>
                    <a:lstStyle/>
                    <a:p>
                      <a:r>
                        <a:rPr sz="1100" b="0">
                          <a:solidFill>
                            <a:srgbClr val="FFFFFF"/>
                          </a:solidFill>
                          <a:latin typeface="Inter"/>
                        </a:rPr>
                        <a:t>masked inputs</a:t>
                      </a:r>
                    </a:p>
                  </a:txBody>
                  <a:tcPr marL="91440" marR="91440" marT="45720" marB="45720" anchor="ctr">
                    <a:solidFill>
                      <a:srgbClr val="1A2742"/>
                    </a:solidFill>
                  </a:tcPr>
                </a:tc>
                <a:tc>
                  <a:txBody>
                    <a:bodyPr wrap="square"/>
                    <a:lstStyle/>
                    <a:p>
                      <a:r>
                        <a:rPr sz="1100" b="0">
                          <a:solidFill>
                            <a:srgbClr val="FFFFFF"/>
                          </a:solidFill>
                          <a:latin typeface="Inter"/>
                        </a:rPr>
                        <a:t>indefinite, reviewed quarterly</a:t>
                      </a:r>
                    </a:p>
                  </a:txBody>
                  <a:tcPr marL="91440" marR="91440" marT="45720" marB="45720" anchor="ctr">
                    <a:solidFill>
                      <a:srgbClr val="1A2742"/>
                    </a:solidFill>
                  </a:tcPr>
                </a:tc>
                <a:tc>
                  <a:txBody>
                    <a:bodyPr wrap="square"/>
                    <a:lstStyle/>
                    <a:p>
                      <a:r>
                        <a:rPr sz="1100" b="0">
                          <a:solidFill>
                            <a:srgbClr val="FFFFFF"/>
                          </a:solidFill>
                          <a:latin typeface="Inter"/>
                        </a:rPr>
                        <a:t>they are your tests</a:t>
                      </a:r>
                    </a:p>
                  </a:txBody>
                  <a:tcPr marL="91440" marR="91440" marT="45720" marB="45720" anchor="ctr">
                    <a:solidFill>
                      <a:srgbClr val="1A2742"/>
                    </a:solidFill>
                  </a:tcPr>
                </a:tc>
              </a:tr>
              <a:tr h="384048">
                <a:tc>
                  <a:txBody>
                    <a:bodyPr wrap="square"/>
                    <a:lstStyle/>
                    <a:p>
                      <a:r>
                        <a:rPr sz="1100" b="1">
                          <a:solidFill>
                            <a:srgbClr val="FFFFFF"/>
                          </a:solidFill>
                          <a:latin typeface="Inter"/>
                        </a:rPr>
                        <a:t>Structured logs</a:t>
                      </a:r>
                    </a:p>
                  </a:txBody>
                  <a:tcPr marL="91440" marR="91440" marT="45720" marB="45720" anchor="ctr">
                    <a:solidFill>
                      <a:srgbClr val="0F1E35"/>
                    </a:solidFill>
                  </a:tcPr>
                </a:tc>
                <a:tc>
                  <a:txBody>
                    <a:bodyPr wrap="square"/>
                    <a:lstStyle/>
                    <a:p>
                      <a:r>
                        <a:rPr sz="1100" b="0">
                          <a:solidFill>
                            <a:srgbClr val="FFFFFF"/>
                          </a:solidFill>
                          <a:latin typeface="Inter"/>
                        </a:rPr>
                        <a:t>masked, trace id</a:t>
                      </a:r>
                    </a:p>
                  </a:txBody>
                  <a:tcPr marL="91440" marR="91440" marT="45720" marB="45720" anchor="ctr">
                    <a:solidFill>
                      <a:srgbClr val="0F1E35"/>
                    </a:solidFill>
                  </a:tcPr>
                </a:tc>
                <a:tc>
                  <a:txBody>
                    <a:bodyPr wrap="square"/>
                    <a:lstStyle/>
                    <a:p>
                      <a:r>
                        <a:rPr sz="1100" b="0">
                          <a:solidFill>
                            <a:srgbClr val="FFFFFF"/>
                          </a:solidFill>
                          <a:latin typeface="Inter"/>
                        </a:rPr>
                        <a:t>30 days</a:t>
                      </a:r>
                    </a:p>
                  </a:txBody>
                  <a:tcPr marL="91440" marR="91440" marT="45720" marB="45720" anchor="ctr">
                    <a:solidFill>
                      <a:srgbClr val="0F1E35"/>
                    </a:solidFill>
                  </a:tcPr>
                </a:tc>
                <a:tc>
                  <a:txBody>
                    <a:bodyPr wrap="square"/>
                    <a:lstStyle/>
                    <a:p>
                      <a:r>
                        <a:rPr sz="1100" b="0">
                          <a:solidFill>
                            <a:srgbClr val="FFFFFF"/>
                          </a:solidFill>
                          <a:latin typeface="Inter"/>
                        </a:rPr>
                        <a:t>same as traces</a:t>
                      </a:r>
                    </a:p>
                  </a:txBody>
                  <a:tcPr marL="91440" marR="91440" marT="45720" marB="45720" anchor="ctr">
                    <a:solidFill>
                      <a:srgbClr val="0F1E35"/>
                    </a:solidFill>
                  </a:tcPr>
                </a:tc>
              </a:tr>
              <a:tr h="384048">
                <a:tc>
                  <a:txBody>
                    <a:bodyPr wrap="square"/>
                    <a:lstStyle/>
                    <a:p>
                      <a:r>
                        <a:rPr sz="1100" b="1">
                          <a:solidFill>
                            <a:srgbClr val="FFFFFF"/>
                          </a:solidFill>
                          <a:latin typeface="Inter"/>
                        </a:rPr>
                        <a:t>Prometheus</a:t>
                      </a:r>
                    </a:p>
                  </a:txBody>
                  <a:tcPr marL="91440" marR="91440" marT="45720" marB="45720" anchor="ctr">
                    <a:solidFill>
                      <a:srgbClr val="1A2742"/>
                    </a:solidFill>
                  </a:tcPr>
                </a:tc>
                <a:tc>
                  <a:txBody>
                    <a:bodyPr wrap="square"/>
                    <a:lstStyle/>
                    <a:p>
                      <a:r>
                        <a:rPr sz="1100" b="0">
                          <a:solidFill>
                            <a:srgbClr val="FFFFFF"/>
                          </a:solidFill>
                          <a:latin typeface="Inter"/>
                        </a:rPr>
                        <a:t>no PII by design</a:t>
                      </a:r>
                    </a:p>
                  </a:txBody>
                  <a:tcPr marL="91440" marR="91440" marT="45720" marB="45720" anchor="ctr">
                    <a:solidFill>
                      <a:srgbClr val="1A2742"/>
                    </a:solidFill>
                  </a:tcPr>
                </a:tc>
                <a:tc>
                  <a:txBody>
                    <a:bodyPr wrap="square"/>
                    <a:lstStyle/>
                    <a:p>
                      <a:r>
                        <a:rPr sz="1100" b="0">
                          <a:solidFill>
                            <a:srgbClr val="FFFFFF"/>
                          </a:solidFill>
                          <a:latin typeface="Inter"/>
                        </a:rPr>
                        <a:t>45 days</a:t>
                      </a:r>
                    </a:p>
                  </a:txBody>
                  <a:tcPr marL="91440" marR="91440" marT="45720" marB="45720" anchor="ctr">
                    <a:solidFill>
                      <a:srgbClr val="1A2742"/>
                    </a:solidFill>
                  </a:tcPr>
                </a:tc>
                <a:tc>
                  <a:txBody>
                    <a:bodyPr wrap="square"/>
                    <a:lstStyle/>
                    <a:p>
                      <a:r>
                        <a:rPr sz="1100" b="0">
                          <a:solidFill>
                            <a:srgbClr val="FFFFFF"/>
                          </a:solidFill>
                          <a:latin typeface="Inter"/>
                        </a:rPr>
                        <a:t>30-day SLO window plus margin</a:t>
                      </a:r>
                    </a:p>
                  </a:txBody>
                  <a:tcPr marL="91440" marR="91440" marT="45720" marB="45720" anchor="ctr">
                    <a:solidFill>
                      <a:srgbClr val="1A2742"/>
                    </a:solidFill>
                  </a:tcPr>
                </a:tc>
              </a:tr>
              <a:tr h="384048">
                <a:tc>
                  <a:txBody>
                    <a:bodyPr wrap="square"/>
                    <a:lstStyle/>
                    <a:p>
                      <a:r>
                        <a:rPr sz="1100" b="1">
                          <a:solidFill>
                            <a:srgbClr val="FFFFFF"/>
                          </a:solidFill>
                          <a:latin typeface="Inter"/>
                        </a:rPr>
                        <a:t>Local span store (laptops)</a:t>
                      </a:r>
                    </a:p>
                  </a:txBody>
                  <a:tcPr marL="91440" marR="91440" marT="45720" marB="45720" anchor="ctr">
                    <a:solidFill>
                      <a:srgbClr val="0F1E35"/>
                    </a:solidFill>
                  </a:tcPr>
                </a:tc>
                <a:tc>
                  <a:txBody>
                    <a:bodyPr wrap="square"/>
                    <a:lstStyle/>
                    <a:p>
                      <a:r>
                        <a:rPr sz="1100" b="0">
                          <a:solidFill>
                            <a:srgbClr val="FFFFFF"/>
                          </a:solidFill>
                          <a:latin typeface="Inter"/>
                        </a:rPr>
                        <a:t>synthetic only in OFFLINE; else masked</a:t>
                      </a:r>
                    </a:p>
                  </a:txBody>
                  <a:tcPr marL="91440" marR="91440" marT="45720" marB="45720" anchor="ctr">
                    <a:solidFill>
                      <a:srgbClr val="0F1E35"/>
                    </a:solidFill>
                  </a:tcPr>
                </a:tc>
                <a:tc>
                  <a:txBody>
                    <a:bodyPr wrap="square"/>
                    <a:lstStyle/>
                    <a:p>
                      <a:r>
                        <a:rPr sz="1100" b="0">
                          <a:solidFill>
                            <a:srgbClr val="FFFFFF"/>
                          </a:solidFill>
                          <a:latin typeface="Inter"/>
                        </a:rPr>
                        <a:t>purge on </a:t>
                      </a:r>
                      <a:r>
                        <a:rPr sz="1012" b="0">
                          <a:solidFill>
                            <a:srgbClr val="00D4AA"/>
                          </a:solidFill>
                          <a:latin typeface="JetBrains Mono"/>
                        </a:rPr>
                        <a:t>make clean</a:t>
                      </a:r>
                      <a:r>
                        <a:rPr sz="1100" b="0">
                          <a:solidFill>
                            <a:srgbClr val="FFFFFF"/>
                          </a:solidFill>
                          <a:latin typeface="Inter"/>
                        </a:rPr>
                        <a:t>; never commit</a:t>
                      </a:r>
                    </a:p>
                  </a:txBody>
                  <a:tcPr marL="91440" marR="91440" marT="45720" marB="45720" anchor="ctr">
                    <a:solidFill>
                      <a:srgbClr val="0F1E35"/>
                    </a:solidFill>
                  </a:tcPr>
                </a:tc>
                <a:tc>
                  <a:txBody>
                    <a:bodyPr wrap="square"/>
                    <a:lstStyle/>
                    <a:p>
                      <a:r>
                        <a:rPr sz="1100" b="0">
                          <a:solidFill>
                            <a:srgbClr val="FFFFFF"/>
                          </a:solidFill>
                          <a:latin typeface="Inter"/>
                        </a:rPr>
                        <a:t>it's a laptop</a:t>
                      </a:r>
                    </a:p>
                  </a:txBody>
                  <a:tcPr marL="91440" marR="91440" marT="45720" marB="45720" anchor="ctr">
                    <a:solidFill>
                      <a:srgbClr val="0F1E35"/>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10 · Lecture 10.3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Projects and roles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One Langfuse project per environment: </a:t>
            </a:r>
            <a:r>
              <a:rPr sz="1656" b="0">
                <a:solidFill>
                  <a:srgbClr val="00D4AA"/>
                </a:solidFill>
                <a:latin typeface="JetBrains Mono"/>
              </a:rPr>
              <a:t>atlas-dev</a:t>
            </a:r>
            <a:r>
              <a:rPr sz="1800" b="0">
                <a:solidFill>
                  <a:srgbClr val="FFFFFF"/>
                </a:solidFill>
                <a:latin typeface="Inter"/>
              </a:rPr>
              <a:t>, </a:t>
            </a:r>
            <a:r>
              <a:rPr sz="1656" b="0">
                <a:solidFill>
                  <a:srgbClr val="00D4AA"/>
                </a:solidFill>
                <a:latin typeface="JetBrains Mono"/>
              </a:rPr>
              <a:t>atlas-staging</a:t>
            </a:r>
            <a:r>
              <a:rPr sz="1800" b="0">
                <a:solidFill>
                  <a:srgbClr val="FFFFFF"/>
                </a:solidFill>
                <a:latin typeface="Inter"/>
              </a:rPr>
              <a:t>, </a:t>
            </a:r>
            <a:r>
              <a:rPr sz="1656" b="0">
                <a:solidFill>
                  <a:srgbClr val="00D4AA"/>
                </a:solidFill>
                <a:latin typeface="JetBrains Mono"/>
              </a:rPr>
              <a:t>atlas-prod</a:t>
            </a:r>
            <a:r>
              <a:rPr sz="1800" b="0">
                <a:solidFill>
                  <a:srgbClr val="FFFFFF"/>
                </a:solidFill>
                <a:latin typeface="Inter"/>
              </a:rPr>
              <a:t>; keys differ, retention differs</a:t>
            </a:r>
          </a:p>
          <a:p>
            <a:pPr marL="292608" indent="-292608">
              <a:lnSpc>
                <a:spcPct val="120000"/>
              </a:lnSpc>
              <a:spcAft>
                <a:spcPts val="1260"/>
              </a:spcAft>
              <a:buClr>
                <a:srgbClr val="00D4AA"/>
              </a:buClr>
              <a:buFont typeface="Inter"/>
              <a:buChar char="•"/>
            </a:pPr>
            <a:r>
              <a:rPr sz="1800" b="0">
                <a:solidFill>
                  <a:srgbClr val="FFFFFF"/>
                </a:solidFill>
                <a:latin typeface="Inter"/>
              </a:rPr>
              <a:t>Roles: Owner (2 people), Admin (the on-call rotation), Member (engineers on Atlas), Viewer (stakeholders, 9.4)</a:t>
            </a:r>
          </a:p>
          <a:p>
            <a:pPr marL="292608" indent="-292608">
              <a:lnSpc>
                <a:spcPct val="120000"/>
              </a:lnSpc>
              <a:spcAft>
                <a:spcPts val="1260"/>
              </a:spcAft>
              <a:buClr>
                <a:srgbClr val="00D4AA"/>
              </a:buClr>
              <a:buFont typeface="Inter"/>
              <a:buChar char="•"/>
            </a:pPr>
            <a:r>
              <a:rPr sz="1800" b="0">
                <a:solidFill>
                  <a:srgbClr val="FFFFFF"/>
                </a:solidFill>
                <a:latin typeface="Inter"/>
              </a:rPr>
              <a:t>Prod traces: Members and above; dev traces: anyone on the team</a:t>
            </a:r>
          </a:p>
          <a:p>
            <a:pPr marL="292608" indent="-292608">
              <a:lnSpc>
                <a:spcPct val="120000"/>
              </a:lnSpc>
              <a:spcAft>
                <a:spcPts val="1260"/>
              </a:spcAft>
              <a:buClr>
                <a:srgbClr val="00D4AA"/>
              </a:buClr>
              <a:buFont typeface="Inter"/>
              <a:buChar char="•"/>
            </a:pPr>
            <a:r>
              <a:rPr sz="1800" b="0">
                <a:solidFill>
                  <a:srgbClr val="FFFFFF"/>
                </a:solidFill>
                <a:latin typeface="Inter"/>
              </a:rPr>
              <a:t>API keys per service, never per person; rotate on departure</a:t>
            </a:r>
          </a:p>
          <a:p>
            <a:pPr marL="292608" indent="-292608">
              <a:lnSpc>
                <a:spcPct val="120000"/>
              </a:lnSpc>
              <a:spcAft>
                <a:spcPts val="1260"/>
              </a:spcAft>
              <a:buClr>
                <a:srgbClr val="00D4AA"/>
              </a:buClr>
              <a:buFont typeface="Inter"/>
              <a:buChar char="•"/>
            </a:pPr>
            <a:r>
              <a:rPr sz="1800" b="0">
                <a:solidFill>
                  <a:srgbClr val="FFFFFF"/>
                </a:solidFill>
                <a:latin typeface="Inter"/>
              </a:rPr>
              <a:t>Judge and </a:t>
            </a:r>
            <a:r>
              <a:rPr sz="1656" b="0">
                <a:solidFill>
                  <a:srgbClr val="00D4AA"/>
                </a:solidFill>
                <a:latin typeface="JetBrains Mono"/>
              </a:rPr>
              <a:t>to_dataset</a:t>
            </a:r>
            <a:r>
              <a:rPr sz="1800" b="0">
                <a:solidFill>
                  <a:srgbClr val="FFFFFF"/>
                </a:solidFill>
                <a:latin typeface="Inter"/>
              </a:rPr>
              <a:t> jobs run with a scoped key that can write scores and dataset items, not delete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10 · Lecture 10.3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Tenant tags or separate projects? Three questions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May an engineer who supports tenant A see tenant B's traces? If no: separate projects</a:t>
            </a:r>
          </a:p>
          <a:p>
            <a:pPr marL="292608" indent="-292608">
              <a:lnSpc>
                <a:spcPct val="120000"/>
              </a:lnSpc>
              <a:spcAft>
                <a:spcPts val="1260"/>
              </a:spcAft>
              <a:buClr>
                <a:srgbClr val="00D4AA"/>
              </a:buClr>
              <a:buFont typeface="Inter"/>
              <a:buChar char="•"/>
            </a:pPr>
            <a:r>
              <a:rPr sz="1800" b="0">
                <a:solidFill>
                  <a:srgbClr val="FFFFFF"/>
                </a:solidFill>
                <a:latin typeface="Inter"/>
              </a:rPr>
              <a:t>Are tenants different legal entities or jurisdictions? If yes: separate projects, maybe separate regions</a:t>
            </a:r>
          </a:p>
          <a:p>
            <a:pPr marL="292608" indent="-292608">
              <a:lnSpc>
                <a:spcPct val="120000"/>
              </a:lnSpc>
              <a:spcAft>
                <a:spcPts val="1260"/>
              </a:spcAft>
              <a:buClr>
                <a:srgbClr val="00D4AA"/>
              </a:buClr>
              <a:buFont typeface="Inter"/>
              <a:buChar char="•"/>
            </a:pPr>
            <a:r>
              <a:rPr sz="1800" b="0">
                <a:solidFill>
                  <a:srgbClr val="FFFFFF"/>
                </a:solidFill>
                <a:latin typeface="Inter"/>
              </a:rPr>
              <a:t>Do you need cross-tenant dashboards (the showback, 6.3)? If yes: tags, or aggregate outside Langfuse</a:t>
            </a:r>
          </a:p>
          <a:p>
            <a:pPr marL="292608" indent="-292608">
              <a:lnSpc>
                <a:spcPct val="120000"/>
              </a:lnSpc>
              <a:spcAft>
                <a:spcPts val="1260"/>
              </a:spcAft>
              <a:buClr>
                <a:srgbClr val="00D4AA"/>
              </a:buClr>
              <a:buFont typeface="Inter"/>
              <a:buChar char="•"/>
            </a:pPr>
            <a:r>
              <a:rPr sz="1800" b="0">
                <a:solidFill>
                  <a:srgbClr val="FFFFFF"/>
                </a:solidFill>
                <a:latin typeface="Inter"/>
              </a:rPr>
              <a:t>Northwind: four departments of one company, one legal entity, shared support team, showback needed → tags in one project</a:t>
            </a:r>
          </a:p>
          <a:p>
            <a:pPr marL="292608" indent="-292608">
              <a:lnSpc>
                <a:spcPct val="120000"/>
              </a:lnSpc>
              <a:spcAft>
                <a:spcPts val="1260"/>
              </a:spcAft>
              <a:buClr>
                <a:srgbClr val="00D4AA"/>
              </a:buClr>
              <a:buFont typeface="Inter"/>
              <a:buChar char="•"/>
            </a:pPr>
            <a:r>
              <a:rPr sz="1800" b="0">
                <a:solidFill>
                  <a:srgbClr val="FFFFFF"/>
                </a:solidFill>
                <a:latin typeface="Inter"/>
              </a:rPr>
              <a:t>A SaaS with external customers → project per customer, aggregates in Prometheus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10 · Lecture 10.3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Access to the other destinations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Collector: runs in your network; config in git; exporters use secrets from the environment, never from the YAML</a:t>
            </a:r>
          </a:p>
          <a:p>
            <a:pPr marL="292608" indent="-292608">
              <a:lnSpc>
                <a:spcPct val="120000"/>
              </a:lnSpc>
              <a:spcAft>
                <a:spcPts val="1260"/>
              </a:spcAft>
              <a:buClr>
                <a:srgbClr val="00D4AA"/>
              </a:buClr>
              <a:buFont typeface="Inter"/>
              <a:buChar char="•"/>
            </a:pPr>
            <a:r>
              <a:rPr sz="1800" b="0">
                <a:solidFill>
                  <a:srgbClr val="FFFFFF"/>
                </a:solidFill>
                <a:latin typeface="Inter"/>
              </a:rPr>
              <a:t>Logs: same retention as traces; PII masked at the source, so the wide audience is acceptable</a:t>
            </a:r>
          </a:p>
          <a:p>
            <a:pPr marL="292608" indent="-292608">
              <a:lnSpc>
                <a:spcPct val="120000"/>
              </a:lnSpc>
              <a:spcAft>
                <a:spcPts val="1260"/>
              </a:spcAft>
              <a:buClr>
                <a:srgbClr val="00D4AA"/>
              </a:buClr>
              <a:buFont typeface="Inter"/>
              <a:buChar char="•"/>
            </a:pPr>
            <a:r>
              <a:rPr sz="1800" b="0">
                <a:solidFill>
                  <a:srgbClr val="FFFFFF"/>
                </a:solidFill>
                <a:latin typeface="Inter"/>
              </a:rPr>
              <a:t>Prometheus and Grafana: viewer accounts for stakeholders; the compose default admin password is for the lab only</a:t>
            </a:r>
          </a:p>
          <a:p>
            <a:pPr marL="292608" indent="-292608">
              <a:lnSpc>
                <a:spcPct val="120000"/>
              </a:lnSpc>
              <a:spcAft>
                <a:spcPts val="1260"/>
              </a:spcAft>
              <a:buClr>
                <a:srgbClr val="00D4AA"/>
              </a:buClr>
              <a:buFont typeface="Inter"/>
              <a:buChar char="•"/>
            </a:pPr>
            <a:r>
              <a:rPr sz="1800" b="0">
                <a:solidFill>
                  <a:srgbClr val="FFFFFF"/>
                </a:solidFill>
                <a:latin typeface="Inter"/>
              </a:rPr>
              <a:t>Judge provider: check the data terms; prefer zero-retention endpoints where offered; masked inputs regardless</a:t>
            </a:r>
          </a:p>
          <a:p>
            <a:pPr marL="292608" indent="-292608">
              <a:lnSpc>
                <a:spcPct val="120000"/>
              </a:lnSpc>
              <a:spcAft>
                <a:spcPts val="1260"/>
              </a:spcAft>
              <a:buClr>
                <a:srgbClr val="00D4AA"/>
              </a:buClr>
              <a:buFont typeface="Inter"/>
              <a:buChar char="•"/>
            </a:pPr>
            <a:r>
              <a:rPr sz="1800" b="0">
                <a:solidFill>
                  <a:srgbClr val="FFFFFF"/>
                </a:solidFill>
                <a:latin typeface="Inter"/>
              </a:rPr>
              <a:t>Laptops: </a:t>
            </a:r>
            <a:r>
              <a:rPr sz="1656" b="0">
                <a:solidFill>
                  <a:srgbClr val="00D4AA"/>
                </a:solidFill>
                <a:latin typeface="JetBrains Mono"/>
              </a:rPr>
              <a:t>OFFLINE=1</a:t>
            </a:r>
            <a:r>
              <a:rPr sz="1800" b="0">
                <a:solidFill>
                  <a:srgbClr val="FFFFFF"/>
                </a:solidFill>
                <a:latin typeface="Inter"/>
              </a:rPr>
              <a:t> uses synthetic data; a real-data export needs a ticket and a deletion date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10 · Lecture 10.3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checklist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10-resources/telemetry-governance-checklist.md</a:t>
            </a:r>
            <a:r>
              <a:rPr sz="1800" b="0">
                <a:solidFill>
                  <a:srgbClr val="FFFFFF"/>
                </a:solidFill>
                <a:latin typeface="Inter"/>
              </a:rPr>
              <a:t>: retention table, project and role map, tenant decision, destinations and their owners</a:t>
            </a:r>
          </a:p>
          <a:p>
            <a:pPr marL="292608" indent="-292608">
              <a:lnSpc>
                <a:spcPct val="120000"/>
              </a:lnSpc>
              <a:spcAft>
                <a:spcPts val="1260"/>
              </a:spcAft>
              <a:buClr>
                <a:srgbClr val="00D4AA"/>
              </a:buClr>
              <a:buFont typeface="Inter"/>
              <a:buChar char="•"/>
            </a:pPr>
            <a:r>
              <a:rPr sz="1800" b="0">
                <a:solidFill>
                  <a:srgbClr val="FFFFFF"/>
                </a:solidFill>
                <a:latin typeface="Inter"/>
              </a:rPr>
              <a:t>Fill it once, date it, review quarterly</a:t>
            </a:r>
          </a:p>
          <a:p>
            <a:pPr marL="292608" indent="-292608">
              <a:lnSpc>
                <a:spcPct val="120000"/>
              </a:lnSpc>
              <a:spcAft>
                <a:spcPts val="1260"/>
              </a:spcAft>
              <a:buClr>
                <a:srgbClr val="00D4AA"/>
              </a:buClr>
              <a:buFont typeface="Inter"/>
              <a:buChar char="•"/>
            </a:pPr>
            <a:r>
              <a:rPr sz="1800" b="0">
                <a:solidFill>
                  <a:srgbClr val="FFFFFF"/>
                </a:solidFill>
                <a:latin typeface="Inter"/>
              </a:rPr>
              <a:t>Every row has an owner and a place where the setting lives</a:t>
            </a:r>
          </a:p>
          <a:p>
            <a:pPr marL="292608" indent="-292608">
              <a:lnSpc>
                <a:spcPct val="120000"/>
              </a:lnSpc>
              <a:spcAft>
                <a:spcPts val="1260"/>
              </a:spcAft>
              <a:buClr>
                <a:srgbClr val="00D4AA"/>
              </a:buClr>
              <a:buFont typeface="Inter"/>
              <a:buChar char="•"/>
            </a:pPr>
            <a:r>
              <a:rPr sz="1800" b="0">
                <a:solidFill>
                  <a:srgbClr val="FFFFFF"/>
                </a:solidFill>
                <a:latin typeface="Inter"/>
              </a:rPr>
              <a:t>It's the document your security team asks for; have it before they ask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10 · Lecture 10.3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Regulatory logging obligations (not legal advice)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Everything so far is about keeping less.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10 · Lecture 10.4</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10 · PRIVACY, SECURITY AND GOVERNANCE OF TELEMETRY</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10.4</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Regulatory logging obligations (not legal advice)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Some rules require you to keep an audit trail of what your agent did; know the shape of those obligations, build the…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10 · Lecture 10.4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Why "delete everything" is also wrong</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Section 10 so far: collect less, keep it shorter, restrict who reads it</a:t>
            </a:r>
          </a:p>
          <a:p>
            <a:pPr marL="292608" indent="-292608">
              <a:lnSpc>
                <a:spcPct val="120000"/>
              </a:lnSpc>
              <a:spcAft>
                <a:spcPts val="1260"/>
              </a:spcAft>
              <a:buClr>
                <a:srgbClr val="00D4AA"/>
              </a:buClr>
              <a:buFont typeface="Inter"/>
              <a:buChar char="•"/>
            </a:pPr>
            <a:r>
              <a:rPr sz="1800" b="0">
                <a:solidFill>
                  <a:srgbClr val="FFFFFF"/>
                </a:solidFill>
                <a:latin typeface="Inter"/>
              </a:rPr>
              <a:t>Some regulations require the opposite for specific records: keep an audit trail, for a minimum period</a:t>
            </a:r>
          </a:p>
          <a:p>
            <a:pPr marL="292608" indent="-292608">
              <a:lnSpc>
                <a:spcPct val="120000"/>
              </a:lnSpc>
              <a:spcAft>
                <a:spcPts val="1260"/>
              </a:spcAft>
              <a:buClr>
                <a:srgbClr val="00D4AA"/>
              </a:buClr>
              <a:buFont typeface="Inter"/>
              <a:buChar char="•"/>
            </a:pPr>
            <a:r>
              <a:rPr sz="1800" b="0">
                <a:solidFill>
                  <a:srgbClr val="FFFFFF"/>
                </a:solidFill>
                <a:latin typeface="Inter"/>
              </a:rPr>
              <a:t>The two are compatible: a small, deliberate audit trail; short-lived, masked debugging telemetry</a:t>
            </a:r>
          </a:p>
          <a:p>
            <a:pPr marL="292608" indent="-292608">
              <a:lnSpc>
                <a:spcPct val="120000"/>
              </a:lnSpc>
              <a:spcAft>
                <a:spcPts val="1260"/>
              </a:spcAft>
              <a:buClr>
                <a:srgbClr val="00D4AA"/>
              </a:buClr>
              <a:buFont typeface="Inter"/>
              <a:buChar char="•"/>
            </a:pPr>
            <a:r>
              <a:rPr sz="1800" b="0">
                <a:solidFill>
                  <a:srgbClr val="FFFFFF"/>
                </a:solidFill>
                <a:latin typeface="Inter"/>
              </a:rPr>
              <a:t>The mistake is treating them as one dataset with one retention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10 · Lecture 10.4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EU AI Act, in one slide (verify with counsel) (1/2)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Applies in tiers; the strict record-keeping rules target "high-risk" systems listed in the Act's annexes</a:t>
            </a:r>
          </a:p>
          <a:p>
            <a:pPr marL="292608" indent="-292608">
              <a:lnSpc>
                <a:spcPct val="120000"/>
              </a:lnSpc>
              <a:spcAft>
                <a:spcPts val="1260"/>
              </a:spcAft>
              <a:buClr>
                <a:srgbClr val="00D4AA"/>
              </a:buClr>
              <a:buFont typeface="Inter"/>
              <a:buChar char="•"/>
            </a:pPr>
            <a:r>
              <a:rPr sz="1800" b="0">
                <a:solidFill>
                  <a:srgbClr val="FFFFFF"/>
                </a:solidFill>
                <a:latin typeface="Inter"/>
              </a:rPr>
              <a:t>Employment-related uses are on that list: recruitment, promotion, termination, task allocation, monitoring and evaluation of workers</a:t>
            </a:r>
          </a:p>
          <a:p>
            <a:pPr marL="292608" indent="-292608">
              <a:lnSpc>
                <a:spcPct val="120000"/>
              </a:lnSpc>
              <a:spcAft>
                <a:spcPts val="1260"/>
              </a:spcAft>
              <a:buClr>
                <a:srgbClr val="00D4AA"/>
              </a:buClr>
              <a:buFont typeface="Inter"/>
              <a:buChar char="•"/>
            </a:pPr>
            <a:r>
              <a:rPr sz="1800" b="0">
                <a:solidFill>
                  <a:srgbClr val="FFFFFF"/>
                </a:solidFill>
                <a:latin typeface="Inter"/>
              </a:rPr>
              <a:t>Atlas today answers policy questions, opens tickets, resets passwords: probably not making employment decisions</a:t>
            </a:r>
          </a:p>
          <a:p>
            <a:pPr marL="292608" indent="-292608">
              <a:lnSpc>
                <a:spcPct val="120000"/>
              </a:lnSpc>
              <a:spcAft>
                <a:spcPts val="1260"/>
              </a:spcAft>
              <a:buClr>
                <a:srgbClr val="00D4AA"/>
              </a:buClr>
              <a:buFont typeface="Inter"/>
              <a:buChar char="•"/>
            </a:pPr>
            <a:r>
              <a:rPr sz="1800" b="0">
                <a:solidFill>
                  <a:srgbClr val="FFFFFF"/>
                </a:solidFill>
                <a:latin typeface="Inter"/>
              </a:rPr>
              <a:t>Atlas tomorrow, if it triages leave requests or flags "underperforming" employees: that's a different conversation</a:t>
            </a:r>
          </a:p>
          <a:p>
            <a:pPr marL="292608" indent="-292608">
              <a:lnSpc>
                <a:spcPct val="120000"/>
              </a:lnSpc>
              <a:spcAft>
                <a:spcPts val="1260"/>
              </a:spcAft>
              <a:buClr>
                <a:srgbClr val="00D4AA"/>
              </a:buClr>
              <a:buFont typeface="Inter"/>
              <a:buChar char="•"/>
            </a:pPr>
            <a:r>
              <a:rPr sz="1800" b="0">
                <a:solidFill>
                  <a:srgbClr val="FFFFFF"/>
                </a:solidFill>
                <a:latin typeface="Inter"/>
              </a:rPr>
              <a:t>High-risk obligations include automatic logging of events over the system's lifetime, kept for a minimum period (the Act sets a floor in months; verify the current number), plus human oversight and technical documentation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10 · Lecture 10.4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EU AI Act, in one slide (verify with counsel) (2/2)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Also: general transparency duties for AI that interacts with people; telling users they're talking to an AI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10 · Lecture 10.4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Other rules that touch telemetry (verify which apply to you)</a:t>
            </a:r>
          </a:p>
        </p:txBody>
      </p:sp>
      <p:sp>
        <p:nvSpPr>
          <p:cNvPr id="4" name="Rectangle 3"/>
          <p:cNvSpPr/>
          <p:nvPr/>
        </p:nvSpPr>
        <p:spPr>
          <a:xfrm>
            <a:off x="502920" y="1435607"/>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828800"/>
            <a:ext cx="10881360" cy="448056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GDPR and similar: traces are personal data; lawful basis, minimisation, purpose limitation, and subject rights apply. Access and erasure requests reach your tracing backend. The hash in 10.2 is how you find one person's traces</a:t>
            </a:r>
          </a:p>
          <a:p>
            <a:pPr marL="292608" indent="-292608">
              <a:lnSpc>
                <a:spcPct val="120000"/>
              </a:lnSpc>
              <a:spcAft>
                <a:spcPts val="1260"/>
              </a:spcAft>
              <a:buClr>
                <a:srgbClr val="00D4AA"/>
              </a:buClr>
              <a:buFont typeface="Inter"/>
              <a:buChar char="•"/>
            </a:pPr>
            <a:r>
              <a:rPr sz="1800" b="0">
                <a:solidFill>
                  <a:srgbClr val="FFFFFF"/>
                </a:solidFill>
                <a:latin typeface="Inter"/>
              </a:rPr>
              <a:t>Sector rules: health (HIPAA), finance (GLBA, PCI DSS for card data: the six card numbers from 10.1 are a PCI event if stored raw)</a:t>
            </a:r>
          </a:p>
          <a:p>
            <a:pPr marL="292608" indent="-292608">
              <a:lnSpc>
                <a:spcPct val="120000"/>
              </a:lnSpc>
              <a:spcAft>
                <a:spcPts val="1260"/>
              </a:spcAft>
              <a:buClr>
                <a:srgbClr val="00D4AA"/>
              </a:buClr>
              <a:buFont typeface="Inter"/>
              <a:buChar char="•"/>
            </a:pPr>
            <a:r>
              <a:rPr sz="1800" b="0">
                <a:solidFill>
                  <a:srgbClr val="FFFFFF"/>
                </a:solidFill>
                <a:latin typeface="Inter"/>
              </a:rPr>
              <a:t>Audit and assurance: SOC 2, ISO 27001: expect "show me who accessed what, when"</a:t>
            </a:r>
          </a:p>
          <a:p>
            <a:pPr marL="292608" indent="-292608">
              <a:lnSpc>
                <a:spcPct val="120000"/>
              </a:lnSpc>
              <a:spcAft>
                <a:spcPts val="1260"/>
              </a:spcAft>
              <a:buClr>
                <a:srgbClr val="00D4AA"/>
              </a:buClr>
              <a:buFont typeface="Inter"/>
              <a:buChar char="•"/>
            </a:pPr>
            <a:r>
              <a:rPr sz="1800" b="0">
                <a:solidFill>
                  <a:srgbClr val="FFFFFF"/>
                </a:solidFill>
                <a:latin typeface="Inter"/>
              </a:rPr>
              <a:t>Contracts: your enterprise customers' DPAs may set retention and location; your vendor's DPA sets theirs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10 · Lecture 10.4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An audit trail for an agent (what to keep, long)</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Per request: timestamp, trace id, hashed user, tenant, prompt name and version, model and version actually served, tool calls with arguments hashed or summarised, decisions taken (ticket created, password reset, escalated to human), guardrail outcomes, the final answer's hash</a:t>
            </a:r>
          </a:p>
          <a:p>
            <a:pPr marL="292608" indent="-292608">
              <a:lnSpc>
                <a:spcPct val="120000"/>
              </a:lnSpc>
              <a:spcAft>
                <a:spcPts val="1260"/>
              </a:spcAft>
              <a:buClr>
                <a:srgbClr val="00D4AA"/>
              </a:buClr>
              <a:buFont typeface="Inter"/>
              <a:buChar char="•"/>
            </a:pPr>
            <a:r>
              <a:rPr sz="1800" b="0">
                <a:solidFill>
                  <a:srgbClr val="FFFFFF"/>
                </a:solidFill>
                <a:latin typeface="Inter"/>
              </a:rPr>
              <a:t>Not the raw prompt, not the raw tool results, not the retrieval chunks</a:t>
            </a:r>
          </a:p>
          <a:p>
            <a:pPr marL="292608" indent="-292608">
              <a:lnSpc>
                <a:spcPct val="120000"/>
              </a:lnSpc>
              <a:spcAft>
                <a:spcPts val="1260"/>
              </a:spcAft>
              <a:buClr>
                <a:srgbClr val="00D4AA"/>
              </a:buClr>
              <a:buFont typeface="Inter"/>
              <a:buChar char="•"/>
            </a:pPr>
            <a:r>
              <a:rPr sz="1800" b="0">
                <a:solidFill>
                  <a:srgbClr val="FFFFFF"/>
                </a:solidFill>
                <a:latin typeface="Inter"/>
              </a:rPr>
              <a:t>Built from spans you already emit (Sections 3 to 5); a small exporter writes one line per request to an append-only store</a:t>
            </a:r>
          </a:p>
          <a:p>
            <a:pPr marL="292608" indent="-292608">
              <a:lnSpc>
                <a:spcPct val="120000"/>
              </a:lnSpc>
              <a:spcAft>
                <a:spcPts val="1260"/>
              </a:spcAft>
              <a:buClr>
                <a:srgbClr val="00D4AA"/>
              </a:buClr>
              <a:buFont typeface="Inter"/>
              <a:buChar char="•"/>
            </a:pPr>
            <a:r>
              <a:rPr sz="1800" b="0">
                <a:solidFill>
                  <a:srgbClr val="FFFFFF"/>
                </a:solidFill>
                <a:latin typeface="Inter"/>
              </a:rPr>
              <a:t>Retention: long, per counsel; access: narrower than debugging telemetry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10 · Lecture 10.4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never to log, anywhere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Credentials and secrets: passwords, tokens, the answers to identity verification questions in </a:t>
            </a:r>
            <a:r>
              <a:rPr sz="1656" b="0">
                <a:solidFill>
                  <a:srgbClr val="00D4AA"/>
                </a:solidFill>
                <a:latin typeface="JetBrains Mono"/>
              </a:rPr>
              <a:t>reset_password</a:t>
            </a:r>
          </a:p>
          <a:p>
            <a:pPr marL="292608" indent="-292608">
              <a:lnSpc>
                <a:spcPct val="120000"/>
              </a:lnSpc>
              <a:spcAft>
                <a:spcPts val="1260"/>
              </a:spcAft>
              <a:buClr>
                <a:srgbClr val="00D4AA"/>
              </a:buClr>
              <a:buFont typeface="Inter"/>
              <a:buChar char="•"/>
            </a:pPr>
            <a:r>
              <a:rPr sz="1800" b="0">
                <a:solidFill>
                  <a:srgbClr val="FFFFFF"/>
                </a:solidFill>
                <a:latin typeface="Inter"/>
              </a:rPr>
              <a:t>Full payment card numbers, bank details</a:t>
            </a:r>
          </a:p>
          <a:p>
            <a:pPr marL="292608" indent="-292608">
              <a:lnSpc>
                <a:spcPct val="120000"/>
              </a:lnSpc>
              <a:spcAft>
                <a:spcPts val="1260"/>
              </a:spcAft>
              <a:buClr>
                <a:srgbClr val="00D4AA"/>
              </a:buClr>
              <a:buFont typeface="Inter"/>
              <a:buChar char="•"/>
            </a:pPr>
            <a:r>
              <a:rPr sz="1800" b="0">
                <a:solidFill>
                  <a:srgbClr val="FFFFFF"/>
                </a:solidFill>
                <a:latin typeface="Inter"/>
              </a:rPr>
              <a:t>Special-category data: health, biometrics, beliefs; if the helpdesk sees it, mask it at the source</a:t>
            </a:r>
          </a:p>
          <a:p>
            <a:pPr marL="292608" indent="-292608">
              <a:lnSpc>
                <a:spcPct val="120000"/>
              </a:lnSpc>
              <a:spcAft>
                <a:spcPts val="1260"/>
              </a:spcAft>
              <a:buClr>
                <a:srgbClr val="00D4AA"/>
              </a:buClr>
              <a:buFont typeface="Inter"/>
              <a:buChar char="•"/>
            </a:pPr>
            <a:r>
              <a:rPr sz="1800" b="0">
                <a:solidFill>
                  <a:srgbClr val="FFFFFF"/>
                </a:solidFill>
                <a:latin typeface="Inter"/>
              </a:rPr>
              <a:t>Raw content of a suspected prompt injection beyond what security needs</a:t>
            </a:r>
          </a:p>
          <a:p>
            <a:pPr marL="292608" indent="-292608">
              <a:lnSpc>
                <a:spcPct val="120000"/>
              </a:lnSpc>
              <a:spcAft>
                <a:spcPts val="1260"/>
              </a:spcAft>
              <a:buClr>
                <a:srgbClr val="00D4AA"/>
              </a:buClr>
              <a:buFont typeface="Inter"/>
              <a:buChar char="•"/>
            </a:pPr>
            <a:r>
              <a:rPr sz="1800" b="0">
                <a:solidFill>
                  <a:srgbClr val="FFFFFF"/>
                </a:solidFill>
                <a:latin typeface="Inter"/>
              </a:rPr>
              <a:t>Anything the DPA with your vendor prohibits sending to that vendor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10 · Lecture 10.4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Questions to take to counsel and the DPO (1/2)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Is Atlas, or any planned feature, in scope for high-risk obligations under the AI Act or a national equivalent?</a:t>
            </a:r>
          </a:p>
          <a:p>
            <a:pPr marL="292608" indent="-292608">
              <a:lnSpc>
                <a:spcPct val="120000"/>
              </a:lnSpc>
              <a:spcAft>
                <a:spcPts val="1260"/>
              </a:spcAft>
              <a:buClr>
                <a:srgbClr val="00D4AA"/>
              </a:buClr>
              <a:buFont typeface="Inter"/>
              <a:buChar char="•"/>
            </a:pPr>
            <a:r>
              <a:rPr sz="1800" b="0">
                <a:solidFill>
                  <a:srgbClr val="FFFFFF"/>
                </a:solidFill>
                <a:latin typeface="Inter"/>
              </a:rPr>
              <a:t>What is our lawful basis for processing employee data in traces, and does the retention table match it?</a:t>
            </a:r>
          </a:p>
          <a:p>
            <a:pPr marL="292608" indent="-292608">
              <a:lnSpc>
                <a:spcPct val="120000"/>
              </a:lnSpc>
              <a:spcAft>
                <a:spcPts val="1260"/>
              </a:spcAft>
              <a:buClr>
                <a:srgbClr val="00D4AA"/>
              </a:buClr>
              <a:buFont typeface="Inter"/>
              <a:buChar char="•"/>
            </a:pPr>
            <a:r>
              <a:rPr sz="1800" b="0">
                <a:solidFill>
                  <a:srgbClr val="FFFFFF"/>
                </a:solidFill>
                <a:latin typeface="Inter"/>
              </a:rPr>
              <a:t>What is the minimum audit-trail retention that applies to us, and what must it contain?</a:t>
            </a:r>
          </a:p>
          <a:p>
            <a:pPr marL="292608" indent="-292608">
              <a:lnSpc>
                <a:spcPct val="120000"/>
              </a:lnSpc>
              <a:spcAft>
                <a:spcPts val="1260"/>
              </a:spcAft>
              <a:buClr>
                <a:srgbClr val="00D4AA"/>
              </a:buClr>
              <a:buFont typeface="Inter"/>
              <a:buChar char="•"/>
            </a:pPr>
            <a:r>
              <a:rPr sz="1800" b="0">
                <a:solidFill>
                  <a:srgbClr val="FFFFFF"/>
                </a:solidFill>
                <a:latin typeface="Inter"/>
              </a:rPr>
              <a:t>Does our tracing vendor's DPA cover the data we send, in the region we send it to?</a:t>
            </a:r>
          </a:p>
          <a:p>
            <a:pPr marL="292608" indent="-292608">
              <a:lnSpc>
                <a:spcPct val="120000"/>
              </a:lnSpc>
              <a:spcAft>
                <a:spcPts val="1260"/>
              </a:spcAft>
              <a:buClr>
                <a:srgbClr val="00D4AA"/>
              </a:buClr>
              <a:buFont typeface="Inter"/>
              <a:buChar char="•"/>
            </a:pPr>
            <a:r>
              <a:rPr sz="1800" b="0">
                <a:solidFill>
                  <a:srgbClr val="FFFFFF"/>
                </a:solidFill>
                <a:latin typeface="Inter"/>
              </a:rPr>
              <a:t>How do we fulfil an access or erasure request against traces, scores and datasets?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10 · Lecture 10.4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Questions to take to counsel and the DPO (2/2)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Who signs off the governance checklist, and how often?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10 · Lecture 10.4</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Quiz: Governance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The Section 10 quiz, and then Section 11, where you go on call and investigate three real-shaped incidents…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10 · Lecture 10.5</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10 · PRIVACY, SECURITY AND GOVERNANCE OF TELEMETRY</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10.5</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Quiz: Governance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Check you can place a masking control at the right layer, set retention per data class, and separate an audit trail from…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10 · Lecture 10.5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Quiz: 6 questions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Masking layers and hash vs placeholder</a:t>
            </a:r>
          </a:p>
          <a:p>
            <a:pPr marL="292608" indent="-292608">
              <a:lnSpc>
                <a:spcPct val="120000"/>
              </a:lnSpc>
              <a:spcAft>
                <a:spcPts val="1539"/>
              </a:spcAft>
              <a:buClr>
                <a:srgbClr val="00D4AA"/>
              </a:buClr>
              <a:buFont typeface="Inter"/>
              <a:buChar char="•"/>
            </a:pPr>
            <a:r>
              <a:rPr sz="2200" b="0">
                <a:solidFill>
                  <a:srgbClr val="FFFFFF"/>
                </a:solidFill>
                <a:latin typeface="Inter"/>
              </a:rPr>
              <a:t>Retention by data class</a:t>
            </a:r>
          </a:p>
          <a:p>
            <a:pPr marL="292608" indent="-292608">
              <a:lnSpc>
                <a:spcPct val="120000"/>
              </a:lnSpc>
              <a:spcAft>
                <a:spcPts val="1539"/>
              </a:spcAft>
              <a:buClr>
                <a:srgbClr val="00D4AA"/>
              </a:buClr>
              <a:buFont typeface="Inter"/>
              <a:buChar char="•"/>
            </a:pPr>
            <a:r>
              <a:rPr sz="2200" b="0">
                <a:solidFill>
                  <a:srgbClr val="FFFFFF"/>
                </a:solidFill>
                <a:latin typeface="Inter"/>
              </a:rPr>
              <a:t>Tags vs projects</a:t>
            </a:r>
          </a:p>
          <a:p>
            <a:pPr marL="292608" indent="-292608">
              <a:lnSpc>
                <a:spcPct val="120000"/>
              </a:lnSpc>
              <a:spcAft>
                <a:spcPts val="1539"/>
              </a:spcAft>
              <a:buClr>
                <a:srgbClr val="00D4AA"/>
              </a:buClr>
              <a:buFont typeface="Inter"/>
              <a:buChar char="•"/>
            </a:pPr>
            <a:r>
              <a:rPr sz="2200" b="0">
                <a:solidFill>
                  <a:srgbClr val="FFFFFF"/>
                </a:solidFill>
                <a:latin typeface="Inter"/>
              </a:rPr>
              <a:t>Audit trail vs telemetry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10 · Lecture 10.5</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How to read an incident like an SRE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section, you're on call.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