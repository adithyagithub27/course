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Latency budgets for agents.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clocks, and for agents a fourth. Time to first token is how long one model call takes to start. Time per output token is how fast it streams once started. Total time is the whole request. And for an agent, the one users actually feel is the fourth: the first token of the final answer. Atlas runs a tool step before the user sees a single word. The first model call streams nothing to the screen. So the user's clock starts at send and stops when the answer begins. Measure that one. It's the one that makes people close the tab.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anatomy of the demo request from Section 6. Step one: the model takes under half a second to start and three quarters of a second to finish a forty-two-token tool call. The tool itself takes a few milliseconds. Step two: another half second to start, and the user sees the first word at about one point two seconds. Then two seconds of streaming for a two-hundred-eighty-two-token answer. Three point two seconds in total.</a:t>
            </a:r>
          </a:p>
          <a:p/>
          <a:p>
            <a:r>
              <a:t>Notice where the time is. Not in the tool. In the model, twice. Every step you add is another model call before the user sees anything. That's the cost lesson from Section 6 in a different currency.</a:t>
            </a:r>
          </a:p>
          <a:p/>
          <a:p>
            <a:r>
              <a:t>[SCREEN: terminal, `make console-text`, scrolled to the Latency block]</a:t>
            </a:r>
          </a:p>
          <a:p/>
          <a:p>
            <a:r>
              <a:t>Now the whole replayed day. End to end, p50 three point two seconds, p95 three point eight. The `ttft` row is the fourth clock, first token of the final answer: one point four at the median, one point seven at p95. And ops is fastest, because its shipment and ticket questions return short answers.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budget. One contract: four seconds end to end, at p95. It's in the config as `BUDGET_P95_LATENCY_MS`, the CI gate in Section 13 fails the build above it, and the alert in Section 9 pages on it. Today's p95 is three point eight three. That's a hundred seventy-three milliseconds of headroom. Not much. When a provider gets slow, that's what we have before we're outside the contract. Underneath the contract sit the diagnostics: the answer's first token, each call's first token, each generation's duration. They tell you which part moved.</a:t>
            </a:r>
          </a:p>
          <a:p/>
          <a:p>
            <a:r>
              <a:t>If you've taken the voice agents course, you'll remember eight hundred milliseconds end to end. A voice agent has to answer before the silence gets awkward. A chat helpdesk gets five times that. Same discipline, different number. Know which product you 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p95, specifically? The mean hides everything; you've seen that. p50 is what the typical person gets; useful for capacity, useless for pain. p99 is one in a hundred, and with a third-party model provider in the loop, you don't control the tail well enough to promise it. p95 is the one an engineering team can actually hold: one in twenty. We budget at p95, we watch p99 for trend, and we report p50 next to it so nobody thinks the typical experience is slow.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worksheet is in the resources folder. One row per step, per tool, per model call. Columns for p50, p95, the budget and the headroom. You'll fill it from spans in the next lecture, not from guesses. And every timeout, retry and fallback we add in this section will point back to a row. Latency and cost pull in opposite directions in one place: retries. A retry is the fastest way to fix a failed call and the fastest way to double your bill. Hold both numbers in your head through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measure TTFT, TPOT and p95 from spans.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to first token of one call is on the generation span. Time per output token is the rest of the streaming window divided by the tokens in it. Total is the request's duration. And the agent's fourth clock is every earlier step plus the last step's first token, which `_finish` writes on the agent span. All of it comes from attributes you set in lecture 5.4: the incubating `gen_ai.response.time_to_first_chunk` on the OTel side, `completion_start_time` in Langfuse, and our own `atlas.ttft_ms`.</a:t>
            </a:r>
          </a:p>
          <a:p/>
          <a:p>
            <a:r>
              <a:t>[SCREEN: VS Code, `src/northwind/latency.py`]</a:t>
            </a:r>
          </a:p>
          <a:p/>
          <a:p>
            <a:r>
              <a:t>[CODE: `src/northwind/latency.py` (excerpt)]</a:t>
            </a:r>
          </a:p>
          <a:p/>
          <a:p>
            <a:r>
              <a:t>Three pieces. `LatencySample` is one request's timings, and TPOT is a property: the time after the first token, divided by the tokens after the first. Fewer than two tokens, no TPOT. `RequestTiming` builds the agent's fourth clock: every earlier step in full, plus the last step's first token. That's the number on the agent span, and it's the one users feel.</a:t>
            </a:r>
          </a:p>
          <a:p/>
          <a:p>
            <a:r>
              <a:t>[SCREEN: zoom on `percentile`; the `k = (len(xs) - 1) * p / 100.0` line highlighted]</a:t>
            </a:r>
          </a:p>
          <a:p/>
          <a:p>
            <a:r>
              <a:t>`percentile` sorts and interpolates linearly between the two neighbours, the same definition pandas uses by default. No numpy, because this runs in the CI gate and in the browser coding exercise. `summarize`, just below it, gives count, mean, p50, p90, p95, p99, min and max in one call, and `violations` compares a set of samples against a `LatencyBudget` and returns only what's over. Empty list means green. That's what the CI gate in Section 13 asserts for p95.</a:t>
            </a:r>
          </a:p>
          <a:p/>
          <a:p>
            <a:r>
              <a:t>Now the source: the local span store.</a:t>
            </a:r>
          </a:p>
          <a:p/>
          <a:p>
            <a:r>
              <a:t>[SCREEN: `telemetry/local_store.py` (`latency_samples`), then terminal]</a:t>
            </a:r>
          </a:p>
          <a:p/>
          <a:p>
            <a:r>
              <a:t>[DEMO: output (Latency block):]</a:t>
            </a:r>
          </a:p>
          <a:p/>
          <a:p>
            <a:r>
              <a:t>A word on where these numbers come from in offline mode. The mock LLM doesn't sleep for three seconds per call; it stamps each response with a simulated first-token time and duration, drawn per model and growing with prompt size, so a full day replays in twenty seconds and the percentiles come out realistic. In live mode the same code reads real spans. Either way, the aggregation reads our local store rather than the Langfuse API, because ten thousand traces through a paginated API is slow and Langfuse already shows its own latency views in the UI for browsing. The store is for arithmetic. The UI is for looking.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the worksheet, filled from spans. End to end, three point eight at p95 against a budget of four. The answer's first token, one point seven. Each model call starts in about two thirds of a second at p95, and the longest generations take nearly three seconds, because that's where the answer streams. And the hourly line is flat: on a normal day, load doesn't move latency. Remember that shape for the chaos demo.</a:t>
            </a:r>
          </a:p>
          <a:p/>
          <a:p>
            <a:r>
              <a:t>Now the metrics.</a:t>
            </a:r>
          </a:p>
          <a:p/>
          <a:p>
            <a:r>
              <a:t>[SCREEN: `telemetry/metrics.py`]</a:t>
            </a:r>
          </a:p>
          <a:p/>
          <a:p>
            <a:r>
              <a:t>[CODE: `telemetry/metrics.py` (excerpt)]</a:t>
            </a:r>
          </a:p>
          <a:p/>
          <a:p>
            <a:r>
              <a:t>Two rules in this file. First, the buckets bracket the budget: there's a bucket edge at exactly four seconds, so the fraction of requests under budget is a ratio of two counters, not an interpolation. Second, labels: `tenant` and `feature` on the request histogram, `model` on time to first token, `tool` on tool latency, nothing else, and never user or session. Four tenants times seven features times thirteen buckets is fine; four thousand users is not. Per-user latency lives in the span store, where cardinality is free.</a:t>
            </a:r>
          </a:p>
          <a:p/>
          <a:p>
            <a:r>
              <a:t>[SCREEN: `app/agent.py`: in `_finish`, `metrics.record_request(tenant=tenant, model=result.model, outcome=result.outcome, latency_s=resul...]</a:t>
            </a:r>
          </a:p>
          <a:p/>
          <a:p>
            <a:r>
              <a:t>One `record_request` at the end of the request feeds the request histogram, and one `record_generation` per model call feeds `atlas_ttft_seconds`. Read that carefully: despite its help text, `atlas_ttft_seconds` is observed once per model call, so its p95 is the six-hundred-fifty-millisecond number, not the answer's one point seven. The answer's first token lives on the agent span. Label your panels with the one you mean.</a:t>
            </a:r>
          </a:p>
          <a:p/>
          <a:p>
            <a:r>
              <a:t>[SCREEN: Ops Console Latency page: the p50 / p95 / p99 and "TTFT p95 (final answer)" tiles, hourly p50 and p95 with the 4 s budget line,...]</a:t>
            </a:r>
          </a:p>
          <a:p/>
          <a:p>
            <a:r>
              <a:t>The Latency page shows the same numbers: four tiles, the hourly chart with the budget line in red, span p95 by observation type, and the generation detail. Same store, same functions, same numbers as the terminal.</a:t>
            </a:r>
          </a:p>
          <a:p/>
          <a:p>
            <a:r>
              <a:t>[SCREEN: `tests/unit/test_latency.py`, then terminal `uv run pytest tests/unit/test_latency.py -q`: `13 passed`]</a:t>
            </a:r>
          </a:p>
          <a:p/>
          <a:p>
            <a:r>
              <a:t>The unit tests pin the arithmetic: `test_percentile_linear_interpolation`, `test_request_timing_ttft_is_perceived` for the fourth clock, and `test_violations_aggregate_and_per_sample` for the budget check.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Timeouts, retries and backoff done right.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rules. Timeouts derive from the budget you wrote in 7.1. Retries are bounded, jittered, and only for errors a retry can actually fix. And every retry is a cost event. It goes on a counter and on its own generation span with a price, so a storm shows up on the bill you can see, not just on the invoice.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Timeouts. Atlas has one, `ATLAS_REQUEST_TIMEOUT_S`, twenty seconds by default, passed to the OpenAI client and the Router on every call. Is twenty right? Look at the worksheet. A normal call starts in two thirds of a second at p95 and finishes in under three. So twenty seconds is seven times the slowest normal call. With two retries, a stalled provider can make one user wait a minute before they see an error. Something near twice the slowest normal call, around six seconds, cuts off a stall without cutting off a long answer. One caution: offline, the mock never times out, so this knob only shows its effect against a real provider. Lab 4 and `.env.chaos.example` spell that out.</a:t>
            </a:r>
          </a:p>
          <a:p/>
          <a:p>
            <a:r>
              <a:t>[SCREEN: VS Code, `app/agent.py`]</a:t>
            </a:r>
          </a:p>
          <a:p/>
          <a:p>
            <a:r>
              <a:t>[CODE: `app/agent.py` (excerpt): retryable errors, backoff and the retry loop]</a:t>
            </a:r>
          </a:p>
          <a:p/>
          <a:p>
            <a:r>
              <a:t>Read the `except`. Only `RETRYABLE` errors get here: timeouts, rate limits, connection errors, server errors. A bad request or an auth error propagates immediately, because retrying it is pointless. Then the honest bill: a timed-out call still cost input tokens on the provider side, so the attempt gets its own generation span with the estimated input tokens, the cost and the error type. That is the line Incident 1 is about.</a:t>
            </a:r>
          </a:p>
          <a:p/>
          <a:p>
            <a:r>
              <a:t>[SCREEN: zoom on `metrics.LLM_RETRIES` and `_backoff`]</a:t>
            </a:r>
          </a:p>
          <a:p/>
          <a:p>
            <a:r>
              <a:t>Then the counter, `atlas_llm_retries_total`, with the model and the reason. Then the breaker learns about the failure, and the loop bound, `ATLAS_MAX_RETRIES`, two by default, decides whether there is another attempt. Then jittered backoff: a quarter second doubling per attempt, capped at four seconds, with up to half of it random, and zero offline so the replay stays fast. Jitter is not optional. Without it, a thousand clients that failed at the same instant retry at the same instant, and you've built a synchronised storm.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have their own retry problem. Atlas never re-runs a tool by itself. The model asks for it again, which is exactly the loop from lecture 5.6, and `ATLAS_MAX_TOOL_RETRIES` is the bound that turns a failing tool into an honest answer. Reads are safe to repeat. Writes aren't. If anything in your stack ever retries `create_ticket`, give it an idempotency key first, the trace id plus the step, so a retry returns the same ticket instead of opening a second one.</a:t>
            </a:r>
          </a:p>
          <a:p/>
          <a:p>
            <a:r>
              <a:t>[SCREEN: terminal]</a:t>
            </a:r>
          </a:p>
          <a:p/>
          <a:p>
            <a:r>
              <a:t>Now replay the storm, twice.</a:t>
            </a:r>
          </a:p>
          <a:p/>
          <a:p>
            <a:r>
              <a:t>[DEMO: the two summaries:]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shipped bound of two, the storm costs a dollar seventy-two extra, a thousand failed attempts billed for their input, and every request still resolves. Tighten it to one retry, and the day gets cheaper, fifty dollars thirteen. Cheaper because three hundred ninety-seven people got an error instead of an answer, and their requests stopped spending. That's not a saving. The right bound comes from the failure shape: here the provider fails exactly twice, so two is the smallest bound that works. Retries are a trade between cost and outcomes, and you only see the trade when both are on the same table.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checklist. Every timeout justified by a worksheet row. Retry only what can succeed. Bounded, jittered, capped. Every failed attempt priced on its own span and counted. Writes idempotent. And the counter is what turns a retry storm into a page instead of an invoice: Section 9 alerts above a fifth of a retry per request.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Fallbacks and circuit breakers with the Router.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states. Closed is normal: requests flow, failures get counted. Open: after three failures in a row, the model is skipped for thirty seconds and everything goes to the fallback. Half-open: when the cooldown ends, the next request probes the model. Success closes the circuit. Another failure re-opens it. In the LiteLLM Router those are `allowed_fails` and `cooldown_time`; Atlas also has its own small breaker, because it runs without the Router offline and in tests.</a:t>
            </a:r>
          </a:p>
          <a:p/>
          <a:p>
            <a:r>
              <a:t>[SCREEN: VS Code, `app/agent.py`]</a:t>
            </a:r>
          </a:p>
          <a:p/>
          <a:p>
            <a:r>
              <a:t>[CODE: `app/agent.py` (excerpt): fallback table, Router config and the breaker]</a:t>
            </a:r>
          </a:p>
          <a:p/>
          <a:p>
            <a:r>
              <a:t>Five models and one fallback each, in a plain table. `gpt-4.1-mini` falls back to `gpt-4o-mini`, a different model family, so a problem with one family doesn't take both; `gpt-4o-mini` falls back up to `gpt-4.1`, because a dearer answer beats no answer; `gpt-4.1` falls back down to mini, because if the strong model is down you still answer; and nano and `gpt-5-mini` fall back to mini.</a:t>
            </a:r>
          </a:p>
          <a:p/>
          <a:p>
            <a:r>
              <a:t>[SCREEN: zoom on `allowed_fails` and `cooldown_time`, then on `is_open`]</a:t>
            </a:r>
          </a:p>
          <a:p/>
          <a:p>
            <a:r>
              <a:t>The Router gets the same table through `build_router_config`, plus `allowed_fails` and `cooldown_time`, both from the environment. And because Atlas also runs without the Router, `CircuitBreaker` does the same job in-process: it opens for a model after three consecutive failures, half-opens after thirty seconds, and `_call_model` consults it before every attempt.</a:t>
            </a:r>
          </a:p>
          <a:p/>
          <a:p>
            <a:r>
              <a:t>One thing the Router does not tell you by default: that a fallback happened. We need that on the span and on a counter.</a:t>
            </a:r>
          </a:p>
          <a:p/>
          <a:p>
            <a:r>
              <a:t>[CODE: `app/agent.py` (excerpt): logging fallbacks, in `_call_model`]</a:t>
            </a:r>
          </a:p>
          <a:p/>
          <a:p>
            <a:r>
              <a:t>Before each attempt, if the breaker is open for the model we wanted, switch to its fallback, count it with from and to, log a warning with both names, and open the generation span under the model that will actually answer. Two things this buys you. Cost attribution stays honest: `_price` runs on `current`, the model that answered, and the span is named after it. And the fallback rate becomes a time series, `atlas_model_fallbacks_total`, which Grafana plots next to the retries in Section 9.</a:t>
            </a:r>
          </a:p>
          <a:p/>
          <a:p>
            <a:r>
              <a:t>[SCREEN: terminal]</a:t>
            </a:r>
          </a:p>
          <a:p/>
          <a:p>
            <a:r>
              <a:t>Let's watch it happen. Offline, with a provider that never answers gpt-4.1-mini in time.</a:t>
            </a:r>
          </a:p>
          <a:p/>
          <a:p>
            <a:r>
              <a:t>[DEMO: output:]</a:t>
            </a:r>
          </a:p>
          <a:p/>
          <a:p>
            <a:r>
              <a:t>Request one pays for the lesson: three timed-out attempts, all billed for their input, three tenths of a cent, and the user gets an error. Those three failures open the circuit. Request two never touches mini: both steps go straight to `gpt-4o-mini`, two fallbacks, resolved. Request three, same. And notice the price: the fallback answer cost less than a mini answer, because gpt-4o-mini is cheaper per token. A fallback can make a request dearer or cheaper. That's why it's priced on the served model.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the served model and the reason. Keep the error body in the structured log, not the span, because error bodies are big and sometimes contain the prompt. And treat a fallback as a warning, not an error. A fallback is a success for the user. If you log it as an error, your error rate lies during every provider hiccup. Resilience has a price, and you can read it in the showback by model: when fallbacks fire, a new model appears in the "Cost by model" table. Read that table weekly. A fallback line that creeps up is a provider degrading before it has an incident.</a:t>
            </a:r>
          </a:p>
          <a:p/>
          <a:p>
            <a:r>
              <a:t>[SCREEN: terminal, `uv run pytest tests/unit/test_agent.py -q -k "retry or fallback or breaker"`]</a:t>
            </a:r>
          </a:p>
          <a:p/>
          <a:p>
            <a:r>
              <a:t>[DEMO: `3 passed, 21 deselected`: `test_retry_storm_is_billed`, `test_circuit_breaker_states`, `test_fallback_after_circuit_opens`]</a:t>
            </a:r>
          </a:p>
          <a:p/>
          <a:p>
            <a:r>
              <a:t>Three unit tests pin this offline: failed attempts are billed with their error type, the breaker moves through closed, open and half-open on a fake clock, and once it's open the next call goes to `FALLBACKS[model]`.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Rate limits, queues and graceful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429 from the provider means you've exceeded a per-minute limit for tokens or requests. It often carries a `Retry-After` header. Honour that number, and don't retry immediately, because everyone else on the same key is retrying too. Atlas's loop from 7.3 handles the basics: `RateLimitError` is retryable, the backoff is jittered, every one is counted with its reason, and three in a row open the breaker so the fallback takes over. Reading `Retry-After` itself is the next improvement, and a short one. But if 429s are persistent, that's not an error. It's capacity. And capacity has three answers: pay for more, add a second provider, or decide who waits. The third one is ours to build.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[B-ROLL: diagram builds. Four lanes labelled by tenant, each with its slot count, merging into Atlas, then a single pipe to the provider....]</a:t>
            </a:r>
          </a:p>
          <a:p/>
          <a:p>
            <a:r>
              <a:t>One semaphore per tenant, sized from the showback: ops gets thirteen slots, eng seven, finance six, hr six, and an unknown tenant two. When ops fills its thirteen, the next pallet question waits in ops's own queue, up to three seconds, and is then turned away with a 429 and a one-second `Retry-After`. Finance's six slots are untouched. That's the whole trick. The provider's limit is shared, so somebody has to divide it before the provider does it for you, and the provider divides it by who asked first.</a:t>
            </a:r>
          </a:p>
          <a:p/>
          <a:p>
            <a:r>
              <a:t>[SCREEN: VS Code, `app/server.py`]</a:t>
            </a:r>
          </a:p>
          <a:p/>
          <a:p>
            <a:r>
              <a:t>[CODE: `app/server.py` (excerpt): `TenantLimiter`]</a:t>
            </a:r>
          </a:p>
          <a:p/>
          <a:p>
            <a:r>
              <a:t>Twenty lines. Wait for your tenant's semaphore, up to the queue timeout. If the wait runs out, record how long it waited, count a shed, and answer 429 with `Retry-After`. Otherwise count yourself in flight, run the agent, and release on the way out, even on an exception. The `/chat` route wraps the agent call in `async with limiter.slot(tenant)`.</a:t>
            </a:r>
          </a:p>
          <a:p/>
          <a:p>
            <a:r>
              <a:t>[SCREEN: terminal: Atlas started with one slot for ops and a half-second queue, and the mock sleeping its simulated latency; then five re...]</a:t>
            </a:r>
          </a:p>
          <a:p/>
          <a:p>
            <a:r>
              <a:t>[DEMO: the five responses, then `curl -s localhost:8000/metrics/ | grep -E "^atlas_(inflight|requests_shed_total|queue_wait_seconds_count...]</a:t>
            </a:r>
          </a:p>
          <a:p/>
          <a:p>
            <a:r>
              <a:t>One ops request gets the slot and takes three seconds. Three more ops requests wait half a second each and are shed. Finance never notices: its own slot, answered in three seconds. The counters agree: three shed, all ops.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must shed, shed in a declared order. This is policy you write, not something Atlas ships today beyond the economy mode from 6.7. First, repeated shipment checks: serve the tool result you already have. Second, policy questions from a tenant already over its soft cap go to economy mode. Third, your own traffic: pause the judge sampling from Section 8. Fourth, hold escalations to the strong model unless they're sensitive. And never shed password resets and urgent tickets. Write this list down before the incident. During the incident nobody has time to argue about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message. Degraded mode is not a failure if you tell the truth. Say what's happening, say what still works, say what to do; Atlas's budget refusal from 6.7 already points to a ticket and a phone extension. Never let a shorter budget turn into an invented answer. And make it countable: the decision is in every response and on every trace, so the number of degraded answers sits on the dashboard next to the number of fallbacks.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Chaos demo: slow provider during peak.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scenario. Four hours of the afternoon peak. Three in four requests get a provider that takes three and a half times longer to start and streams at half speed. No errors. Nothing returns a status code you could alert on. Just slow. This is the incident that gets you a chat message saying "is Atlas down?" while every health check is green.</a:t>
            </a:r>
          </a:p>
          <a:p/>
          <a:p>
            <a:r>
              <a:t>[SCREEN: terminal, then the Ops Console with three pages side by side: Latency (hourly p50 and p95, red 4 s budget line), Reliability (LL...]</a:t>
            </a:r>
          </a:p>
          <a:p/>
          <a:p>
            <a:r>
              <a:t>Run it.</a:t>
            </a:r>
          </a:p>
          <a:p/>
          <a:p>
            <a:r>
              <a:t>[DEMO: the replay summary, then the three pages:]</a:t>
            </a:r>
          </a:p>
          <a:p/>
          <a:p>
            <a:r>
              <a:t>Watch the p95 line. Flat at three point eight all morning. At one o'clock it jumps to nine point four, and it stays between nine point two and nine point four until five. Now look at the other two pages. The Reliability page says "No failed LLM attempts in this store." Not one failed call all day. Cost per hour: the afternoon bars look like any other afternoon. The whole day costs fifty-five eighty-six, slightly less than the baseline, not more.</a:t>
            </a:r>
          </a:p>
          <a:p/>
          <a:p>
            <a:r>
              <a:t>[SCREEN: Latency page, "Generation detail": generation duration p95 about 2.8 s all morning, about 6.5 s from 13:00 to 17:00]</a:t>
            </a:r>
          </a:p>
          <a:p/>
          <a:p>
            <a:r>
              <a:t>This is what a slow failure looks like. Nothing failed, so nothing retried and nothing fell back. The twenty-second timeout never fired, because a slow call here takes six or seven seconds, well under twenty. Every one of those slow calls just completed. Slowly. Two model calls per request, both slow, and the user waits nine seconds for an answer.</a:t>
            </a:r>
          </a:p>
          <a:p/>
          <a:p>
            <a:r>
              <a:t>And the cost panel is the cruelest part. Finance would never know. The bill for a terrible afternoon is the same as for a good one.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three charts together. Latency red. Retries flat. Cost flat. The generation detail on the Latency page shows each call's first token going from about two thirds of a second to over two seconds. That combination, red latency with nothing else moving, has exactly one meaning: the provider is slow, and nothing in your stack is turning slowness into an error. The fallback list from 7.4 is fine. It never fired, because fallbacks fire on errors.</a:t>
            </a:r>
          </a:p>
          <a:p/>
          <a:p>
            <a:r>
              <a:t>So what can you change? Start with what you control. Fewer tokens per call means less to stream.</a:t>
            </a:r>
          </a:p>
          <a:p/>
          <a:p>
            <a:r>
              <a:t>[SCREEN: terminal, then the Latency page for the new store]</a:t>
            </a:r>
          </a:p>
          <a:p/>
          <a:p>
            <a:r>
              <a:t>[DEMO: both summaries end `p95 latency 8404 ms`. The hourly p95 in the window drops from about 9.3 s to about 8.8 s with the diet; routin...]</a:t>
            </a:r>
          </a:p>
          <a:p/>
          <a:p>
            <a:r>
              <a:t>The diet takes the afternoon from nine point three to eight point eight. Routing moves the cost, not the p95, because the slowest requests are long policy answers that stay on the mid-size model. Half a second. That's what your own levers buy when the provider is slow everywhere: milliseconds, not seconds. Worth having, and nowhere near four seconds.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that buys seconds has two halves. First, a timeout tight enough to turn a stalled call into an error: around twice the slowest normal call, not twenty seconds. Second, somewhere else to send the step once the breaker opens, and it has to be somewhere the slowness isn't: another model family, or better, another provider. Here's the honest part. In this replay the whole provider is slow, every model, and the offline mock never times out a call. So the replay can't show the second half. You saw it work in 7.4, with the stalling provider: three timeouts, breaker open, every following request answered by the fallback. Against a real provider, `.env.chaos.example` has the settings, and the lab walks you through them.</a:t>
            </a:r>
          </a:p>
          <a:p/>
          <a:p>
            <a:r>
              <a:t>[SCREEN: terminal, `uv run pytest tests/unit/test_agent.py -q -k "slow_provider or fallback"`: `2 passed`]</a:t>
            </a:r>
          </a:p>
          <a:p/>
          <a:p>
            <a:r>
              <a:t>Two tests pin the mechanism offline: the slow-provider scenario really makes a request slower, and once the breaker is open the next call goes to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what we didn't touch. The fallback list, which is right; it just needs an error. The concurrency limits: a slow provider holds every slot longer, so on a live server `atlas_queue_wait_seconds` and the shed counter climb, which you'll watch in Grafana in Section 9; a replay has no server and no queue. The budget guard, which never fired, because the day cost the same. The prompt and the tools. One more run for you to try in the lab: a timeout that's too tight. On a real provider, set it below your slowest normal call, and healthy answers start timing out and falling back, cost goes up and p95 barely moves. Too tight is its own incident. The lab is about finding the number in between.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4: Hold p95 under 4 seconds during chaos.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hints. First, look at the retries and fallback panels before you touch anything; if they're at zero, the fix starts with a timeout, not a fallback. Second, remember what 7.6 showed: offline, the mock slows every model and never times out a call, so the replay shows the problem and the context diet's half second, and the timeout-and-fallback half needs a real provider or the stalling provider from 7.4. The lab tells you which steps run where, and if you have keys, how to set a spending cap before you run anything against the real API.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Latency and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tip: whenever a question shows you a chart with flat errors and rising latency, the answer involves a timeout, because nothing falls back until something errors.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LATENCY AND RELIABILITY</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Latency budgets for agents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Write a latency budget end to end, measure it at p95, and treat the budget as a contract the rest of the…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clocks, and the one agents add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Time to first token (TTFT): send to first streamed token of one model call. "Is it alive?"</a:t>
            </a:r>
          </a:p>
          <a:p>
            <a:pPr marL="292608" indent="-292608">
              <a:lnSpc>
                <a:spcPct val="120000"/>
              </a:lnSpc>
              <a:spcAft>
                <a:spcPts val="1120"/>
              </a:spcAft>
              <a:buClr>
                <a:srgbClr val="00D4AA"/>
              </a:buClr>
              <a:buFont typeface="Inter"/>
              <a:buChar char="•"/>
            </a:pPr>
            <a:r>
              <a:rPr sz="1600" b="0">
                <a:solidFill>
                  <a:srgbClr val="FFFFFF"/>
                </a:solidFill>
                <a:latin typeface="Inter"/>
              </a:rPr>
              <a:t>Time per output token (TPOT): the streaming speed. "Is it fast?"</a:t>
            </a:r>
          </a:p>
          <a:p>
            <a:pPr marL="292608" indent="-292608">
              <a:lnSpc>
                <a:spcPct val="120000"/>
              </a:lnSpc>
              <a:spcAft>
                <a:spcPts val="1120"/>
              </a:spcAft>
              <a:buClr>
                <a:srgbClr val="00D4AA"/>
              </a:buClr>
              <a:buFont typeface="Inter"/>
              <a:buChar char="•"/>
            </a:pPr>
            <a:r>
              <a:rPr sz="1600" b="0">
                <a:solidFill>
                  <a:srgbClr val="FFFFFF"/>
                </a:solidFill>
                <a:latin typeface="Inter"/>
              </a:rPr>
              <a:t>Total time: the whole request. What your logs record by default</a:t>
            </a:r>
          </a:p>
          <a:p>
            <a:pPr marL="292608" indent="-292608">
              <a:lnSpc>
                <a:spcPct val="120000"/>
              </a:lnSpc>
              <a:spcAft>
                <a:spcPts val="1120"/>
              </a:spcAft>
              <a:buClr>
                <a:srgbClr val="00D4AA"/>
              </a:buClr>
              <a:buFont typeface="Inter"/>
              <a:buChar char="•"/>
            </a:pPr>
            <a:r>
              <a:rPr sz="1600" b="0">
                <a:solidFill>
                  <a:srgbClr val="FFFFFF"/>
                </a:solidFill>
                <a:latin typeface="Inter"/>
              </a:rPr>
              <a:t>Agents add a fourth: time to the first token of the final answer, after every tool step</a:t>
            </a:r>
          </a:p>
        </p:txBody>
      </p:sp>
      <p:pic>
        <p:nvPicPr>
          <p:cNvPr id="6" name="Picture 5" descr="D7-latency-budget-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400" b="1">
                <a:solidFill>
                  <a:srgbClr val="FFFFFF"/>
                </a:solidFill>
                <a:latin typeface="Inter"/>
              </a:rPr>
              <a:t>Where the time goes in one Atlas request (the demo request from 6.1, offline)</a:t>
            </a:r>
          </a:p>
        </p:txBody>
      </p:sp>
      <p:sp>
        <p:nvSpPr>
          <p:cNvPr id="4" name="Rectangle 3"/>
          <p:cNvSpPr/>
          <p:nvPr/>
        </p:nvSpPr>
        <p:spPr>
          <a:xfrm>
            <a:off x="502920" y="1365269"/>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667021"/>
          <a:ext cx="11292839" cy="2304288"/>
        </p:xfrm>
        <a:graphic>
          <a:graphicData uri="http://schemas.openxmlformats.org/drawingml/2006/table">
            <a:tbl>
              <a:tblPr firstRow="1" bandRow="1">
                <a:tableStyleId>{5C22544A-7EE6-4342-B048-85BDC9FD1C3A}</a:tableStyleId>
              </a:tblPr>
              <a:tblGrid>
                <a:gridCol w="1307592"/>
                <a:gridCol w="5705855"/>
                <a:gridCol w="4279392"/>
              </a:tblGrid>
              <a:tr h="384048">
                <a:tc>
                  <a:txBody>
                    <a:bodyPr wrap="square"/>
                    <a:lstStyle/>
                    <a:p>
                      <a:r>
                        <a:rPr sz="1200" b="1">
                          <a:solidFill>
                            <a:srgbClr val="0A1628"/>
                          </a:solidFill>
                          <a:latin typeface="Inter"/>
                        </a:rPr>
                        <a:t>Step</a:t>
                      </a:r>
                    </a:p>
                  </a:txBody>
                  <a:tcPr marL="91440" marR="91440" marT="45720" marB="45720" anchor="ctr">
                    <a:solidFill>
                      <a:srgbClr val="00D4AA"/>
                    </a:solidFill>
                  </a:tcPr>
                </a:tc>
                <a:tc>
                  <a:txBody>
                    <a:bodyPr wrap="square"/>
                    <a:lstStyle/>
                    <a:p>
                      <a:r>
                        <a:rPr sz="1200" b="1">
                          <a:solidFill>
                            <a:srgbClr val="0A1628"/>
                          </a:solidFill>
                          <a:latin typeface="Inter"/>
                        </a:rPr>
                        <a:t>What happens</a:t>
                      </a:r>
                    </a:p>
                  </a:txBody>
                  <a:tcPr marL="91440" marR="91440" marT="45720" marB="45720" anchor="ctr">
                    <a:solidFill>
                      <a:srgbClr val="00D4AA"/>
                    </a:solidFill>
                  </a:tcPr>
                </a:tc>
                <a:tc>
                  <a:txBody>
                    <a:bodyPr wrap="square"/>
                    <a:lstStyle/>
                    <a:p>
                      <a:r>
                        <a:rPr sz="1200" b="1">
                          <a:solidFill>
                            <a:srgbClr val="0A1628"/>
                          </a:solidFill>
                          <a:latin typeface="Inter"/>
                        </a:rPr>
                        <a:t>Time</a:t>
                      </a:r>
                    </a:p>
                  </a:txBody>
                  <a:tcPr marL="91440" marR="91440" marT="45720" marB="45720" anchor="ctr">
                    <a:solidFill>
                      <a:srgbClr val="00D4AA"/>
                    </a:solidFill>
                  </a:tcPr>
                </a:tc>
              </a:tr>
              <a:tr h="384048">
                <a:tc>
                  <a:txBody>
                    <a:bodyPr wrap="square"/>
                    <a:lstStyle/>
                    <a:p>
                      <a:r>
                        <a:rPr sz="1200" b="1">
                          <a:solidFill>
                            <a:srgbClr val="FFFFFF"/>
                          </a:solidFill>
                          <a:latin typeface="Inter"/>
                        </a:rPr>
                        <a:t>1</a:t>
                      </a:r>
                    </a:p>
                  </a:txBody>
                  <a:tcPr marL="91440" marR="91440" marT="45720" marB="45720" anchor="ctr">
                    <a:solidFill>
                      <a:srgbClr val="1A2742"/>
                    </a:solidFill>
                  </a:tcPr>
                </a:tc>
                <a:tc>
                  <a:txBody>
                    <a:bodyPr wrap="square"/>
                    <a:lstStyle/>
                    <a:p>
                      <a:r>
                        <a:rPr sz="1200" b="0">
                          <a:solidFill>
                            <a:srgbClr val="FFFFFF"/>
                          </a:solidFill>
                          <a:latin typeface="Inter"/>
                        </a:rPr>
                        <a:t>model → tool call: first token 457 ms, 42 tokens</a:t>
                      </a:r>
                    </a:p>
                  </a:txBody>
                  <a:tcPr marL="91440" marR="91440" marT="45720" marB="45720" anchor="ctr">
                    <a:solidFill>
                      <a:srgbClr val="1A2742"/>
                    </a:solidFill>
                  </a:tcPr>
                </a:tc>
                <a:tc>
                  <a:txBody>
                    <a:bodyPr wrap="square"/>
                    <a:lstStyle/>
                    <a:p>
                      <a:r>
                        <a:rPr sz="1200" b="0">
                          <a:solidFill>
                            <a:srgbClr val="FFFFFF"/>
                          </a:solidFill>
                          <a:latin typeface="Inter"/>
                        </a:rPr>
                        <a:t>746 ms</a:t>
                      </a:r>
                    </a:p>
                  </a:txBody>
                  <a:tcPr marL="91440" marR="91440" marT="45720" marB="45720" anchor="ctr">
                    <a:solidFill>
                      <a:srgbClr val="1A2742"/>
                    </a:solidFill>
                  </a:tcPr>
                </a:tc>
              </a:tr>
              <a:tr h="384048">
                <a:tc>
                  <a:txBody>
                    <a:bodyPr wrap="square"/>
                    <a:lstStyle/>
                    <a:p>
                      <a:r>
                        <a:rPr sz="1200" b="1">
                          <a:solidFill>
                            <a:srgbClr val="FFFFFF"/>
                          </a:solidFill>
                          <a:latin typeface="Inter"/>
                        </a:rPr>
                        <a:t>tool</a:t>
                      </a:r>
                    </a:p>
                  </a:txBody>
                  <a:tcPr marL="91440" marR="91440" marT="45720" marB="45720" anchor="ctr">
                    <a:solidFill>
                      <a:srgbClr val="0F1E35"/>
                    </a:solidFill>
                  </a:tcPr>
                </a:tc>
                <a:tc>
                  <a:txBody>
                    <a:bodyPr wrap="square"/>
                    <a:lstStyle/>
                    <a:p>
                      <a:r>
                        <a:rPr sz="1104" b="0">
                          <a:solidFill>
                            <a:srgbClr val="00D4AA"/>
                          </a:solidFill>
                          <a:latin typeface="JetBrains Mono"/>
                        </a:rPr>
                        <a:t>search_knowledge_base</a:t>
                      </a:r>
                      <a:r>
                        <a:rPr sz="1200" b="0">
                          <a:solidFill>
                            <a:srgbClr val="FFFFFF"/>
                          </a:solidFill>
                          <a:latin typeface="Inter"/>
                        </a:rPr>
                        <a:t> (local index)</a:t>
                      </a:r>
                    </a:p>
                  </a:txBody>
                  <a:tcPr marL="91440" marR="91440" marT="45720" marB="45720" anchor="ctr">
                    <a:solidFill>
                      <a:srgbClr val="0F1E35"/>
                    </a:solidFill>
                  </a:tcPr>
                </a:tc>
                <a:tc>
                  <a:txBody>
                    <a:bodyPr wrap="square"/>
                    <a:lstStyle/>
                    <a:p>
                      <a:r>
                        <a:rPr sz="1200" b="0">
                          <a:solidFill>
                            <a:srgbClr val="FFFFFF"/>
                          </a:solidFill>
                          <a:latin typeface="Inter"/>
                        </a:rPr>
                        <a:t>a few ms</a:t>
                      </a:r>
                    </a:p>
                  </a:txBody>
                  <a:tcPr marL="91440" marR="91440" marT="45720" marB="45720" anchor="ctr">
                    <a:solidFill>
                      <a:srgbClr val="0F1E35"/>
                    </a:solidFill>
                  </a:tcPr>
                </a:tc>
              </a:tr>
              <a:tr h="384048">
                <a:tc>
                  <a:txBody>
                    <a:bodyPr wrap="square"/>
                    <a:lstStyle/>
                    <a:p>
                      <a:r>
                        <a:rPr sz="1200" b="1">
                          <a:solidFill>
                            <a:srgbClr val="FFFFFF"/>
                          </a:solidFill>
                          <a:latin typeface="Inter"/>
                        </a:rPr>
                        <a:t>2</a:t>
                      </a:r>
                    </a:p>
                  </a:txBody>
                  <a:tcPr marL="91440" marR="91440" marT="45720" marB="45720" anchor="ctr">
                    <a:solidFill>
                      <a:srgbClr val="1A2742"/>
                    </a:solidFill>
                  </a:tcPr>
                </a:tc>
                <a:tc>
                  <a:txBody>
                    <a:bodyPr wrap="square"/>
                    <a:lstStyle/>
                    <a:p>
                      <a:r>
                        <a:rPr sz="1200" b="0">
                          <a:solidFill>
                            <a:srgbClr val="FFFFFF"/>
                          </a:solidFill>
                          <a:latin typeface="Inter"/>
                        </a:rPr>
                        <a:t>model → answer: first token 429 ms</a:t>
                      </a:r>
                    </a:p>
                  </a:txBody>
                  <a:tcPr marL="91440" marR="91440" marT="45720" marB="45720" anchor="ctr">
                    <a:solidFill>
                      <a:srgbClr val="1A2742"/>
                    </a:solidFill>
                  </a:tcPr>
                </a:tc>
                <a:tc>
                  <a:txBody>
                    <a:bodyPr wrap="square"/>
                    <a:lstStyle/>
                    <a:p>
                      <a:r>
                        <a:rPr sz="1200" b="0">
                          <a:solidFill>
                            <a:srgbClr val="FFFFFF"/>
                          </a:solidFill>
                          <a:latin typeface="Inter"/>
                        </a:rPr>
                        <a:t>first word of the answer at 1,174 ms</a:t>
                      </a:r>
                    </a:p>
                  </a:txBody>
                  <a:tcPr marL="91440" marR="91440" marT="45720" marB="45720" anchor="ctr">
                    <a:solidFill>
                      <a:srgbClr val="1A2742"/>
                    </a:solidFill>
                  </a:tcPr>
                </a:tc>
              </a:tr>
              <a:tr h="384048">
                <a:tc>
                  <a:txBody>
                    <a:bodyPr wrap="square"/>
                    <a:lstStyle/>
                    <a:p>
                      <a:r>
                        <a:rPr sz="1200" b="1">
                          <a:solidFill>
                            <a:srgbClr val="FFFFFF"/>
                          </a:solidFill>
                          <a:latin typeface="Inter"/>
                        </a:rPr>
                        <a:t>2</a:t>
                      </a:r>
                    </a:p>
                  </a:txBody>
                  <a:tcPr marL="91440" marR="91440" marT="45720" marB="45720" anchor="ctr">
                    <a:solidFill>
                      <a:srgbClr val="0F1E35"/>
                    </a:solidFill>
                  </a:tcPr>
                </a:tc>
                <a:tc>
                  <a:txBody>
                    <a:bodyPr wrap="square"/>
                    <a:lstStyle/>
                    <a:p>
                      <a:r>
                        <a:rPr sz="1200" b="0">
                          <a:solidFill>
                            <a:srgbClr val="FFFFFF"/>
                          </a:solidFill>
                          <a:latin typeface="Inter"/>
                        </a:rPr>
                        <a:t>streaming 282 tokens at about 7 ms each</a:t>
                      </a:r>
                    </a:p>
                  </a:txBody>
                  <a:tcPr marL="91440" marR="91440" marT="45720" marB="45720" anchor="ctr">
                    <a:solidFill>
                      <a:srgbClr val="0F1E35"/>
                    </a:solidFill>
                  </a:tcPr>
                </a:tc>
                <a:tc>
                  <a:txBody>
                    <a:bodyPr wrap="square"/>
                    <a:lstStyle/>
                    <a:p>
                      <a:r>
                        <a:rPr sz="1200" b="0">
                          <a:solidFill>
                            <a:srgbClr val="FFFFFF"/>
                          </a:solidFill>
                          <a:latin typeface="Inter"/>
                        </a:rPr>
                        <a:t>+ 2,015 ms</a:t>
                      </a:r>
                    </a:p>
                  </a:txBody>
                  <a:tcPr marL="91440" marR="91440" marT="45720" marB="45720" anchor="ctr">
                    <a:solidFill>
                      <a:srgbClr val="0F1E35"/>
                    </a:solidFill>
                  </a:tcPr>
                </a:tc>
              </a:tr>
              <a:tr h="384048">
                <a:tc>
                  <a:txBody>
                    <a:bodyPr wrap="square"/>
                    <a:lstStyle/>
                    <a:p>
                      <a:r>
                        <a:rPr sz="1200" b="1">
                          <a:solidFill>
                            <a:srgbClr val="FFFFFF"/>
                          </a:solidFill>
                          <a:latin typeface="Inter"/>
                        </a:rPr>
                        <a:t>Full answer</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c>
                  <a:txBody>
                    <a:bodyPr wrap="square"/>
                    <a:lstStyle/>
                    <a:p>
                      <a:r>
                        <a:rPr sz="1200" b="0">
                          <a:solidFill>
                            <a:srgbClr val="FFFFFF"/>
                          </a:solidFill>
                          <a:latin typeface="Inter"/>
                        </a:rPr>
                        <a:t>3,189 ms</a:t>
                      </a:r>
                    </a:p>
                  </a:txBody>
                  <a:tcPr marL="91440" marR="91440" marT="45720" marB="45720" anchor="ctr">
                    <a:solidFill>
                      <a:srgbClr val="1A2742"/>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budget (Atlas, from the worksheet)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Contract: p95 end to end ≤ 4.0 s (</a:t>
            </a:r>
            <a:r>
              <a:rPr sz="1656" b="0">
                <a:solidFill>
                  <a:srgbClr val="00D4AA"/>
                </a:solidFill>
                <a:latin typeface="JetBrains Mono"/>
              </a:rPr>
              <a:t>BUDGET_P95_LATENCY_MS</a:t>
            </a:r>
            <a:r>
              <a:rPr sz="1800" b="0">
                <a:solidFill>
                  <a:srgbClr val="FFFFFF"/>
                </a:solidFill>
                <a:latin typeface="Inter"/>
              </a:rPr>
              <a:t>, the CI gate in 13.3, the alert in 9.5)</a:t>
            </a:r>
          </a:p>
          <a:p>
            <a:pPr marL="292608" indent="-292608">
              <a:lnSpc>
                <a:spcPct val="120000"/>
              </a:lnSpc>
              <a:spcAft>
                <a:spcPts val="1260"/>
              </a:spcAft>
              <a:buClr>
                <a:srgbClr val="00D4AA"/>
              </a:buClr>
              <a:buFont typeface="Inter"/>
              <a:buChar char="•"/>
            </a:pPr>
            <a:r>
              <a:rPr sz="1800" b="0">
                <a:solidFill>
                  <a:srgbClr val="FFFFFF"/>
                </a:solidFill>
                <a:latin typeface="Inter"/>
              </a:rPr>
              <a:t>Today: p95 3.83 s, so 173 ms of headroom</a:t>
            </a:r>
          </a:p>
          <a:p>
            <a:pPr marL="292608" indent="-292608">
              <a:lnSpc>
                <a:spcPct val="120000"/>
              </a:lnSpc>
              <a:spcAft>
                <a:spcPts val="1260"/>
              </a:spcAft>
              <a:buClr>
                <a:srgbClr val="00D4AA"/>
              </a:buClr>
              <a:buFont typeface="Inter"/>
              <a:buChar char="•"/>
            </a:pPr>
            <a:r>
              <a:rPr sz="1800" b="0">
                <a:solidFill>
                  <a:srgbClr val="FFFFFF"/>
                </a:solidFill>
                <a:latin typeface="Inter"/>
              </a:rPr>
              <a:t>Diagnostics under it: answer TTFT p95 1.70 s; per-call TTFT p95 0.65 s; generation p95 2.82 s</a:t>
            </a:r>
          </a:p>
          <a:p>
            <a:pPr marL="292608" indent="-292608">
              <a:lnSpc>
                <a:spcPct val="120000"/>
              </a:lnSpc>
              <a:spcAft>
                <a:spcPts val="1260"/>
              </a:spcAft>
              <a:buClr>
                <a:srgbClr val="00D4AA"/>
              </a:buClr>
              <a:buFont typeface="Inter"/>
              <a:buChar char="•"/>
            </a:pPr>
            <a:r>
              <a:rPr sz="1800" b="0">
                <a:solidFill>
                  <a:srgbClr val="FFFFFF"/>
                </a:solidFill>
                <a:latin typeface="Inter"/>
              </a:rPr>
              <a:t>Users feel the first word: watch answer TTFT even though the contract is end to end</a:t>
            </a:r>
          </a:p>
          <a:p>
            <a:pPr marL="292608" indent="-292608">
              <a:lnSpc>
                <a:spcPct val="120000"/>
              </a:lnSpc>
              <a:spcAft>
                <a:spcPts val="1260"/>
              </a:spcAft>
              <a:buClr>
                <a:srgbClr val="00D4AA"/>
              </a:buClr>
              <a:buFont typeface="Inter"/>
              <a:buChar char="•"/>
            </a:pPr>
            <a:r>
              <a:rPr sz="1800" b="0">
                <a:solidFill>
                  <a:srgbClr val="FFFFFF"/>
                </a:solidFill>
                <a:latin typeface="Inter"/>
              </a:rPr>
              <a:t>Voice agents (Course 3) budget 800 ms end to end; a chat helpdesk gets 4 s; know which you 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p95 and not p99 or the mean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Mean: hides everything; four slow hours vanish into a day of 10,000 requests</a:t>
            </a:r>
          </a:p>
          <a:p>
            <a:pPr marL="292608" indent="-292608">
              <a:lnSpc>
                <a:spcPct val="120000"/>
              </a:lnSpc>
              <a:spcAft>
                <a:spcPts val="1260"/>
              </a:spcAft>
              <a:buClr>
                <a:srgbClr val="00D4AA"/>
              </a:buClr>
              <a:buFont typeface="Inter"/>
              <a:buChar char="•"/>
            </a:pPr>
            <a:r>
              <a:rPr sz="1800" b="0">
                <a:solidFill>
                  <a:srgbClr val="FFFFFF"/>
                </a:solidFill>
                <a:latin typeface="Inter"/>
              </a:rPr>
              <a:t>p50: what the typical user gets; fine for capacity, useless for pain</a:t>
            </a:r>
          </a:p>
          <a:p>
            <a:pPr marL="292608" indent="-292608">
              <a:lnSpc>
                <a:spcPct val="120000"/>
              </a:lnSpc>
              <a:spcAft>
                <a:spcPts val="1260"/>
              </a:spcAft>
              <a:buClr>
                <a:srgbClr val="00D4AA"/>
              </a:buClr>
              <a:buFont typeface="Inter"/>
              <a:buChar char="•"/>
            </a:pPr>
            <a:r>
              <a:rPr sz="1800" b="0">
                <a:solidFill>
                  <a:srgbClr val="FFFFFF"/>
                </a:solidFill>
                <a:latin typeface="Inter"/>
              </a:rPr>
              <a:t>p95: one in twenty; the number an engineering team can actually hold</a:t>
            </a:r>
          </a:p>
          <a:p>
            <a:pPr marL="292608" indent="-292608">
              <a:lnSpc>
                <a:spcPct val="120000"/>
              </a:lnSpc>
              <a:spcAft>
                <a:spcPts val="1260"/>
              </a:spcAft>
              <a:buClr>
                <a:srgbClr val="00D4AA"/>
              </a:buClr>
              <a:buFont typeface="Inter"/>
              <a:buChar char="•"/>
            </a:pPr>
            <a:r>
              <a:rPr sz="1800" b="0">
                <a:solidFill>
                  <a:srgbClr val="FFFFFF"/>
                </a:solidFill>
                <a:latin typeface="Inter"/>
              </a:rPr>
              <a:t>p99: one in a hundred; watch it, alert on trend, don't budget on it for an LLM app</a:t>
            </a:r>
          </a:p>
          <a:p>
            <a:pPr marL="292608" indent="-292608">
              <a:lnSpc>
                <a:spcPct val="120000"/>
              </a:lnSpc>
              <a:spcAft>
                <a:spcPts val="1260"/>
              </a:spcAft>
              <a:buClr>
                <a:srgbClr val="00D4AA"/>
              </a:buClr>
              <a:buFont typeface="Inter"/>
              <a:buChar char="•"/>
            </a:pPr>
            <a:r>
              <a:rPr sz="1800" b="0">
                <a:solidFill>
                  <a:srgbClr val="FFFFFF"/>
                </a:solidFill>
                <a:latin typeface="Inter"/>
              </a:rPr>
              <a:t>Budget at p95, alert on p95, report p50 alongside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budget worksheet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10-resources/latency-budget-worksheet.md</a:t>
            </a:r>
          </a:p>
          <a:p>
            <a:pPr marL="292608" indent="-292608">
              <a:lnSpc>
                <a:spcPct val="120000"/>
              </a:lnSpc>
              <a:spcAft>
                <a:spcPts val="1260"/>
              </a:spcAft>
              <a:buClr>
                <a:srgbClr val="00D4AA"/>
              </a:buClr>
              <a:buFont typeface="Inter"/>
              <a:buChar char="•"/>
            </a:pPr>
            <a:r>
              <a:rPr sz="1800" b="0">
                <a:solidFill>
                  <a:srgbClr val="FFFFFF"/>
                </a:solidFill>
                <a:latin typeface="Inter"/>
              </a:rPr>
              <a:t>Rows: each step, each tool, each model call; columns: p50, p95, budget, headroom</a:t>
            </a:r>
          </a:p>
          <a:p>
            <a:pPr marL="292608" indent="-292608">
              <a:lnSpc>
                <a:spcPct val="120000"/>
              </a:lnSpc>
              <a:spcAft>
                <a:spcPts val="1260"/>
              </a:spcAft>
              <a:buClr>
                <a:srgbClr val="00D4AA"/>
              </a:buClr>
              <a:buFont typeface="Inter"/>
              <a:buChar char="•"/>
            </a:pPr>
            <a:r>
              <a:rPr sz="1800" b="0">
                <a:solidFill>
                  <a:srgbClr val="FFFFFF"/>
                </a:solidFill>
                <a:latin typeface="Inter"/>
              </a:rPr>
              <a:t>Fill it from spans, not from guesses (7.2)</a:t>
            </a:r>
          </a:p>
          <a:p>
            <a:pPr marL="292608" indent="-292608">
              <a:lnSpc>
                <a:spcPct val="120000"/>
              </a:lnSpc>
              <a:spcAft>
                <a:spcPts val="1260"/>
              </a:spcAft>
              <a:buClr>
                <a:srgbClr val="00D4AA"/>
              </a:buClr>
              <a:buFont typeface="Inter"/>
              <a:buChar char="•"/>
            </a:pPr>
            <a:r>
              <a:rPr sz="1800" b="0">
                <a:solidFill>
                  <a:srgbClr val="FFFFFF"/>
                </a:solidFill>
                <a:latin typeface="Inter"/>
              </a:rPr>
              <a:t>Every reliability control in 7.3 to 7.5 is justified by a row in this sheet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Users feel the answer's first token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Budget at p95: 4 seconds end to end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Atlas has 173 ms of headroom today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measure TTFT, TPOT and p95 from spans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code: aggregate TTFT, TPOT and total time from the span store, expose them as Prometheus histograms…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LATENCY AND RELIABILITY</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measure TTFT, TPOT and p95 from spans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Derive first-token, per-token and total timings from the span attributes you already emit, compute percentiles without numpy, and expose them as Prometheus…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From spans to clocks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TTFT of a call: </a:t>
            </a:r>
            <a:r>
              <a:rPr sz="1656" b="0">
                <a:solidFill>
                  <a:srgbClr val="00D4AA"/>
                </a:solidFill>
                <a:latin typeface="JetBrains Mono"/>
              </a:rPr>
              <a:t>atlas.ttft_ms</a:t>
            </a:r>
            <a:r>
              <a:rPr sz="1800" b="0">
                <a:solidFill>
                  <a:srgbClr val="FFFFFF"/>
                </a:solidFill>
                <a:latin typeface="Inter"/>
              </a:rPr>
              <a:t> on the generation span (also </a:t>
            </a:r>
            <a:r>
              <a:rPr sz="1656" b="0">
                <a:solidFill>
                  <a:srgbClr val="00D4AA"/>
                </a:solidFill>
                <a:latin typeface="JetBrains Mono"/>
              </a:rPr>
              <a:t>gen_ai.response.time_to_first_chunk</a:t>
            </a:r>
            <a:r>
              <a:rPr sz="1800" b="0">
                <a:solidFill>
                  <a:srgbClr val="FFFFFF"/>
                </a:solidFill>
                <a:latin typeface="Inter"/>
              </a:rPr>
              <a:t>, incubating)</a:t>
            </a:r>
          </a:p>
          <a:p>
            <a:pPr marL="292608" indent="-292608">
              <a:lnSpc>
                <a:spcPct val="120000"/>
              </a:lnSpc>
              <a:spcAft>
                <a:spcPts val="1260"/>
              </a:spcAft>
              <a:buClr>
                <a:srgbClr val="00D4AA"/>
              </a:buClr>
              <a:buFont typeface="Inter"/>
              <a:buChar char="•"/>
            </a:pPr>
            <a:r>
              <a:rPr sz="1800" b="0">
                <a:solidFill>
                  <a:srgbClr val="FFFFFF"/>
                </a:solidFill>
                <a:latin typeface="Inter"/>
              </a:rPr>
              <a:t>TPOT: </a:t>
            </a:r>
            <a:r>
              <a:rPr sz="1656" b="0">
                <a:solidFill>
                  <a:srgbClr val="00D4AA"/>
                </a:solidFill>
                <a:latin typeface="JetBrains Mono"/>
              </a:rPr>
              <a:t>(total − TTFT) / (output_tokens − 1)</a:t>
            </a:r>
          </a:p>
          <a:p>
            <a:pPr marL="292608" indent="-292608">
              <a:lnSpc>
                <a:spcPct val="120000"/>
              </a:lnSpc>
              <a:spcAft>
                <a:spcPts val="1260"/>
              </a:spcAft>
              <a:buClr>
                <a:srgbClr val="00D4AA"/>
              </a:buClr>
              <a:buFont typeface="Inter"/>
              <a:buChar char="•"/>
            </a:pPr>
            <a:r>
              <a:rPr sz="1800" b="0">
                <a:solidFill>
                  <a:srgbClr val="FFFFFF"/>
                </a:solidFill>
                <a:latin typeface="Inter"/>
              </a:rPr>
              <a:t>Total: the request's duration, </a:t>
            </a:r>
            <a:r>
              <a:rPr sz="1656" b="0">
                <a:solidFill>
                  <a:srgbClr val="00D4AA"/>
                </a:solidFill>
                <a:latin typeface="JetBrains Mono"/>
              </a:rPr>
              <a:t>atlas.latency_ms</a:t>
            </a:r>
            <a:r>
              <a:rPr sz="1800" b="0">
                <a:solidFill>
                  <a:srgbClr val="FFFFFF"/>
                </a:solidFill>
                <a:latin typeface="Inter"/>
              </a:rPr>
              <a:t> on the agent span</a:t>
            </a:r>
          </a:p>
          <a:p>
            <a:pPr marL="292608" indent="-292608">
              <a:lnSpc>
                <a:spcPct val="120000"/>
              </a:lnSpc>
              <a:spcAft>
                <a:spcPts val="1260"/>
              </a:spcAft>
              <a:buClr>
                <a:srgbClr val="00D4AA"/>
              </a:buClr>
              <a:buFont typeface="Inter"/>
              <a:buChar char="•"/>
            </a:pPr>
            <a:r>
              <a:rPr sz="1800" b="0">
                <a:solidFill>
                  <a:srgbClr val="FFFFFF"/>
                </a:solidFill>
                <a:latin typeface="Inter"/>
              </a:rPr>
              <a:t>Answer's first token: all earlier steps + the last step's TTFT, </a:t>
            </a:r>
            <a:r>
              <a:rPr sz="1656" b="0">
                <a:solidFill>
                  <a:srgbClr val="00D4AA"/>
                </a:solidFill>
                <a:latin typeface="JetBrains Mono"/>
              </a:rPr>
              <a:t>atlas.ttft_ms</a:t>
            </a:r>
            <a:r>
              <a:rPr sz="1800" b="0">
                <a:solidFill>
                  <a:srgbClr val="FFFFFF"/>
                </a:solidFill>
                <a:latin typeface="Inter"/>
              </a:rPr>
              <a:t> on the agent span</a:t>
            </a:r>
          </a:p>
          <a:p>
            <a:pPr marL="292608" indent="-292608">
              <a:lnSpc>
                <a:spcPct val="120000"/>
              </a:lnSpc>
              <a:spcAft>
                <a:spcPts val="1260"/>
              </a:spcAft>
              <a:buClr>
                <a:srgbClr val="00D4AA"/>
              </a:buClr>
              <a:buFont typeface="Inter"/>
              <a:buChar char="•"/>
            </a:pPr>
            <a:r>
              <a:rPr sz="1800" b="0">
                <a:solidFill>
                  <a:srgbClr val="FFFFFF"/>
                </a:solidFill>
                <a:latin typeface="Inter"/>
              </a:rPr>
              <a:t>Langfuse sees the same moment as </a:t>
            </a:r>
            <a:r>
              <a:rPr sz="1656" b="0">
                <a:solidFill>
                  <a:srgbClr val="00D4AA"/>
                </a:solidFill>
                <a:latin typeface="JetBrains Mono"/>
              </a:rPr>
              <a:t>completion_start_time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worksheet, filled from spans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End to end: p50 3,232 ms, p95 3,827 ms, budget 4,000 ms, headroom 173 ms</a:t>
            </a:r>
          </a:p>
          <a:p>
            <a:pPr marL="292608" indent="-292608">
              <a:lnSpc>
                <a:spcPct val="120000"/>
              </a:lnSpc>
              <a:spcAft>
                <a:spcPts val="1260"/>
              </a:spcAft>
              <a:buClr>
                <a:srgbClr val="00D4AA"/>
              </a:buClr>
              <a:buFont typeface="Inter"/>
              <a:buChar char="•"/>
            </a:pPr>
            <a:r>
              <a:rPr sz="1800" b="0">
                <a:solidFill>
                  <a:srgbClr val="FFFFFF"/>
                </a:solidFill>
                <a:latin typeface="Inter"/>
              </a:rPr>
              <a:t>Answer's first token: p50 1,427 ms, p95 1,702 ms</a:t>
            </a:r>
          </a:p>
          <a:p>
            <a:pPr marL="292608" indent="-292608">
              <a:lnSpc>
                <a:spcPct val="120000"/>
              </a:lnSpc>
              <a:spcAft>
                <a:spcPts val="1260"/>
              </a:spcAft>
              <a:buClr>
                <a:srgbClr val="00D4AA"/>
              </a:buClr>
              <a:buFont typeface="Inter"/>
              <a:buChar char="•"/>
            </a:pPr>
            <a:r>
              <a:rPr sz="1800" b="0">
                <a:solidFill>
                  <a:srgbClr val="FFFFFF"/>
                </a:solidFill>
                <a:latin typeface="Inter"/>
              </a:rPr>
              <a:t>Per call: TTFT p95 652 ms; generation p95 2,824 ms</a:t>
            </a:r>
          </a:p>
          <a:p>
            <a:pPr marL="292608" indent="-292608">
              <a:lnSpc>
                <a:spcPct val="120000"/>
              </a:lnSpc>
              <a:spcAft>
                <a:spcPts val="1260"/>
              </a:spcAft>
              <a:buClr>
                <a:srgbClr val="00D4AA"/>
              </a:buClr>
              <a:buFont typeface="Inter"/>
              <a:buChar char="•"/>
            </a:pPr>
            <a:r>
              <a:rPr sz="1800" b="0">
                <a:solidFill>
                  <a:srgbClr val="FFFFFF"/>
                </a:solidFill>
                <a:latin typeface="Inter"/>
              </a:rPr>
              <a:t>Hourly p95: flat, 3,647 to 3,870 ms; no lunchtime bump on a normal day</a:t>
            </a:r>
          </a:p>
          <a:p>
            <a:pPr marL="292608" indent="-292608">
              <a:lnSpc>
                <a:spcPct val="120000"/>
              </a:lnSpc>
              <a:spcAft>
                <a:spcPts val="1260"/>
              </a:spcAft>
              <a:buClr>
                <a:srgbClr val="00D4AA"/>
              </a:buClr>
              <a:buFont typeface="Inter"/>
              <a:buChar char="•"/>
            </a:pPr>
            <a:r>
              <a:rPr sz="1800" b="0">
                <a:solidFill>
                  <a:srgbClr val="FFFFFF"/>
                </a:solidFill>
                <a:latin typeface="Inter"/>
              </a:rPr>
              <a:t>By tenant: ops fastest (p95 3,670), finance slowest (p95 3,905)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Four clocks fall out of span attributes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Percentiles: linear interpolation, no numpy</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Histograms: bucket edge at the budget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Timeouts, retries and backoff done right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Now you can see where the time goes.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LATENCY AND RELIABILITY</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Timeouts, retries and backoff done right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Give every call a timeout derived from the budget, bound retries with jittered backoff, keep tool writes safe to repeat, and count…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rules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Timeouts come from the budget, not from a default</a:t>
            </a:r>
          </a:p>
          <a:p>
            <a:pPr marL="292608" indent="-292608">
              <a:lnSpc>
                <a:spcPct val="120000"/>
              </a:lnSpc>
              <a:spcAft>
                <a:spcPts val="1539"/>
              </a:spcAft>
              <a:buClr>
                <a:srgbClr val="00D4AA"/>
              </a:buClr>
              <a:buFont typeface="Inter"/>
              <a:buChar char="•"/>
            </a:pPr>
            <a:r>
              <a:rPr sz="2200" b="0">
                <a:solidFill>
                  <a:srgbClr val="FFFFFF"/>
                </a:solidFill>
                <a:latin typeface="Inter"/>
              </a:rPr>
              <a:t>Retries are bounded, jittered, and only for errors that a retry can fix</a:t>
            </a:r>
          </a:p>
          <a:p>
            <a:pPr marL="292608" indent="-292608">
              <a:lnSpc>
                <a:spcPct val="120000"/>
              </a:lnSpc>
              <a:spcAft>
                <a:spcPts val="1539"/>
              </a:spcAft>
              <a:buClr>
                <a:srgbClr val="00D4AA"/>
              </a:buClr>
              <a:buFont typeface="Inter"/>
              <a:buChar char="•"/>
            </a:pPr>
            <a:r>
              <a:rPr sz="2200" b="0">
                <a:solidFill>
                  <a:srgbClr val="FFFFFF"/>
                </a:solidFill>
                <a:latin typeface="Inter"/>
              </a:rPr>
              <a:t>Every retry is a cost event: count it, and price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Timeouts from the budget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ATLAS_REQUEST_TIMEOUT_S</a:t>
            </a:r>
            <a:r>
              <a:rPr sz="1800" b="0">
                <a:solidFill>
                  <a:srgbClr val="FFFFFF"/>
                </a:solidFill>
                <a:latin typeface="Inter"/>
              </a:rPr>
              <a:t>: per model call, default 20 s, passed to the client and the Router</a:t>
            </a:r>
          </a:p>
          <a:p>
            <a:pPr marL="292608" indent="-292608">
              <a:lnSpc>
                <a:spcPct val="120000"/>
              </a:lnSpc>
              <a:spcAft>
                <a:spcPts val="1260"/>
              </a:spcAft>
              <a:buClr>
                <a:srgbClr val="00D4AA"/>
              </a:buClr>
              <a:buFont typeface="Inter"/>
              <a:buChar char="•"/>
            </a:pPr>
            <a:r>
              <a:rPr sz="1800" b="0">
                <a:solidFill>
                  <a:srgbClr val="FFFFFF"/>
                </a:solidFill>
                <a:latin typeface="Inter"/>
              </a:rPr>
              <a:t>Normal calls: TTFT p95 0.65 s, generation p95 2.8 s (7.2)</a:t>
            </a:r>
          </a:p>
          <a:p>
            <a:pPr marL="292608" indent="-292608">
              <a:lnSpc>
                <a:spcPct val="120000"/>
              </a:lnSpc>
              <a:spcAft>
                <a:spcPts val="1260"/>
              </a:spcAft>
              <a:buClr>
                <a:srgbClr val="00D4AA"/>
              </a:buClr>
              <a:buFont typeface="Inter"/>
              <a:buChar char="•"/>
            </a:pPr>
            <a:r>
              <a:rPr sz="1800" b="0">
                <a:solidFill>
                  <a:srgbClr val="FFFFFF"/>
                </a:solidFill>
                <a:latin typeface="Inter"/>
              </a:rPr>
              <a:t>A timeout near 2× the slowest normal call (about 6 s) cuts off a stall, not a long answer</a:t>
            </a:r>
          </a:p>
          <a:p>
            <a:pPr marL="292608" indent="-292608">
              <a:lnSpc>
                <a:spcPct val="120000"/>
              </a:lnSpc>
              <a:spcAft>
                <a:spcPts val="1260"/>
              </a:spcAft>
              <a:buClr>
                <a:srgbClr val="00D4AA"/>
              </a:buClr>
              <a:buFont typeface="Inter"/>
              <a:buChar char="•"/>
            </a:pPr>
            <a:r>
              <a:rPr sz="1800" b="0">
                <a:solidFill>
                  <a:srgbClr val="FFFFFF"/>
                </a:solidFill>
                <a:latin typeface="Inter"/>
              </a:rPr>
              <a:t>20 s × 3 attempts is a minute of waiting before the user sees an error</a:t>
            </a:r>
          </a:p>
          <a:p>
            <a:pPr marL="292608" indent="-292608">
              <a:lnSpc>
                <a:spcPct val="120000"/>
              </a:lnSpc>
              <a:spcAft>
                <a:spcPts val="1260"/>
              </a:spcAft>
              <a:buClr>
                <a:srgbClr val="00D4AA"/>
              </a:buClr>
              <a:buFont typeface="Inter"/>
              <a:buChar char="•"/>
            </a:pPr>
            <a:r>
              <a:rPr sz="1800" b="0">
                <a:solidFill>
                  <a:srgbClr val="FFFFFF"/>
                </a:solidFill>
                <a:latin typeface="Inter"/>
              </a:rPr>
              <a:t>Offline the mock never times out a call; this setting matters against a real provider (verify the client's timeout semantics)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Tool calls: who retries, and what must be safe to repeat</a:t>
            </a:r>
          </a:p>
        </p:txBody>
      </p:sp>
      <p:sp>
        <p:nvSpPr>
          <p:cNvPr id="4" name="Rectangle 3"/>
          <p:cNvSpPr/>
          <p:nvPr/>
        </p:nvSpPr>
        <p:spPr>
          <a:xfrm>
            <a:off x="502920" y="1435607"/>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828800"/>
            <a:ext cx="10881360" cy="448056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Atlas never re-runs a tool by itself; the model decides to call it again (the loop scenario in 5.6)</a:t>
            </a:r>
          </a:p>
          <a:p>
            <a:pPr marL="292608" indent="-292608">
              <a:lnSpc>
                <a:spcPct val="120000"/>
              </a:lnSpc>
              <a:spcAft>
                <a:spcPts val="1260"/>
              </a:spcAft>
              <a:buClr>
                <a:srgbClr val="00D4AA"/>
              </a:buClr>
              <a:buFont typeface="Inter"/>
              <a:buChar char="•"/>
            </a:pPr>
            <a:r>
              <a:rPr sz="1656" b="0">
                <a:solidFill>
                  <a:srgbClr val="00D4AA"/>
                </a:solidFill>
                <a:latin typeface="JetBrains Mono"/>
              </a:rPr>
              <a:t>ATLAS_MAX_TOOL_RETRIES</a:t>
            </a:r>
            <a:r>
              <a:rPr sz="1800" b="0">
                <a:solidFill>
                  <a:srgbClr val="FFFFFF"/>
                </a:solidFill>
                <a:latin typeface="Inter"/>
              </a:rPr>
              <a:t> bounds that: after N failures of one tool, stop and say so (</a:t>
            </a:r>
            <a:r>
              <a:rPr sz="1656" b="0">
                <a:solidFill>
                  <a:srgbClr val="00D4AA"/>
                </a:solidFill>
                <a:latin typeface="JetBrains Mono"/>
              </a:rPr>
              <a:t>tool_retries_exhausted</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800" b="0">
                <a:solidFill>
                  <a:srgbClr val="FFFFFF"/>
                </a:solidFill>
                <a:latin typeface="Inter"/>
              </a:rPr>
              <a:t>Reads (</a:t>
            </a:r>
            <a:r>
              <a:rPr sz="1656" b="0">
                <a:solidFill>
                  <a:srgbClr val="00D4AA"/>
                </a:solidFill>
                <a:latin typeface="JetBrains Mono"/>
              </a:rPr>
              <a:t>lookup_ticket</a:t>
            </a:r>
            <a:r>
              <a:rPr sz="1800" b="0">
                <a:solidFill>
                  <a:srgbClr val="FFFFFF"/>
                </a:solidFill>
                <a:latin typeface="Inter"/>
              </a:rPr>
              <a:t>, </a:t>
            </a:r>
            <a:r>
              <a:rPr sz="1656" b="0">
                <a:solidFill>
                  <a:srgbClr val="00D4AA"/>
                </a:solidFill>
                <a:latin typeface="JetBrains Mono"/>
              </a:rPr>
              <a:t>check_shipment</a:t>
            </a:r>
            <a:r>
              <a:rPr sz="1800" b="0">
                <a:solidFill>
                  <a:srgbClr val="FFFFFF"/>
                </a:solidFill>
                <a:latin typeface="Inter"/>
              </a:rPr>
              <a:t>) are naturally safe to repeat</a:t>
            </a:r>
          </a:p>
          <a:p>
            <a:pPr marL="292608" indent="-292608">
              <a:lnSpc>
                <a:spcPct val="120000"/>
              </a:lnSpc>
              <a:spcAft>
                <a:spcPts val="1260"/>
              </a:spcAft>
              <a:buClr>
                <a:srgbClr val="00D4AA"/>
              </a:buClr>
              <a:buFont typeface="Inter"/>
              <a:buChar char="•"/>
            </a:pPr>
            <a:r>
              <a:rPr sz="1800" b="0">
                <a:solidFill>
                  <a:srgbClr val="FFFFFF"/>
                </a:solidFill>
                <a:latin typeface="Inter"/>
              </a:rPr>
              <a:t>Writes (</a:t>
            </a:r>
            <a:r>
              <a:rPr sz="1656" b="0">
                <a:solidFill>
                  <a:srgbClr val="00D4AA"/>
                </a:solidFill>
                <a:latin typeface="JetBrains Mono"/>
              </a:rPr>
              <a:t>create_ticket</a:t>
            </a:r>
            <a:r>
              <a:rPr sz="1800" b="0">
                <a:solidFill>
                  <a:srgbClr val="FFFFFF"/>
                </a:solidFill>
                <a:latin typeface="Inter"/>
              </a:rPr>
              <a:t>) are not: give a write an idempotency key (trace id + step) before you let anything retry it</a:t>
            </a:r>
          </a:p>
          <a:p>
            <a:pPr marL="292608" indent="-292608">
              <a:lnSpc>
                <a:spcPct val="120000"/>
              </a:lnSpc>
              <a:spcAft>
                <a:spcPts val="1260"/>
              </a:spcAft>
              <a:buClr>
                <a:srgbClr val="00D4AA"/>
              </a:buClr>
              <a:buFont typeface="Inter"/>
              <a:buChar char="•"/>
            </a:pPr>
            <a:r>
              <a:rPr sz="1800" b="0">
                <a:solidFill>
                  <a:srgbClr val="FFFFFF"/>
                </a:solidFill>
                <a:latin typeface="Inter"/>
              </a:rPr>
              <a:t>Atlas's </a:t>
            </a:r>
            <a:r>
              <a:rPr sz="1656" b="0">
                <a:solidFill>
                  <a:srgbClr val="00D4AA"/>
                </a:solidFill>
                <a:latin typeface="JetBrains Mono"/>
              </a:rPr>
              <a:t>create_ticket</a:t>
            </a:r>
            <a:r>
              <a:rPr sz="1800" b="0">
                <a:solidFill>
                  <a:srgbClr val="FFFFFF"/>
                </a:solidFill>
                <a:latin typeface="Inter"/>
              </a:rPr>
              <a:t> has no key yet: it is only ever called once per step, and that's the rule to keep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storm, two bounds (ops, 10:00 to 12:00; full day)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194560"/>
        </p:xfrm>
        <a:graphic>
          <a:graphicData uri="http://schemas.openxmlformats.org/drawingml/2006/table">
            <a:tbl>
              <a:tblPr firstRow="1" bandRow="1">
                <a:tableStyleId>{5C22544A-7EE6-4342-B048-85BDC9FD1C3A}</a:tableStyleId>
              </a:tblPr>
              <a:tblGrid>
                <a:gridCol w="4327162"/>
                <a:gridCol w="2955135"/>
                <a:gridCol w="4010541"/>
              </a:tblGrid>
              <a:tr h="438912">
                <a:tc>
                  <a:txBody>
                    <a:bodyPr wrap="square"/>
                    <a:lstStyle/>
                    <a:p/>
                  </a:txBody>
                  <a:tcPr marL="91440" marR="91440" marT="45720" marB="45720" anchor="ctr">
                    <a:solidFill>
                      <a:srgbClr val="00D4AA"/>
                    </a:solidFill>
                  </a:tcPr>
                </a:tc>
                <a:tc>
                  <a:txBody>
                    <a:bodyPr wrap="square"/>
                    <a:lstStyle/>
                    <a:p>
                      <a:r>
                        <a:rPr sz="1400" b="1">
                          <a:solidFill>
                            <a:srgbClr val="0A1628"/>
                          </a:solidFill>
                          <a:latin typeface="Inter"/>
                        </a:rPr>
                        <a:t>2 retries (shipped)</a:t>
                      </a:r>
                    </a:p>
                  </a:txBody>
                  <a:tcPr marL="91440" marR="91440" marT="45720" marB="45720" anchor="ctr">
                    <a:solidFill>
                      <a:srgbClr val="00D4AA"/>
                    </a:solidFill>
                  </a:tcPr>
                </a:tc>
                <a:tc>
                  <a:txBody>
                    <a:bodyPr wrap="square"/>
                    <a:lstStyle/>
                    <a:p>
                      <a:r>
                        <a:rPr sz="1400" b="1">
                          <a:solidFill>
                            <a:srgbClr val="0A1628"/>
                          </a:solidFill>
                          <a:latin typeface="Inter"/>
                        </a:rPr>
                        <a:t>1 retry</a:t>
                      </a:r>
                    </a:p>
                  </a:txBody>
                  <a:tcPr marL="91440" marR="91440" marT="45720" marB="45720" anchor="ctr">
                    <a:solidFill>
                      <a:srgbClr val="00D4AA"/>
                    </a:solidFill>
                  </a:tcPr>
                </a:tc>
              </a:tr>
              <a:tr h="438912">
                <a:tc>
                  <a:txBody>
                    <a:bodyPr wrap="square"/>
                    <a:lstStyle/>
                    <a:p>
                      <a:r>
                        <a:rPr sz="1400" b="1">
                          <a:solidFill>
                            <a:srgbClr val="FFFFFF"/>
                          </a:solidFill>
                          <a:latin typeface="Inter"/>
                        </a:rPr>
                        <a:t>Day cost</a:t>
                      </a:r>
                    </a:p>
                  </a:txBody>
                  <a:tcPr marL="91440" marR="91440" marT="45720" marB="45720" anchor="ctr">
                    <a:solidFill>
                      <a:srgbClr val="1A2742"/>
                    </a:solidFill>
                  </a:tcPr>
                </a:tc>
                <a:tc>
                  <a:txBody>
                    <a:bodyPr wrap="square"/>
                    <a:lstStyle/>
                    <a:p>
                      <a:r>
                        <a:rPr sz="1400" b="0">
                          <a:solidFill>
                            <a:srgbClr val="FFFFFF"/>
                          </a:solidFill>
                          <a:latin typeface="Inter"/>
                        </a:rPr>
                        <a:t>$58.00 (+$1.72 vs $56.28)</a:t>
                      </a:r>
                    </a:p>
                  </a:txBody>
                  <a:tcPr marL="91440" marR="91440" marT="45720" marB="45720" anchor="ctr">
                    <a:solidFill>
                      <a:srgbClr val="1A2742"/>
                    </a:solidFill>
                  </a:tcPr>
                </a:tc>
                <a:tc>
                  <a:txBody>
                    <a:bodyPr wrap="square"/>
                    <a:lstStyle/>
                    <a:p>
                      <a:r>
                        <a:rPr sz="1400" b="0">
                          <a:solidFill>
                            <a:srgbClr val="FFFFFF"/>
                          </a:solidFill>
                          <a:latin typeface="Inter"/>
                        </a:rPr>
                        <a:t>$50.13</a:t>
                      </a:r>
                    </a:p>
                  </a:txBody>
                  <a:tcPr marL="91440" marR="91440" marT="45720" marB="45720" anchor="ctr">
                    <a:solidFill>
                      <a:srgbClr val="1A2742"/>
                    </a:solidFill>
                  </a:tcPr>
                </a:tc>
              </a:tr>
              <a:tr h="438912">
                <a:tc>
                  <a:txBody>
                    <a:bodyPr wrap="square"/>
                    <a:lstStyle/>
                    <a:p>
                      <a:r>
                        <a:rPr sz="1400" b="1">
                          <a:solidFill>
                            <a:srgbClr val="FFFFFF"/>
                          </a:solidFill>
                          <a:latin typeface="Inter"/>
                        </a:rPr>
                        <a:t>Failed attempts billed (Reliability page)</a:t>
                      </a:r>
                    </a:p>
                  </a:txBody>
                  <a:tcPr marL="91440" marR="91440" marT="45720" marB="45720" anchor="ctr">
                    <a:solidFill>
                      <a:srgbClr val="0F1E35"/>
                    </a:solidFill>
                  </a:tcPr>
                </a:tc>
                <a:tc>
                  <a:txBody>
                    <a:bodyPr wrap="square"/>
                    <a:lstStyle/>
                    <a:p>
                      <a:r>
                        <a:rPr sz="1400" b="0">
                          <a:solidFill>
                            <a:srgbClr val="FFFFFF"/>
                          </a:solidFill>
                          <a:latin typeface="Inter"/>
                        </a:rPr>
                        <a:t>1,002, all </a:t>
                      </a:r>
                      <a:r>
                        <a:rPr sz="1288" b="0">
                          <a:solidFill>
                            <a:srgbClr val="00D4AA"/>
                          </a:solidFill>
                          <a:latin typeface="JetBrains Mono"/>
                        </a:rPr>
                        <a:t>APITimeoutError</a:t>
                      </a:r>
                    </a:p>
                  </a:txBody>
                  <a:tcPr marL="91440" marR="91440" marT="45720" marB="45720" anchor="ctr">
                    <a:solidFill>
                      <a:srgbClr val="0F1E35"/>
                    </a:solidFill>
                  </a:tcPr>
                </a:tc>
                <a:tc>
                  <a:txBody>
                    <a:bodyPr wrap="square"/>
                    <a:lstStyle/>
                    <a:p>
                      <a:r>
                        <a:rPr sz="1400" b="0">
                          <a:solidFill>
                            <a:srgbClr val="FFFFFF"/>
                          </a:solidFill>
                          <a:latin typeface="Inter"/>
                        </a:rPr>
                        <a:t>806</a:t>
                      </a:r>
                    </a:p>
                  </a:txBody>
                  <a:tcPr marL="91440" marR="91440" marT="45720" marB="45720" anchor="ctr">
                    <a:solidFill>
                      <a:srgbClr val="0F1E35"/>
                    </a:solidFill>
                  </a:tcPr>
                </a:tc>
              </a:tr>
              <a:tr h="438912">
                <a:tc>
                  <a:txBody>
                    <a:bodyPr wrap="square"/>
                    <a:lstStyle/>
                    <a:p>
                      <a:r>
                        <a:rPr sz="1400" b="1">
                          <a:solidFill>
                            <a:srgbClr val="FFFFFF"/>
                          </a:solidFill>
                          <a:latin typeface="Inter"/>
                        </a:rPr>
                        <a:t>Requests ending </a:t>
                      </a:r>
                      <a:r>
                        <a:rPr sz="1288" b="0">
                          <a:solidFill>
                            <a:srgbClr val="00D4AA"/>
                          </a:solidFill>
                          <a:latin typeface="JetBrains Mono"/>
                        </a:rPr>
                        <a:t>error</a:t>
                      </a:r>
                    </a:p>
                  </a:txBody>
                  <a:tcPr marL="91440" marR="91440" marT="45720" marB="45720" anchor="ctr">
                    <a:solidFill>
                      <a:srgbClr val="1A2742"/>
                    </a:solidFill>
                  </a:tcPr>
                </a:tc>
                <a:tc>
                  <a:txBody>
                    <a:bodyPr wrap="square"/>
                    <a:lstStyle/>
                    <a:p>
                      <a:r>
                        <a:rPr sz="1400" b="0">
                          <a:solidFill>
                            <a:srgbClr val="FFFFFF"/>
                          </a:solidFill>
                          <a:latin typeface="Inter"/>
                        </a:rPr>
                        <a:t>0</a:t>
                      </a:r>
                    </a:p>
                  </a:txBody>
                  <a:tcPr marL="91440" marR="91440" marT="45720" marB="45720" anchor="ctr">
                    <a:solidFill>
                      <a:srgbClr val="1A2742"/>
                    </a:solidFill>
                  </a:tcPr>
                </a:tc>
                <a:tc>
                  <a:txBody>
                    <a:bodyPr wrap="square"/>
                    <a:lstStyle/>
                    <a:p>
                      <a:r>
                        <a:rPr sz="1400" b="0">
                          <a:solidFill>
                            <a:srgbClr val="FFFFFF"/>
                          </a:solidFill>
                          <a:latin typeface="Inter"/>
                        </a:rPr>
                        <a:t>397</a:t>
                      </a:r>
                    </a:p>
                  </a:txBody>
                  <a:tcPr marL="91440" marR="91440" marT="45720" marB="45720" anchor="ctr">
                    <a:solidFill>
                      <a:srgbClr val="1A2742"/>
                    </a:solidFill>
                  </a:tcPr>
                </a:tc>
              </a:tr>
              <a:tr h="438912">
                <a:tc>
                  <a:txBody>
                    <a:bodyPr wrap="square"/>
                    <a:lstStyle/>
                    <a:p>
                      <a:r>
                        <a:rPr sz="1400" b="1">
                          <a:solidFill>
                            <a:srgbClr val="FFFFFF"/>
                          </a:solidFill>
                          <a:latin typeface="Inter"/>
                        </a:rPr>
                        <a:t>What users saw</a:t>
                      </a:r>
                    </a:p>
                  </a:txBody>
                  <a:tcPr marL="91440" marR="91440" marT="45720" marB="45720" anchor="ctr">
                    <a:solidFill>
                      <a:srgbClr val="0F1E35"/>
                    </a:solidFill>
                  </a:tcPr>
                </a:tc>
                <a:tc>
                  <a:txBody>
                    <a:bodyPr wrap="square"/>
                    <a:lstStyle/>
                    <a:p>
                      <a:r>
                        <a:rPr sz="1400" b="0">
                          <a:solidFill>
                            <a:srgbClr val="FFFFFF"/>
                          </a:solidFill>
                          <a:latin typeface="Inter"/>
                        </a:rPr>
                        <a:t>every answer, a little later</a:t>
                      </a:r>
                    </a:p>
                  </a:txBody>
                  <a:tcPr marL="91440" marR="91440" marT="45720" marB="45720" anchor="ctr">
                    <a:solidFill>
                      <a:srgbClr val="0F1E35"/>
                    </a:solidFill>
                  </a:tcPr>
                </a:tc>
                <a:tc>
                  <a:txBody>
                    <a:bodyPr wrap="square"/>
                    <a:lstStyle/>
                    <a:p>
                      <a:r>
                        <a:rPr sz="1400" b="0">
                          <a:solidFill>
                            <a:srgbClr val="FFFFFF"/>
                          </a:solidFill>
                          <a:latin typeface="Inter"/>
                        </a:rPr>
                        <a:t>397 "Atlas is temporarily unavailable"</a:t>
                      </a:r>
                    </a:p>
                  </a:txBody>
                  <a:tcPr marL="91440" marR="91440" marT="45720" marB="45720" anchor="ctr">
                    <a:solidFill>
                      <a:srgbClr val="0F1E35"/>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Retry checklist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One timeout per call, justified by a row in the worksheet</a:t>
            </a:r>
          </a:p>
          <a:p>
            <a:pPr marL="292608" indent="-292608">
              <a:lnSpc>
                <a:spcPct val="120000"/>
              </a:lnSpc>
              <a:spcAft>
                <a:spcPts val="1260"/>
              </a:spcAft>
              <a:buClr>
                <a:srgbClr val="00D4AA"/>
              </a:buClr>
              <a:buFont typeface="Inter"/>
              <a:buChar char="•"/>
            </a:pPr>
            <a:r>
              <a:rPr sz="1800" b="0">
                <a:solidFill>
                  <a:srgbClr val="FFFFFF"/>
                </a:solidFill>
                <a:latin typeface="Inter"/>
              </a:rPr>
              <a:t>Retry only </a:t>
            </a:r>
            <a:r>
              <a:rPr sz="1656" b="0">
                <a:solidFill>
                  <a:srgbClr val="00D4AA"/>
                </a:solidFill>
                <a:latin typeface="JetBrains Mono"/>
              </a:rPr>
              <a:t>RETRYABLE</a:t>
            </a:r>
            <a:r>
              <a:rPr sz="1800" b="0">
                <a:solidFill>
                  <a:srgbClr val="FFFFFF"/>
                </a:solidFill>
                <a:latin typeface="Inter"/>
              </a:rPr>
              <a:t>; never a bad request</a:t>
            </a:r>
          </a:p>
          <a:p>
            <a:pPr marL="292608" indent="-292608">
              <a:lnSpc>
                <a:spcPct val="120000"/>
              </a:lnSpc>
              <a:spcAft>
                <a:spcPts val="1260"/>
              </a:spcAft>
              <a:buClr>
                <a:srgbClr val="00D4AA"/>
              </a:buClr>
              <a:buFont typeface="Inter"/>
              <a:buChar char="•"/>
            </a:pPr>
            <a:r>
              <a:rPr sz="1800" b="0">
                <a:solidFill>
                  <a:srgbClr val="FFFFFF"/>
                </a:solidFill>
                <a:latin typeface="Inter"/>
              </a:rPr>
              <a:t>Bounded (</a:t>
            </a:r>
            <a:r>
              <a:rPr sz="1656" b="0">
                <a:solidFill>
                  <a:srgbClr val="00D4AA"/>
                </a:solidFill>
                <a:latin typeface="JetBrains Mono"/>
              </a:rPr>
              <a:t>ATLAS_MAX_RETRIES</a:t>
            </a:r>
            <a:r>
              <a:rPr sz="1800" b="0">
                <a:solidFill>
                  <a:srgbClr val="FFFFFF"/>
                </a:solidFill>
                <a:latin typeface="Inter"/>
              </a:rPr>
              <a:t>), jittered, capped</a:t>
            </a:r>
          </a:p>
          <a:p>
            <a:pPr marL="292608" indent="-292608">
              <a:lnSpc>
                <a:spcPct val="120000"/>
              </a:lnSpc>
              <a:spcAft>
                <a:spcPts val="1260"/>
              </a:spcAft>
              <a:buClr>
                <a:srgbClr val="00D4AA"/>
              </a:buClr>
              <a:buFont typeface="Inter"/>
              <a:buChar char="•"/>
            </a:pPr>
            <a:r>
              <a:rPr sz="1800" b="0">
                <a:solidFill>
                  <a:srgbClr val="FFFFFF"/>
                </a:solidFill>
                <a:latin typeface="Inter"/>
              </a:rPr>
              <a:t>Every failed attempt: its own span, its own price, a counter</a:t>
            </a:r>
          </a:p>
          <a:p>
            <a:pPr marL="292608" indent="-292608">
              <a:lnSpc>
                <a:spcPct val="120000"/>
              </a:lnSpc>
              <a:spcAft>
                <a:spcPts val="1260"/>
              </a:spcAft>
              <a:buClr>
                <a:srgbClr val="00D4AA"/>
              </a:buClr>
              <a:buFont typeface="Inter"/>
              <a:buChar char="•"/>
            </a:pPr>
            <a:r>
              <a:rPr sz="1800" b="0">
                <a:solidFill>
                  <a:srgbClr val="FFFFFF"/>
                </a:solidFill>
                <a:latin typeface="Inter"/>
              </a:rPr>
              <a:t>Writes take an idempotency key before anything retries them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timeout per call, from the budget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Bounded, jittered retries; every attempt priced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Choose the bound with cost and outcomes together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Fallbacks and circuit breakers with the Router</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Retries help when the failure is brief.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LATENCY AND RELIABILITY</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Fallbacks and circuit breakers with the Router</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Give every model a fallback, put a circuit breaker in front of it so a failing deployment is bypassed automatically, and log…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Circuit breaker in three states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Closed: traffic flows to the model; failures are counted</a:t>
            </a:r>
          </a:p>
          <a:p>
            <a:pPr marL="292608" indent="-292608">
              <a:lnSpc>
                <a:spcPct val="120000"/>
              </a:lnSpc>
              <a:spcAft>
                <a:spcPts val="1260"/>
              </a:spcAft>
              <a:buClr>
                <a:srgbClr val="00D4AA"/>
              </a:buClr>
              <a:buFont typeface="Inter"/>
              <a:buChar char="•"/>
            </a:pPr>
            <a:r>
              <a:rPr sz="1800" b="0">
                <a:solidFill>
                  <a:srgbClr val="FFFFFF"/>
                </a:solidFill>
                <a:latin typeface="Inter"/>
              </a:rPr>
              <a:t>Open: after </a:t>
            </a:r>
            <a:r>
              <a:rPr sz="1656" b="0">
                <a:solidFill>
                  <a:srgbClr val="00D4AA"/>
                </a:solidFill>
                <a:latin typeface="JetBrains Mono"/>
              </a:rPr>
              <a:t>threshold</a:t>
            </a:r>
            <a:r>
              <a:rPr sz="1800" b="0">
                <a:solidFill>
                  <a:srgbClr val="FFFFFF"/>
                </a:solidFill>
                <a:latin typeface="Inter"/>
              </a:rPr>
              <a:t> consecutive failures, skip the model for </a:t>
            </a:r>
            <a:r>
              <a:rPr sz="1656" b="0">
                <a:solidFill>
                  <a:srgbClr val="00D4AA"/>
                </a:solidFill>
                <a:latin typeface="JetBrains Mono"/>
              </a:rPr>
              <a:t>cooldown_s</a:t>
            </a:r>
            <a:r>
              <a:rPr sz="1800" b="0">
                <a:solidFill>
                  <a:srgbClr val="FFFFFF"/>
                </a:solidFill>
                <a:latin typeface="Inter"/>
              </a:rPr>
              <a:t>; traffic goes to the fallback</a:t>
            </a:r>
          </a:p>
          <a:p>
            <a:pPr marL="292608" indent="-292608">
              <a:lnSpc>
                <a:spcPct val="120000"/>
              </a:lnSpc>
              <a:spcAft>
                <a:spcPts val="1260"/>
              </a:spcAft>
              <a:buClr>
                <a:srgbClr val="00D4AA"/>
              </a:buClr>
              <a:buFont typeface="Inter"/>
              <a:buChar char="•"/>
            </a:pPr>
            <a:r>
              <a:rPr sz="1800" b="0">
                <a:solidFill>
                  <a:srgbClr val="FFFFFF"/>
                </a:solidFill>
                <a:latin typeface="Inter"/>
              </a:rPr>
              <a:t>Half-open: after the cooldown, the next request probes; success closes the circuit, failure re-opens it</a:t>
            </a:r>
          </a:p>
          <a:p>
            <a:pPr marL="292608" indent="-292608">
              <a:lnSpc>
                <a:spcPct val="120000"/>
              </a:lnSpc>
              <a:spcAft>
                <a:spcPts val="1260"/>
              </a:spcAft>
              <a:buClr>
                <a:srgbClr val="00D4AA"/>
              </a:buClr>
              <a:buFont typeface="Inter"/>
              <a:buChar char="•"/>
            </a:pPr>
            <a:r>
              <a:rPr sz="1800" b="0">
                <a:solidFill>
                  <a:srgbClr val="FFFFFF"/>
                </a:solidFill>
                <a:latin typeface="Inter"/>
              </a:rPr>
              <a:t>Atlas's </a:t>
            </a:r>
            <a:r>
              <a:rPr sz="1656" b="0">
                <a:solidFill>
                  <a:srgbClr val="00D4AA"/>
                </a:solidFill>
                <a:latin typeface="JetBrains Mono"/>
              </a:rPr>
              <a:t>CircuitBreaker</a:t>
            </a:r>
            <a:r>
              <a:rPr sz="1800" b="0">
                <a:solidFill>
                  <a:srgbClr val="FFFFFF"/>
                </a:solidFill>
                <a:latin typeface="Inter"/>
              </a:rPr>
              <a:t>: 3 failures, 30 s. The Router's equivalents: </a:t>
            </a:r>
            <a:r>
              <a:rPr sz="1656" b="0">
                <a:solidFill>
                  <a:srgbClr val="00D4AA"/>
                </a:solidFill>
                <a:latin typeface="JetBrains Mono"/>
              </a:rPr>
              <a:t>allowed_fails</a:t>
            </a:r>
            <a:r>
              <a:rPr sz="1800" b="0">
                <a:solidFill>
                  <a:srgbClr val="FFFFFF"/>
                </a:solidFill>
                <a:latin typeface="Inter"/>
              </a:rPr>
              <a:t>, </a:t>
            </a:r>
            <a:r>
              <a:rPr sz="1656" b="0">
                <a:solidFill>
                  <a:srgbClr val="00D4AA"/>
                </a:solidFill>
                <a:latin typeface="JetBrains Mono"/>
              </a:rPr>
              <a:t>cooldown_time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to log when a fallback fires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On the generation span: the served model (span name and </a:t>
            </a:r>
            <a:r>
              <a:rPr sz="1472" b="0">
                <a:solidFill>
                  <a:srgbClr val="00D4AA"/>
                </a:solidFill>
                <a:latin typeface="JetBrains Mono"/>
              </a:rPr>
              <a:t>gen_ai.request.model</a:t>
            </a:r>
            <a:r>
              <a:rPr sz="1600" b="0">
                <a:solidFill>
                  <a:srgbClr val="FFFFFF"/>
                </a:solidFill>
                <a:latin typeface="Inter"/>
              </a:rPr>
              <a:t>), cost on that model</a:t>
            </a:r>
          </a:p>
          <a:p>
            <a:pPr marL="292608" indent="-292608">
              <a:lnSpc>
                <a:spcPct val="120000"/>
              </a:lnSpc>
              <a:spcAft>
                <a:spcPts val="1120"/>
              </a:spcAft>
              <a:buClr>
                <a:srgbClr val="00D4AA"/>
              </a:buClr>
              <a:buFont typeface="Inter"/>
              <a:buChar char="•"/>
            </a:pPr>
            <a:r>
              <a:rPr sz="1600" b="0">
                <a:solidFill>
                  <a:srgbClr val="FFFFFF"/>
                </a:solidFill>
                <a:latin typeface="Inter"/>
              </a:rPr>
              <a:t>On each failed attempt: its own span with </a:t>
            </a:r>
            <a:r>
              <a:rPr sz="1472" b="0">
                <a:solidFill>
                  <a:srgbClr val="00D4AA"/>
                </a:solidFill>
                <a:latin typeface="JetBrains Mono"/>
              </a:rPr>
              <a:t>error.type</a:t>
            </a:r>
            <a:r>
              <a:rPr sz="1600" b="0">
                <a:solidFill>
                  <a:srgbClr val="FFFFFF"/>
                </a:solidFill>
                <a:latin typeface="Inter"/>
              </a:rPr>
              <a:t> and an estimated cost (7.3)</a:t>
            </a:r>
          </a:p>
          <a:p>
            <a:pPr marL="292608" indent="-292608">
              <a:lnSpc>
                <a:spcPct val="120000"/>
              </a:lnSpc>
              <a:spcAft>
                <a:spcPts val="1120"/>
              </a:spcAft>
              <a:buClr>
                <a:srgbClr val="00D4AA"/>
              </a:buClr>
              <a:buFont typeface="Inter"/>
              <a:buChar char="•"/>
            </a:pPr>
            <a:r>
              <a:rPr sz="1600" b="0">
                <a:solidFill>
                  <a:srgbClr val="FFFFFF"/>
                </a:solidFill>
                <a:latin typeface="Inter"/>
              </a:rPr>
              <a:t>Counter: </a:t>
            </a:r>
            <a:r>
              <a:rPr sz="1472" b="0">
                <a:solidFill>
                  <a:srgbClr val="00D4AA"/>
                </a:solidFill>
                <a:latin typeface="JetBrains Mono"/>
              </a:rPr>
              <a:t>atlas_model_fallbacks_total{from_model,to_model}</a:t>
            </a:r>
            <a:r>
              <a:rPr sz="1600" b="0">
                <a:solidFill>
                  <a:srgbClr val="FFFFFF"/>
                </a:solidFill>
                <a:latin typeface="Inter"/>
              </a:rPr>
              <a:t>; the reason is in the failed attempts and the warning log</a:t>
            </a:r>
          </a:p>
          <a:p>
            <a:pPr marL="292608" indent="-292608">
              <a:lnSpc>
                <a:spcPct val="120000"/>
              </a:lnSpc>
              <a:spcAft>
                <a:spcPts val="1120"/>
              </a:spcAft>
              <a:buClr>
                <a:srgbClr val="00D4AA"/>
              </a:buClr>
              <a:buFont typeface="Inter"/>
              <a:buChar char="•"/>
            </a:pPr>
            <a:r>
              <a:rPr sz="1600" b="0">
                <a:solidFill>
                  <a:srgbClr val="FFFFFF"/>
                </a:solidFill>
                <a:latin typeface="Inter"/>
              </a:rPr>
              <a:t>Not on the span: the full error body (size and PII); put it in the structured log with the trace id</a:t>
            </a:r>
          </a:p>
          <a:p>
            <a:pPr marL="292608" indent="-292608">
              <a:lnSpc>
                <a:spcPct val="120000"/>
              </a:lnSpc>
              <a:spcAft>
                <a:spcPts val="1120"/>
              </a:spcAft>
              <a:buClr>
                <a:srgbClr val="00D4AA"/>
              </a:buClr>
              <a:buFont typeface="Inter"/>
              <a:buChar char="•"/>
            </a:pPr>
            <a:r>
              <a:rPr sz="1600" b="0">
                <a:solidFill>
                  <a:srgbClr val="FFFFFF"/>
                </a:solidFill>
                <a:latin typeface="Inter"/>
              </a:rPr>
              <a:t>A fallback is not an error to the user; it's a warning to you</a:t>
            </a:r>
          </a:p>
        </p:txBody>
      </p:sp>
      <p:pic>
        <p:nvPicPr>
          <p:cNvPr id="6" name="Picture 5" descr="D7-latency-budget-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model has one fallback</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Breaker: 3 failures open, 30 s cooldown</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Price the fallback on the served model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Rate limits, queues and graceful degradation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Fallbacks handle a failing model.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LATENCY AND RELIABILITY</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Rate limits, queues and graceful degradation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Treat 429s and queues as a capacity problem: back off and count, cap concurrency per tenant, shed the least valuable traffic first…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a provider's 429 is telling you</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You are over a tokens-per-minute or requests-per-minute limit for this key or model</a:t>
            </a:r>
          </a:p>
          <a:p>
            <a:pPr marL="292608" indent="-292608">
              <a:lnSpc>
                <a:spcPct val="120000"/>
              </a:lnSpc>
              <a:spcAft>
                <a:spcPts val="1260"/>
              </a:spcAft>
              <a:buClr>
                <a:srgbClr val="00D4AA"/>
              </a:buClr>
              <a:buFont typeface="Inter"/>
              <a:buChar char="•"/>
            </a:pPr>
            <a:r>
              <a:rPr sz="1800" b="0">
                <a:solidFill>
                  <a:srgbClr val="FFFFFF"/>
                </a:solidFill>
                <a:latin typeface="Inter"/>
              </a:rPr>
              <a:t>It often carries </a:t>
            </a:r>
            <a:r>
              <a:rPr sz="1656" b="0">
                <a:solidFill>
                  <a:srgbClr val="00D4AA"/>
                </a:solidFill>
                <a:latin typeface="JetBrains Mono"/>
              </a:rPr>
              <a:t>Retry-After</a:t>
            </a:r>
            <a:r>
              <a:rPr sz="1800" b="0">
                <a:solidFill>
                  <a:srgbClr val="FFFFFF"/>
                </a:solidFill>
                <a:latin typeface="Inter"/>
              </a:rPr>
              <a:t> (seconds); honour it rather than guessing</a:t>
            </a:r>
          </a:p>
          <a:p>
            <a:pPr marL="292608" indent="-292608">
              <a:lnSpc>
                <a:spcPct val="120000"/>
              </a:lnSpc>
              <a:spcAft>
                <a:spcPts val="1260"/>
              </a:spcAft>
              <a:buClr>
                <a:srgbClr val="00D4AA"/>
              </a:buClr>
              <a:buFont typeface="Inter"/>
              <a:buChar char="•"/>
            </a:pPr>
            <a:r>
              <a:rPr sz="1800" b="0">
                <a:solidFill>
                  <a:srgbClr val="FFFFFF"/>
                </a:solidFill>
                <a:latin typeface="Inter"/>
              </a:rPr>
              <a:t>It is retryable, but retrying immediately makes it worse for everyone on the key</a:t>
            </a:r>
          </a:p>
          <a:p>
            <a:pPr marL="292608" indent="-292608">
              <a:lnSpc>
                <a:spcPct val="120000"/>
              </a:lnSpc>
              <a:spcAft>
                <a:spcPts val="1260"/>
              </a:spcAft>
              <a:buClr>
                <a:srgbClr val="00D4AA"/>
              </a:buClr>
              <a:buFont typeface="Inter"/>
              <a:buChar char="•"/>
            </a:pPr>
            <a:r>
              <a:rPr sz="1800" b="0">
                <a:solidFill>
                  <a:srgbClr val="FFFFFF"/>
                </a:solidFill>
                <a:latin typeface="Inter"/>
              </a:rPr>
              <a:t>Atlas: </a:t>
            </a:r>
            <a:r>
              <a:rPr sz="1656" b="0">
                <a:solidFill>
                  <a:srgbClr val="00D4AA"/>
                </a:solidFill>
                <a:latin typeface="JetBrains Mono"/>
              </a:rPr>
              <a:t>RateLimitError</a:t>
            </a:r>
            <a:r>
              <a:rPr sz="1800" b="0">
                <a:solidFill>
                  <a:srgbClr val="FFFFFF"/>
                </a:solidFill>
                <a:latin typeface="Inter"/>
              </a:rPr>
              <a:t> is in </a:t>
            </a:r>
            <a:r>
              <a:rPr sz="1656" b="0">
                <a:solidFill>
                  <a:srgbClr val="00D4AA"/>
                </a:solidFill>
                <a:latin typeface="JetBrains Mono"/>
              </a:rPr>
              <a:t>RETRYABLE</a:t>
            </a:r>
            <a:r>
              <a:rPr sz="1800" b="0">
                <a:solidFill>
                  <a:srgbClr val="FFFFFF"/>
                </a:solidFill>
                <a:latin typeface="Inter"/>
              </a:rPr>
              <a:t>; counted in </a:t>
            </a:r>
            <a:r>
              <a:rPr sz="1656" b="0">
                <a:solidFill>
                  <a:srgbClr val="00D4AA"/>
                </a:solidFill>
                <a:latin typeface="JetBrains Mono"/>
              </a:rPr>
              <a:t>atlas_llm_retries_total{reason="RateLimitError"}</a:t>
            </a:r>
            <a:r>
              <a:rPr sz="1800" b="0">
                <a:solidFill>
                  <a:srgbClr val="FFFFFF"/>
                </a:solidFill>
                <a:latin typeface="Inter"/>
              </a:rPr>
              <a:t>; three in a row open the breaker</a:t>
            </a:r>
          </a:p>
          <a:p>
            <a:pPr marL="292608" indent="-292608">
              <a:lnSpc>
                <a:spcPct val="120000"/>
              </a:lnSpc>
              <a:spcAft>
                <a:spcPts val="1260"/>
              </a:spcAft>
              <a:buClr>
                <a:srgbClr val="00D4AA"/>
              </a:buClr>
              <a:buFont typeface="Inter"/>
              <a:buChar char="•"/>
            </a:pPr>
            <a:r>
              <a:rPr sz="1800" b="0">
                <a:solidFill>
                  <a:srgbClr val="FFFFFF"/>
                </a:solidFill>
                <a:latin typeface="Inter"/>
              </a:rPr>
              <a:t>Persistent 429s are a capacity signal: raise the limit, add a provider, or shed load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Per-tenant concurrency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One semaphore per tenant, sized from the showback share of sessions: ops 13, eng 7, finance 6, hr 6, unknown tenants 2</a:t>
            </a:r>
          </a:p>
          <a:p>
            <a:pPr marL="292608" indent="-292608">
              <a:lnSpc>
                <a:spcPct val="120000"/>
              </a:lnSpc>
              <a:spcAft>
                <a:spcPts val="1260"/>
              </a:spcAft>
              <a:buClr>
                <a:srgbClr val="00D4AA"/>
              </a:buClr>
              <a:buFont typeface="Inter"/>
              <a:buChar char="•"/>
            </a:pPr>
            <a:r>
              <a:rPr sz="1800" b="0">
                <a:solidFill>
                  <a:srgbClr val="FFFFFF"/>
                </a:solidFill>
                <a:latin typeface="Inter"/>
              </a:rPr>
              <a:t>A request waits up to </a:t>
            </a:r>
            <a:r>
              <a:rPr sz="1656" b="0">
                <a:solidFill>
                  <a:srgbClr val="00D4AA"/>
                </a:solidFill>
                <a:latin typeface="JetBrains Mono"/>
              </a:rPr>
              <a:t>ATLAS_QUEUE_TIMEOUT_S</a:t>
            </a:r>
            <a:r>
              <a:rPr sz="1800" b="0">
                <a:solidFill>
                  <a:srgbClr val="FFFFFF"/>
                </a:solidFill>
                <a:latin typeface="Inter"/>
              </a:rPr>
              <a:t> (3 s) for a slot in its own tenant's queue, then gets HTTP 429 with </a:t>
            </a:r>
            <a:r>
              <a:rPr sz="1656" b="0">
                <a:solidFill>
                  <a:srgbClr val="00D4AA"/>
                </a:solidFill>
                <a:latin typeface="JetBrains Mono"/>
              </a:rPr>
              <a:t>Retry-After: 1</a:t>
            </a:r>
          </a:p>
          <a:p>
            <a:pPr marL="292608" indent="-292608">
              <a:lnSpc>
                <a:spcPct val="120000"/>
              </a:lnSpc>
              <a:spcAft>
                <a:spcPts val="1260"/>
              </a:spcAft>
              <a:buClr>
                <a:srgbClr val="00D4AA"/>
              </a:buClr>
              <a:buFont typeface="Inter"/>
              <a:buChar char="•"/>
            </a:pPr>
            <a:r>
              <a:rPr sz="1800" b="0">
                <a:solidFill>
                  <a:srgbClr val="FFFFFF"/>
                </a:solidFill>
                <a:latin typeface="Inter"/>
              </a:rPr>
              <a:t>No tenant can take more than its share of the provider's capacity</a:t>
            </a:r>
          </a:p>
          <a:p>
            <a:pPr marL="292608" indent="-292608">
              <a:lnSpc>
                <a:spcPct val="120000"/>
              </a:lnSpc>
              <a:spcAft>
                <a:spcPts val="1260"/>
              </a:spcAft>
              <a:buClr>
                <a:srgbClr val="00D4AA"/>
              </a:buClr>
              <a:buFont typeface="Inter"/>
              <a:buChar char="•"/>
            </a:pPr>
            <a:r>
              <a:rPr sz="1800" b="0">
                <a:solidFill>
                  <a:srgbClr val="FFFFFF"/>
                </a:solidFill>
                <a:latin typeface="Inter"/>
              </a:rPr>
              <a:t>Metrics: </a:t>
            </a:r>
            <a:r>
              <a:rPr sz="1656" b="0">
                <a:solidFill>
                  <a:srgbClr val="00D4AA"/>
                </a:solidFill>
                <a:latin typeface="JetBrains Mono"/>
              </a:rPr>
              <a:t>atlas_inflight{tenant}</a:t>
            </a:r>
            <a:r>
              <a:rPr sz="1800" b="0">
                <a:solidFill>
                  <a:srgbClr val="FFFFFF"/>
                </a:solidFill>
                <a:latin typeface="Inter"/>
              </a:rPr>
              <a:t>, </a:t>
            </a:r>
            <a:r>
              <a:rPr sz="1656" b="0">
                <a:solidFill>
                  <a:srgbClr val="00D4AA"/>
                </a:solidFill>
                <a:latin typeface="JetBrains Mono"/>
              </a:rPr>
              <a:t>atlas_queue_wait_seconds{tenant}</a:t>
            </a:r>
            <a:r>
              <a:rPr sz="1800" b="0">
                <a:solidFill>
                  <a:srgbClr val="FFFFFF"/>
                </a:solidFill>
                <a:latin typeface="Inter"/>
              </a:rPr>
              <a:t>, </a:t>
            </a:r>
            <a:r>
              <a:rPr sz="1656" b="0">
                <a:solidFill>
                  <a:srgbClr val="00D4AA"/>
                </a:solidFill>
                <a:latin typeface="JetBrains Mono"/>
              </a:rPr>
              <a:t>atlas_requests_shed_total{tenant}</a:t>
            </a:r>
          </a:p>
          <a:p>
            <a:pPr marL="292608" indent="-292608">
              <a:lnSpc>
                <a:spcPct val="120000"/>
              </a:lnSpc>
              <a:spcAft>
                <a:spcPts val="1260"/>
              </a:spcAft>
              <a:buClr>
                <a:srgbClr val="00D4AA"/>
              </a:buClr>
              <a:buFont typeface="Inter"/>
              <a:buChar char="•"/>
            </a:pPr>
            <a:r>
              <a:rPr sz="1800" b="0">
                <a:solidFill>
                  <a:srgbClr val="FFFFFF"/>
                </a:solidFill>
                <a:latin typeface="Inter"/>
              </a:rPr>
              <a:t>Diagram: requests → tenant semaphores → agent → provider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Shedding order (what to drop first when you must)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Repeat </a:t>
            </a:r>
            <a:r>
              <a:rPr sz="1656" b="0">
                <a:solidFill>
                  <a:srgbClr val="00D4AA"/>
                </a:solidFill>
                <a:latin typeface="JetBrains Mono"/>
              </a:rPr>
              <a:t>shipment_status</a:t>
            </a:r>
            <a:r>
              <a:rPr sz="1800" b="0">
                <a:solidFill>
                  <a:srgbClr val="FFFFFF"/>
                </a:solidFill>
                <a:latin typeface="Inter"/>
              </a:rPr>
              <a:t> checks within 5 minutes: serve the tool result you already have, no model call</a:t>
            </a:r>
          </a:p>
          <a:p>
            <a:pPr marL="292608" indent="-292608">
              <a:lnSpc>
                <a:spcPct val="120000"/>
              </a:lnSpc>
              <a:spcAft>
                <a:spcPts val="1260"/>
              </a:spcAft>
              <a:buClr>
                <a:srgbClr val="00D4AA"/>
              </a:buClr>
              <a:buFont typeface="Inter"/>
              <a:buChar char="•"/>
            </a:pPr>
            <a:r>
              <a:rPr sz="1800" b="0">
                <a:solidFill>
                  <a:srgbClr val="FFFFFF"/>
                </a:solidFill>
                <a:latin typeface="Inter"/>
              </a:rPr>
              <a:t>Non-urgent </a:t>
            </a:r>
            <a:r>
              <a:rPr sz="1656" b="0">
                <a:solidFill>
                  <a:srgbClr val="00D4AA"/>
                </a:solidFill>
                <a:latin typeface="JetBrains Mono"/>
              </a:rPr>
              <a:t>policy_question</a:t>
            </a:r>
            <a:r>
              <a:rPr sz="1800" b="0">
                <a:solidFill>
                  <a:srgbClr val="FFFFFF"/>
                </a:solidFill>
                <a:latin typeface="Inter"/>
              </a:rPr>
              <a:t> from a tenant over its soft cap: economy mode (6.7)</a:t>
            </a:r>
          </a:p>
          <a:p>
            <a:pPr marL="292608" indent="-292608">
              <a:lnSpc>
                <a:spcPct val="120000"/>
              </a:lnSpc>
              <a:spcAft>
                <a:spcPts val="1260"/>
              </a:spcAft>
              <a:buClr>
                <a:srgbClr val="00D4AA"/>
              </a:buClr>
              <a:buFont typeface="Inter"/>
              <a:buChar char="•"/>
            </a:pPr>
            <a:r>
              <a:rPr sz="1800" b="0">
                <a:solidFill>
                  <a:srgbClr val="FFFFFF"/>
                </a:solidFill>
                <a:latin typeface="Inter"/>
              </a:rPr>
              <a:t>Judge sampling (Section 8): pause it; it's your own traffic</a:t>
            </a:r>
          </a:p>
          <a:p>
            <a:pPr marL="292608" indent="-292608">
              <a:lnSpc>
                <a:spcPct val="120000"/>
              </a:lnSpc>
              <a:spcAft>
                <a:spcPts val="1260"/>
              </a:spcAft>
              <a:buClr>
                <a:srgbClr val="00D4AA"/>
              </a:buClr>
              <a:buFont typeface="Inter"/>
              <a:buChar char="•"/>
            </a:pPr>
            <a:r>
              <a:rPr sz="1800" b="0">
                <a:solidFill>
                  <a:srgbClr val="FFFFFF"/>
                </a:solidFill>
                <a:latin typeface="Inter"/>
              </a:rPr>
              <a:t>Escalations to gpt-4.1: hold, unless the request is sensitive</a:t>
            </a:r>
          </a:p>
          <a:p>
            <a:pPr marL="292608" indent="-292608">
              <a:lnSpc>
                <a:spcPct val="120000"/>
              </a:lnSpc>
              <a:spcAft>
                <a:spcPts val="1260"/>
              </a:spcAft>
              <a:buClr>
                <a:srgbClr val="00D4AA"/>
              </a:buClr>
              <a:buFont typeface="Inter"/>
              <a:buChar char="•"/>
            </a:pPr>
            <a:r>
              <a:rPr sz="1800" b="0">
                <a:solidFill>
                  <a:srgbClr val="FFFFFF"/>
                </a:solidFill>
                <a:latin typeface="Inter"/>
              </a:rPr>
              <a:t>Never shed: </a:t>
            </a:r>
            <a:r>
              <a:rPr sz="1656" b="0">
                <a:solidFill>
                  <a:srgbClr val="00D4AA"/>
                </a:solidFill>
                <a:latin typeface="JetBrains Mono"/>
              </a:rPr>
              <a:t>password_reset</a:t>
            </a:r>
            <a:r>
              <a:rPr sz="1800" b="0">
                <a:solidFill>
                  <a:srgbClr val="FFFFFF"/>
                </a:solidFill>
                <a:latin typeface="Inter"/>
              </a:rPr>
              <a:t>, and </a:t>
            </a:r>
            <a:r>
              <a:rPr sz="1656" b="0">
                <a:solidFill>
                  <a:srgbClr val="00D4AA"/>
                </a:solidFill>
                <a:latin typeface="JetBrains Mono"/>
              </a:rPr>
              <a:t>create_ticket</a:t>
            </a:r>
            <a:r>
              <a:rPr sz="1800" b="0">
                <a:solidFill>
                  <a:srgbClr val="FFFFFF"/>
                </a:solidFill>
                <a:latin typeface="Inter"/>
              </a:rPr>
              <a:t> for priority P1 and P2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Degraded mode messaging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Say what's happening: "Atlas is busy right now, so this answer is shorter than usual."</a:t>
            </a:r>
          </a:p>
          <a:p>
            <a:pPr marL="292608" indent="-292608">
              <a:lnSpc>
                <a:spcPct val="120000"/>
              </a:lnSpc>
              <a:spcAft>
                <a:spcPts val="1260"/>
              </a:spcAft>
              <a:buClr>
                <a:srgbClr val="00D4AA"/>
              </a:buClr>
              <a:buFont typeface="Inter"/>
              <a:buChar char="•"/>
            </a:pPr>
            <a:r>
              <a:rPr sz="1800" b="0">
                <a:solidFill>
                  <a:srgbClr val="FFFFFF"/>
                </a:solidFill>
                <a:latin typeface="Inter"/>
              </a:rPr>
              <a:t>Say what still works: "Ticket creation and password resets are unaffected."</a:t>
            </a:r>
          </a:p>
          <a:p>
            <a:pPr marL="292608" indent="-292608">
              <a:lnSpc>
                <a:spcPct val="120000"/>
              </a:lnSpc>
              <a:spcAft>
                <a:spcPts val="1260"/>
              </a:spcAft>
              <a:buClr>
                <a:srgbClr val="00D4AA"/>
              </a:buClr>
              <a:buFont typeface="Inter"/>
              <a:buChar char="•"/>
            </a:pPr>
            <a:r>
              <a:rPr sz="1800" b="0">
                <a:solidFill>
                  <a:srgbClr val="FFFFFF"/>
                </a:solidFill>
                <a:latin typeface="Inter"/>
              </a:rPr>
              <a:t>Say what to do: Atlas's budget refusal already does: "open a ticket in ServiceHub ... urgent issues can call extension 4000"</a:t>
            </a:r>
          </a:p>
          <a:p>
            <a:pPr marL="292608" indent="-292608">
              <a:lnSpc>
                <a:spcPct val="120000"/>
              </a:lnSpc>
              <a:spcAft>
                <a:spcPts val="1260"/>
              </a:spcAft>
              <a:buClr>
                <a:srgbClr val="00D4AA"/>
              </a:buClr>
              <a:buFont typeface="Inter"/>
              <a:buChar char="•"/>
            </a:pPr>
            <a:r>
              <a:rPr sz="1800" b="0">
                <a:solidFill>
                  <a:srgbClr val="FFFFFF"/>
                </a:solidFill>
                <a:latin typeface="Inter"/>
              </a:rPr>
              <a:t>Never fake it: no invented answers to fill a shorter budget</a:t>
            </a:r>
          </a:p>
          <a:p>
            <a:pPr marL="292608" indent="-292608">
              <a:lnSpc>
                <a:spcPct val="120000"/>
              </a:lnSpc>
              <a:spcAft>
                <a:spcPts val="1260"/>
              </a:spcAft>
              <a:buClr>
                <a:srgbClr val="00D4AA"/>
              </a:buClr>
              <a:buFont typeface="Inter"/>
              <a:buChar char="•"/>
            </a:pPr>
            <a:r>
              <a:rPr sz="1800" b="0">
                <a:solidFill>
                  <a:srgbClr val="FFFFFF"/>
                </a:solidFill>
                <a:latin typeface="Inter"/>
              </a:rPr>
              <a:t>Make it countable: </a:t>
            </a:r>
            <a:r>
              <a:rPr sz="1656" b="0">
                <a:solidFill>
                  <a:srgbClr val="00D4AA"/>
                </a:solidFill>
                <a:latin typeface="JetBrains Mono"/>
              </a:rPr>
              <a:t>budget_decision</a:t>
            </a:r>
            <a:r>
              <a:rPr sz="1800" b="0">
                <a:solidFill>
                  <a:srgbClr val="FFFFFF"/>
                </a:solidFill>
                <a:latin typeface="Inter"/>
              </a:rPr>
              <a:t> is in every response and </a:t>
            </a:r>
            <a:r>
              <a:rPr sz="1656" b="0">
                <a:solidFill>
                  <a:srgbClr val="00D4AA"/>
                </a:solidFill>
                <a:latin typeface="JetBrains Mono"/>
              </a:rPr>
              <a:t>atlas.budget.decision</a:t>
            </a:r>
            <a:r>
              <a:rPr sz="1800" b="0">
                <a:solidFill>
                  <a:srgbClr val="FFFFFF"/>
                </a:solidFill>
                <a:latin typeface="Inter"/>
              </a:rPr>
              <a:t> on the trace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Back off on 429s; persistent ones mean capacity</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semaphore per tenant, sized from the showback</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Shed in a declared order; tell users the truth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Chaos demo: slow provider during peak</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Time for chaos.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LATENCY AND RELIABILITY</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Chaos demo: slow provider during peak</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Inject a slow provider in the busy afternoon, read the silent incident from three charts (p95 up, retries and cost flat), and…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scenario: </a:t>
            </a:r>
            <a:r>
              <a:rPr sz="2392" b="0">
                <a:solidFill>
                  <a:srgbClr val="00D4AA"/>
                </a:solidFill>
                <a:latin typeface="JetBrains Mono"/>
              </a:rPr>
              <a:t>slow_provider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13:00 to 17:00, the afternoon peak, 75% of requests hit</a:t>
            </a:r>
          </a:p>
          <a:p>
            <a:pPr marL="292608" indent="-292608">
              <a:lnSpc>
                <a:spcPct val="120000"/>
              </a:lnSpc>
              <a:spcAft>
                <a:spcPts val="1260"/>
              </a:spcAft>
              <a:buClr>
                <a:srgbClr val="00D4AA"/>
              </a:buClr>
              <a:buFont typeface="Inter"/>
              <a:buChar char="•"/>
            </a:pPr>
            <a:r>
              <a:rPr sz="1800" b="0">
                <a:solidFill>
                  <a:srgbClr val="FFFFFF"/>
                </a:solidFill>
                <a:latin typeface="Inter"/>
              </a:rPr>
              <a:t>Every call's time to first token ×3.5, streaming speed halved</a:t>
            </a:r>
          </a:p>
          <a:p>
            <a:pPr marL="292608" indent="-292608">
              <a:lnSpc>
                <a:spcPct val="120000"/>
              </a:lnSpc>
              <a:spcAft>
                <a:spcPts val="1260"/>
              </a:spcAft>
              <a:buClr>
                <a:srgbClr val="00D4AA"/>
              </a:buClr>
              <a:buFont typeface="Inter"/>
              <a:buChar char="•"/>
            </a:pPr>
            <a:r>
              <a:rPr sz="1800" b="0">
                <a:solidFill>
                  <a:srgbClr val="FFFFFF"/>
                </a:solidFill>
                <a:latin typeface="Inter"/>
              </a:rPr>
              <a:t>No errors. No 429s. Just slow. The hardest kind of incident to see</a:t>
            </a:r>
          </a:p>
          <a:p>
            <a:pPr marL="292608" indent="-292608">
              <a:lnSpc>
                <a:spcPct val="120000"/>
              </a:lnSpc>
              <a:spcAft>
                <a:spcPts val="1260"/>
              </a:spcAft>
              <a:buClr>
                <a:srgbClr val="00D4AA"/>
              </a:buClr>
              <a:buFont typeface="Inter"/>
              <a:buChar char="•"/>
            </a:pPr>
            <a:r>
              <a:rPr sz="1800" b="0">
                <a:solidFill>
                  <a:srgbClr val="FFFFFF"/>
                </a:solidFill>
                <a:latin typeface="Inter"/>
              </a:rPr>
              <a:t>Same seed, same 4,000 sessions as the baseline day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diagnosis, from three charts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p95 9.2 to 9.4 s from 13:00 to 17:00; 3.8 s outside</a:t>
            </a:r>
          </a:p>
          <a:p>
            <a:pPr marL="292608" indent="-292608">
              <a:lnSpc>
                <a:spcPct val="120000"/>
              </a:lnSpc>
              <a:spcAft>
                <a:spcPts val="1260"/>
              </a:spcAft>
              <a:buClr>
                <a:srgbClr val="00D4AA"/>
              </a:buClr>
              <a:buFont typeface="Inter"/>
              <a:buChar char="•"/>
            </a:pPr>
            <a:r>
              <a:rPr sz="1800" b="0">
                <a:solidFill>
                  <a:srgbClr val="FFFFFF"/>
                </a:solidFill>
                <a:latin typeface="Inter"/>
              </a:rPr>
              <a:t>Generation TTFT p95 about 650 ms → about 2,250 ms in the window (Latency page, generation detail)</a:t>
            </a:r>
          </a:p>
          <a:p>
            <a:pPr marL="292608" indent="-292608">
              <a:lnSpc>
                <a:spcPct val="120000"/>
              </a:lnSpc>
              <a:spcAft>
                <a:spcPts val="1260"/>
              </a:spcAft>
              <a:buClr>
                <a:srgbClr val="00D4AA"/>
              </a:buClr>
              <a:buFont typeface="Inter"/>
              <a:buChar char="•"/>
            </a:pPr>
            <a:r>
              <a:rPr sz="1800" b="0">
                <a:solidFill>
                  <a:srgbClr val="FFFFFF"/>
                </a:solidFill>
                <a:latin typeface="Inter"/>
              </a:rPr>
              <a:t>LLM retries: zero. Fallbacks: zero. Errors: zero</a:t>
            </a:r>
          </a:p>
          <a:p>
            <a:pPr marL="292608" indent="-292608">
              <a:lnSpc>
                <a:spcPct val="120000"/>
              </a:lnSpc>
              <a:spcAft>
                <a:spcPts val="1260"/>
              </a:spcAft>
              <a:buClr>
                <a:srgbClr val="00D4AA"/>
              </a:buClr>
              <a:buFont typeface="Inter"/>
              <a:buChar char="•"/>
            </a:pPr>
            <a:r>
              <a:rPr sz="1800" b="0">
                <a:solidFill>
                  <a:srgbClr val="FFFFFF"/>
                </a:solidFill>
                <a:latin typeface="Inter"/>
              </a:rPr>
              <a:t>Cost per hour: unchanged</a:t>
            </a:r>
          </a:p>
          <a:p>
            <a:pPr marL="292608" indent="-292608">
              <a:lnSpc>
                <a:spcPct val="120000"/>
              </a:lnSpc>
              <a:spcAft>
                <a:spcPts val="1260"/>
              </a:spcAft>
              <a:buClr>
                <a:srgbClr val="00D4AA"/>
              </a:buClr>
              <a:buFont typeface="Inter"/>
              <a:buChar char="•"/>
            </a:pPr>
            <a:r>
              <a:rPr sz="1800" b="0">
                <a:solidFill>
                  <a:srgbClr val="FFFFFF"/>
                </a:solidFill>
                <a:latin typeface="Inter"/>
              </a:rPr>
              <a:t>Red latency with nothing else moving means: the provider is slow, and nothing is turning slowness into an error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actually fixes a slow provider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 timeout that turns a stall into an error: </a:t>
            </a:r>
            <a:r>
              <a:rPr sz="1656" b="0">
                <a:solidFill>
                  <a:srgbClr val="00D4AA"/>
                </a:solidFill>
                <a:latin typeface="JetBrains Mono"/>
              </a:rPr>
              <a:t>ATLAS_REQUEST_TIMEOUT_S</a:t>
            </a:r>
            <a:r>
              <a:rPr sz="1800" b="0">
                <a:solidFill>
                  <a:srgbClr val="FFFFFF"/>
                </a:solidFill>
                <a:latin typeface="Inter"/>
              </a:rPr>
              <a:t>, about 2× the slowest normal call (7.3)</a:t>
            </a:r>
          </a:p>
          <a:p>
            <a:pPr marL="292608" indent="-292608">
              <a:lnSpc>
                <a:spcPct val="120000"/>
              </a:lnSpc>
              <a:spcAft>
                <a:spcPts val="1260"/>
              </a:spcAft>
              <a:buClr>
                <a:srgbClr val="00D4AA"/>
              </a:buClr>
              <a:buFont typeface="Inter"/>
              <a:buChar char="•"/>
            </a:pPr>
            <a:r>
              <a:rPr sz="1800" b="0">
                <a:solidFill>
                  <a:srgbClr val="FFFFFF"/>
                </a:solidFill>
                <a:latin typeface="Inter"/>
              </a:rPr>
              <a:t>The error opens the breaker; the next calls go to </a:t>
            </a:r>
            <a:r>
              <a:rPr sz="1656" b="0">
                <a:solidFill>
                  <a:srgbClr val="00D4AA"/>
                </a:solidFill>
                <a:latin typeface="JetBrains Mono"/>
              </a:rPr>
              <a:t>FALLBACKS[model]</a:t>
            </a:r>
            <a:r>
              <a:rPr sz="1800" b="0">
                <a:solidFill>
                  <a:srgbClr val="FFFFFF"/>
                </a:solidFill>
                <a:latin typeface="Inter"/>
              </a:rPr>
              <a:t> (7.4)</a:t>
            </a:r>
          </a:p>
          <a:p>
            <a:pPr marL="292608" indent="-292608">
              <a:lnSpc>
                <a:spcPct val="120000"/>
              </a:lnSpc>
              <a:spcAft>
                <a:spcPts val="1260"/>
              </a:spcAft>
              <a:buClr>
                <a:srgbClr val="00D4AA"/>
              </a:buClr>
              <a:buFont typeface="Inter"/>
              <a:buChar char="•"/>
            </a:pPr>
            <a:r>
              <a:rPr sz="1800" b="0">
                <a:solidFill>
                  <a:srgbClr val="FFFFFF"/>
                </a:solidFill>
                <a:latin typeface="Inter"/>
              </a:rPr>
              <a:t>The fallback must be somewhere the slowness isn't: another model family or another provider</a:t>
            </a:r>
          </a:p>
          <a:p>
            <a:pPr marL="292608" indent="-292608">
              <a:lnSpc>
                <a:spcPct val="120000"/>
              </a:lnSpc>
              <a:spcAft>
                <a:spcPts val="1260"/>
              </a:spcAft>
              <a:buClr>
                <a:srgbClr val="00D4AA"/>
              </a:buClr>
              <a:buFont typeface="Inter"/>
              <a:buChar char="•"/>
            </a:pPr>
            <a:r>
              <a:rPr sz="1800" b="0">
                <a:solidFill>
                  <a:srgbClr val="FFFFFF"/>
                </a:solidFill>
                <a:latin typeface="Inter"/>
              </a:rPr>
              <a:t>Offline, the mock slows every model and never times out, so this half is proven by tests, not by the replay</a:t>
            </a:r>
          </a:p>
          <a:p>
            <a:pPr marL="292608" indent="-292608">
              <a:lnSpc>
                <a:spcPct val="120000"/>
              </a:lnSpc>
              <a:spcAft>
                <a:spcPts val="1260"/>
              </a:spcAft>
              <a:buClr>
                <a:srgbClr val="00D4AA"/>
              </a:buClr>
              <a:buFont typeface="Inter"/>
              <a:buChar char="•"/>
            </a:pPr>
            <a:r>
              <a:rPr sz="1800" b="0">
                <a:solidFill>
                  <a:srgbClr val="FFFFFF"/>
                </a:solidFill>
                <a:latin typeface="Inter"/>
              </a:rPr>
              <a:t>Against a real provider: </a:t>
            </a:r>
            <a:r>
              <a:rPr sz="1656" b="0">
                <a:solidFill>
                  <a:srgbClr val="00D4AA"/>
                </a:solidFill>
                <a:latin typeface="JetBrains Mono"/>
              </a:rPr>
              <a:t>.env.chaos.example</a:t>
            </a:r>
            <a:r>
              <a:rPr sz="1800" b="0">
                <a:solidFill>
                  <a:srgbClr val="FFFFFF"/>
                </a:solidFill>
                <a:latin typeface="Inter"/>
              </a:rPr>
              <a:t> (</a:t>
            </a:r>
            <a:r>
              <a:rPr sz="1656" b="0">
                <a:solidFill>
                  <a:srgbClr val="00D4AA"/>
                </a:solidFill>
                <a:latin typeface="JetBrains Mono"/>
              </a:rPr>
              <a:t>ATLAS_REQUEST_TIMEOUT_S=4</a:t>
            </a:r>
            <a:r>
              <a:rPr sz="1800" b="0">
                <a:solidFill>
                  <a:srgbClr val="FFFFFF"/>
                </a:solidFill>
                <a:latin typeface="Inter"/>
              </a:rPr>
              <a:t>, </a:t>
            </a:r>
            <a:r>
              <a:rPr sz="1656" b="0">
                <a:solidFill>
                  <a:srgbClr val="00D4AA"/>
                </a:solidFill>
                <a:latin typeface="JetBrains Mono"/>
              </a:rPr>
              <a:t>ATLAS_MAX_RETRIES=1</a:t>
            </a:r>
            <a:r>
              <a:rPr sz="1800" b="0">
                <a:solidFill>
                  <a:srgbClr val="FFFFFF"/>
                </a:solidFill>
                <a:latin typeface="Inter"/>
              </a:rPr>
              <a:t>, </a:t>
            </a:r>
            <a:r>
              <a:rPr sz="1656" b="0">
                <a:solidFill>
                  <a:srgbClr val="00D4AA"/>
                </a:solidFill>
                <a:latin typeface="JetBrains Mono"/>
              </a:rPr>
              <a:t>ATLAS_ROUTER_MODE=1</a:t>
            </a:r>
            <a:r>
              <a:rPr sz="1800" b="0">
                <a:solidFill>
                  <a:srgbClr val="FFFFFF"/>
                </a:solidFill>
                <a:latin typeface="Inter"/>
              </a:rPr>
              <a:t>, </a:t>
            </a:r>
            <a:r>
              <a:rPr sz="1656" b="0">
                <a:solidFill>
                  <a:srgbClr val="00D4AA"/>
                </a:solidFill>
                <a:latin typeface="JetBrains Mono"/>
              </a:rPr>
              <a:t>OFFLINE=0</a:t>
            </a:r>
            <a:r>
              <a:rPr sz="1800" b="0">
                <a:solidFill>
                  <a:srgbClr val="FFFFFF"/>
                </a:solidFill>
                <a:latin typeface="Inter"/>
              </a:rPr>
              <a: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we did not change, and why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The fallback list: right already, it just needs an error to fire</a:t>
            </a:r>
          </a:p>
          <a:p>
            <a:pPr marL="292608" indent="-292608">
              <a:lnSpc>
                <a:spcPct val="120000"/>
              </a:lnSpc>
              <a:spcAft>
                <a:spcPts val="1260"/>
              </a:spcAft>
              <a:buClr>
                <a:srgbClr val="00D4AA"/>
              </a:buClr>
              <a:buFont typeface="Inter"/>
              <a:buChar char="•"/>
            </a:pPr>
            <a:r>
              <a:rPr sz="1800" b="0">
                <a:solidFill>
                  <a:srgbClr val="FFFFFF"/>
                </a:solidFill>
                <a:latin typeface="Inter"/>
              </a:rPr>
              <a:t>Concurrency limits (7.5): a slow provider fills slots; watch </a:t>
            </a:r>
            <a:r>
              <a:rPr sz="1656" b="0">
                <a:solidFill>
                  <a:srgbClr val="00D4AA"/>
                </a:solidFill>
                <a:latin typeface="JetBrains Mono"/>
              </a:rPr>
              <a:t>atlas_queue_wait_seconds</a:t>
            </a:r>
            <a:r>
              <a:rPr sz="1800" b="0">
                <a:solidFill>
                  <a:srgbClr val="FFFFFF"/>
                </a:solidFill>
                <a:latin typeface="Inter"/>
              </a:rPr>
              <a:t> live (Section 9), not in a replay</a:t>
            </a:r>
          </a:p>
          <a:p>
            <a:pPr marL="292608" indent="-292608">
              <a:lnSpc>
                <a:spcPct val="120000"/>
              </a:lnSpc>
              <a:spcAft>
                <a:spcPts val="1260"/>
              </a:spcAft>
              <a:buClr>
                <a:srgbClr val="00D4AA"/>
              </a:buClr>
              <a:buFont typeface="Inter"/>
              <a:buChar char="•"/>
            </a:pPr>
            <a:r>
              <a:rPr sz="1800" b="0">
                <a:solidFill>
                  <a:srgbClr val="FFFFFF"/>
                </a:solidFill>
                <a:latin typeface="Inter"/>
              </a:rPr>
              <a:t>Budget guard: never triggered; the day cost the same</a:t>
            </a:r>
          </a:p>
          <a:p>
            <a:pPr marL="292608" indent="-292608">
              <a:lnSpc>
                <a:spcPct val="120000"/>
              </a:lnSpc>
              <a:spcAft>
                <a:spcPts val="1260"/>
              </a:spcAft>
              <a:buClr>
                <a:srgbClr val="00D4AA"/>
              </a:buClr>
              <a:buFont typeface="Inter"/>
              <a:buChar char="•"/>
            </a:pPr>
            <a:r>
              <a:rPr sz="1800" b="0">
                <a:solidFill>
                  <a:srgbClr val="FFFFFF"/>
                </a:solidFill>
                <a:latin typeface="Inter"/>
              </a:rPr>
              <a:t>The prompt and the tools: untouched; this was never Atlas's bug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Slow provider: p95 red, everything else flat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Your levers buy milliseconds, not seconds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Seconds need a timeout and a second provider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4: Hold p95 under 4 seconds during chaos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Your turn.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LATENCY AND RELIABILITY</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4: Hold p95 under 4 seconds during chaos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Reproduce the slow-provider day, tune timeouts, retries, fallbacks and concurrency with every change justified from the worksheet, and prove the result with…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Lab 4 checklist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Replay </a:t>
            </a:r>
            <a:r>
              <a:rPr sz="1656" b="0">
                <a:solidFill>
                  <a:srgbClr val="00D4AA"/>
                </a:solidFill>
                <a:latin typeface="JetBrains Mono"/>
              </a:rPr>
              <a:t>slow_provider</a:t>
            </a:r>
            <a:r>
              <a:rPr sz="1800" b="0">
                <a:solidFill>
                  <a:srgbClr val="FFFFFF"/>
                </a:solidFill>
                <a:latin typeface="Inter"/>
              </a:rPr>
              <a:t>; screenshot the three charts; gate red on p95</a:t>
            </a:r>
          </a:p>
          <a:p>
            <a:pPr marL="292608" indent="-292608">
              <a:lnSpc>
                <a:spcPct val="120000"/>
              </a:lnSpc>
              <a:spcAft>
                <a:spcPts val="1260"/>
              </a:spcAft>
              <a:buClr>
                <a:srgbClr val="00D4AA"/>
              </a:buClr>
              <a:buFont typeface="Inter"/>
              <a:buChar char="•"/>
            </a:pPr>
            <a:r>
              <a:rPr sz="1800" b="0">
                <a:solidFill>
                  <a:srgbClr val="FFFFFF"/>
                </a:solidFill>
                <a:latin typeface="Inter"/>
              </a:rPr>
              <a:t>Tune </a:t>
            </a:r>
            <a:r>
              <a:rPr sz="1656" b="0">
                <a:solidFill>
                  <a:srgbClr val="00D4AA"/>
                </a:solidFill>
                <a:latin typeface="JetBrains Mono"/>
              </a:rPr>
              <a:t>.env.chaos</a:t>
            </a:r>
            <a:r>
              <a:rPr sz="1800" b="0">
                <a:solidFill>
                  <a:srgbClr val="FFFFFF"/>
                </a:solidFill>
                <a:latin typeface="Inter"/>
              </a:rPr>
              <a:t>; re-run; record p95, cost per session and outcomes after each change</a:t>
            </a:r>
          </a:p>
          <a:p>
            <a:pPr marL="292608" indent="-292608">
              <a:lnSpc>
                <a:spcPct val="120000"/>
              </a:lnSpc>
              <a:spcAft>
                <a:spcPts val="1260"/>
              </a:spcAft>
              <a:buClr>
                <a:srgbClr val="00D4AA"/>
              </a:buClr>
              <a:buFont typeface="Inter"/>
              <a:buChar char="•"/>
            </a:pPr>
            <a:r>
              <a:rPr sz="1800" b="0">
                <a:solidFill>
                  <a:srgbClr val="FFFFFF"/>
                </a:solidFill>
                <a:latin typeface="Inter"/>
              </a:rPr>
              <a:t>Fill the worksheet row for each changed setting in </a:t>
            </a:r>
            <a:r>
              <a:rPr sz="1656" b="0">
                <a:solidFill>
                  <a:srgbClr val="00D4AA"/>
                </a:solidFill>
                <a:latin typeface="JetBrains Mono"/>
              </a:rPr>
              <a:t>notes/lab-04.md</a:t>
            </a:r>
          </a:p>
          <a:p>
            <a:pPr marL="292608" indent="-292608">
              <a:lnSpc>
                <a:spcPct val="120000"/>
              </a:lnSpc>
              <a:spcAft>
                <a:spcPts val="1260"/>
              </a:spcAft>
              <a:buClr>
                <a:srgbClr val="00D4AA"/>
              </a:buClr>
              <a:buFont typeface="Inter"/>
              <a:buChar char="•"/>
            </a:pPr>
            <a:r>
              <a:rPr sz="1800" b="0">
                <a:solidFill>
                  <a:srgbClr val="FFFFFF"/>
                </a:solidFill>
                <a:latin typeface="Inter"/>
              </a:rPr>
              <a:t>Keep cost per session under $0.05 the whole time</a:t>
            </a:r>
          </a:p>
          <a:p>
            <a:pPr marL="292608" indent="-292608">
              <a:lnSpc>
                <a:spcPct val="120000"/>
              </a:lnSpc>
              <a:spcAft>
                <a:spcPts val="1260"/>
              </a:spcAft>
              <a:buClr>
                <a:srgbClr val="00D4AA"/>
              </a:buClr>
              <a:buFont typeface="Inter"/>
              <a:buChar char="•"/>
            </a:pPr>
            <a:r>
              <a:rPr sz="1800" b="0">
                <a:solidFill>
                  <a:srgbClr val="FFFFFF"/>
                </a:solidFill>
                <a:latin typeface="Inter"/>
              </a:rPr>
              <a:t>Submit: the screenshots, the </a:t>
            </a:r>
            <a:r>
              <a:rPr sz="1656" b="0">
                <a:solidFill>
                  <a:srgbClr val="00D4AA"/>
                </a:solidFill>
                <a:latin typeface="JetBrains Mono"/>
              </a:rPr>
              <a:t>.env.chaos</a:t>
            </a:r>
            <a:r>
              <a:rPr sz="1800" b="0">
                <a:solidFill>
                  <a:srgbClr val="FFFFFF"/>
                </a:solidFill>
                <a:latin typeface="Inter"/>
              </a:rPr>
              <a:t> diff, the before/after table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7.7</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Budget latency at p95 and measure it from spans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Bound retries and price every failed attempt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Contain a failing model with breakers, fallbacks and per-tenant queues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Latency and reliability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Before the lab, the Section 7 quiz.</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7.8</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7 · LATENCY AND RELIABILITY</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7.8</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Latency and reliability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you can pick the right percentile, the right timeout and the right control for each failure shape.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6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Percentiles and budgets</a:t>
            </a:r>
          </a:p>
          <a:p>
            <a:pPr marL="292608" indent="-292608">
              <a:lnSpc>
                <a:spcPct val="120000"/>
              </a:lnSpc>
              <a:spcAft>
                <a:spcPts val="1539"/>
              </a:spcAft>
              <a:buClr>
                <a:srgbClr val="00D4AA"/>
              </a:buClr>
              <a:buFont typeface="Inter"/>
              <a:buChar char="•"/>
            </a:pPr>
            <a:r>
              <a:rPr sz="2200" b="0">
                <a:solidFill>
                  <a:srgbClr val="FFFFFF"/>
                </a:solidFill>
                <a:latin typeface="Inter"/>
              </a:rPr>
              <a:t>Timeouts from p95</a:t>
            </a:r>
          </a:p>
          <a:p>
            <a:pPr marL="292608" indent="-292608">
              <a:lnSpc>
                <a:spcPct val="120000"/>
              </a:lnSpc>
              <a:spcAft>
                <a:spcPts val="1539"/>
              </a:spcAft>
              <a:buClr>
                <a:srgbClr val="00D4AA"/>
              </a:buClr>
              <a:buFont typeface="Inter"/>
              <a:buChar char="•"/>
            </a:pPr>
            <a:r>
              <a:rPr sz="2200" b="0">
                <a:solidFill>
                  <a:srgbClr val="FFFFFF"/>
                </a:solidFill>
                <a:latin typeface="Inter"/>
              </a:rPr>
              <a:t>Failure shape → control</a:t>
            </a:r>
          </a:p>
          <a:p>
            <a:pPr marL="292608" indent="-292608">
              <a:lnSpc>
                <a:spcPct val="120000"/>
              </a:lnSpc>
              <a:spcAft>
                <a:spcPts val="1539"/>
              </a:spcAft>
              <a:buClr>
                <a:srgbClr val="00D4AA"/>
              </a:buClr>
              <a:buFont typeface="Inter"/>
              <a:buChar char="•"/>
            </a:pPr>
            <a:r>
              <a:rPr sz="2200" b="0">
                <a:solidFill>
                  <a:srgbClr val="FFFFFF"/>
                </a:solidFill>
                <a:latin typeface="Inter"/>
              </a:rPr>
              <a:t>Reading a Router config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07 · Lecture 7.8</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Offline evals are not enough</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Atlas is fast and it stays 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