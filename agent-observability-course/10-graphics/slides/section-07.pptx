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Latency budgets for agents.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clocks, and for agents a fourth. Time to first token is how long the model takes to start. Time per output token is how fast it streams once started. Total time is the whole answer. And for an agent, the one users actually feel is the fourth: time to first visible token. Atlas runs two tool steps before the user sees a single word. The first two model calls stream nothing to the screen. So the user's clock starts at send and stops when the final answer begins. Measure that one. It's the one that makes people close the tab.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anatomy. Three model calls at about half a second each to first token. Two tool executions, a couple of hundred milliseconds. Two tool-call outputs of sixty tokens each, streamed at nine milliseconds a token. The user sees the first word of the answer at about one point nine seconds on a median request, and three point four at p95. The full answer lands at three point six seconds, six point eight at p95, because two hundred twenty tokens at nine milliseconds is two seconds of streaming.</a:t>
            </a:r>
          </a:p>
          <a:p/>
          <a:p>
            <a:r>
              <a:t>Notice where the time is. Not in the tools. In waiting for the model to start, three times. Every step you add is another half second before the user sees anything. That's the cost lesson from Section 6 in a different currency.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budget. Four seconds to the first visible token, at p95. Eight seconds to the full answer. One point two seconds per tool step. Where do those come from? From users. In our replay's feedback data, re-typing and abandonment start climbing at about five seconds of silence. Four gives us a margin. And the headroom today is six tenths of a second at p95. That's the number that matters for the chaos demo in 7.6. When a provider gets slow, six tenths of a second is what we have before we're outside the contract.</a:t>
            </a:r>
          </a:p>
          <a:p/>
          <a:p>
            <a:r>
              <a:t>If you've taken the voice agents course, you'll remember eight hundred milliseconds end to end. A voice agent has to answer before the silence gets awkward. A chat helpdesk gets five times that. Same discipline, different number. Know which product you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p95, specifically? The mean hides everything, you've seen that. p50 is what the typical person gets; useful for capacity, useless for pain. p99 is one in a hundred, and with a third-party model provider in the loop, you don't control the tail well enough to promise it. p95 is the one an engineering team can actually hold: one in twenty. We budget at p95, we watch p99 for trend, and we report p50 next to it so nobody thinks the typical experience is slow.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worksheet is in the resources folder. One row per step, per tool, per model call. Columns for p50, p95, the budget and the headroom. You'll fill it from spans in the next lecture, not from guesses. And every timeout, retry and fallback we add in this section will point back to a row. A timeout you can't justify from the sheet is a timeout that will bite you on a busy day.</a:t>
            </a:r>
          </a:p>
          <a:p/>
          <a:p>
            <a:r>
              <a:t>One more thing before we measure. Latency and cost pull in opposite directions in one place: retries. A retry is the fastest way to fix a slow call and the fastest way to double your bill. Hold both numbers in your head through this section. In 7.3 we'll make retries bounded, so they cost you a known amount of both.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measure TTFT, TPOT and p95 from spans.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to first token is first chunk minus start. Time per output token is the rest of the streaming window divided by the tokens in it. Total is end minus start. And the agent's fourth clock is the final generation's first chunk minus the start of the whole request. All four come from attributes you set in lecture 5.4: the incubating `gen_ai.response.time_to_first_chunk` on the OTel side, and `completion_start_time` in Langfuse.</a:t>
            </a:r>
          </a:p>
          <a:p/>
          <a:p>
            <a:r>
              <a:t>[SCREEN: VS Code, `src/northwind/latency.py`]</a:t>
            </a:r>
          </a:p>
          <a:p/>
          <a:p>
            <a:r>
              <a:t>[CODE: `src/northwind/latency.py` (excerpt)]</a:t>
            </a:r>
          </a:p>
          <a:p/>
          <a:p>
            <a:r>
              <a:t>Four pieces. `percentile` is nearest-rank: sort, take the element at the ceiling of p percent of the length. No numpy, because this runs in the CI gate and in the browser coding exercise. `StepTiming` is one generation plus the tool time that followed it; the three clocks are properties. `RequestTiming` gives the agent's fourth clock: the final step's first chunk minus the first step's start. And `violations` compares p95s to the budget and returns only what's over. Empty dict means green. That's what the CI gate in Section 13 asserts.</a:t>
            </a:r>
          </a:p>
          <a:p/>
          <a:p>
            <a:r>
              <a:t>Now the source: the local span store.</a:t>
            </a:r>
          </a:p>
          <a:p/>
          <a:p>
            <a:r>
              <a:t>[SCREEN: `telemetry/local_store.py`, then terminal]</a:t>
            </a:r>
          </a:p>
          <a:p/>
          <a:p>
            <a:r>
              <a:t>[DEMO: output:]</a:t>
            </a:r>
          </a:p>
          <a:p/>
          <a:p>
            <a:r>
              <a:t>A word on where these numbers come from in offline mode. The mock LLM doesn't sleep for two seconds per call; it stamps spans with timings drawn from a distribution fitted to real gpt-4.1-mini calls, so a full day replays in a couple of minutes and the percentiles come out realistic. In live mode the same code reads real spans. Either way, the aggregation reads our local store rather than the Langfuse API, because ten thousand traces through a paginated API is slow and Langfuse already shows its own latency views in the UI for browsing. The store is for arithmetic. The UI is for looking.</a:t>
            </a:r>
          </a:p>
          <a:p/>
          <a:p>
            <a:r>
              <a:t>There's the worksheet, filled from spans. First visible token p95 three point four one, budget four, fifty-nine hundredths of headroom. Every step's time to first token is just over a second at p95, which is why the step budget is one point two. And look at the tools: `check_shipment` is the slow one, six hundred milliseconds at p95, because it calls an external carrier API. Remember that for the chaos demo.</a:t>
            </a:r>
          </a:p>
          <a:p/>
          <a:p>
            <a:r>
              <a:t>Now the metrics.</a:t>
            </a:r>
          </a:p>
          <a:p/>
          <a:p>
            <a:r>
              <a:t>[SCREEN: `telemetry/metrics.py`]</a:t>
            </a:r>
          </a:p>
          <a:p/>
          <a:p>
            <a:r>
              <a:t>[CODE: `telemetry/metrics.py` (excerpt)]</a:t>
            </a:r>
          </a:p>
          <a:p/>
          <a:p>
            <a:r>
              <a:t>Two rules in this file. First, the buckets bracket the budget: there's a bucket edge at exactly four seconds and at eight, so `histogram_quantile` can answer "what fraction was under budget" precisely, not by interpolation. Second, labels: `tenant` on the request histogram, `model` on time to first token, `tool` on tool latency, nothing else, and never user or session. Four tenants times thirteen buckets is fine; four thousand users is not. Per-user latency lives in the span store, where cardinality is free.</a:t>
            </a:r>
          </a:p>
          <a:p/>
          <a:p>
            <a:r>
              <a:t>[SCREEN: `app/agent.py`, `_finish`: `metrics.record_request(tenant=tenant, model=result.model, outcome=result.outcome, latency_s=..., ste...]</a:t>
            </a:r>
          </a:p>
          <a:p/>
          <a:p>
            <a:r>
              <a:t>One `record_request` call at the end of the request, one `record_generation` per model call, and the Ops Console latency page lights up: p50, p95, p99 lines, the four-second budget in red, per-step breakdown, per-tool p95. Same functions, same numbers as the terminal.</a:t>
            </a:r>
          </a:p>
          <a:p/>
          <a:p>
            <a:r>
              <a:t>Two habits with histograms. Observe once per request, at the end, with the value you computed from spans; don't wrap the whole request in a timer and observe that, because then you've measured total time when the SLI is first visible token. And choose buckets before you have a month of data, because changing buckets later makes old and new data incomparable. Ours run from a tenth of a second to twenty, with edges at the two budgets. If you ever find yourself wanting p99.9 from a histogram, stop: thirteen buckets can't give you that, and neither can a provider you don't control.</a:t>
            </a:r>
          </a:p>
          <a:p/>
          <a:p>
            <a:r>
              <a:t>[SCREEN: `tests/unit/test_latency.py`]</a:t>
            </a:r>
          </a:p>
          <a:p/>
          <a:p>
            <a:r>
              <a:t>Three unit tests: `percentile` on a known list, `first_visible_token` on a three-step request, and `violations` returning empty on a within-budget set and non-empty when one step is slow.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Timeouts, retries and backoff done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Timeouts derive from the budget you wrote in 7.1. Retries are bounded, jittered, and only for errors a retry can actually fix. And every retry is a cost event. It goes on a counter and into the budget guard's spend, so a storm hits the soft cap instead of the credit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Timeouts. The step budget is one point two seconds at p95, and the model's first token is one point one at p95. So a first-token timeout of six seconds, about five times p95, catches a stalled provider without cutting off a merely slow one. Total call timeout, twenty-five seconds, generous because gpt-4.1 streams at half the speed. A stream idle timeout of five seconds: if no chunk arrives for five seconds, the stream is dead, stop waiting. And per-tool timeouts: three seconds for `check_shipment`, one for the rest. Version one had a twenty-second flat timeout and nothing on first token. A stalled provider ate twenty seconds, then retried, five times. That's a hundred seconds before the user got an error.</a:t>
            </a:r>
          </a:p>
          <a:p/>
          <a:p>
            <a:r>
              <a:t>[SCREEN: VS Code, `app/agent.py`]</a:t>
            </a:r>
          </a:p>
          <a:p/>
          <a:p>
            <a:r>
              <a:t>[CODE: `app/agent.py` (excerpt): timeouts and bounded retries]</a:t>
            </a:r>
          </a:p>
          <a:p/>
          <a:p>
            <a:r>
              <a:t>Read the `except`. Five things happen. Only `RETRYABLE` errors get here: timeouts, rate limits, connection errors, server errors. A bad request or an auth error propagates immediately, because retrying it is pointless. Then the honest bill: a timed-out call still cost input tokens on the provider side, so the attempt gets its own generation span with the estimated input tokens, the cost and the error type. That is the line Incident 1 is about. Then the counter, `atlas_llm_retries_total`, with the model and the reason. Then the breaker learns about the failure, and the loop bound, `ATLAS_MAX_RETRIES`, two by default, decides whether there is another attempt. Then jittered backoff: a quarter second doubling per attempt, capped at four seconds, with up to fifty percent of random jitter, and zero when offline so the replay stays fast. Jitter is not optional. Without it, a thousand clients that failed at the same instant retry at the same instant, and you've built a synchronised storm.</a:t>
            </a:r>
          </a:p>
          <a:p/>
          <a:p>
            <a:r>
              <a:t>Now tools, which have their own retry problem.</a:t>
            </a:r>
          </a:p>
          <a:p/>
          <a:p>
            <a:r>
              <a:t>[SCREEN: `app/tools.py`]</a:t>
            </a:r>
          </a:p>
          <a:p/>
          <a:p>
            <a:r>
              <a:t>[CODE: `app/tools.py` (excerpt): idempotent ticket creation]</a:t>
            </a:r>
          </a:p>
          <a:p/>
          <a:p>
            <a:r>
              <a:t>`create_ticket` takes a `request_key`, which the agent derives from the trace id and the step number. Same key, same ticket. So if the tool timed out after the ticket was created but before the response arrived, the retry returns the existing ticket instead of opening a second one. Without this, the retry storm from the hook also opened four thousand duplicate tickets. Reads like `lookup_ticket` are naturally idempotent. Writes need a key.</a:t>
            </a:r>
          </a:p>
          <a:p/>
          <a:p>
            <a:r>
              <a:t>Tool retries follow the same shape: at most two, jittered, counted with `kind="tool"`, and a tool that fails twice sends the step to the strong model, which you saw in 6.6.</a:t>
            </a:r>
          </a:p>
          <a:p/>
          <a:p>
            <a:r>
              <a:t>[SCREEN: terminal]</a:t>
            </a:r>
          </a:p>
          <a:p/>
          <a:p>
            <a:r>
              <a:t>Replay the storm, before and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storm. Extra cost drops from seven dollars to one. Duplicate tickets from thirty-nine hundred to zero. And p95 during the storm drops from forty-one seconds, because five twenty-second timeouts stacked up, to under five. The users still saw a broken ticketing system. That's not Atlas's fault. But they saw it in five seconds instead of a hundred, they didn't get four duplicate tickets, and the department wasn't billed seven dollars for the privilege.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checklist. Every timeout justified by a budget row. Retry only what can succeed, never a partial answer. Two attempts, jittered. Writes idempotent. And the counter, which is what turns a retry storm into a page instead of an invoice.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Fallbacks and circuit breakers with the Router.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states. Closed is normal: requests flow, failures get counted. Open: after three failures in a minute, the Router puts that deployment in a thirty-second cooldown and sends everything to the fallback. Half-open: when the cooldown ends, the next request probes the deployment. Success closes the circuit. Another failure re-opens it. In the Router those are `allowed_fails` and `cooldown_time`, and a timeout counts as a failure, which is exactly what we want for a slow provider.</a:t>
            </a:r>
          </a:p>
          <a:p/>
          <a:p>
            <a:r>
              <a:t>[SCREEN: VS Code, `app/agent.py`, `build_router`]</a:t>
            </a:r>
          </a:p>
          <a:p/>
          <a:p>
            <a:r>
              <a:t>[CODE: `app/agent.py` (excerpt): fallback table, Router config and the breaker]</a:t>
            </a:r>
          </a:p>
          <a:p/>
          <a:p>
            <a:r>
              <a:t>Five deployments and one fallback each, in a plain table. `gpt-4.1-mini` falls back to `gpt-4o-mini`, a different model family so a family-wide slowdown doesn't take both; `gpt-4o-mini` falls back up to `gpt-4.1`, because a slightly dearer answer beats no answer; and `gpt-4.1` falls back down to `gpt-4.1-mini`, because if the strong model is down you still answer. Cheapest viable first, strongest last, because a fallback step on gpt-4.1 costs a cent. The Router gets the same table through `build_router_config`, plus `allowed_fails` and `cooldown_time`: after three failures a deployment cools down for thirty seconds. And because Atlas also runs without the Router, offline and in tests, `CircuitBreaker` does the same job in-process: it opens for a model after a threshold of consecutive failures and half-opens after a cooldown, and `_call_model` consults it before every attempt.</a:t>
            </a:r>
          </a:p>
          <a:p/>
          <a:p>
            <a:r>
              <a:t>One thing the Router does not tell you by default: that a fallback happened. We need that on the span and on a counter.</a:t>
            </a:r>
          </a:p>
          <a:p/>
          <a:p>
            <a:r>
              <a:t>[CODE: `app/agent.py` (excerpt): logging fallbacks]</a:t>
            </a:r>
          </a:p>
          <a:p/>
          <a:p>
            <a:r>
              <a:t>Before each attempt, if the breaker is open for the model we wanted, switch to its fallback, count it with from and to, log a warning with both names, and then open the generation span under the model that will actually answer. Two things this buys you. Cost attribution stays honest: `_price` runs on `current`, the model that answered, and the span is named after it. And the fallback rate becomes a time series, `atlas_model_fallbacks_total`, which is the first thing you look at in the chaos demo.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the served model, the requested model and the reason. Keep the error body in the structured log, not the span, because error bodies are big and sometimes contain the prompt. And notice the level: warning. A fallback is a success for the user and a warning for you. If you log it as an error, your error rate lies during every provider hiccup.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has a price, and you can read it in the showback by model. On a normal day, fallbacks are a third of a percent of steps, forty cents, mostly rate-limit blips at lunchtime. During a slow-provider window, tuned the way we'll do in 7.6, eighteen percent of requests fall back one step, about a hundred ten of them to gpt-4.1: a dollar twenty. A dollar twenty to keep two hundred users under four seconds. That's the cheapest reliability you'll ever buy. And watch the weekly number: a fallback baseline that creeps up is a provider quietly degrading before it has an incident.</a:t>
            </a:r>
          </a:p>
          <a:p/>
          <a:p>
            <a:r>
              <a:t>[SCREEN: terminal, `uv run pytest tests/unit/test_agent.py -q -k "retry or fallback or breaker"`]</a:t>
            </a:r>
          </a:p>
          <a:p/>
          <a:p>
            <a:r>
              <a:t>[DEMO: green. The tests use the mock LLM with the `retry_storm` scenario and assert: the failed attempts get their own generation spans w...]</a:t>
            </a:r>
          </a:p>
          <a:p/>
          <a:p>
            <a:r>
              <a:t>Unit tests, offline, using the mock LLM's scripted timeouts. They assert the retry spans, the counter, the breaker, and that the cost was computed on the model that actually answered.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Rate limits, queues and graceful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429 is the provider telling you you've exceeded a per-minute limit for tokens or requests. It usually carries a `Retry-After` header. Honour that number. Don't guess, and don't retry immediately, because everyone else on the same key is retrying too. Our retry loop from 7.3 handles it: bounded, jittered, counted, and the Router counts it toward the cooldown, so a rate-limited deployment gets bypassed. But if 429s are persistent, that's not an error. It's capacity. And capacity has three answers: pay for more, add a second provider under the same name like we did in 7.4, or decide who waits.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[B-ROLL: diagram builds. Four lanes labelled by tenant, each with a small number, merging into the Router, then a single pipe to the prov...]</a:t>
            </a:r>
          </a:p>
          <a:p/>
          <a:p>
            <a:r>
              <a:t>Per-tenant concurrency. One semaphore per tenant, sized from the tenant's share of the bill: ops gets thirteen slots, eng seven, finance six, hr six. When ops fills its thirteen, the hundred-and-first pallet question waits in operations' queue, up to three seconds, and then gets degraded mode. Finance's six slots are untouched. That's the whole trick. The provider's limit is shared, so somebody has to divide it before the provider does it for you, and the provider divides it by who asked first.</a:t>
            </a:r>
          </a:p>
          <a:p/>
          <a:p>
            <a:r>
              <a:t>Two metrics: an in-flight gauge per tenant, and a queue-wait histogram, both low cardinality. When queue wait shows up on the dashboard for one tenant, that tenant has outgrown its slots, and the showback tells you whether to give it more.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must shed, shed in a declared order. First, repeated shipment checks within five minutes: serve the tool result you already have, no model call at all. Second, policy questions from a tenant already over its soft cap go to economy mode. Third, your own traffic: pause the judge sampling from Section 8, because grading answers is less important than giving them. Fourth, hold escalations to the strong model unless they're sensitive actions. And two things you never shed: password resets and high-priority tickets, because those are the requests where a delay costs more than the tokens. Write this list down before the incident. During the incident nobody has time to argue about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message. Degraded mode is not a failure if you tell the truth. Say what's happening, in one sentence. Say what still works. Say what to do. And never let the shorter budget turn into an invented answer. A three-line honest reply keeps trust. A confident wrong one loses it for a quarter. Mark the response and tag the trace, so the number of degraded answers is on the dashboard next to the number of fallbacks.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stack. Timeouts and bounded retries survive a blip. Fallbacks and cooldowns survive a slow model. Per-tenant concurrency and shedding survive your own success. Budgets survive a runaway. Four layers, each justified by a number from a worksheet or a report. Next, we break the provider on purpose and see whether they hold.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Chaos demo: slow provider during peak.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Forty-five minutes at lunchtime. Traffic up forty percent. About a third of calls to the small model take four to six seconds to start instead of half a second. No errors. Nothing returns a status code you could alert on. Just slow. This is the incident that gets you a Slack message saying "is Atlas down?" while every health check is green.</a:t>
            </a:r>
          </a:p>
          <a:p/>
          <a:p>
            <a:r>
              <a:t>[SCREEN: terminal, then Ops Console with three panels: p95 first visible token with the red 4 s line, fallback rate, cost per hour]</a:t>
            </a:r>
          </a:p>
          <a:p/>
          <a:p>
            <a:r>
              <a:t>Run one. Version-one settings.</a:t>
            </a:r>
          </a:p>
          <a:p/>
          <a:p>
            <a:r>
              <a:t>[DEMO: the three panels fill in. From 12:00 the p95 line climbs: 3.4 → 6.1 → 9.8 → 11.2 s by 12:20 and stays there until 12:45. Fallback...]</a:t>
            </a:r>
          </a:p>
          <a:p/>
          <a:p>
            <a:r>
              <a:t>Watch the p95. Twelve oh five, six seconds. Twelve ten, almost ten. Twelve twenty, eleven point two, and it stays there for the rest of the window. Now look at the other two panels. Fallback rate: zero. Cost: unchanged, two dollars fifty an hour, exactly normal. Error rate: normal.</a:t>
            </a:r>
          </a:p>
          <a:p/>
          <a:p>
            <a:r>
              <a:t>This is what a slow failure looks like. Nothing failed, so nothing fell back. The twenty-second timeout never fired, because five seconds is under twenty. Every one of those slow calls just... completed. Slowly. Three steps, each with roughly a one-in-three chance of a five-second start. Seven requests in ten hit at least one. One in four hit two, and that's eleven seconds to the first word. For forty-five minutes. Nearly three hundred people waited more than eight seconds.</a:t>
            </a:r>
          </a:p>
          <a:p/>
          <a:p>
            <a:r>
              <a:t>And the cost panel is the cruelest part. Finance would never know. Nothing cost more. The bill for a terrible lunch hour was identical to a good one.</a:t>
            </a:r>
          </a:p>
          <a:p/>
          <a:p>
            <a:r>
              <a:t>So what do we change? Not the fallback list; it was fine, it just never fired. The thing that never fired is the timeout. Six seconds to first token, from 7.3. Five times the p95. Slow enough that a normal slow call gets through, fast enough that a stalled one fails in time to fall back within the budget.</a:t>
            </a:r>
          </a:p>
          <a:p/>
          <a:p>
            <a:r>
              <a:t>[SCREEN: `src/northwind/config.py` diff, then terminal]</a:t>
            </a:r>
          </a:p>
          <a:p/>
          <a:p>
            <a:r>
              <a:t>Note the last line. For this scenario we set the agent's retries to zero, because retrying a slow deployment is waiting twice. The Router's fallback list takes over. Run two.</a:t>
            </a:r>
          </a:p>
          <a:p/>
          <a:p>
            <a:r>
              <a:t>[DEMO: p95 climbs to 4.4 s at 12:05, then settles at 3.8 s from 12:10 to 12:45. Fallback rate: rises to 18% by 12:10 and holds; a small p...]</a:t>
            </a:r>
          </a:p>
          <a:p/>
          <a:p>
            <a:r>
              <a:t>Now the same forty-five minutes. p95 pokes up to four point four at twelve oh five, one window of pain, then the cooldowns kick in and it settles at three point eight. Under budget. Fallback rate: eighteen percent, holding. Sixty-two percent of those fallbacks went to `gpt-5-mini`, cheapest viable first, and thirty-eight percent to gpt-4.1 when the fast model was also busy. Cost per hour: two fifty to three seventy. A dollar twenty for the window. And the cooldown chart shows the circuit breaker doing exactly what 7.4 described: open for thirty seconds, one probe, open again, until twelve forty-five when the probe succeeds and it closes.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Eleven point two to three point eight. Users over eight seconds: two hundred ten to three. A dollar twenty. And the last row is the one I want you to remember: in the tuned version, the incident shows up in the cost panel, because fallbacks cost money and we attribute them honestly. Reliability made the incident visible to finance. That's not a side effect. That's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what we didn't touch. The fallback list. The concurrency limits, which held; ops queued for a second at worst. The budget guard, which never fired, because a dollar twenty is inside everyone's headroom. The prompt, the models, the tools. One timeout was the whole fix, and the reason we knew which one was that three charts told us fallbacks were at zero while p95 was at eleven.</a:t>
            </a:r>
          </a:p>
          <a:p/>
          <a:p>
            <a:r>
              <a:t>One more run for you to try yourself: set the first-token timeout to two seconds instead of six and watch what happens. Fallback rate goes to forty percent on a normal day, cost goes up a third, and p95 barely moves. Too tight is its own incident. The lab is about finding the number in between.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4: Hold p95 under 4 seconds during chaos.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hints. First, look at the fallback panel before you touch anything; if it's at zero, the fix is a timeout, not a fallback. Second, when the gate passes, try to make it pass cheaper. The stretch goal is fallback cost under a dollar for the window, and it's harder than it sounds, because tightening the timeout raises the fallback rate on healthy calls too.</a:t>
            </a:r>
          </a:p>
          <a:p/>
          <a:p>
            <a:r>
              <a:t>The lab is written for offline mode. If you have keys and want to run it against the real provider, the lab tells you how, and reminds you to set a spending cap first.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Latency and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tip: whenever a question shows you a chart with flat errors and rising latency, the answer involves a timeout.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Latency budgets for agents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latency budget per step and end to end, measure it at p95, and treat the budget as a contract the…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clocks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Time to first token (TTFT): from send to the first streamed token. What users feel as "is it alive?"</a:t>
            </a:r>
          </a:p>
          <a:p>
            <a:pPr marL="292608" indent="-292608">
              <a:lnSpc>
                <a:spcPct val="120000"/>
              </a:lnSpc>
              <a:spcAft>
                <a:spcPts val="1120"/>
              </a:spcAft>
              <a:buClr>
                <a:srgbClr val="00D4AA"/>
              </a:buClr>
              <a:buFont typeface="Inter"/>
              <a:buChar char="•"/>
            </a:pPr>
            <a:r>
              <a:rPr sz="1600" b="0">
                <a:solidFill>
                  <a:srgbClr val="FFFFFF"/>
                </a:solidFill>
                <a:latin typeface="Inter"/>
              </a:rPr>
              <a:t>Time per output token (TPOT): the streaming speed. What users feel as "is it fast?"</a:t>
            </a:r>
          </a:p>
          <a:p>
            <a:pPr marL="292608" indent="-292608">
              <a:lnSpc>
                <a:spcPct val="120000"/>
              </a:lnSpc>
              <a:spcAft>
                <a:spcPts val="1120"/>
              </a:spcAft>
              <a:buClr>
                <a:srgbClr val="00D4AA"/>
              </a:buClr>
              <a:buFont typeface="Inter"/>
              <a:buChar char="•"/>
            </a:pPr>
            <a:r>
              <a:rPr sz="1600" b="0">
                <a:solidFill>
                  <a:srgbClr val="FFFFFF"/>
                </a:solidFill>
                <a:latin typeface="Inter"/>
              </a:rPr>
              <a:t>Total time: the whole thing. What your logs record by default.</a:t>
            </a:r>
          </a:p>
          <a:p>
            <a:pPr marL="292608" indent="-292608">
              <a:lnSpc>
                <a:spcPct val="120000"/>
              </a:lnSpc>
              <a:spcAft>
                <a:spcPts val="1120"/>
              </a:spcAft>
              <a:buClr>
                <a:srgbClr val="00D4AA"/>
              </a:buClr>
              <a:buFont typeface="Inter"/>
              <a:buChar char="•"/>
            </a:pPr>
            <a:r>
              <a:rPr sz="1600" b="0">
                <a:solidFill>
                  <a:srgbClr val="FFFFFF"/>
                </a:solidFill>
                <a:latin typeface="Inter"/>
              </a:rPr>
              <a:t>Agents have a fourth: time to first visible token, after all the tool steps</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the time goes in one Atlas request (p50, normal day)</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737360"/>
          <a:ext cx="11292839" cy="2688336"/>
        </p:xfrm>
        <a:graphic>
          <a:graphicData uri="http://schemas.openxmlformats.org/drawingml/2006/table">
            <a:tbl>
              <a:tblPr firstRow="1" bandRow="1">
                <a:tableStyleId>{5C22544A-7EE6-4342-B048-85BDC9FD1C3A}</a:tableStyleId>
              </a:tblPr>
              <a:tblGrid>
                <a:gridCol w="2134080"/>
                <a:gridCol w="3823559"/>
                <a:gridCol w="5335200"/>
              </a:tblGrid>
              <a:tr h="384048">
                <a:tc>
                  <a:txBody>
                    <a:bodyPr wrap="square"/>
                    <a:lstStyle/>
                    <a:p>
                      <a:r>
                        <a:rPr sz="1200" b="1">
                          <a:solidFill>
                            <a:srgbClr val="0A1628"/>
                          </a:solidFill>
                          <a:latin typeface="Inter"/>
                        </a:rPr>
                        <a:t>Step</a:t>
                      </a:r>
                    </a:p>
                  </a:txBody>
                  <a:tcPr marL="91440" marR="91440" marT="45720" marB="45720" anchor="ctr">
                    <a:solidFill>
                      <a:srgbClr val="00D4AA"/>
                    </a:solidFill>
                  </a:tcPr>
                </a:tc>
                <a:tc>
                  <a:txBody>
                    <a:bodyPr wrap="square"/>
                    <a:lstStyle/>
                    <a:p>
                      <a:r>
                        <a:rPr sz="1200" b="1">
                          <a:solidFill>
                            <a:srgbClr val="0A1628"/>
                          </a:solidFill>
                          <a:latin typeface="Inter"/>
                        </a:rPr>
                        <a:t>What happens</a:t>
                      </a:r>
                    </a:p>
                  </a:txBody>
                  <a:tcPr marL="91440" marR="91440" marT="45720" marB="45720" anchor="ctr">
                    <a:solidFill>
                      <a:srgbClr val="00D4AA"/>
                    </a:solidFill>
                  </a:tcPr>
                </a:tc>
                <a:tc>
                  <a:txBody>
                    <a:bodyPr wrap="square"/>
                    <a:lstStyle/>
                    <a:p>
                      <a:r>
                        <a:rPr sz="1200" b="1">
                          <a:solidFill>
                            <a:srgbClr val="0A1628"/>
                          </a:solidFill>
                          <a:latin typeface="Inter"/>
                        </a:rPr>
                        <a:t>p50</a:t>
                      </a:r>
                    </a:p>
                  </a:txBody>
                  <a:tcPr marL="91440" marR="91440" marT="45720" marB="45720" anchor="ctr">
                    <a:solidFill>
                      <a:srgbClr val="00D4AA"/>
                    </a:solidFill>
                  </a:tcPr>
                </a:tc>
              </a:tr>
              <a:tr h="384048">
                <a:tc>
                  <a:txBody>
                    <a:bodyPr wrap="square"/>
                    <a:lstStyle/>
                    <a:p>
                      <a:r>
                        <a:rPr sz="1200" b="1">
                          <a:solidFill>
                            <a:srgbClr val="FFFFFF"/>
                          </a:solidFill>
                          <a:latin typeface="Inter"/>
                        </a:rPr>
                        <a:t>1</a:t>
                      </a:r>
                    </a:p>
                  </a:txBody>
                  <a:tcPr marL="91440" marR="91440" marT="45720" marB="45720" anchor="ctr">
                    <a:solidFill>
                      <a:srgbClr val="1A2742"/>
                    </a:solidFill>
                  </a:tcPr>
                </a:tc>
                <a:tc>
                  <a:txBody>
                    <a:bodyPr wrap="square"/>
                    <a:lstStyle/>
                    <a:p>
                      <a:r>
                        <a:rPr sz="1200" b="0">
                          <a:solidFill>
                            <a:srgbClr val="FFFFFF"/>
                          </a:solidFill>
                          <a:latin typeface="Inter"/>
                        </a:rPr>
                        <a:t>model → tool call (</a:t>
                      </a:r>
                      <a:r>
                        <a:rPr sz="1104" b="0">
                          <a:solidFill>
                            <a:srgbClr val="00D4AA"/>
                          </a:solidFill>
                          <a:latin typeface="JetBrains Mono"/>
                        </a:rPr>
                        <a:t>search_knowledge_base</a:t>
                      </a:r>
                      <a:r>
                        <a:rPr sz="1200" b="0">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0.55 s first token + 0.15 s for 60 tokens + 0.20 s tool = 0.90 s</a:t>
                      </a:r>
                    </a:p>
                  </a:txBody>
                  <a:tcPr marL="91440" marR="91440" marT="45720" marB="45720" anchor="ctr">
                    <a:solidFill>
                      <a:srgbClr val="1A2742"/>
                    </a:solidFill>
                  </a:tcPr>
                </a:tc>
              </a:tr>
              <a:tr h="384048">
                <a:tc>
                  <a:txBody>
                    <a:bodyPr wrap="square"/>
                    <a:lstStyle/>
                    <a:p>
                      <a:r>
                        <a:rPr sz="1200" b="1">
                          <a:solidFill>
                            <a:srgbClr val="FFFFFF"/>
                          </a:solidFill>
                          <a:latin typeface="Inter"/>
                        </a:rPr>
                        <a:t>2</a:t>
                      </a:r>
                    </a:p>
                  </a:txBody>
                  <a:tcPr marL="91440" marR="91440" marT="45720" marB="45720" anchor="ctr">
                    <a:solidFill>
                      <a:srgbClr val="0F1E35"/>
                    </a:solidFill>
                  </a:tcPr>
                </a:tc>
                <a:tc>
                  <a:txBody>
                    <a:bodyPr wrap="square"/>
                    <a:lstStyle/>
                    <a:p>
                      <a:r>
                        <a:rPr sz="1200" b="0">
                          <a:solidFill>
                            <a:srgbClr val="FFFFFF"/>
                          </a:solidFill>
                          <a:latin typeface="Inter"/>
                        </a:rPr>
                        <a:t>model → tool call (</a:t>
                      </a:r>
                      <a:r>
                        <a:rPr sz="1104" b="0">
                          <a:solidFill>
                            <a:srgbClr val="00D4AA"/>
                          </a:solidFill>
                          <a:latin typeface="JetBrains Mono"/>
                        </a:rPr>
                        <a:t>lookup_ticket</a:t>
                      </a:r>
                      <a:r>
                        <a:rPr sz="1200" b="0">
                          <a:solidFill>
                            <a:srgbClr val="FFFFFF"/>
                          </a:solidFill>
                          <a:latin typeface="Inter"/>
                        </a:rPr>
                        <a:t>)</a:t>
                      </a:r>
                    </a:p>
                  </a:txBody>
                  <a:tcPr marL="91440" marR="91440" marT="45720" marB="45720" anchor="ctr">
                    <a:solidFill>
                      <a:srgbClr val="0F1E35"/>
                    </a:solidFill>
                  </a:tcPr>
                </a:tc>
                <a:tc>
                  <a:txBody>
                    <a:bodyPr wrap="square"/>
                    <a:lstStyle/>
                    <a:p>
                      <a:r>
                        <a:rPr sz="1200" b="0">
                          <a:solidFill>
                            <a:srgbClr val="FFFFFF"/>
                          </a:solidFill>
                          <a:latin typeface="Inter"/>
                        </a:rPr>
                        <a:t>0.55 + 0.15 + 0.10 tool = 0.80 s</a:t>
                      </a:r>
                    </a:p>
                  </a:txBody>
                  <a:tcPr marL="91440" marR="91440" marT="45720" marB="45720" anchor="ctr">
                    <a:solidFill>
                      <a:srgbClr val="0F1E35"/>
                    </a:solidFill>
                  </a:tcPr>
                </a:tc>
              </a:tr>
              <a:tr h="384048">
                <a:tc>
                  <a:txBody>
                    <a:bodyPr wrap="square"/>
                    <a:lstStyle/>
                    <a:p>
                      <a:r>
                        <a:rPr sz="1200" b="1">
                          <a:solidFill>
                            <a:srgbClr val="FFFFFF"/>
                          </a:solidFill>
                          <a:latin typeface="Inter"/>
                        </a:rPr>
                        <a:t>3</a:t>
                      </a:r>
                    </a:p>
                  </a:txBody>
                  <a:tcPr marL="91440" marR="91440" marT="45720" marB="45720" anchor="ctr">
                    <a:solidFill>
                      <a:srgbClr val="1A2742"/>
                    </a:solidFill>
                  </a:tcPr>
                </a:tc>
                <a:tc>
                  <a:txBody>
                    <a:bodyPr wrap="square"/>
                    <a:lstStyle/>
                    <a:p>
                      <a:r>
                        <a:rPr sz="1200" b="0">
                          <a:solidFill>
                            <a:srgbClr val="FFFFFF"/>
                          </a:solidFill>
                          <a:latin typeface="Inter"/>
                        </a:rPr>
                        <a:t>model → answer, first token</a:t>
                      </a:r>
                    </a:p>
                  </a:txBody>
                  <a:tcPr marL="91440" marR="91440" marT="45720" marB="45720" anchor="ctr">
                    <a:solidFill>
                      <a:srgbClr val="1A2742"/>
                    </a:solidFill>
                  </a:tcPr>
                </a:tc>
                <a:tc>
                  <a:txBody>
                    <a:bodyPr wrap="square"/>
                    <a:lstStyle/>
                    <a:p>
                      <a:r>
                        <a:rPr sz="1200" b="0">
                          <a:solidFill>
                            <a:srgbClr val="FFFFFF"/>
                          </a:solidFill>
                          <a:latin typeface="Inter"/>
                        </a:rPr>
                        <a:t>0.55 s, plus 0.10 s of overhead = 0.65 s</a:t>
                      </a:r>
                    </a:p>
                  </a:txBody>
                  <a:tcPr marL="91440" marR="91440" marT="45720" marB="45720" anchor="ctr">
                    <a:solidFill>
                      <a:srgbClr val="1A2742"/>
                    </a:solidFill>
                  </a:tcPr>
                </a:tc>
              </a:tr>
              <a:tr h="384048">
                <a:tc>
                  <a:txBody>
                    <a:bodyPr wrap="square"/>
                    <a:lstStyle/>
                    <a:p>
                      <a:r>
                        <a:rPr sz="1200" b="1">
                          <a:solidFill>
                            <a:srgbClr val="FFFFFF"/>
                          </a:solidFill>
                          <a:latin typeface="Inter"/>
                        </a:rPr>
                        <a:t>User sees the first word</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200" b="0">
                          <a:solidFill>
                            <a:srgbClr val="FFFFFF"/>
                          </a:solidFill>
                          <a:latin typeface="Inter"/>
                        </a:rPr>
                        <a:t>≈ 1.9 s (p95: 3.4 s)</a:t>
                      </a:r>
                    </a:p>
                  </a:txBody>
                  <a:tcPr marL="91440" marR="91440" marT="45720" marB="45720" anchor="ctr">
                    <a:solidFill>
                      <a:srgbClr val="0F1E35"/>
                    </a:solidFill>
                  </a:tcPr>
                </a:tc>
              </a:tr>
              <a:tr h="384048">
                <a:tc>
                  <a:txBody>
                    <a:bodyPr wrap="square"/>
                    <a:lstStyle/>
                    <a:p>
                      <a:r>
                        <a:rPr sz="1200" b="1">
                          <a:solidFill>
                            <a:srgbClr val="FFFFFF"/>
                          </a:solidFill>
                          <a:latin typeface="Inter"/>
                        </a:rPr>
                        <a:t>3</a:t>
                      </a:r>
                    </a:p>
                  </a:txBody>
                  <a:tcPr marL="91440" marR="91440" marT="45720" marB="45720" anchor="ctr">
                    <a:solidFill>
                      <a:srgbClr val="1A2742"/>
                    </a:solidFill>
                  </a:tcPr>
                </a:tc>
                <a:tc>
                  <a:txBody>
                    <a:bodyPr wrap="square"/>
                    <a:lstStyle/>
                    <a:p>
                      <a:r>
                        <a:rPr sz="1200" b="0">
                          <a:solidFill>
                            <a:srgbClr val="FFFFFF"/>
                          </a:solidFill>
                          <a:latin typeface="Inter"/>
                        </a:rPr>
                        <a:t>streaming 220 tokens at 9 ms</a:t>
                      </a:r>
                    </a:p>
                  </a:txBody>
                  <a:tcPr marL="91440" marR="91440" marT="45720" marB="45720" anchor="ctr">
                    <a:solidFill>
                      <a:srgbClr val="1A2742"/>
                    </a:solidFill>
                  </a:tcPr>
                </a:tc>
                <a:tc>
                  <a:txBody>
                    <a:bodyPr wrap="square"/>
                    <a:lstStyle/>
                    <a:p>
                      <a:r>
                        <a:rPr sz="1200" b="0">
                          <a:solidFill>
                            <a:srgbClr val="FFFFFF"/>
                          </a:solidFill>
                          <a:latin typeface="Inter"/>
                        </a:rPr>
                        <a:t>+ 2.0 s</a:t>
                      </a:r>
                    </a:p>
                  </a:txBody>
                  <a:tcPr marL="91440" marR="91440" marT="45720" marB="45720" anchor="ctr">
                    <a:solidFill>
                      <a:srgbClr val="1A2742"/>
                    </a:solidFill>
                  </a:tcPr>
                </a:tc>
              </a:tr>
              <a:tr h="384048">
                <a:tc>
                  <a:txBody>
                    <a:bodyPr wrap="square"/>
                    <a:lstStyle/>
                    <a:p>
                      <a:r>
                        <a:rPr sz="1200" b="1">
                          <a:solidFill>
                            <a:srgbClr val="FFFFFF"/>
                          </a:solidFill>
                          <a:latin typeface="Inter"/>
                        </a:rPr>
                        <a:t>Full answer</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c>
                  <a:txBody>
                    <a:bodyPr wrap="square"/>
                    <a:lstStyle/>
                    <a:p>
                      <a:r>
                        <a:rPr sz="1200" b="0">
                          <a:solidFill>
                            <a:srgbClr val="FFFFFF"/>
                          </a:solidFill>
                          <a:latin typeface="Inter"/>
                        </a:rPr>
                        <a:t>≈ 3.6 s (p95: 6.8 s)</a:t>
                      </a:r>
                    </a:p>
                  </a:txBody>
                  <a:tcPr marL="91440" marR="91440" marT="45720" marB="45720" anchor="ctr">
                    <a:solidFill>
                      <a:srgbClr val="0F1E3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budget (Atlas, from the worksheet)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First visible token: ≤ 4.0 s at p95 (users start re-typing at about 5 s)</a:t>
            </a:r>
          </a:p>
          <a:p>
            <a:pPr marL="292608" indent="-292608">
              <a:lnSpc>
                <a:spcPct val="120000"/>
              </a:lnSpc>
              <a:spcAft>
                <a:spcPts val="1260"/>
              </a:spcAft>
              <a:buClr>
                <a:srgbClr val="00D4AA"/>
              </a:buClr>
              <a:buFont typeface="Inter"/>
              <a:buChar char="•"/>
            </a:pPr>
            <a:r>
              <a:rPr sz="1800" b="0">
                <a:solidFill>
                  <a:srgbClr val="FFFFFF"/>
                </a:solidFill>
                <a:latin typeface="Inter"/>
              </a:rPr>
              <a:t>Full answer: ≤ 8.0 s at p95</a:t>
            </a:r>
          </a:p>
          <a:p>
            <a:pPr marL="292608" indent="-292608">
              <a:lnSpc>
                <a:spcPct val="120000"/>
              </a:lnSpc>
              <a:spcAft>
                <a:spcPts val="1260"/>
              </a:spcAft>
              <a:buClr>
                <a:srgbClr val="00D4AA"/>
              </a:buClr>
              <a:buFont typeface="Inter"/>
              <a:buChar char="•"/>
            </a:pPr>
            <a:r>
              <a:rPr sz="1800" b="0">
                <a:solidFill>
                  <a:srgbClr val="FFFFFF"/>
                </a:solidFill>
                <a:latin typeface="Inter"/>
              </a:rPr>
              <a:t>Each tool step: ≤ 1.2 s at p95 (model 1.1 s p95 alone; tools must be fast)</a:t>
            </a:r>
          </a:p>
          <a:p>
            <a:pPr marL="292608" indent="-292608">
              <a:lnSpc>
                <a:spcPct val="120000"/>
              </a:lnSpc>
              <a:spcAft>
                <a:spcPts val="1260"/>
              </a:spcAft>
              <a:buClr>
                <a:srgbClr val="00D4AA"/>
              </a:buClr>
              <a:buFont typeface="Inter"/>
              <a:buChar char="•"/>
            </a:pPr>
            <a:r>
              <a:rPr sz="1800" b="0">
                <a:solidFill>
                  <a:srgbClr val="FFFFFF"/>
                </a:solidFill>
                <a:latin typeface="Inter"/>
              </a:rPr>
              <a:t>Headroom at p95 today: 0.6 s on first token, 1.2 s on full answer</a:t>
            </a:r>
          </a:p>
          <a:p>
            <a:pPr marL="292608" indent="-292608">
              <a:lnSpc>
                <a:spcPct val="120000"/>
              </a:lnSpc>
              <a:spcAft>
                <a:spcPts val="1260"/>
              </a:spcAft>
              <a:buClr>
                <a:srgbClr val="00D4AA"/>
              </a:buClr>
              <a:buFont typeface="Inter"/>
              <a:buChar char="•"/>
            </a:pPr>
            <a:r>
              <a:rPr sz="1800" b="0">
                <a:solidFill>
                  <a:srgbClr val="FFFFFF"/>
                </a:solidFill>
                <a:latin typeface="Inter"/>
              </a:rPr>
              <a:t>Voice agents (Course 3) budget 800 ms end to end; a chat helpdesk gets 4 s; know which you 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p95 and not p99 or the mean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Mean: hides everything; one slow provider minute vanishes into 10,000 requests</a:t>
            </a:r>
          </a:p>
          <a:p>
            <a:pPr marL="292608" indent="-292608">
              <a:lnSpc>
                <a:spcPct val="120000"/>
              </a:lnSpc>
              <a:spcAft>
                <a:spcPts val="1260"/>
              </a:spcAft>
              <a:buClr>
                <a:srgbClr val="00D4AA"/>
              </a:buClr>
              <a:buFont typeface="Inter"/>
              <a:buChar char="•"/>
            </a:pPr>
            <a:r>
              <a:rPr sz="1800" b="0">
                <a:solidFill>
                  <a:srgbClr val="FFFFFF"/>
                </a:solidFill>
                <a:latin typeface="Inter"/>
              </a:rPr>
              <a:t>p50: what the typical user gets; fine for capacity, useless for pain</a:t>
            </a:r>
          </a:p>
          <a:p>
            <a:pPr marL="292608" indent="-292608">
              <a:lnSpc>
                <a:spcPct val="120000"/>
              </a:lnSpc>
              <a:spcAft>
                <a:spcPts val="1260"/>
              </a:spcAft>
              <a:buClr>
                <a:srgbClr val="00D4AA"/>
              </a:buClr>
              <a:buFont typeface="Inter"/>
              <a:buChar char="•"/>
            </a:pPr>
            <a:r>
              <a:rPr sz="1800" b="0">
                <a:solidFill>
                  <a:srgbClr val="FFFFFF"/>
                </a:solidFill>
                <a:latin typeface="Inter"/>
              </a:rPr>
              <a:t>p95: one in twenty; the number an engineering team can actually hold</a:t>
            </a:r>
          </a:p>
          <a:p>
            <a:pPr marL="292608" indent="-292608">
              <a:lnSpc>
                <a:spcPct val="120000"/>
              </a:lnSpc>
              <a:spcAft>
                <a:spcPts val="1260"/>
              </a:spcAft>
              <a:buClr>
                <a:srgbClr val="00D4AA"/>
              </a:buClr>
              <a:buFont typeface="Inter"/>
              <a:buChar char="•"/>
            </a:pPr>
            <a:r>
              <a:rPr sz="1800" b="0">
                <a:solidFill>
                  <a:srgbClr val="FFFFFF"/>
                </a:solidFill>
                <a:latin typeface="Inter"/>
              </a:rPr>
              <a:t>p99: one in a hundred; watch it, alert on trend, don't budget on it for an LLM app</a:t>
            </a:r>
          </a:p>
          <a:p>
            <a:pPr marL="292608" indent="-292608">
              <a:lnSpc>
                <a:spcPct val="120000"/>
              </a:lnSpc>
              <a:spcAft>
                <a:spcPts val="1260"/>
              </a:spcAft>
              <a:buClr>
                <a:srgbClr val="00D4AA"/>
              </a:buClr>
              <a:buFont typeface="Inter"/>
              <a:buChar char="•"/>
            </a:pPr>
            <a:r>
              <a:rPr sz="1800" b="0">
                <a:solidFill>
                  <a:srgbClr val="FFFFFF"/>
                </a:solidFill>
                <a:latin typeface="Inter"/>
              </a:rPr>
              <a:t>Budget at p95, alert on p95 and p99 slope, report p50 alongside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budget worksheet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10-resources/latency-budget-worksheet.md</a:t>
            </a:r>
          </a:p>
          <a:p>
            <a:pPr marL="292608" indent="-292608">
              <a:lnSpc>
                <a:spcPct val="120000"/>
              </a:lnSpc>
              <a:spcAft>
                <a:spcPts val="1260"/>
              </a:spcAft>
              <a:buClr>
                <a:srgbClr val="00D4AA"/>
              </a:buClr>
              <a:buFont typeface="Inter"/>
              <a:buChar char="•"/>
            </a:pPr>
            <a:r>
              <a:rPr sz="1800" b="0">
                <a:solidFill>
                  <a:srgbClr val="FFFFFF"/>
                </a:solidFill>
                <a:latin typeface="Inter"/>
              </a:rPr>
              <a:t>Rows: each step, each tool, each model call; columns: p50, p95, budget, headroom</a:t>
            </a:r>
          </a:p>
          <a:p>
            <a:pPr marL="292608" indent="-292608">
              <a:lnSpc>
                <a:spcPct val="120000"/>
              </a:lnSpc>
              <a:spcAft>
                <a:spcPts val="1260"/>
              </a:spcAft>
              <a:buClr>
                <a:srgbClr val="00D4AA"/>
              </a:buClr>
              <a:buFont typeface="Inter"/>
              <a:buChar char="•"/>
            </a:pPr>
            <a:r>
              <a:rPr sz="1800" b="0">
                <a:solidFill>
                  <a:srgbClr val="FFFFFF"/>
                </a:solidFill>
                <a:latin typeface="Inter"/>
              </a:rPr>
              <a:t>Fill it from spans, not from guesses (7.2)</a:t>
            </a:r>
          </a:p>
          <a:p>
            <a:pPr marL="292608" indent="-292608">
              <a:lnSpc>
                <a:spcPct val="120000"/>
              </a:lnSpc>
              <a:spcAft>
                <a:spcPts val="1260"/>
              </a:spcAft>
              <a:buClr>
                <a:srgbClr val="00D4AA"/>
              </a:buClr>
              <a:buFont typeface="Inter"/>
              <a:buChar char="•"/>
            </a:pPr>
            <a:r>
              <a:rPr sz="1800" b="0">
                <a:solidFill>
                  <a:srgbClr val="FFFFFF"/>
                </a:solidFill>
                <a:latin typeface="Inter"/>
              </a:rPr>
              <a:t>Every reliability control in 7.3 to 7.5 is justified by a row in this sheet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measure TTFT, TPOT and p95 from spans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 aggregate TTFT, TPOT and total time from the span store, expose them as Prometheus histograms…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measure TTFT, TPOT and p95 from spans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Derive first-token, per-token and total timings from the span attributes you already emit, compute percentiles without numpy, and expose them as Prometheus…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From span to clocks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TTFT = </a:t>
            </a:r>
            <a:r>
              <a:rPr sz="1656" b="0">
                <a:solidFill>
                  <a:srgbClr val="00D4AA"/>
                </a:solidFill>
                <a:latin typeface="JetBrains Mono"/>
              </a:rPr>
              <a:t>first_chunk_at − start</a:t>
            </a:r>
          </a:p>
          <a:p>
            <a:pPr marL="292608" indent="-292608">
              <a:lnSpc>
                <a:spcPct val="120000"/>
              </a:lnSpc>
              <a:spcAft>
                <a:spcPts val="1260"/>
              </a:spcAft>
              <a:buClr>
                <a:srgbClr val="00D4AA"/>
              </a:buClr>
              <a:buFont typeface="Inter"/>
              <a:buChar char="•"/>
            </a:pPr>
            <a:r>
              <a:rPr sz="1800" b="0">
                <a:solidFill>
                  <a:srgbClr val="FFFFFF"/>
                </a:solidFill>
                <a:latin typeface="Inter"/>
              </a:rPr>
              <a:t>TPOT = </a:t>
            </a:r>
            <a:r>
              <a:rPr sz="1656" b="0">
                <a:solidFill>
                  <a:srgbClr val="00D4AA"/>
                </a:solidFill>
                <a:latin typeface="JetBrains Mono"/>
              </a:rPr>
              <a:t>(end − first_chunk_at) / max(output_tokens − 1, 1)</a:t>
            </a:r>
          </a:p>
          <a:p>
            <a:pPr marL="292608" indent="-292608">
              <a:lnSpc>
                <a:spcPct val="120000"/>
              </a:lnSpc>
              <a:spcAft>
                <a:spcPts val="1260"/>
              </a:spcAft>
              <a:buClr>
                <a:srgbClr val="00D4AA"/>
              </a:buClr>
              <a:buFont typeface="Inter"/>
              <a:buChar char="•"/>
            </a:pPr>
            <a:r>
              <a:rPr sz="1800" b="0">
                <a:solidFill>
                  <a:srgbClr val="FFFFFF"/>
                </a:solidFill>
                <a:latin typeface="Inter"/>
              </a:rPr>
              <a:t>Total = </a:t>
            </a:r>
            <a:r>
              <a:rPr sz="1656" b="0">
                <a:solidFill>
                  <a:srgbClr val="00D4AA"/>
                </a:solidFill>
                <a:latin typeface="JetBrains Mono"/>
              </a:rPr>
              <a:t>end − start</a:t>
            </a:r>
          </a:p>
          <a:p>
            <a:pPr marL="292608" indent="-292608">
              <a:lnSpc>
                <a:spcPct val="120000"/>
              </a:lnSpc>
              <a:spcAft>
                <a:spcPts val="1260"/>
              </a:spcAft>
              <a:buClr>
                <a:srgbClr val="00D4AA"/>
              </a:buClr>
              <a:buFont typeface="Inter"/>
              <a:buChar char="•"/>
            </a:pPr>
            <a:r>
              <a:rPr sz="1800" b="0">
                <a:solidFill>
                  <a:srgbClr val="FFFFFF"/>
                </a:solidFill>
                <a:latin typeface="Inter"/>
              </a:rPr>
              <a:t>Request first visible token = final generation's </a:t>
            </a:r>
            <a:r>
              <a:rPr sz="1656" b="0">
                <a:solidFill>
                  <a:srgbClr val="00D4AA"/>
                </a:solidFill>
                <a:latin typeface="JetBrains Mono"/>
              </a:rPr>
              <a:t>first_chunk_at − request start</a:t>
            </a:r>
          </a:p>
          <a:p>
            <a:pPr marL="292608" indent="-292608">
              <a:lnSpc>
                <a:spcPct val="120000"/>
              </a:lnSpc>
              <a:spcAft>
                <a:spcPts val="1260"/>
              </a:spcAft>
              <a:buClr>
                <a:srgbClr val="00D4AA"/>
              </a:buClr>
              <a:buFont typeface="Inter"/>
              <a:buChar char="•"/>
            </a:pPr>
            <a:r>
              <a:rPr sz="1800" b="0">
                <a:solidFill>
                  <a:srgbClr val="FFFFFF"/>
                </a:solidFill>
                <a:latin typeface="Inter"/>
              </a:rPr>
              <a:t>Attributes: </a:t>
            </a:r>
            <a:r>
              <a:rPr sz="1656" b="0">
                <a:solidFill>
                  <a:srgbClr val="00D4AA"/>
                </a:solidFill>
                <a:latin typeface="JetBrains Mono"/>
              </a:rPr>
              <a:t>gen_ai.response.time_to_first_chunk</a:t>
            </a:r>
            <a:r>
              <a:rPr sz="1800" b="0">
                <a:solidFill>
                  <a:srgbClr val="FFFFFF"/>
                </a:solidFill>
                <a:latin typeface="Inter"/>
              </a:rPr>
              <a:t> (incubating), Langfuse </a:t>
            </a:r>
            <a:r>
              <a:rPr sz="1656" b="0">
                <a:solidFill>
                  <a:srgbClr val="00D4AA"/>
                </a:solidFill>
                <a:latin typeface="JetBrains Mono"/>
              </a:rPr>
              <a:t>completion_start_time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Timeouts, retries and backoff done right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you can see where the time goes.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Timeouts, retries and backoff done right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Give every call a timeout derived from the budget, bound retries with jittered backoff, make tool calls idempotent, and count every retry…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Timeouts come from the budget, not from a default</a:t>
            </a:r>
          </a:p>
          <a:p>
            <a:pPr marL="292608" indent="-292608">
              <a:lnSpc>
                <a:spcPct val="120000"/>
              </a:lnSpc>
              <a:spcAft>
                <a:spcPts val="1539"/>
              </a:spcAft>
              <a:buClr>
                <a:srgbClr val="00D4AA"/>
              </a:buClr>
              <a:buFont typeface="Inter"/>
              <a:buChar char="•"/>
            </a:pPr>
            <a:r>
              <a:rPr sz="2200" b="0">
                <a:solidFill>
                  <a:srgbClr val="FFFFFF"/>
                </a:solidFill>
                <a:latin typeface="Inter"/>
              </a:rPr>
              <a:t>Retries are bounded, jittered, and only for errors that a retry can fix</a:t>
            </a:r>
          </a:p>
          <a:p>
            <a:pPr marL="292608" indent="-292608">
              <a:lnSpc>
                <a:spcPct val="120000"/>
              </a:lnSpc>
              <a:spcAft>
                <a:spcPts val="1539"/>
              </a:spcAft>
              <a:buClr>
                <a:srgbClr val="00D4AA"/>
              </a:buClr>
              <a:buFont typeface="Inter"/>
              <a:buChar char="•"/>
            </a:pPr>
            <a:r>
              <a:rPr sz="2200" b="0">
                <a:solidFill>
                  <a:srgbClr val="FFFFFF"/>
                </a:solidFill>
                <a:latin typeface="Inter"/>
              </a:rPr>
              <a:t>Every retry is a cost event: count it, and let the budget guard see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Timeouts from the budget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Step budget 1.2 s p95; model TTFT p95 1.1 s → first-token timeout 6 s (5× p95, catches a stalled provider, not a slow one)</a:t>
            </a:r>
          </a:p>
          <a:p>
            <a:pPr marL="292608" indent="-292608">
              <a:lnSpc>
                <a:spcPct val="120000"/>
              </a:lnSpc>
              <a:spcAft>
                <a:spcPts val="1260"/>
              </a:spcAft>
              <a:buClr>
                <a:srgbClr val="00D4AA"/>
              </a:buClr>
              <a:buFont typeface="Inter"/>
              <a:buChar char="•"/>
            </a:pPr>
            <a:r>
              <a:rPr sz="1800" b="0">
                <a:solidFill>
                  <a:srgbClr val="FFFFFF"/>
                </a:solidFill>
                <a:latin typeface="Inter"/>
              </a:rPr>
              <a:t>Total call timeout 25 s (a 220-token answer at 3× normal TPOT is 6 s; 25 leaves room for gpt-4.1)</a:t>
            </a:r>
          </a:p>
          <a:p>
            <a:pPr marL="292608" indent="-292608">
              <a:lnSpc>
                <a:spcPct val="120000"/>
              </a:lnSpc>
              <a:spcAft>
                <a:spcPts val="1260"/>
              </a:spcAft>
              <a:buClr>
                <a:srgbClr val="00D4AA"/>
              </a:buClr>
              <a:buFont typeface="Inter"/>
              <a:buChar char="•"/>
            </a:pPr>
            <a:r>
              <a:rPr sz="1800" b="0">
                <a:solidFill>
                  <a:srgbClr val="FFFFFF"/>
                </a:solidFill>
                <a:latin typeface="Inter"/>
              </a:rPr>
              <a:t>Stream idle timeout 5 s: no new chunk for 5 s means the stream is dead</a:t>
            </a:r>
          </a:p>
          <a:p>
            <a:pPr marL="292608" indent="-292608">
              <a:lnSpc>
                <a:spcPct val="120000"/>
              </a:lnSpc>
              <a:spcAft>
                <a:spcPts val="1260"/>
              </a:spcAft>
              <a:buClr>
                <a:srgbClr val="00D4AA"/>
              </a:buClr>
              <a:buFont typeface="Inter"/>
              <a:buChar char="•"/>
            </a:pPr>
            <a:r>
              <a:rPr sz="1800" b="0">
                <a:solidFill>
                  <a:srgbClr val="FFFFFF"/>
                </a:solidFill>
                <a:latin typeface="Inter"/>
              </a:rPr>
              <a:t>Tool timeouts per tool: </a:t>
            </a:r>
            <a:r>
              <a:rPr sz="1656" b="0">
                <a:solidFill>
                  <a:srgbClr val="00D4AA"/>
                </a:solidFill>
                <a:latin typeface="JetBrains Mono"/>
              </a:rPr>
              <a:t>check_shipment</a:t>
            </a:r>
            <a:r>
              <a:rPr sz="1800" b="0">
                <a:solidFill>
                  <a:srgbClr val="FFFFFF"/>
                </a:solidFill>
                <a:latin typeface="Inter"/>
              </a:rPr>
              <a:t> 3 s (p95 0.62 s), the rest 1 s</a:t>
            </a:r>
          </a:p>
          <a:p>
            <a:pPr marL="292608" indent="-292608">
              <a:lnSpc>
                <a:spcPct val="120000"/>
              </a:lnSpc>
              <a:spcAft>
                <a:spcPts val="1260"/>
              </a:spcAft>
              <a:buClr>
                <a:srgbClr val="00D4AA"/>
              </a:buClr>
              <a:buFont typeface="Inter"/>
              <a:buChar char="•"/>
            </a:pPr>
            <a:r>
              <a:rPr sz="1800" b="0">
                <a:solidFill>
                  <a:srgbClr val="FFFFFF"/>
                </a:solidFill>
                <a:latin typeface="Inter"/>
              </a:rPr>
              <a:t>The old default was 20 s flat and no first-token timeout: a stalled call ate the whole budget five times over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The storm, before and after (two hours, ops, baseline prices)</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667021"/>
          <a:ext cx="11292838" cy="2304288"/>
        </p:xfrm>
        <a:graphic>
          <a:graphicData uri="http://schemas.openxmlformats.org/drawingml/2006/table">
            <a:tbl>
              <a:tblPr firstRow="1" bandRow="1">
                <a:tableStyleId>{5C22544A-7EE6-4342-B048-85BDC9FD1C3A}</a:tableStyleId>
              </a:tblPr>
              <a:tblGrid>
                <a:gridCol w="3416321"/>
                <a:gridCol w="2182649"/>
                <a:gridCol w="5693868"/>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Unbounded retries (v1)</a:t>
                      </a:r>
                    </a:p>
                  </a:txBody>
                  <a:tcPr marL="91440" marR="91440" marT="45720" marB="45720" anchor="ctr">
                    <a:solidFill>
                      <a:srgbClr val="00D4AA"/>
                    </a:solidFill>
                  </a:tcPr>
                </a:tc>
                <a:tc>
                  <a:txBody>
                    <a:bodyPr wrap="square"/>
                    <a:lstStyle/>
                    <a:p>
                      <a:r>
                        <a:rPr sz="1200" b="1">
                          <a:solidFill>
                            <a:srgbClr val="0A1628"/>
                          </a:solidFill>
                          <a:latin typeface="Inter"/>
                        </a:rPr>
                        <a:t>Bounded, jittered, idempotent</a:t>
                      </a:r>
                    </a:p>
                  </a:txBody>
                  <a:tcPr marL="91440" marR="91440" marT="45720" marB="45720" anchor="ctr">
                    <a:solidFill>
                      <a:srgbClr val="00D4AA"/>
                    </a:solidFill>
                  </a:tcPr>
                </a:tc>
              </a:tr>
              <a:tr h="384048">
                <a:tc>
                  <a:txBody>
                    <a:bodyPr wrap="square"/>
                    <a:lstStyle/>
                    <a:p>
                      <a:r>
                        <a:rPr sz="1200" b="1">
                          <a:solidFill>
                            <a:srgbClr val="FFFFFF"/>
                          </a:solidFill>
                          <a:latin typeface="Inter"/>
                        </a:rPr>
                        <a:t>Extra generations</a:t>
                      </a:r>
                    </a:p>
                  </a:txBody>
                  <a:tcPr marL="91440" marR="91440" marT="45720" marB="45720" anchor="ctr">
                    <a:solidFill>
                      <a:srgbClr val="1A2742"/>
                    </a:solidFill>
                  </a:tcPr>
                </a:tc>
                <a:tc>
                  <a:txBody>
                    <a:bodyPr wrap="square"/>
                    <a:lstStyle/>
                    <a:p>
                      <a:r>
                        <a:rPr sz="1200" b="0">
                          <a:solidFill>
                            <a:srgbClr val="FFFFFF"/>
                          </a:solidFill>
                          <a:latin typeface="Inter"/>
                        </a:rPr>
                        <a:t>4,150</a:t>
                      </a:r>
                    </a:p>
                  </a:txBody>
                  <a:tcPr marL="91440" marR="91440" marT="45720" marB="45720" anchor="ctr">
                    <a:solidFill>
                      <a:srgbClr val="1A2742"/>
                    </a:solidFill>
                  </a:tcPr>
                </a:tc>
                <a:tc>
                  <a:txBody>
                    <a:bodyPr wrap="square"/>
                    <a:lstStyle/>
                    <a:p>
                      <a:r>
                        <a:rPr sz="1200" b="0">
                          <a:solidFill>
                            <a:srgbClr val="FFFFFF"/>
                          </a:solidFill>
                          <a:latin typeface="Inter"/>
                        </a:rPr>
                        <a:t>640</a:t>
                      </a:r>
                    </a:p>
                  </a:txBody>
                  <a:tcPr marL="91440" marR="91440" marT="45720" marB="45720" anchor="ctr">
                    <a:solidFill>
                      <a:srgbClr val="1A2742"/>
                    </a:solidFill>
                  </a:tcPr>
                </a:tc>
              </a:tr>
              <a:tr h="384048">
                <a:tc>
                  <a:txBody>
                    <a:bodyPr wrap="square"/>
                    <a:lstStyle/>
                    <a:p>
                      <a:r>
                        <a:rPr sz="1200" b="1">
                          <a:solidFill>
                            <a:srgbClr val="FFFFFF"/>
                          </a:solidFill>
                          <a:latin typeface="Inter"/>
                        </a:rPr>
                        <a:t>Extra cost</a:t>
                      </a:r>
                    </a:p>
                  </a:txBody>
                  <a:tcPr marL="91440" marR="91440" marT="45720" marB="45720" anchor="ctr">
                    <a:solidFill>
                      <a:srgbClr val="0F1E35"/>
                    </a:solidFill>
                  </a:tcPr>
                </a:tc>
                <a:tc>
                  <a:txBody>
                    <a:bodyPr wrap="square"/>
                    <a:lstStyle/>
                    <a:p>
                      <a:r>
                        <a:rPr sz="1200" b="0">
                          <a:solidFill>
                            <a:srgbClr val="FFFFFF"/>
                          </a:solidFill>
                          <a:latin typeface="Inter"/>
                        </a:rPr>
                        <a:t>$7.10</a:t>
                      </a:r>
                    </a:p>
                  </a:txBody>
                  <a:tcPr marL="91440" marR="91440" marT="45720" marB="45720" anchor="ctr">
                    <a:solidFill>
                      <a:srgbClr val="0F1E35"/>
                    </a:solidFill>
                  </a:tcPr>
                </a:tc>
                <a:tc>
                  <a:txBody>
                    <a:bodyPr wrap="square"/>
                    <a:lstStyle/>
                    <a:p>
                      <a:r>
                        <a:rPr sz="1200" b="0">
                          <a:solidFill>
                            <a:srgbClr val="FFFFFF"/>
                          </a:solidFill>
                          <a:latin typeface="Inter"/>
                        </a:rPr>
                        <a:t>$1.10</a:t>
                      </a:r>
                    </a:p>
                  </a:txBody>
                  <a:tcPr marL="91440" marR="91440" marT="45720" marB="45720" anchor="ctr">
                    <a:solidFill>
                      <a:srgbClr val="0F1E35"/>
                    </a:solidFill>
                  </a:tcPr>
                </a:tc>
              </a:tr>
              <a:tr h="384048">
                <a:tc>
                  <a:txBody>
                    <a:bodyPr wrap="square"/>
                    <a:lstStyle/>
                    <a:p>
                      <a:r>
                        <a:rPr sz="1200" b="1">
                          <a:solidFill>
                            <a:srgbClr val="FFFFFF"/>
                          </a:solidFill>
                          <a:latin typeface="Inter"/>
                        </a:rPr>
                        <a:t>Duplicate tickets</a:t>
                      </a:r>
                    </a:p>
                  </a:txBody>
                  <a:tcPr marL="91440" marR="91440" marT="45720" marB="45720" anchor="ctr">
                    <a:solidFill>
                      <a:srgbClr val="1A2742"/>
                    </a:solidFill>
                  </a:tcPr>
                </a:tc>
                <a:tc>
                  <a:txBody>
                    <a:bodyPr wrap="square"/>
                    <a:lstStyle/>
                    <a:p>
                      <a:r>
                        <a:rPr sz="1200" b="0">
                          <a:solidFill>
                            <a:srgbClr val="FFFFFF"/>
                          </a:solidFill>
                          <a:latin typeface="Inter"/>
                        </a:rPr>
                        <a:t>3,900</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r>
              <a:tr h="384048">
                <a:tc>
                  <a:txBody>
                    <a:bodyPr wrap="square"/>
                    <a:lstStyle/>
                    <a:p>
                      <a:r>
                        <a:rPr sz="1200" b="1">
                          <a:solidFill>
                            <a:srgbClr val="FFFFFF"/>
                          </a:solidFill>
                          <a:latin typeface="Inter"/>
                        </a:rPr>
                        <a:t>p95 first visible token during storm</a:t>
                      </a:r>
                    </a:p>
                  </a:txBody>
                  <a:tcPr marL="91440" marR="91440" marT="45720" marB="45720" anchor="ctr">
                    <a:solidFill>
                      <a:srgbClr val="0F1E35"/>
                    </a:solidFill>
                  </a:tcPr>
                </a:tc>
                <a:tc>
                  <a:txBody>
                    <a:bodyPr wrap="square"/>
                    <a:lstStyle/>
                    <a:p>
                      <a:r>
                        <a:rPr sz="1200" b="0">
                          <a:solidFill>
                            <a:srgbClr val="FFFFFF"/>
                          </a:solidFill>
                          <a:latin typeface="Inter"/>
                        </a:rPr>
                        <a:t>41 s (timeouts stacked)</a:t>
                      </a:r>
                    </a:p>
                  </a:txBody>
                  <a:tcPr marL="91440" marR="91440" marT="45720" marB="45720" anchor="ctr">
                    <a:solidFill>
                      <a:srgbClr val="0F1E35"/>
                    </a:solidFill>
                  </a:tcPr>
                </a:tc>
                <a:tc>
                  <a:txBody>
                    <a:bodyPr wrap="square"/>
                    <a:lstStyle/>
                    <a:p>
                      <a:r>
                        <a:rPr sz="1200" b="0">
                          <a:solidFill>
                            <a:srgbClr val="FFFFFF"/>
                          </a:solidFill>
                          <a:latin typeface="Inter"/>
                        </a:rPr>
                        <a:t>4.9 s (fast fail after 2 tries, then escalation or honest error)</a:t>
                      </a:r>
                    </a:p>
                  </a:txBody>
                  <a:tcPr marL="91440" marR="91440" marT="45720" marB="45720" anchor="ctr">
                    <a:solidFill>
                      <a:srgbClr val="0F1E35"/>
                    </a:solidFill>
                  </a:tcPr>
                </a:tc>
              </a:tr>
              <a:tr h="384048">
                <a:tc>
                  <a:txBody>
                    <a:bodyPr wrap="square"/>
                    <a:lstStyle/>
                    <a:p>
                      <a:r>
                        <a:rPr sz="1200" b="1">
                          <a:solidFill>
                            <a:srgbClr val="FFFFFF"/>
                          </a:solidFill>
                          <a:latin typeface="Inter"/>
                        </a:rPr>
                        <a:t>User outcome</a:t>
                      </a:r>
                    </a:p>
                  </a:txBody>
                  <a:tcPr marL="91440" marR="91440" marT="45720" marB="45720" anchor="ctr">
                    <a:solidFill>
                      <a:srgbClr val="1A2742"/>
                    </a:solidFill>
                  </a:tcPr>
                </a:tc>
                <a:tc>
                  <a:txBody>
                    <a:bodyPr wrap="square"/>
                    <a:lstStyle/>
                    <a:p>
                      <a:r>
                        <a:rPr sz="1200" b="0">
                          <a:solidFill>
                            <a:srgbClr val="FFFFFF"/>
                          </a:solidFill>
                          <a:latin typeface="Inter"/>
                        </a:rPr>
                        <a:t>error after ~100 s</a:t>
                      </a:r>
                    </a:p>
                  </a:txBody>
                  <a:tcPr marL="91440" marR="91440" marT="45720" marB="45720" anchor="ctr">
                    <a:solidFill>
                      <a:srgbClr val="1A2742"/>
                    </a:solidFill>
                  </a:tcPr>
                </a:tc>
                <a:tc>
                  <a:txBody>
                    <a:bodyPr wrap="square"/>
                    <a:lstStyle/>
                    <a:p>
                      <a:r>
                        <a:rPr sz="1200" b="0">
                          <a:solidFill>
                            <a:srgbClr val="FFFFFF"/>
                          </a:solidFill>
                          <a:latin typeface="Inter"/>
                        </a:rPr>
                        <a:t>error or strong-model answer within 5 s</a:t>
                      </a:r>
                    </a:p>
                  </a:txBody>
                  <a:tcPr marL="91440" marR="91440" marT="45720" marB="45720" anchor="ctr">
                    <a:solidFill>
                      <a:srgbClr val="1A274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Retry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Timeouts: first token, total, stream idle, per tool, all from the budget</a:t>
            </a:r>
          </a:p>
          <a:p>
            <a:pPr marL="292608" indent="-292608">
              <a:lnSpc>
                <a:spcPct val="120000"/>
              </a:lnSpc>
              <a:spcAft>
                <a:spcPts val="1260"/>
              </a:spcAft>
              <a:buClr>
                <a:srgbClr val="00D4AA"/>
              </a:buClr>
              <a:buFont typeface="Inter"/>
              <a:buChar char="•"/>
            </a:pPr>
            <a:r>
              <a:rPr sz="1800" b="0">
                <a:solidFill>
                  <a:srgbClr val="FFFFFF"/>
                </a:solidFill>
                <a:latin typeface="Inter"/>
              </a:rPr>
              <a:t>Retry only </a:t>
            </a:r>
            <a:r>
              <a:rPr sz="1656" b="0">
                <a:solidFill>
                  <a:srgbClr val="00D4AA"/>
                </a:solidFill>
                <a:latin typeface="JetBrains Mono"/>
              </a:rPr>
              <a:t>RETRYABLE</a:t>
            </a:r>
            <a:r>
              <a:rPr sz="1800" b="0">
                <a:solidFill>
                  <a:srgbClr val="FFFFFF"/>
                </a:solidFill>
                <a:latin typeface="Inter"/>
              </a:rPr>
              <a:t>; never after streamed output</a:t>
            </a:r>
          </a:p>
          <a:p>
            <a:pPr marL="292608" indent="-292608">
              <a:lnSpc>
                <a:spcPct val="120000"/>
              </a:lnSpc>
              <a:spcAft>
                <a:spcPts val="1260"/>
              </a:spcAft>
              <a:buClr>
                <a:srgbClr val="00D4AA"/>
              </a:buClr>
              <a:buFont typeface="Inter"/>
              <a:buChar char="•"/>
            </a:pPr>
            <a:r>
              <a:rPr sz="1800" b="0">
                <a:solidFill>
                  <a:srgbClr val="FFFFFF"/>
                </a:solidFill>
                <a:latin typeface="Inter"/>
              </a:rPr>
              <a:t>Max 2, full jitter, capped</a:t>
            </a:r>
          </a:p>
          <a:p>
            <a:pPr marL="292608" indent="-292608">
              <a:lnSpc>
                <a:spcPct val="120000"/>
              </a:lnSpc>
              <a:spcAft>
                <a:spcPts val="1260"/>
              </a:spcAft>
              <a:buClr>
                <a:srgbClr val="00D4AA"/>
              </a:buClr>
              <a:buFont typeface="Inter"/>
              <a:buChar char="•"/>
            </a:pPr>
            <a:r>
              <a:rPr sz="1800" b="0">
                <a:solidFill>
                  <a:srgbClr val="FFFFFF"/>
                </a:solidFill>
                <a:latin typeface="Inter"/>
              </a:rPr>
              <a:t>Writes take a request key</a:t>
            </a:r>
          </a:p>
          <a:p>
            <a:pPr marL="292608" indent="-292608">
              <a:lnSpc>
                <a:spcPct val="120000"/>
              </a:lnSpc>
              <a:spcAft>
                <a:spcPts val="1260"/>
              </a:spcAft>
              <a:buClr>
                <a:srgbClr val="00D4AA"/>
              </a:buClr>
              <a:buFont typeface="Inter"/>
              <a:buChar char="•"/>
            </a:pPr>
            <a:r>
              <a:rPr sz="1656" b="0">
                <a:solidFill>
                  <a:srgbClr val="00D4AA"/>
                </a:solidFill>
                <a:latin typeface="JetBrains Mono"/>
              </a:rPr>
              <a:t>RETRIES</a:t>
            </a:r>
            <a:r>
              <a:rPr sz="1800" b="0">
                <a:solidFill>
                  <a:srgbClr val="FFFFFF"/>
                </a:solidFill>
                <a:latin typeface="Inter"/>
              </a:rPr>
              <a:t> counter feeds the anomaly detector and the Section 9 alert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Fallbacks and circuit breakers with the Router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Retries help when the failure is brief.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Fallbacks and circuit breakers with the Router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Configure model and provider fallback lists with cooldowns in the LiteLLM Router so a slow or failing deployment is bypassed automatically, 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Circuit breaker in three states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Closed: traffic flows to the deployment; failures are counted</a:t>
            </a:r>
          </a:p>
          <a:p>
            <a:pPr marL="292608" indent="-292608">
              <a:lnSpc>
                <a:spcPct val="120000"/>
              </a:lnSpc>
              <a:spcAft>
                <a:spcPts val="1260"/>
              </a:spcAft>
              <a:buClr>
                <a:srgbClr val="00D4AA"/>
              </a:buClr>
              <a:buFont typeface="Inter"/>
              <a:buChar char="•"/>
            </a:pPr>
            <a:r>
              <a:rPr sz="1800" b="0">
                <a:solidFill>
                  <a:srgbClr val="FFFFFF"/>
                </a:solidFill>
                <a:latin typeface="Inter"/>
              </a:rPr>
              <a:t>Open: after </a:t>
            </a:r>
            <a:r>
              <a:rPr sz="1656" b="0">
                <a:solidFill>
                  <a:srgbClr val="00D4AA"/>
                </a:solidFill>
                <a:latin typeface="JetBrains Mono"/>
              </a:rPr>
              <a:t>allowed_fails</a:t>
            </a:r>
            <a:r>
              <a:rPr sz="1800" b="0">
                <a:solidFill>
                  <a:srgbClr val="FFFFFF"/>
                </a:solidFill>
                <a:latin typeface="Inter"/>
              </a:rPr>
              <a:t> failures within a minute, the deployment is cooled down for </a:t>
            </a:r>
            <a:r>
              <a:rPr sz="1656" b="0">
                <a:solidFill>
                  <a:srgbClr val="00D4AA"/>
                </a:solidFill>
                <a:latin typeface="JetBrains Mono"/>
              </a:rPr>
              <a:t>cooldown_time</a:t>
            </a:r>
            <a:r>
              <a:rPr sz="1800" b="0">
                <a:solidFill>
                  <a:srgbClr val="FFFFFF"/>
                </a:solidFill>
                <a:latin typeface="Inter"/>
              </a:rPr>
              <a:t> seconds; traffic goes to the fallback</a:t>
            </a:r>
          </a:p>
          <a:p>
            <a:pPr marL="292608" indent="-292608">
              <a:lnSpc>
                <a:spcPct val="120000"/>
              </a:lnSpc>
              <a:spcAft>
                <a:spcPts val="1260"/>
              </a:spcAft>
              <a:buClr>
                <a:srgbClr val="00D4AA"/>
              </a:buClr>
              <a:buFont typeface="Inter"/>
              <a:buChar char="•"/>
            </a:pPr>
            <a:r>
              <a:rPr sz="1800" b="0">
                <a:solidFill>
                  <a:srgbClr val="FFFFFF"/>
                </a:solidFill>
                <a:latin typeface="Inter"/>
              </a:rPr>
              <a:t>Half-open: after the cooldown, one request probes; success closes the circuit, failure re-opens it</a:t>
            </a:r>
          </a:p>
          <a:p>
            <a:pPr marL="292608" indent="-292608">
              <a:lnSpc>
                <a:spcPct val="120000"/>
              </a:lnSpc>
              <a:spcAft>
                <a:spcPts val="1260"/>
              </a:spcAft>
              <a:buClr>
                <a:srgbClr val="00D4AA"/>
              </a:buClr>
              <a:buFont typeface="Inter"/>
              <a:buChar char="•"/>
            </a:pPr>
            <a:r>
              <a:rPr sz="1800" b="0">
                <a:solidFill>
                  <a:srgbClr val="FFFFFF"/>
                </a:solidFill>
                <a:latin typeface="Inter"/>
              </a:rPr>
              <a:t>LiteLLM Router: </a:t>
            </a:r>
            <a:r>
              <a:rPr sz="1656" b="0">
                <a:solidFill>
                  <a:srgbClr val="00D4AA"/>
                </a:solidFill>
                <a:latin typeface="JetBrains Mono"/>
              </a:rPr>
              <a:t>allowed_fails=3</a:t>
            </a:r>
            <a:r>
              <a:rPr sz="1800" b="0">
                <a:solidFill>
                  <a:srgbClr val="FFFFFF"/>
                </a:solidFill>
                <a:latin typeface="Inter"/>
              </a:rPr>
              <a:t>, </a:t>
            </a:r>
            <a:r>
              <a:rPr sz="1656" b="0">
                <a:solidFill>
                  <a:srgbClr val="00D4AA"/>
                </a:solidFill>
                <a:latin typeface="JetBrains Mono"/>
              </a:rPr>
              <a:t>cooldown_time=30</a:t>
            </a:r>
            <a:r>
              <a:rPr sz="1800" b="0">
                <a:solidFill>
                  <a:srgbClr val="FFFFFF"/>
                </a:solidFill>
                <a:latin typeface="Inter"/>
              </a:rPr>
              <a:t>; timeouts count as failures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to log when a fallback fires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On the generation: served model (for cost), requested model, reason, </a:t>
            </a:r>
            <a:r>
              <a:rPr sz="1472" b="0">
                <a:solidFill>
                  <a:srgbClr val="00D4AA"/>
                </a:solidFill>
                <a:latin typeface="JetBrains Mono"/>
              </a:rPr>
              <a:t>level="WARNING"</a:t>
            </a:r>
          </a:p>
          <a:p>
            <a:pPr marL="292608" indent="-292608">
              <a:lnSpc>
                <a:spcPct val="120000"/>
              </a:lnSpc>
              <a:spcAft>
                <a:spcPts val="1120"/>
              </a:spcAft>
              <a:buClr>
                <a:srgbClr val="00D4AA"/>
              </a:buClr>
              <a:buFont typeface="Inter"/>
              <a:buChar char="•"/>
            </a:pPr>
            <a:r>
              <a:rPr sz="1600" b="0">
                <a:solidFill>
                  <a:srgbClr val="FFFFFF"/>
                </a:solidFill>
                <a:latin typeface="Inter"/>
              </a:rPr>
              <a:t>Counter: </a:t>
            </a:r>
            <a:r>
              <a:rPr sz="1472" b="0">
                <a:solidFill>
                  <a:srgbClr val="00D4AA"/>
                </a:solidFill>
                <a:latin typeface="JetBrains Mono"/>
              </a:rPr>
              <a:t>atlas_model_fallbacks_total{from_model,to_model}</a:t>
            </a:r>
            <a:r>
              <a:rPr sz="1600" b="0">
                <a:solidFill>
                  <a:srgbClr val="FFFFFF"/>
                </a:solidFill>
                <a:latin typeface="Inter"/>
              </a:rPr>
              <a:t>; the reason is in the warning log and on the failed attempt's span (</a:t>
            </a:r>
            <a:r>
              <a:rPr sz="1472" b="0">
                <a:solidFill>
                  <a:srgbClr val="00D4AA"/>
                </a:solidFill>
                <a:latin typeface="JetBrains Mono"/>
              </a:rPr>
              <a:t>error.type</a:t>
            </a:r>
            <a:r>
              <a:rPr sz="1600" b="0">
                <a:solidFill>
                  <a:srgbClr val="FFFFFF"/>
                </a:solidFill>
                <a:latin typeface="Inter"/>
              </a:rPr>
              <a:t>)</a:t>
            </a:r>
          </a:p>
          <a:p>
            <a:pPr marL="292608" indent="-292608">
              <a:lnSpc>
                <a:spcPct val="120000"/>
              </a:lnSpc>
              <a:spcAft>
                <a:spcPts val="1120"/>
              </a:spcAft>
              <a:buClr>
                <a:srgbClr val="00D4AA"/>
              </a:buClr>
              <a:buFont typeface="Inter"/>
              <a:buChar char="•"/>
            </a:pPr>
            <a:r>
              <a:rPr sz="1600" b="0">
                <a:solidFill>
                  <a:srgbClr val="FFFFFF"/>
                </a:solidFill>
                <a:latin typeface="Inter"/>
              </a:rPr>
              <a:t>Not on the span: the full error body (size and PII); put it in the structured log with the trace id</a:t>
            </a:r>
          </a:p>
          <a:p>
            <a:pPr marL="292608" indent="-292608">
              <a:lnSpc>
                <a:spcPct val="120000"/>
              </a:lnSpc>
              <a:spcAft>
                <a:spcPts val="1120"/>
              </a:spcAft>
              <a:buClr>
                <a:srgbClr val="00D4AA"/>
              </a:buClr>
              <a:buFont typeface="Inter"/>
              <a:buChar char="•"/>
            </a:pPr>
            <a:r>
              <a:rPr sz="1600" b="0">
                <a:solidFill>
                  <a:srgbClr val="FFFFFF"/>
                </a:solidFill>
                <a:latin typeface="Inter"/>
              </a:rPr>
              <a:t>A fallback is not an error to the user; it's a warning to you</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cost of resilience (from the showback, </a:t>
            </a:r>
            <a:r>
              <a:rPr sz="2392" b="0">
                <a:solidFill>
                  <a:srgbClr val="00D4AA"/>
                </a:solidFill>
                <a:latin typeface="JetBrains Mono"/>
              </a:rPr>
              <a:t>by model</a:t>
            </a:r>
            <a:r>
              <a:rPr sz="2600" b="1">
                <a:solidFill>
                  <a:srgbClr val="FFFFFF"/>
                </a:solidFill>
                <a:latin typeface="Inter"/>
              </a:rPr>
              <a: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Normal day: fallbacks 0.3% of steps, about $0.40 (mostly rate-limit blips at peak)</a:t>
            </a:r>
          </a:p>
          <a:p>
            <a:pPr marL="292608" indent="-292608">
              <a:lnSpc>
                <a:spcPct val="120000"/>
              </a:lnSpc>
              <a:spcAft>
                <a:spcPts val="1260"/>
              </a:spcAft>
              <a:buClr>
                <a:srgbClr val="00D4AA"/>
              </a:buClr>
              <a:buFont typeface="Inter"/>
              <a:buChar char="•"/>
            </a:pPr>
            <a:r>
              <a:rPr sz="1800" b="0">
                <a:solidFill>
                  <a:srgbClr val="FFFFFF"/>
                </a:solidFill>
                <a:latin typeface="Inter"/>
              </a:rPr>
              <a:t>45-minute slow provider (7.6, tuned): 18% of requests fall back one step; about 110 of them land on gpt-4.1: about $1.20</a:t>
            </a:r>
          </a:p>
          <a:p>
            <a:pPr marL="292608" indent="-292608">
              <a:lnSpc>
                <a:spcPct val="120000"/>
              </a:lnSpc>
              <a:spcAft>
                <a:spcPts val="1260"/>
              </a:spcAft>
              <a:buClr>
                <a:srgbClr val="00D4AA"/>
              </a:buClr>
              <a:buFont typeface="Inter"/>
              <a:buChar char="•"/>
            </a:pPr>
            <a:r>
              <a:rPr sz="1800" b="0">
                <a:solidFill>
                  <a:srgbClr val="FFFFFF"/>
                </a:solidFill>
                <a:latin typeface="Inter"/>
              </a:rPr>
              <a:t>Cheaper than the alternative: 200 users waiting 11 seconds and re-typing</a:t>
            </a:r>
          </a:p>
          <a:p>
            <a:pPr marL="292608" indent="-292608">
              <a:lnSpc>
                <a:spcPct val="120000"/>
              </a:lnSpc>
              <a:spcAft>
                <a:spcPts val="1260"/>
              </a:spcAft>
              <a:buClr>
                <a:srgbClr val="00D4AA"/>
              </a:buClr>
              <a:buFont typeface="Inter"/>
              <a:buChar char="•"/>
            </a:pPr>
            <a:r>
              <a:rPr sz="1800" b="0">
                <a:solidFill>
                  <a:srgbClr val="FFFFFF"/>
                </a:solidFill>
                <a:latin typeface="Inter"/>
              </a:rPr>
              <a:t>Read fallback cost weekly; a rising baseline means a provider is degrading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Rate limits, queues and graceful degradation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Fallbacks handle a slow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Rate limits, queues and graceful degradation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Treat 429s and queues as a capacity problem: honour </a:t>
            </a:r>
            <a:r>
              <a:rPr sz="1472" b="0">
                <a:solidFill>
                  <a:srgbClr val="00D4AA"/>
                </a:solidFill>
                <a:latin typeface="JetBrains Mono"/>
              </a:rPr>
              <a:t>Retry-After</a:t>
            </a:r>
            <a:r>
              <a:rPr sz="1600" b="0">
                <a:solidFill>
                  <a:srgbClr val="CBD5E1"/>
                </a:solidFill>
                <a:latin typeface="Inter"/>
              </a:rPr>
              <a:t>, cap concurrency per tenant, shed the least valuable traffic first, and tell…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429 is telling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You are over a tokens-per-minute or requests-per-minute limit for this key or model</a:t>
            </a:r>
          </a:p>
          <a:p>
            <a:pPr marL="292608" indent="-292608">
              <a:lnSpc>
                <a:spcPct val="120000"/>
              </a:lnSpc>
              <a:spcAft>
                <a:spcPts val="1260"/>
              </a:spcAft>
              <a:buClr>
                <a:srgbClr val="00D4AA"/>
              </a:buClr>
              <a:buFont typeface="Inter"/>
              <a:buChar char="•"/>
            </a:pPr>
            <a:r>
              <a:rPr sz="1800" b="0">
                <a:solidFill>
                  <a:srgbClr val="FFFFFF"/>
                </a:solidFill>
                <a:latin typeface="Inter"/>
              </a:rPr>
              <a:t>It carries </a:t>
            </a:r>
            <a:r>
              <a:rPr sz="1656" b="0">
                <a:solidFill>
                  <a:srgbClr val="00D4AA"/>
                </a:solidFill>
                <a:latin typeface="JetBrains Mono"/>
              </a:rPr>
              <a:t>Retry-After</a:t>
            </a:r>
            <a:r>
              <a:rPr sz="1800" b="0">
                <a:solidFill>
                  <a:srgbClr val="FFFFFF"/>
                </a:solidFill>
                <a:latin typeface="Inter"/>
              </a:rPr>
              <a:t> (seconds); honour it, don't guess</a:t>
            </a:r>
          </a:p>
          <a:p>
            <a:pPr marL="292608" indent="-292608">
              <a:lnSpc>
                <a:spcPct val="120000"/>
              </a:lnSpc>
              <a:spcAft>
                <a:spcPts val="1260"/>
              </a:spcAft>
              <a:buClr>
                <a:srgbClr val="00D4AA"/>
              </a:buClr>
              <a:buFont typeface="Inter"/>
              <a:buChar char="•"/>
            </a:pPr>
            <a:r>
              <a:rPr sz="1800" b="0">
                <a:solidFill>
                  <a:srgbClr val="FFFFFF"/>
                </a:solidFill>
                <a:latin typeface="Inter"/>
              </a:rPr>
              <a:t>It is retryable, but retrying immediately makes it worse for everyone on the key</a:t>
            </a:r>
          </a:p>
          <a:p>
            <a:pPr marL="292608" indent="-292608">
              <a:lnSpc>
                <a:spcPct val="120000"/>
              </a:lnSpc>
              <a:spcAft>
                <a:spcPts val="1260"/>
              </a:spcAft>
              <a:buClr>
                <a:srgbClr val="00D4AA"/>
              </a:buClr>
              <a:buFont typeface="Inter"/>
              <a:buChar char="•"/>
            </a:pPr>
            <a:r>
              <a:rPr sz="1800" b="0">
                <a:solidFill>
                  <a:srgbClr val="FFFFFF"/>
                </a:solidFill>
                <a:latin typeface="Inter"/>
              </a:rPr>
              <a:t>Count it: </a:t>
            </a:r>
            <a:r>
              <a:rPr sz="1656" b="0">
                <a:solidFill>
                  <a:srgbClr val="00D4AA"/>
                </a:solidFill>
                <a:latin typeface="JetBrains Mono"/>
              </a:rPr>
              <a:t>RETRIES{reason="RateLimitError"}</a:t>
            </a:r>
            <a:r>
              <a:rPr sz="1800" b="0">
                <a:solidFill>
                  <a:srgbClr val="FFFFFF"/>
                </a:solidFill>
                <a:latin typeface="Inter"/>
              </a:rPr>
              <a:t>; the Router counts it toward </a:t>
            </a:r>
            <a:r>
              <a:rPr sz="1656" b="0">
                <a:solidFill>
                  <a:srgbClr val="00D4AA"/>
                </a:solidFill>
                <a:latin typeface="JetBrains Mono"/>
              </a:rPr>
              <a:t>allowed_fails</a:t>
            </a:r>
          </a:p>
          <a:p>
            <a:pPr marL="292608" indent="-292608">
              <a:lnSpc>
                <a:spcPct val="120000"/>
              </a:lnSpc>
              <a:spcAft>
                <a:spcPts val="1260"/>
              </a:spcAft>
              <a:buClr>
                <a:srgbClr val="00D4AA"/>
              </a:buClr>
              <a:buFont typeface="Inter"/>
              <a:buChar char="•"/>
            </a:pPr>
            <a:r>
              <a:rPr sz="1800" b="0">
                <a:solidFill>
                  <a:srgbClr val="FFFFFF"/>
                </a:solidFill>
                <a:latin typeface="Inter"/>
              </a:rPr>
              <a:t>Persistent 429s are a capacity signal: raise the limit, add a provider, or shed 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Per-tenant concurrency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semaphore per tenant, sized from the showback share: ops 13, eng 7, finance 6, hr 6 (32 total)</a:t>
            </a:r>
          </a:p>
          <a:p>
            <a:pPr marL="292608" indent="-292608">
              <a:lnSpc>
                <a:spcPct val="120000"/>
              </a:lnSpc>
              <a:spcAft>
                <a:spcPts val="1260"/>
              </a:spcAft>
              <a:buClr>
                <a:srgbClr val="00D4AA"/>
              </a:buClr>
              <a:buFont typeface="Inter"/>
              <a:buChar char="•"/>
            </a:pPr>
            <a:r>
              <a:rPr sz="1800" b="0">
                <a:solidFill>
                  <a:srgbClr val="FFFFFF"/>
                </a:solidFill>
                <a:latin typeface="Inter"/>
              </a:rPr>
              <a:t>A tenant at its limit waits in its own queue, up to 3 s, then gets degraded mode</a:t>
            </a:r>
          </a:p>
          <a:p>
            <a:pPr marL="292608" indent="-292608">
              <a:lnSpc>
                <a:spcPct val="120000"/>
              </a:lnSpc>
              <a:spcAft>
                <a:spcPts val="1260"/>
              </a:spcAft>
              <a:buClr>
                <a:srgbClr val="00D4AA"/>
              </a:buClr>
              <a:buFont typeface="Inter"/>
              <a:buChar char="•"/>
            </a:pPr>
            <a:r>
              <a:rPr sz="1800" b="0">
                <a:solidFill>
                  <a:srgbClr val="FFFFFF"/>
                </a:solidFill>
                <a:latin typeface="Inter"/>
              </a:rPr>
              <a:t>No tenant can consume more than its share of the provider limit</a:t>
            </a:r>
          </a:p>
          <a:p>
            <a:pPr marL="292608" indent="-292608">
              <a:lnSpc>
                <a:spcPct val="120000"/>
              </a:lnSpc>
              <a:spcAft>
                <a:spcPts val="1260"/>
              </a:spcAft>
              <a:buClr>
                <a:srgbClr val="00D4AA"/>
              </a:buClr>
              <a:buFont typeface="Inter"/>
              <a:buChar char="•"/>
            </a:pPr>
            <a:r>
              <a:rPr sz="1800" b="0">
                <a:solidFill>
                  <a:srgbClr val="FFFFFF"/>
                </a:solidFill>
                <a:latin typeface="Inter"/>
              </a:rPr>
              <a:t>Metrics: </a:t>
            </a:r>
            <a:r>
              <a:rPr sz="1656" b="0">
                <a:solidFill>
                  <a:srgbClr val="00D4AA"/>
                </a:solidFill>
                <a:latin typeface="JetBrains Mono"/>
              </a:rPr>
              <a:t>atlas_inflight{tenant}</a:t>
            </a:r>
            <a:r>
              <a:rPr sz="1800" b="0">
                <a:solidFill>
                  <a:srgbClr val="FFFFFF"/>
                </a:solidFill>
                <a:latin typeface="Inter"/>
              </a:rPr>
              <a:t> gauge, </a:t>
            </a:r>
            <a:r>
              <a:rPr sz="1656" b="0">
                <a:solidFill>
                  <a:srgbClr val="00D4AA"/>
                </a:solidFill>
                <a:latin typeface="JetBrains Mono"/>
              </a:rPr>
              <a:t>atlas_queue_wait_seconds{tenant}</a:t>
            </a:r>
            <a:r>
              <a:rPr sz="1800" b="0">
                <a:solidFill>
                  <a:srgbClr val="FFFFFF"/>
                </a:solidFill>
                <a:latin typeface="Inter"/>
              </a:rPr>
              <a:t> histogram</a:t>
            </a:r>
          </a:p>
          <a:p>
            <a:pPr marL="292608" indent="-292608">
              <a:lnSpc>
                <a:spcPct val="120000"/>
              </a:lnSpc>
              <a:spcAft>
                <a:spcPts val="1260"/>
              </a:spcAft>
              <a:buClr>
                <a:srgbClr val="00D4AA"/>
              </a:buClr>
              <a:buFont typeface="Inter"/>
              <a:buChar char="•"/>
            </a:pPr>
            <a:r>
              <a:rPr sz="1800" b="0">
                <a:solidFill>
                  <a:srgbClr val="FFFFFF"/>
                </a:solidFill>
                <a:latin typeface="Inter"/>
              </a:rPr>
              <a:t>Diagram: requests → tenant semaphores → shared Router → provider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Shedding order (what to drop first when you must)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Repeat </a:t>
            </a:r>
            <a:r>
              <a:rPr sz="1656" b="0">
                <a:solidFill>
                  <a:srgbClr val="00D4AA"/>
                </a:solidFill>
                <a:latin typeface="JetBrains Mono"/>
              </a:rPr>
              <a:t>shipment_status</a:t>
            </a:r>
            <a:r>
              <a:rPr sz="1800" b="0">
                <a:solidFill>
                  <a:srgbClr val="FFFFFF"/>
                </a:solidFill>
                <a:latin typeface="Inter"/>
              </a:rPr>
              <a:t> checks within 5 minutes: serve the cached tool result, no model call</a:t>
            </a:r>
          </a:p>
          <a:p>
            <a:pPr marL="292608" indent="-292608">
              <a:lnSpc>
                <a:spcPct val="120000"/>
              </a:lnSpc>
              <a:spcAft>
                <a:spcPts val="1260"/>
              </a:spcAft>
              <a:buClr>
                <a:srgbClr val="00D4AA"/>
              </a:buClr>
              <a:buFont typeface="Inter"/>
              <a:buChar char="•"/>
            </a:pPr>
            <a:r>
              <a:rPr sz="1800" b="0">
                <a:solidFill>
                  <a:srgbClr val="FFFFFF"/>
                </a:solidFill>
                <a:latin typeface="Inter"/>
              </a:rPr>
              <a:t>Non-urgent </a:t>
            </a:r>
            <a:r>
              <a:rPr sz="1656" b="0">
                <a:solidFill>
                  <a:srgbClr val="00D4AA"/>
                </a:solidFill>
                <a:latin typeface="JetBrains Mono"/>
              </a:rPr>
              <a:t>policy_question</a:t>
            </a:r>
            <a:r>
              <a:rPr sz="1800" b="0">
                <a:solidFill>
                  <a:srgbClr val="FFFFFF"/>
                </a:solidFill>
                <a:latin typeface="Inter"/>
              </a:rPr>
              <a:t> from a tenant over its soft cap: economy mode (6.7)</a:t>
            </a:r>
          </a:p>
          <a:p>
            <a:pPr marL="292608" indent="-292608">
              <a:lnSpc>
                <a:spcPct val="120000"/>
              </a:lnSpc>
              <a:spcAft>
                <a:spcPts val="1260"/>
              </a:spcAft>
              <a:buClr>
                <a:srgbClr val="00D4AA"/>
              </a:buClr>
              <a:buFont typeface="Inter"/>
              <a:buChar char="•"/>
            </a:pPr>
            <a:r>
              <a:rPr sz="1800" b="0">
                <a:solidFill>
                  <a:srgbClr val="FFFFFF"/>
                </a:solidFill>
                <a:latin typeface="Inter"/>
              </a:rPr>
              <a:t>Judge sampling (Section 8): pause it; it's your own traffic</a:t>
            </a:r>
          </a:p>
          <a:p>
            <a:pPr marL="292608" indent="-292608">
              <a:lnSpc>
                <a:spcPct val="120000"/>
              </a:lnSpc>
              <a:spcAft>
                <a:spcPts val="1260"/>
              </a:spcAft>
              <a:buClr>
                <a:srgbClr val="00D4AA"/>
              </a:buClr>
              <a:buFont typeface="Inter"/>
              <a:buChar char="•"/>
            </a:pPr>
            <a:r>
              <a:rPr sz="1800" b="0">
                <a:solidFill>
                  <a:srgbClr val="FFFFFF"/>
                </a:solidFill>
                <a:latin typeface="Inter"/>
              </a:rPr>
              <a:t>Escalations to gpt-4.1: hold, unless </a:t>
            </a:r>
            <a:r>
              <a:rPr sz="1656" b="0">
                <a:solidFill>
                  <a:srgbClr val="00D4AA"/>
                </a:solidFill>
                <a:latin typeface="JetBrains Mono"/>
              </a:rPr>
              <a:t>sensitive_action</a:t>
            </a:r>
          </a:p>
          <a:p>
            <a:pPr marL="292608" indent="-292608">
              <a:lnSpc>
                <a:spcPct val="120000"/>
              </a:lnSpc>
              <a:spcAft>
                <a:spcPts val="1260"/>
              </a:spcAft>
              <a:buClr>
                <a:srgbClr val="00D4AA"/>
              </a:buClr>
              <a:buFont typeface="Inter"/>
              <a:buChar char="•"/>
            </a:pPr>
            <a:r>
              <a:rPr sz="1800" b="0">
                <a:solidFill>
                  <a:srgbClr val="FFFFFF"/>
                </a:solidFill>
                <a:latin typeface="Inter"/>
              </a:rPr>
              <a:t>Never shed: </a:t>
            </a:r>
            <a:r>
              <a:rPr sz="1656" b="0">
                <a:solidFill>
                  <a:srgbClr val="00D4AA"/>
                </a:solidFill>
                <a:latin typeface="JetBrains Mono"/>
              </a:rPr>
              <a:t>password_reset</a:t>
            </a:r>
            <a:r>
              <a:rPr sz="1800" b="0">
                <a:solidFill>
                  <a:srgbClr val="FFFFFF"/>
                </a:solidFill>
                <a:latin typeface="Inter"/>
              </a:rPr>
              <a:t>, </a:t>
            </a:r>
            <a:r>
              <a:rPr sz="1656" b="0">
                <a:solidFill>
                  <a:srgbClr val="00D4AA"/>
                </a:solidFill>
                <a:latin typeface="JetBrains Mono"/>
              </a:rPr>
              <a:t>create_ticket</a:t>
            </a:r>
            <a:r>
              <a:rPr sz="1800" b="0">
                <a:solidFill>
                  <a:srgbClr val="FFFFFF"/>
                </a:solidFill>
                <a:latin typeface="Inter"/>
              </a:rPr>
              <a:t> for priority "high"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Degraded mode messaging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Say what's happening: "Atlas is busy right now, so this answer is shorter than usual."</a:t>
            </a:r>
          </a:p>
          <a:p>
            <a:pPr marL="292608" indent="-292608">
              <a:lnSpc>
                <a:spcPct val="120000"/>
              </a:lnSpc>
              <a:spcAft>
                <a:spcPts val="1260"/>
              </a:spcAft>
              <a:buClr>
                <a:srgbClr val="00D4AA"/>
              </a:buClr>
              <a:buFont typeface="Inter"/>
              <a:buChar char="•"/>
            </a:pPr>
            <a:r>
              <a:rPr sz="1800" b="0">
                <a:solidFill>
                  <a:srgbClr val="FFFFFF"/>
                </a:solidFill>
                <a:latin typeface="Inter"/>
              </a:rPr>
              <a:t>Say what still works: "Ticket creation and password resets are unaffected."</a:t>
            </a:r>
          </a:p>
          <a:p>
            <a:pPr marL="292608" indent="-292608">
              <a:lnSpc>
                <a:spcPct val="120000"/>
              </a:lnSpc>
              <a:spcAft>
                <a:spcPts val="1260"/>
              </a:spcAft>
              <a:buClr>
                <a:srgbClr val="00D4AA"/>
              </a:buClr>
              <a:buFont typeface="Inter"/>
              <a:buChar char="•"/>
            </a:pPr>
            <a:r>
              <a:rPr sz="1800" b="0">
                <a:solidFill>
                  <a:srgbClr val="FFFFFF"/>
                </a:solidFill>
                <a:latin typeface="Inter"/>
              </a:rPr>
              <a:t>Say what to do: "For the full policy text, see the linked article, or ask again in a few minutes."</a:t>
            </a:r>
          </a:p>
          <a:p>
            <a:pPr marL="292608" indent="-292608">
              <a:lnSpc>
                <a:spcPct val="120000"/>
              </a:lnSpc>
              <a:spcAft>
                <a:spcPts val="1260"/>
              </a:spcAft>
              <a:buClr>
                <a:srgbClr val="00D4AA"/>
              </a:buClr>
              <a:buFont typeface="Inter"/>
              <a:buChar char="•"/>
            </a:pPr>
            <a:r>
              <a:rPr sz="1800" b="0">
                <a:solidFill>
                  <a:srgbClr val="FFFFFF"/>
                </a:solidFill>
                <a:latin typeface="Inter"/>
              </a:rPr>
              <a:t>Never fake it: no invented answers to fill a shorter budget</a:t>
            </a:r>
          </a:p>
          <a:p>
            <a:pPr marL="292608" indent="-292608">
              <a:lnSpc>
                <a:spcPct val="120000"/>
              </a:lnSpc>
              <a:spcAft>
                <a:spcPts val="1260"/>
              </a:spcAft>
              <a:buClr>
                <a:srgbClr val="00D4AA"/>
              </a:buClr>
              <a:buFont typeface="Inter"/>
              <a:buChar char="•"/>
            </a:pPr>
            <a:r>
              <a:rPr sz="1800" b="0">
                <a:solidFill>
                  <a:srgbClr val="FFFFFF"/>
                </a:solidFill>
                <a:latin typeface="Inter"/>
              </a:rPr>
              <a:t>Mark the response </a:t>
            </a:r>
            <a:r>
              <a:rPr sz="1656" b="0">
                <a:solidFill>
                  <a:srgbClr val="00D4AA"/>
                </a:solidFill>
                <a:latin typeface="JetBrains Mono"/>
              </a:rPr>
              <a:t>degraded=True</a:t>
            </a:r>
            <a:r>
              <a:rPr sz="1800" b="0">
                <a:solidFill>
                  <a:srgbClr val="FFFFFF"/>
                </a:solidFill>
                <a:latin typeface="Inter"/>
              </a:rPr>
              <a:t> and tag the trace </a:t>
            </a:r>
            <a:r>
              <a:rPr sz="1656" b="0">
                <a:solidFill>
                  <a:srgbClr val="00D4AA"/>
                </a:solidFill>
                <a:latin typeface="JetBrains Mono"/>
              </a:rPr>
              <a:t>degraded</a:t>
            </a:r>
            <a:r>
              <a:rPr sz="1800" b="0">
                <a:solidFill>
                  <a:srgbClr val="FFFFFF"/>
                </a:solidFill>
                <a:latin typeface="Inter"/>
              </a:rPr>
              <a:t> so you can count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reliability stack so far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7.3 timeouts and bounded retries: survive a blip</a:t>
            </a:r>
          </a:p>
          <a:p>
            <a:pPr marL="292608" indent="-292608">
              <a:lnSpc>
                <a:spcPct val="120000"/>
              </a:lnSpc>
              <a:spcAft>
                <a:spcPts val="1260"/>
              </a:spcAft>
              <a:buClr>
                <a:srgbClr val="00D4AA"/>
              </a:buClr>
              <a:buFont typeface="Inter"/>
              <a:buChar char="•"/>
            </a:pPr>
            <a:r>
              <a:rPr sz="1800" b="0">
                <a:solidFill>
                  <a:srgbClr val="FFFFFF"/>
                </a:solidFill>
                <a:latin typeface="Inter"/>
              </a:rPr>
              <a:t>7.4 fallbacks and cooldowns: survive a slow or failing model</a:t>
            </a:r>
          </a:p>
          <a:p>
            <a:pPr marL="292608" indent="-292608">
              <a:lnSpc>
                <a:spcPct val="120000"/>
              </a:lnSpc>
              <a:spcAft>
                <a:spcPts val="1260"/>
              </a:spcAft>
              <a:buClr>
                <a:srgbClr val="00D4AA"/>
              </a:buClr>
              <a:buFont typeface="Inter"/>
              <a:buChar char="•"/>
            </a:pPr>
            <a:r>
              <a:rPr sz="1800" b="0">
                <a:solidFill>
                  <a:srgbClr val="FFFFFF"/>
                </a:solidFill>
                <a:latin typeface="Inter"/>
              </a:rPr>
              <a:t>7.5 per-tenant concurrency and shedding: survive your own success</a:t>
            </a:r>
          </a:p>
          <a:p>
            <a:pPr marL="292608" indent="-292608">
              <a:lnSpc>
                <a:spcPct val="120000"/>
              </a:lnSpc>
              <a:spcAft>
                <a:spcPts val="1260"/>
              </a:spcAft>
              <a:buClr>
                <a:srgbClr val="00D4AA"/>
              </a:buClr>
              <a:buFont typeface="Inter"/>
              <a:buChar char="•"/>
            </a:pPr>
            <a:r>
              <a:rPr sz="1800" b="0">
                <a:solidFill>
                  <a:srgbClr val="FFFFFF"/>
                </a:solidFill>
                <a:latin typeface="Inter"/>
              </a:rPr>
              <a:t>6.7 budgets and economy mode: survive a runaway</a:t>
            </a:r>
          </a:p>
          <a:p>
            <a:pPr marL="292608" indent="-292608">
              <a:lnSpc>
                <a:spcPct val="120000"/>
              </a:lnSpc>
              <a:spcAft>
                <a:spcPts val="1260"/>
              </a:spcAft>
              <a:buClr>
                <a:srgbClr val="00D4AA"/>
              </a:buClr>
              <a:buFont typeface="Inter"/>
              <a:buChar char="•"/>
            </a:pPr>
            <a:r>
              <a:rPr sz="1800" b="0">
                <a:solidFill>
                  <a:srgbClr val="FFFFFF"/>
                </a:solidFill>
                <a:latin typeface="Inter"/>
              </a:rPr>
              <a:t>Next: prove it, with chaos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Chaos demo: slow provider during peak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Time for chaos.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Chaos demo: slow provider during peak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Inject a slow provider at lunchtime peak, watch p95 blow through the budget with zero fallbacks, then tune first-token timeouts and fallbacks…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scenario: </a:t>
            </a:r>
            <a:r>
              <a:rPr sz="2392" b="0">
                <a:solidFill>
                  <a:srgbClr val="00D4AA"/>
                </a:solidFill>
                <a:latin typeface="JetBrains Mono"/>
              </a:rPr>
              <a:t>slow_provider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12:00 to 12:45, lunchtime peak: 1,400 requests in the hour, up from 1,000</a:t>
            </a:r>
          </a:p>
          <a:p>
            <a:pPr marL="292608" indent="-292608">
              <a:lnSpc>
                <a:spcPct val="120000"/>
              </a:lnSpc>
              <a:spcAft>
                <a:spcPts val="1260"/>
              </a:spcAft>
              <a:buClr>
                <a:srgbClr val="00D4AA"/>
              </a:buClr>
              <a:buFont typeface="Inter"/>
              <a:buChar char="•"/>
            </a:pPr>
            <a:r>
              <a:rPr sz="1800" b="0">
                <a:solidFill>
                  <a:srgbClr val="FFFFFF"/>
                </a:solidFill>
                <a:latin typeface="Inter"/>
              </a:rPr>
              <a:t>35% of calls to gpt-4.1-mini get a first token after 4 to 6 seconds instead of 0.55</a:t>
            </a:r>
          </a:p>
          <a:p>
            <a:pPr marL="292608" indent="-292608">
              <a:lnSpc>
                <a:spcPct val="120000"/>
              </a:lnSpc>
              <a:spcAft>
                <a:spcPts val="1260"/>
              </a:spcAft>
              <a:buClr>
                <a:srgbClr val="00D4AA"/>
              </a:buClr>
              <a:buFont typeface="Inter"/>
              <a:buChar char="•"/>
            </a:pPr>
            <a:r>
              <a:rPr sz="1800" b="0">
                <a:solidFill>
                  <a:srgbClr val="FFFFFF"/>
                </a:solidFill>
                <a:latin typeface="Inter"/>
              </a:rPr>
              <a:t>No errors. No 429s. Just slow. The hardest kind of incident to see.</a:t>
            </a:r>
          </a:p>
          <a:p>
            <a:pPr marL="292608" indent="-292608">
              <a:lnSpc>
                <a:spcPct val="120000"/>
              </a:lnSpc>
              <a:spcAft>
                <a:spcPts val="1260"/>
              </a:spcAft>
              <a:buClr>
                <a:srgbClr val="00D4AA"/>
              </a:buClr>
              <a:buFont typeface="Inter"/>
              <a:buChar char="•"/>
            </a:pPr>
            <a:r>
              <a:rPr sz="1800" b="0">
                <a:solidFill>
                  <a:srgbClr val="FFFFFF"/>
                </a:solidFill>
                <a:latin typeface="Inter"/>
              </a:rPr>
              <a:t>Run 1: version-one settings (20 s flat timeout, no first-token timeout, no fallbacks)</a:t>
            </a:r>
          </a:p>
          <a:p>
            <a:pPr marL="292608" indent="-292608">
              <a:lnSpc>
                <a:spcPct val="120000"/>
              </a:lnSpc>
              <a:spcAft>
                <a:spcPts val="1260"/>
              </a:spcAft>
              <a:buClr>
                <a:srgbClr val="00D4AA"/>
              </a:buClr>
              <a:buFont typeface="Inter"/>
              <a:buChar char="•"/>
            </a:pPr>
            <a:r>
              <a:rPr sz="1800" b="0">
                <a:solidFill>
                  <a:srgbClr val="FFFFFF"/>
                </a:solidFill>
                <a:latin typeface="Inter"/>
              </a:rPr>
              <a:t>Run 2: tuned settings from 7.3 and 7.4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Run 1 vs Run 2 (12:00 to 12:45)</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4771622"/>
                <a:gridCol w="1749594"/>
                <a:gridCol w="4771622"/>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v1 settings</a:t>
                      </a:r>
                    </a:p>
                  </a:txBody>
                  <a:tcPr marL="91440" marR="91440" marT="45720" marB="45720" anchor="ctr">
                    <a:solidFill>
                      <a:srgbClr val="00D4AA"/>
                    </a:solidFill>
                  </a:tcPr>
                </a:tc>
                <a:tc>
                  <a:txBody>
                    <a:bodyPr wrap="square"/>
                    <a:lstStyle/>
                    <a:p>
                      <a:r>
                        <a:rPr sz="1200" b="1">
                          <a:solidFill>
                            <a:srgbClr val="0A1628"/>
                          </a:solidFill>
                          <a:latin typeface="Inter"/>
                        </a:rPr>
                        <a:t>Tuned</a:t>
                      </a:r>
                    </a:p>
                  </a:txBody>
                  <a:tcPr marL="91440" marR="91440" marT="45720" marB="45720" anchor="ctr">
                    <a:solidFill>
                      <a:srgbClr val="00D4AA"/>
                    </a:solidFill>
                  </a:tcPr>
                </a:tc>
              </a:tr>
              <a:tr h="384048">
                <a:tc>
                  <a:txBody>
                    <a:bodyPr wrap="square"/>
                    <a:lstStyle/>
                    <a:p>
                      <a:r>
                        <a:rPr sz="1200" b="1">
                          <a:solidFill>
                            <a:srgbClr val="FFFFFF"/>
                          </a:solidFill>
                          <a:latin typeface="Inter"/>
                        </a:rPr>
                        <a:t>p95 first visible token</a:t>
                      </a:r>
                    </a:p>
                  </a:txBody>
                  <a:tcPr marL="91440" marR="91440" marT="45720" marB="45720" anchor="ctr">
                    <a:solidFill>
                      <a:srgbClr val="1A2742"/>
                    </a:solidFill>
                  </a:tcPr>
                </a:tc>
                <a:tc>
                  <a:txBody>
                    <a:bodyPr wrap="square"/>
                    <a:lstStyle/>
                    <a:p>
                      <a:r>
                        <a:rPr sz="1200" b="0">
                          <a:solidFill>
                            <a:srgbClr val="FFFFFF"/>
                          </a:solidFill>
                          <a:latin typeface="Inter"/>
                        </a:rPr>
                        <a:t>11.2 s</a:t>
                      </a:r>
                    </a:p>
                  </a:txBody>
                  <a:tcPr marL="91440" marR="91440" marT="45720" marB="45720" anchor="ctr">
                    <a:solidFill>
                      <a:srgbClr val="1A2742"/>
                    </a:solidFill>
                  </a:tcPr>
                </a:tc>
                <a:tc>
                  <a:txBody>
                    <a:bodyPr wrap="square"/>
                    <a:lstStyle/>
                    <a:p>
                      <a:r>
                        <a:rPr sz="1200" b="0">
                          <a:solidFill>
                            <a:srgbClr val="FFFFFF"/>
                          </a:solidFill>
                          <a:latin typeface="Inter"/>
                        </a:rPr>
                        <a:t>3.8 s</a:t>
                      </a:r>
                    </a:p>
                  </a:txBody>
                  <a:tcPr marL="91440" marR="91440" marT="45720" marB="45720" anchor="ctr">
                    <a:solidFill>
                      <a:srgbClr val="1A2742"/>
                    </a:solidFill>
                  </a:tcPr>
                </a:tc>
              </a:tr>
              <a:tr h="384048">
                <a:tc>
                  <a:txBody>
                    <a:bodyPr wrap="square"/>
                    <a:lstStyle/>
                    <a:p>
                      <a:r>
                        <a:rPr sz="1200" b="1">
                          <a:solidFill>
                            <a:srgbClr val="FFFFFF"/>
                          </a:solidFill>
                          <a:latin typeface="Inter"/>
                        </a:rPr>
                        <a:t>Requests over 4 s budget</a:t>
                      </a:r>
                    </a:p>
                  </a:txBody>
                  <a:tcPr marL="91440" marR="91440" marT="45720" marB="45720" anchor="ctr">
                    <a:solidFill>
                      <a:srgbClr val="0F1E35"/>
                    </a:solidFill>
                  </a:tcPr>
                </a:tc>
                <a:tc>
                  <a:txBody>
                    <a:bodyPr wrap="square"/>
                    <a:lstStyle/>
                    <a:p>
                      <a:r>
                        <a:rPr sz="1200" b="0">
                          <a:solidFill>
                            <a:srgbClr val="FFFFFF"/>
                          </a:solidFill>
                          <a:latin typeface="Inter"/>
                        </a:rPr>
                        <a:t>72%</a:t>
                      </a:r>
                    </a:p>
                  </a:txBody>
                  <a:tcPr marL="91440" marR="91440" marT="45720" marB="45720" anchor="ctr">
                    <a:solidFill>
                      <a:srgbClr val="0F1E35"/>
                    </a:solidFill>
                  </a:tcPr>
                </a:tc>
                <a:tc>
                  <a:txBody>
                    <a:bodyPr wrap="square"/>
                    <a:lstStyle/>
                    <a:p>
                      <a:r>
                        <a:rPr sz="1200" b="0">
                          <a:solidFill>
                            <a:srgbClr val="FFFFFF"/>
                          </a:solidFill>
                          <a:latin typeface="Inter"/>
                        </a:rPr>
                        <a:t>4.6%</a:t>
                      </a:r>
                    </a:p>
                  </a:txBody>
                  <a:tcPr marL="91440" marR="91440" marT="45720" marB="45720" anchor="ctr">
                    <a:solidFill>
                      <a:srgbClr val="0F1E35"/>
                    </a:solidFill>
                  </a:tcPr>
                </a:tc>
              </a:tr>
              <a:tr h="384048">
                <a:tc>
                  <a:txBody>
                    <a:bodyPr wrap="square"/>
                    <a:lstStyle/>
                    <a:p>
                      <a:r>
                        <a:rPr sz="1200" b="1">
                          <a:solidFill>
                            <a:srgbClr val="FFFFFF"/>
                          </a:solidFill>
                          <a:latin typeface="Inter"/>
                        </a:rPr>
                        <a:t>Fallback rate</a:t>
                      </a:r>
                    </a:p>
                  </a:txBody>
                  <a:tcPr marL="91440" marR="91440" marT="45720" marB="45720" anchor="ctr">
                    <a:solidFill>
                      <a:srgbClr val="1A2742"/>
                    </a:solidFill>
                  </a:tcPr>
                </a:tc>
                <a:tc>
                  <a:txBody>
                    <a:bodyPr wrap="square"/>
                    <a:lstStyle/>
                    <a:p>
                      <a:r>
                        <a:rPr sz="1200" b="0">
                          <a:solidFill>
                            <a:srgbClr val="FFFFFF"/>
                          </a:solidFill>
                          <a:latin typeface="Inter"/>
                        </a:rPr>
                        <a:t>0%</a:t>
                      </a:r>
                    </a:p>
                  </a:txBody>
                  <a:tcPr marL="91440" marR="91440" marT="45720" marB="45720" anchor="ctr">
                    <a:solidFill>
                      <a:srgbClr val="1A2742"/>
                    </a:solidFill>
                  </a:tcPr>
                </a:tc>
                <a:tc>
                  <a:txBody>
                    <a:bodyPr wrap="square"/>
                    <a:lstStyle/>
                    <a:p>
                      <a:r>
                        <a:rPr sz="1200" b="0">
                          <a:solidFill>
                            <a:srgbClr val="FFFFFF"/>
                          </a:solidFill>
                          <a:latin typeface="Inter"/>
                        </a:rPr>
                        <a:t>18%</a:t>
                      </a:r>
                    </a:p>
                  </a:txBody>
                  <a:tcPr marL="91440" marR="91440" marT="45720" marB="45720" anchor="ctr">
                    <a:solidFill>
                      <a:srgbClr val="1A2742"/>
                    </a:solidFill>
                  </a:tcPr>
                </a:tc>
              </a:tr>
              <a:tr h="384048">
                <a:tc>
                  <a:txBody>
                    <a:bodyPr wrap="square"/>
                    <a:lstStyle/>
                    <a:p>
                      <a:r>
                        <a:rPr sz="1200" b="1">
                          <a:solidFill>
                            <a:srgbClr val="FFFFFF"/>
                          </a:solidFill>
                          <a:latin typeface="Inter"/>
                        </a:rPr>
                        <a:t>Extra cost for the window</a:t>
                      </a:r>
                    </a:p>
                  </a:txBody>
                  <a:tcPr marL="91440" marR="91440" marT="45720" marB="45720" anchor="ctr">
                    <a:solidFill>
                      <a:srgbClr val="0F1E35"/>
                    </a:solidFill>
                  </a:tcPr>
                </a:tc>
                <a:tc>
                  <a:txBody>
                    <a:bodyPr wrap="square"/>
                    <a:lstStyle/>
                    <a:p>
                      <a:r>
                        <a:rPr sz="1200" b="0">
                          <a:solidFill>
                            <a:srgbClr val="FFFFFF"/>
                          </a:solidFill>
                          <a:latin typeface="Inter"/>
                        </a:rPr>
                        <a:t>$0.00</a:t>
                      </a:r>
                    </a:p>
                  </a:txBody>
                  <a:tcPr marL="91440" marR="91440" marT="45720" marB="45720" anchor="ctr">
                    <a:solidFill>
                      <a:srgbClr val="0F1E35"/>
                    </a:solidFill>
                  </a:tcPr>
                </a:tc>
                <a:tc>
                  <a:txBody>
                    <a:bodyPr wrap="square"/>
                    <a:lstStyle/>
                    <a:p>
                      <a:r>
                        <a:rPr sz="1200" b="0">
                          <a:solidFill>
                            <a:srgbClr val="FFFFFF"/>
                          </a:solidFill>
                          <a:latin typeface="Inter"/>
                        </a:rPr>
                        <a:t>about $1.20</a:t>
                      </a:r>
                    </a:p>
                  </a:txBody>
                  <a:tcPr marL="91440" marR="91440" marT="45720" marB="45720" anchor="ctr">
                    <a:solidFill>
                      <a:srgbClr val="0F1E35"/>
                    </a:solidFill>
                  </a:tcPr>
                </a:tc>
              </a:tr>
              <a:tr h="384048">
                <a:tc>
                  <a:txBody>
                    <a:bodyPr wrap="square"/>
                    <a:lstStyle/>
                    <a:p>
                      <a:r>
                        <a:rPr sz="1200" b="1">
                          <a:solidFill>
                            <a:srgbClr val="FFFFFF"/>
                          </a:solidFill>
                          <a:latin typeface="Inter"/>
                        </a:rPr>
                        <a:t>Users who waited more than 8 s</a:t>
                      </a:r>
                    </a:p>
                  </a:txBody>
                  <a:tcPr marL="91440" marR="91440" marT="45720" marB="45720" anchor="ctr">
                    <a:solidFill>
                      <a:srgbClr val="1A2742"/>
                    </a:solidFill>
                  </a:tcPr>
                </a:tc>
                <a:tc>
                  <a:txBody>
                    <a:bodyPr wrap="square"/>
                    <a:lstStyle/>
                    <a:p>
                      <a:r>
                        <a:rPr sz="1200" b="0">
                          <a:solidFill>
                            <a:srgbClr val="FFFFFF"/>
                          </a:solidFill>
                          <a:latin typeface="Inter"/>
                        </a:rPr>
                        <a:t>about 290</a:t>
                      </a:r>
                    </a:p>
                  </a:txBody>
                  <a:tcPr marL="91440" marR="91440" marT="45720" marB="45720" anchor="ctr">
                    <a:solidFill>
                      <a:srgbClr val="1A2742"/>
                    </a:solidFill>
                  </a:tcPr>
                </a:tc>
                <a:tc>
                  <a:txBody>
                    <a:bodyPr wrap="square"/>
                    <a:lstStyle/>
                    <a:p>
                      <a:r>
                        <a:rPr sz="1200" b="0">
                          <a:solidFill>
                            <a:srgbClr val="FFFFFF"/>
                          </a:solidFill>
                          <a:latin typeface="Inter"/>
                        </a:rPr>
                        <a:t>3</a:t>
                      </a:r>
                    </a:p>
                  </a:txBody>
                  <a:tcPr marL="91440" marR="91440" marT="45720" marB="45720" anchor="ctr">
                    <a:solidFill>
                      <a:srgbClr val="1A2742"/>
                    </a:solidFill>
                  </a:tcPr>
                </a:tc>
              </a:tr>
              <a:tr h="384048">
                <a:tc>
                  <a:txBody>
                    <a:bodyPr wrap="square"/>
                    <a:lstStyle/>
                    <a:p>
                      <a:r>
                        <a:rPr sz="1200" b="1">
                          <a:solidFill>
                            <a:srgbClr val="FFFFFF"/>
                          </a:solidFill>
                          <a:latin typeface="Inter"/>
                        </a:rPr>
                        <a:t>Visible in cost panel?</a:t>
                      </a:r>
                    </a:p>
                  </a:txBody>
                  <a:tcPr marL="91440" marR="91440" marT="45720" marB="45720" anchor="ctr">
                    <a:solidFill>
                      <a:srgbClr val="0F1E35"/>
                    </a:solidFill>
                  </a:tcPr>
                </a:tc>
                <a:tc>
                  <a:txBody>
                    <a:bodyPr wrap="square"/>
                    <a:lstStyle/>
                    <a:p>
                      <a:r>
                        <a:rPr sz="1200" b="0">
                          <a:solidFill>
                            <a:srgbClr val="FFFFFF"/>
                          </a:solidFill>
                          <a:latin typeface="Inter"/>
                        </a:rPr>
                        <a:t>No</a:t>
                      </a:r>
                    </a:p>
                  </a:txBody>
                  <a:tcPr marL="91440" marR="91440" marT="45720" marB="45720" anchor="ctr">
                    <a:solidFill>
                      <a:srgbClr val="0F1E35"/>
                    </a:solidFill>
                  </a:tcPr>
                </a:tc>
                <a:tc>
                  <a:txBody>
                    <a:bodyPr wrap="square"/>
                    <a:lstStyle/>
                    <a:p>
                      <a:r>
                        <a:rPr sz="1200" b="0">
                          <a:solidFill>
                            <a:srgbClr val="FFFFFF"/>
                          </a:solidFill>
                          <a:latin typeface="Inter"/>
                        </a:rPr>
                        <a:t>Yes: fallbacks are a line item</a:t>
                      </a:r>
                    </a:p>
                  </a:txBody>
                  <a:tcPr marL="91440" marR="91440" marT="45720" marB="45720" anchor="ctr">
                    <a:solidFill>
                      <a:srgbClr val="0F1E35"/>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 did not change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Fallback list: already right, never fired</a:t>
            </a:r>
          </a:p>
          <a:p>
            <a:pPr marL="292608" indent="-292608">
              <a:lnSpc>
                <a:spcPct val="120000"/>
              </a:lnSpc>
              <a:spcAft>
                <a:spcPts val="1539"/>
              </a:spcAft>
              <a:buClr>
                <a:srgbClr val="00D4AA"/>
              </a:buClr>
              <a:buFont typeface="Inter"/>
              <a:buChar char="•"/>
            </a:pPr>
            <a:r>
              <a:rPr sz="2200" b="0">
                <a:solidFill>
                  <a:srgbClr val="FFFFFF"/>
                </a:solidFill>
                <a:latin typeface="Inter"/>
              </a:rPr>
              <a:t>Concurrency limits: held; ops queued for 1.1 s at worst</a:t>
            </a:r>
          </a:p>
          <a:p>
            <a:pPr marL="292608" indent="-292608">
              <a:lnSpc>
                <a:spcPct val="120000"/>
              </a:lnSpc>
              <a:spcAft>
                <a:spcPts val="1539"/>
              </a:spcAft>
              <a:buClr>
                <a:srgbClr val="00D4AA"/>
              </a:buClr>
              <a:buFont typeface="Inter"/>
              <a:buChar char="•"/>
            </a:pPr>
            <a:r>
              <a:rPr sz="2200" b="0">
                <a:solidFill>
                  <a:srgbClr val="FFFFFF"/>
                </a:solidFill>
                <a:latin typeface="Inter"/>
              </a:rPr>
              <a:t>Budget guard: never triggered; $1.20 is inside every tenant's headroom</a:t>
            </a:r>
          </a:p>
          <a:p>
            <a:pPr marL="292608" indent="-292608">
              <a:lnSpc>
                <a:spcPct val="120000"/>
              </a:lnSpc>
              <a:spcAft>
                <a:spcPts val="1539"/>
              </a:spcAft>
              <a:buClr>
                <a:srgbClr val="00D4AA"/>
              </a:buClr>
              <a:buFont typeface="Inter"/>
              <a:buChar char="•"/>
            </a:pPr>
            <a:r>
              <a:rPr sz="2200" b="0">
                <a:solidFill>
                  <a:srgbClr val="FFFFFF"/>
                </a:solidFill>
                <a:latin typeface="Inter"/>
              </a:rPr>
              <a:t>The agent's prompt, models or tools: untouched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4: Hold p95 under 4 seconds during chaos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Your turn.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4: Hold p95 under 4 seconds during chaos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Tune timeouts, fallbacks and concurrency until the budget gate passes on a slow-provider day with a new seed, and explain each setting…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4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Replay </a:t>
            </a:r>
            <a:r>
              <a:rPr sz="1656" b="0">
                <a:solidFill>
                  <a:srgbClr val="00D4AA"/>
                </a:solidFill>
                <a:latin typeface="JetBrains Mono"/>
              </a:rPr>
              <a:t>slow_provider</a:t>
            </a:r>
            <a:r>
              <a:rPr sz="1800" b="0">
                <a:solidFill>
                  <a:srgbClr val="FFFFFF"/>
                </a:solidFill>
                <a:latin typeface="Inter"/>
              </a:rPr>
              <a:t> with seed </a:t>
            </a:r>
            <a:r>
              <a:rPr sz="1656" b="0">
                <a:solidFill>
                  <a:srgbClr val="00D4AA"/>
                </a:solidFill>
                <a:latin typeface="JetBrains Mono"/>
              </a:rPr>
              <a:t>4</a:t>
            </a:r>
            <a:r>
              <a:rPr sz="1800" b="0">
                <a:solidFill>
                  <a:srgbClr val="FFFFFF"/>
                </a:solidFill>
                <a:latin typeface="Inter"/>
              </a:rPr>
              <a:t>; screenshot the three charts, gate red</a:t>
            </a:r>
          </a:p>
          <a:p>
            <a:pPr marL="292608" indent="-292608">
              <a:lnSpc>
                <a:spcPct val="120000"/>
              </a:lnSpc>
              <a:spcAft>
                <a:spcPts val="1260"/>
              </a:spcAft>
              <a:buClr>
                <a:srgbClr val="00D4AA"/>
              </a:buClr>
              <a:buFont typeface="Inter"/>
              <a:buChar char="•"/>
            </a:pPr>
            <a:r>
              <a:rPr sz="1800" b="0">
                <a:solidFill>
                  <a:srgbClr val="FFFFFF"/>
                </a:solidFill>
                <a:latin typeface="Inter"/>
              </a:rPr>
              <a:t>Tune config until </a:t>
            </a:r>
            <a:r>
              <a:rPr sz="1656" b="0">
                <a:solidFill>
                  <a:srgbClr val="00D4AA"/>
                </a:solidFill>
                <a:latin typeface="JetBrains Mono"/>
              </a:rPr>
              <a:t>make budget-check</a:t>
            </a:r>
            <a:r>
              <a:rPr sz="1800" b="0">
                <a:solidFill>
                  <a:srgbClr val="FFFFFF"/>
                </a:solidFill>
                <a:latin typeface="Inter"/>
              </a:rPr>
              <a:t> is green; screenshot again</a:t>
            </a:r>
          </a:p>
          <a:p>
            <a:pPr marL="292608" indent="-292608">
              <a:lnSpc>
                <a:spcPct val="120000"/>
              </a:lnSpc>
              <a:spcAft>
                <a:spcPts val="1260"/>
              </a:spcAft>
              <a:buClr>
                <a:srgbClr val="00D4AA"/>
              </a:buClr>
              <a:buFont typeface="Inter"/>
              <a:buChar char="•"/>
            </a:pPr>
            <a:r>
              <a:rPr sz="1800" b="0">
                <a:solidFill>
                  <a:srgbClr val="FFFFFF"/>
                </a:solidFill>
                <a:latin typeface="Inter"/>
              </a:rPr>
              <a:t>Fill the worksheet row for each changed setting</a:t>
            </a:r>
          </a:p>
          <a:p>
            <a:pPr marL="292608" indent="-292608">
              <a:lnSpc>
                <a:spcPct val="120000"/>
              </a:lnSpc>
              <a:spcAft>
                <a:spcPts val="1260"/>
              </a:spcAft>
              <a:buClr>
                <a:srgbClr val="00D4AA"/>
              </a:buClr>
              <a:buFont typeface="Inter"/>
              <a:buChar char="•"/>
            </a:pPr>
            <a:r>
              <a:rPr sz="1800" b="0">
                <a:solidFill>
                  <a:srgbClr val="FFFFFF"/>
                </a:solidFill>
                <a:latin typeface="Inter"/>
              </a:rPr>
              <a:t>Stretch: make it pass with fallback cost under $1.00 for the window</a:t>
            </a:r>
          </a:p>
          <a:p>
            <a:pPr marL="292608" indent="-292608">
              <a:lnSpc>
                <a:spcPct val="120000"/>
              </a:lnSpc>
              <a:spcAft>
                <a:spcPts val="1260"/>
              </a:spcAft>
              <a:buClr>
                <a:srgbClr val="00D4AA"/>
              </a:buClr>
              <a:buFont typeface="Inter"/>
              <a:buChar char="•"/>
            </a:pPr>
            <a:r>
              <a:rPr sz="1800" b="0">
                <a:solidFill>
                  <a:srgbClr val="FFFFFF"/>
                </a:solidFill>
                <a:latin typeface="Inter"/>
              </a:rPr>
              <a:t>Submit: both screenshots, the config diff, the worksheet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Latency and reliability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7 quiz.</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7 · LATENCY AND RELIABILITY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7.8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Latency and reliability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pick the right percentile, the right timeout and the right control for each failure shape.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Percentiles and budgets</a:t>
            </a:r>
          </a:p>
          <a:p>
            <a:pPr marL="292608" indent="-292608">
              <a:lnSpc>
                <a:spcPct val="120000"/>
              </a:lnSpc>
              <a:spcAft>
                <a:spcPts val="1539"/>
              </a:spcAft>
              <a:buClr>
                <a:srgbClr val="00D4AA"/>
              </a:buClr>
              <a:buFont typeface="Inter"/>
              <a:buChar char="•"/>
            </a:pPr>
            <a:r>
              <a:rPr sz="2200" b="0">
                <a:solidFill>
                  <a:srgbClr val="FFFFFF"/>
                </a:solidFill>
                <a:latin typeface="Inter"/>
              </a:rPr>
              <a:t>Timeouts from p95</a:t>
            </a:r>
          </a:p>
          <a:p>
            <a:pPr marL="292608" indent="-292608">
              <a:lnSpc>
                <a:spcPct val="120000"/>
              </a:lnSpc>
              <a:spcAft>
                <a:spcPts val="1539"/>
              </a:spcAft>
              <a:buClr>
                <a:srgbClr val="00D4AA"/>
              </a:buClr>
              <a:buFont typeface="Inter"/>
              <a:buChar char="•"/>
            </a:pPr>
            <a:r>
              <a:rPr sz="2200" b="0">
                <a:solidFill>
                  <a:srgbClr val="FFFFFF"/>
                </a:solidFill>
                <a:latin typeface="Inter"/>
              </a:rPr>
              <a:t>Failure shape → control</a:t>
            </a:r>
          </a:p>
          <a:p>
            <a:pPr marL="292608" indent="-292608">
              <a:lnSpc>
                <a:spcPct val="120000"/>
              </a:lnSpc>
              <a:spcAft>
                <a:spcPts val="1539"/>
              </a:spcAft>
              <a:buClr>
                <a:srgbClr val="00D4AA"/>
              </a:buClr>
              <a:buFont typeface="Inter"/>
              <a:buChar char="•"/>
            </a:pPr>
            <a:r>
              <a:rPr sz="2200" b="0">
                <a:solidFill>
                  <a:srgbClr val="FFFFFF"/>
                </a:solidFill>
                <a:latin typeface="Inter"/>
              </a:rPr>
              <a:t>Reading a Router config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07 · Lecture 7.8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Offline evals are not enough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fast and it stays 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