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Traces, spans and context in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trace is everything that happened for one request, identified by one trace ID. A span is one unit of work with a start time and an end time. Spans nest: a parent causes children. Attributes are facts about a span, as key-value pairs. Events are timestamped moments inside a span, like "step limit reached." And status says whether the work succeeded.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A trace is everything that happened for one request, identified by one trace ID. A span is one unit of work with a start time and an end time. Spans nest: a parent causes children. Attributes are fact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VPN request from 2.3 drawn as a waterfall. One trace. The agent span at the top, three point four seconds. Under it, the guardrail, then two steps, each with a model call, and a search in the first. Time runs left to right. Nesting runs top to bottom. Where did the time go? You can see it instantly: the second model call, the one that wrote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 in on one span, exactly as Atlas's console exporter printed it. It has a name. It has the trace ID shared by every span in this request. It has its own span ID and, crucially, a parent ID, here the step-one span. That parent ID is the entire tree. There's no separate tree structure stored anywhere; the backend rebuilds the waterfall from parent IDs. Then attributes, events and status.</a:t>
            </a:r>
          </a:p>
          <a:p/>
          <a:p>
            <a:r>
              <a:t>[SCREEN: Ops Console (`make console`, on the day replayed in 2.4) → Traces page. In "Or one of the ten most expensive conversations" pick...]</a:t>
            </a:r>
          </a:p>
          <a:p/>
          <a:p>
            <a:r>
              <a:t>You can see this on your own machine. Open the console's Traces page on the day you replayed and pick the most expensive conversation. Seven spans, one per row, indented by parent. Every row is one unit of work with a start and an end, and the same shape as the VPN request.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mechanism. When a span starts, it asks, "what is the current span right now?" Whatever it finds becomes its parent. Then it makes itself current. When it ends, it steps aside and the previous span is current again. That "current span" lives in a context that follows your code from function to function, through await, without you passing anything. In Python it's built on `contextvars`.</a:t>
            </a:r>
          </a:p>
          <a:p/>
          <a:p>
            <a:r>
              <a:t>That's why it works without you passing IDs around. And it's also why it breaks in exactly one situation: when your code jumps somewhere the context doesn't follow. A worker thread. A process. Another service. You'll break it on purpose in Lecture 3.6.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a network call, the context is written into a header called traceparent, carrying the trace ID and the current span ID. If the ticketing API reads that header, its spans join the same trace. That's how a single request can be followed across ten services. For Atlas, we mostly stay inside one process, but the collector in Section thirteen relies on this.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idea: sampling. A busy agent produces more spans than you want to store. Head sampling decides at the root, before anything happens: keep one in ten. Cheap, but blind; it drops the one error you wanted. Tail sampling decides when the trace finishes: keep every error and every slow trace, drop most of the boring successes. That's what the collector does in Section thirteen.</a:t>
            </a:r>
          </a:p>
          <a:p/>
          <a:p>
            <a:r>
              <a:t>One rule, though. Never sample the cost signal. Keep one trace in ten, and you've lost ninety percent of your dollars. Cost is counted from every request, as a metric, regardless of which traces you keep. Section nine builds that.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together: a trace tells you which work belonged to a request, what caused what, where time went, what the facts were and what happened when. Logs give you lines. Traces give you structure. Lecture 5.5 comes back to when you want each.</a:t>
            </a:r>
          </a:p>
          <a:p/>
          <a:p>
            <a:r>
              <a:t>Six words and one mechanism. Trace, span, parent, attributes, events, status, held together by a current-span context that follows your code. Now let's write some.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Code-along: manual OpenTelemetry instrumentation of Atlas.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pipeline: resource, provider, processor, exporter, and one `with` statement per unit of work. Every tracing tool you'll ever meet is a variation of these five boxes.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GenAI semantic conventions: naming things so tools understand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semantic convention is an agreed name with an agreed meaning. You already rely on them. `http.request.method` means the HTTP verb in every tool on earth. The GenAI conventions do the same for language models: what to call the model name, the token counts, a tool call, an agent.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span names, because you've already used them. A model call is the operation followed by the model: `chat gpt-4.1-mini`. A tool call is `execute_tool` and the tool's name. An agent run is `invoke_agent` and the agent's name. That's why 3.2's names looked the way they did.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attributes on a model call, from Atlas's first call in the VPN request. Operation name, `chat`. Provider name, `openai`. The model you asked for, and the model that actually answered; they differ when the provider resolves an alias to a dated snapshot, and that matters when a snapshot changes behaviour. Then usage. Input tokens, output tokens, and two that most people forget: cached input tokens and reasoning output tokens. Both are priced differently, and both are invisible if you only record the two big numbers. Section six leans hard on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tool call: operation `execute_tool`, the tool's name, the call ID the model assigned, the arguments the model chose, and the result. Two cautions on the last two. Arguments and results are content, so they can hold personal data; Atlas masks them, and Section ten goes deeper. And results can be huge; clip before you attach, or your telemetry costs more than your model calls.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agent span: operation `invoke_agent`, agent name, provider. And `gen_ai.conversation.id`, which is where a session ID goes in the standard. Langfuse has its own session concept on top; Atlas sets both. There's also an agent version attribute; Atlas keeps its prompt version in its own namespace instead.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code, never type these as strings. Import the constants. The module path has `_incubating` in it, on purpose. It's a signal that these names are not frozen. Two reasons to use the constants anyway. If a name changes in a future release, your code changes with the package, in one place. And a typo in a string is a silent hole in a dashboard; a typo in a constant is an error the moment the line runs.</a:t>
            </a:r>
          </a:p>
          <a:p/>
          <a:p>
            <a:r>
              <a:t>[SCREEN: Terminal in `03-code/`, venv active.]</a:t>
            </a:r>
          </a:p>
          <a:p/>
          <a:p>
            <a:r>
              <a:t>[CODE: ask the package what the names are]</a:t>
            </a:r>
          </a:p>
          <a:p/>
          <a:p>
            <a:r>
              <a:t>[DEMO: One line: `gen_ai.request.model gen_ai.usage.input_tokens gen_ai.usage.cache_read.input_tokens gen_ai.provider.name gen_ai.system`]</a:t>
            </a:r>
          </a:p>
          <a:p/>
          <a:p>
            <a:r>
              <a:t>Don't memorise these; ask the package. One line of Python prints the strings behind the constants. Look at the last two: provider name, and the older system name. Hold that thought.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does incubating mean in practice? Stable conventions come with compatibility promises. GenAI doesn't yet. Names have already been renamed once: `gen_ai.system` became `gen_ai.provider.name`, and as you just saw, both constants exist right now. So pin the package version, read the changelog when you bump it, and keep the footer you see on this slide on your own dashboards. It's honest, and it saves an argument later.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does all this buy you? Emit one span with standard names, and Langfuse shows its usage. Phoenix shows the tokens. A collector can turn spans into metrics for Grafana. Datadog reads them too. Same span, four backends, no code changes. Section twelve is that diagram, live.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conventions don't stop at spans. There are standard metric names too, in a sibling module. Token usage as a histogram, split by token type. Operation duration. Time to first chunk. Atlas exposes its own Prometheus metrics in Section nine, but when you see `gen_ai.client.token.usage` on a dashboard you didn't build, you'll know it was derived from spans like the ones you're tagging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what they don't cover. Dollars. There's no standard cost attribute; a backend computes it from tokens and a price table, or you set it explicitly, which Atlas does. Your business dimensions, like tenant and feature, go in your own namespace; ours is `atlas.`. And quality scores, which are a backend feature.</a:t>
            </a:r>
          </a:p>
          <a:p/>
          <a:p>
            <a:r>
              <a:t>Standard names for models, tokens, tools and agents. Constants, never strings. And the word incubating on every screen that shows them. Now let's see where Atlas puts them.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Code-along: tag every LLM, tool and agent span correctly.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Auto-instrumentation with OpenInference.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use OpenInference's OpenAI instrumentor. It patches the client and emits a span per call, with model, token counts and messages, using OpenInference's attribute names. Langfuse and Phoenix both understand those. There's also an OpenTelemetry-contrib instrumentor for OpenAI; at verification time it failed to import, so it isn't in this course.</a:t>
            </a:r>
          </a:p>
          <a:p/>
          <a:p>
            <a:r>
              <a:t>[SCREEN: VS Code, `telemetry/openinference_setup.py`.]</a:t>
            </a:r>
          </a:p>
          <a:p/>
          <a:p>
            <a:r>
              <a:t>[CODE: excerpt of `telemetry/openinference_setup.py`]</a:t>
            </a:r>
          </a:p>
          <a:p/>
          <a:p>
            <a:r>
              <a:t>The repo wraps it in one function. The heart is one line: `OpenAIInstrumentor().instrument`, with the tracer provider passed explicitly, so the auto spans go through the same pipeline as Atlas's own. Around it, two guards. If the package isn't installed, skip quietly. And if it's already on, don't do it again; the docstring says why, and the next lecture shows it.</a:t>
            </a:r>
          </a:p>
          <a:p/>
          <a:p>
            <a:r>
              <a:t>[CODE: a one-off live run with the instrumentor on]</a:t>
            </a:r>
          </a:p>
          <a:p/>
          <a:p>
            <a:r>
              <a:t>Atlas doesn't switch it on by default, so here's a one-off script. Configure tracing, instrument the client with that provider before the agent creates its OpenAI client, run one question live, flush. Instrument first: it patches the class, so a client created earlier may not be covered.</a:t>
            </a:r>
          </a:p>
          <a:p/>
          <a:p>
            <a:r>
              <a:t>[DEMO: Console output (live). Besides Atlas's own spans, one extra span per model call, named `ChatCompletion`, with `openinference.span....]</a:t>
            </a:r>
          </a:p>
          <a:p/>
          <a:p>
            <a:r>
              <a:t>Read the console. Besides Atlas's spans, there's a span named `ChatCompletion`, kind `LLM`, with the model name, both token counts, and the full input and output messages, nested inside our own model-call span. We wrote none of that. But look closely: our span already had those token counts too. Same call, recorded twice. Do you see where that leads? Remember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split. Free: a span per call, with model, tokens, messages and parameters, streaming and async included, even inside libraries you don't control. Not free: everything that isn't an API call. The agent span. The steps. The tool spans. Tenant and feature. The step-limit event. The price. The instrumentor sees API calls; it doesn't know your agent exists.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our rule. Auto-instrumentation is great coverage for calls you don't control. Manual spans for the agent, steps, tools and business attributes. And one model call, one span carrying usage. Atlas's default is its own generation spans with OpenInference off, and the switch ready for Section twelve.</a:t>
            </a:r>
          </a:p>
          <a:p/>
          <a:p>
            <a:r>
              <a:t>One line, every call captured. Keep the setters for everything the instrumentor can't see. And keep that "one call, one span" rule in mind; it's the third break in the next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Break it: orphan spans, missing context and double counting.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one. Someone notices `lookup_ticket` blocks on I/O and moves it to a thread pool. Reasonable. So why does the trace break? Because the current span lives in a context variable. `await` carries it, `create_task` copies it, and a plain thread pool starts each job with an empty context. The tool's span looks for a current span, finds none, and becomes a root of its own trace: no tenant, no user, no cost context. An orphan.</a:t>
            </a:r>
          </a:p>
          <a:p/>
          <a:p>
            <a:r>
              <a:t>[SCREEN: VS Code, `tests/integration/test_spans.py`, `test_broken_orphan_span_is_detectable`. Highlight `otel_context.attach(otel_context...]</a:t>
            </a:r>
          </a:p>
          <a:p/>
          <a:p>
            <a:r>
              <a:t>[CODE: excerpt of `test_broken_orphan_span_is_detectable`]</a:t>
            </a:r>
          </a:p>
          <a:p/>
          <a:p>
            <a:r>
              <a:t>This test builds an orphan on purpose. Inside the agent span, it swaps in an empty context, exactly what a worker thread sees, and starts the tool span. Parent: none. Two trace IDs for one request. In Langfuse, that's a separate one-span trace named `execute_tool lookup_ticket`.</a:t>
            </a:r>
          </a:p>
          <a:p/>
          <a:p>
            <a:r>
              <a:t>The fix: carry the context across. `asyncio.to_thread` copies it for you, and it's what Atlas's server uses to run the agent off the event loop. With a raw executor, capture `context.get_current()` first and pass it to `start_as_current_span` as the `context` argument.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two. A refactor moves tool execution after the agent's `with` block. The code still works. The trace doesn't. The agent span ends, then the tool span starts with no current span, so it's a root again. Anyone reading the agent's trace sees a model call that asked for a tool, and no tool. They conclude it never ran. It did; it's just filed under a different trace. The fix is structural: if the tool ran because of the agent, it runs inside the agent's block.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three, and this one costs money on paper. OpenInference is on, and our own generation span is on, and both carry usage. Every model call now produces two spans claiming the same tokens. Any dashboard that sums usage across spans, and they all do, shows twice your real spend. Your fifty-six-dollar day reads as twice that. What would you do with a bill that doubled overnight? Probably cut features, to fix a bill that doesn't exist. The fix is a decision: one model call, one span carrying usage. Atlas guards this three ways. It never turns OpenInference on by default. `instrument_openai` refuses to instrument twice. And its Langfuse export filter only forwards Atlas's own spans.</a:t>
            </a:r>
          </a:p>
          <a:p/>
          <a:p>
            <a:r>
              <a:t>[SCREEN: Terminal in `03-code/`.]</a:t>
            </a:r>
          </a:p>
          <a:p/>
          <a:p>
            <a:r>
              <a:t>[CODE: run the five tests that pin these breaks]</a:t>
            </a:r>
          </a:p>
          <a:p/>
          <a:p>
            <a:r>
              <a:t>[DEMO: Output ends with `5 passed, 14 deselected, 1 warning in 0.15s`.]</a:t>
            </a:r>
          </a:p>
          <a:p/>
          <a:p>
            <a:r>
              <a:t>[SCREEN: VS Code, the three regression tests side by side: `test_no_orphan_spans`, `test_tool_spans_are_children_of_agent`, `test_one_gen...]</a:t>
            </a:r>
          </a:p>
          <a:p/>
          <a:p>
            <a:r>
              <a:t>[CODE: excerpt of `test_one_generation_per_model_call`]</a:t>
            </a:r>
          </a:p>
          <a:p/>
          <a:p>
            <a:r>
              <a:t>All five green. And here's how each lie is caught. `test_no_orphan_spans`: exactly one root per request, named `invoke_agent atlas`. `test_tool_spans_are_children_of_agent`: every tool span sits under a step of the agent, in the same trace. And `test_one_generation_per_model_call`: one generation span per model call, and their input tokens add up to exactly the agent's total. Make test runs them on every change.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 this table. All three lies look like healthy traces until you count roots, check parents and compare the bill. Now you have tests that do the counting for you.</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Lab 2: Instrument a new tool end to end.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now build a trace by hand, tag spans with the standard names, and catch the three instrumentation lies with tests. Run make test before and after: that's the loop for every span you'll ever add.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Tracing and semantic conventions.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on how the tree is built. One on processors and exporters. One on span naming. One on the usage attributes people forget. One on what an auto-instrumentor can't see. And one that gives you a symptom, like "cost is exactly double," and asks for the cause.</a:t>
            </a:r>
          </a:p>
          <a:p/>
          <a:p>
            <a:r>
              <a:t>If a question mentions a thread, think "context didn't follow." If it mentions a bill, think "count the spans per call."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One on how the tree is built. One on processors and exporters. One on span naming. One on the usage attributes people forget. One on what an auto-instrumentor can't see. And one that gives you a sympt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3 · TRACING FUNDAMENTALS AND THE GENAI SEMANTIC CONVENTIONS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3.1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Traces, spans and context in five minutes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Define trace, span, parent/child, attributes, events and status.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Six words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Trace: everything that happened for one request</a:t>
            </a:r>
          </a:p>
          <a:p>
            <a:pPr marL="292608" indent="-292608">
              <a:lnSpc>
                <a:spcPct val="120000"/>
              </a:lnSpc>
              <a:spcAft>
                <a:spcPts val="1539"/>
              </a:spcAft>
              <a:buClr>
                <a:srgbClr val="00D4AA"/>
              </a:buClr>
              <a:buFont typeface="Inter"/>
              <a:buChar char="•"/>
            </a:pPr>
            <a:r>
              <a:rPr sz="2200" b="0">
                <a:solidFill>
                  <a:srgbClr val="FFFFFF"/>
                </a:solidFill>
                <a:latin typeface="Inter"/>
              </a:rPr>
              <a:t>Span: one unit of work with a start and an end</a:t>
            </a:r>
          </a:p>
          <a:p>
            <a:pPr marL="292608" indent="-292608">
              <a:lnSpc>
                <a:spcPct val="120000"/>
              </a:lnSpc>
              <a:spcAft>
                <a:spcPts val="1539"/>
              </a:spcAft>
              <a:buClr>
                <a:srgbClr val="00D4AA"/>
              </a:buClr>
              <a:buFont typeface="Inter"/>
              <a:buChar char="•"/>
            </a:pPr>
            <a:r>
              <a:rPr sz="2200" b="0">
                <a:solidFill>
                  <a:srgbClr val="FFFFFF"/>
                </a:solidFill>
                <a:latin typeface="Inter"/>
              </a:rPr>
              <a:t>Parent/child: which span caused which</a:t>
            </a:r>
          </a:p>
          <a:p>
            <a:pPr marL="292608" indent="-292608">
              <a:lnSpc>
                <a:spcPct val="120000"/>
              </a:lnSpc>
              <a:spcAft>
                <a:spcPts val="1539"/>
              </a:spcAft>
              <a:buClr>
                <a:srgbClr val="00D4AA"/>
              </a:buClr>
              <a:buFont typeface="Inter"/>
              <a:buChar char="•"/>
            </a:pPr>
            <a:r>
              <a:rPr sz="2200" b="0">
                <a:solidFill>
                  <a:srgbClr val="FFFFFF"/>
                </a:solidFill>
                <a:latin typeface="Inter"/>
              </a:rPr>
              <a:t>Attributes: key-value facts about a span</a:t>
            </a:r>
          </a:p>
          <a:p>
            <a:pPr marL="292608" indent="-292608">
              <a:lnSpc>
                <a:spcPct val="120000"/>
              </a:lnSpc>
              <a:spcAft>
                <a:spcPts val="1539"/>
              </a:spcAft>
              <a:buClr>
                <a:srgbClr val="00D4AA"/>
              </a:buClr>
              <a:buFont typeface="Inter"/>
              <a:buChar char="•"/>
            </a:pPr>
            <a:r>
              <a:rPr sz="2200" b="0">
                <a:solidFill>
                  <a:srgbClr val="FFFFFF"/>
                </a:solidFill>
                <a:latin typeface="Inter"/>
              </a:rPr>
              <a:t>Events: timestamped moments inside a span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Six words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Status: OK, ERROR or unset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pic>
        <p:nvPicPr>
          <p:cNvPr id="2" name="Picture 1" descr="D3-trace-waterfall.png"/>
          <p:cNvPicPr>
            <a:picLocks noChangeAspect="1"/>
          </p:cNvPicPr>
          <p:nvPr/>
        </p:nvPicPr>
        <p:blipFill>
          <a:blip r:embed="rId3"/>
          <a:stretch>
            <a:fillRect/>
          </a:stretch>
        </p:blipFill>
        <p:spPr>
          <a:xfrm>
            <a:off x="0" y="0"/>
            <a:ext cx="12191695" cy="6857828"/>
          </a:xfrm>
          <a:prstGeom prst="rect">
            <a:avLst/>
          </a:prstGeom>
        </p:spPr>
      </p:pic>
      <p:sp>
        <p:nvSpPr>
          <p:cNvPr id="3" name="TextBox 2"/>
          <p:cNvSpPr txBox="1"/>
          <p:nvPr/>
        </p:nvSpPr>
        <p:spPr>
          <a:xfrm>
            <a:off x="6217920" y="109728"/>
            <a:ext cx="5806440" cy="274320"/>
          </a:xfrm>
          <a:prstGeom prst="rect">
            <a:avLst/>
          </a:prstGeom>
          <a:noFill/>
        </p:spPr>
        <p:txBody>
          <a:bodyPr wrap="square" lIns="45720" rIns="45720" tIns="27432" bIns="27432" anchor="t">
            <a:spAutoFit/>
          </a:bodyPr>
          <a:lstStyle/>
          <a:p>
            <a:pPr algn="r"/>
            <a:r>
              <a:rPr sz="900" b="0">
                <a:solidFill>
                  <a:srgbClr val="64748B"/>
                </a:solidFill>
                <a:latin typeface="Inter"/>
              </a:rPr>
              <a:t>Section 03 · Lecture 3.1 · One Atlas request as a trace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A span, up close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325880"/>
            <a:ext cx="1129284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5720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5800" y="1399032"/>
            <a:ext cx="10927080" cy="320040"/>
          </a:xfrm>
          <a:prstGeom prst="rect">
            <a:avLst/>
          </a:prstGeom>
          <a:noFill/>
        </p:spPr>
        <p:txBody>
          <a:bodyPr wrap="square" lIns="45720" rIns="45720" tIns="27432" bIns="27432" anchor="t">
            <a:spAutoFit/>
          </a:bodyPr>
          <a:lstStyle/>
          <a:p>
            <a:r>
              <a:rPr sz="1000" b="0">
                <a:solidFill>
                  <a:srgbClr val="94A3B8"/>
                </a:solidFill>
                <a:latin typeface="JetBrains Mono"/>
              </a:rPr>
              <a:t>text</a:t>
            </a:r>
          </a:p>
        </p:txBody>
      </p:sp>
      <p:sp>
        <p:nvSpPr>
          <p:cNvPr id="8" name="TextBox 7"/>
          <p:cNvSpPr txBox="1"/>
          <p:nvPr/>
        </p:nvSpPr>
        <p:spPr>
          <a:xfrm>
            <a:off x="685800" y="1737360"/>
            <a:ext cx="10927080" cy="4526280"/>
          </a:xfrm>
          <a:prstGeom prst="rect">
            <a:avLst/>
          </a:prstGeom>
          <a:noFill/>
        </p:spPr>
        <p:txBody>
          <a:bodyPr wrap="none" lIns="45720" rIns="45720" tIns="27432" bIns="27432" anchor="t">
            <a:spAutoFit/>
          </a:bodyPr>
          <a:lstStyle/>
          <a:p>
            <a:r>
              <a:rPr sz="1200">
                <a:solidFill>
                  <a:srgbClr val="FFFFFF"/>
                </a:solidFill>
                <a:latin typeface="JetBrains Mono"/>
              </a:rPr>
              <a:t>name:        chat gpt-4.1-mini</a:t>
            </a:r>
          </a:p>
          <a:p>
            <a:r>
              <a:rPr sz="1200">
                <a:solidFill>
                  <a:srgbClr val="FFFFFF"/>
                </a:solidFill>
                <a:latin typeface="JetBrains Mono"/>
              </a:rPr>
              <a:t>trace_id:    0x1c64ccfc12b2b962a1609e2fefae04ef</a:t>
            </a:r>
          </a:p>
          <a:p>
            <a:r>
              <a:rPr sz="1200">
                <a:solidFill>
                  <a:srgbClr val="FFFFFF"/>
                </a:solidFill>
                <a:latin typeface="JetBrains Mono"/>
              </a:rPr>
              <a:t>span_id:     0x6b18382bc75135bb</a:t>
            </a:r>
          </a:p>
          <a:p>
            <a:r>
              <a:rPr sz="1200">
                <a:solidFill>
                  <a:srgbClr val="FFFFFF"/>
                </a:solidFill>
                <a:latin typeface="JetBrains Mono"/>
              </a:rPr>
              <a:t>parent_id:   0x220b219d682bf398        (the "step 1" span)</a:t>
            </a:r>
          </a:p>
          <a:p>
            <a:r>
              <a:rPr sz="1200">
                <a:solidFill>
                  <a:srgbClr val="FFFFFF"/>
                </a:solidFill>
                <a:latin typeface="JetBrains Mono"/>
              </a:rPr>
              <a:t>attributes:  atlas.step=1, atlas.tenant=ops, atlas.cost_usd=0.0013752, ...</a:t>
            </a:r>
          </a:p>
          <a:p>
            <a:r>
              <a:rPr sz="1200">
                <a:solidFill>
                  <a:srgbClr val="FFFFFF"/>
                </a:solidFill>
                <a:latin typeface="JetBrains Mono"/>
              </a:rPr>
              <a:t>events:      (none)</a:t>
            </a:r>
          </a:p>
          <a:p>
            <a:r>
              <a:rPr sz="1200">
                <a:solidFill>
                  <a:srgbClr val="FFFFFF"/>
                </a:solidFill>
                <a:latin typeface="JetBrains Mono"/>
              </a:rPr>
              <a:t>status:      UNSET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Context propagation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673860" y="1325880"/>
            <a:ext cx="8859520" cy="4983480"/>
          </a:xfrm>
          <a:prstGeom prst="roundRect">
            <a:avLst>
              <a:gd name="adj" fmla="val 1027"/>
            </a:avLst>
          </a:prstGeom>
          <a:solidFill>
            <a:srgbClr val="0F1E35"/>
          </a:solidFill>
          <a:ln w="19050">
            <a:solidFill>
              <a:srgbClr val="FFB02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948180" y="1508760"/>
            <a:ext cx="8310880" cy="365760"/>
          </a:xfrm>
          <a:prstGeom prst="rect">
            <a:avLst/>
          </a:prstGeom>
          <a:noFill/>
        </p:spPr>
        <p:txBody>
          <a:bodyPr wrap="square" lIns="45720" rIns="45720" tIns="27432" bIns="27432" anchor="t">
            <a:spAutoFit/>
          </a:bodyPr>
          <a:lstStyle/>
          <a:p>
            <a:r>
              <a:rPr sz="1100" b="1">
                <a:solidFill>
                  <a:srgbClr val="FFB020"/>
                </a:solidFill>
                <a:latin typeface="Inter"/>
              </a:rPr>
              <a:t>DIAGRAM TO BUILD</a:t>
            </a:r>
          </a:p>
        </p:txBody>
      </p:sp>
      <p:sp>
        <p:nvSpPr>
          <p:cNvPr id="7" name="TextBox 6"/>
          <p:cNvSpPr txBox="1"/>
          <p:nvPr/>
        </p:nvSpPr>
        <p:spPr>
          <a:xfrm>
            <a:off x="1948180" y="1920240"/>
            <a:ext cx="8310880" cy="4251960"/>
          </a:xfrm>
          <a:prstGeom prst="rect">
            <a:avLst/>
          </a:prstGeom>
          <a:noFill/>
        </p:spPr>
        <p:txBody>
          <a:bodyPr wrap="square" lIns="45720" rIns="45720" tIns="27432" bIns="27432" anchor="t">
            <a:spAutoFit/>
          </a:bodyPr>
          <a:lstStyle/>
          <a:p>
            <a:pPr>
              <a:lnSpc>
                <a:spcPct val="125000"/>
              </a:lnSpc>
            </a:pPr>
            <a:r>
              <a:rPr sz="1500" b="0">
                <a:solidFill>
                  <a:srgbClr val="CBD5E1"/>
                </a:solidFill>
                <a:latin typeface="Inter"/>
              </a:rPr>
              <a:t>Diagram: a stack of boxes labelled "current context". Step 1: empty. Step 2: </a:t>
            </a:r>
            <a:r>
              <a:rPr sz="1380" b="0">
                <a:solidFill>
                  <a:srgbClr val="00D4AA"/>
                </a:solidFill>
                <a:latin typeface="JetBrains Mono"/>
              </a:rPr>
              <a:t>invoke_agent atlas</a:t>
            </a:r>
            <a:r>
              <a:rPr sz="1500" b="0">
                <a:solidFill>
                  <a:srgbClr val="CBD5E1"/>
                </a:solidFill>
                <a:latin typeface="Inter"/>
              </a:rPr>
              <a:t> is pushed; it's the current span. Step 3: </a:t>
            </a:r>
            <a:r>
              <a:rPr sz="1380" b="0">
                <a:solidFill>
                  <a:srgbClr val="00D4AA"/>
                </a:solidFill>
                <a:latin typeface="JetBrains Mono"/>
              </a:rPr>
              <a:t>step 1</a:t>
            </a:r>
            <a:r>
              <a:rPr sz="1500" b="0">
                <a:solidFill>
                  <a:srgbClr val="CBD5E1"/>
                </a:solidFill>
                <a:latin typeface="Inter"/>
              </a:rPr>
              <a:t> starts, reads the current span, sets it as parent, and is pushed. Step 4: </a:t>
            </a:r>
            <a:r>
              <a:rPr sz="1380" b="0">
                <a:solidFill>
                  <a:srgbClr val="00D4AA"/>
                </a:solidFill>
                <a:latin typeface="JetBrains Mono"/>
              </a:rPr>
              <a:t>chat gpt-4.1-mini</a:t>
            </a:r>
            <a:r>
              <a:rPr sz="1500" b="0">
                <a:solidFill>
                  <a:srgbClr val="CBD5E1"/>
                </a:solidFill>
                <a:latin typeface="Inter"/>
              </a:rPr>
              <a:t> does the same under </a:t>
            </a:r>
            <a:r>
              <a:rPr sz="1380" b="0">
                <a:solidFill>
                  <a:srgbClr val="00D4AA"/>
                </a:solidFill>
                <a:latin typeface="JetBrains Mono"/>
              </a:rPr>
              <a:t>step 1</a:t>
            </a:r>
            <a:r>
              <a:rPr sz="1500" b="0">
                <a:solidFill>
                  <a:srgbClr val="CBD5E1"/>
                </a:solidFill>
                <a:latin typeface="Inter"/>
              </a:rPr>
              <a:t>. Step 5: it ends and is popped; </a:t>
            </a:r>
            <a:r>
              <a:rPr sz="1380" b="0">
                <a:solidFill>
                  <a:srgbClr val="00D4AA"/>
                </a:solidFill>
                <a:latin typeface="JetBrains Mono"/>
              </a:rPr>
              <a:t>step 1</a:t>
            </a:r>
            <a:r>
              <a:rPr sz="1500" b="0">
                <a:solidFill>
                  <a:srgbClr val="CBD5E1"/>
                </a:solidFill>
                <a:latin typeface="Inter"/>
              </a:rPr>
              <a:t> is current again.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Across the network</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Context is serialised into HTTP headers: </a:t>
            </a:r>
            <a:r>
              <a:rPr sz="2024" b="0">
                <a:solidFill>
                  <a:srgbClr val="00D4AA"/>
                </a:solidFill>
                <a:latin typeface="JetBrains Mono"/>
              </a:rPr>
              <a:t>traceparent: 00-&lt;trace_id&gt;-&lt;span_id&gt;-01</a:t>
            </a:r>
          </a:p>
          <a:p>
            <a:pPr marL="292608" indent="-292608">
              <a:lnSpc>
                <a:spcPct val="120000"/>
              </a:lnSpc>
              <a:spcAft>
                <a:spcPts val="1539"/>
              </a:spcAft>
              <a:buClr>
                <a:srgbClr val="00D4AA"/>
              </a:buClr>
              <a:buFont typeface="Inter"/>
              <a:buChar char="•"/>
            </a:pPr>
            <a:r>
              <a:rPr sz="2200" b="0">
                <a:solidFill>
                  <a:srgbClr val="FFFFFF"/>
                </a:solidFill>
                <a:latin typeface="Inter"/>
              </a:rPr>
              <a:t>The other service reads the header, continues the same trace</a:t>
            </a:r>
          </a:p>
          <a:p>
            <a:pPr marL="292608" indent="-292608">
              <a:lnSpc>
                <a:spcPct val="120000"/>
              </a:lnSpc>
              <a:spcAft>
                <a:spcPts val="1539"/>
              </a:spcAft>
              <a:buClr>
                <a:srgbClr val="00D4AA"/>
              </a:buClr>
              <a:buFont typeface="Inter"/>
              <a:buChar char="•"/>
            </a:pPr>
            <a:r>
              <a:rPr sz="2200" b="0">
                <a:solidFill>
                  <a:srgbClr val="FFFFFF"/>
                </a:solidFill>
                <a:latin typeface="Inter"/>
              </a:rPr>
              <a:t>Atlas → ticketing API → back, all one trace, if both sides propagate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Sampling</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Head sampling: decide at the root, before anything happens (cheap, blind)</a:t>
            </a:r>
          </a:p>
          <a:p>
            <a:pPr marL="292608" indent="-292608">
              <a:lnSpc>
                <a:spcPct val="120000"/>
              </a:lnSpc>
              <a:spcAft>
                <a:spcPts val="1260"/>
              </a:spcAft>
              <a:buClr>
                <a:srgbClr val="00D4AA"/>
              </a:buClr>
              <a:buFont typeface="Inter"/>
              <a:buChar char="•"/>
            </a:pPr>
            <a:r>
              <a:rPr sz="1800" b="0">
                <a:solidFill>
                  <a:srgbClr val="FFFFFF"/>
                </a:solidFill>
                <a:latin typeface="Inter"/>
              </a:rPr>
              <a:t>Tail sampling: decide after the trace finishes (keep every error and slow trace, drop boring successes)</a:t>
            </a:r>
          </a:p>
          <a:p>
            <a:pPr marL="292608" indent="-292608">
              <a:lnSpc>
                <a:spcPct val="120000"/>
              </a:lnSpc>
              <a:spcAft>
                <a:spcPts val="1260"/>
              </a:spcAft>
              <a:buClr>
                <a:srgbClr val="00D4AA"/>
              </a:buClr>
              <a:buFont typeface="Inter"/>
              <a:buChar char="•"/>
            </a:pPr>
            <a:r>
              <a:rPr sz="1800" b="0">
                <a:solidFill>
                  <a:srgbClr val="FFFFFF"/>
                </a:solidFill>
                <a:latin typeface="Inter"/>
              </a:rPr>
              <a:t>Never sample the cost signal: tokens and dollars must be counted from every request</a:t>
            </a:r>
          </a:p>
          <a:p>
            <a:pPr marL="292608" indent="-292608">
              <a:lnSpc>
                <a:spcPct val="120000"/>
              </a:lnSpc>
              <a:spcAft>
                <a:spcPts val="1260"/>
              </a:spcAft>
              <a:buClr>
                <a:srgbClr val="00D4AA"/>
              </a:buClr>
              <a:buFont typeface="Inter"/>
              <a:buChar char="•"/>
            </a:pPr>
            <a:r>
              <a:rPr sz="1800" b="0">
                <a:solidFill>
                  <a:srgbClr val="FFFFFF"/>
                </a:solidFill>
                <a:latin typeface="Inter"/>
              </a:rPr>
              <a:t>Our approach: 100% in dev; in prod, tail-sample traces, count cost from metrics (Sections 9,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a trace answers that logs can't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Which spans belong to this request? (trace ID)</a:t>
            </a:r>
          </a:p>
          <a:p>
            <a:pPr marL="292608" indent="-292608">
              <a:lnSpc>
                <a:spcPct val="120000"/>
              </a:lnSpc>
              <a:spcAft>
                <a:spcPts val="1539"/>
              </a:spcAft>
              <a:buClr>
                <a:srgbClr val="00D4AA"/>
              </a:buClr>
              <a:buFont typeface="Inter"/>
              <a:buChar char="•"/>
            </a:pPr>
            <a:r>
              <a:rPr sz="2200" b="0">
                <a:solidFill>
                  <a:srgbClr val="FFFFFF"/>
                </a:solidFill>
                <a:latin typeface="Inter"/>
              </a:rPr>
              <a:t>What caused what? (parent ID)</a:t>
            </a:r>
          </a:p>
          <a:p>
            <a:pPr marL="292608" indent="-292608">
              <a:lnSpc>
                <a:spcPct val="120000"/>
              </a:lnSpc>
              <a:spcAft>
                <a:spcPts val="1539"/>
              </a:spcAft>
              <a:buClr>
                <a:srgbClr val="00D4AA"/>
              </a:buClr>
              <a:buFont typeface="Inter"/>
              <a:buChar char="•"/>
            </a:pPr>
            <a:r>
              <a:rPr sz="2200" b="0">
                <a:solidFill>
                  <a:srgbClr val="FFFFFF"/>
                </a:solidFill>
                <a:latin typeface="Inter"/>
              </a:rPr>
              <a:t>Where did time go? (start and end, nested)</a:t>
            </a:r>
          </a:p>
          <a:p>
            <a:pPr marL="292608" indent="-292608">
              <a:lnSpc>
                <a:spcPct val="120000"/>
              </a:lnSpc>
              <a:spcAft>
                <a:spcPts val="1539"/>
              </a:spcAft>
              <a:buClr>
                <a:srgbClr val="00D4AA"/>
              </a:buClr>
              <a:buFont typeface="Inter"/>
              <a:buChar char="•"/>
            </a:pPr>
            <a:r>
              <a:rPr sz="2200" b="0">
                <a:solidFill>
                  <a:srgbClr val="FFFFFF"/>
                </a:solidFill>
                <a:latin typeface="Inter"/>
              </a:rPr>
              <a:t>What were the facts? (attributes)</a:t>
            </a:r>
          </a:p>
          <a:p>
            <a:pPr marL="292608" indent="-292608">
              <a:lnSpc>
                <a:spcPct val="120000"/>
              </a:lnSpc>
              <a:spcAft>
                <a:spcPts val="1539"/>
              </a:spcAft>
              <a:buClr>
                <a:srgbClr val="00D4AA"/>
              </a:buClr>
              <a:buFont typeface="Inter"/>
              <a:buChar char="•"/>
            </a:pPr>
            <a:r>
              <a:rPr sz="2200" b="0">
                <a:solidFill>
                  <a:srgbClr val="FFFFFF"/>
                </a:solidFill>
                <a:latin typeface="Inter"/>
              </a:rPr>
              <a:t>What happened, and when? (events)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3.1</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Spans linked by parent IDs form a trace</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The current-span context sets parents for you</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Sample traces, never the cost signal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Code-along: manual OpenTelemetry instrumentation of Atlas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you add OpenTelemetry by hand around one model call, then read how Atlas's real setup does the…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3 · TRACING FUNDAMENTALS AND THE GENAI SEMANTIC CONVENTIONS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3.2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Code-along: manual OpenTelemetry instrumentation of Atlas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Build a </a:t>
            </a:r>
            <a:r>
              <a:rPr sz="1472" b="0">
                <a:solidFill>
                  <a:srgbClr val="00D4AA"/>
                </a:solidFill>
                <a:latin typeface="JetBrains Mono"/>
              </a:rPr>
              <a:t>setup_tracing()</a:t>
            </a:r>
            <a:r>
              <a:rPr sz="1600" b="0">
                <a:solidFill>
                  <a:srgbClr val="CBD5E1"/>
                </a:solidFill>
                <a:latin typeface="Inter"/>
              </a:rPr>
              <a:t> with a </a:t>
            </a:r>
            <a:r>
              <a:rPr sz="1472" b="0">
                <a:solidFill>
                  <a:srgbClr val="00D4AA"/>
                </a:solidFill>
                <a:latin typeface="JetBrains Mono"/>
              </a:rPr>
              <a:t>TracerProvider</a:t>
            </a:r>
            <a:r>
              <a:rPr sz="1600" b="0">
                <a:solidFill>
                  <a:srgbClr val="CBD5E1"/>
                </a:solidFill>
                <a:latin typeface="Inter"/>
              </a:rPr>
              <a:t>, resource attributes and a </a:t>
            </a:r>
            <a:r>
              <a:rPr sz="1472" b="0">
                <a:solidFill>
                  <a:srgbClr val="00D4AA"/>
                </a:solidFill>
                <a:latin typeface="JetBrains Mono"/>
              </a:rPr>
              <a:t>ConsoleSpanExporter</a:t>
            </a:r>
            <a:r>
              <a:rPr sz="1600" b="0">
                <a:solidFill>
                  <a:srgbClr val="CBD5E1"/>
                </a:solidFill>
                <a:latin typeface="Inter"/>
              </a:rP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pipeline you just built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Resource</a:t>
            </a:r>
            <a:r>
              <a:rPr sz="1800" b="0">
                <a:solidFill>
                  <a:srgbClr val="FFFFFF"/>
                </a:solidFill>
                <a:latin typeface="Inter"/>
              </a:rPr>
              <a:t> → who is emitting (service.name, version, environment)</a:t>
            </a:r>
          </a:p>
          <a:p>
            <a:pPr marL="292608" indent="-292608">
              <a:lnSpc>
                <a:spcPct val="120000"/>
              </a:lnSpc>
              <a:spcAft>
                <a:spcPts val="1260"/>
              </a:spcAft>
              <a:buClr>
                <a:srgbClr val="00D4AA"/>
              </a:buClr>
              <a:buFont typeface="Inter"/>
              <a:buChar char="•"/>
            </a:pPr>
            <a:r>
              <a:rPr sz="1656" b="0">
                <a:solidFill>
                  <a:srgbClr val="00D4AA"/>
                </a:solidFill>
                <a:latin typeface="JetBrains Mono"/>
              </a:rPr>
              <a:t>TracerProvider</a:t>
            </a:r>
            <a:r>
              <a:rPr sz="1800" b="0">
                <a:solidFill>
                  <a:srgbClr val="FFFFFF"/>
                </a:solidFill>
                <a:latin typeface="Inter"/>
              </a:rPr>
              <a:t> → owns the pipeline; set once, globally</a:t>
            </a:r>
          </a:p>
          <a:p>
            <a:pPr marL="292608" indent="-292608">
              <a:lnSpc>
                <a:spcPct val="120000"/>
              </a:lnSpc>
              <a:spcAft>
                <a:spcPts val="1260"/>
              </a:spcAft>
              <a:buClr>
                <a:srgbClr val="00D4AA"/>
              </a:buClr>
              <a:buFont typeface="Inter"/>
              <a:buChar char="•"/>
            </a:pPr>
            <a:r>
              <a:rPr sz="1656" b="0">
                <a:solidFill>
                  <a:srgbClr val="00D4AA"/>
                </a:solidFill>
                <a:latin typeface="JetBrains Mono"/>
              </a:rPr>
              <a:t>SpanProcessor</a:t>
            </a:r>
            <a:r>
              <a:rPr sz="1800" b="0">
                <a:solidFill>
                  <a:srgbClr val="FFFFFF"/>
                </a:solidFill>
                <a:latin typeface="Inter"/>
              </a:rPr>
              <a:t> → when to export: Simple (now) vs Batch (queued)</a:t>
            </a:r>
          </a:p>
          <a:p>
            <a:pPr marL="292608" indent="-292608">
              <a:lnSpc>
                <a:spcPct val="120000"/>
              </a:lnSpc>
              <a:spcAft>
                <a:spcPts val="1260"/>
              </a:spcAft>
              <a:buClr>
                <a:srgbClr val="00D4AA"/>
              </a:buClr>
              <a:buFont typeface="Inter"/>
              <a:buChar char="•"/>
            </a:pPr>
            <a:r>
              <a:rPr sz="1656" b="0">
                <a:solidFill>
                  <a:srgbClr val="00D4AA"/>
                </a:solidFill>
                <a:latin typeface="JetBrains Mono"/>
              </a:rPr>
              <a:t>SpanExporter</a:t>
            </a:r>
            <a:r>
              <a:rPr sz="1800" b="0">
                <a:solidFill>
                  <a:srgbClr val="FFFFFF"/>
                </a:solidFill>
                <a:latin typeface="Inter"/>
              </a:rPr>
              <a:t> → where to: console, OTLP, file, memory, plus the local store and Langfuse</a:t>
            </a:r>
          </a:p>
          <a:p>
            <a:pPr marL="292608" indent="-292608">
              <a:lnSpc>
                <a:spcPct val="120000"/>
              </a:lnSpc>
              <a:spcAft>
                <a:spcPts val="1260"/>
              </a:spcAft>
              <a:buClr>
                <a:srgbClr val="00D4AA"/>
              </a:buClr>
              <a:buFont typeface="Inter"/>
              <a:buChar char="•"/>
            </a:pPr>
            <a:r>
              <a:rPr sz="1656" b="0">
                <a:solidFill>
                  <a:srgbClr val="00D4AA"/>
                </a:solidFill>
                <a:latin typeface="JetBrains Mono"/>
              </a:rPr>
              <a:t>tracer.start_as_current_span(name)</a:t>
            </a:r>
            <a:r>
              <a:rPr sz="1800" b="0">
                <a:solidFill>
                  <a:srgbClr val="FFFFFF"/>
                </a:solidFill>
                <a:latin typeface="Inter"/>
              </a:rPr>
              <a:t> → the only line application code needs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3.2</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Resource, provider, processor, exporter</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One </a:t>
            </a:r>
            <a:r>
              <a:rPr sz="1656" b="0">
                <a:solidFill>
                  <a:srgbClr val="00D4AA"/>
                </a:solidFill>
                <a:latin typeface="JetBrains Mono"/>
              </a:rPr>
              <a:t>with</a:t>
            </a:r>
            <a:r>
              <a:rPr sz="1800" b="1">
                <a:solidFill>
                  <a:srgbClr val="FFFFFF"/>
                </a:solidFill>
                <a:latin typeface="Inter"/>
              </a:rPr>
              <a:t> per unit of work</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Batch processor for every network exporter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GenAI semantic conventions: naming things so tools understand them</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The spans exist, but Langfuse showed your practice spans as plain boxes.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3 · TRACING FUNDAMENTALS AND THE GENAI SEMANTIC CONVENTIONS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3.3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GenAI semantic conventions: naming things so tools understand them</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Explain what semantic conventions are and why standard names buy portability.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a semantic convention is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An agreed name and meaning for an attribute</a:t>
            </a:r>
          </a:p>
          <a:p>
            <a:pPr marL="292608" indent="-292608">
              <a:lnSpc>
                <a:spcPct val="120000"/>
              </a:lnSpc>
              <a:spcAft>
                <a:spcPts val="1260"/>
              </a:spcAft>
              <a:buClr>
                <a:srgbClr val="00D4AA"/>
              </a:buClr>
              <a:buFont typeface="Inter"/>
              <a:buChar char="•"/>
            </a:pPr>
            <a:r>
              <a:rPr sz="1656" b="0">
                <a:solidFill>
                  <a:srgbClr val="00D4AA"/>
                </a:solidFill>
                <a:latin typeface="JetBrains Mono"/>
              </a:rPr>
              <a:t>http.request.method</a:t>
            </a:r>
            <a:r>
              <a:rPr sz="1800" b="0">
                <a:solidFill>
                  <a:srgbClr val="FFFFFF"/>
                </a:solidFill>
                <a:latin typeface="Inter"/>
              </a:rPr>
              <a:t> is one; every backend knows it means the HTTP verb</a:t>
            </a:r>
          </a:p>
          <a:p>
            <a:pPr marL="292608" indent="-292608">
              <a:lnSpc>
                <a:spcPct val="120000"/>
              </a:lnSpc>
              <a:spcAft>
                <a:spcPts val="1260"/>
              </a:spcAft>
              <a:buClr>
                <a:srgbClr val="00D4AA"/>
              </a:buClr>
              <a:buFont typeface="Inter"/>
              <a:buChar char="•"/>
            </a:pPr>
            <a:r>
              <a:rPr sz="1800" b="0">
                <a:solidFill>
                  <a:srgbClr val="FFFFFF"/>
                </a:solidFill>
                <a:latin typeface="Inter"/>
              </a:rPr>
              <a:t>The GenAI conventions do the same for models, tokens, tools and agents</a:t>
            </a:r>
          </a:p>
          <a:p>
            <a:pPr marL="292608" indent="-292608">
              <a:lnSpc>
                <a:spcPct val="120000"/>
              </a:lnSpc>
              <a:spcAft>
                <a:spcPts val="1260"/>
              </a:spcAft>
              <a:buClr>
                <a:srgbClr val="00D4AA"/>
              </a:buClr>
              <a:buFont typeface="Inter"/>
              <a:buChar char="•"/>
            </a:pPr>
            <a:r>
              <a:rPr sz="1800" b="0">
                <a:solidFill>
                  <a:srgbClr val="FFFFFF"/>
                </a:solidFill>
                <a:latin typeface="Inter"/>
              </a:rPr>
              <a:t>Published by OpenTelemetry; shipped as constants in </a:t>
            </a:r>
            <a:r>
              <a:rPr sz="1656" b="0">
                <a:solidFill>
                  <a:srgbClr val="00D4AA"/>
                </a:solidFill>
                <a:latin typeface="JetBrains Mono"/>
              </a:rPr>
              <a:t>opentelemetry-semantic-conventions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naming rule for spans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1755648"/>
        </p:xfrm>
        <a:graphic>
          <a:graphicData uri="http://schemas.openxmlformats.org/drawingml/2006/table">
            <a:tbl>
              <a:tblPr firstRow="1" bandRow="1">
                <a:tableStyleId>{5C22544A-7EE6-4342-B048-85BDC9FD1C3A}</a:tableStyleId>
              </a:tblPr>
              <a:tblGrid>
                <a:gridCol w="1685498"/>
                <a:gridCol w="4887945"/>
                <a:gridCol w="4719395"/>
              </a:tblGrid>
              <a:tr h="438912">
                <a:tc>
                  <a:txBody>
                    <a:bodyPr wrap="square"/>
                    <a:lstStyle/>
                    <a:p>
                      <a:r>
                        <a:rPr sz="1400" b="1">
                          <a:solidFill>
                            <a:srgbClr val="0A1628"/>
                          </a:solidFill>
                          <a:latin typeface="Inter"/>
                        </a:rPr>
                        <a:t>Span kind</a:t>
                      </a:r>
                    </a:p>
                  </a:txBody>
                  <a:tcPr marL="91440" marR="91440" marT="45720" marB="45720" anchor="ctr">
                    <a:solidFill>
                      <a:srgbClr val="00D4AA"/>
                    </a:solidFill>
                  </a:tcPr>
                </a:tc>
                <a:tc>
                  <a:txBody>
                    <a:bodyPr wrap="square"/>
                    <a:lstStyle/>
                    <a:p>
                      <a:r>
                        <a:rPr sz="1400" b="1">
                          <a:solidFill>
                            <a:srgbClr val="0A1628"/>
                          </a:solidFill>
                          <a:latin typeface="Inter"/>
                        </a:rPr>
                        <a:t>Name</a:t>
                      </a:r>
                    </a:p>
                  </a:txBody>
                  <a:tcPr marL="91440" marR="91440" marT="45720" marB="45720" anchor="ctr">
                    <a:solidFill>
                      <a:srgbClr val="00D4AA"/>
                    </a:solidFill>
                  </a:tcPr>
                </a:tc>
                <a:tc>
                  <a:txBody>
                    <a:bodyPr wrap="square"/>
                    <a:lstStyle/>
                    <a:p>
                      <a:r>
                        <a:rPr sz="1400" b="1">
                          <a:solidFill>
                            <a:srgbClr val="0A1628"/>
                          </a:solidFill>
                          <a:latin typeface="Inter"/>
                        </a:rPr>
                        <a:t>Example</a:t>
                      </a:r>
                    </a:p>
                  </a:txBody>
                  <a:tcPr marL="91440" marR="91440" marT="45720" marB="45720" anchor="ctr">
                    <a:solidFill>
                      <a:srgbClr val="00D4AA"/>
                    </a:solidFill>
                  </a:tcPr>
                </a:tc>
              </a:tr>
              <a:tr h="438912">
                <a:tc>
                  <a:txBody>
                    <a:bodyPr wrap="square"/>
                    <a:lstStyle/>
                    <a:p>
                      <a:r>
                        <a:rPr sz="1400" b="1">
                          <a:solidFill>
                            <a:srgbClr val="FFFFFF"/>
                          </a:solidFill>
                          <a:latin typeface="Inter"/>
                        </a:rPr>
                        <a:t>Model call</a:t>
                      </a:r>
                    </a:p>
                  </a:txBody>
                  <a:tcPr marL="91440" marR="91440" marT="45720" marB="45720" anchor="ctr">
                    <a:solidFill>
                      <a:srgbClr val="1A2742"/>
                    </a:solidFill>
                  </a:tcPr>
                </a:tc>
                <a:tc>
                  <a:txBody>
                    <a:bodyPr wrap="square"/>
                    <a:lstStyle/>
                    <a:p>
                      <a:r>
                        <a:rPr sz="1288" b="0">
                          <a:solidFill>
                            <a:srgbClr val="00D4AA"/>
                          </a:solidFill>
                          <a:latin typeface="JetBrains Mono"/>
                        </a:rPr>
                        <a:t>{operation} {request model}</a:t>
                      </a:r>
                    </a:p>
                  </a:txBody>
                  <a:tcPr marL="91440" marR="91440" marT="45720" marB="45720" anchor="ctr">
                    <a:solidFill>
                      <a:srgbClr val="1A2742"/>
                    </a:solidFill>
                  </a:tcPr>
                </a:tc>
                <a:tc>
                  <a:txBody>
                    <a:bodyPr wrap="square"/>
                    <a:lstStyle/>
                    <a:p>
                      <a:r>
                        <a:rPr sz="1288" b="0">
                          <a:solidFill>
                            <a:srgbClr val="00D4AA"/>
                          </a:solidFill>
                          <a:latin typeface="JetBrains Mono"/>
                        </a:rPr>
                        <a:t>chat gpt-4.1-mini</a:t>
                      </a:r>
                    </a:p>
                  </a:txBody>
                  <a:tcPr marL="91440" marR="91440" marT="45720" marB="45720" anchor="ctr">
                    <a:solidFill>
                      <a:srgbClr val="1A2742"/>
                    </a:solidFill>
                  </a:tcPr>
                </a:tc>
              </a:tr>
              <a:tr h="438912">
                <a:tc>
                  <a:txBody>
                    <a:bodyPr wrap="square"/>
                    <a:lstStyle/>
                    <a:p>
                      <a:r>
                        <a:rPr sz="1400" b="1">
                          <a:solidFill>
                            <a:srgbClr val="FFFFFF"/>
                          </a:solidFill>
                          <a:latin typeface="Inter"/>
                        </a:rPr>
                        <a:t>Tool call</a:t>
                      </a:r>
                    </a:p>
                  </a:txBody>
                  <a:tcPr marL="91440" marR="91440" marT="45720" marB="45720" anchor="ctr">
                    <a:solidFill>
                      <a:srgbClr val="0F1E35"/>
                    </a:solidFill>
                  </a:tcPr>
                </a:tc>
                <a:tc>
                  <a:txBody>
                    <a:bodyPr wrap="square"/>
                    <a:lstStyle/>
                    <a:p>
                      <a:r>
                        <a:rPr sz="1288" b="0">
                          <a:solidFill>
                            <a:srgbClr val="00D4AA"/>
                          </a:solidFill>
                          <a:latin typeface="JetBrains Mono"/>
                        </a:rPr>
                        <a:t>execute_tool {tool name}</a:t>
                      </a:r>
                    </a:p>
                  </a:txBody>
                  <a:tcPr marL="91440" marR="91440" marT="45720" marB="45720" anchor="ctr">
                    <a:solidFill>
                      <a:srgbClr val="0F1E35"/>
                    </a:solidFill>
                  </a:tcPr>
                </a:tc>
                <a:tc>
                  <a:txBody>
                    <a:bodyPr wrap="square"/>
                    <a:lstStyle/>
                    <a:p>
                      <a:r>
                        <a:rPr sz="1288" b="0">
                          <a:solidFill>
                            <a:srgbClr val="00D4AA"/>
                          </a:solidFill>
                          <a:latin typeface="JetBrains Mono"/>
                        </a:rPr>
                        <a:t>execute_tool lookup_ticket</a:t>
                      </a:r>
                    </a:p>
                  </a:txBody>
                  <a:tcPr marL="91440" marR="91440" marT="45720" marB="45720" anchor="ctr">
                    <a:solidFill>
                      <a:srgbClr val="0F1E35"/>
                    </a:solidFill>
                  </a:tcPr>
                </a:tc>
              </a:tr>
              <a:tr h="438912">
                <a:tc>
                  <a:txBody>
                    <a:bodyPr wrap="square"/>
                    <a:lstStyle/>
                    <a:p>
                      <a:r>
                        <a:rPr sz="1400" b="1">
                          <a:solidFill>
                            <a:srgbClr val="FFFFFF"/>
                          </a:solidFill>
                          <a:latin typeface="Inter"/>
                        </a:rPr>
                        <a:t>Agent run</a:t>
                      </a:r>
                    </a:p>
                  </a:txBody>
                  <a:tcPr marL="91440" marR="91440" marT="45720" marB="45720" anchor="ctr">
                    <a:solidFill>
                      <a:srgbClr val="1A2742"/>
                    </a:solidFill>
                  </a:tcPr>
                </a:tc>
                <a:tc>
                  <a:txBody>
                    <a:bodyPr wrap="square"/>
                    <a:lstStyle/>
                    <a:p>
                      <a:r>
                        <a:rPr sz="1288" b="0">
                          <a:solidFill>
                            <a:srgbClr val="00D4AA"/>
                          </a:solidFill>
                          <a:latin typeface="JetBrains Mono"/>
                        </a:rPr>
                        <a:t>invoke_agent {agent name}</a:t>
                      </a:r>
                    </a:p>
                  </a:txBody>
                  <a:tcPr marL="91440" marR="91440" marT="45720" marB="45720" anchor="ctr">
                    <a:solidFill>
                      <a:srgbClr val="1A2742"/>
                    </a:solidFill>
                  </a:tcPr>
                </a:tc>
                <a:tc>
                  <a:txBody>
                    <a:bodyPr wrap="square"/>
                    <a:lstStyle/>
                    <a:p>
                      <a:r>
                        <a:rPr sz="1288" b="0">
                          <a:solidFill>
                            <a:srgbClr val="00D4AA"/>
                          </a:solidFill>
                          <a:latin typeface="JetBrains Mono"/>
                        </a:rPr>
                        <a:t>invoke_agent atlas</a:t>
                      </a:r>
                    </a:p>
                  </a:txBody>
                  <a:tcPr marL="91440" marR="91440" marT="45720" marB="45720" anchor="ctr">
                    <a:solidFill>
                      <a:srgbClr val="1A2742"/>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400" b="1">
                <a:solidFill>
                  <a:srgbClr val="FFFFFF"/>
                </a:solidFill>
                <a:latin typeface="Inter"/>
              </a:rPr>
              <a:t>Model call attributes (Atlas's step 1 call, from the console exporter)</a:t>
            </a:r>
          </a:p>
        </p:txBody>
      </p:sp>
      <p:sp>
        <p:nvSpPr>
          <p:cNvPr id="4" name="Rectangle 3"/>
          <p:cNvSpPr/>
          <p:nvPr/>
        </p:nvSpPr>
        <p:spPr>
          <a:xfrm>
            <a:off x="502920" y="1365269"/>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667021"/>
            <a:ext cx="11292840" cy="4322298"/>
          </a:xfrm>
          <a:prstGeom prst="roundRect">
            <a:avLst>
              <a:gd name="adj" fmla="val 1184"/>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57200" y="1667021"/>
            <a:ext cx="54864" cy="4322298"/>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5800" y="1740173"/>
            <a:ext cx="10927080" cy="320040"/>
          </a:xfrm>
          <a:prstGeom prst="rect">
            <a:avLst/>
          </a:prstGeom>
          <a:noFill/>
        </p:spPr>
        <p:txBody>
          <a:bodyPr wrap="square" lIns="45720" rIns="45720" tIns="27432" bIns="27432" anchor="t">
            <a:spAutoFit/>
          </a:bodyPr>
          <a:lstStyle/>
          <a:p>
            <a:r>
              <a:rPr sz="1000" b="0">
                <a:solidFill>
                  <a:srgbClr val="94A3B8"/>
                </a:solidFill>
                <a:latin typeface="JetBrains Mono"/>
              </a:rPr>
              <a:t>text</a:t>
            </a:r>
          </a:p>
        </p:txBody>
      </p:sp>
      <p:sp>
        <p:nvSpPr>
          <p:cNvPr id="8" name="TextBox 7"/>
          <p:cNvSpPr txBox="1"/>
          <p:nvPr/>
        </p:nvSpPr>
        <p:spPr>
          <a:xfrm>
            <a:off x="685800" y="2078501"/>
            <a:ext cx="10927080" cy="3865098"/>
          </a:xfrm>
          <a:prstGeom prst="rect">
            <a:avLst/>
          </a:prstGeom>
          <a:noFill/>
        </p:spPr>
        <p:txBody>
          <a:bodyPr wrap="none" lIns="45720" rIns="45720" tIns="27432" bIns="27432" anchor="t">
            <a:spAutoFit/>
          </a:bodyPr>
          <a:lstStyle/>
          <a:p>
            <a:r>
              <a:rPr sz="1400">
                <a:solidFill>
                  <a:srgbClr val="FFFFFF"/>
                </a:solidFill>
                <a:latin typeface="JetBrains Mono"/>
              </a:rPr>
              <a:t>gen_ai.operation.name          "chat"</a:t>
            </a:r>
          </a:p>
          <a:p>
            <a:r>
              <a:rPr sz="1400">
                <a:solidFill>
                  <a:srgbClr val="FFFFFF"/>
                </a:solidFill>
                <a:latin typeface="JetBrains Mono"/>
              </a:rPr>
              <a:t>gen_ai.provider.name           "openai"</a:t>
            </a:r>
          </a:p>
          <a:p>
            <a:r>
              <a:rPr sz="1400">
                <a:solidFill>
                  <a:srgbClr val="FFFFFF"/>
                </a:solidFill>
                <a:latin typeface="JetBrains Mono"/>
              </a:rPr>
              <a:t>gen_ai.request.model           "gpt-4.1-mini"</a:t>
            </a:r>
          </a:p>
          <a:p>
            <a:r>
              <a:rPr sz="1400">
                <a:solidFill>
                  <a:srgbClr val="FFFFFF"/>
                </a:solidFill>
                <a:latin typeface="JetBrains Mono"/>
              </a:rPr>
              <a:t>gen_ai.response.model          "gpt-4.1-mini-2025-04-14"</a:t>
            </a:r>
          </a:p>
          <a:p>
            <a:r>
              <a:rPr sz="1400">
                <a:solidFill>
                  <a:srgbClr val="FFFFFF"/>
                </a:solidFill>
                <a:latin typeface="JetBrains Mono"/>
              </a:rPr>
              <a:t>gen_ai.usage.input_tokens      3262</a:t>
            </a:r>
          </a:p>
          <a:p>
            <a:r>
              <a:rPr sz="1400">
                <a:solidFill>
                  <a:srgbClr val="FFFFFF"/>
                </a:solidFill>
                <a:latin typeface="JetBrains Mono"/>
              </a:rPr>
              <a:t>gen_ai.usage.output_tokens     44</a:t>
            </a:r>
          </a:p>
          <a:p>
            <a:r>
              <a:rPr sz="1400">
                <a:solidFill>
                  <a:srgbClr val="FFFFFF"/>
                </a:solidFill>
                <a:latin typeface="JetBrains Mono"/>
              </a:rPr>
              <a:t>gen_ai.usage.cache_read.input_tokens      (set only when &gt; 0)</a:t>
            </a:r>
          </a:p>
          <a:p>
            <a:r>
              <a:rPr sz="1400">
                <a:solidFill>
                  <a:srgbClr val="FFFFFF"/>
                </a:solidFill>
                <a:latin typeface="JetBrains Mono"/>
              </a:rPr>
              <a:t>gen_ai.usage.reasoning.output_tokens      (set only when &gt; 0)</a:t>
            </a:r>
          </a:p>
          <a:p>
            <a:r>
              <a:rPr sz="1400">
                <a:solidFill>
                  <a:srgbClr val="FFFFFF"/>
                </a:solidFill>
                <a:latin typeface="JetBrains Mono"/>
              </a:rPr>
              <a:t>gen_ai.response.finish_reasons ["tool_calls"]</a:t>
            </a:r>
          </a:p>
        </p:txBody>
      </p:sp>
      <p:sp>
        <p:nvSpPr>
          <p:cNvPr id="9" name="TextBox 8"/>
          <p:cNvSpPr txBox="1"/>
          <p:nvPr/>
        </p:nvSpPr>
        <p:spPr>
          <a:xfrm>
            <a:off x="457200" y="6053328"/>
            <a:ext cx="11247120" cy="365760"/>
          </a:xfrm>
          <a:prstGeom prst="rect">
            <a:avLst/>
          </a:prstGeom>
          <a:noFill/>
        </p:spPr>
        <p:txBody>
          <a:bodyPr wrap="square" lIns="45720" rIns="45720" tIns="27432" bIns="27432" anchor="t">
            <a:spAutoFit/>
          </a:bodyPr>
          <a:lstStyle/>
          <a:p>
            <a:r>
              <a:rPr sz="1100" b="0">
                <a:solidFill>
                  <a:srgbClr val="94A3B8"/>
                </a:solidFill>
                <a:latin typeface="Inter"/>
              </a:rPr>
              <a:t>incubating, names may change.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Tool call attributes (the ticket question)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325880"/>
            <a:ext cx="1129284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5720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5800" y="1399032"/>
            <a:ext cx="10927080" cy="320040"/>
          </a:xfrm>
          <a:prstGeom prst="rect">
            <a:avLst/>
          </a:prstGeom>
          <a:noFill/>
        </p:spPr>
        <p:txBody>
          <a:bodyPr wrap="square" lIns="45720" rIns="45720" tIns="27432" bIns="27432" anchor="t">
            <a:spAutoFit/>
          </a:bodyPr>
          <a:lstStyle/>
          <a:p>
            <a:r>
              <a:rPr sz="1000" b="0">
                <a:solidFill>
                  <a:srgbClr val="94A3B8"/>
                </a:solidFill>
                <a:latin typeface="JetBrains Mono"/>
              </a:rPr>
              <a:t>text</a:t>
            </a:r>
          </a:p>
        </p:txBody>
      </p:sp>
      <p:sp>
        <p:nvSpPr>
          <p:cNvPr id="8" name="TextBox 7"/>
          <p:cNvSpPr txBox="1"/>
          <p:nvPr/>
        </p:nvSpPr>
        <p:spPr>
          <a:xfrm>
            <a:off x="685800" y="1737360"/>
            <a:ext cx="10927080" cy="4526280"/>
          </a:xfrm>
          <a:prstGeom prst="rect">
            <a:avLst/>
          </a:prstGeom>
          <a:noFill/>
        </p:spPr>
        <p:txBody>
          <a:bodyPr wrap="none" lIns="45720" rIns="45720" tIns="27432" bIns="27432" anchor="t">
            <a:spAutoFit/>
          </a:bodyPr>
          <a:lstStyle/>
          <a:p>
            <a:r>
              <a:rPr sz="1000">
                <a:solidFill>
                  <a:srgbClr val="FFFFFF"/>
                </a:solidFill>
                <a:latin typeface="JetBrains Mono"/>
              </a:rPr>
              <a:t>gen_ai.operation.name       "execute_tool"</a:t>
            </a:r>
          </a:p>
          <a:p>
            <a:r>
              <a:rPr sz="1000">
                <a:solidFill>
                  <a:srgbClr val="FFFFFF"/>
                </a:solidFill>
                <a:latin typeface="JetBrains Mono"/>
              </a:rPr>
              <a:t>gen_ai.tool.name            "lookup_ticket"</a:t>
            </a:r>
          </a:p>
          <a:p>
            <a:r>
              <a:rPr sz="1000">
                <a:solidFill>
                  <a:srgbClr val="FFFFFF"/>
                </a:solidFill>
                <a:latin typeface="JetBrains Mono"/>
              </a:rPr>
              <a:t>gen_ai.tool.call.id         "call_763770efa5"</a:t>
            </a:r>
          </a:p>
          <a:p>
            <a:r>
              <a:rPr sz="1000">
                <a:solidFill>
                  <a:srgbClr val="FFFFFF"/>
                </a:solidFill>
                <a:latin typeface="JetBrains Mono"/>
              </a:rPr>
              <a:t>gen_ai.tool.call.arguments  {"ticket_id": "TCK-100231"}</a:t>
            </a:r>
          </a:p>
          <a:p>
            <a:r>
              <a:rPr sz="1000">
                <a:solidFill>
                  <a:srgbClr val="FFFFFF"/>
                </a:solidFill>
                <a:latin typeface="JetBrains Mono"/>
              </a:rPr>
              <a:t>gen_ai.tool.call.result     {"error": "not_found", "ticket_id": "TCK-100231"}   (masked, clipped)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Agent and conversation attributes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02336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The conventions also define </a:t>
            </a:r>
            <a:r>
              <a:rPr sz="1472" b="0">
                <a:solidFill>
                  <a:srgbClr val="00D4AA"/>
                </a:solidFill>
                <a:latin typeface="JetBrains Mono"/>
              </a:rPr>
              <a:t>gen_ai.agent.version</a:t>
            </a:r>
            <a:r>
              <a:rPr sz="1600" b="0">
                <a:solidFill>
                  <a:srgbClr val="FFFFFF"/>
                </a:solidFill>
                <a:latin typeface="Inter"/>
              </a:rPr>
              <a:t>; Atlas records its prompt version as </a:t>
            </a:r>
            <a:r>
              <a:rPr sz="1472" b="0">
                <a:solidFill>
                  <a:srgbClr val="00D4AA"/>
                </a:solidFill>
                <a:latin typeface="JetBrains Mono"/>
              </a:rPr>
              <a:t>atlas.prompt_version</a:t>
            </a:r>
          </a:p>
        </p:txBody>
      </p:sp>
      <p:sp>
        <p:nvSpPr>
          <p:cNvPr id="6" name="Rounded Rectangle 5"/>
          <p:cNvSpPr/>
          <p:nvPr/>
        </p:nvSpPr>
        <p:spPr>
          <a:xfrm>
            <a:off x="4663440" y="1325880"/>
            <a:ext cx="708660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66344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92040" y="1399032"/>
            <a:ext cx="6720840" cy="320040"/>
          </a:xfrm>
          <a:prstGeom prst="rect">
            <a:avLst/>
          </a:prstGeom>
          <a:noFill/>
        </p:spPr>
        <p:txBody>
          <a:bodyPr wrap="square" lIns="45720" rIns="45720" tIns="27432" bIns="27432" anchor="t">
            <a:spAutoFit/>
          </a:bodyPr>
          <a:lstStyle/>
          <a:p>
            <a:r>
              <a:rPr sz="1000" b="0">
                <a:solidFill>
                  <a:srgbClr val="94A3B8"/>
                </a:solidFill>
                <a:latin typeface="JetBrains Mono"/>
              </a:rPr>
              <a:t>text</a:t>
            </a:r>
          </a:p>
        </p:txBody>
      </p:sp>
      <p:sp>
        <p:nvSpPr>
          <p:cNvPr id="9" name="TextBox 8"/>
          <p:cNvSpPr txBox="1"/>
          <p:nvPr/>
        </p:nvSpPr>
        <p:spPr>
          <a:xfrm>
            <a:off x="4892040" y="1737360"/>
            <a:ext cx="6720840" cy="4526280"/>
          </a:xfrm>
          <a:prstGeom prst="rect">
            <a:avLst/>
          </a:prstGeom>
          <a:noFill/>
        </p:spPr>
        <p:txBody>
          <a:bodyPr wrap="none" lIns="45720" rIns="45720" tIns="27432" bIns="27432" anchor="t">
            <a:spAutoFit/>
          </a:bodyPr>
          <a:lstStyle/>
          <a:p>
            <a:r>
              <a:rPr sz="1400">
                <a:solidFill>
                  <a:srgbClr val="FFFFFF"/>
                </a:solidFill>
                <a:latin typeface="JetBrains Mono"/>
              </a:rPr>
              <a:t>gen_ai.operation.name    "invoke_agent"</a:t>
            </a:r>
          </a:p>
          <a:p>
            <a:r>
              <a:rPr sz="1400">
                <a:solidFill>
                  <a:srgbClr val="FFFFFF"/>
                </a:solidFill>
                <a:latin typeface="JetBrains Mono"/>
              </a:rPr>
              <a:t>gen_ai.agent.name        "atlas"</a:t>
            </a:r>
          </a:p>
          <a:p>
            <a:r>
              <a:rPr sz="1400">
                <a:solidFill>
                  <a:srgbClr val="FFFFFF"/>
                </a:solidFill>
                <a:latin typeface="JetBrains Mono"/>
              </a:rPr>
              <a:t>gen_ai.provider.name     "openai"</a:t>
            </a:r>
          </a:p>
          <a:p>
            <a:r>
              <a:rPr sz="1400">
                <a:solidFill>
                  <a:srgbClr val="FFFFFF"/>
                </a:solidFill>
                <a:latin typeface="JetBrains Mono"/>
              </a:rPr>
              <a:t>gen_ai.conversation.id   "sess-demo-1"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Constants, not strings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02336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472" b="0">
                <a:solidFill>
                  <a:srgbClr val="00D4AA"/>
                </a:solidFill>
                <a:latin typeface="JetBrains Mono"/>
              </a:rPr>
              <a:t>_incubating</a:t>
            </a:r>
            <a:r>
              <a:rPr sz="1600" b="0">
                <a:solidFill>
                  <a:srgbClr val="FFFFFF"/>
                </a:solidFill>
                <a:latin typeface="Inter"/>
              </a:rPr>
              <a:t> in the path is deliberate: these names are not stable yet</a:t>
            </a:r>
          </a:p>
          <a:p>
            <a:pPr marL="292608" indent="-292608">
              <a:lnSpc>
                <a:spcPct val="120000"/>
              </a:lnSpc>
              <a:spcAft>
                <a:spcPts val="1120"/>
              </a:spcAft>
              <a:buClr>
                <a:srgbClr val="00D4AA"/>
              </a:buClr>
              <a:buFont typeface="Inter"/>
              <a:buChar char="•"/>
            </a:pPr>
            <a:r>
              <a:rPr sz="1600" b="0">
                <a:solidFill>
                  <a:srgbClr val="FFFFFF"/>
                </a:solidFill>
                <a:latin typeface="Inter"/>
              </a:rPr>
              <a:t>A constant renames with the package; a string typo is a silent hole in your dashboard</a:t>
            </a:r>
          </a:p>
        </p:txBody>
      </p:sp>
      <p:sp>
        <p:nvSpPr>
          <p:cNvPr id="6" name="Rounded Rectangle 5"/>
          <p:cNvSpPr/>
          <p:nvPr/>
        </p:nvSpPr>
        <p:spPr>
          <a:xfrm>
            <a:off x="4663440" y="1325880"/>
            <a:ext cx="708660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66344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92040" y="1399032"/>
            <a:ext cx="6720840" cy="320040"/>
          </a:xfrm>
          <a:prstGeom prst="rect">
            <a:avLst/>
          </a:prstGeom>
          <a:noFill/>
        </p:spPr>
        <p:txBody>
          <a:bodyPr wrap="square" lIns="45720" rIns="45720" tIns="27432" bIns="27432" anchor="t">
            <a:spAutoFit/>
          </a:bodyPr>
          <a:lstStyle/>
          <a:p>
            <a:r>
              <a:rPr sz="1000" b="0">
                <a:solidFill>
                  <a:srgbClr val="94A3B8"/>
                </a:solidFill>
                <a:latin typeface="JetBrains Mono"/>
              </a:rPr>
              <a:t>python</a:t>
            </a:r>
          </a:p>
        </p:txBody>
      </p:sp>
      <p:sp>
        <p:nvSpPr>
          <p:cNvPr id="9" name="TextBox 8"/>
          <p:cNvSpPr txBox="1"/>
          <p:nvPr/>
        </p:nvSpPr>
        <p:spPr>
          <a:xfrm>
            <a:off x="4892040" y="1737360"/>
            <a:ext cx="6720840" cy="4526280"/>
          </a:xfrm>
          <a:prstGeom prst="rect">
            <a:avLst/>
          </a:prstGeom>
          <a:noFill/>
        </p:spPr>
        <p:txBody>
          <a:bodyPr wrap="none" lIns="45720" rIns="45720" tIns="27432" bIns="27432" anchor="t">
            <a:spAutoFit/>
          </a:bodyPr>
          <a:lstStyle/>
          <a:p>
            <a:r>
              <a:rPr sz="1200">
                <a:solidFill>
                  <a:srgbClr val="FFFFFF"/>
                </a:solidFill>
                <a:latin typeface="JetBrains Mono"/>
              </a:rPr>
              <a:t>from opentelemetry.semconv._incubating.attributes import gen_ai_attributes as g</a:t>
            </a:r>
          </a:p>
          <a:p>
            <a:r>
              <a:rPr sz="1200">
                <a:solidFill>
                  <a:srgbClr val="FFFFFF"/>
                </a:solidFill>
                <a:latin typeface="JetBrains Mono"/>
              </a:rPr>
              <a:t> </a:t>
            </a:r>
          </a:p>
          <a:p>
            <a:r>
              <a:rPr sz="1200">
                <a:solidFill>
                  <a:srgbClr val="FFFFFF"/>
                </a:solidFill>
                <a:latin typeface="JetBrains Mono"/>
              </a:rPr>
              <a:t>span.set_attribute(g.GEN_AI_REQUEST_MODEL, "gpt-4.1-mini")</a:t>
            </a:r>
          </a:p>
          <a:p>
            <a:r>
              <a:rPr sz="1200">
                <a:solidFill>
                  <a:srgbClr val="FFFFFF"/>
                </a:solidFill>
                <a:latin typeface="JetBrains Mono"/>
              </a:rPr>
              <a:t>span.set_attribute(g.GEN_AI_USAGE_INPUT_TOKENS, 3262)</a:t>
            </a:r>
          </a:p>
          <a:p>
            <a:r>
              <a:rPr sz="1200">
                <a:solidFill>
                  <a:srgbClr val="FFFFFF"/>
                </a:solidFill>
                <a:latin typeface="JetBrains Mono"/>
              </a:rPr>
              <a:t>span.set_attribute(g.GEN_AI_OPERATION_NAME, g.GenAiOperationNameValues.CHAT.value)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"incubating" means for you</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Stable conventions (HTTP, DB) have compatibility guarantees. GenAI does not yet.</a:t>
            </a:r>
          </a:p>
          <a:p>
            <a:pPr marL="292608" indent="-292608">
              <a:lnSpc>
                <a:spcPct val="120000"/>
              </a:lnSpc>
              <a:spcAft>
                <a:spcPts val="1260"/>
              </a:spcAft>
              <a:buClr>
                <a:srgbClr val="00D4AA"/>
              </a:buClr>
              <a:buFont typeface="Inter"/>
              <a:buChar char="•"/>
            </a:pPr>
            <a:r>
              <a:rPr sz="1800" b="0">
                <a:solidFill>
                  <a:srgbClr val="FFFFFF"/>
                </a:solidFill>
                <a:latin typeface="Inter"/>
              </a:rPr>
              <a:t>Expect renames between minor versions; pin the package, read the changelog</a:t>
            </a:r>
          </a:p>
          <a:p>
            <a:pPr marL="292608" indent="-292608">
              <a:lnSpc>
                <a:spcPct val="120000"/>
              </a:lnSpc>
              <a:spcAft>
                <a:spcPts val="1260"/>
              </a:spcAft>
              <a:buClr>
                <a:srgbClr val="00D4AA"/>
              </a:buClr>
              <a:buFont typeface="Inter"/>
              <a:buChar char="•"/>
            </a:pPr>
            <a:r>
              <a:rPr sz="1800" b="0">
                <a:solidFill>
                  <a:srgbClr val="FFFFFF"/>
                </a:solidFill>
                <a:latin typeface="Inter"/>
              </a:rPr>
              <a:t>Backends may support a range of old and new names; Langfuse maps </a:t>
            </a:r>
            <a:r>
              <a:rPr sz="1656" b="0">
                <a:solidFill>
                  <a:srgbClr val="00D4AA"/>
                </a:solidFill>
                <a:latin typeface="JetBrains Mono"/>
              </a:rPr>
              <a:t>gen_ai.*</a:t>
            </a:r>
            <a:r>
              <a:rPr sz="1800" b="0">
                <a:solidFill>
                  <a:srgbClr val="FFFFFF"/>
                </a:solidFill>
                <a:latin typeface="Inter"/>
              </a:rPr>
              <a:t> today</a:t>
            </a:r>
          </a:p>
          <a:p>
            <a:pPr marL="292608" indent="-292608">
              <a:lnSpc>
                <a:spcPct val="120000"/>
              </a:lnSpc>
              <a:spcAft>
                <a:spcPts val="1260"/>
              </a:spcAft>
              <a:buClr>
                <a:srgbClr val="00D4AA"/>
              </a:buClr>
              <a:buFont typeface="Inter"/>
              <a:buChar char="•"/>
            </a:pPr>
            <a:r>
              <a:rPr sz="1800" b="0">
                <a:solidFill>
                  <a:srgbClr val="FFFFFF"/>
                </a:solidFill>
                <a:latin typeface="Inter"/>
              </a:rPr>
              <a:t>Say it on every dashboard: "GenAI semconv 0.66; names may change"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Why this buys portability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673860" y="1325880"/>
            <a:ext cx="8859520" cy="4983480"/>
          </a:xfrm>
          <a:prstGeom prst="roundRect">
            <a:avLst>
              <a:gd name="adj" fmla="val 1027"/>
            </a:avLst>
          </a:prstGeom>
          <a:solidFill>
            <a:srgbClr val="0F1E35"/>
          </a:solidFill>
          <a:ln w="19050">
            <a:solidFill>
              <a:srgbClr val="FFB02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948180" y="1508760"/>
            <a:ext cx="8310880" cy="365760"/>
          </a:xfrm>
          <a:prstGeom prst="rect">
            <a:avLst/>
          </a:prstGeom>
          <a:noFill/>
        </p:spPr>
        <p:txBody>
          <a:bodyPr wrap="square" lIns="45720" rIns="45720" tIns="27432" bIns="27432" anchor="t">
            <a:spAutoFit/>
          </a:bodyPr>
          <a:lstStyle/>
          <a:p>
            <a:r>
              <a:rPr sz="1100" b="1">
                <a:solidFill>
                  <a:srgbClr val="FFB020"/>
                </a:solidFill>
                <a:latin typeface="Inter"/>
              </a:rPr>
              <a:t>DIAGRAM TO BUILD</a:t>
            </a:r>
          </a:p>
        </p:txBody>
      </p:sp>
      <p:sp>
        <p:nvSpPr>
          <p:cNvPr id="7" name="TextBox 6"/>
          <p:cNvSpPr txBox="1"/>
          <p:nvPr/>
        </p:nvSpPr>
        <p:spPr>
          <a:xfrm>
            <a:off x="1948180" y="1920240"/>
            <a:ext cx="8310880" cy="4251960"/>
          </a:xfrm>
          <a:prstGeom prst="rect">
            <a:avLst/>
          </a:prstGeom>
          <a:noFill/>
        </p:spPr>
        <p:txBody>
          <a:bodyPr wrap="square" lIns="45720" rIns="45720" tIns="27432" bIns="27432" anchor="t">
            <a:spAutoFit/>
          </a:bodyPr>
          <a:lstStyle/>
          <a:p>
            <a:pPr>
              <a:lnSpc>
                <a:spcPct val="125000"/>
              </a:lnSpc>
            </a:pPr>
            <a:r>
              <a:rPr sz="1500" b="0">
                <a:solidFill>
                  <a:srgbClr val="CBD5E1"/>
                </a:solidFill>
                <a:latin typeface="Inter"/>
              </a:rPr>
              <a:t>Diagram: Atlas emits one span with </a:t>
            </a:r>
            <a:r>
              <a:rPr sz="1380" b="0">
                <a:solidFill>
                  <a:srgbClr val="00D4AA"/>
                </a:solidFill>
                <a:latin typeface="JetBrains Mono"/>
              </a:rPr>
              <a:t>gen_ai.usage.input_tokens=3262</a:t>
            </a:r>
            <a:r>
              <a:rPr sz="1500" b="0">
                <a:solidFill>
                  <a:srgbClr val="CBD5E1"/>
                </a:solidFill>
                <a:latin typeface="Inter"/>
              </a:rPr>
              <a:t>. Arrows to Langfuse ("shows usage"), Phoenix ("shows tokens"), Grafana via collector ("metrics from spans"), Datadog ("LLM Observability"). Caption: same span, four backends, zero code changes.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conventions name metrics too</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325880"/>
            <a:ext cx="11292840" cy="4663440"/>
          </a:xfrm>
          <a:prstGeom prst="roundRect">
            <a:avLst>
              <a:gd name="adj" fmla="val 1098"/>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57200" y="1325880"/>
            <a:ext cx="54864" cy="466344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5800" y="1399032"/>
            <a:ext cx="10927080" cy="320040"/>
          </a:xfrm>
          <a:prstGeom prst="rect">
            <a:avLst/>
          </a:prstGeom>
          <a:noFill/>
        </p:spPr>
        <p:txBody>
          <a:bodyPr wrap="square" lIns="45720" rIns="45720" tIns="27432" bIns="27432" anchor="t">
            <a:spAutoFit/>
          </a:bodyPr>
          <a:lstStyle/>
          <a:p>
            <a:r>
              <a:rPr sz="1000" b="0">
                <a:solidFill>
                  <a:srgbClr val="94A3B8"/>
                </a:solidFill>
                <a:latin typeface="JetBrains Mono"/>
              </a:rPr>
              <a:t>python</a:t>
            </a:r>
          </a:p>
        </p:txBody>
      </p:sp>
      <p:sp>
        <p:nvSpPr>
          <p:cNvPr id="8" name="TextBox 7"/>
          <p:cNvSpPr txBox="1"/>
          <p:nvPr/>
        </p:nvSpPr>
        <p:spPr>
          <a:xfrm>
            <a:off x="685800" y="1737360"/>
            <a:ext cx="10927080" cy="4206240"/>
          </a:xfrm>
          <a:prstGeom prst="rect">
            <a:avLst/>
          </a:prstGeom>
          <a:noFill/>
        </p:spPr>
        <p:txBody>
          <a:bodyPr wrap="none" lIns="45720" rIns="45720" tIns="27432" bIns="27432" anchor="t">
            <a:spAutoFit/>
          </a:bodyPr>
          <a:lstStyle/>
          <a:p>
            <a:r>
              <a:rPr sz="1000">
                <a:solidFill>
                  <a:srgbClr val="FFFFFF"/>
                </a:solidFill>
                <a:latin typeface="JetBrains Mono"/>
              </a:rPr>
              <a:t>from opentelemetry.semconv._incubating.metrics import gen_ai_metrics as gm</a:t>
            </a:r>
          </a:p>
          <a:p>
            <a:r>
              <a:rPr sz="1000">
                <a:solidFill>
                  <a:srgbClr val="FFFFFF"/>
                </a:solidFill>
                <a:latin typeface="JetBrains Mono"/>
              </a:rPr>
              <a:t> </a:t>
            </a:r>
          </a:p>
          <a:p>
            <a:r>
              <a:rPr sz="1000">
                <a:solidFill>
                  <a:srgbClr val="FFFFFF"/>
                </a:solidFill>
                <a:latin typeface="JetBrains Mono"/>
              </a:rPr>
              <a:t>gm.GEN_AI_CLIENT_TOKEN_USAGE                    # "gen_ai.client.token.usage"  (histogram, by gen_ai.token.type)</a:t>
            </a:r>
          </a:p>
          <a:p>
            <a:r>
              <a:rPr sz="1000">
                <a:solidFill>
                  <a:srgbClr val="FFFFFF"/>
                </a:solidFill>
                <a:latin typeface="JetBrains Mono"/>
              </a:rPr>
              <a:t>gm.GEN_AI_CLIENT_OPERATION_DURATION             # "gen_ai.client.operation.duration"</a:t>
            </a:r>
          </a:p>
          <a:p>
            <a:r>
              <a:rPr sz="1000">
                <a:solidFill>
                  <a:srgbClr val="FFFFFF"/>
                </a:solidFill>
                <a:latin typeface="JetBrains Mono"/>
              </a:rPr>
              <a:t>gm.GEN_AI_CLIENT_OPERATION_TIME_TO_FIRST_CHUNK  # "gen_ai.client.operation.time_to_first_chunk"</a:t>
            </a:r>
          </a:p>
        </p:txBody>
      </p:sp>
      <p:sp>
        <p:nvSpPr>
          <p:cNvPr id="9" name="TextBox 8"/>
          <p:cNvSpPr txBox="1"/>
          <p:nvPr/>
        </p:nvSpPr>
        <p:spPr>
          <a:xfrm>
            <a:off x="457200" y="6053328"/>
            <a:ext cx="11247120" cy="365760"/>
          </a:xfrm>
          <a:prstGeom prst="rect">
            <a:avLst/>
          </a:prstGeom>
          <a:noFill/>
        </p:spPr>
        <p:txBody>
          <a:bodyPr wrap="square" lIns="45720" rIns="45720" tIns="27432" bIns="27432" anchor="t">
            <a:spAutoFit/>
          </a:bodyPr>
          <a:lstStyle/>
          <a:p>
            <a:r>
              <a:rPr sz="1100" b="0">
                <a:solidFill>
                  <a:srgbClr val="94A3B8"/>
                </a:solidFill>
                <a:latin typeface="Inter"/>
              </a:rPr>
              <a:t>incubating, names may change.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the conventions don't cover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Cost in dollars: not a standard attribute; Atlas sets </a:t>
            </a:r>
            <a:r>
              <a:rPr sz="1656" b="0">
                <a:solidFill>
                  <a:srgbClr val="00D4AA"/>
                </a:solidFill>
                <a:latin typeface="JetBrains Mono"/>
              </a:rPr>
              <a:t>atlas.cost_usd</a:t>
            </a:r>
            <a:r>
              <a:rPr sz="1800" b="0">
                <a:solidFill>
                  <a:srgbClr val="FFFFFF"/>
                </a:solidFill>
                <a:latin typeface="Inter"/>
              </a:rPr>
              <a:t> and Langfuse's </a:t>
            </a:r>
            <a:r>
              <a:rPr sz="1656" b="0">
                <a:solidFill>
                  <a:srgbClr val="00D4AA"/>
                </a:solidFill>
                <a:latin typeface="JetBrains Mono"/>
              </a:rPr>
              <a:t>cost_details</a:t>
            </a:r>
            <a:r>
              <a:rPr sz="1800" b="0">
                <a:solidFill>
                  <a:srgbClr val="FFFFFF"/>
                </a:solidFill>
                <a:latin typeface="Inter"/>
              </a:rPr>
              <a:t> (6.2)</a:t>
            </a:r>
          </a:p>
          <a:p>
            <a:pPr marL="292608" indent="-292608">
              <a:lnSpc>
                <a:spcPct val="120000"/>
              </a:lnSpc>
              <a:spcAft>
                <a:spcPts val="1260"/>
              </a:spcAft>
              <a:buClr>
                <a:srgbClr val="00D4AA"/>
              </a:buClr>
              <a:buFont typeface="Inter"/>
              <a:buChar char="•"/>
            </a:pPr>
            <a:r>
              <a:rPr sz="1800" b="0">
                <a:solidFill>
                  <a:srgbClr val="FFFFFF"/>
                </a:solidFill>
                <a:latin typeface="Inter"/>
              </a:rPr>
              <a:t>Your business dimensions: tenant, feature, ticket type → your own namespace, </a:t>
            </a:r>
            <a:r>
              <a:rPr sz="1656" b="0">
                <a:solidFill>
                  <a:srgbClr val="00D4AA"/>
                </a:solidFill>
                <a:latin typeface="JetBrains Mono"/>
              </a:rPr>
              <a:t>atlas.*</a:t>
            </a:r>
          </a:p>
          <a:p>
            <a:pPr marL="292608" indent="-292608">
              <a:lnSpc>
                <a:spcPct val="120000"/>
              </a:lnSpc>
              <a:spcAft>
                <a:spcPts val="1260"/>
              </a:spcAft>
              <a:buClr>
                <a:srgbClr val="00D4AA"/>
              </a:buClr>
              <a:buFont typeface="Inter"/>
              <a:buChar char="•"/>
            </a:pPr>
            <a:r>
              <a:rPr sz="1800" b="0">
                <a:solidFill>
                  <a:srgbClr val="FFFFFF"/>
                </a:solidFill>
                <a:latin typeface="Inter"/>
              </a:rPr>
              <a:t>Quality scores: a backend feature, not a span attribute (4.5)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3.3</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Standard names for models, tokens, tools, agents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Constants from the incubating package, never strings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Your own dimensions in your own namespace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Code-along: tag every LLM, tool and agent span correctly</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a code-along through </a:t>
            </a:r>
            <a:r>
              <a:rPr sz="1288" b="0">
                <a:solidFill>
                  <a:srgbClr val="00D4AA"/>
                </a:solidFill>
                <a:latin typeface="JetBrains Mono"/>
              </a:rPr>
              <a:t>genai_attrs.py</a:t>
            </a:r>
            <a:r>
              <a:rPr sz="1400" b="0">
                <a:solidFill>
                  <a:srgbClr val="94A3B8"/>
                </a:solidFill>
                <a:latin typeface="Inter"/>
              </a:rPr>
              <a:t>: the setters that tag every model, tool and agent span, and the test…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3 · TRACING FUNDAMENTALS AND THE GENAI SEMANTIC CONVENTIONS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3.4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Code-along: tag every LLM, tool and agent span correctly</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Read the span-name helpers and the setters in </a:t>
            </a:r>
            <a:r>
              <a:rPr sz="1472" b="0">
                <a:solidFill>
                  <a:srgbClr val="00D4AA"/>
                </a:solidFill>
                <a:latin typeface="JetBrains Mono"/>
              </a:rPr>
              <a:t>telemetry/genai_attrs.py</a:t>
            </a:r>
            <a:r>
              <a:rPr sz="1600" b="0">
                <a:solidFill>
                  <a:srgbClr val="CBD5E1"/>
                </a:solidFill>
                <a:latin typeface="Inter"/>
              </a:rPr>
              <a:t>: </a:t>
            </a:r>
            <a:r>
              <a:rPr sz="1472" b="0">
                <a:solidFill>
                  <a:srgbClr val="00D4AA"/>
                </a:solidFill>
                <a:latin typeface="JetBrains Mono"/>
              </a:rPr>
              <a:t>set_llm_request</a:t>
            </a:r>
            <a:r>
              <a:rPr sz="1600" b="0">
                <a:solidFill>
                  <a:srgbClr val="CBD5E1"/>
                </a:solidFill>
                <a:latin typeface="Inter"/>
              </a:rPr>
              <a:t>, </a:t>
            </a:r>
            <a:r>
              <a:rPr sz="1472" b="0">
                <a:solidFill>
                  <a:srgbClr val="00D4AA"/>
                </a:solidFill>
                <a:latin typeface="JetBrains Mono"/>
              </a:rPr>
              <a:t>set_llm_usage</a:t>
            </a:r>
            <a:r>
              <a:rPr sz="1600" b="0">
                <a:solidFill>
                  <a:srgbClr val="CBD5E1"/>
                </a:solidFill>
                <a:latin typeface="Inter"/>
              </a:rPr>
              <a:t>, </a:t>
            </a:r>
            <a:r>
              <a:rPr sz="1472" b="0">
                <a:solidFill>
                  <a:srgbClr val="00D4AA"/>
                </a:solidFill>
                <a:latin typeface="JetBrains Mono"/>
              </a:rPr>
              <a:t>set_cost</a:t>
            </a:r>
            <a:r>
              <a:rPr sz="1600" b="0">
                <a:solidFill>
                  <a:srgbClr val="CBD5E1"/>
                </a:solidFill>
                <a:latin typeface="Inter"/>
              </a:rPr>
              <a:t>, </a:t>
            </a:r>
            <a:r>
              <a:rPr sz="1472" b="0">
                <a:solidFill>
                  <a:srgbClr val="00D4AA"/>
                </a:solidFill>
                <a:latin typeface="JetBrains Mono"/>
              </a:rPr>
              <a:t>set_tool</a:t>
            </a:r>
            <a:r>
              <a:rPr sz="1600" b="0">
                <a:solidFill>
                  <a:srgbClr val="CBD5E1"/>
                </a:solidFill>
                <a:latin typeface="Inter"/>
              </a:rPr>
              <a: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3.4</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Setters own every </a:t>
            </a:r>
            <a:r>
              <a:rPr sz="1656" b="0">
                <a:solidFill>
                  <a:srgbClr val="00D4AA"/>
                </a:solidFill>
                <a:latin typeface="JetBrains Mono"/>
              </a:rPr>
              <a:t>gen_ai.</a:t>
            </a:r>
            <a:r>
              <a:rPr sz="1800" b="1">
                <a:solidFill>
                  <a:srgbClr val="FFFFFF"/>
                </a:solidFill>
                <a:latin typeface="Inter"/>
              </a:rPr>
              <a:t> and </a:t>
            </a:r>
            <a:r>
              <a:rPr sz="1656" b="0">
                <a:solidFill>
                  <a:srgbClr val="00D4AA"/>
                </a:solidFill>
                <a:latin typeface="JetBrains Mono"/>
              </a:rPr>
              <a:t>langfuse.</a:t>
            </a:r>
            <a:r>
              <a:rPr sz="1800" b="1">
                <a:solidFill>
                  <a:srgbClr val="FFFFFF"/>
                </a:solidFill>
                <a:latin typeface="Inter"/>
              </a:rPr>
              <a:t> name</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Three call sites: agent, model call, tool</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A test fails when a setter goes missing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Auto-instrumentation with OpenInference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one line of auto-instrumentation that captures every OpenAI call, and the things it can't know.</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3 · TRACING FUNDAMENTALS AND THE GENAI SEMANTIC CONVENTIONS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3.5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Auto-instrumentation with OpenInference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Instrument the OpenAI client with </a:t>
            </a:r>
            <a:r>
              <a:rPr sz="1472" b="0">
                <a:solidFill>
                  <a:srgbClr val="00D4AA"/>
                </a:solidFill>
                <a:latin typeface="JetBrains Mono"/>
              </a:rPr>
              <a:t>OpenAIInstrumentor().instrument(tracer_provider=...)</a:t>
            </a:r>
            <a:r>
              <a:rPr sz="1600" b="0">
                <a:solidFill>
                  <a:srgbClr val="CBD5E1"/>
                </a:solidFill>
                <a:latin typeface="Inter"/>
              </a:rPr>
              <a:t> through </a:t>
            </a:r>
            <a:r>
              <a:rPr sz="1472" b="0">
                <a:solidFill>
                  <a:srgbClr val="00D4AA"/>
                </a:solidFill>
                <a:latin typeface="JetBrains Mono"/>
              </a:rPr>
              <a:t>instrument_openai</a:t>
            </a:r>
            <a:r>
              <a:rPr sz="1600" b="0">
                <a:solidFill>
                  <a:srgbClr val="CBD5E1"/>
                </a:solidFill>
                <a:latin typeface="Inter"/>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Which instrumentor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We use </a:t>
            </a:r>
            <a:r>
              <a:rPr sz="1656" b="0">
                <a:solidFill>
                  <a:srgbClr val="00D4AA"/>
                </a:solidFill>
                <a:latin typeface="JetBrains Mono"/>
              </a:rPr>
              <a:t>openinference-instrumentation-openai</a:t>
            </a:r>
            <a:r>
              <a:rPr sz="1800" b="0">
                <a:solidFill>
                  <a:srgbClr val="FFFFFF"/>
                </a:solidFill>
                <a:latin typeface="Inter"/>
              </a:rPr>
              <a:t> (Arize's OpenInference project)</a:t>
            </a:r>
          </a:p>
          <a:p>
            <a:pPr marL="292608" indent="-292608">
              <a:lnSpc>
                <a:spcPct val="120000"/>
              </a:lnSpc>
              <a:spcAft>
                <a:spcPts val="1260"/>
              </a:spcAft>
              <a:buClr>
                <a:srgbClr val="00D4AA"/>
              </a:buClr>
              <a:buFont typeface="Inter"/>
              <a:buChar char="•"/>
            </a:pPr>
            <a:r>
              <a:rPr sz="1800" b="0">
                <a:solidFill>
                  <a:srgbClr val="FFFFFF"/>
                </a:solidFill>
                <a:latin typeface="Inter"/>
              </a:rPr>
              <a:t>It patches the OpenAI client and emits one span per call with model, tokens, messages</a:t>
            </a:r>
          </a:p>
          <a:p>
            <a:pPr marL="292608" indent="-292608">
              <a:lnSpc>
                <a:spcPct val="120000"/>
              </a:lnSpc>
              <a:spcAft>
                <a:spcPts val="1260"/>
              </a:spcAft>
              <a:buClr>
                <a:srgbClr val="00D4AA"/>
              </a:buClr>
              <a:buFont typeface="Inter"/>
              <a:buChar char="•"/>
            </a:pPr>
            <a:r>
              <a:rPr sz="1800" b="0">
                <a:solidFill>
                  <a:srgbClr val="FFFFFF"/>
                </a:solidFill>
                <a:latin typeface="Inter"/>
              </a:rPr>
              <a:t>Uses OpenInference attribute names (</a:t>
            </a:r>
            <a:r>
              <a:rPr sz="1656" b="0">
                <a:solidFill>
                  <a:srgbClr val="00D4AA"/>
                </a:solidFill>
                <a:latin typeface="JetBrains Mono"/>
              </a:rPr>
              <a:t>llm.token_count.prompt</a:t>
            </a:r>
            <a:r>
              <a:rPr sz="1800" b="0">
                <a:solidFill>
                  <a:srgbClr val="FFFFFF"/>
                </a:solidFill>
                <a:latin typeface="Inter"/>
              </a:rPr>
              <a:t>, ...); Langfuse and Phoenix both read them</a:t>
            </a:r>
          </a:p>
          <a:p>
            <a:pPr marL="292608" indent="-292608">
              <a:lnSpc>
                <a:spcPct val="120000"/>
              </a:lnSpc>
              <a:spcAft>
                <a:spcPts val="1260"/>
              </a:spcAft>
              <a:buClr>
                <a:srgbClr val="00D4AA"/>
              </a:buClr>
              <a:buFont typeface="Inter"/>
              <a:buChar char="•"/>
            </a:pPr>
            <a:r>
              <a:rPr sz="1800" b="0">
                <a:solidFill>
                  <a:srgbClr val="FFFFFF"/>
                </a:solidFill>
                <a:latin typeface="Inter"/>
              </a:rPr>
              <a:t>Not used: </a:t>
            </a:r>
            <a:r>
              <a:rPr sz="1656" b="0">
                <a:solidFill>
                  <a:srgbClr val="00D4AA"/>
                </a:solidFill>
                <a:latin typeface="JetBrains Mono"/>
              </a:rPr>
              <a:t>opentelemetry-instrumentation-openai-v2</a:t>
            </a:r>
            <a:r>
              <a:rPr sz="1800" b="0">
                <a:solidFill>
                  <a:srgbClr val="FFFFFF"/>
                </a:solidFill>
                <a:latin typeface="Inter"/>
              </a:rPr>
              <a:t> (import error at verification time)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you get for free, and what you don't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1920240"/>
        </p:xfrm>
        <a:graphic>
          <a:graphicData uri="http://schemas.openxmlformats.org/drawingml/2006/table">
            <a:tbl>
              <a:tblPr firstRow="1" bandRow="1">
                <a:tableStyleId>{5C22544A-7EE6-4342-B048-85BDC9FD1C3A}</a:tableStyleId>
              </a:tblPr>
              <a:tblGrid>
                <a:gridCol w="5300720"/>
                <a:gridCol w="5992119"/>
              </a:tblGrid>
              <a:tr h="384048">
                <a:tc>
                  <a:txBody>
                    <a:bodyPr wrap="square"/>
                    <a:lstStyle/>
                    <a:p>
                      <a:r>
                        <a:rPr sz="1200" b="1">
                          <a:solidFill>
                            <a:srgbClr val="0A1628"/>
                          </a:solidFill>
                          <a:latin typeface="Inter"/>
                        </a:rPr>
                        <a:t>Free from the instrumentor</a:t>
                      </a:r>
                    </a:p>
                  </a:txBody>
                  <a:tcPr marL="91440" marR="91440" marT="45720" marB="45720" anchor="ctr">
                    <a:solidFill>
                      <a:srgbClr val="00D4AA"/>
                    </a:solidFill>
                  </a:tcPr>
                </a:tc>
                <a:tc>
                  <a:txBody>
                    <a:bodyPr wrap="square"/>
                    <a:lstStyle/>
                    <a:p>
                      <a:r>
                        <a:rPr sz="1200" b="1">
                          <a:solidFill>
                            <a:srgbClr val="0A1628"/>
                          </a:solidFill>
                          <a:latin typeface="Inter"/>
                        </a:rPr>
                        <a:t>Still yours</a:t>
                      </a:r>
                    </a:p>
                  </a:txBody>
                  <a:tcPr marL="91440" marR="91440" marT="45720" marB="45720" anchor="ctr">
                    <a:solidFill>
                      <a:srgbClr val="00D4AA"/>
                    </a:solidFill>
                  </a:tcPr>
                </a:tc>
              </a:tr>
              <a:tr h="384048">
                <a:tc>
                  <a:txBody>
                    <a:bodyPr wrap="square"/>
                    <a:lstStyle/>
                    <a:p>
                      <a:r>
                        <a:rPr sz="1200" b="1">
                          <a:solidFill>
                            <a:srgbClr val="FFFFFF"/>
                          </a:solidFill>
                          <a:latin typeface="Inter"/>
                        </a:rPr>
                        <a:t>One span per OpenAI call</a:t>
                      </a:r>
                    </a:p>
                  </a:txBody>
                  <a:tcPr marL="91440" marR="91440" marT="45720" marB="45720" anchor="ctr">
                    <a:solidFill>
                      <a:srgbClr val="1A2742"/>
                    </a:solidFill>
                  </a:tcPr>
                </a:tc>
                <a:tc>
                  <a:txBody>
                    <a:bodyPr wrap="square"/>
                    <a:lstStyle/>
                    <a:p>
                      <a:r>
                        <a:rPr sz="1200" b="0">
                          <a:solidFill>
                            <a:srgbClr val="FFFFFF"/>
                          </a:solidFill>
                          <a:latin typeface="Inter"/>
                        </a:rPr>
                        <a:t>The agent span and the step structure</a:t>
                      </a:r>
                    </a:p>
                  </a:txBody>
                  <a:tcPr marL="91440" marR="91440" marT="45720" marB="45720" anchor="ctr">
                    <a:solidFill>
                      <a:srgbClr val="1A2742"/>
                    </a:solidFill>
                  </a:tcPr>
                </a:tc>
              </a:tr>
              <a:tr h="384048">
                <a:tc>
                  <a:txBody>
                    <a:bodyPr wrap="square"/>
                    <a:lstStyle/>
                    <a:p>
                      <a:r>
                        <a:rPr sz="1200" b="1">
                          <a:solidFill>
                            <a:srgbClr val="FFFFFF"/>
                          </a:solidFill>
                          <a:latin typeface="Inter"/>
                        </a:rPr>
                        <a:t>Model, tokens, messages, invocation parameters</a:t>
                      </a:r>
                    </a:p>
                  </a:txBody>
                  <a:tcPr marL="91440" marR="91440" marT="45720" marB="45720" anchor="ctr">
                    <a:solidFill>
                      <a:srgbClr val="0F1E35"/>
                    </a:solidFill>
                  </a:tcPr>
                </a:tc>
                <a:tc>
                  <a:txBody>
                    <a:bodyPr wrap="square"/>
                    <a:lstStyle/>
                    <a:p>
                      <a:r>
                        <a:rPr sz="1200" b="0">
                          <a:solidFill>
                            <a:srgbClr val="FFFFFF"/>
                          </a:solidFill>
                          <a:latin typeface="Inter"/>
                        </a:rPr>
                        <a:t>Tool spans with arguments and results</a:t>
                      </a:r>
                    </a:p>
                  </a:txBody>
                  <a:tcPr marL="91440" marR="91440" marT="45720" marB="45720" anchor="ctr">
                    <a:solidFill>
                      <a:srgbClr val="0F1E35"/>
                    </a:solidFill>
                  </a:tcPr>
                </a:tc>
              </a:tr>
              <a:tr h="384048">
                <a:tc>
                  <a:txBody>
                    <a:bodyPr wrap="square"/>
                    <a:lstStyle/>
                    <a:p>
                      <a:r>
                        <a:rPr sz="1200" b="1">
                          <a:solidFill>
                            <a:srgbClr val="FFFFFF"/>
                          </a:solidFill>
                          <a:latin typeface="Inter"/>
                        </a:rPr>
                        <a:t>Works inside libraries you didn't write</a:t>
                      </a:r>
                    </a:p>
                  </a:txBody>
                  <a:tcPr marL="91440" marR="91440" marT="45720" marB="45720" anchor="ctr">
                    <a:solidFill>
                      <a:srgbClr val="1A2742"/>
                    </a:solidFill>
                  </a:tcPr>
                </a:tc>
                <a:tc>
                  <a:txBody>
                    <a:bodyPr wrap="square"/>
                    <a:lstStyle/>
                    <a:p>
                      <a:r>
                        <a:rPr sz="1200" b="0">
                          <a:solidFill>
                            <a:srgbClr val="FFFFFF"/>
                          </a:solidFill>
                          <a:latin typeface="Inter"/>
                        </a:rPr>
                        <a:t>Business attributes: tenant, feature, prompt version</a:t>
                      </a:r>
                    </a:p>
                  </a:txBody>
                  <a:tcPr marL="91440" marR="91440" marT="45720" marB="45720" anchor="ctr">
                    <a:solidFill>
                      <a:srgbClr val="1A2742"/>
                    </a:solidFill>
                  </a:tcPr>
                </a:tc>
              </a:tr>
              <a:tr h="384048">
                <a:tc>
                  <a:txBody>
                    <a:bodyPr wrap="square"/>
                    <a:lstStyle/>
                    <a:p>
                      <a:r>
                        <a:rPr sz="1200" b="1">
                          <a:solidFill>
                            <a:srgbClr val="FFFFFF"/>
                          </a:solidFill>
                          <a:latin typeface="Inter"/>
                        </a:rPr>
                        <a:t>Streaming and async handled</a:t>
                      </a:r>
                    </a:p>
                  </a:txBody>
                  <a:tcPr marL="91440" marR="91440" marT="45720" marB="45720" anchor="ctr">
                    <a:solidFill>
                      <a:srgbClr val="0F1E35"/>
                    </a:solidFill>
                  </a:tcPr>
                </a:tc>
                <a:tc>
                  <a:txBody>
                    <a:bodyPr wrap="square"/>
                    <a:lstStyle/>
                    <a:p>
                      <a:r>
                        <a:rPr sz="1200" b="0">
                          <a:solidFill>
                            <a:srgbClr val="FFFFFF"/>
                          </a:solidFill>
                          <a:latin typeface="Inter"/>
                        </a:rPr>
                        <a:t>Events like "step limit reached", cost in dollars</a:t>
                      </a:r>
                    </a:p>
                  </a:txBody>
                  <a:tcPr marL="91440" marR="91440" marT="45720" marB="45720" anchor="ctr">
                    <a:solidFill>
                      <a:srgbClr val="0F1E35"/>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Our rule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Auto-instrument the client when you need coverage you don't control</a:t>
            </a:r>
          </a:p>
          <a:p>
            <a:pPr marL="292608" indent="-292608">
              <a:lnSpc>
                <a:spcPct val="120000"/>
              </a:lnSpc>
              <a:spcAft>
                <a:spcPts val="1260"/>
              </a:spcAft>
              <a:buClr>
                <a:srgbClr val="00D4AA"/>
              </a:buClr>
              <a:buFont typeface="Inter"/>
              <a:buChar char="•"/>
            </a:pPr>
            <a:r>
              <a:rPr sz="1800" b="0">
                <a:solidFill>
                  <a:srgbClr val="FFFFFF"/>
                </a:solidFill>
                <a:latin typeface="Inter"/>
              </a:rPr>
              <a:t>Manual spans for agent, steps, tools and business attributes</a:t>
            </a:r>
          </a:p>
          <a:p>
            <a:pPr marL="292608" indent="-292608">
              <a:lnSpc>
                <a:spcPct val="120000"/>
              </a:lnSpc>
              <a:spcAft>
                <a:spcPts val="1260"/>
              </a:spcAft>
              <a:buClr>
                <a:srgbClr val="00D4AA"/>
              </a:buClr>
              <a:buFont typeface="Inter"/>
              <a:buChar char="•"/>
            </a:pPr>
            <a:r>
              <a:rPr sz="1800" b="0">
                <a:solidFill>
                  <a:srgbClr val="FFFFFF"/>
                </a:solidFill>
                <a:latin typeface="Inter"/>
              </a:rPr>
              <a:t>One model call, one span carrying usage (3.6)</a:t>
            </a:r>
          </a:p>
          <a:p>
            <a:pPr marL="292608" indent="-292608">
              <a:lnSpc>
                <a:spcPct val="120000"/>
              </a:lnSpc>
              <a:spcAft>
                <a:spcPts val="1260"/>
              </a:spcAft>
              <a:buClr>
                <a:srgbClr val="00D4AA"/>
              </a:buClr>
              <a:buFont typeface="Inter"/>
              <a:buChar char="•"/>
            </a:pPr>
            <a:r>
              <a:rPr sz="1800" b="0">
                <a:solidFill>
                  <a:srgbClr val="FFFFFF"/>
                </a:solidFill>
                <a:latin typeface="Inter"/>
              </a:rPr>
              <a:t>Atlas's default: its own generation spans; OpenInference off; </a:t>
            </a:r>
            <a:r>
              <a:rPr sz="1656" b="0">
                <a:solidFill>
                  <a:srgbClr val="00D4AA"/>
                </a:solidFill>
                <a:latin typeface="JetBrains Mono"/>
              </a:rPr>
              <a:t>instrument_openai</a:t>
            </a:r>
            <a:r>
              <a:rPr sz="1800" b="0">
                <a:solidFill>
                  <a:srgbClr val="FFFFFF"/>
                </a:solidFill>
                <a:latin typeface="Inter"/>
              </a:rPr>
              <a:t> ready for Section 12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3.5</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One line instruments every OpenAI call</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It can't see agents, steps, tools, tenants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Never record one call's usage twice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Break it: orphan spans, missing context and double counting</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three ways this pipeline breaks silently, and the test that catches each one.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3 · TRACING FUNDAMENTALS AND THE GENAI SEMANTIC CONVENTIONS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3.6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Break it: orphan spans, missing context and double counting</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Recognise an orphan span caused by work that runs without the trace context, and fix it by carrying the context.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Break 1: work without the trace context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02336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The current span lives in </a:t>
            </a:r>
            <a:r>
              <a:rPr sz="1472" b="0">
                <a:solidFill>
                  <a:srgbClr val="00D4AA"/>
                </a:solidFill>
                <a:latin typeface="JetBrains Mono"/>
              </a:rPr>
              <a:t>contextvars</a:t>
            </a:r>
          </a:p>
          <a:p>
            <a:pPr marL="292608" indent="-292608">
              <a:lnSpc>
                <a:spcPct val="120000"/>
              </a:lnSpc>
              <a:spcAft>
                <a:spcPts val="1120"/>
              </a:spcAft>
              <a:buClr>
                <a:srgbClr val="00D4AA"/>
              </a:buClr>
              <a:buFont typeface="Inter"/>
              <a:buChar char="•"/>
            </a:pPr>
            <a:r>
              <a:rPr sz="1472" b="0">
                <a:solidFill>
                  <a:srgbClr val="00D4AA"/>
                </a:solidFill>
                <a:latin typeface="JetBrains Mono"/>
              </a:rPr>
              <a:t>await</a:t>
            </a:r>
            <a:r>
              <a:rPr sz="1600" b="0">
                <a:solidFill>
                  <a:srgbClr val="FFFFFF"/>
                </a:solidFill>
                <a:latin typeface="Inter"/>
              </a:rPr>
              <a:t> and </a:t>
            </a:r>
            <a:r>
              <a:rPr sz="1472" b="0">
                <a:solidFill>
                  <a:srgbClr val="00D4AA"/>
                </a:solidFill>
                <a:latin typeface="JetBrains Mono"/>
              </a:rPr>
              <a:t>asyncio.create_task</a:t>
            </a:r>
            <a:r>
              <a:rPr sz="1600" b="0">
                <a:solidFill>
                  <a:srgbClr val="FFFFFF"/>
                </a:solidFill>
                <a:latin typeface="Inter"/>
              </a:rPr>
              <a:t> carry it; a plain thread pool does not</a:t>
            </a:r>
          </a:p>
          <a:p>
            <a:pPr marL="292608" indent="-292608">
              <a:lnSpc>
                <a:spcPct val="120000"/>
              </a:lnSpc>
              <a:spcAft>
                <a:spcPts val="1120"/>
              </a:spcAft>
              <a:buClr>
                <a:srgbClr val="00D4AA"/>
              </a:buClr>
              <a:buFont typeface="Inter"/>
              <a:buChar char="•"/>
            </a:pPr>
            <a:r>
              <a:rPr sz="1600" b="0">
                <a:solidFill>
                  <a:srgbClr val="FFFFFF"/>
                </a:solidFill>
                <a:latin typeface="Inter"/>
              </a:rPr>
              <a:t>The worker starts with an empty context, so its span has no parent</a:t>
            </a:r>
          </a:p>
        </p:txBody>
      </p:sp>
      <p:sp>
        <p:nvSpPr>
          <p:cNvPr id="6" name="Rounded Rectangle 5"/>
          <p:cNvSpPr/>
          <p:nvPr/>
        </p:nvSpPr>
        <p:spPr>
          <a:xfrm>
            <a:off x="4663440" y="1325880"/>
            <a:ext cx="708660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66344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92040" y="1399032"/>
            <a:ext cx="6720840" cy="320040"/>
          </a:xfrm>
          <a:prstGeom prst="rect">
            <a:avLst/>
          </a:prstGeom>
          <a:noFill/>
        </p:spPr>
        <p:txBody>
          <a:bodyPr wrap="square" lIns="45720" rIns="45720" tIns="27432" bIns="27432" anchor="t">
            <a:spAutoFit/>
          </a:bodyPr>
          <a:lstStyle/>
          <a:p>
            <a:r>
              <a:rPr sz="1000" b="0">
                <a:solidFill>
                  <a:srgbClr val="94A3B8"/>
                </a:solidFill>
                <a:latin typeface="JetBrains Mono"/>
              </a:rPr>
              <a:t>python</a:t>
            </a:r>
          </a:p>
        </p:txBody>
      </p:sp>
      <p:sp>
        <p:nvSpPr>
          <p:cNvPr id="9" name="TextBox 8"/>
          <p:cNvSpPr txBox="1"/>
          <p:nvPr/>
        </p:nvSpPr>
        <p:spPr>
          <a:xfrm>
            <a:off x="4892040" y="1737360"/>
            <a:ext cx="6720840" cy="4526280"/>
          </a:xfrm>
          <a:prstGeom prst="rect">
            <a:avLst/>
          </a:prstGeom>
          <a:noFill/>
        </p:spPr>
        <p:txBody>
          <a:bodyPr wrap="none" lIns="45720" rIns="45720" tIns="27432" bIns="27432" anchor="t">
            <a:spAutoFit/>
          </a:bodyPr>
          <a:lstStyle/>
          <a:p>
            <a:r>
              <a:rPr sz="1200">
                <a:solidFill>
                  <a:srgbClr val="94A3B8"/>
                </a:solidFill>
                <a:latin typeface="JetBrains Mono"/>
              </a:rPr>
              <a:t># someone moves lookup_ticket to a worker thread, and the tool starts its own span there</a:t>
            </a:r>
          </a:p>
          <a:p>
            <a:r>
              <a:rPr sz="1200">
                <a:solidFill>
                  <a:srgbClr val="FFFFFF"/>
                </a:solidFill>
                <a:latin typeface="JetBrains Mono"/>
              </a:rPr>
              <a:t>result = await loop.run_in_executor(pool, _lookup_ticket_blocking, ticket_id)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Break 2: tool span outside the agent span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02336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Fix: nest the code the way the causality nests</a:t>
            </a:r>
          </a:p>
        </p:txBody>
      </p:sp>
      <p:sp>
        <p:nvSpPr>
          <p:cNvPr id="6" name="Rounded Rectangle 5"/>
          <p:cNvSpPr/>
          <p:nvPr/>
        </p:nvSpPr>
        <p:spPr>
          <a:xfrm>
            <a:off x="4663440" y="1325880"/>
            <a:ext cx="708660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66344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92040" y="1399032"/>
            <a:ext cx="6720840" cy="320040"/>
          </a:xfrm>
          <a:prstGeom prst="rect">
            <a:avLst/>
          </a:prstGeom>
          <a:noFill/>
        </p:spPr>
        <p:txBody>
          <a:bodyPr wrap="square" lIns="45720" rIns="45720" tIns="27432" bIns="27432" anchor="t">
            <a:spAutoFit/>
          </a:bodyPr>
          <a:lstStyle/>
          <a:p>
            <a:r>
              <a:rPr sz="1000" b="0">
                <a:solidFill>
                  <a:srgbClr val="94A3B8"/>
                </a:solidFill>
                <a:latin typeface="JetBrains Mono"/>
              </a:rPr>
              <a:t>python</a:t>
            </a:r>
          </a:p>
        </p:txBody>
      </p:sp>
      <p:sp>
        <p:nvSpPr>
          <p:cNvPr id="9" name="TextBox 8"/>
          <p:cNvSpPr txBox="1"/>
          <p:nvPr/>
        </p:nvSpPr>
        <p:spPr>
          <a:xfrm>
            <a:off x="4892040" y="1737360"/>
            <a:ext cx="6720840" cy="4526280"/>
          </a:xfrm>
          <a:prstGeom prst="rect">
            <a:avLst/>
          </a:prstGeom>
          <a:noFill/>
        </p:spPr>
        <p:txBody>
          <a:bodyPr wrap="none" lIns="45720" rIns="45720" tIns="27432" bIns="27432" anchor="t">
            <a:spAutoFit/>
          </a:bodyPr>
          <a:lstStyle/>
          <a:p>
            <a:r>
              <a:rPr sz="1200">
                <a:solidFill>
                  <a:srgbClr val="FFFFFF"/>
                </a:solidFill>
                <a:latin typeface="JetBrains Mono"/>
              </a:rPr>
              <a:t>def run(self, message, **ids):</a:t>
            </a:r>
          </a:p>
          <a:p>
            <a:r>
              <a:rPr sz="1200">
                <a:solidFill>
                  <a:srgbClr val="FFFFFF"/>
                </a:solidFill>
                <a:latin typeface="JetBrains Mono"/>
              </a:rPr>
              <a:t>    with tracer.start_as_current_span("invoke_agent atlas"):</a:t>
            </a:r>
          </a:p>
          <a:p>
            <a:r>
              <a:rPr sz="1200">
                <a:solidFill>
                  <a:srgbClr val="FFFFFF"/>
                </a:solidFill>
                <a:latin typeface="JetBrains Mono"/>
              </a:rPr>
              <a:t>        plan = self._plan(message)          # model calls happen here...</a:t>
            </a:r>
          </a:p>
          <a:p>
            <a:r>
              <a:rPr sz="1200">
                <a:solidFill>
                  <a:srgbClr val="FFFFFF"/>
                </a:solidFill>
                <a:latin typeface="JetBrains Mono"/>
              </a:rPr>
              <a:t>    for call in plan.pending_tool_calls:    # ...but tools run after the block closed</a:t>
            </a:r>
          </a:p>
          <a:p>
            <a:r>
              <a:rPr sz="1200">
                <a:solidFill>
                  <a:srgbClr val="FFFFFF"/>
                </a:solidFill>
                <a:latin typeface="JetBrains Mono"/>
              </a:rPr>
              <a:t>        self._run_tool(call)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Break 3: one call, two spans with usage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An auto-instrumentor records the model call (3.5)</a:t>
            </a:r>
          </a:p>
          <a:p>
            <a:pPr marL="292608" indent="-292608">
              <a:lnSpc>
                <a:spcPct val="120000"/>
              </a:lnSpc>
              <a:spcAft>
                <a:spcPts val="1260"/>
              </a:spcAft>
              <a:buClr>
                <a:srgbClr val="00D4AA"/>
              </a:buClr>
              <a:buFont typeface="Inter"/>
              <a:buChar char="•"/>
            </a:pPr>
            <a:r>
              <a:rPr sz="1800" b="0">
                <a:solidFill>
                  <a:srgbClr val="FFFFFF"/>
                </a:solidFill>
                <a:latin typeface="Inter"/>
              </a:rPr>
              <a:t>The manual generation span records the same call, with usage</a:t>
            </a:r>
          </a:p>
          <a:p>
            <a:pPr marL="292608" indent="-292608">
              <a:lnSpc>
                <a:spcPct val="120000"/>
              </a:lnSpc>
              <a:spcAft>
                <a:spcPts val="1260"/>
              </a:spcAft>
              <a:buClr>
                <a:srgbClr val="00D4AA"/>
              </a:buClr>
              <a:buFont typeface="Inter"/>
              <a:buChar char="•"/>
            </a:pPr>
            <a:r>
              <a:rPr sz="1800" b="0">
                <a:solidFill>
                  <a:srgbClr val="FFFFFF"/>
                </a:solidFill>
                <a:latin typeface="Inter"/>
              </a:rPr>
              <a:t>Any backend that sums usage over spans now reports twice the tokens and dollars</a:t>
            </a:r>
          </a:p>
          <a:p>
            <a:pPr marL="292608" indent="-292608">
              <a:lnSpc>
                <a:spcPct val="120000"/>
              </a:lnSpc>
              <a:spcAft>
                <a:spcPts val="1260"/>
              </a:spcAft>
              <a:buClr>
                <a:srgbClr val="00D4AA"/>
              </a:buClr>
              <a:buFont typeface="Inter"/>
              <a:buChar char="•"/>
            </a:pPr>
            <a:r>
              <a:rPr sz="1800" b="0">
                <a:solidFill>
                  <a:srgbClr val="FFFFFF"/>
                </a:solidFill>
                <a:latin typeface="Inter"/>
              </a:rPr>
              <a:t>Your $56.28 day would read as twice that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Symptom → cause → fix</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1755648"/>
        </p:xfrm>
        <a:graphic>
          <a:graphicData uri="http://schemas.openxmlformats.org/drawingml/2006/table">
            <a:tbl>
              <a:tblPr firstRow="1" bandRow="1">
                <a:tableStyleId>{5C22544A-7EE6-4342-B048-85BDC9FD1C3A}</a:tableStyleId>
              </a:tblPr>
              <a:tblGrid>
                <a:gridCol w="4140708"/>
                <a:gridCol w="3481958"/>
                <a:gridCol w="3670173"/>
              </a:tblGrid>
              <a:tr h="438912">
                <a:tc>
                  <a:txBody>
                    <a:bodyPr wrap="square"/>
                    <a:lstStyle/>
                    <a:p>
                      <a:r>
                        <a:rPr sz="1400" b="1">
                          <a:solidFill>
                            <a:srgbClr val="0A1628"/>
                          </a:solidFill>
                          <a:latin typeface="Inter"/>
                        </a:rPr>
                        <a:t>Symptom</a:t>
                      </a:r>
                    </a:p>
                  </a:txBody>
                  <a:tcPr marL="91440" marR="91440" marT="45720" marB="45720" anchor="ctr">
                    <a:solidFill>
                      <a:srgbClr val="00D4AA"/>
                    </a:solidFill>
                  </a:tcPr>
                </a:tc>
                <a:tc>
                  <a:txBody>
                    <a:bodyPr wrap="square"/>
                    <a:lstStyle/>
                    <a:p>
                      <a:r>
                        <a:rPr sz="1400" b="1">
                          <a:solidFill>
                            <a:srgbClr val="0A1628"/>
                          </a:solidFill>
                          <a:latin typeface="Inter"/>
                        </a:rPr>
                        <a:t>Cause</a:t>
                      </a:r>
                    </a:p>
                  </a:txBody>
                  <a:tcPr marL="91440" marR="91440" marT="45720" marB="45720" anchor="ctr">
                    <a:solidFill>
                      <a:srgbClr val="00D4AA"/>
                    </a:solidFill>
                  </a:tcPr>
                </a:tc>
                <a:tc>
                  <a:txBody>
                    <a:bodyPr wrap="square"/>
                    <a:lstStyle/>
                    <a:p>
                      <a:r>
                        <a:rPr sz="1400" b="1">
                          <a:solidFill>
                            <a:srgbClr val="0A1628"/>
                          </a:solidFill>
                          <a:latin typeface="Inter"/>
                        </a:rPr>
                        <a:t>Fix</a:t>
                      </a:r>
                    </a:p>
                  </a:txBody>
                  <a:tcPr marL="91440" marR="91440" marT="45720" marB="45720" anchor="ctr">
                    <a:solidFill>
                      <a:srgbClr val="00D4AA"/>
                    </a:solidFill>
                  </a:tcPr>
                </a:tc>
              </a:tr>
              <a:tr h="438912">
                <a:tc>
                  <a:txBody>
                    <a:bodyPr wrap="square"/>
                    <a:lstStyle/>
                    <a:p>
                      <a:r>
                        <a:rPr sz="1400" b="1">
                          <a:solidFill>
                            <a:srgbClr val="FFFFFF"/>
                          </a:solidFill>
                          <a:latin typeface="Inter"/>
                        </a:rPr>
                        <a:t>One-span trace named </a:t>
                      </a:r>
                      <a:r>
                        <a:rPr sz="1288" b="0">
                          <a:solidFill>
                            <a:srgbClr val="00D4AA"/>
                          </a:solidFill>
                          <a:latin typeface="JetBrains Mono"/>
                        </a:rPr>
                        <a:t>execute_tool ...</a:t>
                      </a:r>
                    </a:p>
                  </a:txBody>
                  <a:tcPr marL="91440" marR="91440" marT="45720" marB="45720" anchor="ctr">
                    <a:solidFill>
                      <a:srgbClr val="1A2742"/>
                    </a:solidFill>
                  </a:tcPr>
                </a:tc>
                <a:tc>
                  <a:txBody>
                    <a:bodyPr wrap="square"/>
                    <a:lstStyle/>
                    <a:p>
                      <a:r>
                        <a:rPr sz="1400" b="0">
                          <a:solidFill>
                            <a:srgbClr val="FFFFFF"/>
                          </a:solidFill>
                          <a:latin typeface="Inter"/>
                        </a:rPr>
                        <a:t>Work on a thread without context</a:t>
                      </a:r>
                    </a:p>
                  </a:txBody>
                  <a:tcPr marL="91440" marR="91440" marT="45720" marB="45720" anchor="ctr">
                    <a:solidFill>
                      <a:srgbClr val="1A2742"/>
                    </a:solidFill>
                  </a:tcPr>
                </a:tc>
                <a:tc>
                  <a:txBody>
                    <a:bodyPr wrap="square"/>
                    <a:lstStyle/>
                    <a:p>
                      <a:r>
                        <a:rPr sz="1288" b="0">
                          <a:solidFill>
                            <a:srgbClr val="00D4AA"/>
                          </a:solidFill>
                          <a:latin typeface="JetBrains Mono"/>
                        </a:rPr>
                        <a:t>asyncio.to_thread</a:t>
                      </a:r>
                      <a:r>
                        <a:rPr sz="1400" b="0">
                          <a:solidFill>
                            <a:srgbClr val="FFFFFF"/>
                          </a:solidFill>
                          <a:latin typeface="Inter"/>
                        </a:rPr>
                        <a:t>, or pass </a:t>
                      </a:r>
                      <a:r>
                        <a:rPr sz="1288" b="0">
                          <a:solidFill>
                            <a:srgbClr val="00D4AA"/>
                          </a:solidFill>
                          <a:latin typeface="JetBrains Mono"/>
                        </a:rPr>
                        <a:t>context=</a:t>
                      </a:r>
                    </a:p>
                  </a:txBody>
                  <a:tcPr marL="91440" marR="91440" marT="45720" marB="45720" anchor="ctr">
                    <a:solidFill>
                      <a:srgbClr val="1A2742"/>
                    </a:solidFill>
                  </a:tcPr>
                </a:tc>
              </a:tr>
              <a:tr h="438912">
                <a:tc>
                  <a:txBody>
                    <a:bodyPr wrap="square"/>
                    <a:lstStyle/>
                    <a:p>
                      <a:r>
                        <a:rPr sz="1400" b="1">
                          <a:solidFill>
                            <a:srgbClr val="FFFFFF"/>
                          </a:solidFill>
                          <a:latin typeface="Inter"/>
                        </a:rPr>
                        <a:t>Agent trace shows a tool request but no tool</a:t>
                      </a:r>
                    </a:p>
                  </a:txBody>
                  <a:tcPr marL="91440" marR="91440" marT="45720" marB="45720" anchor="ctr">
                    <a:solidFill>
                      <a:srgbClr val="0F1E35"/>
                    </a:solidFill>
                  </a:tcPr>
                </a:tc>
                <a:tc>
                  <a:txBody>
                    <a:bodyPr wrap="square"/>
                    <a:lstStyle/>
                    <a:p>
                      <a:r>
                        <a:rPr sz="1400" b="0">
                          <a:solidFill>
                            <a:srgbClr val="FFFFFF"/>
                          </a:solidFill>
                          <a:latin typeface="Inter"/>
                        </a:rPr>
                        <a:t>Tool ran after the agent block closed</a:t>
                      </a:r>
                    </a:p>
                  </a:txBody>
                  <a:tcPr marL="91440" marR="91440" marT="45720" marB="45720" anchor="ctr">
                    <a:solidFill>
                      <a:srgbClr val="0F1E35"/>
                    </a:solidFill>
                  </a:tcPr>
                </a:tc>
                <a:tc>
                  <a:txBody>
                    <a:bodyPr wrap="square"/>
                    <a:lstStyle/>
                    <a:p>
                      <a:r>
                        <a:rPr sz="1400" b="0">
                          <a:solidFill>
                            <a:srgbClr val="FFFFFF"/>
                          </a:solidFill>
                          <a:latin typeface="Inter"/>
                        </a:rPr>
                        <a:t>Nest the code like the causality</a:t>
                      </a:r>
                    </a:p>
                  </a:txBody>
                  <a:tcPr marL="91440" marR="91440" marT="45720" marB="45720" anchor="ctr">
                    <a:solidFill>
                      <a:srgbClr val="0F1E35"/>
                    </a:solidFill>
                  </a:tcPr>
                </a:tc>
              </a:tr>
              <a:tr h="438912">
                <a:tc>
                  <a:txBody>
                    <a:bodyPr wrap="square"/>
                    <a:lstStyle/>
                    <a:p>
                      <a:r>
                        <a:rPr sz="1400" b="1">
                          <a:solidFill>
                            <a:srgbClr val="FFFFFF"/>
                          </a:solidFill>
                          <a:latin typeface="Inter"/>
                        </a:rPr>
                        <a:t>Tokens and cost exactly 2× expected</a:t>
                      </a:r>
                    </a:p>
                  </a:txBody>
                  <a:tcPr marL="91440" marR="91440" marT="45720" marB="45720" anchor="ctr">
                    <a:solidFill>
                      <a:srgbClr val="1A2742"/>
                    </a:solidFill>
                  </a:tcPr>
                </a:tc>
                <a:tc>
                  <a:txBody>
                    <a:bodyPr wrap="square"/>
                    <a:lstStyle/>
                    <a:p>
                      <a:r>
                        <a:rPr sz="1400" b="0">
                          <a:solidFill>
                            <a:srgbClr val="FFFFFF"/>
                          </a:solidFill>
                          <a:latin typeface="Inter"/>
                        </a:rPr>
                        <a:t>Same call instrumented twice</a:t>
                      </a:r>
                    </a:p>
                  </a:txBody>
                  <a:tcPr marL="91440" marR="91440" marT="45720" marB="45720" anchor="ctr">
                    <a:solidFill>
                      <a:srgbClr val="1A2742"/>
                    </a:solidFill>
                  </a:tcPr>
                </a:tc>
                <a:tc>
                  <a:txBody>
                    <a:bodyPr wrap="square"/>
                    <a:lstStyle/>
                    <a:p>
                      <a:r>
                        <a:rPr sz="1400" b="0">
                          <a:solidFill>
                            <a:srgbClr val="FFFFFF"/>
                          </a:solidFill>
                          <a:latin typeface="Inter"/>
                        </a:rPr>
                        <a:t>One call, one span with usage</a:t>
                      </a:r>
                    </a:p>
                  </a:txBody>
                  <a:tcPr marL="91440" marR="91440" marT="45720" marB="45720" anchor="ctr">
                    <a:solidFill>
                      <a:srgbClr val="1A2742"/>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3.6</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Lost context makes orphan root spans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Code outside the block loses its parent</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Two instrumentations double every token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Lab 2: Instrument a new tool end to end</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Lab 2: take </a:t>
            </a:r>
            <a:r>
              <a:rPr sz="1288" b="0">
                <a:solidFill>
                  <a:srgbClr val="00D4AA"/>
                </a:solidFill>
                <a:latin typeface="JetBrains Mono"/>
              </a:rPr>
              <a:t>check_shipment</a:t>
            </a:r>
            <a:r>
              <a:rPr sz="1400" b="0">
                <a:solidFill>
                  <a:srgbClr val="94A3B8"/>
                </a:solidFill>
                <a:latin typeface="Inter"/>
              </a:rPr>
              <a:t>'s span apart and write the test that proves it's correct.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3.7</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3 · TRACING FUNDAMENTALS AND THE GENAI SEMANTIC CONVENTIONS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3.7</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Lab 2: Instrument a new tool end to end</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Read </a:t>
            </a:r>
            <a:r>
              <a:rPr sz="1472" b="0">
                <a:solidFill>
                  <a:srgbClr val="00D4AA"/>
                </a:solidFill>
                <a:latin typeface="JetBrains Mono"/>
              </a:rPr>
              <a:t>check_shipment</a:t>
            </a:r>
            <a:r>
              <a:rPr sz="1600" b="0">
                <a:solidFill>
                  <a:srgbClr val="CBD5E1"/>
                </a:solidFill>
                <a:latin typeface="Inter"/>
              </a:rPr>
              <a:t>'s </a:t>
            </a:r>
            <a:r>
              <a:rPr sz="1472" b="0">
                <a:solidFill>
                  <a:srgbClr val="00D4AA"/>
                </a:solidFill>
                <a:latin typeface="JetBrains Mono"/>
              </a:rPr>
              <a:t>execute_tool</a:t>
            </a:r>
            <a:r>
              <a:rPr sz="1600" b="0">
                <a:solidFill>
                  <a:srgbClr val="CBD5E1"/>
                </a:solidFill>
                <a:latin typeface="Inter"/>
              </a:rPr>
              <a:t> span: name, attributes, arguments, result and parent.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3.7</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SECTION COMPLETE</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You can now</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Build a trace by hand and read raw spans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Tag spans with the GenAI conventions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Catch orphans and double counting with tests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3.7</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Tracing and semantic conventions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A six-question quiz on tracing and the conventions, then Section 4: what Langfuse adds on top of these…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3.8</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3 · TRACING FUNDAMENTALS AND THE GENAI SEMANTIC CONVENTIONS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3.8</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Tracing and semantic conventions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understanding of spans, context and sampling.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Section 3 quiz: what's covered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Parent IDs and how the tree is built</a:t>
            </a:r>
          </a:p>
          <a:p>
            <a:pPr marL="292608" indent="-292608">
              <a:lnSpc>
                <a:spcPct val="120000"/>
              </a:lnSpc>
              <a:spcAft>
                <a:spcPts val="1260"/>
              </a:spcAft>
              <a:buClr>
                <a:srgbClr val="00D4AA"/>
              </a:buClr>
              <a:buFont typeface="Inter"/>
              <a:buChar char="•"/>
            </a:pPr>
            <a:r>
              <a:rPr sz="1800" b="0">
                <a:solidFill>
                  <a:srgbClr val="FFFFFF"/>
                </a:solidFill>
                <a:latin typeface="Inter"/>
              </a:rPr>
              <a:t>Simple vs batch processor; console vs OTLP</a:t>
            </a:r>
          </a:p>
          <a:p>
            <a:pPr marL="292608" indent="-292608">
              <a:lnSpc>
                <a:spcPct val="120000"/>
              </a:lnSpc>
              <a:spcAft>
                <a:spcPts val="1260"/>
              </a:spcAft>
              <a:buClr>
                <a:srgbClr val="00D4AA"/>
              </a:buClr>
              <a:buFont typeface="Inter"/>
              <a:buChar char="•"/>
            </a:pPr>
            <a:r>
              <a:rPr sz="1800" b="0">
                <a:solidFill>
                  <a:srgbClr val="FFFFFF"/>
                </a:solidFill>
                <a:latin typeface="Inter"/>
              </a:rPr>
              <a:t>Span names: </a:t>
            </a:r>
            <a:r>
              <a:rPr sz="1656" b="0">
                <a:solidFill>
                  <a:srgbClr val="00D4AA"/>
                </a:solidFill>
                <a:latin typeface="JetBrains Mono"/>
              </a:rPr>
              <a:t>chat gpt-4.1-mini</a:t>
            </a:r>
            <a:r>
              <a:rPr sz="1800" b="0">
                <a:solidFill>
                  <a:srgbClr val="FFFFFF"/>
                </a:solidFill>
                <a:latin typeface="Inter"/>
              </a:rPr>
              <a:t>, </a:t>
            </a:r>
            <a:r>
              <a:rPr sz="1656" b="0">
                <a:solidFill>
                  <a:srgbClr val="00D4AA"/>
                </a:solidFill>
                <a:latin typeface="JetBrains Mono"/>
              </a:rPr>
              <a:t>execute_tool ...</a:t>
            </a:r>
            <a:r>
              <a:rPr sz="1800" b="0">
                <a:solidFill>
                  <a:srgbClr val="FFFFFF"/>
                </a:solidFill>
                <a:latin typeface="Inter"/>
              </a:rPr>
              <a:t>, </a:t>
            </a:r>
            <a:r>
              <a:rPr sz="1656" b="0">
                <a:solidFill>
                  <a:srgbClr val="00D4AA"/>
                </a:solidFill>
                <a:latin typeface="JetBrains Mono"/>
              </a:rPr>
              <a:t>invoke_agent ...</a:t>
            </a:r>
          </a:p>
          <a:p>
            <a:pPr marL="292608" indent="-292608">
              <a:lnSpc>
                <a:spcPct val="120000"/>
              </a:lnSpc>
              <a:spcAft>
                <a:spcPts val="1260"/>
              </a:spcAft>
              <a:buClr>
                <a:srgbClr val="00D4AA"/>
              </a:buClr>
              <a:buFont typeface="Inter"/>
              <a:buChar char="•"/>
            </a:pPr>
            <a:r>
              <a:rPr sz="1800" b="0">
                <a:solidFill>
                  <a:srgbClr val="FFFFFF"/>
                </a:solidFill>
                <a:latin typeface="Inter"/>
              </a:rPr>
              <a:t>Which usage attributes people forget (cached, reasoning)</a:t>
            </a:r>
          </a:p>
          <a:p>
            <a:pPr marL="292608" indent="-292608">
              <a:lnSpc>
                <a:spcPct val="120000"/>
              </a:lnSpc>
              <a:spcAft>
                <a:spcPts val="1260"/>
              </a:spcAft>
              <a:buClr>
                <a:srgbClr val="00D4AA"/>
              </a:buClr>
              <a:buFont typeface="Inter"/>
              <a:buChar char="•"/>
            </a:pPr>
            <a:r>
              <a:rPr sz="1800" b="0">
                <a:solidFill>
                  <a:srgbClr val="FFFFFF"/>
                </a:solidFill>
                <a:latin typeface="Inter"/>
              </a:rPr>
              <a:t>What auto-instrumentation can't see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Section 3 quiz: what's covered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Symptom → cause for orphans and double counting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03 · Lecture 3.8</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How Langfuse sits on OpenTelemetry</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Section 4: how Langfuse sits on top of these exact spans, and what it adds that OpenTelemetry…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