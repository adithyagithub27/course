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Traces, spans and context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trace is everything that happened for one request, identified by one trace ID. A span is one unit of work with a start time and an end time. Spans nest: a parent causes children. Attributes are facts about a span, as key-value pairs. Events are timestamped moments inside a span, like "step limit reached at 14:02:07." And status says whether the work succeeded.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A trace is everything that happened for one request, identified by one trace ID. A span is one unit of work with a start time and an end time. Spans nest: a parent causes children. Attributes are fact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VPN request from 2.3 drawn as a waterfall. One trace. The agent span at the top, two point eight seconds. Under it, the retriever, a model call, a tool call, another model call. Time runs left to right. Nesting runs top to bottom. You can see instantly that the first model call is where the time went.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in on one span. It has a name. It has the trace ID shared by every span in this request. It has its own span ID and, crucially, a parent ID. That parent ID is the entire tree. There's no separate tree structure stored anywhere; the backend rebuilds the waterfall from parent IDs. Then attributes, events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mechanism. When a span starts, it asks, "what is the current span right now?" Whatever it finds becomes its parent. Then it makes itself current. When it ends, it steps aside and the previous span is current again. That "current span" lives in a context that follows your code from function to function, through await, without you passing anything. In Python it's built on `contextvars`.</a:t>
            </a:r>
          </a:p>
          <a:p/>
          <a:p>
            <a:r>
              <a:t>That's why it works without you passing IDs around. And it's also why it breaks in exactly one situation: when your code jumps somewhere the context doesn't follow. A worker thread. A process. Another service. You'll break it on purpose in Lecture 3.6.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a network call, the context is written into a header called traceparent, carrying the trace ID and the current span ID. If the ticketing API reads that header, its spans join the same trace. That's how a single request can be followed across ten services. For Atlas, we mostly stay inside one process, but the collector in Section thirteen relies on this.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idea: sampling. A busy agent produces more spans than you want to store. Head sampling decides at the root, before anything happens: keep one in ten. Cheap, but blind; it drops the one error you wanted. Tail sampling decides when the trace finishes: keep every error and every slow trace, drop most of the boring successes. That's what the collector does in Section thirteen.</a:t>
            </a:r>
          </a:p>
          <a:p/>
          <a:p>
            <a:r>
              <a:t>One rule, though. Never sample the cost signal. If you keep one trace in ten, you've lost ninety percent of your dollars. Cost is counted from every request, as a metric, regardless of what traces you keep. Section nine builds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together: a trace tells you which work belonged to a request, what caused what, where time went, what the facts were and what happened when. Logs give you lines. Traces give you structure. Lecture 5.5 comes back to when you want each.</a:t>
            </a:r>
          </a:p>
          <a:p/>
          <a:p>
            <a:r>
              <a:t>Six words and one mechanism. Trace, span, parent, attributes, events, status, held together by a current-span context that follows your code. Now let's write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manual OpenTelemetry instrumentation of Atlas.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pipeline on one slide. Resource, provider, processor, exporter, and one `with` statement in the application. Every other tracing tool you'll ever meet is a variation of these five boxes.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GenAI semantic conventions: naming things so tools understand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semantic convention is an agreed name with an agreed meaning. You already rely on them. `http.request.method` means the HTTP verb in every tool on earth. The GenAI conventions do the same for language models: what to call the model name, the token counts, a tool call, an agent.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span names, because you've already used them. A model call is the operation followed by the model: `chat gpt-4.1-mini`. A tool call is `execute_tool` and the tool's name. An agent run is `invoke_agent` and the agent's name. That's why 3.2's names looked the way they did.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attributes on a model call. Operation name, `chat`. Provider name, `openai`. The model you asked for, and the model that actually answered; they differ when the provider resolves an alias to a dated snapshot, and that matters when a snapshot changes behaviour. Then usage. Input tokens, output tokens, and two that most people forget: cached input tokens and reasoning output tokens. Both are priced differently, and both are invisible if you only record the two big numbers. Section six leans hard on those two.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tool call: operation `execute_tool`, the tool's name, the call ID the model assigned, the arguments the model chose, and the result. Two cautions on the last two. Arguments and results are content, so they can hold personal data; you'll mask them in Section ten. And results can be huge; truncate before you attach, or your telemetry costs more than your model calls.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agent span: operation `invoke_agent`, agent name, and an agent version, which is a useful place to put your prompt version. And `gen_ai.conversation.id`, which is where a session ID goes in the standard. Langfuse has its own session concept on top; you'll set both in Section four.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code, never type these as strings. Import the constants. The module path has `_incubating` in it, on purpose. It's a signal that these names are not frozen. Two reasons to use the constants anyway. If a name changes in a future release, your code changes with the package, in one place. And a typo in a string is a silent hole in a dashboard; a typo in a constant is an error at import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incubating mean in practice? Stable conventions come with compatibility promises. GenAI doesn't yet. Names have already been renamed once; `gen_ai.system` became `gen_ai.provider.name`, for instance, and both constants exist right now. So pin the package version, read the changelog when you bump it, and keep the footer you see on this slide on your own dashboards. It's honest, and it saves an argument later.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payoff. Emit one span with standard names, and Langfuse shows usage and computes cost from it. Phoenix shows the tokens. A collector can turn them into the standard metric `gen_ai.client.token.usage` for Grafana. Datadog reads them too. Same span, four backends, no code changes. Section twelve is that diagram,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conventions don't stop at spans. There are standard metric names too, in a sibling module. Token usage as a histogram, split by token type. Operation duration. Time to first chunk. You won't emit these by hand; the collector in Section thirteen derives them from your spans, and Section nine's Grafana dashboard reads them. But when you see `gen_ai.client.token.usage` on a dashboard you didn't build, you'll know it came from the same spans you're tagging now.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what they don't cover. Dollars. There's no standard cost attribute; the backend computes it from tokens and a price table, or you set it explicitly, which you'll do in 4.2. Your business dimensions, like tenant and feature. Those go in your own namespace; ours is `northwind.`. And quality scores, which are a backend feature.</a:t>
            </a:r>
          </a:p>
          <a:p/>
          <a:p>
            <a:r>
              <a:t>So: standard names for models, tokens, tools and agents. Constants, never strings. And the word incubating on every screen that shows them. Now let's put them on Atlas's spans.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tag every LLM, tool and agent span correctly.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Auto-instrumentation with OpenInference.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OpenInference's OpenAI instrumentor. It patches the client and emits a span per call, with model, token counts and messages, using OpenInference's attribute names. Langfuse and Phoenix both understand those. There's also an OpenTelemetry-contrib instrumentor for OpenAI; at verification time it failed to import, so it isn't in this course.</a:t>
            </a:r>
          </a:p>
          <a:p/>
          <a:p>
            <a:r>
              <a:t>[SCREEN: VS Code, new file `telemetry/openinference_setup.py`.]</a:t>
            </a:r>
          </a:p>
          <a:p/>
          <a:p>
            <a:r>
              <a:t>[CODE: the setup]</a:t>
            </a:r>
          </a:p>
          <a:p/>
          <a:p>
            <a:r>
              <a:t>One function. Pass the provider you built in `setup_tracing`, so the auto spans go through the same pipeline as yours. Without that argument it uses the global provider, which is the same thing here, but be explicit; in tests you'll pass a different one.</a:t>
            </a:r>
          </a:p>
          <a:p/>
          <a:p>
            <a:r>
              <a:t>[CODE: call it after tracing is set up]</a:t>
            </a:r>
          </a:p>
          <a:p/>
          <a:p>
            <a:r>
              <a:t>Call it right after `setup_tracing`, and before the OpenAI client is created. It patches the class, so a client made earlier may not be covered.</a:t>
            </a:r>
          </a:p>
          <a:p/>
          <a:p>
            <a:r>
              <a:t>[SCREEN: Temporarily comment out the `with tracer.start_as_current_span(f"chat ...")` block in `_call_model` so only the raw API call rem...]</a:t>
            </a:r>
          </a:p>
          <a:p/>
          <a:p>
            <a:r>
              <a:t>[DEMO: Console prints a span named `ChatCompletion` with `openinference.span.kind: LLM`, `llm.model_name`, `llm.token_count.prompt`, `llm...]</a:t>
            </a:r>
          </a:p>
          <a:p/>
          <a:p>
            <a:r>
              <a:t>To see it clearly, I've commented out our manual model span for a moment, and gone live for one request. Look: a span named `ChatCompletion`, kind `LLM`, with the model name, both token counts, and the full input and output messages, nested under our agent span. We wrote none of that.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split. Free: a span per call, with model, tokens, messages and parameters, streaming and async included, even inside libraries you don't control. Not free: everything that isn't an API call. The agent span. The tool spans. Tenant and feature. The step-limit event. The instrumentor sees HTTP calls; it doesn't know your agent exists.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rule. Auto-instrument the client, so you never miss a call, including retries inside the SDK. Keep manual spans for the agent, steps, tools and business attributes. And never wrap the same call twice; one model call, one span. Next lecture shows what happens when you break that rule.</a:t>
            </a:r>
          </a:p>
          <a:p/>
          <a:p>
            <a:r>
              <a:t>[SCREEN: Restore the manual span block in `_call_model` but keep it in mind for 3.6.]</a:t>
            </a:r>
          </a:p>
          <a:p/>
          <a:p>
            <a:r>
              <a:t>One line, every call captured. Keep the helpers for everything the instrumentor can't see. And keep a note of that "one call, one span" rule; it's the third break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Break it: orphan spans, missing context and double counting.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one. Someone noticed `lookup_ticket` blocks on I/O and moved it to a thread pool. Reasonable. The tool creates its own span inside that function.</a:t>
            </a:r>
          </a:p>
          <a:p/>
          <a:p>
            <a:r>
              <a:t>[SCREEN: Terminal: console exporter, send the ticket question.]</a:t>
            </a:r>
          </a:p>
          <a:p/>
          <a:p>
            <a:r>
              <a:t>[DEMO: Console shows `execute_tool lookup_ticket` with `"parent_id": null` and a different `trace_id` from `invoke_agent atlas`.]</a:t>
            </a:r>
          </a:p>
          <a:p/>
          <a:p>
            <a:r>
              <a:t>Read the tool span. Parent ID null. And look at the trace ID: different from the agent's. This span is a root of its own trace. In Langfuse it shows up as a separate one-span trace named `execute_tool lookup_ticket`, with no tenant, no user, no cost context. An orphan.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current span lives in a context variable. `await` carries it, `create_task` copies it, but a plain thread pool starts each job with an empty context. The tool span looks for a current span, finds none, and becomes a root.</a:t>
            </a:r>
          </a:p>
          <a:p/>
          <a:p>
            <a:r>
              <a:t>[CODE: fix 1, carry the context]</a:t>
            </a:r>
          </a:p>
          <a:p/>
          <a:p>
            <a:r>
              <a:t>The fix: capture the context before you hand off, and pass it in. `start_as_current_span` accepts a `context` argument, and the span parents itself there. `asyncio.to_thread` also copies the context for you, which is the neater fix when you can use it.</a:t>
            </a:r>
          </a:p>
          <a:p/>
          <a:p>
            <a:r>
              <a:t>[DEMO: Rerun. Tool span now has the agent's `parent_id` and the same `trace_id`.]</a:t>
            </a:r>
          </a:p>
          <a:p/>
          <a:p>
            <a:r>
              <a:t>Same trace ID, parent set. Adopted.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two. A refactor moved tool execution after the agent's `with` block. The code still works. The trace doesn't.</a:t>
            </a:r>
          </a:p>
          <a:p/>
          <a:p>
            <a:r>
              <a:t>[DEMO: Console shows `invoke_agent atlas` ending before `execute_tool lookup_ticket` starts; the tool span's `parent_id` is null. In Lang...]</a:t>
            </a:r>
          </a:p>
          <a:p/>
          <a:p>
            <a:r>
              <a:t>The agent span ends. Then the tool span starts, with no current span, so it's a root again. In Langfuse, the agent trace shows a model call that asked for a tool, and no tool. Anyone reading that trace concludes the tool never ran. It did; it's just filed under a different trace.</a:t>
            </a:r>
          </a:p>
          <a:p/>
          <a:p>
            <a:r>
              <a:t>[CODE: fix 2, structure follows causality]</a:t>
            </a:r>
          </a:p>
          <a:p/>
          <a:p>
            <a:r>
              <a:t>The fix is structural. If the tool ran because of the agent, it runs inside the agent's block. Make the code nest the way the causality nests.</a:t>
            </a:r>
          </a:p>
          <a:p/>
          <a:p>
            <a:r>
              <a:t>[DEMO: Rerun. Tool span nested under the agent span again.]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three, and this one costs money on paper. OpenInference is on. Our manual model span from 3.4 is also on, and it also records usage. So every model call produces two spans, each claiming three thousand input tokens.</a:t>
            </a:r>
          </a:p>
          <a:p/>
          <a:p>
            <a:r>
              <a:t>[SCREEN: Ops Console cost page after a small swarm run with both on. Day's cost reads $12.84 instead of $6.42.]</a:t>
            </a:r>
          </a:p>
          <a:p/>
          <a:p>
            <a:r>
              <a:t>[DEMO: Console cost tile shows exactly double.]</a:t>
            </a:r>
          </a:p>
          <a:p/>
          <a:p>
            <a:r>
              <a:t>Run a short swarm and look at the console. Twelve dollars eighty-four. Exactly double six forty-two. Any cost dashboard that sums usage across spans, and they all do, now shows twice your real spend. You'd cut features to fix a bill that doesn't exist.</a:t>
            </a:r>
          </a:p>
          <a:p/>
          <a:p>
            <a:r>
              <a:t>[CODE: fix 3, one call, one span]</a:t>
            </a:r>
          </a:p>
          <a:p/>
          <a:p>
            <a:r>
              <a:t>The fix is a decision, not code: one model call, one span carrying usage. Either keep the auto-instrumentor and stop recording usage manually, or keep the manual generation span, which Section four needs for explicit cost, and don't instrument the client. Atlas takes the second path by default, with OpenInference available behind a flag for Section twelve.</a:t>
            </a:r>
          </a:p>
          <a:p/>
          <a:p>
            <a:r>
              <a:t>[SCREEN: `tests/integration/test_spans.py`. Show the three tests: `test_no_orphan_spans`, `test_tool_spans_are_children_of_agent`, `test_...]</a:t>
            </a:r>
          </a:p>
          <a:p/>
          <a:p>
            <a:r>
              <a:t>[CODE: the regression tests]</a:t>
            </a:r>
          </a:p>
          <a:p/>
          <a:p>
            <a:r>
              <a:t>And all three lies are caught by tests. Exactly one root span, named `invoke_agent atlas`. Every tool span's parent is the agent. And the number of generation spans equals the number of model calls the agent reports. Make test runs these on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this table. All three lies look like healthy traces until you count roots, check parents and compare the bill. Now you have tests that do the counting for you.</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2: Instrument a new tool end to end.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Tracing and semantic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on how the tree is built. One on processors and exporters. One on span naming. One on the usage attributes people forget. One on what an auto-instrumentor can't see. And one that gives you a symptom, like "cost is exactly double," and asks for the cause.</a:t>
            </a:r>
          </a:p>
          <a:p/>
          <a:p>
            <a:r>
              <a:t>If a question mentions a thread, think "context didn't follow." If it mentions a bill, think "count the spans per call."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One on how the tree is built. One on processors and exporters. One on span naming. One on the usage attributes people forget. One on what an auto-instrumentor can't see. And one that gives you a sympt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Traces, spans and context in five minutes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Define trace, span, parent/child, attributes, events and status.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Six words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Trace: everything that happened for one request</a:t>
            </a:r>
          </a:p>
          <a:p>
            <a:pPr marL="292608" indent="-292608">
              <a:lnSpc>
                <a:spcPct val="120000"/>
              </a:lnSpc>
              <a:spcAft>
                <a:spcPts val="1539"/>
              </a:spcAft>
              <a:buClr>
                <a:srgbClr val="00D4AA"/>
              </a:buClr>
              <a:buFont typeface="Inter"/>
              <a:buChar char="•"/>
            </a:pPr>
            <a:r>
              <a:rPr sz="2200" b="0">
                <a:solidFill>
                  <a:srgbClr val="FFFFFF"/>
                </a:solidFill>
                <a:latin typeface="Inter"/>
              </a:rPr>
              <a:t>Span: one unit of work with a start and an end</a:t>
            </a:r>
          </a:p>
          <a:p>
            <a:pPr marL="292608" indent="-292608">
              <a:lnSpc>
                <a:spcPct val="120000"/>
              </a:lnSpc>
              <a:spcAft>
                <a:spcPts val="1539"/>
              </a:spcAft>
              <a:buClr>
                <a:srgbClr val="00D4AA"/>
              </a:buClr>
              <a:buFont typeface="Inter"/>
              <a:buChar char="•"/>
            </a:pPr>
            <a:r>
              <a:rPr sz="2200" b="0">
                <a:solidFill>
                  <a:srgbClr val="FFFFFF"/>
                </a:solidFill>
                <a:latin typeface="Inter"/>
              </a:rPr>
              <a:t>Parent/child: which span caused which</a:t>
            </a:r>
          </a:p>
          <a:p>
            <a:pPr marL="292608" indent="-292608">
              <a:lnSpc>
                <a:spcPct val="120000"/>
              </a:lnSpc>
              <a:spcAft>
                <a:spcPts val="1539"/>
              </a:spcAft>
              <a:buClr>
                <a:srgbClr val="00D4AA"/>
              </a:buClr>
              <a:buFont typeface="Inter"/>
              <a:buChar char="•"/>
            </a:pPr>
            <a:r>
              <a:rPr sz="2200" b="0">
                <a:solidFill>
                  <a:srgbClr val="FFFFFF"/>
                </a:solidFill>
                <a:latin typeface="Inter"/>
              </a:rPr>
              <a:t>Attributes: key-value facts about a span</a:t>
            </a:r>
          </a:p>
          <a:p>
            <a:pPr marL="292608" indent="-292608">
              <a:lnSpc>
                <a:spcPct val="120000"/>
              </a:lnSpc>
              <a:spcAft>
                <a:spcPts val="1539"/>
              </a:spcAft>
              <a:buClr>
                <a:srgbClr val="00D4AA"/>
              </a:buClr>
              <a:buFont typeface="Inter"/>
              <a:buChar char="•"/>
            </a:pPr>
            <a:r>
              <a:rPr sz="2200" b="0">
                <a:solidFill>
                  <a:srgbClr val="FFFFFF"/>
                </a:solidFill>
                <a:latin typeface="Inter"/>
              </a:rPr>
              <a:t>Events: timestamped moments inside a span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Six words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Status: OK, ERROR or unset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trace-waterfal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03 · Lecture 3.1 · One Atlas request as a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span, up close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name:        chat gpt-4.1-mini</a:t>
            </a:r>
          </a:p>
          <a:p>
            <a:r>
              <a:rPr sz="1200">
                <a:solidFill>
                  <a:srgbClr val="FFFFFF"/>
                </a:solidFill>
                <a:latin typeface="JetBrains Mono"/>
              </a:rPr>
              <a:t>trace_id:    0xc8e0b7a1c432fda1dd0b3d28692756c3</a:t>
            </a:r>
          </a:p>
          <a:p>
            <a:r>
              <a:rPr sz="1200">
                <a:solidFill>
                  <a:srgbClr val="FFFFFF"/>
                </a:solidFill>
                <a:latin typeface="JetBrains Mono"/>
              </a:rPr>
              <a:t>span_id:     0x21c0b128c8a0a5b9</a:t>
            </a:r>
          </a:p>
          <a:p>
            <a:r>
              <a:rPr sz="1200">
                <a:solidFill>
                  <a:srgbClr val="FFFFFF"/>
                </a:solidFill>
                <a:latin typeface="JetBrains Mono"/>
              </a:rPr>
              <a:t>parent_id:   0xa25f5e46855e69ba</a:t>
            </a:r>
          </a:p>
          <a:p>
            <a:r>
              <a:rPr sz="1200">
                <a:solidFill>
                  <a:srgbClr val="FFFFFF"/>
                </a:solidFill>
                <a:latin typeface="JetBrains Mono"/>
              </a:rPr>
              <a:t>start/end:   14:02:04.619 → 14:02:07.220</a:t>
            </a:r>
          </a:p>
          <a:p>
            <a:r>
              <a:rPr sz="1200">
                <a:solidFill>
                  <a:srgbClr val="FFFFFF"/>
                </a:solidFill>
                <a:latin typeface="JetBrains Mono"/>
              </a:rPr>
              <a:t>attributes:  gen_ai.request.model=gpt-4.1-mini, gen_ai.usage.input_tokens=3012, ...</a:t>
            </a:r>
          </a:p>
          <a:p>
            <a:r>
              <a:rPr sz="1200">
                <a:solidFill>
                  <a:srgbClr val="FFFFFF"/>
                </a:solidFill>
                <a:latin typeface="JetBrains Mono"/>
              </a:rPr>
              <a:t>events:      (none)</a:t>
            </a:r>
          </a:p>
          <a:p>
            <a:r>
              <a:rPr sz="1200">
                <a:solidFill>
                  <a:srgbClr val="FFFFFF"/>
                </a:solidFill>
                <a:latin typeface="JetBrains Mono"/>
              </a:rPr>
              <a:t>status:      UNSET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Context propagation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stack of boxes labelled "current context". Step 1: empty. Step 2: </a:t>
            </a:r>
            <a:r>
              <a:rPr sz="1380" b="0">
                <a:solidFill>
                  <a:srgbClr val="00D4AA"/>
                </a:solidFill>
                <a:latin typeface="JetBrains Mono"/>
              </a:rPr>
              <a:t>invoke_agent atlas</a:t>
            </a:r>
            <a:r>
              <a:rPr sz="1500" b="0">
                <a:solidFill>
                  <a:srgbClr val="CBD5E1"/>
                </a:solidFill>
                <a:latin typeface="Inter"/>
              </a:rPr>
              <a:t> is pushed; it's the current span. Step 3: </a:t>
            </a:r>
            <a:r>
              <a:rPr sz="1380" b="0">
                <a:solidFill>
                  <a:srgbClr val="00D4AA"/>
                </a:solidFill>
                <a:latin typeface="JetBrains Mono"/>
              </a:rPr>
              <a:t>chat gpt-4.1-mini</a:t>
            </a:r>
            <a:r>
              <a:rPr sz="1500" b="0">
                <a:solidFill>
                  <a:srgbClr val="CBD5E1"/>
                </a:solidFill>
                <a:latin typeface="Inter"/>
              </a:rPr>
              <a:t> starts, reads the current span, sets it as parent, and is pushed. Step 4: it ends and is popped; </a:t>
            </a:r>
            <a:r>
              <a:rPr sz="1380" b="0">
                <a:solidFill>
                  <a:srgbClr val="00D4AA"/>
                </a:solidFill>
                <a:latin typeface="JetBrains Mono"/>
              </a:rPr>
              <a:t>invoke_agent atlas</a:t>
            </a:r>
            <a:r>
              <a:rPr sz="1500" b="0">
                <a:solidFill>
                  <a:srgbClr val="CBD5E1"/>
                </a:solidFill>
                <a:latin typeface="Inter"/>
              </a:rPr>
              <a:t> is current again.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Across the network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Context is serialised into HTTP headers: </a:t>
            </a:r>
            <a:r>
              <a:rPr sz="2024" b="0">
                <a:solidFill>
                  <a:srgbClr val="00D4AA"/>
                </a:solidFill>
                <a:latin typeface="JetBrains Mono"/>
              </a:rPr>
              <a:t>traceparent: 00-&lt;trace_id&gt;-&lt;span_id&gt;-01</a:t>
            </a:r>
          </a:p>
          <a:p>
            <a:pPr marL="292608" indent="-292608">
              <a:lnSpc>
                <a:spcPct val="120000"/>
              </a:lnSpc>
              <a:spcAft>
                <a:spcPts val="1539"/>
              </a:spcAft>
              <a:buClr>
                <a:srgbClr val="00D4AA"/>
              </a:buClr>
              <a:buFont typeface="Inter"/>
              <a:buChar char="•"/>
            </a:pPr>
            <a:r>
              <a:rPr sz="2200" b="0">
                <a:solidFill>
                  <a:srgbClr val="FFFFFF"/>
                </a:solidFill>
                <a:latin typeface="Inter"/>
              </a:rPr>
              <a:t>The other service reads the header, continues the same trace</a:t>
            </a:r>
          </a:p>
          <a:p>
            <a:pPr marL="292608" indent="-292608">
              <a:lnSpc>
                <a:spcPct val="120000"/>
              </a:lnSpc>
              <a:spcAft>
                <a:spcPts val="1539"/>
              </a:spcAft>
              <a:buClr>
                <a:srgbClr val="00D4AA"/>
              </a:buClr>
              <a:buFont typeface="Inter"/>
              <a:buChar char="•"/>
            </a:pPr>
            <a:r>
              <a:rPr sz="2200" b="0">
                <a:solidFill>
                  <a:srgbClr val="FFFFFF"/>
                </a:solidFill>
                <a:latin typeface="Inter"/>
              </a:rPr>
              <a:t>Atlas → ticketing API → back, all one trace, if both sides propagate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Sampling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Head sampling: decide at the root, before anything happens (cheap, blind)</a:t>
            </a:r>
          </a:p>
          <a:p>
            <a:pPr marL="292608" indent="-292608">
              <a:lnSpc>
                <a:spcPct val="120000"/>
              </a:lnSpc>
              <a:spcAft>
                <a:spcPts val="1260"/>
              </a:spcAft>
              <a:buClr>
                <a:srgbClr val="00D4AA"/>
              </a:buClr>
              <a:buFont typeface="Inter"/>
              <a:buChar char="•"/>
            </a:pPr>
            <a:r>
              <a:rPr sz="1800" b="0">
                <a:solidFill>
                  <a:srgbClr val="FFFFFF"/>
                </a:solidFill>
                <a:latin typeface="Inter"/>
              </a:rPr>
              <a:t>Tail sampling: decide after the trace finishes (keep every error and slow trace, drop boring successes)</a:t>
            </a:r>
          </a:p>
          <a:p>
            <a:pPr marL="292608" indent="-292608">
              <a:lnSpc>
                <a:spcPct val="120000"/>
              </a:lnSpc>
              <a:spcAft>
                <a:spcPts val="1260"/>
              </a:spcAft>
              <a:buClr>
                <a:srgbClr val="00D4AA"/>
              </a:buClr>
              <a:buFont typeface="Inter"/>
              <a:buChar char="•"/>
            </a:pPr>
            <a:r>
              <a:rPr sz="1800" b="0">
                <a:solidFill>
                  <a:srgbClr val="FFFFFF"/>
                </a:solidFill>
                <a:latin typeface="Inter"/>
              </a:rPr>
              <a:t>Never sample the cost signal: tokens and dollars must be counted from every request</a:t>
            </a:r>
          </a:p>
          <a:p>
            <a:pPr marL="292608" indent="-292608">
              <a:lnSpc>
                <a:spcPct val="120000"/>
              </a:lnSpc>
              <a:spcAft>
                <a:spcPts val="1260"/>
              </a:spcAft>
              <a:buClr>
                <a:srgbClr val="00D4AA"/>
              </a:buClr>
              <a:buFont typeface="Inter"/>
              <a:buChar char="•"/>
            </a:pPr>
            <a:r>
              <a:rPr sz="1800" b="0">
                <a:solidFill>
                  <a:srgbClr val="FFFFFF"/>
                </a:solidFill>
                <a:latin typeface="Inter"/>
              </a:rPr>
              <a:t>Our approach: 100% in dev; in prod, tail-sample traces, count cost from metrics (Sections 9,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trace answers that logs can't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Which spans belong to this request? (trace ID)</a:t>
            </a:r>
          </a:p>
          <a:p>
            <a:pPr marL="292608" indent="-292608">
              <a:lnSpc>
                <a:spcPct val="120000"/>
              </a:lnSpc>
              <a:spcAft>
                <a:spcPts val="1539"/>
              </a:spcAft>
              <a:buClr>
                <a:srgbClr val="00D4AA"/>
              </a:buClr>
              <a:buFont typeface="Inter"/>
              <a:buChar char="•"/>
            </a:pPr>
            <a:r>
              <a:rPr sz="2200" b="0">
                <a:solidFill>
                  <a:srgbClr val="FFFFFF"/>
                </a:solidFill>
                <a:latin typeface="Inter"/>
              </a:rPr>
              <a:t>What caused what? (parent ID)</a:t>
            </a:r>
          </a:p>
          <a:p>
            <a:pPr marL="292608" indent="-292608">
              <a:lnSpc>
                <a:spcPct val="120000"/>
              </a:lnSpc>
              <a:spcAft>
                <a:spcPts val="1539"/>
              </a:spcAft>
              <a:buClr>
                <a:srgbClr val="00D4AA"/>
              </a:buClr>
              <a:buFont typeface="Inter"/>
              <a:buChar char="•"/>
            </a:pPr>
            <a:r>
              <a:rPr sz="2200" b="0">
                <a:solidFill>
                  <a:srgbClr val="FFFFFF"/>
                </a:solidFill>
                <a:latin typeface="Inter"/>
              </a:rPr>
              <a:t>Where did time go? (start and end, nested)</a:t>
            </a:r>
          </a:p>
          <a:p>
            <a:pPr marL="292608" indent="-292608">
              <a:lnSpc>
                <a:spcPct val="120000"/>
              </a:lnSpc>
              <a:spcAft>
                <a:spcPts val="1539"/>
              </a:spcAft>
              <a:buClr>
                <a:srgbClr val="00D4AA"/>
              </a:buClr>
              <a:buFont typeface="Inter"/>
              <a:buChar char="•"/>
            </a:pPr>
            <a:r>
              <a:rPr sz="2200" b="0">
                <a:solidFill>
                  <a:srgbClr val="FFFFFF"/>
                </a:solidFill>
                <a:latin typeface="Inter"/>
              </a:rPr>
              <a:t>What were the facts? (attributes)</a:t>
            </a:r>
          </a:p>
          <a:p>
            <a:pPr marL="292608" indent="-292608">
              <a:lnSpc>
                <a:spcPct val="120000"/>
              </a:lnSpc>
              <a:spcAft>
                <a:spcPts val="1539"/>
              </a:spcAft>
              <a:buClr>
                <a:srgbClr val="00D4AA"/>
              </a:buClr>
              <a:buFont typeface="Inter"/>
              <a:buChar char="•"/>
            </a:pPr>
            <a:r>
              <a:rPr sz="2200" b="0">
                <a:solidFill>
                  <a:srgbClr val="FFFFFF"/>
                </a:solidFill>
                <a:latin typeface="Inter"/>
              </a:rPr>
              <a:t>What happened at 14:02:07? (events)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manual OpenTelemetry instrumentation of Atlas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you strip Atlas back to plain Python and add OpenTelemetry by hand, span by span.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manual OpenTelemetry instrumentation of Atlas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t>
            </a:r>
            <a:r>
              <a:rPr sz="1472" b="0">
                <a:solidFill>
                  <a:srgbClr val="00D4AA"/>
                </a:solidFill>
                <a:latin typeface="JetBrains Mono"/>
              </a:rPr>
              <a:t>setup_tracing()</a:t>
            </a:r>
            <a:r>
              <a:rPr sz="1600" b="0">
                <a:solidFill>
                  <a:srgbClr val="CBD5E1"/>
                </a:solidFill>
                <a:latin typeface="Inter"/>
              </a:rPr>
              <a:t> with a </a:t>
            </a:r>
            <a:r>
              <a:rPr sz="1472" b="0">
                <a:solidFill>
                  <a:srgbClr val="00D4AA"/>
                </a:solidFill>
                <a:latin typeface="JetBrains Mono"/>
              </a:rPr>
              <a:t>TracerProvider</a:t>
            </a:r>
            <a:r>
              <a:rPr sz="1600" b="0">
                <a:solidFill>
                  <a:srgbClr val="CBD5E1"/>
                </a:solidFill>
                <a:latin typeface="Inter"/>
              </a:rPr>
              <a:t>, resource attributes and a </a:t>
            </a:r>
            <a:r>
              <a:rPr sz="1472" b="0">
                <a:solidFill>
                  <a:srgbClr val="00D4AA"/>
                </a:solidFill>
                <a:latin typeface="JetBrains Mono"/>
              </a:rPr>
              <a:t>ConsoleSpanExporter</a:t>
            </a:r>
            <a:r>
              <a:rPr sz="1600" b="0">
                <a:solidFill>
                  <a:srgbClr val="CBD5E1"/>
                </a:solidFill>
                <a:latin typeface="Inter"/>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pipeline you just built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Resource</a:t>
            </a:r>
            <a:r>
              <a:rPr sz="1800" b="0">
                <a:solidFill>
                  <a:srgbClr val="FFFFFF"/>
                </a:solidFill>
                <a:latin typeface="Inter"/>
              </a:rPr>
              <a:t> → who is emitting (service.name, version, environment)</a:t>
            </a:r>
          </a:p>
          <a:p>
            <a:pPr marL="292608" indent="-292608">
              <a:lnSpc>
                <a:spcPct val="120000"/>
              </a:lnSpc>
              <a:spcAft>
                <a:spcPts val="1260"/>
              </a:spcAft>
              <a:buClr>
                <a:srgbClr val="00D4AA"/>
              </a:buClr>
              <a:buFont typeface="Inter"/>
              <a:buChar char="•"/>
            </a:pPr>
            <a:r>
              <a:rPr sz="1656" b="0">
                <a:solidFill>
                  <a:srgbClr val="00D4AA"/>
                </a:solidFill>
                <a:latin typeface="JetBrains Mono"/>
              </a:rPr>
              <a:t>TracerProvider</a:t>
            </a:r>
            <a:r>
              <a:rPr sz="1800" b="0">
                <a:solidFill>
                  <a:srgbClr val="FFFFFF"/>
                </a:solidFill>
                <a:latin typeface="Inter"/>
              </a:rPr>
              <a:t> → owns the pipeline; set once, globally</a:t>
            </a:r>
          </a:p>
          <a:p>
            <a:pPr marL="292608" indent="-292608">
              <a:lnSpc>
                <a:spcPct val="120000"/>
              </a:lnSpc>
              <a:spcAft>
                <a:spcPts val="1260"/>
              </a:spcAft>
              <a:buClr>
                <a:srgbClr val="00D4AA"/>
              </a:buClr>
              <a:buFont typeface="Inter"/>
              <a:buChar char="•"/>
            </a:pPr>
            <a:r>
              <a:rPr sz="1656" b="0">
                <a:solidFill>
                  <a:srgbClr val="00D4AA"/>
                </a:solidFill>
                <a:latin typeface="JetBrains Mono"/>
              </a:rPr>
              <a:t>SpanProcessor</a:t>
            </a:r>
            <a:r>
              <a:rPr sz="1800" b="0">
                <a:solidFill>
                  <a:srgbClr val="FFFFFF"/>
                </a:solidFill>
                <a:latin typeface="Inter"/>
              </a:rPr>
              <a:t> → when to export: Simple (now) vs Batch (queued)</a:t>
            </a:r>
          </a:p>
          <a:p>
            <a:pPr marL="292608" indent="-292608">
              <a:lnSpc>
                <a:spcPct val="120000"/>
              </a:lnSpc>
              <a:spcAft>
                <a:spcPts val="1260"/>
              </a:spcAft>
              <a:buClr>
                <a:srgbClr val="00D4AA"/>
              </a:buClr>
              <a:buFont typeface="Inter"/>
              <a:buChar char="•"/>
            </a:pPr>
            <a:r>
              <a:rPr sz="1656" b="0">
                <a:solidFill>
                  <a:srgbClr val="00D4AA"/>
                </a:solidFill>
                <a:latin typeface="JetBrains Mono"/>
              </a:rPr>
              <a:t>SpanExporter</a:t>
            </a:r>
            <a:r>
              <a:rPr sz="1800" b="0">
                <a:solidFill>
                  <a:srgbClr val="FFFFFF"/>
                </a:solidFill>
                <a:latin typeface="Inter"/>
              </a:rPr>
              <a:t> → where to: Console, OTLP, later file and Langfuse SDK</a:t>
            </a:r>
          </a:p>
          <a:p>
            <a:pPr marL="292608" indent="-292608">
              <a:lnSpc>
                <a:spcPct val="120000"/>
              </a:lnSpc>
              <a:spcAft>
                <a:spcPts val="1260"/>
              </a:spcAft>
              <a:buClr>
                <a:srgbClr val="00D4AA"/>
              </a:buClr>
              <a:buFont typeface="Inter"/>
              <a:buChar char="•"/>
            </a:pPr>
            <a:r>
              <a:rPr sz="1656" b="0">
                <a:solidFill>
                  <a:srgbClr val="00D4AA"/>
                </a:solidFill>
                <a:latin typeface="JetBrains Mono"/>
              </a:rPr>
              <a:t>tracer.start_as_current_span(name)</a:t>
            </a:r>
            <a:r>
              <a:rPr sz="1800" b="0">
                <a:solidFill>
                  <a:srgbClr val="FFFFFF"/>
                </a:solidFill>
                <a:latin typeface="Inter"/>
              </a:rPr>
              <a:t> → the only line application code needs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GenAI semantic conventions: naming things so tools understand them</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spans exist, but Langfuse shows them as plain boxes.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GenAI semantic conventions: naming things so tools understand them</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semantic conventions are and why standard names buy portability.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semantic convention 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An agreed name and meaning for an attribute</a:t>
            </a:r>
          </a:p>
          <a:p>
            <a:pPr marL="292608" indent="-292608">
              <a:lnSpc>
                <a:spcPct val="120000"/>
              </a:lnSpc>
              <a:spcAft>
                <a:spcPts val="1260"/>
              </a:spcAft>
              <a:buClr>
                <a:srgbClr val="00D4AA"/>
              </a:buClr>
              <a:buFont typeface="Inter"/>
              <a:buChar char="•"/>
            </a:pPr>
            <a:r>
              <a:rPr sz="1656" b="0">
                <a:solidFill>
                  <a:srgbClr val="00D4AA"/>
                </a:solidFill>
                <a:latin typeface="JetBrains Mono"/>
              </a:rPr>
              <a:t>http.request.method</a:t>
            </a:r>
            <a:r>
              <a:rPr sz="1800" b="0">
                <a:solidFill>
                  <a:srgbClr val="FFFFFF"/>
                </a:solidFill>
                <a:latin typeface="Inter"/>
              </a:rPr>
              <a:t> is one; every backend knows it means the HTTP verb</a:t>
            </a:r>
          </a:p>
          <a:p>
            <a:pPr marL="292608" indent="-292608">
              <a:lnSpc>
                <a:spcPct val="120000"/>
              </a:lnSpc>
              <a:spcAft>
                <a:spcPts val="1260"/>
              </a:spcAft>
              <a:buClr>
                <a:srgbClr val="00D4AA"/>
              </a:buClr>
              <a:buFont typeface="Inter"/>
              <a:buChar char="•"/>
            </a:pPr>
            <a:r>
              <a:rPr sz="1800" b="0">
                <a:solidFill>
                  <a:srgbClr val="FFFFFF"/>
                </a:solidFill>
                <a:latin typeface="Inter"/>
              </a:rPr>
              <a:t>The GenAI conventions do the same for models, tokens, tools and agents</a:t>
            </a:r>
          </a:p>
          <a:p>
            <a:pPr marL="292608" indent="-292608">
              <a:lnSpc>
                <a:spcPct val="120000"/>
              </a:lnSpc>
              <a:spcAft>
                <a:spcPts val="1260"/>
              </a:spcAft>
              <a:buClr>
                <a:srgbClr val="00D4AA"/>
              </a:buClr>
              <a:buFont typeface="Inter"/>
              <a:buChar char="•"/>
            </a:pPr>
            <a:r>
              <a:rPr sz="1800" b="0">
                <a:solidFill>
                  <a:srgbClr val="FFFFFF"/>
                </a:solidFill>
                <a:latin typeface="Inter"/>
              </a:rPr>
              <a:t>Published by OpenTelemetry; shipped as constants in </a:t>
            </a:r>
            <a:r>
              <a:rPr sz="1656" b="0">
                <a:solidFill>
                  <a:srgbClr val="00D4AA"/>
                </a:solidFill>
                <a:latin typeface="JetBrains Mono"/>
              </a:rPr>
              <a:t>opentelemetry-semantic-conventions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naming rule for spans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755648"/>
        </p:xfrm>
        <a:graphic>
          <a:graphicData uri="http://schemas.openxmlformats.org/drawingml/2006/table">
            <a:tbl>
              <a:tblPr firstRow="1" bandRow="1">
                <a:tableStyleId>{5C22544A-7EE6-4342-B048-85BDC9FD1C3A}</a:tableStyleId>
              </a:tblPr>
              <a:tblGrid>
                <a:gridCol w="1685498"/>
                <a:gridCol w="4887945"/>
                <a:gridCol w="4719395"/>
              </a:tblGrid>
              <a:tr h="438912">
                <a:tc>
                  <a:txBody>
                    <a:bodyPr wrap="square"/>
                    <a:lstStyle/>
                    <a:p>
                      <a:r>
                        <a:rPr sz="1400" b="1">
                          <a:solidFill>
                            <a:srgbClr val="0A1628"/>
                          </a:solidFill>
                          <a:latin typeface="Inter"/>
                        </a:rPr>
                        <a:t>Span kind</a:t>
                      </a:r>
                    </a:p>
                  </a:txBody>
                  <a:tcPr marL="91440" marR="91440" marT="45720" marB="45720" anchor="ctr">
                    <a:solidFill>
                      <a:srgbClr val="00D4AA"/>
                    </a:solidFill>
                  </a:tcPr>
                </a:tc>
                <a:tc>
                  <a:txBody>
                    <a:bodyPr wrap="square"/>
                    <a:lstStyle/>
                    <a:p>
                      <a:r>
                        <a:rPr sz="1400" b="1">
                          <a:solidFill>
                            <a:srgbClr val="0A1628"/>
                          </a:solidFill>
                          <a:latin typeface="Inter"/>
                        </a:rPr>
                        <a:t>Name</a:t>
                      </a:r>
                    </a:p>
                  </a:txBody>
                  <a:tcPr marL="91440" marR="91440" marT="45720" marB="45720" anchor="ctr">
                    <a:solidFill>
                      <a:srgbClr val="00D4AA"/>
                    </a:solidFill>
                  </a:tcPr>
                </a:tc>
                <a:tc>
                  <a:txBody>
                    <a:bodyPr wrap="square"/>
                    <a:lstStyle/>
                    <a:p>
                      <a:r>
                        <a:rPr sz="1400" b="1">
                          <a:solidFill>
                            <a:srgbClr val="0A1628"/>
                          </a:solidFill>
                          <a:latin typeface="Inter"/>
                        </a:rPr>
                        <a:t>Example</a:t>
                      </a:r>
                    </a:p>
                  </a:txBody>
                  <a:tcPr marL="91440" marR="91440" marT="45720" marB="45720" anchor="ctr">
                    <a:solidFill>
                      <a:srgbClr val="00D4AA"/>
                    </a:solidFill>
                  </a:tcPr>
                </a:tc>
              </a:tr>
              <a:tr h="438912">
                <a:tc>
                  <a:txBody>
                    <a:bodyPr wrap="square"/>
                    <a:lstStyle/>
                    <a:p>
                      <a:r>
                        <a:rPr sz="1400" b="1">
                          <a:solidFill>
                            <a:srgbClr val="FFFFFF"/>
                          </a:solidFill>
                          <a:latin typeface="Inter"/>
                        </a:rPr>
                        <a:t>Model call</a:t>
                      </a:r>
                    </a:p>
                  </a:txBody>
                  <a:tcPr marL="91440" marR="91440" marT="45720" marB="45720" anchor="ctr">
                    <a:solidFill>
                      <a:srgbClr val="1A2742"/>
                    </a:solidFill>
                  </a:tcPr>
                </a:tc>
                <a:tc>
                  <a:txBody>
                    <a:bodyPr wrap="square"/>
                    <a:lstStyle/>
                    <a:p>
                      <a:r>
                        <a:rPr sz="1288" b="0">
                          <a:solidFill>
                            <a:srgbClr val="00D4AA"/>
                          </a:solidFill>
                          <a:latin typeface="JetBrains Mono"/>
                        </a:rPr>
                        <a:t>{operation} {request model}</a:t>
                      </a:r>
                    </a:p>
                  </a:txBody>
                  <a:tcPr marL="91440" marR="91440" marT="45720" marB="45720" anchor="ctr">
                    <a:solidFill>
                      <a:srgbClr val="1A2742"/>
                    </a:solidFill>
                  </a:tcPr>
                </a:tc>
                <a:tc>
                  <a:txBody>
                    <a:bodyPr wrap="square"/>
                    <a:lstStyle/>
                    <a:p>
                      <a:r>
                        <a:rPr sz="1288" b="0">
                          <a:solidFill>
                            <a:srgbClr val="00D4AA"/>
                          </a:solidFill>
                          <a:latin typeface="JetBrains Mono"/>
                        </a:rPr>
                        <a:t>chat gpt-4.1-mini</a:t>
                      </a:r>
                    </a:p>
                  </a:txBody>
                  <a:tcPr marL="91440" marR="91440" marT="45720" marB="45720" anchor="ctr">
                    <a:solidFill>
                      <a:srgbClr val="1A2742"/>
                    </a:solidFill>
                  </a:tcPr>
                </a:tc>
              </a:tr>
              <a:tr h="438912">
                <a:tc>
                  <a:txBody>
                    <a:bodyPr wrap="square"/>
                    <a:lstStyle/>
                    <a:p>
                      <a:r>
                        <a:rPr sz="1400" b="1">
                          <a:solidFill>
                            <a:srgbClr val="FFFFFF"/>
                          </a:solidFill>
                          <a:latin typeface="Inter"/>
                        </a:rPr>
                        <a:t>Tool call</a:t>
                      </a:r>
                    </a:p>
                  </a:txBody>
                  <a:tcPr marL="91440" marR="91440" marT="45720" marB="45720" anchor="ctr">
                    <a:solidFill>
                      <a:srgbClr val="0F1E35"/>
                    </a:solidFill>
                  </a:tcPr>
                </a:tc>
                <a:tc>
                  <a:txBody>
                    <a:bodyPr wrap="square"/>
                    <a:lstStyle/>
                    <a:p>
                      <a:r>
                        <a:rPr sz="1288" b="0">
                          <a:solidFill>
                            <a:srgbClr val="00D4AA"/>
                          </a:solidFill>
                          <a:latin typeface="JetBrains Mono"/>
                        </a:rPr>
                        <a:t>execute_tool {tool name}</a:t>
                      </a:r>
                    </a:p>
                  </a:txBody>
                  <a:tcPr marL="91440" marR="91440" marT="45720" marB="45720" anchor="ctr">
                    <a:solidFill>
                      <a:srgbClr val="0F1E35"/>
                    </a:solidFill>
                  </a:tcPr>
                </a:tc>
                <a:tc>
                  <a:txBody>
                    <a:bodyPr wrap="square"/>
                    <a:lstStyle/>
                    <a:p>
                      <a:r>
                        <a:rPr sz="1288" b="0">
                          <a:solidFill>
                            <a:srgbClr val="00D4AA"/>
                          </a:solidFill>
                          <a:latin typeface="JetBrains Mono"/>
                        </a:rPr>
                        <a:t>execute_tool lookup_ticket</a:t>
                      </a:r>
                    </a:p>
                  </a:txBody>
                  <a:tcPr marL="91440" marR="91440" marT="45720" marB="45720" anchor="ctr">
                    <a:solidFill>
                      <a:srgbClr val="0F1E35"/>
                    </a:solidFill>
                  </a:tcPr>
                </a:tc>
              </a:tr>
              <a:tr h="438912">
                <a:tc>
                  <a:txBody>
                    <a:bodyPr wrap="square"/>
                    <a:lstStyle/>
                    <a:p>
                      <a:r>
                        <a:rPr sz="1400" b="1">
                          <a:solidFill>
                            <a:srgbClr val="FFFFFF"/>
                          </a:solidFill>
                          <a:latin typeface="Inter"/>
                        </a:rPr>
                        <a:t>Agent run</a:t>
                      </a:r>
                    </a:p>
                  </a:txBody>
                  <a:tcPr marL="91440" marR="91440" marT="45720" marB="45720" anchor="ctr">
                    <a:solidFill>
                      <a:srgbClr val="1A2742"/>
                    </a:solidFill>
                  </a:tcPr>
                </a:tc>
                <a:tc>
                  <a:txBody>
                    <a:bodyPr wrap="square"/>
                    <a:lstStyle/>
                    <a:p>
                      <a:r>
                        <a:rPr sz="1288" b="0">
                          <a:solidFill>
                            <a:srgbClr val="00D4AA"/>
                          </a:solidFill>
                          <a:latin typeface="JetBrains Mono"/>
                        </a:rPr>
                        <a:t>invoke_agent {agent name}</a:t>
                      </a:r>
                    </a:p>
                  </a:txBody>
                  <a:tcPr marL="91440" marR="91440" marT="45720" marB="45720" anchor="ctr">
                    <a:solidFill>
                      <a:srgbClr val="1A2742"/>
                    </a:solidFill>
                  </a:tcPr>
                </a:tc>
                <a:tc>
                  <a:txBody>
                    <a:bodyPr wrap="square"/>
                    <a:lstStyle/>
                    <a:p>
                      <a:r>
                        <a:rPr sz="1288" b="0">
                          <a:solidFill>
                            <a:srgbClr val="00D4AA"/>
                          </a:solidFill>
                          <a:latin typeface="JetBrains Mono"/>
                        </a:rPr>
                        <a:t>invoke_agent atlas</a:t>
                      </a:r>
                    </a:p>
                  </a:txBody>
                  <a:tcPr marL="91440" marR="91440" marT="45720" marB="45720" anchor="ctr">
                    <a:solidFill>
                      <a:srgbClr val="1A274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Model call attributes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663440"/>
          </a:xfrm>
          <a:prstGeom prst="roundRect">
            <a:avLst>
              <a:gd name="adj" fmla="val 1098"/>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66344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206240"/>
          </a:xfrm>
          <a:prstGeom prst="rect">
            <a:avLst/>
          </a:prstGeom>
          <a:noFill/>
        </p:spPr>
        <p:txBody>
          <a:bodyPr wrap="none" lIns="45720" rIns="45720" tIns="27432" bIns="27432" anchor="t">
            <a:spAutoFit/>
          </a:bodyPr>
          <a:lstStyle/>
          <a:p>
            <a:r>
              <a:rPr sz="1400">
                <a:solidFill>
                  <a:srgbClr val="FFFFFF"/>
                </a:solidFill>
                <a:latin typeface="JetBrains Mono"/>
              </a:rPr>
              <a:t>gen_ai.operation.name          "chat"</a:t>
            </a:r>
          </a:p>
          <a:p>
            <a:r>
              <a:rPr sz="1400">
                <a:solidFill>
                  <a:srgbClr val="FFFFFF"/>
                </a:solidFill>
                <a:latin typeface="JetBrains Mono"/>
              </a:rPr>
              <a:t>gen_ai.provider.name           "openai"</a:t>
            </a:r>
          </a:p>
          <a:p>
            <a:r>
              <a:rPr sz="1400">
                <a:solidFill>
                  <a:srgbClr val="FFFFFF"/>
                </a:solidFill>
                <a:latin typeface="JetBrains Mono"/>
              </a:rPr>
              <a:t>gen_ai.request.model           "gpt-4.1-mini"</a:t>
            </a:r>
          </a:p>
          <a:p>
            <a:r>
              <a:rPr sz="1400">
                <a:solidFill>
                  <a:srgbClr val="FFFFFF"/>
                </a:solidFill>
                <a:latin typeface="JetBrains Mono"/>
              </a:rPr>
              <a:t>gen_ai.response.model          "gpt-4.1-mini-2025-04-14"</a:t>
            </a:r>
          </a:p>
          <a:p>
            <a:r>
              <a:rPr sz="1400">
                <a:solidFill>
                  <a:srgbClr val="FFFFFF"/>
                </a:solidFill>
                <a:latin typeface="JetBrains Mono"/>
              </a:rPr>
              <a:t>gen_ai.usage.input_tokens      3012</a:t>
            </a:r>
          </a:p>
          <a:p>
            <a:r>
              <a:rPr sz="1400">
                <a:solidFill>
                  <a:srgbClr val="FFFFFF"/>
                </a:solidFill>
                <a:latin typeface="JetBrains Mono"/>
              </a:rPr>
              <a:t>gen_ai.usage.output_tokens     142</a:t>
            </a:r>
          </a:p>
          <a:p>
            <a:r>
              <a:rPr sz="1400">
                <a:solidFill>
                  <a:srgbClr val="FFFFFF"/>
                </a:solidFill>
                <a:latin typeface="JetBrains Mono"/>
              </a:rPr>
              <a:t>gen_ai.usage.cache_read.input_tokens     0</a:t>
            </a:r>
          </a:p>
          <a:p>
            <a:r>
              <a:rPr sz="1400">
                <a:solidFill>
                  <a:srgbClr val="FFFFFF"/>
                </a:solidFill>
                <a:latin typeface="JetBrains Mono"/>
              </a:rPr>
              <a:t>gen_ai.usage.reasoning.output_tokens     0</a:t>
            </a:r>
          </a:p>
          <a:p>
            <a:r>
              <a:rPr sz="1400">
                <a:solidFill>
                  <a:srgbClr val="FFFFFF"/>
                </a:solidFill>
                <a:latin typeface="JetBrains Mono"/>
              </a:rPr>
              <a:t>gen_ai.response.finish_reasons ["tool_calls"]</a:t>
            </a:r>
          </a:p>
        </p:txBody>
      </p:sp>
      <p:sp>
        <p:nvSpPr>
          <p:cNvPr id="9" name="TextBox 8"/>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incubating, names may change.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Tool call attributes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gen_ai.operation.name       "execute_tool"</a:t>
            </a:r>
          </a:p>
          <a:p>
            <a:r>
              <a:rPr sz="1200">
                <a:solidFill>
                  <a:srgbClr val="FFFFFF"/>
                </a:solidFill>
                <a:latin typeface="JetBrains Mono"/>
              </a:rPr>
              <a:t>gen_ai.tool.name            "lookup_ticket"</a:t>
            </a:r>
          </a:p>
          <a:p>
            <a:r>
              <a:rPr sz="1200">
                <a:solidFill>
                  <a:srgbClr val="FFFFFF"/>
                </a:solidFill>
                <a:latin typeface="JetBrains Mono"/>
              </a:rPr>
              <a:t>gen_ai.tool.call.id         "call_8f2..."</a:t>
            </a:r>
          </a:p>
          <a:p>
            <a:r>
              <a:rPr sz="1200">
                <a:solidFill>
                  <a:srgbClr val="FFFFFF"/>
                </a:solidFill>
                <a:latin typeface="JetBrains Mono"/>
              </a:rPr>
              <a:t>gen_ai.tool.call.arguments  {"ticket_id": "TCK-100231"}</a:t>
            </a:r>
          </a:p>
          <a:p>
            <a:r>
              <a:rPr sz="1200">
                <a:solidFill>
                  <a:srgbClr val="FFFFFF"/>
                </a:solidFill>
                <a:latin typeface="JetBrains Mono"/>
              </a:rPr>
              <a:t>gen_ai.tool.call.result     {"status": "open", ...}   (redacted, truncated)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 and conversation attributes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400">
                <a:solidFill>
                  <a:srgbClr val="FFFFFF"/>
                </a:solidFill>
                <a:latin typeface="JetBrains Mono"/>
              </a:rPr>
              <a:t>gen_ai.operation.name    "invoke_agent"</a:t>
            </a:r>
          </a:p>
          <a:p>
            <a:r>
              <a:rPr sz="1400">
                <a:solidFill>
                  <a:srgbClr val="FFFFFF"/>
                </a:solidFill>
                <a:latin typeface="JetBrains Mono"/>
              </a:rPr>
              <a:t>gen_ai.agent.name        "atlas"</a:t>
            </a:r>
          </a:p>
          <a:p>
            <a:r>
              <a:rPr sz="1400">
                <a:solidFill>
                  <a:srgbClr val="FFFFFF"/>
                </a:solidFill>
                <a:latin typeface="JetBrains Mono"/>
              </a:rPr>
              <a:t>gen_ai.agent.version     "v1"     (your prompt or code version)</a:t>
            </a:r>
          </a:p>
          <a:p>
            <a:r>
              <a:rPr sz="1400">
                <a:solidFill>
                  <a:srgbClr val="FFFFFF"/>
                </a:solidFill>
                <a:latin typeface="JetBrains Mono"/>
              </a:rPr>
              <a:t>gen_ai.conversation.id   "sess-demo-1"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Constants, not strings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_incubating</a:t>
            </a:r>
            <a:r>
              <a:rPr sz="1600" b="0">
                <a:solidFill>
                  <a:srgbClr val="FFFFFF"/>
                </a:solidFill>
                <a:latin typeface="Inter"/>
              </a:rPr>
              <a:t> in the path is deliberate: these names are not stable yet</a:t>
            </a:r>
          </a:p>
          <a:p>
            <a:pPr marL="292608" indent="-292608">
              <a:lnSpc>
                <a:spcPct val="120000"/>
              </a:lnSpc>
              <a:spcAft>
                <a:spcPts val="1120"/>
              </a:spcAft>
              <a:buClr>
                <a:srgbClr val="00D4AA"/>
              </a:buClr>
              <a:buFont typeface="Inter"/>
              <a:buChar char="•"/>
            </a:pPr>
            <a:r>
              <a:rPr sz="1600" b="0">
                <a:solidFill>
                  <a:srgbClr val="FFFFFF"/>
                </a:solidFill>
                <a:latin typeface="Inter"/>
              </a:rPr>
              <a:t>A constant renames with the package; a string typo is a silent hole in your dashboard</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from opentelemetry.semconv._incubating.attributes import gen_ai_attributes as g</a:t>
            </a:r>
          </a:p>
          <a:p>
            <a:r>
              <a:rPr sz="1200">
                <a:solidFill>
                  <a:srgbClr val="FFFFFF"/>
                </a:solidFill>
                <a:latin typeface="JetBrains Mono"/>
              </a:rPr>
              <a:t> </a:t>
            </a:r>
          </a:p>
          <a:p>
            <a:r>
              <a:rPr sz="1200">
                <a:solidFill>
                  <a:srgbClr val="FFFFFF"/>
                </a:solidFill>
                <a:latin typeface="JetBrains Mono"/>
              </a:rPr>
              <a:t>span.set_attribute(g.GEN_AI_REQUEST_MODEL, "gpt-4.1-mini")</a:t>
            </a:r>
          </a:p>
          <a:p>
            <a:r>
              <a:rPr sz="1200">
                <a:solidFill>
                  <a:srgbClr val="FFFFFF"/>
                </a:solidFill>
                <a:latin typeface="JetBrains Mono"/>
              </a:rPr>
              <a:t>span.set_attribute(g.GEN_AI_USAGE_INPUT_TOKENS, 3012)</a:t>
            </a:r>
          </a:p>
          <a:p>
            <a:r>
              <a:rPr sz="1200">
                <a:solidFill>
                  <a:srgbClr val="FFFFFF"/>
                </a:solidFill>
                <a:latin typeface="JetBrains Mono"/>
              </a:rPr>
              <a:t>span.set_attribute(g.GEN_AI_OPERATION_NAME, g.GenAiOperationNameValues.CHAT.value)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"incubating" means for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Stable conventions (HTTP, DB) have compatibility guarantees. GenAI does not yet.</a:t>
            </a:r>
          </a:p>
          <a:p>
            <a:pPr marL="292608" indent="-292608">
              <a:lnSpc>
                <a:spcPct val="120000"/>
              </a:lnSpc>
              <a:spcAft>
                <a:spcPts val="1260"/>
              </a:spcAft>
              <a:buClr>
                <a:srgbClr val="00D4AA"/>
              </a:buClr>
              <a:buFont typeface="Inter"/>
              <a:buChar char="•"/>
            </a:pPr>
            <a:r>
              <a:rPr sz="1800" b="0">
                <a:solidFill>
                  <a:srgbClr val="FFFFFF"/>
                </a:solidFill>
                <a:latin typeface="Inter"/>
              </a:rPr>
              <a:t>Expect renames between minor versions; pin the package, read the changelog</a:t>
            </a:r>
          </a:p>
          <a:p>
            <a:pPr marL="292608" indent="-292608">
              <a:lnSpc>
                <a:spcPct val="120000"/>
              </a:lnSpc>
              <a:spcAft>
                <a:spcPts val="1260"/>
              </a:spcAft>
              <a:buClr>
                <a:srgbClr val="00D4AA"/>
              </a:buClr>
              <a:buFont typeface="Inter"/>
              <a:buChar char="•"/>
            </a:pPr>
            <a:r>
              <a:rPr sz="1800" b="0">
                <a:solidFill>
                  <a:srgbClr val="FFFFFF"/>
                </a:solidFill>
                <a:latin typeface="Inter"/>
              </a:rPr>
              <a:t>Backends may support a range of old and new names; Langfuse maps </a:t>
            </a:r>
            <a:r>
              <a:rPr sz="1656" b="0">
                <a:solidFill>
                  <a:srgbClr val="00D4AA"/>
                </a:solidFill>
                <a:latin typeface="JetBrains Mono"/>
              </a:rPr>
              <a:t>gen_ai.*</a:t>
            </a:r>
            <a:r>
              <a:rPr sz="1800" b="0">
                <a:solidFill>
                  <a:srgbClr val="FFFFFF"/>
                </a:solidFill>
                <a:latin typeface="Inter"/>
              </a:rPr>
              <a:t> today</a:t>
            </a:r>
          </a:p>
          <a:p>
            <a:pPr marL="292608" indent="-292608">
              <a:lnSpc>
                <a:spcPct val="120000"/>
              </a:lnSpc>
              <a:spcAft>
                <a:spcPts val="1260"/>
              </a:spcAft>
              <a:buClr>
                <a:srgbClr val="00D4AA"/>
              </a:buClr>
              <a:buFont typeface="Inter"/>
              <a:buChar char="•"/>
            </a:pPr>
            <a:r>
              <a:rPr sz="1800" b="0">
                <a:solidFill>
                  <a:srgbClr val="FFFFFF"/>
                </a:solidFill>
                <a:latin typeface="Inter"/>
              </a:rPr>
              <a:t>Say it on every dashboard: "GenAI semconv 0.66; names may change"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this buys portability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Atlas emits one span with </a:t>
            </a:r>
            <a:r>
              <a:rPr sz="1380" b="0">
                <a:solidFill>
                  <a:srgbClr val="00D4AA"/>
                </a:solidFill>
                <a:latin typeface="JetBrains Mono"/>
              </a:rPr>
              <a:t>gen_ai.usage.input_tokens=3012</a:t>
            </a:r>
            <a:r>
              <a:rPr sz="1500" b="0">
                <a:solidFill>
                  <a:srgbClr val="CBD5E1"/>
                </a:solidFill>
                <a:latin typeface="Inter"/>
              </a:rPr>
              <a:t>. Arrows to Langfuse ("shows usage, computes cost"), Phoenix ("shows tokens"), Grafana via collector ("gen_ai.client.token.usage metric"), Datadog ("LLM Observability"). Caption: same span, four backends, zero code changes.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conventions name metrics too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663440"/>
          </a:xfrm>
          <a:prstGeom prst="roundRect">
            <a:avLst>
              <a:gd name="adj" fmla="val 1098"/>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66344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206240"/>
          </a:xfrm>
          <a:prstGeom prst="rect">
            <a:avLst/>
          </a:prstGeom>
          <a:noFill/>
        </p:spPr>
        <p:txBody>
          <a:bodyPr wrap="none" lIns="45720" rIns="45720" tIns="27432" bIns="27432" anchor="t">
            <a:spAutoFit/>
          </a:bodyPr>
          <a:lstStyle/>
          <a:p>
            <a:r>
              <a:rPr sz="1000">
                <a:solidFill>
                  <a:srgbClr val="FFFFFF"/>
                </a:solidFill>
                <a:latin typeface="JetBrains Mono"/>
              </a:rPr>
              <a:t>from opentelemetry.semconv._incubating.metrics import gen_ai_metrics as gm</a:t>
            </a:r>
          </a:p>
          <a:p>
            <a:r>
              <a:rPr sz="1000">
                <a:solidFill>
                  <a:srgbClr val="FFFFFF"/>
                </a:solidFill>
                <a:latin typeface="JetBrains Mono"/>
              </a:rPr>
              <a:t> </a:t>
            </a:r>
          </a:p>
          <a:p>
            <a:r>
              <a:rPr sz="1000">
                <a:solidFill>
                  <a:srgbClr val="FFFFFF"/>
                </a:solidFill>
                <a:latin typeface="JetBrains Mono"/>
              </a:rPr>
              <a:t>gm.GEN_AI_CLIENT_TOKEN_USAGE                    # "gen_ai.client.token.usage"  (histogram, by gen_ai.token.type)</a:t>
            </a:r>
          </a:p>
          <a:p>
            <a:r>
              <a:rPr sz="1000">
                <a:solidFill>
                  <a:srgbClr val="FFFFFF"/>
                </a:solidFill>
                <a:latin typeface="JetBrains Mono"/>
              </a:rPr>
              <a:t>gm.GEN_AI_CLIENT_OPERATION_DURATION             # "gen_ai.client.operation.duration"</a:t>
            </a:r>
          </a:p>
          <a:p>
            <a:r>
              <a:rPr sz="1000">
                <a:solidFill>
                  <a:srgbClr val="FFFFFF"/>
                </a:solidFill>
                <a:latin typeface="JetBrains Mono"/>
              </a:rPr>
              <a:t>gm.GEN_AI_CLIENT_OPERATION_TIME_TO_FIRST_CHUNK  # "gen_ai.client.operation.time_to_first_chunk"</a:t>
            </a:r>
          </a:p>
        </p:txBody>
      </p:sp>
      <p:sp>
        <p:nvSpPr>
          <p:cNvPr id="9" name="TextBox 8"/>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incubating, names may change.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conventions don't cover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in dollars: not a standard attribute; Langfuse computes it or you set </a:t>
            </a:r>
            <a:r>
              <a:rPr sz="1656" b="0">
                <a:solidFill>
                  <a:srgbClr val="00D4AA"/>
                </a:solidFill>
                <a:latin typeface="JetBrains Mono"/>
              </a:rPr>
              <a:t>cost_details</a:t>
            </a:r>
            <a:r>
              <a:rPr sz="1800" b="0">
                <a:solidFill>
                  <a:srgbClr val="FFFFFF"/>
                </a:solidFill>
                <a:latin typeface="Inter"/>
              </a:rPr>
              <a:t> (4.2)</a:t>
            </a:r>
          </a:p>
          <a:p>
            <a:pPr marL="292608" indent="-292608">
              <a:lnSpc>
                <a:spcPct val="120000"/>
              </a:lnSpc>
              <a:spcAft>
                <a:spcPts val="1260"/>
              </a:spcAft>
              <a:buClr>
                <a:srgbClr val="00D4AA"/>
              </a:buClr>
              <a:buFont typeface="Inter"/>
              <a:buChar char="•"/>
            </a:pPr>
            <a:r>
              <a:rPr sz="1800" b="0">
                <a:solidFill>
                  <a:srgbClr val="FFFFFF"/>
                </a:solidFill>
                <a:latin typeface="Inter"/>
              </a:rPr>
              <a:t>Your business dimensions: tenant, feature, ticket type → your own namespace, e.g. </a:t>
            </a:r>
            <a:r>
              <a:rPr sz="1656" b="0">
                <a:solidFill>
                  <a:srgbClr val="00D4AA"/>
                </a:solidFill>
                <a:latin typeface="JetBrains Mono"/>
              </a:rPr>
              <a:t>atlas.tenant</a:t>
            </a:r>
          </a:p>
          <a:p>
            <a:pPr marL="292608" indent="-292608">
              <a:lnSpc>
                <a:spcPct val="120000"/>
              </a:lnSpc>
              <a:spcAft>
                <a:spcPts val="1260"/>
              </a:spcAft>
              <a:buClr>
                <a:srgbClr val="00D4AA"/>
              </a:buClr>
              <a:buFont typeface="Inter"/>
              <a:buChar char="•"/>
            </a:pPr>
            <a:r>
              <a:rPr sz="1800" b="0">
                <a:solidFill>
                  <a:srgbClr val="FFFFFF"/>
                </a:solidFill>
                <a:latin typeface="Inter"/>
              </a:rPr>
              <a:t>Quality scores: backend feature, not a span attribute (4.5)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tag every LLM, tool and agent span correctly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code-along: helpers in </a:t>
            </a:r>
            <a:r>
              <a:rPr sz="1288" b="0">
                <a:solidFill>
                  <a:srgbClr val="00D4AA"/>
                </a:solidFill>
                <a:latin typeface="JetBrains Mono"/>
              </a:rPr>
              <a:t>genai_attrs.py</a:t>
            </a:r>
            <a:r>
              <a:rPr sz="1400" b="0">
                <a:solidFill>
                  <a:srgbClr val="94A3B8"/>
                </a:solidFill>
                <a:latin typeface="Inter"/>
              </a:rPr>
              <a:t> that tag every model, tool and agent span in one line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tag every LLM, tool and agent span correctly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three helpers in </a:t>
            </a:r>
            <a:r>
              <a:rPr sz="1472" b="0">
                <a:solidFill>
                  <a:srgbClr val="00D4AA"/>
                </a:solidFill>
                <a:latin typeface="JetBrains Mono"/>
              </a:rPr>
              <a:t>telemetry/genai_attrs.py</a:t>
            </a:r>
            <a:r>
              <a:rPr sz="1600" b="0">
                <a:solidFill>
                  <a:srgbClr val="CBD5E1"/>
                </a:solidFill>
                <a:latin typeface="Inter"/>
              </a:rPr>
              <a:t>: </a:t>
            </a:r>
            <a:r>
              <a:rPr sz="1472" b="0">
                <a:solidFill>
                  <a:srgbClr val="00D4AA"/>
                </a:solidFill>
                <a:latin typeface="JetBrains Mono"/>
              </a:rPr>
              <a:t>set_agent_attrs</a:t>
            </a:r>
            <a:r>
              <a:rPr sz="1600" b="0">
                <a:solidFill>
                  <a:srgbClr val="CBD5E1"/>
                </a:solidFill>
                <a:latin typeface="Inter"/>
              </a:rPr>
              <a:t>, </a:t>
            </a:r>
            <a:r>
              <a:rPr sz="1472" b="0">
                <a:solidFill>
                  <a:srgbClr val="00D4AA"/>
                </a:solidFill>
                <a:latin typeface="JetBrains Mono"/>
              </a:rPr>
              <a:t>set_llm_attrs</a:t>
            </a:r>
            <a:r>
              <a:rPr sz="1600" b="0">
                <a:solidFill>
                  <a:srgbClr val="CBD5E1"/>
                </a:solidFill>
                <a:latin typeface="Inter"/>
              </a:rPr>
              <a:t>, </a:t>
            </a:r>
            <a:r>
              <a:rPr sz="1472" b="0">
                <a:solidFill>
                  <a:srgbClr val="00D4AA"/>
                </a:solidFill>
                <a:latin typeface="JetBrains Mono"/>
              </a:rPr>
              <a:t>set_tool_attrs</a:t>
            </a:r>
            <a:r>
              <a:rPr sz="1600" b="0">
                <a:solidFill>
                  <a:srgbClr val="CBD5E1"/>
                </a:solidFill>
                <a:latin typeface="Inter"/>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Auto-instrumentation with OpenInference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one line of auto-instrumentation that captures every OpenAI call, and the three things it can't know.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Auto-instrumentation with OpenInference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Instrument the OpenAI client with </a:t>
            </a:r>
            <a:r>
              <a:rPr sz="1472" b="0">
                <a:solidFill>
                  <a:srgbClr val="00D4AA"/>
                </a:solidFill>
                <a:latin typeface="JetBrains Mono"/>
              </a:rPr>
              <a:t>OpenAIInstrumentor().instrument(tracer_provider=...)</a:t>
            </a:r>
            <a:r>
              <a:rPr sz="1600" b="0">
                <a:solidFill>
                  <a:srgbClr val="CBD5E1"/>
                </a:solidFill>
                <a:latin typeface="Inter"/>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instrumentor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We use </a:t>
            </a:r>
            <a:r>
              <a:rPr sz="1656" b="0">
                <a:solidFill>
                  <a:srgbClr val="00D4AA"/>
                </a:solidFill>
                <a:latin typeface="JetBrains Mono"/>
              </a:rPr>
              <a:t>openinference-instrumentation-openai</a:t>
            </a:r>
            <a:r>
              <a:rPr sz="1800" b="0">
                <a:solidFill>
                  <a:srgbClr val="FFFFFF"/>
                </a:solidFill>
                <a:latin typeface="Inter"/>
              </a:rPr>
              <a:t> (Arize's OpenInference project)</a:t>
            </a:r>
          </a:p>
          <a:p>
            <a:pPr marL="292608" indent="-292608">
              <a:lnSpc>
                <a:spcPct val="120000"/>
              </a:lnSpc>
              <a:spcAft>
                <a:spcPts val="1260"/>
              </a:spcAft>
              <a:buClr>
                <a:srgbClr val="00D4AA"/>
              </a:buClr>
              <a:buFont typeface="Inter"/>
              <a:buChar char="•"/>
            </a:pPr>
            <a:r>
              <a:rPr sz="1800" b="0">
                <a:solidFill>
                  <a:srgbClr val="FFFFFF"/>
                </a:solidFill>
                <a:latin typeface="Inter"/>
              </a:rPr>
              <a:t>It patches the OpenAI client and emits one span per call with model, tokens, messages</a:t>
            </a:r>
          </a:p>
          <a:p>
            <a:pPr marL="292608" indent="-292608">
              <a:lnSpc>
                <a:spcPct val="120000"/>
              </a:lnSpc>
              <a:spcAft>
                <a:spcPts val="1260"/>
              </a:spcAft>
              <a:buClr>
                <a:srgbClr val="00D4AA"/>
              </a:buClr>
              <a:buFont typeface="Inter"/>
              <a:buChar char="•"/>
            </a:pPr>
            <a:r>
              <a:rPr sz="1800" b="0">
                <a:solidFill>
                  <a:srgbClr val="FFFFFF"/>
                </a:solidFill>
                <a:latin typeface="Inter"/>
              </a:rPr>
              <a:t>Uses OpenInference attribute names (</a:t>
            </a:r>
            <a:r>
              <a:rPr sz="1656" b="0">
                <a:solidFill>
                  <a:srgbClr val="00D4AA"/>
                </a:solidFill>
                <a:latin typeface="JetBrains Mono"/>
              </a:rPr>
              <a:t>llm.token_count.prompt</a:t>
            </a:r>
            <a:r>
              <a:rPr sz="1800" b="0">
                <a:solidFill>
                  <a:srgbClr val="FFFFFF"/>
                </a:solidFill>
                <a:latin typeface="Inter"/>
              </a:rPr>
              <a:t>, ...); Langfuse and Phoenix both read them</a:t>
            </a:r>
          </a:p>
          <a:p>
            <a:pPr marL="292608" indent="-292608">
              <a:lnSpc>
                <a:spcPct val="120000"/>
              </a:lnSpc>
              <a:spcAft>
                <a:spcPts val="1260"/>
              </a:spcAft>
              <a:buClr>
                <a:srgbClr val="00D4AA"/>
              </a:buClr>
              <a:buFont typeface="Inter"/>
              <a:buChar char="•"/>
            </a:pPr>
            <a:r>
              <a:rPr sz="1800" b="0">
                <a:solidFill>
                  <a:srgbClr val="FFFFFF"/>
                </a:solidFill>
                <a:latin typeface="Inter"/>
              </a:rPr>
              <a:t>Not used: </a:t>
            </a:r>
            <a:r>
              <a:rPr sz="1656" b="0">
                <a:solidFill>
                  <a:srgbClr val="00D4AA"/>
                </a:solidFill>
                <a:latin typeface="JetBrains Mono"/>
              </a:rPr>
              <a:t>opentelemetry-instrumentation-openai-v2</a:t>
            </a:r>
            <a:r>
              <a:rPr sz="1800" b="0">
                <a:solidFill>
                  <a:srgbClr val="FFFFFF"/>
                </a:solidFill>
                <a:latin typeface="Inter"/>
              </a:rPr>
              <a:t> (import error at verification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get for free, and what you don't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5300720"/>
                <a:gridCol w="5992119"/>
              </a:tblGrid>
              <a:tr h="384048">
                <a:tc>
                  <a:txBody>
                    <a:bodyPr wrap="square"/>
                    <a:lstStyle/>
                    <a:p>
                      <a:r>
                        <a:rPr sz="1200" b="1">
                          <a:solidFill>
                            <a:srgbClr val="0A1628"/>
                          </a:solidFill>
                          <a:latin typeface="Inter"/>
                        </a:rPr>
                        <a:t>Free from the instrumentor</a:t>
                      </a:r>
                    </a:p>
                  </a:txBody>
                  <a:tcPr marL="91440" marR="91440" marT="45720" marB="45720" anchor="ctr">
                    <a:solidFill>
                      <a:srgbClr val="00D4AA"/>
                    </a:solidFill>
                  </a:tcPr>
                </a:tc>
                <a:tc>
                  <a:txBody>
                    <a:bodyPr wrap="square"/>
                    <a:lstStyle/>
                    <a:p>
                      <a:r>
                        <a:rPr sz="1200" b="1">
                          <a:solidFill>
                            <a:srgbClr val="0A1628"/>
                          </a:solidFill>
                          <a:latin typeface="Inter"/>
                        </a:rPr>
                        <a:t>Still yours</a:t>
                      </a:r>
                    </a:p>
                  </a:txBody>
                  <a:tcPr marL="91440" marR="91440" marT="45720" marB="45720" anchor="ctr">
                    <a:solidFill>
                      <a:srgbClr val="00D4AA"/>
                    </a:solidFill>
                  </a:tcPr>
                </a:tc>
              </a:tr>
              <a:tr h="384048">
                <a:tc>
                  <a:txBody>
                    <a:bodyPr wrap="square"/>
                    <a:lstStyle/>
                    <a:p>
                      <a:r>
                        <a:rPr sz="1200" b="1">
                          <a:solidFill>
                            <a:srgbClr val="FFFFFF"/>
                          </a:solidFill>
                          <a:latin typeface="Inter"/>
                        </a:rPr>
                        <a:t>One span per OpenAI call</a:t>
                      </a:r>
                    </a:p>
                  </a:txBody>
                  <a:tcPr marL="91440" marR="91440" marT="45720" marB="45720" anchor="ctr">
                    <a:solidFill>
                      <a:srgbClr val="1A2742"/>
                    </a:solidFill>
                  </a:tcPr>
                </a:tc>
                <a:tc>
                  <a:txBody>
                    <a:bodyPr wrap="square"/>
                    <a:lstStyle/>
                    <a:p>
                      <a:r>
                        <a:rPr sz="1200" b="0">
                          <a:solidFill>
                            <a:srgbClr val="FFFFFF"/>
                          </a:solidFill>
                          <a:latin typeface="Inter"/>
                        </a:rPr>
                        <a:t>The agent span and the step structure</a:t>
                      </a:r>
                    </a:p>
                  </a:txBody>
                  <a:tcPr marL="91440" marR="91440" marT="45720" marB="45720" anchor="ctr">
                    <a:solidFill>
                      <a:srgbClr val="1A2742"/>
                    </a:solidFill>
                  </a:tcPr>
                </a:tc>
              </a:tr>
              <a:tr h="384048">
                <a:tc>
                  <a:txBody>
                    <a:bodyPr wrap="square"/>
                    <a:lstStyle/>
                    <a:p>
                      <a:r>
                        <a:rPr sz="1200" b="1">
                          <a:solidFill>
                            <a:srgbClr val="FFFFFF"/>
                          </a:solidFill>
                          <a:latin typeface="Inter"/>
                        </a:rPr>
                        <a:t>Model, tokens, messages, invocation parameters</a:t>
                      </a:r>
                    </a:p>
                  </a:txBody>
                  <a:tcPr marL="91440" marR="91440" marT="45720" marB="45720" anchor="ctr">
                    <a:solidFill>
                      <a:srgbClr val="0F1E35"/>
                    </a:solidFill>
                  </a:tcPr>
                </a:tc>
                <a:tc>
                  <a:txBody>
                    <a:bodyPr wrap="square"/>
                    <a:lstStyle/>
                    <a:p>
                      <a:r>
                        <a:rPr sz="1200" b="0">
                          <a:solidFill>
                            <a:srgbClr val="FFFFFF"/>
                          </a:solidFill>
                          <a:latin typeface="Inter"/>
                        </a:rPr>
                        <a:t>Tool spans with arguments and results</a:t>
                      </a:r>
                    </a:p>
                  </a:txBody>
                  <a:tcPr marL="91440" marR="91440" marT="45720" marB="45720" anchor="ctr">
                    <a:solidFill>
                      <a:srgbClr val="0F1E35"/>
                    </a:solidFill>
                  </a:tcPr>
                </a:tc>
              </a:tr>
              <a:tr h="384048">
                <a:tc>
                  <a:txBody>
                    <a:bodyPr wrap="square"/>
                    <a:lstStyle/>
                    <a:p>
                      <a:r>
                        <a:rPr sz="1200" b="1">
                          <a:solidFill>
                            <a:srgbClr val="FFFFFF"/>
                          </a:solidFill>
                          <a:latin typeface="Inter"/>
                        </a:rPr>
                        <a:t>Works inside libraries you didn't write</a:t>
                      </a:r>
                    </a:p>
                  </a:txBody>
                  <a:tcPr marL="91440" marR="91440" marT="45720" marB="45720" anchor="ctr">
                    <a:solidFill>
                      <a:srgbClr val="1A2742"/>
                    </a:solidFill>
                  </a:tcPr>
                </a:tc>
                <a:tc>
                  <a:txBody>
                    <a:bodyPr wrap="square"/>
                    <a:lstStyle/>
                    <a:p>
                      <a:r>
                        <a:rPr sz="1200" b="0">
                          <a:solidFill>
                            <a:srgbClr val="FFFFFF"/>
                          </a:solidFill>
                          <a:latin typeface="Inter"/>
                        </a:rPr>
                        <a:t>Business attributes: tenant, feature, prompt version</a:t>
                      </a:r>
                    </a:p>
                  </a:txBody>
                  <a:tcPr marL="91440" marR="91440" marT="45720" marB="45720" anchor="ctr">
                    <a:solidFill>
                      <a:srgbClr val="1A2742"/>
                    </a:solidFill>
                  </a:tcPr>
                </a:tc>
              </a:tr>
              <a:tr h="384048">
                <a:tc>
                  <a:txBody>
                    <a:bodyPr wrap="square"/>
                    <a:lstStyle/>
                    <a:p>
                      <a:r>
                        <a:rPr sz="1200" b="1">
                          <a:solidFill>
                            <a:srgbClr val="FFFFFF"/>
                          </a:solidFill>
                          <a:latin typeface="Inter"/>
                        </a:rPr>
                        <a:t>Streaming and async handled</a:t>
                      </a:r>
                    </a:p>
                  </a:txBody>
                  <a:tcPr marL="91440" marR="91440" marT="45720" marB="45720" anchor="ctr">
                    <a:solidFill>
                      <a:srgbClr val="0F1E35"/>
                    </a:solidFill>
                  </a:tcPr>
                </a:tc>
                <a:tc>
                  <a:txBody>
                    <a:bodyPr wrap="square"/>
                    <a:lstStyle/>
                    <a:p>
                      <a:r>
                        <a:rPr sz="1200" b="0">
                          <a:solidFill>
                            <a:srgbClr val="FFFFFF"/>
                          </a:solidFill>
                          <a:latin typeface="Inter"/>
                        </a:rPr>
                        <a:t>Events like "step limit reached", error surfacing</a:t>
                      </a:r>
                    </a:p>
                  </a:txBody>
                  <a:tcPr marL="91440" marR="91440" marT="45720" marB="45720" anchor="ctr">
                    <a:solidFill>
                      <a:srgbClr val="0F1E35"/>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Our rule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Auto-instrument the model client: never miss a call</a:t>
            </a:r>
          </a:p>
          <a:p>
            <a:pPr marL="292608" indent="-292608">
              <a:lnSpc>
                <a:spcPct val="120000"/>
              </a:lnSpc>
              <a:spcAft>
                <a:spcPts val="1260"/>
              </a:spcAft>
              <a:buClr>
                <a:srgbClr val="00D4AA"/>
              </a:buClr>
              <a:buFont typeface="Inter"/>
              <a:buChar char="•"/>
            </a:pPr>
            <a:r>
              <a:rPr sz="1800" b="0">
                <a:solidFill>
                  <a:srgbClr val="FFFFFF"/>
                </a:solidFill>
                <a:latin typeface="Inter"/>
              </a:rPr>
              <a:t>Manual spans for agent, steps, tools and business attributes</a:t>
            </a:r>
          </a:p>
          <a:p>
            <a:pPr marL="292608" indent="-292608">
              <a:lnSpc>
                <a:spcPct val="120000"/>
              </a:lnSpc>
              <a:spcAft>
                <a:spcPts val="1260"/>
              </a:spcAft>
              <a:buClr>
                <a:srgbClr val="00D4AA"/>
              </a:buClr>
              <a:buFont typeface="Inter"/>
              <a:buChar char="•"/>
            </a:pPr>
            <a:r>
              <a:rPr sz="1800" b="0">
                <a:solidFill>
                  <a:srgbClr val="FFFFFF"/>
                </a:solidFill>
                <a:latin typeface="Inter"/>
              </a:rPr>
              <a:t>Do not also wrap the same call manually as a generation: one call, one span (3.6)</a:t>
            </a:r>
          </a:p>
          <a:p>
            <a:pPr marL="292608" indent="-292608">
              <a:lnSpc>
                <a:spcPct val="120000"/>
              </a:lnSpc>
              <a:spcAft>
                <a:spcPts val="1260"/>
              </a:spcAft>
              <a:buClr>
                <a:srgbClr val="00D4AA"/>
              </a:buClr>
              <a:buFont typeface="Inter"/>
              <a:buChar char="•"/>
            </a:pPr>
            <a:r>
              <a:rPr sz="1800" b="0">
                <a:solidFill>
                  <a:srgbClr val="FFFFFF"/>
                </a:solidFill>
                <a:latin typeface="Inter"/>
              </a:rPr>
              <a:t>In Section 4, Langfuse's </a:t>
            </a:r>
            <a:r>
              <a:rPr sz="1656" b="0">
                <a:solidFill>
                  <a:srgbClr val="00D4AA"/>
                </a:solidFill>
                <a:latin typeface="JetBrains Mono"/>
              </a:rPr>
              <a:t>@observe(as_type="generation")</a:t>
            </a:r>
            <a:r>
              <a:rPr sz="1800" b="0">
                <a:solidFill>
                  <a:srgbClr val="FFFFFF"/>
                </a:solidFill>
                <a:latin typeface="Inter"/>
              </a:rPr>
              <a:t> replaces the manual model span where we need </a:t>
            </a:r>
            <a:r>
              <a:rPr sz="1656" b="0">
                <a:solidFill>
                  <a:srgbClr val="00D4AA"/>
                </a:solidFill>
                <a:latin typeface="JetBrains Mono"/>
              </a:rPr>
              <a:t>usage_details</a:t>
            </a:r>
            <a:r>
              <a:rPr sz="1800" b="0">
                <a:solidFill>
                  <a:srgbClr val="FFFFFF"/>
                </a:solidFill>
                <a:latin typeface="Inter"/>
              </a:rPr>
              <a:t> and </a:t>
            </a:r>
            <a:r>
              <a:rPr sz="1656" b="0">
                <a:solidFill>
                  <a:srgbClr val="00D4AA"/>
                </a:solidFill>
                <a:latin typeface="JetBrains Mono"/>
              </a:rPr>
              <a:t>cost_details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Break it: orphan spans, missing context and double counting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three ways this pipeline breaks silently, and the fix for each.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Break it: orphan spans, missing context and double counting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Recognise an orphan span caused by work on a thread without the trace context, and fix it by passing the context.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Break 1: background work without context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94A3B8"/>
                </a:solidFill>
                <a:latin typeface="JetBrains Mono"/>
              </a:rPr>
              <a:t># app/tools.py: lookup_ticket is blocking I/O, so someone moved it to a thread pool</a:t>
            </a:r>
          </a:p>
          <a:p>
            <a:r>
              <a:rPr sz="1200">
                <a:solidFill>
                  <a:srgbClr val="FFFFFF"/>
                </a:solidFill>
                <a:latin typeface="JetBrains Mono"/>
              </a:rPr>
              <a:t>result = await loop.run_in_executor(pool, _lookup_ticket_blocking, ticket_id)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context doesn't cross threads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current span lives in </a:t>
            </a:r>
            <a:r>
              <a:rPr sz="2024" b="0">
                <a:solidFill>
                  <a:srgbClr val="00D4AA"/>
                </a:solidFill>
                <a:latin typeface="JetBrains Mono"/>
              </a:rPr>
              <a:t>contextvars</a:t>
            </a:r>
          </a:p>
          <a:p>
            <a:pPr marL="292608" indent="-292608">
              <a:lnSpc>
                <a:spcPct val="120000"/>
              </a:lnSpc>
              <a:spcAft>
                <a:spcPts val="1539"/>
              </a:spcAft>
              <a:buClr>
                <a:srgbClr val="00D4AA"/>
              </a:buClr>
              <a:buFont typeface="Inter"/>
              <a:buChar char="•"/>
            </a:pPr>
            <a:r>
              <a:rPr sz="2024" b="0">
                <a:solidFill>
                  <a:srgbClr val="00D4AA"/>
                </a:solidFill>
                <a:latin typeface="JetBrains Mono"/>
              </a:rPr>
              <a:t>await</a:t>
            </a:r>
            <a:r>
              <a:rPr sz="2200" b="0">
                <a:solidFill>
                  <a:srgbClr val="FFFFFF"/>
                </a:solidFill>
                <a:latin typeface="Inter"/>
              </a:rPr>
              <a:t> and </a:t>
            </a:r>
            <a:r>
              <a:rPr sz="2024" b="0">
                <a:solidFill>
                  <a:srgbClr val="00D4AA"/>
                </a:solidFill>
                <a:latin typeface="JetBrains Mono"/>
              </a:rPr>
              <a:t>asyncio.create_task</a:t>
            </a:r>
            <a:r>
              <a:rPr sz="2200" b="0">
                <a:solidFill>
                  <a:srgbClr val="FFFFFF"/>
                </a:solidFill>
                <a:latin typeface="Inter"/>
              </a:rPr>
              <a:t> copy it; a </a:t>
            </a:r>
            <a:r>
              <a:rPr sz="2024" b="0">
                <a:solidFill>
                  <a:srgbClr val="00D4AA"/>
                </a:solidFill>
                <a:latin typeface="JetBrains Mono"/>
              </a:rPr>
              <a:t>ThreadPoolExecutor</a:t>
            </a:r>
            <a:r>
              <a:rPr sz="2200" b="0">
                <a:solidFill>
                  <a:srgbClr val="FFFFFF"/>
                </a:solidFill>
                <a:latin typeface="Inter"/>
              </a:rPr>
              <a:t> does not</a:t>
            </a:r>
          </a:p>
          <a:p>
            <a:pPr marL="292608" indent="-292608">
              <a:lnSpc>
                <a:spcPct val="120000"/>
              </a:lnSpc>
              <a:spcAft>
                <a:spcPts val="1539"/>
              </a:spcAft>
              <a:buClr>
                <a:srgbClr val="00D4AA"/>
              </a:buClr>
              <a:buFont typeface="Inter"/>
              <a:buChar char="•"/>
            </a:pPr>
            <a:r>
              <a:rPr sz="2200" b="0">
                <a:solidFill>
                  <a:srgbClr val="FFFFFF"/>
                </a:solidFill>
                <a:latin typeface="Inter"/>
              </a:rPr>
              <a:t>The worker thread starts with an empty context, so the new span has no parent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Break 2: tool span outside the agent span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def run(self, message, **ids):</a:t>
            </a:r>
          </a:p>
          <a:p>
            <a:r>
              <a:rPr sz="1200">
                <a:solidFill>
                  <a:srgbClr val="FFFFFF"/>
                </a:solidFill>
                <a:latin typeface="JetBrains Mono"/>
              </a:rPr>
              <a:t>    with tracer.start_as_current_span("invoke_agent atlas") as agent_span:</a:t>
            </a:r>
          </a:p>
          <a:p>
            <a:r>
              <a:rPr sz="1200">
                <a:solidFill>
                  <a:srgbClr val="FFFFFF"/>
                </a:solidFill>
                <a:latin typeface="JetBrains Mono"/>
              </a:rPr>
              <a:t>        plan = self._loop(message)          # model calls happen here...</a:t>
            </a:r>
          </a:p>
          <a:p>
            <a:r>
              <a:rPr sz="1200">
                <a:solidFill>
                  <a:srgbClr val="FFFFFF"/>
                </a:solidFill>
                <a:latin typeface="JetBrains Mono"/>
              </a:rPr>
              <a:t>    for call in plan.pending_tool_calls:    # ...but tools run after the block closed</a:t>
            </a:r>
          </a:p>
          <a:p>
            <a:r>
              <a:rPr sz="1200">
                <a:solidFill>
                  <a:srgbClr val="FFFFFF"/>
                </a:solidFill>
                <a:latin typeface="JetBrains Mono"/>
              </a:rPr>
              <a:t>        self._run_tool(call)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Break 3: instrumenting the same call twice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OpenInference instruments the client (3.5)</a:t>
            </a:r>
          </a:p>
          <a:p>
            <a:pPr marL="292608" indent="-292608">
              <a:lnSpc>
                <a:spcPct val="120000"/>
              </a:lnSpc>
              <a:spcAft>
                <a:spcPts val="1539"/>
              </a:spcAft>
              <a:buClr>
                <a:srgbClr val="00D4AA"/>
              </a:buClr>
              <a:buFont typeface="Inter"/>
              <a:buChar char="•"/>
            </a:pPr>
            <a:r>
              <a:rPr sz="2024" b="0">
                <a:solidFill>
                  <a:srgbClr val="00D4AA"/>
                </a:solidFill>
                <a:latin typeface="JetBrains Mono"/>
              </a:rPr>
              <a:t>_call_model</a:t>
            </a:r>
            <a:r>
              <a:rPr sz="2200" b="0">
                <a:solidFill>
                  <a:srgbClr val="FFFFFF"/>
                </a:solidFill>
                <a:latin typeface="Inter"/>
              </a:rPr>
              <a:t> still wraps the call in a manual span with usage attributes (3.4)</a:t>
            </a:r>
          </a:p>
          <a:p>
            <a:pPr marL="292608" indent="-292608">
              <a:lnSpc>
                <a:spcPct val="120000"/>
              </a:lnSpc>
              <a:spcAft>
                <a:spcPts val="1539"/>
              </a:spcAft>
              <a:buClr>
                <a:srgbClr val="00D4AA"/>
              </a:buClr>
              <a:buFont typeface="Inter"/>
              <a:buChar char="•"/>
            </a:pPr>
            <a:r>
              <a:rPr sz="2200" b="0">
                <a:solidFill>
                  <a:srgbClr val="FFFFFF"/>
                </a:solidFill>
                <a:latin typeface="Inter"/>
              </a:rPr>
              <a:t>Result: two spans per model call, each with 3,012 input tokens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Symptom → cause → fix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755648"/>
        </p:xfrm>
        <a:graphic>
          <a:graphicData uri="http://schemas.openxmlformats.org/drawingml/2006/table">
            <a:tbl>
              <a:tblPr firstRow="1" bandRow="1">
                <a:tableStyleId>{5C22544A-7EE6-4342-B048-85BDC9FD1C3A}</a:tableStyleId>
              </a:tblPr>
              <a:tblGrid>
                <a:gridCol w="4140708"/>
                <a:gridCol w="3481958"/>
                <a:gridCol w="3670173"/>
              </a:tblGrid>
              <a:tr h="438912">
                <a:tc>
                  <a:txBody>
                    <a:bodyPr wrap="square"/>
                    <a:lstStyle/>
                    <a:p>
                      <a:r>
                        <a:rPr sz="1400" b="1">
                          <a:solidFill>
                            <a:srgbClr val="0A1628"/>
                          </a:solidFill>
                          <a:latin typeface="Inter"/>
                        </a:rPr>
                        <a:t>Symptom</a:t>
                      </a:r>
                    </a:p>
                  </a:txBody>
                  <a:tcPr marL="91440" marR="91440" marT="45720" marB="45720" anchor="ctr">
                    <a:solidFill>
                      <a:srgbClr val="00D4AA"/>
                    </a:solidFill>
                  </a:tcPr>
                </a:tc>
                <a:tc>
                  <a:txBody>
                    <a:bodyPr wrap="square"/>
                    <a:lstStyle/>
                    <a:p>
                      <a:r>
                        <a:rPr sz="1400" b="1">
                          <a:solidFill>
                            <a:srgbClr val="0A1628"/>
                          </a:solidFill>
                          <a:latin typeface="Inter"/>
                        </a:rPr>
                        <a:t>Cause</a:t>
                      </a:r>
                    </a:p>
                  </a:txBody>
                  <a:tcPr marL="91440" marR="91440" marT="45720" marB="45720" anchor="ctr">
                    <a:solidFill>
                      <a:srgbClr val="00D4AA"/>
                    </a:solidFill>
                  </a:tcPr>
                </a:tc>
                <a:tc>
                  <a:txBody>
                    <a:bodyPr wrap="square"/>
                    <a:lstStyle/>
                    <a:p>
                      <a:r>
                        <a:rPr sz="1400" b="1">
                          <a:solidFill>
                            <a:srgbClr val="0A1628"/>
                          </a:solidFill>
                          <a:latin typeface="Inter"/>
                        </a:rPr>
                        <a:t>Fix</a:t>
                      </a:r>
                    </a:p>
                  </a:txBody>
                  <a:tcPr marL="91440" marR="91440" marT="45720" marB="45720" anchor="ctr">
                    <a:solidFill>
                      <a:srgbClr val="00D4AA"/>
                    </a:solidFill>
                  </a:tcPr>
                </a:tc>
              </a:tr>
              <a:tr h="438912">
                <a:tc>
                  <a:txBody>
                    <a:bodyPr wrap="square"/>
                    <a:lstStyle/>
                    <a:p>
                      <a:r>
                        <a:rPr sz="1400" b="1">
                          <a:solidFill>
                            <a:srgbClr val="FFFFFF"/>
                          </a:solidFill>
                          <a:latin typeface="Inter"/>
                        </a:rPr>
                        <a:t>One-span trace named </a:t>
                      </a:r>
                      <a:r>
                        <a:rPr sz="1288" b="0">
                          <a:solidFill>
                            <a:srgbClr val="00D4AA"/>
                          </a:solidFill>
                          <a:latin typeface="JetBrains Mono"/>
                        </a:rPr>
                        <a:t>execute_tool ...</a:t>
                      </a:r>
                    </a:p>
                  </a:txBody>
                  <a:tcPr marL="91440" marR="91440" marT="45720" marB="45720" anchor="ctr">
                    <a:solidFill>
                      <a:srgbClr val="1A2742"/>
                    </a:solidFill>
                  </a:tcPr>
                </a:tc>
                <a:tc>
                  <a:txBody>
                    <a:bodyPr wrap="square"/>
                    <a:lstStyle/>
                    <a:p>
                      <a:r>
                        <a:rPr sz="1400" b="0">
                          <a:solidFill>
                            <a:srgbClr val="FFFFFF"/>
                          </a:solidFill>
                          <a:latin typeface="Inter"/>
                        </a:rPr>
                        <a:t>Work on a thread without context</a:t>
                      </a:r>
                    </a:p>
                  </a:txBody>
                  <a:tcPr marL="91440" marR="91440" marT="45720" marB="45720" anchor="ctr">
                    <a:solidFill>
                      <a:srgbClr val="1A2742"/>
                    </a:solidFill>
                  </a:tcPr>
                </a:tc>
                <a:tc>
                  <a:txBody>
                    <a:bodyPr wrap="square"/>
                    <a:lstStyle/>
                    <a:p>
                      <a:r>
                        <a:rPr sz="1400" b="0">
                          <a:solidFill>
                            <a:srgbClr val="FFFFFF"/>
                          </a:solidFill>
                          <a:latin typeface="Inter"/>
                        </a:rPr>
                        <a:t>Pass </a:t>
                      </a:r>
                      <a:r>
                        <a:rPr sz="1288" b="0">
                          <a:solidFill>
                            <a:srgbClr val="00D4AA"/>
                          </a:solidFill>
                          <a:latin typeface="JetBrains Mono"/>
                        </a:rPr>
                        <a:t>context=</a:t>
                      </a:r>
                      <a:r>
                        <a:rPr sz="1400" b="0">
                          <a:solidFill>
                            <a:srgbClr val="FFFFFF"/>
                          </a:solidFill>
                          <a:latin typeface="Inter"/>
                        </a:rPr>
                        <a:t>, or </a:t>
                      </a:r>
                      <a:r>
                        <a:rPr sz="1288" b="0">
                          <a:solidFill>
                            <a:srgbClr val="00D4AA"/>
                          </a:solidFill>
                          <a:latin typeface="JetBrains Mono"/>
                        </a:rPr>
                        <a:t>asyncio.to_thread</a:t>
                      </a:r>
                    </a:p>
                  </a:txBody>
                  <a:tcPr marL="91440" marR="91440" marT="45720" marB="45720" anchor="ctr">
                    <a:solidFill>
                      <a:srgbClr val="1A2742"/>
                    </a:solidFill>
                  </a:tcPr>
                </a:tc>
              </a:tr>
              <a:tr h="438912">
                <a:tc>
                  <a:txBody>
                    <a:bodyPr wrap="square"/>
                    <a:lstStyle/>
                    <a:p>
                      <a:r>
                        <a:rPr sz="1400" b="1">
                          <a:solidFill>
                            <a:srgbClr val="FFFFFF"/>
                          </a:solidFill>
                          <a:latin typeface="Inter"/>
                        </a:rPr>
                        <a:t>Agent trace shows a tool request but no tool</a:t>
                      </a:r>
                    </a:p>
                  </a:txBody>
                  <a:tcPr marL="91440" marR="91440" marT="45720" marB="45720" anchor="ctr">
                    <a:solidFill>
                      <a:srgbClr val="0F1E35"/>
                    </a:solidFill>
                  </a:tcPr>
                </a:tc>
                <a:tc>
                  <a:txBody>
                    <a:bodyPr wrap="square"/>
                    <a:lstStyle/>
                    <a:p>
                      <a:r>
                        <a:rPr sz="1400" b="0">
                          <a:solidFill>
                            <a:srgbClr val="FFFFFF"/>
                          </a:solidFill>
                          <a:latin typeface="Inter"/>
                        </a:rPr>
                        <a:t>Tool ran after the agent block closed</a:t>
                      </a:r>
                    </a:p>
                  </a:txBody>
                  <a:tcPr marL="91440" marR="91440" marT="45720" marB="45720" anchor="ctr">
                    <a:solidFill>
                      <a:srgbClr val="0F1E35"/>
                    </a:solidFill>
                  </a:tcPr>
                </a:tc>
                <a:tc>
                  <a:txBody>
                    <a:bodyPr wrap="square"/>
                    <a:lstStyle/>
                    <a:p>
                      <a:r>
                        <a:rPr sz="1400" b="0">
                          <a:solidFill>
                            <a:srgbClr val="FFFFFF"/>
                          </a:solidFill>
                          <a:latin typeface="Inter"/>
                        </a:rPr>
                        <a:t>Nest the code like the causality</a:t>
                      </a:r>
                    </a:p>
                  </a:txBody>
                  <a:tcPr marL="91440" marR="91440" marT="45720" marB="45720" anchor="ctr">
                    <a:solidFill>
                      <a:srgbClr val="0F1E35"/>
                    </a:solidFill>
                  </a:tcPr>
                </a:tc>
              </a:tr>
              <a:tr h="438912">
                <a:tc>
                  <a:txBody>
                    <a:bodyPr wrap="square"/>
                    <a:lstStyle/>
                    <a:p>
                      <a:r>
                        <a:rPr sz="1400" b="1">
                          <a:solidFill>
                            <a:srgbClr val="FFFFFF"/>
                          </a:solidFill>
                          <a:latin typeface="Inter"/>
                        </a:rPr>
                        <a:t>Cost exactly 2× expected</a:t>
                      </a:r>
                    </a:p>
                  </a:txBody>
                  <a:tcPr marL="91440" marR="91440" marT="45720" marB="45720" anchor="ctr">
                    <a:solidFill>
                      <a:srgbClr val="1A2742"/>
                    </a:solidFill>
                  </a:tcPr>
                </a:tc>
                <a:tc>
                  <a:txBody>
                    <a:bodyPr wrap="square"/>
                    <a:lstStyle/>
                    <a:p>
                      <a:r>
                        <a:rPr sz="1400" b="0">
                          <a:solidFill>
                            <a:srgbClr val="FFFFFF"/>
                          </a:solidFill>
                          <a:latin typeface="Inter"/>
                        </a:rPr>
                        <a:t>Same call instrumented twice</a:t>
                      </a:r>
                    </a:p>
                  </a:txBody>
                  <a:tcPr marL="91440" marR="91440" marT="45720" marB="45720" anchor="ctr">
                    <a:solidFill>
                      <a:srgbClr val="1A2742"/>
                    </a:solidFill>
                  </a:tcPr>
                </a:tc>
                <a:tc>
                  <a:txBody>
                    <a:bodyPr wrap="square"/>
                    <a:lstStyle/>
                    <a:p>
                      <a:r>
                        <a:rPr sz="1400" b="0">
                          <a:solidFill>
                            <a:srgbClr val="FFFFFF"/>
                          </a:solidFill>
                          <a:latin typeface="Inter"/>
                        </a:rPr>
                        <a:t>One call, one span with usage</a:t>
                      </a:r>
                    </a:p>
                  </a:txBody>
                  <a:tcPr marL="91440" marR="91440" marT="45720" marB="45720" anchor="ctr">
                    <a:solidFill>
                      <a:srgbClr val="1A274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2: Instrument a new tool end to 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Lab 2: instrument </a:t>
            </a:r>
            <a:r>
              <a:rPr sz="1288" b="0">
                <a:solidFill>
                  <a:srgbClr val="00D4AA"/>
                </a:solidFill>
                <a:latin typeface="JetBrains Mono"/>
              </a:rPr>
              <a:t>check_shipment</a:t>
            </a:r>
            <a:r>
              <a:rPr sz="1400" b="0">
                <a:solidFill>
                  <a:srgbClr val="94A3B8"/>
                </a:solidFill>
                <a:latin typeface="Inter"/>
              </a:rPr>
              <a:t> end to end, and write the test that proves its span is correct.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2: Instrument a new tool end to 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Add a correctly named and tagged span to </a:t>
            </a:r>
            <a:r>
              <a:rPr sz="1472" b="0">
                <a:solidFill>
                  <a:srgbClr val="00D4AA"/>
                </a:solidFill>
                <a:latin typeface="JetBrains Mono"/>
              </a:rPr>
              <a:t>check_shipment</a:t>
            </a:r>
            <a:r>
              <a:rPr sz="1600" b="0">
                <a:solidFill>
                  <a:srgbClr val="CBD5E1"/>
                </a:solidFill>
                <a:latin typeface="Inter"/>
              </a:rPr>
              <a:t>, including clipped arguments and result.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Tracing and semantic conventions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 six-question quiz on tracing and the conventions, then Section 4: what Langfuse adds on top of these…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TRACING FUNDAMENTALS AND THE GENAI SEMANTIC CONVENTIONS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Tracing and semantic conventions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spans, context and sampling.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3 quiz: what's covered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Parent IDs and how the tree is built</a:t>
            </a:r>
          </a:p>
          <a:p>
            <a:pPr marL="292608" indent="-292608">
              <a:lnSpc>
                <a:spcPct val="120000"/>
              </a:lnSpc>
              <a:spcAft>
                <a:spcPts val="1260"/>
              </a:spcAft>
              <a:buClr>
                <a:srgbClr val="00D4AA"/>
              </a:buClr>
              <a:buFont typeface="Inter"/>
              <a:buChar char="•"/>
            </a:pPr>
            <a:r>
              <a:rPr sz="1800" b="0">
                <a:solidFill>
                  <a:srgbClr val="FFFFFF"/>
                </a:solidFill>
                <a:latin typeface="Inter"/>
              </a:rPr>
              <a:t>Simple vs batch processor; console vs OTLP</a:t>
            </a:r>
          </a:p>
          <a:p>
            <a:pPr marL="292608" indent="-292608">
              <a:lnSpc>
                <a:spcPct val="120000"/>
              </a:lnSpc>
              <a:spcAft>
                <a:spcPts val="1260"/>
              </a:spcAft>
              <a:buClr>
                <a:srgbClr val="00D4AA"/>
              </a:buClr>
              <a:buFont typeface="Inter"/>
              <a:buChar char="•"/>
            </a:pPr>
            <a:r>
              <a:rPr sz="1800" b="0">
                <a:solidFill>
                  <a:srgbClr val="FFFFFF"/>
                </a:solidFill>
                <a:latin typeface="Inter"/>
              </a:rPr>
              <a:t>Span names: </a:t>
            </a:r>
            <a:r>
              <a:rPr sz="1656" b="0">
                <a:solidFill>
                  <a:srgbClr val="00D4AA"/>
                </a:solidFill>
                <a:latin typeface="JetBrains Mono"/>
              </a:rPr>
              <a:t>chat gpt-4.1-mini</a:t>
            </a:r>
            <a:r>
              <a:rPr sz="1800" b="0">
                <a:solidFill>
                  <a:srgbClr val="FFFFFF"/>
                </a:solidFill>
                <a:latin typeface="Inter"/>
              </a:rPr>
              <a:t>, </a:t>
            </a:r>
            <a:r>
              <a:rPr sz="1656" b="0">
                <a:solidFill>
                  <a:srgbClr val="00D4AA"/>
                </a:solidFill>
                <a:latin typeface="JetBrains Mono"/>
              </a:rPr>
              <a:t>execute_tool ...</a:t>
            </a:r>
            <a:r>
              <a:rPr sz="1800" b="0">
                <a:solidFill>
                  <a:srgbClr val="FFFFFF"/>
                </a:solidFill>
                <a:latin typeface="Inter"/>
              </a:rPr>
              <a:t>, </a:t>
            </a:r>
            <a:r>
              <a:rPr sz="1656" b="0">
                <a:solidFill>
                  <a:srgbClr val="00D4AA"/>
                </a:solidFill>
                <a:latin typeface="JetBrains Mono"/>
              </a:rPr>
              <a:t>invoke_agent ...</a:t>
            </a:r>
          </a:p>
          <a:p>
            <a:pPr marL="292608" indent="-292608">
              <a:lnSpc>
                <a:spcPct val="120000"/>
              </a:lnSpc>
              <a:spcAft>
                <a:spcPts val="1260"/>
              </a:spcAft>
              <a:buClr>
                <a:srgbClr val="00D4AA"/>
              </a:buClr>
              <a:buFont typeface="Inter"/>
              <a:buChar char="•"/>
            </a:pPr>
            <a:r>
              <a:rPr sz="1800" b="0">
                <a:solidFill>
                  <a:srgbClr val="FFFFFF"/>
                </a:solidFill>
                <a:latin typeface="Inter"/>
              </a:rPr>
              <a:t>Which usage attributes people forget (cached, reasoning)</a:t>
            </a:r>
          </a:p>
          <a:p>
            <a:pPr marL="292608" indent="-292608">
              <a:lnSpc>
                <a:spcPct val="120000"/>
              </a:lnSpc>
              <a:spcAft>
                <a:spcPts val="1260"/>
              </a:spcAft>
              <a:buClr>
                <a:srgbClr val="00D4AA"/>
              </a:buClr>
              <a:buFont typeface="Inter"/>
              <a:buChar char="•"/>
            </a:pPr>
            <a:r>
              <a:rPr sz="1800" b="0">
                <a:solidFill>
                  <a:srgbClr val="FFFFFF"/>
                </a:solidFill>
                <a:latin typeface="Inter"/>
              </a:rPr>
              <a:t>What auto-instrumentation can't see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3 quiz: what's covered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Symptom → cause for orphans and double counting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03 · Lecture 3.8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How Langfuse sits on OpenTelemetry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4: how Langfuse sits on top of these exact spans, and what it adds that OpenTelemetry…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