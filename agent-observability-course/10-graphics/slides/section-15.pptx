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you can now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name it, because you'll want these words for your CV and your next interview.</a:t>
            </a:r>
          </a:p>
          <a:p/>
          <a:p>
            <a:r>
              <a:t>Traces. You instrument any LLM agent with OpenTelemetry and the GenAI conventions, so any backend understands it. You attach sessions, users, tenants and releases, and you mask before anything leaves the process.</a:t>
            </a:r>
          </a:p>
          <a:p/>
          <a:p>
            <a:r>
              <a:t>Cost. You compute the true cost of every request and roll it up to the number finance asks for. On a replayed day you cut it from fifty-six dollars to nineteen, and proved each lever separately.</a:t>
            </a:r>
          </a:p>
          <a:p/>
          <a:p>
            <a:r>
              <a:t>Reliability. You measure time to first token and p95, you time out, retry with bounds and fall back. And you know why a slow provider never trips a breaker that only counts errors.</a:t>
            </a:r>
          </a:p>
          <a:p/>
          <a:p>
            <a:r>
              <a:t>Quality in production. You judge a sample of live traffic, correlate it with feedback, detect drift, and turn failures into regression tests.</a:t>
            </a:r>
          </a:p>
          <a:p/>
          <a:p>
            <a:r>
              <a:t>And operations. SLIs a manager understands, dashboards and alerts as code, three incidents investigated from traces alone, postmortems with verifiable action items, a self-hosted stack, a gate that stops bad changes with a number, and a one-page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is the fourth in a path: build, test, deploy, operate. You didn't need the other three to take this one. If a part of this course felt thin, the offline eval theory in Section 8, or the agent internals in Section 5, that's where the deeper material lives. More in the bonus lecture at the very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challenge for the next seven days. Finish the capstone and get the acceptance report to fifteen or better. Send the weekly report to one real person and ask them which number they'd want explained. Their answer will change your report. And pick one agent you already run and add GenAI attributes to its model call. One span. That's how it starts in a real company: one span, then a dashboard, then someone asks for the report.</a:t>
            </a:r>
          </a:p>
          <a:p/>
          <a:p>
            <a:r>
              <a:t>Thank you for operating this with me. Atlas is running. Go make yours visible.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Careers: LLMOps, AI platform and AI SRE roles.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 titles are messy, so search for several. "LLMOps" roles focus on tracing, production evals, cost and the prompt lifecycle: Sections 3, 4, 6 and 8. "AI platform engineer" roles build the shared stack, the gateway, the observability pipeline, budgets and routing for many teams: Sections 6, 7, 12 and 13. "AI reliability engineer" roles own SLOs, incidents and provider risk: Sections 7, 9 and 11. "AI product engineer" and "forward deployed" roles ship agents and increasingly own the metrics: Section 14. And FinOps teams now hire for AI spend: Section 6.</a:t>
            </a:r>
          </a:p>
          <a:p/>
          <a:p>
            <a:r>
              <a:t>Read the description, not the title. Look for cost per task, evals in production, OpenTelemetry, SLOs, prompt versioning, incident.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the title, your evidence is the same. The capstone with three numbers up front. Postmortems. A red pull request. The weekly report. And the domain swap. Numbers beat adjectives: "cut a replayed day's cost by sixty-six percent with quality scores unchanged" is a stronger line than "experienced with LLM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questions, with short model answers. Longer versions are in `interview-questions.md`.</a:t>
            </a:r>
          </a:p>
          <a:p/>
          <a:p>
            <a:r>
              <a:t>One. Tracing a multi-step agent. "One agent span per request, a child span per step, a generation span per model call with token usage, and a tool span per call with arguments and a redacted result. Session and tenant as attributes. Then the trace answers why it called that tool, what came back, and where the tokens went."</a:t>
            </a:r>
          </a:p>
          <a:p/>
          <a:p>
            <a:r>
              <a:t>Two. GenAI semantic conventions. "A standard OpenTelemetry vocabulary for model, token, tool and agent attributes. Any backend understands my spans, so I'm not locked in. They're still incubating, so I keep them behind one helper module."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Cost attribution. "Compute cost once per generation from a price table I control, write it as a span attribute and a low-cardinality metric, then roll up by session, tenant and feature. The report uses the same aggregation as the dashboard so they can't disagree."</a:t>
            </a:r>
          </a:p>
          <a:p/>
          <a:p>
            <a:r>
              <a:t>Four. What never goes in a trace. "Raw PII and full tool payloads. I mask in the SDK and again in the Collector, keep hashes for joins, and a test asserts no raw email or employee ID reaches any span."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 cost spike. "Timeline first, then blast radius, then two hypotheses with predictions: more requests, or bigger requests. Requests per minute versus tokens per generation tells me which. Then one trace. In the incident I worked, a config change switched off context trimming for one tenant, and a provider timeout storm billed every oversized prompt up to three times."</a:t>
            </a:r>
          </a:p>
          <a:p/>
          <a:p>
            <a:r>
              <a:t>Six. Three ways to cut spend. "Prompt caching with a stable prefix, measured by cached token share. A context diet, measured by tokens per step. And small-model-first routing, measured by model mix. I prove each by replaying the same day with and without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One tenant burning the budget. "A per-tenant budget with a soft cap that degrades, a hard cap that refuses before any model call, and an anomaly alert on spend so I'm paged before the cap."</a:t>
            </a:r>
          </a:p>
          <a:p/>
          <a:p>
            <a:r>
              <a:t>Eight. What a fallback needs. "A timeout derived from the step budget, not a default, so a stalled call becomes an error the breaker can count. A slow provider produces no errors, so nothing fails over until the timeout defines slowness as failure. And a fallback-rate metric, because a fallback nobody has seen fire is one you don't have."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Worse while everything looks fine. "A sampled LLM judge on live traffic, user feedback and drift checks, all sliced by prompt version. In my incident, grounded fell from point nine four to point five six the hour a prompt label moved, while cost and latency improved."</a:t>
            </a:r>
          </a:p>
          <a:p/>
          <a:p>
            <a:r>
              <a:t>Ten. Preventing a prompt regression. "Treat the production label as a deploy. Promotion runs in CI against a dataset of past failures and refuses below a threshold. Rollback is moving the label back, which takes a minute."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SLIs and owners. "Task success, containment, tool error rate, p95 latency, cost per resolved session and a judge score. Each with an SLO and an error budget. Every alert has an owner and a runbook, or it gets deleted."</a:t>
            </a:r>
          </a:p>
          <a:p/>
          <a:p>
            <a:r>
              <a:t>Twelve. Telemetry safety. "Export on a background thread with a bounded queue, five-second exporter timeouts, credentials in the Collector, and a counter for export failures. I test it by killing the backend under load and checking every request still succeeds."</a:t>
            </a:r>
          </a:p>
          <a:p/>
          <a:p>
            <a:r>
              <a:t>Notice the pattern. Every answer names a mechanism and a number.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pitch. You'll need budget for the backend, the Collector, and time. Three numbers get it. Cost avoided: the incident a routed alert would have caught at ten past ten instead of eleven forty, in dollars, from the postmortem timeline. Cost saved: the replay comparison, by lever, multiplied out to a month. Risk reduced: the pull request that failed before it shipped, and the drift caught in an hour instead of a day.</a:t>
            </a:r>
          </a:p>
          <a:p/>
          <a:p>
            <a:r>
              <a:t>Then the ask, in one sentence: what the tool costs, how much platform time, and who owns it. Managers say yes to three numbers and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not to say. Don't claim the course incidents were real production events; say they were simulated and the method is real. Don't compare vendors by feature list; use the five criteria from Lecture 12.5. Don't quote a saving without a baseline and a method. And don't promise a hundred percent trace retention; talk about your sampling policy instead.</a:t>
            </a:r>
          </a:p>
          <a:p/>
          <a:p>
            <a:r>
              <a:t>Last tip. Whether it's an interview or a budget meeting, open with a screenshot. The red pull request, or the one-page report. Then talk. Most candidates have a story. You have the artefact the story is about.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Final practice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questions follow the order of the course. Tracing and the GenAI conventions first. Then Langfuse, agent patterns, cost engineering, latency and reliability, online evaluation, SLOs and alerting, governance, incidents, portability and deployment.</a:t>
            </a:r>
          </a:p>
          <a:p/>
          <a:p>
            <a:r>
              <a:t>Take it in one sitting if you can. Most students need thirty to forty minutes.</a:t>
            </a:r>
          </a:p>
          <a:p/>
          <a:p>
            <a:r>
              <a:t>When you finish, don't just look at the score. Look at where you missed. If three misses come from the same section, that's the section to rewatch before your next project.</a:t>
            </a:r>
          </a:p>
          <a:p/>
          <a:p>
            <a:r>
              <a:t>Good luck. You're ready for this.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Bonus Lecture: keep operating.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updates. This field moves fast. Langfuse ships often, the OpenTelemetry GenAI conventions are still marked incubating, and attribute names may change before they stabilise. Every script in this course was checked against the versions in the README: Langfuse four fifteen, OpenTelemetry SDK one forty-five, semantic conventions zero sixty-six, LangSmith zero fourteen.</a:t>
            </a:r>
          </a:p>
          <a:p/>
          <a:p>
            <a:r>
              <a:t>When something changes, I update the repo README first, with the tested versions and any code changes. Big changes also go out as a course announcement.</a:t>
            </a:r>
          </a:p>
          <a:p/>
          <a:p>
            <a:r>
              <a:t>[SCREEN: Terminal in `03-code/`: `make test` → `419 passed`; `make budget-check` → `5 passed`. The monthly upgrade check, in two commands.]</a:t>
            </a:r>
          </a:p>
          <a:p/>
          <a:p>
            <a:r>
              <a:t>For your own project, pin your versions, as we did in `pyproject.toml`. Upgrade on a branch, with the budget gate running, and read the deprecation warnings. Here's a routine that works: once a month, read the changelogs for Langfuse, the OTel SDK and the semantic conventions. Upgrade on a branch. Run `make test` and `make budget-check`. If the numbers hold, merge, and keep the rollback ready. Twenty minutes a month keeps you off the "it broke on Friday" list, which after Section 11 you know is a real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help. The Q&amp;A stays open. When you post, include three things: the exact command you ran, the full error message, and your package versions. That turns a two-day back-and-forth into a one-reply fix. Search first; most Docker Compose and Langfuse self-host questions have been answered.</a:t>
            </a:r>
          </a:p>
          <a:p/>
          <a:p>
            <a:r>
              <a:t>And please share your capstone numbers and your dashboard screenshot. Other students learn from seeing different agents and different SLIs, and so do I. Some of the best improvements to this course came from student questions, so if something was confusing, say so. That feedback shapes the next update.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only if it's useful to you: this course is part of a set.</a:t>
            </a:r>
          </a:p>
          <a:p/>
          <a:p>
            <a:r>
              <a:t>*Generative AI &amp; AI Agents: Zero to Production* is the building course. It's for you if Section 5, the agent internals, felt fast. It covers prompting, tools, retrieval and agent design from first principles.</a:t>
            </a:r>
          </a:p>
          <a:p/>
          <a:p>
            <a:r>
              <a:t>*AI Agent Testing &amp; Evaluation* is the testing course. It's for you if Section 8 was your favourite, or if you own quality on your team. It goes much deeper on evaluation design, LLM judges, datasets and test strategy than we had room for here, and the dataset you built in Lecture 8.6 is exactly what it consumes.</a:t>
            </a:r>
          </a:p>
          <a:p/>
          <a:p>
            <a:r>
              <a:t>*Production Voice AI Agents with Python* is the real-time course. It's for you if the latency budgets in Section 7 interested you, or if the domain swap in Lecture 14.6 made you want to build the voice agent you instrumented.</a:t>
            </a:r>
          </a:p>
          <a:p/>
          <a:p>
            <a:r>
              <a:t>You don't need any of them to use what you've learned here. The links are in the resources panel for this lecture if you want to take a look.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it. Thank you for taking this course, and for sticking with it all the way to an agent you can see, explain, cap and defend. Finish the capstone. Send the report. Keep the gate green.</a:t>
            </a:r>
          </a:p>
          <a:p/>
          <a:p>
            <a:r>
              <a:t>I'll see you in the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CAREERS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you can now do</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Recap the course by pillar: traces, cost, reliability, quality in production,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can now do, by pillar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Traces: GenAI-convention spans for every model, tool, retriever and agent; sessions, tenants, releases; masked</a:t>
            </a:r>
          </a:p>
          <a:p>
            <a:pPr marL="292608" indent="-292608">
              <a:lnSpc>
                <a:spcPct val="120000"/>
              </a:lnSpc>
              <a:spcAft>
                <a:spcPts val="1260"/>
              </a:spcAft>
              <a:buClr>
                <a:srgbClr val="00D4AA"/>
              </a:buClr>
              <a:buFont typeface="Inter"/>
              <a:buChar char="•"/>
            </a:pPr>
            <a:r>
              <a:rPr sz="1800" b="0">
                <a:solidFill>
                  <a:srgbClr val="FFFFFF"/>
                </a:solidFill>
                <a:latin typeface="Inter"/>
              </a:rPr>
              <a:t>Cost: cost per request, session, tenant and feature; showback; 66% cut on a replayed day</a:t>
            </a:r>
          </a:p>
          <a:p>
            <a:pPr marL="292608" indent="-292608">
              <a:lnSpc>
                <a:spcPct val="120000"/>
              </a:lnSpc>
              <a:spcAft>
                <a:spcPts val="1260"/>
              </a:spcAft>
              <a:buClr>
                <a:srgbClr val="00D4AA"/>
              </a:buClr>
              <a:buFont typeface="Inter"/>
              <a:buChar char="•"/>
            </a:pPr>
            <a:r>
              <a:rPr sz="1800" b="0">
                <a:solidFill>
                  <a:srgbClr val="FFFFFF"/>
                </a:solidFill>
                <a:latin typeface="Inter"/>
              </a:rPr>
              <a:t>Reliability: TTFT and p95 measured; timeouts, bounded retries, fallbacks, breakers</a:t>
            </a:r>
          </a:p>
          <a:p>
            <a:pPr marL="292608" indent="-292608">
              <a:lnSpc>
                <a:spcPct val="120000"/>
              </a:lnSpc>
              <a:spcAft>
                <a:spcPts val="1260"/>
              </a:spcAft>
              <a:buClr>
                <a:srgbClr val="00D4AA"/>
              </a:buClr>
              <a:buFont typeface="Inter"/>
              <a:buChar char="•"/>
            </a:pPr>
            <a:r>
              <a:rPr sz="1800" b="0">
                <a:solidFill>
                  <a:srgbClr val="FFFFFF"/>
                </a:solidFill>
                <a:latin typeface="Inter"/>
              </a:rPr>
              <a:t>Quality in production: sampled judge, feedback, drift, failures promoted to a dataset</a:t>
            </a:r>
          </a:p>
          <a:p>
            <a:pPr marL="292608" indent="-292608">
              <a:lnSpc>
                <a:spcPct val="120000"/>
              </a:lnSpc>
              <a:spcAft>
                <a:spcPts val="1260"/>
              </a:spcAft>
              <a:buClr>
                <a:srgbClr val="00D4AA"/>
              </a:buClr>
              <a:buFont typeface="Inter"/>
              <a:buChar char="•"/>
            </a:pPr>
            <a:r>
              <a:rPr sz="1800" b="0">
                <a:solidFill>
                  <a:srgbClr val="FFFFFF"/>
                </a:solidFill>
                <a:latin typeface="Inter"/>
              </a:rPr>
              <a:t>Operations: SLOs, dashboards and alerts as code, incidents from traces, a CI gate, a weekly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Build → Test → Deploy → Operate path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Build: Generative AI &amp; AI Agents: Zero to Production</a:t>
            </a:r>
          </a:p>
          <a:p>
            <a:pPr marL="292608" indent="-292608">
              <a:lnSpc>
                <a:spcPct val="120000"/>
              </a:lnSpc>
              <a:spcAft>
                <a:spcPts val="1539"/>
              </a:spcAft>
              <a:buClr>
                <a:srgbClr val="00D4AA"/>
              </a:buClr>
              <a:buFont typeface="Inter"/>
              <a:buChar char="•"/>
            </a:pPr>
            <a:r>
              <a:rPr sz="2200" b="0">
                <a:solidFill>
                  <a:srgbClr val="FFFFFF"/>
                </a:solidFill>
                <a:latin typeface="Inter"/>
              </a:rPr>
              <a:t>Test: AI Agent Testing &amp; Evaluation</a:t>
            </a:r>
          </a:p>
          <a:p>
            <a:pPr marL="292608" indent="-292608">
              <a:lnSpc>
                <a:spcPct val="120000"/>
              </a:lnSpc>
              <a:spcAft>
                <a:spcPts val="1539"/>
              </a:spcAft>
              <a:buClr>
                <a:srgbClr val="00D4AA"/>
              </a:buClr>
              <a:buFont typeface="Inter"/>
              <a:buChar char="•"/>
            </a:pPr>
            <a:r>
              <a:rPr sz="2200" b="0">
                <a:solidFill>
                  <a:srgbClr val="FFFFFF"/>
                </a:solidFill>
                <a:latin typeface="Inter"/>
              </a:rPr>
              <a:t>Deploy in real time: Production Voice AI Agents</a:t>
            </a:r>
          </a:p>
          <a:p>
            <a:pPr marL="292608" indent="-292608">
              <a:lnSpc>
                <a:spcPct val="120000"/>
              </a:lnSpc>
              <a:spcAft>
                <a:spcPts val="1539"/>
              </a:spcAft>
              <a:buClr>
                <a:srgbClr val="00D4AA"/>
              </a:buClr>
              <a:buFont typeface="Inter"/>
              <a:buChar char="•"/>
            </a:pPr>
            <a:r>
              <a:rPr sz="2200" b="0">
                <a:solidFill>
                  <a:srgbClr val="FFFFFF"/>
                </a:solidFill>
                <a:latin typeface="Inter"/>
              </a:rPr>
              <a:t>Operate: this course</a:t>
            </a:r>
          </a:p>
          <a:p>
            <a:pPr marL="292608" indent="-292608">
              <a:lnSpc>
                <a:spcPct val="120000"/>
              </a:lnSpc>
              <a:spcAft>
                <a:spcPts val="1539"/>
              </a:spcAft>
              <a:buClr>
                <a:srgbClr val="00D4AA"/>
              </a:buClr>
              <a:buFont typeface="Inter"/>
              <a:buChar char="•"/>
            </a:pPr>
            <a:r>
              <a:rPr sz="2200" b="0">
                <a:solidFill>
                  <a:srgbClr val="FFFFFF"/>
                </a:solidFill>
                <a:latin typeface="Inter"/>
              </a:rPr>
              <a:t>All four stand alone; together they cover the lifecycle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next 7 days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Finish the capstone; get </a:t>
            </a:r>
            <a:r>
              <a:rPr sz="1656" b="0">
                <a:solidFill>
                  <a:srgbClr val="00D4AA"/>
                </a:solidFill>
                <a:latin typeface="JetBrains Mono"/>
              </a:rPr>
              <a:t>ACCEPTANCE.md</a:t>
            </a:r>
            <a:r>
              <a:rPr sz="1800" b="0">
                <a:solidFill>
                  <a:srgbClr val="FFFFFF"/>
                </a:solidFill>
                <a:latin typeface="Inter"/>
              </a:rPr>
              <a:t> to 15 of 24 or better</a:t>
            </a:r>
          </a:p>
          <a:p>
            <a:pPr marL="292608" indent="-292608">
              <a:lnSpc>
                <a:spcPct val="120000"/>
              </a:lnSpc>
              <a:spcAft>
                <a:spcPts val="1260"/>
              </a:spcAft>
              <a:buClr>
                <a:srgbClr val="00D4AA"/>
              </a:buClr>
              <a:buFont typeface="Inter"/>
              <a:buChar char="•"/>
            </a:pPr>
            <a:r>
              <a:rPr sz="1800" b="0">
                <a:solidFill>
                  <a:srgbClr val="FFFFFF"/>
                </a:solidFill>
                <a:latin typeface="Inter"/>
              </a:rPr>
              <a:t>Send the weekly report to one real person and ask them one question about it</a:t>
            </a:r>
          </a:p>
          <a:p>
            <a:pPr marL="292608" indent="-292608">
              <a:lnSpc>
                <a:spcPct val="120000"/>
              </a:lnSpc>
              <a:spcAft>
                <a:spcPts val="1260"/>
              </a:spcAft>
              <a:buClr>
                <a:srgbClr val="00D4AA"/>
              </a:buClr>
              <a:buFont typeface="Inter"/>
              <a:buChar char="•"/>
            </a:pPr>
            <a:r>
              <a:rPr sz="1800" b="0">
                <a:solidFill>
                  <a:srgbClr val="FFFFFF"/>
                </a:solidFill>
                <a:latin typeface="Inter"/>
              </a:rPr>
              <a:t>Pick one agent you or your team already run and add </a:t>
            </a:r>
            <a:r>
              <a:rPr sz="1656" b="0">
                <a:solidFill>
                  <a:srgbClr val="00D4AA"/>
                </a:solidFill>
                <a:latin typeface="JetBrains Mono"/>
              </a:rPr>
              <a:t>genai_attrs</a:t>
            </a:r>
            <a:r>
              <a:rPr sz="1800" b="0">
                <a:solidFill>
                  <a:srgbClr val="FFFFFF"/>
                </a:solidFill>
                <a:latin typeface="Inter"/>
              </a:rPr>
              <a:t> to its model 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See, explain, stop and prevent: all four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pillars of agent operations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Next seven days: capstone, report, one span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Careers: LLMOps, AI platform and AI SRE roles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careers: the roles that hire for exactly this, and twelve interview questions with model answers.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CAREERS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Careers: LLMOps, AI platform and AI SRE roles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role titles that hire for agent observability and cost skills and what each emphasises.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Roles that hire for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LLMOps engineer / MLOps engineer (LLM): tracing, evals in production, cost, prompt and model lifecycle</a:t>
            </a:r>
          </a:p>
          <a:p>
            <a:pPr marL="292608" indent="-292608">
              <a:lnSpc>
                <a:spcPct val="120000"/>
              </a:lnSpc>
              <a:spcAft>
                <a:spcPts val="1260"/>
              </a:spcAft>
              <a:buClr>
                <a:srgbClr val="00D4AA"/>
              </a:buClr>
              <a:buFont typeface="Inter"/>
              <a:buChar char="•"/>
            </a:pPr>
            <a:r>
              <a:rPr sz="1800" b="0">
                <a:solidFill>
                  <a:srgbClr val="FFFFFF"/>
                </a:solidFill>
                <a:latin typeface="Inter"/>
              </a:rPr>
              <a:t>AI platform engineer: the shared stack: gateway, observability, budgets, routing for many teams</a:t>
            </a:r>
          </a:p>
          <a:p>
            <a:pPr marL="292608" indent="-292608">
              <a:lnSpc>
                <a:spcPct val="120000"/>
              </a:lnSpc>
              <a:spcAft>
                <a:spcPts val="1260"/>
              </a:spcAft>
              <a:buClr>
                <a:srgbClr val="00D4AA"/>
              </a:buClr>
              <a:buFont typeface="Inter"/>
              <a:buChar char="•"/>
            </a:pPr>
            <a:r>
              <a:rPr sz="1800" b="0">
                <a:solidFill>
                  <a:srgbClr val="FFFFFF"/>
                </a:solidFill>
                <a:latin typeface="Inter"/>
              </a:rPr>
              <a:t>AI reliability engineer / SRE (AI systems): SLOs, incident response, capacity, provider risk</a:t>
            </a:r>
          </a:p>
          <a:p>
            <a:pPr marL="292608" indent="-292608">
              <a:lnSpc>
                <a:spcPct val="120000"/>
              </a:lnSpc>
              <a:spcAft>
                <a:spcPts val="1260"/>
              </a:spcAft>
              <a:buClr>
                <a:srgbClr val="00D4AA"/>
              </a:buClr>
              <a:buFont typeface="Inter"/>
              <a:buChar char="•"/>
            </a:pPr>
            <a:r>
              <a:rPr sz="1800" b="0">
                <a:solidFill>
                  <a:srgbClr val="FFFFFF"/>
                </a:solidFill>
                <a:latin typeface="Inter"/>
              </a:rPr>
              <a:t>AI product engineer / forward deployed engineer: ships agents and owns their metrics</a:t>
            </a:r>
          </a:p>
          <a:p>
            <a:pPr marL="292608" indent="-292608">
              <a:lnSpc>
                <a:spcPct val="120000"/>
              </a:lnSpc>
              <a:spcAft>
                <a:spcPts val="1260"/>
              </a:spcAft>
              <a:buClr>
                <a:srgbClr val="00D4AA"/>
              </a:buClr>
              <a:buFont typeface="Inter"/>
              <a:buChar char="•"/>
            </a:pPr>
            <a:r>
              <a:rPr sz="1800" b="0">
                <a:solidFill>
                  <a:srgbClr val="FFFFFF"/>
                </a:solidFill>
                <a:latin typeface="Inter"/>
              </a:rPr>
              <a:t>Also: FinOps analyst (AI spend), staff engineer (AI), developer productivity (AI tooling)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evidence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capstone repo: three numbers in the README</a:t>
            </a:r>
          </a:p>
          <a:p>
            <a:pPr marL="292608" indent="-292608">
              <a:lnSpc>
                <a:spcPct val="120000"/>
              </a:lnSpc>
              <a:spcAft>
                <a:spcPts val="1539"/>
              </a:spcAft>
              <a:buClr>
                <a:srgbClr val="00D4AA"/>
              </a:buClr>
              <a:buFont typeface="Inter"/>
              <a:buChar char="•"/>
            </a:pPr>
            <a:r>
              <a:rPr sz="2200" b="0">
                <a:solidFill>
                  <a:srgbClr val="FFFFFF"/>
                </a:solidFill>
                <a:latin typeface="Inter"/>
              </a:rPr>
              <a:t>Two postmortems and one drift report</a:t>
            </a:r>
          </a:p>
          <a:p>
            <a:pPr marL="292608" indent="-292608">
              <a:lnSpc>
                <a:spcPct val="120000"/>
              </a:lnSpc>
              <a:spcAft>
                <a:spcPts val="1539"/>
              </a:spcAft>
              <a:buClr>
                <a:srgbClr val="00D4AA"/>
              </a:buClr>
              <a:buFont typeface="Inter"/>
              <a:buChar char="•"/>
            </a:pPr>
            <a:r>
              <a:rPr sz="2200" b="0">
                <a:solidFill>
                  <a:srgbClr val="FFFFFF"/>
                </a:solidFill>
                <a:latin typeface="Inter"/>
              </a:rPr>
              <a:t>A red pull request screenshot</a:t>
            </a:r>
          </a:p>
          <a:p>
            <a:pPr marL="292608" indent="-292608">
              <a:lnSpc>
                <a:spcPct val="120000"/>
              </a:lnSpc>
              <a:spcAft>
                <a:spcPts val="1539"/>
              </a:spcAft>
              <a:buClr>
                <a:srgbClr val="00D4AA"/>
              </a:buClr>
              <a:buFont typeface="Inter"/>
              <a:buChar char="•"/>
            </a:pPr>
            <a:r>
              <a:rPr sz="2200" b="0">
                <a:solidFill>
                  <a:srgbClr val="FFFFFF"/>
                </a:solidFill>
                <a:latin typeface="Inter"/>
              </a:rPr>
              <a:t>The weekly report</a:t>
            </a:r>
          </a:p>
          <a:p>
            <a:pPr marL="292608" indent="-292608">
              <a:lnSpc>
                <a:spcPct val="120000"/>
              </a:lnSpc>
              <a:spcAft>
                <a:spcPts val="1539"/>
              </a:spcAft>
              <a:buClr>
                <a:srgbClr val="00D4AA"/>
              </a:buClr>
              <a:buFont typeface="Inter"/>
              <a:buChar char="•"/>
            </a:pPr>
            <a:r>
              <a:rPr sz="2200" b="0">
                <a:solidFill>
                  <a:srgbClr val="FFFFFF"/>
                </a:solidFill>
                <a:latin typeface="Inter"/>
              </a:rPr>
              <a:t>The domain-swap project, which proves you can do it twice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1-2: tracing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trace a multi-step agent so the trace explains the tool calls?</a:t>
            </a:r>
          </a:p>
          <a:p>
            <a:pPr marL="292608" indent="-292608">
              <a:lnSpc>
                <a:spcPct val="120000"/>
              </a:lnSpc>
              <a:spcAft>
                <a:spcPts val="1539"/>
              </a:spcAft>
              <a:buClr>
                <a:srgbClr val="00D4AA"/>
              </a:buClr>
              <a:buFont typeface="Inter"/>
              <a:buChar char="•"/>
            </a:pPr>
            <a:r>
              <a:rPr sz="2200" b="0">
                <a:solidFill>
                  <a:srgbClr val="FFFFFF"/>
                </a:solidFill>
                <a:latin typeface="Inter"/>
              </a:rPr>
              <a:t>What are the GenAI semantic conventions and why use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3-4: cost and privacy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attribute cost to a tenant or feature?</a:t>
            </a:r>
          </a:p>
          <a:p>
            <a:pPr marL="292608" indent="-292608">
              <a:lnSpc>
                <a:spcPct val="120000"/>
              </a:lnSpc>
              <a:spcAft>
                <a:spcPts val="1539"/>
              </a:spcAft>
              <a:buClr>
                <a:srgbClr val="00D4AA"/>
              </a:buClr>
              <a:buFont typeface="Inter"/>
              <a:buChar char="•"/>
            </a:pPr>
            <a:r>
              <a:rPr sz="2200" b="0">
                <a:solidFill>
                  <a:srgbClr val="FFFFFF"/>
                </a:solidFill>
                <a:latin typeface="Inter"/>
              </a:rPr>
              <a:t>What do you never put in a trace, and how do you enforce that?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5-6: cost incidents and savings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 agent's cost spiked overnight. Walk me through your investigation.</a:t>
            </a:r>
          </a:p>
          <a:p>
            <a:pPr marL="292608" indent="-292608">
              <a:lnSpc>
                <a:spcPct val="120000"/>
              </a:lnSpc>
              <a:spcAft>
                <a:spcPts val="1539"/>
              </a:spcAft>
              <a:buClr>
                <a:srgbClr val="00D4AA"/>
              </a:buClr>
              <a:buFont typeface="Inter"/>
              <a:buChar char="•"/>
            </a:pPr>
            <a:r>
              <a:rPr sz="2200" b="0">
                <a:solidFill>
                  <a:srgbClr val="FFFFFF"/>
                </a:solidFill>
                <a:latin typeface="Inter"/>
              </a:rPr>
              <a:t>Name three ways to cut LLM spend and how you'd prove each saving.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7-8: budgets and fallbacks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stop one tenant from burning the whole budget?</a:t>
            </a:r>
          </a:p>
          <a:p>
            <a:pPr marL="292608" indent="-292608">
              <a:lnSpc>
                <a:spcPct val="120000"/>
              </a:lnSpc>
              <a:spcAft>
                <a:spcPts val="1539"/>
              </a:spcAft>
              <a:buClr>
                <a:srgbClr val="00D4AA"/>
              </a:buClr>
              <a:buFont typeface="Inter"/>
              <a:buChar char="•"/>
            </a:pPr>
            <a:r>
              <a:rPr sz="2200" b="0">
                <a:solidFill>
                  <a:srgbClr val="FFFFFF"/>
                </a:solidFill>
                <a:latin typeface="Inter"/>
              </a:rPr>
              <a:t>What does a fallback need in order to protect a latency SLO?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9-10: quality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know an agent got worse when latency, errors and cost all look fine?</a:t>
            </a:r>
          </a:p>
          <a:p>
            <a:pPr marL="292608" indent="-292608">
              <a:lnSpc>
                <a:spcPct val="120000"/>
              </a:lnSpc>
              <a:spcAft>
                <a:spcPts val="1539"/>
              </a:spcAft>
              <a:buClr>
                <a:srgbClr val="00D4AA"/>
              </a:buClr>
              <a:buFont typeface="Inter"/>
              <a:buChar char="•"/>
            </a:pPr>
            <a:r>
              <a:rPr sz="2200" b="0">
                <a:solidFill>
                  <a:srgbClr val="FFFFFF"/>
                </a:solidFill>
                <a:latin typeface="Inter"/>
              </a:rPr>
              <a:t>How do you prevent a prompt change from regressing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11-12: operations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SLIs would you put on a dashboard for an AI agent, and who owns each alert?</a:t>
            </a:r>
          </a:p>
          <a:p>
            <a:pPr marL="292608" indent="-292608">
              <a:lnSpc>
                <a:spcPct val="120000"/>
              </a:lnSpc>
              <a:spcAft>
                <a:spcPts val="1539"/>
              </a:spcAft>
              <a:buClr>
                <a:srgbClr val="00D4AA"/>
              </a:buClr>
              <a:buFont typeface="Inter"/>
              <a:buChar char="•"/>
            </a:pPr>
            <a:r>
              <a:rPr sz="2200" b="0">
                <a:solidFill>
                  <a:srgbClr val="FFFFFF"/>
                </a:solidFill>
                <a:latin typeface="Inter"/>
              </a:rPr>
              <a:t>How do you keep telemetry from taking down the service it observes?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Pitching observability to management: the ROI story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avoided: the incident caught at 10:10 instead of 11:40, in dollars</a:t>
            </a:r>
          </a:p>
          <a:p>
            <a:pPr marL="292608" indent="-292608">
              <a:lnSpc>
                <a:spcPct val="120000"/>
              </a:lnSpc>
              <a:spcAft>
                <a:spcPts val="1260"/>
              </a:spcAft>
              <a:buClr>
                <a:srgbClr val="00D4AA"/>
              </a:buClr>
              <a:buFont typeface="Inter"/>
              <a:buChar char="•"/>
            </a:pPr>
            <a:r>
              <a:rPr sz="1800" b="0">
                <a:solidFill>
                  <a:srgbClr val="FFFFFF"/>
                </a:solidFill>
                <a:latin typeface="Inter"/>
              </a:rPr>
              <a:t>Cost saved: the replay comparison, by lever, per month</a:t>
            </a:r>
          </a:p>
          <a:p>
            <a:pPr marL="292608" indent="-292608">
              <a:lnSpc>
                <a:spcPct val="120000"/>
              </a:lnSpc>
              <a:spcAft>
                <a:spcPts val="1260"/>
              </a:spcAft>
              <a:buClr>
                <a:srgbClr val="00D4AA"/>
              </a:buClr>
              <a:buFont typeface="Inter"/>
              <a:buChar char="•"/>
            </a:pPr>
            <a:r>
              <a:rPr sz="1800" b="0">
                <a:solidFill>
                  <a:srgbClr val="FFFFFF"/>
                </a:solidFill>
                <a:latin typeface="Inter"/>
              </a:rPr>
              <a:t>Risk reduced: the pull request that failed; drift caught in an hour</a:t>
            </a:r>
          </a:p>
          <a:p>
            <a:pPr marL="292608" indent="-292608">
              <a:lnSpc>
                <a:spcPct val="120000"/>
              </a:lnSpc>
              <a:spcAft>
                <a:spcPts val="1260"/>
              </a:spcAft>
              <a:buClr>
                <a:srgbClr val="00D4AA"/>
              </a:buClr>
              <a:buFont typeface="Inter"/>
              <a:buChar char="•"/>
            </a:pPr>
            <a:r>
              <a:rPr sz="1800" b="0">
                <a:solidFill>
                  <a:srgbClr val="FFFFFF"/>
                </a:solidFill>
                <a:latin typeface="Inter"/>
              </a:rPr>
              <a:t>Ask: the tool cost, the platform time, the owner, in one sentence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not to say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Don't claim the incidents were real; say "simulated on a replayed dataset, method is real"</a:t>
            </a:r>
          </a:p>
          <a:p>
            <a:pPr marL="292608" indent="-292608">
              <a:lnSpc>
                <a:spcPct val="120000"/>
              </a:lnSpc>
              <a:spcAft>
                <a:spcPts val="1260"/>
              </a:spcAft>
              <a:buClr>
                <a:srgbClr val="00D4AA"/>
              </a:buClr>
              <a:buFont typeface="Inter"/>
              <a:buChar char="•"/>
            </a:pPr>
            <a:r>
              <a:rPr sz="1800" b="0">
                <a:solidFill>
                  <a:srgbClr val="FFFFFF"/>
                </a:solidFill>
                <a:latin typeface="Inter"/>
              </a:rPr>
              <a:t>Don't compare vendors by feature list; compare by control, cost, compliance, lock-in</a:t>
            </a:r>
          </a:p>
          <a:p>
            <a:pPr marL="292608" indent="-292608">
              <a:lnSpc>
                <a:spcPct val="120000"/>
              </a:lnSpc>
              <a:spcAft>
                <a:spcPts val="1260"/>
              </a:spcAft>
              <a:buClr>
                <a:srgbClr val="00D4AA"/>
              </a:buClr>
              <a:buFont typeface="Inter"/>
              <a:buChar char="•"/>
            </a:pPr>
            <a:r>
              <a:rPr sz="1800" b="0">
                <a:solidFill>
                  <a:srgbClr val="FFFFFF"/>
                </a:solidFill>
                <a:latin typeface="Inter"/>
              </a:rPr>
              <a:t>Don't quote a cost saving without the baseline and the method</a:t>
            </a:r>
          </a:p>
          <a:p>
            <a:pPr marL="292608" indent="-292608">
              <a:lnSpc>
                <a:spcPct val="120000"/>
              </a:lnSpc>
              <a:spcAft>
                <a:spcPts val="1260"/>
              </a:spcAft>
              <a:buClr>
                <a:srgbClr val="00D4AA"/>
              </a:buClr>
              <a:buFont typeface="Inter"/>
              <a:buChar char="•"/>
            </a:pPr>
            <a:r>
              <a:rPr sz="1800" b="0">
                <a:solidFill>
                  <a:srgbClr val="FFFFFF"/>
                </a:solidFill>
                <a:latin typeface="Inter"/>
              </a:rPr>
              <a:t>Don't promise 100% trace retention; talk about sampling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descriptions, not job titles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Answer with a mechanism and a number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Pitch: three numbers and one sentence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Final practice test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forty-question practice test, then one short bonus lecture to finish.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CAREERS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Final practice test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end-to-end understanding across all fifteen sections.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Final practice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40 questions across all 15 sections</a:t>
            </a:r>
          </a:p>
          <a:p>
            <a:pPr marL="292608" indent="-292608">
              <a:lnSpc>
                <a:spcPct val="120000"/>
              </a:lnSpc>
              <a:spcAft>
                <a:spcPts val="1260"/>
              </a:spcAft>
              <a:buClr>
                <a:srgbClr val="00D4AA"/>
              </a:buClr>
              <a:buFont typeface="Inter"/>
              <a:buChar char="•"/>
            </a:pPr>
            <a:r>
              <a:rPr sz="1800" b="0">
                <a:solidFill>
                  <a:srgbClr val="FFFFFF"/>
                </a:solidFill>
                <a:latin typeface="Inter"/>
              </a:rPr>
              <a:t>Tracing and conventions, Langfuse, agent patterns, cost, latency, online evals, SLOs, governance, incidents, portability, deployment</a:t>
            </a:r>
          </a:p>
          <a:p>
            <a:pPr marL="292608" indent="-292608">
              <a:lnSpc>
                <a:spcPct val="120000"/>
              </a:lnSpc>
              <a:spcAft>
                <a:spcPts val="1260"/>
              </a:spcAft>
              <a:buClr>
                <a:srgbClr val="00D4AA"/>
              </a:buClr>
              <a:buFont typeface="Inter"/>
              <a:buChar char="•"/>
            </a:pPr>
            <a:r>
              <a:rPr sz="1800" b="0">
                <a:solidFill>
                  <a:srgbClr val="FFFFFF"/>
                </a:solidFill>
                <a:latin typeface="Inter"/>
              </a:rPr>
              <a:t>Read every explanation, even for answers you got right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Bonus Lecture: keep operating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One more short video to finish the course: the bonus lecture.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CAREERS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Bonus Lecture: keep operating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Know where to get help and updates after the course: the Q&amp;A, the repo README and announcements.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Keeping your project current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Observability libraries release often; the GenAI conventions are still incubating</a:t>
            </a:r>
          </a:p>
          <a:p>
            <a:pPr marL="292608" indent="-292608">
              <a:lnSpc>
                <a:spcPct val="120000"/>
              </a:lnSpc>
              <a:spcAft>
                <a:spcPts val="1260"/>
              </a:spcAft>
              <a:buClr>
                <a:srgbClr val="00D4AA"/>
              </a:buClr>
              <a:buFont typeface="Inter"/>
              <a:buChar char="•"/>
            </a:pPr>
            <a:r>
              <a:rPr sz="1800" b="0">
                <a:solidFill>
                  <a:srgbClr val="FFFFFF"/>
                </a:solidFill>
                <a:latin typeface="Inter"/>
              </a:rPr>
              <a:t>The repo README lists the tested versions: langfuse 4.15, opentelemetry-sdk 1.45, semconv 0.66, langsmith 0.14</a:t>
            </a:r>
          </a:p>
          <a:p>
            <a:pPr marL="292608" indent="-292608">
              <a:lnSpc>
                <a:spcPct val="120000"/>
              </a:lnSpc>
              <a:spcAft>
                <a:spcPts val="1260"/>
              </a:spcAft>
              <a:buClr>
                <a:srgbClr val="00D4AA"/>
              </a:buClr>
              <a:buFont typeface="Inter"/>
              <a:buChar char="•"/>
            </a:pPr>
            <a:r>
              <a:rPr sz="1800" b="0">
                <a:solidFill>
                  <a:srgbClr val="FFFFFF"/>
                </a:solidFill>
                <a:latin typeface="Inter"/>
              </a:rPr>
              <a:t>Course announcements flag breaking changes</a:t>
            </a:r>
          </a:p>
          <a:p>
            <a:pPr marL="292608" indent="-292608">
              <a:lnSpc>
                <a:spcPct val="120000"/>
              </a:lnSpc>
              <a:spcAft>
                <a:spcPts val="1260"/>
              </a:spcAft>
              <a:buClr>
                <a:srgbClr val="00D4AA"/>
              </a:buClr>
              <a:buFont typeface="Inter"/>
              <a:buChar char="•"/>
            </a:pPr>
            <a:r>
              <a:rPr sz="1800" b="0">
                <a:solidFill>
                  <a:srgbClr val="FFFFFF"/>
                </a:solidFill>
                <a:latin typeface="Inter"/>
              </a:rPr>
              <a:t>Pin your versions; upgrade on a branch with the budget gate running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Getting help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Q&amp;A: include your command, the full error and your package versions</a:t>
            </a:r>
          </a:p>
          <a:p>
            <a:pPr marL="292608" indent="-292608">
              <a:lnSpc>
                <a:spcPct val="120000"/>
              </a:lnSpc>
              <a:spcAft>
                <a:spcPts val="1539"/>
              </a:spcAft>
              <a:buClr>
                <a:srgbClr val="00D4AA"/>
              </a:buClr>
              <a:buFont typeface="Inter"/>
              <a:buChar char="•"/>
            </a:pPr>
            <a:r>
              <a:rPr sz="2200" b="0">
                <a:solidFill>
                  <a:srgbClr val="FFFFFF"/>
                </a:solidFill>
                <a:latin typeface="Inter"/>
              </a:rPr>
              <a:t>Search the Q&amp;A first: most setup and Docker issues are answered there</a:t>
            </a:r>
          </a:p>
          <a:p>
            <a:pPr marL="292608" indent="-292608">
              <a:lnSpc>
                <a:spcPct val="120000"/>
              </a:lnSpc>
              <a:spcAft>
                <a:spcPts val="1539"/>
              </a:spcAft>
              <a:buClr>
                <a:srgbClr val="00D4AA"/>
              </a:buClr>
              <a:buFont typeface="Inter"/>
              <a:buChar char="•"/>
            </a:pPr>
            <a:r>
              <a:rPr sz="2200" b="0">
                <a:solidFill>
                  <a:srgbClr val="FFFFFF"/>
                </a:solidFill>
                <a:latin typeface="Inter"/>
              </a:rPr>
              <a:t>Share your capstone numbers and your Grafana screenshot: it helps other students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Related courses (optional)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Generative AI &amp; AI Agents: Zero to Production: build text agents from first principles</a:t>
            </a:r>
          </a:p>
          <a:p>
            <a:pPr marL="292608" indent="-292608">
              <a:lnSpc>
                <a:spcPct val="120000"/>
              </a:lnSpc>
              <a:spcAft>
                <a:spcPts val="1260"/>
              </a:spcAft>
              <a:buClr>
                <a:srgbClr val="00D4AA"/>
              </a:buClr>
              <a:buFont typeface="Inter"/>
              <a:buChar char="•"/>
            </a:pPr>
            <a:r>
              <a:rPr sz="1800" b="0">
                <a:solidFill>
                  <a:srgbClr val="FFFFFF"/>
                </a:solidFill>
                <a:latin typeface="Inter"/>
              </a:rPr>
              <a:t>AI Agent Testing &amp; Evaluation: offline evals, judges, datasets and test strategy</a:t>
            </a:r>
          </a:p>
          <a:p>
            <a:pPr marL="292608" indent="-292608">
              <a:lnSpc>
                <a:spcPct val="120000"/>
              </a:lnSpc>
              <a:spcAft>
                <a:spcPts val="1260"/>
              </a:spcAft>
              <a:buClr>
                <a:srgbClr val="00D4AA"/>
              </a:buClr>
              <a:buFont typeface="Inter"/>
              <a:buChar char="•"/>
            </a:pPr>
            <a:r>
              <a:rPr sz="1800" b="0">
                <a:solidFill>
                  <a:srgbClr val="FFFFFF"/>
                </a:solidFill>
                <a:latin typeface="Inter"/>
              </a:rPr>
              <a:t>Production Voice AI Agents with Python: real-time agents, latency budgets and telephony</a:t>
            </a:r>
          </a:p>
          <a:p>
            <a:pPr marL="292608" indent="-292608">
              <a:lnSpc>
                <a:spcPct val="120000"/>
              </a:lnSpc>
              <a:spcAft>
                <a:spcPts val="1260"/>
              </a:spcAft>
              <a:buClr>
                <a:srgbClr val="00D4AA"/>
              </a:buClr>
              <a:buFont typeface="Inter"/>
              <a:buChar char="•"/>
            </a:pPr>
            <a:r>
              <a:rPr sz="1800" b="0">
                <a:solidFill>
                  <a:srgbClr val="FFFFFF"/>
                </a:solidFill>
                <a:latin typeface="Inter"/>
              </a:rPr>
              <a:t>Links are in the resources panel for this lecture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Thank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Finish the capstone</a:t>
            </a:r>
          </a:p>
          <a:p>
            <a:pPr marL="292608" indent="-292608">
              <a:lnSpc>
                <a:spcPct val="120000"/>
              </a:lnSpc>
              <a:spcAft>
                <a:spcPts val="1539"/>
              </a:spcAft>
              <a:buClr>
                <a:srgbClr val="00D4AA"/>
              </a:buClr>
              <a:buFont typeface="Inter"/>
              <a:buChar char="•"/>
            </a:pPr>
            <a:r>
              <a:rPr sz="2200" b="0">
                <a:solidFill>
                  <a:srgbClr val="FFFFFF"/>
                </a:solidFill>
                <a:latin typeface="Inter"/>
              </a:rPr>
              <a:t>Send the report</a:t>
            </a:r>
          </a:p>
          <a:p>
            <a:pPr marL="292608" indent="-292608">
              <a:lnSpc>
                <a:spcPct val="120000"/>
              </a:lnSpc>
              <a:spcAft>
                <a:spcPts val="1539"/>
              </a:spcAft>
              <a:buClr>
                <a:srgbClr val="00D4AA"/>
              </a:buClr>
              <a:buFont typeface="Inter"/>
              <a:buChar char="•"/>
            </a:pPr>
            <a:r>
              <a:rPr sz="2200" b="0">
                <a:solidFill>
                  <a:srgbClr val="FFFFFF"/>
                </a:solidFill>
                <a:latin typeface="Inter"/>
              </a:rPr>
              <a:t>Keep the gate green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Upgrade monthly on a branch, gate running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Ask with command, error and versions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Related courses are optional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15 · Lecture 15.4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Operate an AI agent with traces, budgets and SLOs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Investigate and write up agent incidents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Keep the stack current without breaking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