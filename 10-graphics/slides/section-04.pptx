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LLM Quality Metrics: Relevance, Faithfulness, Coherence.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pick the right quality metric for a failure, and explain a table of scores that seem to contradict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Project 1, you used three metrics. Now let's look at the whole map. Agent metrics split into two families. LLM quality metrics judge the text the agent wrote. Agent behaviour metrics judge what it did: its tools and steps. This lecture is the left branch: relevance, faithfulness, coherence, hallucination, bias and toxicity. Next lecture, the right branch.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answer relevancy. The judge splits the answer into statements, then asks of each one: does this help answer the question? The score is the share of relevant statements. So a focused answer scores high, and an answer padded with unrelated facts scores lower. It needs only the question and the answer, which makes it cheap to apply everywhere. It's your first defence against goal drift and non-answers. So what does a vague answer score? Somewhere in the middle, and you'll see exactly where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Faithfulness checks grounding. The judge pulls the factual claims out of the answer, then checks each one against the retrieval context, the text the agent's tools actually returned. The score is the share of claims that hold up.</a:t>
            </a:r>
          </a:p>
          <a:p/>
          <a:p>
            <a:r>
              <a:t>One detail that matters in DeepEval four point two. By default, a claim fails only if the context contradicts it. A claim the context simply doesn't mention counts as borderline and passes. Want unsupported extras to fail too? Set `penalize_ambiguous_claims` to true. For a policy bot, that's often the right call. Why? Because "bursts of five thousand are free" isn't contradicted by the docs. It's just invented.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hallucination metric sounds like the same thing, so what's different? Its reference. Faithfulness compares the answer with the retrieval context, whatever the agent found. Hallucination compares it with the context field, the ground truth you wrote into the test case. The score is the share of those context passages the answer agrees with.</a:t>
            </a:r>
          </a:p>
          <a:p/>
          <a:p>
            <a:r>
              <a:t>Careful with old tutorials. In DeepEval four point two, hallucination is higher-is-better, and it passes at or above the threshold. Our policy uses zero point seven. Older docs describe it the other way 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there's correctness, our GEval metric from Project 1. It compares the answer with the expected answer an expert wrote. This is the distinction most people get wrong in interviews. Correctness asks, "is it true?" Faithfulness asks, "did it come from the sources?" Quote an outdated document word for word, and you're faithful but incorrect. State today's price from memory, and you're correct but unfaithful, and one price change away from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Coherence asks whether the answer is well structured and logically consistent. DeepEval four point two doesn't ship a coherence metric. You write it as a GEval criterion, in plain English, which you'll do in Lecture 4.4. Bias and toxicity are built in. In four point two they're higher-is-better too: one point zero means the judge found no biased or toxic statements. For a support agent, they're a safety net rather than a daily metric.</a:t>
            </a:r>
          </a:p>
          <a:p/>
          <a:p>
            <a:r>
              <a:t>[CODE: `demos/m04_metric_comparison.py`, the scoring loop]</a:t>
            </a:r>
          </a:p>
          <a:p/>
          <a:p>
            <a:r>
              <a:t>Here's the demo. One question about Pro API limits. One expected answer: a thousand requests per hour. The knowledge-base article KB-104 as both context and retrieval context. Five candidate answers, each measured by four metrics. Notice `metric.measure`: you don't need `assert_test` to get a score. Measure, then read `score` and `reason`.</a:t>
            </a:r>
          </a:p>
          <a:p/>
          <a:p>
            <a:r>
              <a:t>[SCREEN: Terminal. Run the comparison. Highlight one cell per row as the narration reaches it.]</a:t>
            </a:r>
          </a:p>
          <a:p/>
          <a:p>
            <a:r>
              <a:t>[DEMO: Output (banner and blank lines trimmed)]</a:t>
            </a:r>
          </a:p>
          <a:p/>
          <a:p>
            <a:r>
              <a:t>Row one, the correct answer: ones everywhere. Good. That's your control row. If the correct answer didn't score well, you'd fix the test before reading anything else.</a:t>
            </a:r>
          </a:p>
          <a:p/>
          <a:p>
            <a:r>
              <a:t>Row three, off-topic: "Our refund policy gives you thirty days." Relevancy zero, correctness zero point one. But faithfulness? One. Nothing in the answer contradicts the API docs, so it's perfectly grounded and perfectly useless. Faithfulness alone would wave it through.</a:t>
            </a:r>
          </a:p>
          <a:p/>
          <a:p>
            <a:r>
              <a:t>Row four, vague: "Rate limits depend on your plan. Check the documentation." Relevancy zero point five, correctness zero point two. Not wrong, just not an answer.</a:t>
            </a:r>
          </a:p>
          <a:p/>
          <a:p>
            <a:r>
              <a:t>Row five is our hook. Relevant, correct on the key fact, and an invented claim about free bursts. Faithfulness and hallucination both drop to zero. Here, offline, the mock judge treats an unsupported number as a failure.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row two, the wrong number: five hundred instead of a thousand. Only correctness caught it, at zero point five. Offline, the mock judge missed the contradiction. A live `gpt-4.1` judge usually flags it, but "usually" is the point. Every judge has blind spots, and that's why you stack metrics, and why Lecture 4.3 is about checking the judge itself. So which single metric would you trust alone? None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you run day to day? For a support agent, the Project 1 set is a strong default. Relevancy on everything. Faithfulness wherever the agent retrieved text, with ambiguous claims penalized for policy answers. Correctness wherever an expert wrote the answer. Add bias and toxicity as a safety net. Then add behaviour metrics, which is next.</a:t>
            </a:r>
          </a:p>
          <a:p/>
          <a:p>
            <a:r>
              <a:t>Why is faithfulness at zero point eight while the others sit at zero point seven? Because a wrong policy costs more than a slightly unfocused answer. Thresholds encode risk. Start from the policy file's values, then move them only with evidence, like the calibration you'll do in Lecture 4.3.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keep. Relevancy, faithfulness and correctness each answer a different question, so they disagree, and that's useful. Faithfulness checks the sources; correctness checks the truth. And no single metric catches everything, so you stack them.</a:t>
            </a:r>
          </a:p>
          <a:p/>
          <a:p>
            <a:r>
              <a:t>Everything today judged the words. But an agent can write a lovely answer after calling the wrong tool. Next, the metrics that judge what the agent did: task completion, tool correctness and goal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Agent-Specific Metrics: Task Completion, Tool Correctness, Goal Accuracy.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score an agent's actions: which tools it chose, whether it finished the task, and how efficiently it got there.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lecture was the left side of the map: metrics that judge text. Now the right side. Five behaviour metrics: task completion, tool selection, tool arguments, goal accuracy and trajectory efficiency. Remember the six failure modes? Wrong tool selection, incorrect arguments and infinite loops are invisible to text metrics. This branch is how you catch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tool selection. DeepEval's tool correctness metric compares two lists on the test case: the tools the agent called, and the tools it should have called. By default it matches by name. You can ask it to care about order, or to require an exact match with nothing extra.</a:t>
            </a:r>
          </a:p>
          <a:p/>
          <a:p>
            <a:r>
              <a:t>What does order mean here? For the cancellation case, the agent must look up the customer before it creates a ticket on their account. Same tools in the wrong order is a different trajectory.</a:t>
            </a:r>
          </a:p>
          <a:p/>
          <a:p>
            <a:r>
              <a:t>Where do the two lists come from? You built them in Lecture 3.2. `to_test_case` turns the agent's tool log into `tools_called`, and the golden case's expected tools into `expected_tools`. Our policy threshold is zero point eight five.</a:t>
            </a:r>
          </a:p>
          <a:p/>
          <a:p>
            <a:r>
              <a:t>[CODE: `evaluators/deepeval_suite.py`, `tools_called`]</a:t>
            </a:r>
          </a:p>
          <a:p/>
          <a:p>
            <a:r>
              <a:t>Each logged step becomes a DeepEval `ToolCall`: the name, the arguments as input parameters, and the result as output. So the arguments and results travel with the test case, ready for stricter checks later.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task completion. Did the agent actually do what the user wanted? The judge reads the request, the answer and the tools the agent called, works out what the task was and what the agent achieved, and scores how well they match. It's a judged metric, so it needs no expected answer. That makes it useful on real traffic too, where nobody wrote one. Our policy sets it at zero point eight. Can a judge really tell whether opening a ticket was the right outcome? Often, yes, because the request says what the customer wanted. When it can't, you fall back on expected tools.</a:t>
            </a:r>
          </a:p>
          <a:p/>
          <a:p>
            <a:r>
              <a:t>[CODE: `demos/m04_agent_metrics.py`, scoring real runs and one recorded bad run]</a:t>
            </a:r>
          </a:p>
          <a:p/>
          <a:p>
            <a:r>
              <a:t>Here's the demo. Four real agent runs from the golden set, from a one-tool lookup to the three-tool cancellation. Each gets tool correctness and task completion. Then the recorded bad run from our hook, built by hand: called `create_ticket`, expected `search_knowledge_base`.</a:t>
            </a:r>
          </a:p>
          <a:p/>
          <a:p>
            <a:r>
              <a:t>[SCREEN: Terminal. Run the agent-metrics demo; highlight the `recorded-bad` row, then the reason block.]</a:t>
            </a:r>
          </a:p>
          <a:p/>
          <a:p>
            <a:r>
              <a:t>[DEMO: Output (banner and blank lines trimmed)]</a:t>
            </a:r>
          </a:p>
          <a:p/>
          <a:p>
            <a:r>
              <a:t>The four real runs score one on both metrics. The double charge, the cancellation with three tools in order, the urgent escalation: all as expected. The recorded bad run scores zero on tool correctness.</a:t>
            </a:r>
          </a:p>
          <a:p/>
          <a:p>
            <a:r>
              <a:t>Should you be suspicious of all those ones? A little. Offline, the mock model follows the system prompt faithfully, so the golden cases come out clean. Live, `gpt-4.1-mini` occasionally takes a different path, and that's exactly when these metrics earn their place.</a:t>
            </a:r>
          </a:p>
          <a:p/>
          <a:p>
            <a:r>
              <a:t>[SCREEN: Same terminal, zoom on the `ToolCorrectness reason` block; underline "missing tools" and "No available tools were provided".]</a:t>
            </a:r>
          </a:p>
          <a:p/>
          <a:p>
            <a:r>
              <a:t>Now read the reason, because it tells you two things. First: missing tool, `search_knowledge_base`; called `create_ticket` instead. That's your bug report. Second: "no available tools were provided". If you also pass the list of tools the agent could have used, DeepEval adds a judged score for whether the choice was sensible. Name matching tells you that it chose wrong. The judged part helps explain why. So what would you fix first? The prompt rule that sends how-to questions to the knowledge base.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behaviour metric: arguments. Right tool, wrong values, like looking up "Alice" instead of alice@example.com. You saw our deterministic check catch that in Lecture 1.4: it compares each argument with the expected value and reports what's missing or wrong. No judge, no cost. DeepEval four point two also ships an argument correctness metric that uses a judge, which helps when the right value is a matter of judgement, like a ticket subject. Prefer the deterministic check whenever you can write down the expected value. Module 6 goes deep on this.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goal accuracy. Task completion asks whether the agent finished something. Goal accuracy asks whether it finished the right thing. Opening a ticket completes a task. But if the customer only wanted the password steps, the goal was missed. For single-turn cases, you measure goal accuracy with what you already have: the expected tools plus GEval correctness against the expert answer. That's exactly what the Project 1 suite does. For multi-turn conversations, DeepEval's goal accuracy metric works on whole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Fifth: trajectory efficiency. Did the agent take a reasonable number of steps? The simplest measure is a count. Our quality policy allows at most six model calls per task. The double-charge case uses three; the cancellation, our longest, uses four. Add the loop detector, three identical steps in a row, and you catch the runaway agent from Lecture 1.4 for free. DeepEval also has a step efficiency metric that reads a traced run. You'll meet tracing in Module 9.</a:t>
            </a:r>
          </a:p>
          <a:p/>
          <a:p>
            <a:r>
              <a:t>[SCREEN: VS Code, `config/eval_config.yaml`. Highlight `task_completion: 0.8`, `tool_correctness: 0.85` under correctness and `max_llm_ca...]</a:t>
            </a:r>
          </a:p>
          <a:p/>
          <a:p>
            <a:r>
              <a:t>All three thresholds live in the policy file. Notice where they sit. Task completion and tool correctness are part of correctness: the action is part of the answer. The step budget is part of reliability. Same five dimensions, now covering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Text metrics can't see actions, so agents need behaviour metrics too. Tool correctness compares the tools called with the tools expected, and its reason reads like a bug report. And for arguments and efficiency, start with cheap deterministic checks before reaching for a judge. Which of these would have caught the password ticket? Tool correctness, at zero.</a:t>
            </a:r>
          </a:p>
          <a:p/>
          <a:p>
            <a:r>
              <a:t>Most of these metrics lean on a judge model. Task completion, faithfulness, relevancy: another model is grading yours. So who grades the grader? Next, you'll build an LLM judge from scratch, and check it against human labels.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LLM-as-Judge: How to Use One AI to Grade Another.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build your own LLM judge, and prove whether you can trust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build a judge when DeepEval has dozens of metrics? Because DeepEval's metrics are judges with good prompts. Building one yourself shows you what's inside, and when you'd want your own. The shape is simple. Three inputs: the agent's answer, a rubric, and the context the answer should match. One judge model. Two outputs: a score and a reason.</a:t>
            </a:r>
          </a:p>
          <a:p/>
          <a:p>
            <a:r>
              <a:t>[CODE: `evaluators/llm_as_judge.py`, `JUDGE_PROMPT`]</a:t>
            </a:r>
          </a:p>
          <a:p/>
          <a:p>
            <a:r>
              <a:t>Here's the prompt. Four design choices, and each one is there for a reason.</a:t>
            </a:r>
          </a:p>
          <a:p/>
          <a:p>
            <a:r>
              <a:t>One: a role. "An impartial judge grading a customer-support answer." It sets the standard.</a:t>
            </a:r>
          </a:p>
          <a:p/>
          <a:p>
            <a:r>
              <a:t>Two: an anchored rubric. Every score from one to five has a definition. What happens without anchors? One judge's four is another's three, and your scores drift.</a:t>
            </a:r>
          </a:p>
          <a:p/>
          <a:p>
            <a:r>
              <a:t>Three: the context. The judge sees the knowledge-base text, so it grades against your policy, not against whatever it remembers. That's called reference-based judging, and it removes a whole class of judge errors.</a:t>
            </a:r>
          </a:p>
          <a:p/>
          <a:p>
            <a:r>
              <a:t>Four: JSON output. A score you can parse, plus one sentence of reasoning. Notice the double braces: the prompt is a Python format string, so literal braces are escaped.</a:t>
            </a:r>
          </a:p>
          <a:p/>
          <a:p>
            <a:r>
              <a:t>[CODE: `evaluators/llm_as_judge.py`, `judge`]</a:t>
            </a:r>
          </a:p>
          <a:p/>
          <a:p>
            <a:r>
              <a:t>Now the function. Fill in the prompt. Call the judge model, `gpt-4.1` by default. Temperature zero, because you want the same grade for the same answer. JSON mode, so the reply always parses. Then return the score and the reasoning.</a:t>
            </a:r>
          </a:p>
          <a:p/>
          <a:p>
            <a:r>
              <a:t>Why `gpt-4.1` judging `gpt-4.1-mini`? A grader should be at least as capable as the student. It costs more: about five times the price per token of the agent model, so verify current pricing before you judge thousands of answers. And if the judge fails to return a score, the code defaults to one, the lowest. A broken judge should fail loudly, not pass quietly.</a:t>
            </a:r>
          </a:p>
          <a:p/>
          <a:p>
            <a:r>
              <a:t>[SCREEN: Terminal. Run the judge demo. Let the printed prompt sit for a beat, then highlight the judge and human columns.]</a:t>
            </a:r>
          </a:p>
          <a:p/>
          <a:p>
            <a:r>
              <a:t>[DEMO: Output (banner and printed prompt trimmed)]</a:t>
            </a:r>
          </a:p>
          <a:p/>
          <a:p>
            <a:r>
              <a:t>Our judge grades one answer at a time. That's called pointwise grading. The other style, pairwise, shows the judge two answers and asks which is better. It's handy for comparing two prompt versions, and it's where one of the biases you're about to see bites hardest.</a:t>
            </a:r>
          </a:p>
          <a:p/>
          <a:p>
            <a:r>
              <a:t>Four answers to "What is your refund policy?", each graded by the judge and, separately, by a human. The full answer: five and five. The short one, thirty days but no processing time: four and four, a minor omission. The invented fourteen-day policy: one. The refusal: one, because the context answers the question. Judge and human agree on all four.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catch. Judges have well-documented biases (verify: Zheng et al., 2023, "Judging LLM-as-a-Judge"). Position bias: when comparing two answers, judges tend to prefer the first one shown. Verbosity bias: longer answers look more thorough, so they score higher, even when they're padded. And self-preference: a model may rate text from its own family more kindly. Notice that our agent and judge share a family. Why does that matter? Because every one of these biases is a quiet, systematic error, the kind that never shows up as a crash.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fixes. Ground the judge: give it the context and, when you have one, the expert answer. Anchor every score level. Run at temperature zero with JSON output. When comparing two answers, run both orders and average. Use a judge from a different provider when you can afford it. And above all: calibrate.</a:t>
            </a:r>
          </a:p>
          <a:p/>
          <a:p>
            <a:r>
              <a:t>[CODE: `evaluators/llm_as_judge.py`, `agreement`]</a:t>
            </a:r>
          </a:p>
          <a:p/>
          <a:p>
            <a:r>
              <a:t>Calibration in code is this small. Pair each judge score with a human score. Count how often they agree within one point, and the average gap. In our demo: four items, agreement one point zero, average gap zero.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items is a demo, not a calibration. For real use, have people score fifty to a hundred answers, with clear passes, clear fails, and the borderline ones that matter most. Run the judge on the same set. If it agrees at least ninety percent of the time, let it gate releases. If not, read the disagreements, fix the rubric, and run it again. And every time you change the prompt or the judge model, calibrate again. What would you do if humans disagree with each other? Then fix the criterion first. A judge can't be clearer than its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A good judge prompt has a role, an anchored rubric, the context, and JSON output, run at temperature zero on a stronger model. Judges have biases: position, verbosity and self-preference. And no judge gates a release until it agrees with human labels.</a:t>
            </a:r>
          </a:p>
          <a:p/>
          <a:p>
            <a:r>
              <a:t>Your hand-built judge works, but every new criterion means a new prompt and new parsing. Next, G-Eval: DeepEval's way to turn a criterion in plain English into a reusable, calibrated metric. You'll build one for customer empathy.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Custom Metrics: G-Eval &amp; Building Your Own Evaluator.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build a custom GEval metric for any business criterion, and check it against human judgement.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lecture, you built a judge by hand: a prompt, a call, some parsing. GEval packages that pattern. You give it a criterion in plain English and, ideally, the steps a careful grader would follow. It asks the judge to work through those steps, score from zero to ten, and normalizes the result to zero to one. When the judge model exposes token probabilities, GEval also weighs the likely scores rather than taking one number at face value, which makes scores steadier.</a:t>
            </a:r>
          </a:p>
          <a:p/>
          <a:p>
            <a:r>
              <a:t>You've already used one GEval metric: Answer Correctness in Project 1. Now you'll write one from scratch.</a:t>
            </a:r>
          </a:p>
          <a:p/>
          <a:p>
            <a:r>
              <a:t>[CODE: `evaluators/custom_metrics.py`, `customer_empathy`]</a:t>
            </a:r>
          </a:p>
          <a:p/>
          <a:p>
            <a:r>
              <a:t>Let's build it piece by piece.</a:t>
            </a:r>
          </a:p>
          <a:p/>
          <a:p>
            <a:r>
              <a:t>The name: Customer Empathy. It shows up in every report, so make it readable.</a:t>
            </a:r>
          </a:p>
          <a:p/>
          <a:p>
            <a:r>
              <a:t>The criteria: one sentence. "Does the response show empathy for the customer's situation while still solving the problem?" Notice the second half. Without "while still solving the problem", a reply that only says sorry would score well.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evaluation steps. This is where most custom metrics succeed or fail. If you leave them out, GEval writes its own from the criteria, and they can change between runs. Writing them yourself makes the metric consistent and explainable.</a:t>
            </a:r>
          </a:p>
          <a:p/>
          <a:p>
            <a:r>
              <a:t>Look at ours. Step two: does it acknowledge the customer's feelings in the first sentence? That's observable; "is it warm?" isn't. Step three: does it offer a concrete next step, not just sympathy? And step four says what to punish: blame, sarcasm, rudeness, heavily. Good steps read like instructions to a new grader on day one. How many steps? Keep it short: ours has four. If you need ten, you probably have two metrics hiding in one.</a:t>
            </a:r>
          </a:p>
          <a:p/>
          <a:p>
            <a:r>
              <a:t>[CODE: Same file, highlight the last two lines of `customer_empathy`: the `evaluation_params` list (input and actual output) and the `thr...]</a:t>
            </a:r>
          </a:p>
          <a:p/>
          <a:p>
            <a:r>
              <a:t>Then evaluation params: the judge sees the customer's message and the reply. Empathy depends on what the customer said, so the input matters. And the threshold, zero point seven, plus our usual judge.</a:t>
            </a:r>
          </a:p>
          <a:p/>
          <a:p>
            <a:r>
              <a:t>[SCREEN: Terminal. Run the empathy demo. Highlight the three scores, then each reason.]</a:t>
            </a:r>
          </a:p>
          <a:p/>
          <a:p>
            <a:r>
              <a:t>[DEMO: Output (banner trimmed)]</a:t>
            </a:r>
          </a:p>
          <a:p/>
          <a:p>
            <a:r>
              <a:t>The customer wrote: "This is ridiculous! I was charged twice and nobody answers my emails!" Three replies.</a:t>
            </a:r>
          </a:p>
          <a:p/>
          <a:p>
            <a:r>
              <a:t>The empathetic one acknowledges the frustration first, then opens a high-priority ticket. Zero point nine, pass. The flat one: "A ticket has been created." Correct, useful, and zero point six, a fail, because it never acknowledges the customer. That's the vending machine from our hook, now measurable. And the rude one scores zero.</a:t>
            </a:r>
          </a:p>
          <a:p/>
          <a:p>
            <a:r>
              <a:t>What would correctness have said about the flat reply? It would pass. That's the point of a custom metric: it measures the thing your business cares about that nothing else does.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don't wire it into CI yet. A new metric is a hypothesis. You test it the same way you tested your judge: against human labels. That's Lab 4.1.</a:t>
            </a:r>
          </a:p>
          <a:p/>
          <a:p>
            <a:r>
              <a:t>[SCREEN: Terminal. Run the Lab 4.1 reference solution; highlight the agree column and the summary line.]</a:t>
            </a:r>
          </a:p>
          <a:p/>
          <a:p>
            <a:r>
              <a:t>[DEMO: Output (banner trimmed; first four rows shown)]</a:t>
            </a:r>
          </a:p>
          <a:p/>
          <a:p>
            <a:r>
              <a:t>In the lab, you build a Regulatory Compliance metric for a financial assistant: a disclaimer must be present, no promised returns, and regulations named specifically. Then you score ten answers that a human already labelled pass or fail, and compare. Here, the metric agrees on all ten. The target is at least zero point nine before the metric is allowed to gate anything.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do you use your hand-built judge, and when GEval? Prototype with the raw judge: it's quick, and you control the output. Ship with GEval: the criteria and steps document what the metric measures, it returns a normal DeepEval score and reason, and it plugs straight into `assert_test`, your reports and CI.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mistakes to avoid. Cramming several criteria into one metric: split them, so a failure tells you which one. Vague words like "good" or "appropriate": replace them with something a grader can observe. Forgetting a param: a policy metric needs the context, or the judge guesses. And skipping calibration. Which of these have you seen in a prompt at work?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A GEval metric is a name, a criterion, evaluation steps, the params the judge needs, and a threshold. Write steps a new grader could follow, including what to penalize. And calibrate against human labels before the metric gates a release.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choose the right mix of metrics, build and calibrate a judge, and turn any business rule into a metric. Next module, the agents that answer from documents. When a RAG agent gets it wrong, did retrieval fail, or generation? That's where we start.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EVALUATION METRICS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LLM Quality Metrics: Relevance, Faithfulness, Coherence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what Answer Relevancy, Faithfulness, Hallucination and GEval correctness each measure, and which test case fields each needs.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LLM Quality Metrics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Know what each quality metric measures</a:t>
            </a:r>
          </a:p>
          <a:p>
            <a:pPr marL="292608" indent="-292608">
              <a:lnSpc>
                <a:spcPct val="120000"/>
              </a:lnSpc>
              <a:spcAft>
                <a:spcPts val="1539"/>
              </a:spcAft>
              <a:buClr>
                <a:srgbClr val="00D4AA"/>
              </a:buClr>
              <a:buFont typeface="Inter"/>
              <a:buChar char="•"/>
            </a:pPr>
            <a:r>
              <a:rPr sz="2200" b="0">
                <a:solidFill>
                  <a:srgbClr val="FFFFFF"/>
                </a:solidFill>
                <a:latin typeface="Inter"/>
              </a:rPr>
              <a:t>Know which fields each one needs</a:t>
            </a:r>
          </a:p>
          <a:p>
            <a:pPr marL="292608" indent="-292608">
              <a:lnSpc>
                <a:spcPct val="120000"/>
              </a:lnSpc>
              <a:spcAft>
                <a:spcPts val="1539"/>
              </a:spcAft>
              <a:buClr>
                <a:srgbClr val="00D4AA"/>
              </a:buClr>
              <a:buFont typeface="Inter"/>
              <a:buChar char="•"/>
            </a:pPr>
            <a:r>
              <a:rPr sz="2200" b="0">
                <a:solidFill>
                  <a:srgbClr val="FFFFFF"/>
                </a:solidFill>
                <a:latin typeface="Inter"/>
              </a:rPr>
              <a:t>Explain why metrics disagree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Judge </a:t>
            </a:r>
            <a:r>
              <a:rPr sz="2024" b="0">
                <a:solidFill>
                  <a:srgbClr val="00D4AA"/>
                </a:solidFill>
                <a:latin typeface="JetBrains Mono"/>
              </a:rPr>
              <a:t>gpt-4.1</a:t>
            </a:r>
            <a:r>
              <a:rPr sz="2200" b="0">
                <a:solidFill>
                  <a:srgbClr val="FFFFFF"/>
                </a:solidFill>
                <a:latin typeface="Inter"/>
              </a:rPr>
              <a:t> live; mock judge offline</a:t>
            </a:r>
          </a:p>
          <a:p>
            <a:pPr marL="292608" indent="-292608">
              <a:lnSpc>
                <a:spcPct val="120000"/>
              </a:lnSpc>
              <a:spcAft>
                <a:spcPts val="1539"/>
              </a:spcAft>
              <a:buClr>
                <a:srgbClr val="00D4AA"/>
              </a:buClr>
              <a:buFont typeface="Inter"/>
              <a:buChar char="•"/>
            </a:pPr>
            <a:r>
              <a:rPr sz="2200" b="0">
                <a:solidFill>
                  <a:srgbClr val="FFFFFF"/>
                </a:solidFill>
                <a:latin typeface="Inter"/>
              </a:rPr>
              <a:t>Demo: </a:t>
            </a:r>
            <a:r>
              <a:rPr sz="2024" b="0">
                <a:solidFill>
                  <a:srgbClr val="00D4AA"/>
                </a:solidFill>
                <a:latin typeface="JetBrains Mono"/>
              </a:rPr>
              <a:t>demos/m04_metric_comparison.py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7-metric-taxonomy.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04 · Lecture 4.1 · Agent quality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Answer Relevancy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Question: does it address what was asked?</a:t>
            </a:r>
          </a:p>
          <a:p>
            <a:pPr marL="292608" indent="-292608">
              <a:lnSpc>
                <a:spcPct val="120000"/>
              </a:lnSpc>
              <a:spcAft>
                <a:spcPts val="1539"/>
              </a:spcAft>
              <a:buClr>
                <a:srgbClr val="00D4AA"/>
              </a:buClr>
              <a:buFont typeface="Inter"/>
              <a:buChar char="•"/>
            </a:pPr>
            <a:r>
              <a:rPr sz="2200" b="0">
                <a:solidFill>
                  <a:srgbClr val="FFFFFF"/>
                </a:solidFill>
                <a:latin typeface="Inter"/>
              </a:rPr>
              <a:t>Needs: input, actual output</a:t>
            </a:r>
          </a:p>
          <a:p>
            <a:pPr marL="292608" indent="-292608">
              <a:lnSpc>
                <a:spcPct val="120000"/>
              </a:lnSpc>
              <a:spcAft>
                <a:spcPts val="1539"/>
              </a:spcAft>
              <a:buClr>
                <a:srgbClr val="00D4AA"/>
              </a:buClr>
              <a:buFont typeface="Inter"/>
              <a:buChar char="•"/>
            </a:pPr>
            <a:r>
              <a:rPr sz="2200" b="0">
                <a:solidFill>
                  <a:srgbClr val="FFFFFF"/>
                </a:solidFill>
                <a:latin typeface="Inter"/>
              </a:rPr>
              <a:t>Score: share of statements that are relevant</a:t>
            </a:r>
          </a:p>
          <a:p>
            <a:pPr marL="292608" indent="-292608">
              <a:lnSpc>
                <a:spcPct val="120000"/>
              </a:lnSpc>
              <a:spcAft>
                <a:spcPts val="1539"/>
              </a:spcAft>
              <a:buClr>
                <a:srgbClr val="00D4AA"/>
              </a:buClr>
              <a:buFont typeface="Inter"/>
              <a:buChar char="•"/>
            </a:pPr>
            <a:r>
              <a:rPr sz="2200" b="0">
                <a:solidFill>
                  <a:srgbClr val="FFFFFF"/>
                </a:solidFill>
                <a:latin typeface="Inter"/>
              </a:rPr>
              <a:t>Our threshold: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Faithfulness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Question: is every claim backed by what it retrieved?</a:t>
            </a:r>
          </a:p>
          <a:p>
            <a:pPr marL="292608" indent="-292608">
              <a:lnSpc>
                <a:spcPct val="120000"/>
              </a:lnSpc>
              <a:spcAft>
                <a:spcPts val="1539"/>
              </a:spcAft>
              <a:buClr>
                <a:srgbClr val="00D4AA"/>
              </a:buClr>
              <a:buFont typeface="Inter"/>
              <a:buChar char="•"/>
            </a:pPr>
            <a:r>
              <a:rPr sz="2200" b="0">
                <a:solidFill>
                  <a:srgbClr val="FFFFFF"/>
                </a:solidFill>
                <a:latin typeface="Inter"/>
              </a:rPr>
              <a:t>Needs: actual output, retrieval context</a:t>
            </a:r>
          </a:p>
          <a:p>
            <a:pPr marL="292608" indent="-292608">
              <a:lnSpc>
                <a:spcPct val="120000"/>
              </a:lnSpc>
              <a:spcAft>
                <a:spcPts val="1539"/>
              </a:spcAft>
              <a:buClr>
                <a:srgbClr val="00D4AA"/>
              </a:buClr>
              <a:buFont typeface="Inter"/>
              <a:buChar char="•"/>
            </a:pPr>
            <a:r>
              <a:rPr sz="2200" b="0">
                <a:solidFill>
                  <a:srgbClr val="FFFFFF"/>
                </a:solidFill>
                <a:latin typeface="Inter"/>
              </a:rPr>
              <a:t>Score: share of claims not contradicted</a:t>
            </a:r>
          </a:p>
          <a:p>
            <a:pPr marL="292608" indent="-292608">
              <a:lnSpc>
                <a:spcPct val="120000"/>
              </a:lnSpc>
              <a:spcAft>
                <a:spcPts val="1539"/>
              </a:spcAft>
              <a:buClr>
                <a:srgbClr val="00D4AA"/>
              </a:buClr>
              <a:buFont typeface="Inter"/>
              <a:buChar char="•"/>
            </a:pPr>
            <a:r>
              <a:rPr sz="2200" b="0">
                <a:solidFill>
                  <a:srgbClr val="FFFFFF"/>
                </a:solidFill>
                <a:latin typeface="Inter"/>
              </a:rPr>
              <a:t>Our threshold: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Hallucination vs faithfulness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Faithfulness: answer vs what the agent retrieved</a:t>
            </a:r>
          </a:p>
          <a:p>
            <a:pPr marL="292608" indent="-292608">
              <a:lnSpc>
                <a:spcPct val="120000"/>
              </a:lnSpc>
              <a:spcAft>
                <a:spcPts val="1539"/>
              </a:spcAft>
              <a:buClr>
                <a:srgbClr val="00D4AA"/>
              </a:buClr>
              <a:buFont typeface="Inter"/>
              <a:buChar char="•"/>
            </a:pPr>
            <a:r>
              <a:rPr sz="2200" b="0">
                <a:solidFill>
                  <a:srgbClr val="FFFFFF"/>
                </a:solidFill>
                <a:latin typeface="Inter"/>
              </a:rPr>
              <a:t>Hallucination: answer vs ground-truth context you supply</a:t>
            </a:r>
          </a:p>
          <a:p>
            <a:pPr marL="292608" indent="-292608">
              <a:lnSpc>
                <a:spcPct val="120000"/>
              </a:lnSpc>
              <a:spcAft>
                <a:spcPts val="1539"/>
              </a:spcAft>
              <a:buClr>
                <a:srgbClr val="00D4AA"/>
              </a:buClr>
              <a:buFont typeface="Inter"/>
              <a:buChar char="•"/>
            </a:pPr>
            <a:r>
              <a:rPr sz="2200" b="0">
                <a:solidFill>
                  <a:srgbClr val="FFFFFF"/>
                </a:solidFill>
                <a:latin typeface="Inter"/>
              </a:rPr>
              <a:t>4.2: higher is better; our threshold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Correctness vs faithfulness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Correctness: matches the expert's expected answer</a:t>
            </a:r>
          </a:p>
          <a:p>
            <a:pPr marL="292608" indent="-292608">
              <a:lnSpc>
                <a:spcPct val="120000"/>
              </a:lnSpc>
              <a:spcAft>
                <a:spcPts val="1539"/>
              </a:spcAft>
              <a:buClr>
                <a:srgbClr val="00D4AA"/>
              </a:buClr>
              <a:buFont typeface="Inter"/>
              <a:buChar char="•"/>
            </a:pPr>
            <a:r>
              <a:rPr sz="2200" b="0">
                <a:solidFill>
                  <a:srgbClr val="FFFFFF"/>
                </a:solidFill>
                <a:latin typeface="Inter"/>
              </a:rPr>
              <a:t>Faithfulness: matches the agent's own sources</a:t>
            </a:r>
          </a:p>
          <a:p>
            <a:pPr marL="292608" indent="-292608">
              <a:lnSpc>
                <a:spcPct val="120000"/>
              </a:lnSpc>
              <a:spcAft>
                <a:spcPts val="1539"/>
              </a:spcAft>
              <a:buClr>
                <a:srgbClr val="00D4AA"/>
              </a:buClr>
              <a:buFont typeface="Inter"/>
              <a:buChar char="•"/>
            </a:pPr>
            <a:r>
              <a:rPr sz="2200" b="0">
                <a:solidFill>
                  <a:srgbClr val="FFFFFF"/>
                </a:solidFill>
                <a:latin typeface="Inter"/>
              </a:rPr>
              <a:t>Outdated document: faithful but incorrect</a:t>
            </a:r>
          </a:p>
          <a:p>
            <a:pPr marL="292608" indent="-292608">
              <a:lnSpc>
                <a:spcPct val="120000"/>
              </a:lnSpc>
              <a:spcAft>
                <a:spcPts val="1539"/>
              </a:spcAft>
              <a:buClr>
                <a:srgbClr val="00D4AA"/>
              </a:buClr>
              <a:buFont typeface="Inter"/>
              <a:buChar char="•"/>
            </a:pPr>
            <a:r>
              <a:rPr sz="2200" b="0">
                <a:solidFill>
                  <a:srgbClr val="FFFFFF"/>
                </a:solidFill>
                <a:latin typeface="Inter"/>
              </a:rPr>
              <a:t>Correct from memory: correct but unfaithful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Coherence, bias, toxicity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Coherence: no built-in metric; write a GEval criterion</a:t>
            </a:r>
          </a:p>
          <a:p>
            <a:pPr marL="292608" indent="-292608">
              <a:lnSpc>
                <a:spcPct val="120000"/>
              </a:lnSpc>
              <a:spcAft>
                <a:spcPts val="1539"/>
              </a:spcAft>
              <a:buClr>
                <a:srgbClr val="00D4AA"/>
              </a:buClr>
              <a:buFont typeface="Inter"/>
              <a:buChar char="•"/>
            </a:pPr>
            <a:r>
              <a:rPr sz="2200" b="0">
                <a:solidFill>
                  <a:srgbClr val="FFFFFF"/>
                </a:solidFill>
                <a:latin typeface="Inter"/>
              </a:rPr>
              <a:t>Bias and Toxicity: built in, higher is better</a:t>
            </a:r>
          </a:p>
          <a:p>
            <a:pPr marL="292608" indent="-292608">
              <a:lnSpc>
                <a:spcPct val="120000"/>
              </a:lnSpc>
              <a:spcAft>
                <a:spcPts val="1539"/>
              </a:spcAft>
              <a:buClr>
                <a:srgbClr val="00D4AA"/>
              </a:buClr>
              <a:buFont typeface="Inter"/>
              <a:buChar char="•"/>
            </a:pPr>
            <a:r>
              <a:rPr sz="2200" b="0">
                <a:solidFill>
                  <a:srgbClr val="FFFFFF"/>
                </a:solidFill>
                <a:latin typeface="Inter"/>
              </a:rPr>
              <a:t>1.0 means nothing biased or toxic found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row that teaches the most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Row 2: "500 requests per hour", the wrong number</a:t>
            </a:r>
          </a:p>
          <a:p>
            <a:pPr marL="292608" indent="-292608">
              <a:lnSpc>
                <a:spcPct val="120000"/>
              </a:lnSpc>
              <a:spcAft>
                <a:spcPts val="1539"/>
              </a:spcAft>
              <a:buClr>
                <a:srgbClr val="00D4AA"/>
              </a:buClr>
              <a:buFont typeface="Inter"/>
              <a:buChar char="•"/>
            </a:pPr>
            <a:r>
              <a:rPr sz="2200" b="0">
                <a:solidFill>
                  <a:srgbClr val="FFFFFF"/>
                </a:solidFill>
                <a:latin typeface="Inter"/>
              </a:rPr>
              <a:t>Relevancy, faithfulness, hallucination: all passed offline</a:t>
            </a:r>
          </a:p>
          <a:p>
            <a:pPr marL="292608" indent="-292608">
              <a:lnSpc>
                <a:spcPct val="120000"/>
              </a:lnSpc>
              <a:spcAft>
                <a:spcPts val="1539"/>
              </a:spcAft>
              <a:buClr>
                <a:srgbClr val="00D4AA"/>
              </a:buClr>
              <a:buFont typeface="Inter"/>
              <a:buChar char="•"/>
            </a:pPr>
            <a:r>
              <a:rPr sz="2200" b="0">
                <a:solidFill>
                  <a:srgbClr val="FFFFFF"/>
                </a:solidFill>
                <a:latin typeface="Inter"/>
              </a:rPr>
              <a:t>Correctness caught it: 0.50 vs expert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default set for a support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Answer Relevancy 0.7 on every case</a:t>
            </a:r>
          </a:p>
          <a:p>
            <a:pPr marL="292608" indent="-292608">
              <a:lnSpc>
                <a:spcPct val="120000"/>
              </a:lnSpc>
              <a:spcAft>
                <a:spcPts val="1539"/>
              </a:spcAft>
              <a:buClr>
                <a:srgbClr val="00D4AA"/>
              </a:buClr>
              <a:buFont typeface="Inter"/>
              <a:buChar char="•"/>
            </a:pPr>
            <a:r>
              <a:rPr sz="2200" b="0">
                <a:solidFill>
                  <a:srgbClr val="FFFFFF"/>
                </a:solidFill>
                <a:latin typeface="Inter"/>
              </a:rPr>
              <a:t>Faithfulness 0.8 where there's retrieved text</a:t>
            </a:r>
          </a:p>
          <a:p>
            <a:pPr marL="292608" indent="-292608">
              <a:lnSpc>
                <a:spcPct val="120000"/>
              </a:lnSpc>
              <a:spcAft>
                <a:spcPts val="1539"/>
              </a:spcAft>
              <a:buClr>
                <a:srgbClr val="00D4AA"/>
              </a:buClr>
              <a:buFont typeface="Inter"/>
              <a:buChar char="•"/>
            </a:pPr>
            <a:r>
              <a:rPr sz="2200" b="0">
                <a:solidFill>
                  <a:srgbClr val="FFFFFF"/>
                </a:solidFill>
                <a:latin typeface="Inter"/>
              </a:rPr>
              <a:t>GEval correctness 0.7 where an expert answer exists</a:t>
            </a:r>
          </a:p>
          <a:p>
            <a:pPr marL="292608" indent="-292608">
              <a:lnSpc>
                <a:spcPct val="120000"/>
              </a:lnSpc>
              <a:spcAft>
                <a:spcPts val="1539"/>
              </a:spcAft>
              <a:buClr>
                <a:srgbClr val="00D4AA"/>
              </a:buClr>
              <a:buFont typeface="Inter"/>
              <a:buChar char="•"/>
            </a:pPr>
            <a:r>
              <a:rPr sz="2200" b="0">
                <a:solidFill>
                  <a:srgbClr val="FFFFFF"/>
                </a:solidFill>
                <a:latin typeface="Inter"/>
              </a:rPr>
              <a:t>Bias and toxicity as a safety net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Relevancy, faithfulness, correctness answer different questions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Faithfulness checks sources; correctness checks truth</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Stack metrics; every judge has blind spots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Agent-Specific Metrics: Task Completion, Tool Correctness, Goal Accuracy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4.2 — Agent-Specific Metrics: Task Completion, Tool Correctness, Goal Accuracy.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EVALUATION METRICS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Agent-Specific Metrics: Task Completion, Tool Correctness, Goal Accuracy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Measure tool selection with </a:t>
            </a:r>
            <a:r>
              <a:rPr sz="1472" b="0">
                <a:solidFill>
                  <a:srgbClr val="00D4AA"/>
                </a:solidFill>
                <a:latin typeface="JetBrains Mono"/>
              </a:rPr>
              <a:t>ToolCorrectnessMetric</a:t>
            </a:r>
            <a:r>
              <a:rPr sz="1600" b="0">
                <a:solidFill>
                  <a:srgbClr val="CBD5E1"/>
                </a:solidFill>
                <a:latin typeface="Inter"/>
              </a:rPr>
              <a:t> (</a:t>
            </a:r>
            <a:r>
              <a:rPr sz="1472" b="0">
                <a:solidFill>
                  <a:srgbClr val="00D4AA"/>
                </a:solidFill>
                <a:latin typeface="JetBrains Mono"/>
              </a:rPr>
              <a:t>tools_called</a:t>
            </a:r>
            <a:r>
              <a:rPr sz="1600" b="0">
                <a:solidFill>
                  <a:srgbClr val="CBD5E1"/>
                </a:solidFill>
                <a:latin typeface="Inter"/>
              </a:rPr>
              <a:t> vs </a:t>
            </a:r>
            <a:r>
              <a:rPr sz="1472" b="0">
                <a:solidFill>
                  <a:srgbClr val="00D4AA"/>
                </a:solidFill>
                <a:latin typeface="JetBrains Mono"/>
              </a:rPr>
              <a:t>expected_tools</a:t>
            </a:r>
            <a:r>
              <a:rPr sz="1600" b="0">
                <a:solidFill>
                  <a:srgbClr val="CBD5E1"/>
                </a:solidFill>
                <a:latin typeface="Inter"/>
              </a:rPr>
              <a:t>) and task completion with </a:t>
            </a:r>
            <a:r>
              <a:rPr sz="1472" b="0">
                <a:solidFill>
                  <a:srgbClr val="00D4AA"/>
                </a:solidFill>
                <a:latin typeface="JetBrains Mono"/>
              </a:rPr>
              <a:t>TaskCompletionMetric</a:t>
            </a:r>
            <a:r>
              <a:rPr sz="1600" b="0">
                <a:solidFill>
                  <a:srgbClr val="CBD5E1"/>
                </a:solidFill>
                <a:latin typeface="Inter"/>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Agent-Specific Metrics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Score what the agent did, not just said</a:t>
            </a:r>
          </a:p>
          <a:p>
            <a:pPr marL="292608" indent="-292608">
              <a:lnSpc>
                <a:spcPct val="120000"/>
              </a:lnSpc>
              <a:spcAft>
                <a:spcPts val="1539"/>
              </a:spcAft>
              <a:buClr>
                <a:srgbClr val="00D4AA"/>
              </a:buClr>
              <a:buFont typeface="Inter"/>
              <a:buChar char="•"/>
            </a:pPr>
            <a:r>
              <a:rPr sz="2200" b="0">
                <a:solidFill>
                  <a:srgbClr val="FFFFFF"/>
                </a:solidFill>
                <a:latin typeface="Inter"/>
              </a:rPr>
              <a:t>Tool correctness and task completion in DeepEval</a:t>
            </a:r>
          </a:p>
          <a:p>
            <a:pPr marL="292608" indent="-292608">
              <a:lnSpc>
                <a:spcPct val="120000"/>
              </a:lnSpc>
              <a:spcAft>
                <a:spcPts val="1539"/>
              </a:spcAft>
              <a:buClr>
                <a:srgbClr val="00D4AA"/>
              </a:buClr>
              <a:buFont typeface="Inter"/>
              <a:buChar char="•"/>
            </a:pPr>
            <a:r>
              <a:rPr sz="2200" b="0">
                <a:solidFill>
                  <a:srgbClr val="FFFFFF"/>
                </a:solidFill>
                <a:latin typeface="Inter"/>
              </a:rPr>
              <a:t>Arguments, goals and efficiency with simple checks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Judge </a:t>
            </a:r>
            <a:r>
              <a:rPr sz="2024" b="0">
                <a:solidFill>
                  <a:srgbClr val="00D4AA"/>
                </a:solidFill>
                <a:latin typeface="JetBrains Mono"/>
              </a:rPr>
              <a:t>gpt-4.1</a:t>
            </a:r>
            <a:r>
              <a:rPr sz="2200" b="0">
                <a:solidFill>
                  <a:srgbClr val="FFFFFF"/>
                </a:solidFill>
                <a:latin typeface="Inter"/>
              </a:rPr>
              <a:t> live; mock judge offline</a:t>
            </a:r>
          </a:p>
          <a:p>
            <a:pPr marL="292608" indent="-292608">
              <a:lnSpc>
                <a:spcPct val="120000"/>
              </a:lnSpc>
              <a:spcAft>
                <a:spcPts val="1539"/>
              </a:spcAft>
              <a:buClr>
                <a:srgbClr val="00D4AA"/>
              </a:buClr>
              <a:buFont typeface="Inter"/>
              <a:buChar char="•"/>
            </a:pPr>
            <a:r>
              <a:rPr sz="2200" b="0">
                <a:solidFill>
                  <a:srgbClr val="FFFFFF"/>
                </a:solidFill>
                <a:latin typeface="Inter"/>
              </a:rPr>
              <a:t>Demo: </a:t>
            </a:r>
            <a:r>
              <a:rPr sz="2024" b="0">
                <a:solidFill>
                  <a:srgbClr val="00D4AA"/>
                </a:solidFill>
                <a:latin typeface="JetBrains Mono"/>
              </a:rPr>
              <a:t>demos/m04_agent_metrics.py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7-step3.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04 · Lecture 4.2 · The agent behaviour branch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Tool correctness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Compares </a:t>
            </a:r>
            <a:r>
              <a:rPr sz="2024" b="0">
                <a:solidFill>
                  <a:srgbClr val="00D4AA"/>
                </a:solidFill>
                <a:latin typeface="JetBrains Mono"/>
              </a:rPr>
              <a:t>tools_called</a:t>
            </a:r>
            <a:r>
              <a:rPr sz="2200" b="0">
                <a:solidFill>
                  <a:srgbClr val="FFFFFF"/>
                </a:solidFill>
                <a:latin typeface="Inter"/>
              </a:rPr>
              <a:t> with </a:t>
            </a:r>
            <a:r>
              <a:rPr sz="2024" b="0">
                <a:solidFill>
                  <a:srgbClr val="00D4AA"/>
                </a:solidFill>
                <a:latin typeface="JetBrains Mono"/>
              </a:rPr>
              <a:t>expected_tools</a:t>
            </a:r>
          </a:p>
          <a:p>
            <a:pPr marL="292608" indent="-292608">
              <a:lnSpc>
                <a:spcPct val="120000"/>
              </a:lnSpc>
              <a:spcAft>
                <a:spcPts val="1539"/>
              </a:spcAft>
              <a:buClr>
                <a:srgbClr val="00D4AA"/>
              </a:buClr>
              <a:buFont typeface="Inter"/>
              <a:buChar char="•"/>
            </a:pPr>
            <a:r>
              <a:rPr sz="2200" b="0">
                <a:solidFill>
                  <a:srgbClr val="FFFFFF"/>
                </a:solidFill>
                <a:latin typeface="Inter"/>
              </a:rPr>
              <a:t>By name; options for order and exact match</a:t>
            </a:r>
          </a:p>
          <a:p>
            <a:pPr marL="292608" indent="-292608">
              <a:lnSpc>
                <a:spcPct val="120000"/>
              </a:lnSpc>
              <a:spcAft>
                <a:spcPts val="1539"/>
              </a:spcAft>
              <a:buClr>
                <a:srgbClr val="00D4AA"/>
              </a:buClr>
              <a:buFont typeface="Inter"/>
              <a:buChar char="•"/>
            </a:pPr>
            <a:r>
              <a:rPr sz="2200" b="0">
                <a:solidFill>
                  <a:srgbClr val="FFFFFF"/>
                </a:solidFill>
                <a:latin typeface="Inter"/>
              </a:rPr>
              <a:t>Our threshold: 0.85</a:t>
            </a:r>
          </a:p>
          <a:p>
            <a:pPr marL="292608" indent="-292608">
              <a:lnSpc>
                <a:spcPct val="120000"/>
              </a:lnSpc>
              <a:spcAft>
                <a:spcPts val="1539"/>
              </a:spcAft>
              <a:buClr>
                <a:srgbClr val="00D4AA"/>
              </a:buClr>
              <a:buFont typeface="Inter"/>
              <a:buChar char="•"/>
            </a:pPr>
            <a:r>
              <a:rPr sz="2200" b="0">
                <a:solidFill>
                  <a:srgbClr val="FFFFFF"/>
                </a:solidFill>
                <a:latin typeface="Inter"/>
              </a:rPr>
              <a:t>DeepEval 4.2 still needs a </a:t>
            </a:r>
            <a:r>
              <a:rPr sz="2024" b="0">
                <a:solidFill>
                  <a:srgbClr val="00D4AA"/>
                </a:solidFill>
                <a:latin typeface="JetBrains Mono"/>
              </a:rPr>
              <a:t>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Task completion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Did the agent achieve the user's goal?</a:t>
            </a:r>
          </a:p>
          <a:p>
            <a:pPr marL="292608" indent="-292608">
              <a:lnSpc>
                <a:spcPct val="120000"/>
              </a:lnSpc>
              <a:spcAft>
                <a:spcPts val="1539"/>
              </a:spcAft>
              <a:buClr>
                <a:srgbClr val="00D4AA"/>
              </a:buClr>
              <a:buFont typeface="Inter"/>
              <a:buChar char="•"/>
            </a:pPr>
            <a:r>
              <a:rPr sz="2200" b="0">
                <a:solidFill>
                  <a:srgbClr val="FFFFFF"/>
                </a:solidFill>
                <a:latin typeface="Inter"/>
              </a:rPr>
              <a:t>Judge reads input, output and tools called</a:t>
            </a:r>
          </a:p>
          <a:p>
            <a:pPr marL="292608" indent="-292608">
              <a:lnSpc>
                <a:spcPct val="120000"/>
              </a:lnSpc>
              <a:spcAft>
                <a:spcPts val="1539"/>
              </a:spcAft>
              <a:buClr>
                <a:srgbClr val="00D4AA"/>
              </a:buClr>
              <a:buFont typeface="Inter"/>
              <a:buChar char="•"/>
            </a:pPr>
            <a:r>
              <a:rPr sz="2200" b="0">
                <a:solidFill>
                  <a:srgbClr val="FFFFFF"/>
                </a:solidFill>
                <a:latin typeface="Inter"/>
              </a:rPr>
              <a:t>Score 0 to 1; our threshold: 0.8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Tool arguments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Right tool, wrong values</a:t>
            </a:r>
          </a:p>
          <a:p>
            <a:pPr marL="292608" indent="-292608">
              <a:lnSpc>
                <a:spcPct val="120000"/>
              </a:lnSpc>
              <a:spcAft>
                <a:spcPts val="1539"/>
              </a:spcAft>
              <a:buClr>
                <a:srgbClr val="00D4AA"/>
              </a:buClr>
              <a:buFont typeface="Inter"/>
              <a:buChar char="•"/>
            </a:pPr>
            <a:r>
              <a:rPr sz="2200" b="0">
                <a:solidFill>
                  <a:srgbClr val="FFFFFF"/>
                </a:solidFill>
                <a:latin typeface="Inter"/>
              </a:rPr>
              <a:t>Deterministic check: </a:t>
            </a:r>
            <a:r>
              <a:rPr sz="2024" b="0">
                <a:solidFill>
                  <a:srgbClr val="00D4AA"/>
                </a:solidFill>
                <a:latin typeface="JetBrains Mono"/>
              </a:rPr>
              <a:t>check_arguments</a:t>
            </a:r>
            <a:r>
              <a:rPr sz="2200" b="0">
                <a:solidFill>
                  <a:srgbClr val="FFFFFF"/>
                </a:solidFill>
                <a:latin typeface="Inter"/>
              </a:rPr>
              <a:t> in our repo</a:t>
            </a:r>
          </a:p>
          <a:p>
            <a:pPr marL="292608" indent="-292608">
              <a:lnSpc>
                <a:spcPct val="120000"/>
              </a:lnSpc>
              <a:spcAft>
                <a:spcPts val="1539"/>
              </a:spcAft>
              <a:buClr>
                <a:srgbClr val="00D4AA"/>
              </a:buClr>
              <a:buFont typeface="Inter"/>
              <a:buChar char="•"/>
            </a:pPr>
            <a:r>
              <a:rPr sz="2200" b="0">
                <a:solidFill>
                  <a:srgbClr val="FFFFFF"/>
                </a:solidFill>
                <a:latin typeface="Inter"/>
              </a:rPr>
              <a:t>DeepEval 4.2 also has </a:t>
            </a:r>
            <a:r>
              <a:rPr sz="2024" b="0">
                <a:solidFill>
                  <a:srgbClr val="00D4AA"/>
                </a:solidFill>
                <a:latin typeface="JetBrains Mono"/>
              </a:rPr>
              <a:t>ArgumentCorrectnessMetric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Goal accuracy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Did the final outcome match the intended outcome?</a:t>
            </a:r>
          </a:p>
          <a:p>
            <a:pPr marL="292608" indent="-292608">
              <a:lnSpc>
                <a:spcPct val="120000"/>
              </a:lnSpc>
              <a:spcAft>
                <a:spcPts val="1539"/>
              </a:spcAft>
              <a:buClr>
                <a:srgbClr val="00D4AA"/>
              </a:buClr>
              <a:buFont typeface="Inter"/>
              <a:buChar char="•"/>
            </a:pPr>
            <a:r>
              <a:rPr sz="2200" b="0">
                <a:solidFill>
                  <a:srgbClr val="FFFFFF"/>
                </a:solidFill>
                <a:latin typeface="Inter"/>
              </a:rPr>
              <a:t>Single turn: expected tools plus expected answer</a:t>
            </a:r>
          </a:p>
          <a:p>
            <a:pPr marL="292608" indent="-292608">
              <a:lnSpc>
                <a:spcPct val="120000"/>
              </a:lnSpc>
              <a:spcAft>
                <a:spcPts val="1539"/>
              </a:spcAft>
              <a:buClr>
                <a:srgbClr val="00D4AA"/>
              </a:buClr>
              <a:buFont typeface="Inter"/>
              <a:buChar char="•"/>
            </a:pPr>
            <a:r>
              <a:rPr sz="2200" b="0">
                <a:solidFill>
                  <a:srgbClr val="FFFFFF"/>
                </a:solidFill>
                <a:latin typeface="Inter"/>
              </a:rPr>
              <a:t>Multi-turn: DeepEval's </a:t>
            </a:r>
            <a:r>
              <a:rPr sz="2024" b="0">
                <a:solidFill>
                  <a:srgbClr val="00D4AA"/>
                </a:solidFill>
                <a:latin typeface="JetBrains Mono"/>
              </a:rPr>
              <a:t>GoalAccuracyMetric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Trajectory efficiency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Count model calls: our budget is 6</a:t>
            </a:r>
          </a:p>
          <a:p>
            <a:pPr marL="292608" indent="-292608">
              <a:lnSpc>
                <a:spcPct val="120000"/>
              </a:lnSpc>
              <a:spcAft>
                <a:spcPts val="1539"/>
              </a:spcAft>
              <a:buClr>
                <a:srgbClr val="00D4AA"/>
              </a:buClr>
              <a:buFont typeface="Inter"/>
              <a:buChar char="•"/>
            </a:pPr>
            <a:r>
              <a:rPr sz="2200" b="0">
                <a:solidFill>
                  <a:srgbClr val="FFFFFF"/>
                </a:solidFill>
                <a:latin typeface="Inter"/>
              </a:rPr>
              <a:t>GS-05: 3 calls; GS-06: 4 calls</a:t>
            </a:r>
          </a:p>
          <a:p>
            <a:pPr marL="292608" indent="-292608">
              <a:lnSpc>
                <a:spcPct val="120000"/>
              </a:lnSpc>
              <a:spcAft>
                <a:spcPts val="1539"/>
              </a:spcAft>
              <a:buClr>
                <a:srgbClr val="00D4AA"/>
              </a:buClr>
              <a:buFont typeface="Inter"/>
              <a:buChar char="•"/>
            </a:pPr>
            <a:r>
              <a:rPr sz="2200" b="0">
                <a:solidFill>
                  <a:srgbClr val="FFFFFF"/>
                </a:solidFill>
                <a:latin typeface="Inter"/>
              </a:rPr>
              <a:t>Loop detector: 3 identical steps in a row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Text metrics can't see actions; behaviour metrics can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 correctness compares called and expected tools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Arguments and efficiency: cheap deterministic checks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LLM-as-Judge: How to Use One AI to Grade Another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4.3 — LLM-as-Judge: How to Use One AI to Grade Another.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EVALUATION METRICS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LLM-as-Judge: How to Use One AI to Grade Another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a judge prompt with an anchored rubric, the context, and JSON output.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LLM-as-Judge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Build a judge prompt and function</a:t>
            </a:r>
          </a:p>
          <a:p>
            <a:pPr marL="292608" indent="-292608">
              <a:lnSpc>
                <a:spcPct val="120000"/>
              </a:lnSpc>
              <a:spcAft>
                <a:spcPts val="1539"/>
              </a:spcAft>
              <a:buClr>
                <a:srgbClr val="00D4AA"/>
              </a:buClr>
              <a:buFont typeface="Inter"/>
              <a:buChar char="•"/>
            </a:pPr>
            <a:r>
              <a:rPr sz="2200" b="0">
                <a:solidFill>
                  <a:srgbClr val="FFFFFF"/>
                </a:solidFill>
                <a:latin typeface="Inter"/>
              </a:rPr>
              <a:t>Know the biases judges bring</a:t>
            </a:r>
          </a:p>
          <a:p>
            <a:pPr marL="292608" indent="-292608">
              <a:lnSpc>
                <a:spcPct val="120000"/>
              </a:lnSpc>
              <a:spcAft>
                <a:spcPts val="1539"/>
              </a:spcAft>
              <a:buClr>
                <a:srgbClr val="00D4AA"/>
              </a:buClr>
              <a:buFont typeface="Inter"/>
              <a:buChar char="•"/>
            </a:pPr>
            <a:r>
              <a:rPr sz="2200" b="0">
                <a:solidFill>
                  <a:srgbClr val="FFFFFF"/>
                </a:solidFill>
                <a:latin typeface="Inter"/>
              </a:rPr>
              <a:t>Calibrate a judge against human labels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Judge </a:t>
            </a:r>
            <a:r>
              <a:rPr sz="2024" b="0">
                <a:solidFill>
                  <a:srgbClr val="00D4AA"/>
                </a:solidFill>
                <a:latin typeface="JetBrains Mono"/>
              </a:rPr>
              <a:t>gpt-4.1</a:t>
            </a:r>
            <a:r>
              <a:rPr sz="2200" b="0">
                <a:solidFill>
                  <a:srgbClr val="FFFFFF"/>
                </a:solidFill>
                <a:latin typeface="Inter"/>
              </a:rPr>
              <a:t> grades agent </a:t>
            </a:r>
            <a:r>
              <a:rPr sz="2024" b="0">
                <a:solidFill>
                  <a:srgbClr val="00D4AA"/>
                </a:solidFill>
                <a:latin typeface="JetBrains Mono"/>
              </a:rPr>
              <a:t>gpt-4.1-mini</a:t>
            </a:r>
          </a:p>
          <a:p>
            <a:pPr marL="292608" indent="-292608">
              <a:lnSpc>
                <a:spcPct val="120000"/>
              </a:lnSpc>
              <a:spcAft>
                <a:spcPts val="1539"/>
              </a:spcAft>
              <a:buClr>
                <a:srgbClr val="00D4AA"/>
              </a:buClr>
              <a:buFont typeface="Inter"/>
              <a:buChar char="•"/>
            </a:pPr>
            <a:r>
              <a:rPr sz="2200" b="0">
                <a:solidFill>
                  <a:srgbClr val="FFFFFF"/>
                </a:solidFill>
                <a:latin typeface="Inter"/>
              </a:rPr>
              <a:t>File: </a:t>
            </a:r>
            <a:r>
              <a:rPr sz="2024" b="0">
                <a:solidFill>
                  <a:srgbClr val="00D4AA"/>
                </a:solidFill>
                <a:latin typeface="JetBrains Mono"/>
              </a:rPr>
              <a:t>evaluators/llm_as_judge.py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8-llm-as-judg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04 · Lecture 4.3 · How a judge works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biases every judge has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Position: prefers the first of two options</a:t>
            </a:r>
          </a:p>
          <a:p>
            <a:pPr marL="292608" indent="-292608">
              <a:lnSpc>
                <a:spcPct val="120000"/>
              </a:lnSpc>
              <a:spcAft>
                <a:spcPts val="1539"/>
              </a:spcAft>
              <a:buClr>
                <a:srgbClr val="00D4AA"/>
              </a:buClr>
              <a:buFont typeface="Inter"/>
              <a:buChar char="•"/>
            </a:pPr>
            <a:r>
              <a:rPr sz="2200" b="0">
                <a:solidFill>
                  <a:srgbClr val="FFFFFF"/>
                </a:solidFill>
                <a:latin typeface="Inter"/>
              </a:rPr>
              <a:t>Verbosity: rewards longer answers</a:t>
            </a:r>
          </a:p>
          <a:p>
            <a:pPr marL="292608" indent="-292608">
              <a:lnSpc>
                <a:spcPct val="120000"/>
              </a:lnSpc>
              <a:spcAft>
                <a:spcPts val="1539"/>
              </a:spcAft>
              <a:buClr>
                <a:srgbClr val="00D4AA"/>
              </a:buClr>
              <a:buFont typeface="Inter"/>
              <a:buChar char="•"/>
            </a:pPr>
            <a:r>
              <a:rPr sz="2200" b="0">
                <a:solidFill>
                  <a:srgbClr val="FFFFFF"/>
                </a:solidFill>
                <a:latin typeface="Inter"/>
              </a:rPr>
              <a:t>Self-preference: favours its own model family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Mitigations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Give the judge the context and an expert answer</a:t>
            </a:r>
          </a:p>
          <a:p>
            <a:pPr marL="292608" indent="-292608">
              <a:lnSpc>
                <a:spcPct val="120000"/>
              </a:lnSpc>
              <a:spcAft>
                <a:spcPts val="1539"/>
              </a:spcAft>
              <a:buClr>
                <a:srgbClr val="00D4AA"/>
              </a:buClr>
              <a:buFont typeface="Inter"/>
              <a:buChar char="•"/>
            </a:pPr>
            <a:r>
              <a:rPr sz="2200" b="0">
                <a:solidFill>
                  <a:srgbClr val="FFFFFF"/>
                </a:solidFill>
                <a:latin typeface="Inter"/>
              </a:rPr>
              <a:t>Anchor every score level in the rubric</a:t>
            </a:r>
          </a:p>
          <a:p>
            <a:pPr marL="292608" indent="-292608">
              <a:lnSpc>
                <a:spcPct val="120000"/>
              </a:lnSpc>
              <a:spcAft>
                <a:spcPts val="1539"/>
              </a:spcAft>
              <a:buClr>
                <a:srgbClr val="00D4AA"/>
              </a:buClr>
              <a:buFont typeface="Inter"/>
              <a:buChar char="•"/>
            </a:pPr>
            <a:r>
              <a:rPr sz="2200" b="0">
                <a:solidFill>
                  <a:srgbClr val="FFFFFF"/>
                </a:solidFill>
                <a:latin typeface="Inter"/>
              </a:rPr>
              <a:t>Temperature 0 and JSON output</a:t>
            </a:r>
          </a:p>
          <a:p>
            <a:pPr marL="292608" indent="-292608">
              <a:lnSpc>
                <a:spcPct val="120000"/>
              </a:lnSpc>
              <a:spcAft>
                <a:spcPts val="1539"/>
              </a:spcAft>
              <a:buClr>
                <a:srgbClr val="00D4AA"/>
              </a:buClr>
              <a:buFont typeface="Inter"/>
              <a:buChar char="•"/>
            </a:pPr>
            <a:r>
              <a:rPr sz="2200" b="0">
                <a:solidFill>
                  <a:srgbClr val="FFFFFF"/>
                </a:solidFill>
                <a:latin typeface="Inter"/>
              </a:rPr>
              <a:t>Swap order when comparing two answers</a:t>
            </a:r>
          </a:p>
          <a:p>
            <a:pPr marL="292608" indent="-292608">
              <a:lnSpc>
                <a:spcPct val="120000"/>
              </a:lnSpc>
              <a:spcAft>
                <a:spcPts val="1539"/>
              </a:spcAft>
              <a:buClr>
                <a:srgbClr val="00D4AA"/>
              </a:buClr>
              <a:buFont typeface="Inter"/>
              <a:buChar char="•"/>
            </a:pPr>
            <a:r>
              <a:rPr sz="2200" b="0">
                <a:solidFill>
                  <a:srgbClr val="FFFFFF"/>
                </a:solidFill>
                <a:latin typeface="Inter"/>
              </a:rPr>
              <a:t>Calibrate against human labels before trusting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to calibrate a judge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Collect 50 to 100 human-scored answers</a:t>
            </a:r>
          </a:p>
          <a:p>
            <a:pPr marL="292608" indent="-292608">
              <a:lnSpc>
                <a:spcPct val="120000"/>
              </a:lnSpc>
              <a:spcAft>
                <a:spcPts val="1539"/>
              </a:spcAft>
              <a:buClr>
                <a:srgbClr val="00D4AA"/>
              </a:buClr>
              <a:buFont typeface="Inter"/>
              <a:buChar char="•"/>
            </a:pPr>
            <a:r>
              <a:rPr sz="2200" b="0">
                <a:solidFill>
                  <a:srgbClr val="FFFFFF"/>
                </a:solidFill>
                <a:latin typeface="Inter"/>
              </a:rPr>
              <a:t>Include clear passes, clear fails, borderline cases</a:t>
            </a:r>
          </a:p>
          <a:p>
            <a:pPr marL="292608" indent="-292608">
              <a:lnSpc>
                <a:spcPct val="120000"/>
              </a:lnSpc>
              <a:spcAft>
                <a:spcPts val="1539"/>
              </a:spcAft>
              <a:buClr>
                <a:srgbClr val="00D4AA"/>
              </a:buClr>
              <a:buFont typeface="Inter"/>
              <a:buChar char="•"/>
            </a:pPr>
            <a:r>
              <a:rPr sz="2200" b="0">
                <a:solidFill>
                  <a:srgbClr val="FFFFFF"/>
                </a:solidFill>
                <a:latin typeface="Inter"/>
              </a:rPr>
              <a:t>Target: at least 0.9 agreement before it gates</a:t>
            </a:r>
          </a:p>
          <a:p>
            <a:pPr marL="292608" indent="-292608">
              <a:lnSpc>
                <a:spcPct val="120000"/>
              </a:lnSpc>
              <a:spcAft>
                <a:spcPts val="1539"/>
              </a:spcAft>
              <a:buClr>
                <a:srgbClr val="00D4AA"/>
              </a:buClr>
              <a:buFont typeface="Inter"/>
              <a:buChar char="•"/>
            </a:pPr>
            <a:r>
              <a:rPr sz="2200" b="0">
                <a:solidFill>
                  <a:srgbClr val="FFFFFF"/>
                </a:solidFill>
                <a:latin typeface="Inter"/>
              </a:rPr>
              <a:t>Re-check after changing the prompt or judge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 role, anchored rubric, context, JSON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Judges have biases: position, verbosity, self-preference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Calibrate against humans before a judge gates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Custom Metrics: G-Eval &amp; Building Your Own Evaluator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4.4 — Custom Metrics: G-Eval &amp; Building Your Own Evaluator.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EVALUATION METRICS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Custom Metrics: G-Eval &amp; Building Your Own Evaluator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 GEval metric from a name, criteria, evaluation steps and evaluation params.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Custom Metrics with G-Eval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Turn a plain-English criterion into a metric</a:t>
            </a:r>
          </a:p>
          <a:p>
            <a:pPr marL="292608" indent="-292608">
              <a:lnSpc>
                <a:spcPct val="120000"/>
              </a:lnSpc>
              <a:spcAft>
                <a:spcPts val="1539"/>
              </a:spcAft>
              <a:buClr>
                <a:srgbClr val="00D4AA"/>
              </a:buClr>
              <a:buFont typeface="Inter"/>
              <a:buChar char="•"/>
            </a:pPr>
            <a:r>
              <a:rPr sz="2200" b="0">
                <a:solidFill>
                  <a:srgbClr val="FFFFFF"/>
                </a:solidFill>
                <a:latin typeface="Inter"/>
              </a:rPr>
              <a:t>Write evaluation steps the judge follows</a:t>
            </a:r>
          </a:p>
          <a:p>
            <a:pPr marL="292608" indent="-292608">
              <a:lnSpc>
                <a:spcPct val="120000"/>
              </a:lnSpc>
              <a:spcAft>
                <a:spcPts val="1539"/>
              </a:spcAft>
              <a:buClr>
                <a:srgbClr val="00D4AA"/>
              </a:buClr>
              <a:buFont typeface="Inter"/>
              <a:buChar char="•"/>
            </a:pPr>
            <a:r>
              <a:rPr sz="2200" b="0">
                <a:solidFill>
                  <a:srgbClr val="FFFFFF"/>
                </a:solidFill>
                <a:latin typeface="Inter"/>
              </a:rPr>
              <a:t>Calibrate it before it gates anything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Judge </a:t>
            </a:r>
            <a:r>
              <a:rPr sz="2024" b="0">
                <a:solidFill>
                  <a:srgbClr val="00D4AA"/>
                </a:solidFill>
                <a:latin typeface="JetBrains Mono"/>
              </a:rPr>
              <a:t>gpt-4.1</a:t>
            </a:r>
            <a:r>
              <a:rPr sz="2200" b="0">
                <a:solidFill>
                  <a:srgbClr val="FFFFFF"/>
                </a:solidFill>
                <a:latin typeface="Inter"/>
              </a:rPr>
              <a:t> live; mock judge offline</a:t>
            </a:r>
          </a:p>
          <a:p>
            <a:pPr marL="292608" indent="-292608">
              <a:lnSpc>
                <a:spcPct val="120000"/>
              </a:lnSpc>
              <a:spcAft>
                <a:spcPts val="1539"/>
              </a:spcAft>
              <a:buClr>
                <a:srgbClr val="00D4AA"/>
              </a:buClr>
              <a:buFont typeface="Inter"/>
              <a:buChar char="•"/>
            </a:pPr>
            <a:r>
              <a:rPr sz="2200" b="0">
                <a:solidFill>
                  <a:srgbClr val="FFFFFF"/>
                </a:solidFill>
                <a:latin typeface="Inter"/>
              </a:rPr>
              <a:t>File: </a:t>
            </a:r>
            <a:r>
              <a:rPr sz="2024" b="0">
                <a:solidFill>
                  <a:srgbClr val="00D4AA"/>
                </a:solidFill>
                <a:latin typeface="JetBrains Mono"/>
              </a:rPr>
              <a:t>evaluators/custom_metrics.py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8-llm-as-judg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04 · Lecture 4.4 · What GEval does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Writing evaluation steps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One check per step, in grading order</a:t>
            </a:r>
          </a:p>
          <a:p>
            <a:pPr marL="292608" indent="-292608">
              <a:lnSpc>
                <a:spcPct val="120000"/>
              </a:lnSpc>
              <a:spcAft>
                <a:spcPts val="1539"/>
              </a:spcAft>
              <a:buClr>
                <a:srgbClr val="00D4AA"/>
              </a:buClr>
              <a:buFont typeface="Inter"/>
              <a:buChar char="•"/>
            </a:pPr>
            <a:r>
              <a:rPr sz="2200" b="0">
                <a:solidFill>
                  <a:srgbClr val="FFFFFF"/>
                </a:solidFill>
                <a:latin typeface="Inter"/>
              </a:rPr>
              <a:t>Observable: "in the first sentence", not "warm"</a:t>
            </a:r>
          </a:p>
          <a:p>
            <a:pPr marL="292608" indent="-292608">
              <a:lnSpc>
                <a:spcPct val="120000"/>
              </a:lnSpc>
              <a:spcAft>
                <a:spcPts val="1539"/>
              </a:spcAft>
              <a:buClr>
                <a:srgbClr val="00D4AA"/>
              </a:buClr>
              <a:buFont typeface="Inter"/>
              <a:buChar char="•"/>
            </a:pPr>
            <a:r>
              <a:rPr sz="2200" b="0">
                <a:solidFill>
                  <a:srgbClr val="FFFFFF"/>
                </a:solidFill>
                <a:latin typeface="Inter"/>
              </a:rPr>
              <a:t>Include what to penalize</a:t>
            </a:r>
          </a:p>
          <a:p>
            <a:pPr marL="292608" indent="-292608">
              <a:lnSpc>
                <a:spcPct val="120000"/>
              </a:lnSpc>
              <a:spcAft>
                <a:spcPts val="1539"/>
              </a:spcAft>
              <a:buClr>
                <a:srgbClr val="00D4AA"/>
              </a:buClr>
              <a:buFont typeface="Inter"/>
              <a:buChar char="•"/>
            </a:pPr>
            <a:r>
              <a:rPr sz="2200" b="0">
                <a:solidFill>
                  <a:srgbClr val="FFFFFF"/>
                </a:solidFill>
                <a:latin typeface="Inter"/>
              </a:rPr>
              <a:t>Steps make scores consistent and explainable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8-step4.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04 · Lecture 4.4 · Before a custom metric gates anything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Raw judge or GEval?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Raw judge: quick experiments, custom output formats</a:t>
            </a:r>
          </a:p>
          <a:p>
            <a:pPr marL="292608" indent="-292608">
              <a:lnSpc>
                <a:spcPct val="120000"/>
              </a:lnSpc>
              <a:spcAft>
                <a:spcPts val="1539"/>
              </a:spcAft>
              <a:buClr>
                <a:srgbClr val="00D4AA"/>
              </a:buClr>
              <a:buFont typeface="Inter"/>
              <a:buChar char="•"/>
            </a:pPr>
            <a:r>
              <a:rPr sz="2200" b="0">
                <a:solidFill>
                  <a:srgbClr val="FFFFFF"/>
                </a:solidFill>
                <a:latin typeface="Inter"/>
              </a:rPr>
              <a:t>GEval: reusable, documented, plugs into </a:t>
            </a:r>
            <a:r>
              <a:rPr sz="2024" b="0">
                <a:solidFill>
                  <a:srgbClr val="00D4AA"/>
                </a:solidFill>
                <a:latin typeface="JetBrains Mono"/>
              </a:rPr>
              <a:t>assert_test</a:t>
            </a:r>
          </a:p>
          <a:p>
            <a:pPr marL="292608" indent="-292608">
              <a:lnSpc>
                <a:spcPct val="120000"/>
              </a:lnSpc>
              <a:spcAft>
                <a:spcPts val="1539"/>
              </a:spcAft>
              <a:buClr>
                <a:srgbClr val="00D4AA"/>
              </a:buClr>
              <a:buFont typeface="Inter"/>
              <a:buChar char="•"/>
            </a:pPr>
            <a:r>
              <a:rPr sz="2200" b="0">
                <a:solidFill>
                  <a:srgbClr val="FFFFFF"/>
                </a:solidFill>
                <a:latin typeface="Inter"/>
              </a:rPr>
              <a:t>Prototype with a judge; ship with GEval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Common mistakes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Several criteria crammed into one metric</a:t>
            </a:r>
          </a:p>
          <a:p>
            <a:pPr marL="292608" indent="-292608">
              <a:lnSpc>
                <a:spcPct val="120000"/>
              </a:lnSpc>
              <a:spcAft>
                <a:spcPts val="1539"/>
              </a:spcAft>
              <a:buClr>
                <a:srgbClr val="00D4AA"/>
              </a:buClr>
              <a:buFont typeface="Inter"/>
              <a:buChar char="•"/>
            </a:pPr>
            <a:r>
              <a:rPr sz="2200" b="0">
                <a:solidFill>
                  <a:srgbClr val="FFFFFF"/>
                </a:solidFill>
                <a:latin typeface="Inter"/>
              </a:rPr>
              <a:t>Vague words: "good", "helpful", "appropriate"</a:t>
            </a:r>
          </a:p>
          <a:p>
            <a:pPr marL="292608" indent="-292608">
              <a:lnSpc>
                <a:spcPct val="120000"/>
              </a:lnSpc>
              <a:spcAft>
                <a:spcPts val="1539"/>
              </a:spcAft>
              <a:buClr>
                <a:srgbClr val="00D4AA"/>
              </a:buClr>
              <a:buFont typeface="Inter"/>
              <a:buChar char="•"/>
            </a:pPr>
            <a:r>
              <a:rPr sz="2200" b="0">
                <a:solidFill>
                  <a:srgbClr val="FFFFFF"/>
                </a:solidFill>
                <a:latin typeface="Inter"/>
              </a:rPr>
              <a:t>Missing params, like context for grounding</a:t>
            </a:r>
          </a:p>
          <a:p>
            <a:pPr marL="292608" indent="-292608">
              <a:lnSpc>
                <a:spcPct val="120000"/>
              </a:lnSpc>
              <a:spcAft>
                <a:spcPts val="1539"/>
              </a:spcAft>
              <a:buClr>
                <a:srgbClr val="00D4AA"/>
              </a:buClr>
              <a:buFont typeface="Inter"/>
              <a:buChar char="•"/>
            </a:pPr>
            <a:r>
              <a:rPr sz="2200" b="0">
                <a:solidFill>
                  <a:srgbClr val="FFFFFF"/>
                </a:solidFill>
                <a:latin typeface="Inter"/>
              </a:rPr>
              <a:t>No calibration before gating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GEval: name, criteria, steps, params, threshold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observable steps, including what to penalize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Calibrate against human labels before gating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Choose quality and behaviour metrics for an agent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and calibrate an LLM judge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Create a custom GEval metric for a business rule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04 · Lecture 4.4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RAG Quality Problem: Retrieval vs. Generation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5.1 — The RAG Quality Problem: Retrieval vs.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