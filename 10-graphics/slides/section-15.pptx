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AI Testing Interview Questions &amp; Career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test something that gives a different answer every time?" That question ends a lot of interviews. You can now answer it in two minutes, with evidence from code you wrote. Let's turn what you built into a role and an interview.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five minutes: four paths, five questions, and one way to describe your projects that interviewers trust.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paths. An AI QA engineer builds datasets, metrics and gates; lead with Projects 1 and 5. A test lead owns strategy and standards; lead with the eval pyramid and your evaluation policy. A platform engineer builds the infrastructure: tracing, cost, pipelines. And a governance specialist owns policy, audit and red teaming; lead with SecureBank and the audit trail. Titles vary a lot between companies, so read the job description, not the title. Coming from manual QA? The QA engineer path uses the most of what you already know. Coming from ML or backend work? The platform path is the shorter step. Which of the four sounds like your next year?</a:t>
            </a:r>
          </a:p>
          <a:p/>
          <a:p>
            <a:r>
              <a:t>[SCREEN: Terminal in `04-code-examples/agent-eval-framework`.]</a:t>
            </a:r>
          </a:p>
          <a:p/>
          <a:p>
            <a:r>
              <a:t>[DEMO: Output after the banner]</a:t>
            </a:r>
          </a:p>
          <a:p/>
          <a:p>
            <a:r>
              <a:t>Here's your portfolio in five lines. Five agents tested. Twenty-one test files across the five-layer pyramid. DeepEval, RAGAS, custom judges, promptfoo, PyRIT, Langfuse and OpenTelemetry. Put these lines in your README, and keep the ones you can demo live.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come up again and again. Here's a short, structured answer to each, built from your own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non-determinism. You don't assert exact strings. You score meaning with metrics like faithfulness and relevancy, set thresholds, run inputs more than once, and compare against a golden set. Two: cost. Measure first, then pull levers. In your project, a prompt diet cut FAQ cost forty-three percent and routing cut twenty-nine, offline, and you re-checked quality after each. Three: regressions. A stored baseline, a five-point tolerance, a newly-failing-cases rule, and a nightly run for the changes that never touch your repo.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tool-calling agents. Test tool choice, arguments and order as a trajectory, and put authorization inside the tools, not just in the prompt. SecureBank is your story. Five, the behavioural one. Use STAR. Situation: a prompt edit removed the grounding rule. Task: stop it reaching production. Action: a golden-dataset gate in CI. Result: faithfulness fell from one point oh to point two five, and the pull request was blocked.</a:t>
            </a:r>
          </a:p>
          <a:p/>
          <a:p>
            <a:r>
              <a:t>And be precise about where numbers came from. Say "in my course project, in offline mode", when that's true. Interviewers don't mind a course project. They mind finding out later that a number wasn't what it sounded like. Precision is a testing skill. Show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that looks on a CV. Each line has a verb, a number and a source. "Built a CI quality gate for a tool-calling agent, course project." "Red-teamed a banking agent: two of sixteen attacks succeeded on version one, none on the fixed version, offline." "Cut cost twenty-nine percent with routing, quality re-checked." Which line would you want to be asked about? Put that one first.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week: push Project 5 with a clear README. Record a sixty-second clip of the gate blocking a bad prompt. And say the five answers out loud, once each. Saying them is very different from reading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a path and lead with the matching project. Answer with structure and your own numbers. And always say where a number came from.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What Changes Next &amp; Your 30-Day Practice Plan.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will change. Library APIs: in this course alone, Langfuse, RAGAS and the MCP SDK all changed their APIs between major versions. Standards: the OpenTelemetry GenAI names are still marked incubating. And models, prices and regulation move every quarter. What doesn't change is the method. Golden sets, metrics, baselines, gates, red teams and monitoring. The habit that protects you is simple: when a library updates, run `make test` before anything else. If it breaks, pin the old version in `pyproject.toml`, then read the changelog. Twenty minutes of reading beats two days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plan: thirty minutes a day, for thirty days, on a new agent that isn't TechCorp. Week one: break it, build a golden set, add metrics. Week two: RAG, tools, multi-agent and security. Week three: tracing, cost, synthetic data and a CI gate. Week four: monitoring, the capstone on your own agent, then publish it and practise five interview answers out loud. The day-by-day version is in the course resources. Which agent will you pick?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I teach two related courses. Production Voice AI Agents goes deeper into building and testing real-time voice agents on a phone line. AI Agent Observability and Cost Control goes deeper into tracing, dashboards and cutting spend across a whole fleet of agents. Neither is required. This course stands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change, so test your tests after every upgrade. Thirty minutes a day for thirty days, on an agent of your own. And publish what you build.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started this course with an agent that invented its own refund policy after a one-line prompt edit. You're leaving with a platform that blocks that edit before it ships. Thank you for building it with me. Now go test something real.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15 · CAREER &amp; NEXT STEPS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15.1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AI Testing Interview Questions &amp; Career Roadmap</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Choose between four career paths and know which project to lead with for each.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ragas 0.4.3 | langfuse 4.16.0 | mcp 2.2.0</a:t>
            </a:r>
          </a:p>
          <a:p>
            <a:pPr marL="292608" indent="-292608">
              <a:lnSpc>
                <a:spcPct val="120000"/>
              </a:lnSpc>
              <a:spcAft>
                <a:spcPts val="1539"/>
              </a:spcAft>
              <a:buClr>
                <a:srgbClr val="00D4AA"/>
              </a:buClr>
              <a:buFont typeface="Inter"/>
              <a:buChar char="•"/>
            </a:pPr>
            <a:r>
              <a:rPr sz="2200" b="0">
                <a:solidFill>
                  <a:srgbClr val="FFFFFF"/>
                </a:solidFill>
                <a:latin typeface="Inter"/>
              </a:rPr>
              <a:t>Python 3.11+ | portfolio numbers are offline-mode numbers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Pick one of four career paths</a:t>
            </a:r>
          </a:p>
          <a:p>
            <a:pPr marL="292608" indent="-292608">
              <a:lnSpc>
                <a:spcPct val="120000"/>
              </a:lnSpc>
              <a:spcAft>
                <a:spcPts val="1539"/>
              </a:spcAft>
              <a:buClr>
                <a:srgbClr val="00D4AA"/>
              </a:buClr>
              <a:buFont typeface="Inter"/>
              <a:buChar char="•"/>
            </a:pPr>
            <a:r>
              <a:rPr sz="2200" b="0">
                <a:solidFill>
                  <a:srgbClr val="FFFFFF"/>
                </a:solidFill>
                <a:latin typeface="Inter"/>
              </a:rPr>
              <a:t>Answer five common interview questions with evidence</a:t>
            </a:r>
          </a:p>
          <a:p>
            <a:pPr marL="292608" indent="-292608">
              <a:lnSpc>
                <a:spcPct val="120000"/>
              </a:lnSpc>
              <a:spcAft>
                <a:spcPts val="1539"/>
              </a:spcAft>
              <a:buClr>
                <a:srgbClr val="00D4AA"/>
              </a:buClr>
              <a:buFont typeface="Inter"/>
              <a:buChar char="•"/>
            </a:pPr>
            <a:r>
              <a:rPr sz="2200" b="0">
                <a:solidFill>
                  <a:srgbClr val="FFFFFF"/>
                </a:solidFill>
                <a:latin typeface="Inter"/>
              </a:rPr>
              <a:t>Describe your portfolio honestly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paths from this course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1920240"/>
        </p:xfrm>
        <a:graphic>
          <a:graphicData uri="http://schemas.openxmlformats.org/drawingml/2006/table">
            <a:tbl>
              <a:tblPr firstRow="1" bandRow="1">
                <a:tableStyleId>{5C22544A-7EE6-4342-B048-85BDC9FD1C3A}</a:tableStyleId>
              </a:tblPr>
              <a:tblGrid>
                <a:gridCol w="2486496"/>
                <a:gridCol w="4765785"/>
                <a:gridCol w="4040557"/>
              </a:tblGrid>
              <a:tr h="384048">
                <a:tc>
                  <a:txBody>
                    <a:bodyPr wrap="square"/>
                    <a:lstStyle/>
                    <a:p>
                      <a:r>
                        <a:rPr sz="1200" b="1">
                          <a:solidFill>
                            <a:srgbClr val="0A1628"/>
                          </a:solidFill>
                          <a:latin typeface="Inter"/>
                        </a:rPr>
                        <a:t>Path</a:t>
                      </a:r>
                    </a:p>
                  </a:txBody>
                  <a:tcPr marL="91440" marR="91440" marT="45720" marB="45720" anchor="ctr">
                    <a:solidFill>
                      <a:srgbClr val="00D4AA"/>
                    </a:solidFill>
                  </a:tcPr>
                </a:tc>
                <a:tc>
                  <a:txBody>
                    <a:bodyPr wrap="square"/>
                    <a:lstStyle/>
                    <a:p>
                      <a:r>
                        <a:rPr sz="1200" b="1">
                          <a:solidFill>
                            <a:srgbClr val="0A1628"/>
                          </a:solidFill>
                          <a:latin typeface="Inter"/>
                        </a:rPr>
                        <a:t>What you do day to day</a:t>
                      </a:r>
                    </a:p>
                  </a:txBody>
                  <a:tcPr marL="91440" marR="91440" marT="45720" marB="45720" anchor="ctr">
                    <a:solidFill>
                      <a:srgbClr val="00D4AA"/>
                    </a:solidFill>
                  </a:tcPr>
                </a:tc>
                <a:tc>
                  <a:txBody>
                    <a:bodyPr wrap="square"/>
                    <a:lstStyle/>
                    <a:p>
                      <a:r>
                        <a:rPr sz="1200" b="1">
                          <a:solidFill>
                            <a:srgbClr val="0A1628"/>
                          </a:solidFill>
                          <a:latin typeface="Inter"/>
                        </a:rPr>
                        <a:t>Lead with</a:t>
                      </a:r>
                    </a:p>
                  </a:txBody>
                  <a:tcPr marL="91440" marR="91440" marT="45720" marB="45720" anchor="ctr">
                    <a:solidFill>
                      <a:srgbClr val="00D4AA"/>
                    </a:solidFill>
                  </a:tcPr>
                </a:tc>
              </a:tr>
              <a:tr h="384048">
                <a:tc>
                  <a:txBody>
                    <a:bodyPr wrap="square"/>
                    <a:lstStyle/>
                    <a:p>
                      <a:r>
                        <a:rPr sz="1200" b="1">
                          <a:solidFill>
                            <a:srgbClr val="FFFFFF"/>
                          </a:solidFill>
                          <a:latin typeface="Inter"/>
                        </a:rPr>
                        <a:t>AI QA Engineer</a:t>
                      </a:r>
                    </a:p>
                  </a:txBody>
                  <a:tcPr marL="91440" marR="91440" marT="45720" marB="45720" anchor="ctr">
                    <a:solidFill>
                      <a:srgbClr val="1A2742"/>
                    </a:solidFill>
                  </a:tcPr>
                </a:tc>
                <a:tc>
                  <a:txBody>
                    <a:bodyPr wrap="square"/>
                    <a:lstStyle/>
                    <a:p>
                      <a:r>
                        <a:rPr sz="1200" b="0">
                          <a:solidFill>
                            <a:srgbClr val="FFFFFF"/>
                          </a:solidFill>
                          <a:latin typeface="Inter"/>
                        </a:rPr>
                        <a:t>golden datasets, metrics, CI gates</a:t>
                      </a:r>
                    </a:p>
                  </a:txBody>
                  <a:tcPr marL="91440" marR="91440" marT="45720" marB="45720" anchor="ctr">
                    <a:solidFill>
                      <a:srgbClr val="1A2742"/>
                    </a:solidFill>
                  </a:tcPr>
                </a:tc>
                <a:tc>
                  <a:txBody>
                    <a:bodyPr wrap="square"/>
                    <a:lstStyle/>
                    <a:p>
                      <a:r>
                        <a:rPr sz="1200" b="0">
                          <a:solidFill>
                            <a:srgbClr val="FFFFFF"/>
                          </a:solidFill>
                          <a:latin typeface="Inter"/>
                        </a:rPr>
                        <a:t>Projects 1 and 5</a:t>
                      </a:r>
                    </a:p>
                  </a:txBody>
                  <a:tcPr marL="91440" marR="91440" marT="45720" marB="45720" anchor="ctr">
                    <a:solidFill>
                      <a:srgbClr val="1A2742"/>
                    </a:solidFill>
                  </a:tcPr>
                </a:tc>
              </a:tr>
              <a:tr h="384048">
                <a:tc>
                  <a:txBody>
                    <a:bodyPr wrap="square"/>
                    <a:lstStyle/>
                    <a:p>
                      <a:r>
                        <a:rPr sz="1200" b="1">
                          <a:solidFill>
                            <a:srgbClr val="FFFFFF"/>
                          </a:solidFill>
                          <a:latin typeface="Inter"/>
                        </a:rPr>
                        <a:t>AI/ML Test Lead</a:t>
                      </a:r>
                    </a:p>
                  </a:txBody>
                  <a:tcPr marL="91440" marR="91440" marT="45720" marB="45720" anchor="ctr">
                    <a:solidFill>
                      <a:srgbClr val="0F1E35"/>
                    </a:solidFill>
                  </a:tcPr>
                </a:tc>
                <a:tc>
                  <a:txBody>
                    <a:bodyPr wrap="square"/>
                    <a:lstStyle/>
                    <a:p>
                      <a:r>
                        <a:rPr sz="1200" b="0">
                          <a:solidFill>
                            <a:srgbClr val="FFFFFF"/>
                          </a:solidFill>
                          <a:latin typeface="Inter"/>
                        </a:rPr>
                        <a:t>test strategy, metric choice, team standards</a:t>
                      </a:r>
                    </a:p>
                  </a:txBody>
                  <a:tcPr marL="91440" marR="91440" marT="45720" marB="45720" anchor="ctr">
                    <a:solidFill>
                      <a:srgbClr val="0F1E35"/>
                    </a:solidFill>
                  </a:tcPr>
                </a:tc>
                <a:tc>
                  <a:txBody>
                    <a:bodyPr wrap="square"/>
                    <a:lstStyle/>
                    <a:p>
                      <a:r>
                        <a:rPr sz="1200" b="0">
                          <a:solidFill>
                            <a:srgbClr val="FFFFFF"/>
                          </a:solidFill>
                          <a:latin typeface="Inter"/>
                        </a:rPr>
                        <a:t>the eval pyramid and Project 5's policy</a:t>
                      </a:r>
                    </a:p>
                  </a:txBody>
                  <a:tcPr marL="91440" marR="91440" marT="45720" marB="45720" anchor="ctr">
                    <a:solidFill>
                      <a:srgbClr val="0F1E35"/>
                    </a:solidFill>
                  </a:tcPr>
                </a:tc>
              </a:tr>
              <a:tr h="384048">
                <a:tc>
                  <a:txBody>
                    <a:bodyPr wrap="square"/>
                    <a:lstStyle/>
                    <a:p>
                      <a:r>
                        <a:rPr sz="1200" b="1">
                          <a:solidFill>
                            <a:srgbClr val="FFFFFF"/>
                          </a:solidFill>
                          <a:latin typeface="Inter"/>
                        </a:rPr>
                        <a:t>AI Platform Engineer</a:t>
                      </a:r>
                    </a:p>
                  </a:txBody>
                  <a:tcPr marL="91440" marR="91440" marT="45720" marB="45720" anchor="ctr">
                    <a:solidFill>
                      <a:srgbClr val="1A2742"/>
                    </a:solidFill>
                  </a:tcPr>
                </a:tc>
                <a:tc>
                  <a:txBody>
                    <a:bodyPr wrap="square"/>
                    <a:lstStyle/>
                    <a:p>
                      <a:r>
                        <a:rPr sz="1200" b="0">
                          <a:solidFill>
                            <a:srgbClr val="FFFFFF"/>
                          </a:solidFill>
                          <a:latin typeface="Inter"/>
                        </a:rPr>
                        <a:t>eval infrastructure, tracing, cost</a:t>
                      </a:r>
                    </a:p>
                  </a:txBody>
                  <a:tcPr marL="91440" marR="91440" marT="45720" marB="45720" anchor="ctr">
                    <a:solidFill>
                      <a:srgbClr val="1A2742"/>
                    </a:solidFill>
                  </a:tcPr>
                </a:tc>
                <a:tc>
                  <a:txBody>
                    <a:bodyPr wrap="square"/>
                    <a:lstStyle/>
                    <a:p>
                      <a:r>
                        <a:rPr sz="1200" b="0">
                          <a:solidFill>
                            <a:srgbClr val="FFFFFF"/>
                          </a:solidFill>
                          <a:latin typeface="Inter"/>
                        </a:rPr>
                        <a:t>Modules 9–12 and the capstone pipeline</a:t>
                      </a:r>
                    </a:p>
                  </a:txBody>
                  <a:tcPr marL="91440" marR="91440" marT="45720" marB="45720" anchor="ctr">
                    <a:solidFill>
                      <a:srgbClr val="1A2742"/>
                    </a:solidFill>
                  </a:tcPr>
                </a:tc>
              </a:tr>
              <a:tr h="384048">
                <a:tc>
                  <a:txBody>
                    <a:bodyPr wrap="square"/>
                    <a:lstStyle/>
                    <a:p>
                      <a:r>
                        <a:rPr sz="1200" b="1">
                          <a:solidFill>
                            <a:srgbClr val="FFFFFF"/>
                          </a:solidFill>
                          <a:latin typeface="Inter"/>
                        </a:rPr>
                        <a:t>AI Governance Specialist</a:t>
                      </a:r>
                    </a:p>
                  </a:txBody>
                  <a:tcPr marL="91440" marR="91440" marT="45720" marB="45720" anchor="ctr">
                    <a:solidFill>
                      <a:srgbClr val="0F1E35"/>
                    </a:solidFill>
                  </a:tcPr>
                </a:tc>
                <a:tc>
                  <a:txBody>
                    <a:bodyPr wrap="square"/>
                    <a:lstStyle/>
                    <a:p>
                      <a:r>
                        <a:rPr sz="1200" b="0">
                          <a:solidFill>
                            <a:srgbClr val="FFFFFF"/>
                          </a:solidFill>
                          <a:latin typeface="Inter"/>
                        </a:rPr>
                        <a:t>policies, audit trails, red teaming, reporting</a:t>
                      </a:r>
                    </a:p>
                  </a:txBody>
                  <a:tcPr marL="91440" marR="91440" marT="45720" marB="45720" anchor="ctr">
                    <a:solidFill>
                      <a:srgbClr val="0F1E35"/>
                    </a:solidFill>
                  </a:tcPr>
                </a:tc>
                <a:tc>
                  <a:txBody>
                    <a:bodyPr wrap="square"/>
                    <a:lstStyle/>
                    <a:p>
                      <a:r>
                        <a:rPr sz="1200" b="0">
                          <a:solidFill>
                            <a:srgbClr val="FFFFFF"/>
                          </a:solidFill>
                          <a:latin typeface="Inter"/>
                        </a:rPr>
                        <a:t>Project 4 and Module 13</a:t>
                      </a:r>
                    </a:p>
                  </a:txBody>
                  <a:tcPr marL="91440" marR="91440" marT="45720" marB="45720" anchor="ctr">
                    <a:solidFill>
                      <a:srgbClr val="0F1E35"/>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Five questions you will hear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How do you test non-deterministic output?</a:t>
            </a:r>
          </a:p>
          <a:p>
            <a:pPr marL="292608" indent="-292608">
              <a:lnSpc>
                <a:spcPct val="120000"/>
              </a:lnSpc>
              <a:spcAft>
                <a:spcPts val="1539"/>
              </a:spcAft>
              <a:buClr>
                <a:srgbClr val="00D4AA"/>
              </a:buClr>
              <a:buFont typeface="Inter"/>
              <a:buChar char="•"/>
            </a:pPr>
            <a:r>
              <a:rPr sz="2200" b="0">
                <a:solidFill>
                  <a:srgbClr val="FFFFFF"/>
                </a:solidFill>
                <a:latin typeface="Inter"/>
              </a:rPr>
              <a:t>How would you cut an agent's cost?</a:t>
            </a:r>
          </a:p>
          <a:p>
            <a:pPr marL="292608" indent="-292608">
              <a:lnSpc>
                <a:spcPct val="120000"/>
              </a:lnSpc>
              <a:spcAft>
                <a:spcPts val="1539"/>
              </a:spcAft>
              <a:buClr>
                <a:srgbClr val="00D4AA"/>
              </a:buClr>
              <a:buFont typeface="Inter"/>
              <a:buChar char="•"/>
            </a:pPr>
            <a:r>
              <a:rPr sz="2200" b="0">
                <a:solidFill>
                  <a:srgbClr val="FFFFFF"/>
                </a:solidFill>
                <a:latin typeface="Inter"/>
              </a:rPr>
              <a:t>How do you catch regressions from weekly updates?</a:t>
            </a:r>
          </a:p>
          <a:p>
            <a:pPr marL="292608" indent="-292608">
              <a:lnSpc>
                <a:spcPct val="120000"/>
              </a:lnSpc>
              <a:spcAft>
                <a:spcPts val="1539"/>
              </a:spcAft>
              <a:buClr>
                <a:srgbClr val="00D4AA"/>
              </a:buClr>
              <a:buFont typeface="Inter"/>
              <a:buChar char="•"/>
            </a:pPr>
            <a:r>
              <a:rPr sz="2200" b="0">
                <a:solidFill>
                  <a:srgbClr val="FFFFFF"/>
                </a:solidFill>
                <a:latin typeface="Inter"/>
              </a:rPr>
              <a:t>How do you test a tool-calling agent?</a:t>
            </a:r>
          </a:p>
          <a:p>
            <a:pPr marL="292608" indent="-292608">
              <a:lnSpc>
                <a:spcPct val="120000"/>
              </a:lnSpc>
              <a:spcAft>
                <a:spcPts val="1539"/>
              </a:spcAft>
              <a:buClr>
                <a:srgbClr val="00D4AA"/>
              </a:buClr>
              <a:buFont typeface="Inter"/>
              <a:buChar char="•"/>
            </a:pPr>
            <a:r>
              <a:rPr sz="2200" b="0">
                <a:solidFill>
                  <a:srgbClr val="FFFFFF"/>
                </a:solidFill>
                <a:latin typeface="Inter"/>
              </a:rPr>
              <a:t>Tell me about a quality problem you caught.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Answers 1 to 3</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Non-determinism: semantic metrics, thresholds, repeated runs, golden set</a:t>
            </a:r>
          </a:p>
          <a:p>
            <a:pPr marL="292608" indent="-292608">
              <a:lnSpc>
                <a:spcPct val="120000"/>
              </a:lnSpc>
              <a:spcAft>
                <a:spcPts val="1260"/>
              </a:spcAft>
              <a:buClr>
                <a:srgbClr val="00D4AA"/>
              </a:buClr>
              <a:buFont typeface="Inter"/>
              <a:buChar char="•"/>
            </a:pPr>
            <a:r>
              <a:rPr sz="1800" b="0">
                <a:solidFill>
                  <a:srgbClr val="FFFFFF"/>
                </a:solidFill>
                <a:latin typeface="Inter"/>
              </a:rPr>
              <a:t>Cost: measure first; prompt diet −43% on FAQs; routing −29%; re-check quality</a:t>
            </a:r>
          </a:p>
          <a:p>
            <a:pPr marL="292608" indent="-292608">
              <a:lnSpc>
                <a:spcPct val="120000"/>
              </a:lnSpc>
              <a:spcAft>
                <a:spcPts val="1260"/>
              </a:spcAft>
              <a:buClr>
                <a:srgbClr val="00D4AA"/>
              </a:buClr>
              <a:buFont typeface="Inter"/>
              <a:buChar char="•"/>
            </a:pPr>
            <a:r>
              <a:rPr sz="1800" b="0">
                <a:solidFill>
                  <a:srgbClr val="FFFFFF"/>
                </a:solidFill>
                <a:latin typeface="Inter"/>
              </a:rPr>
              <a:t>Regressions: stored baseline, 5-point tolerance, newly failing cases, nightly 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Answers 4 and 5</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Tools: right tool, right arguments, right order; authorization in code</a:t>
            </a:r>
          </a:p>
          <a:p>
            <a:pPr marL="292608" indent="-292608">
              <a:lnSpc>
                <a:spcPct val="120000"/>
              </a:lnSpc>
              <a:spcAft>
                <a:spcPts val="1539"/>
              </a:spcAft>
              <a:buClr>
                <a:srgbClr val="00D4AA"/>
              </a:buClr>
              <a:buFont typeface="Inter"/>
              <a:buChar char="•"/>
            </a:pPr>
            <a:r>
              <a:rPr sz="2200" b="0">
                <a:solidFill>
                  <a:srgbClr val="FFFFFF"/>
                </a:solidFill>
                <a:latin typeface="Inter"/>
              </a:rPr>
              <a:t>STAR: a prompt edit removed the grounding rule; the CI gate blocked it</a:t>
            </a:r>
          </a:p>
          <a:p>
            <a:pPr marL="292608" indent="-292608">
              <a:lnSpc>
                <a:spcPct val="120000"/>
              </a:lnSpc>
              <a:spcAft>
                <a:spcPts val="1539"/>
              </a:spcAft>
              <a:buClr>
                <a:srgbClr val="00D4AA"/>
              </a:buClr>
              <a:buFont typeface="Inter"/>
              <a:buChar char="•"/>
            </a:pPr>
            <a:r>
              <a:rPr sz="2200" b="0">
                <a:solidFill>
                  <a:srgbClr val="FFFFFF"/>
                </a:solidFill>
                <a:latin typeface="Inter"/>
              </a:rPr>
              <a:t>Say "in my course project, offline mode" when it was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CV lines, each with a number and a source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Built a CI quality gate for a tool-calling support agent: golden set, 3 metrics, PR comments (course project)</a:t>
            </a:r>
          </a:p>
          <a:p>
            <a:pPr marL="292608" indent="-292608">
              <a:lnSpc>
                <a:spcPct val="120000"/>
              </a:lnSpc>
              <a:spcAft>
                <a:spcPts val="1260"/>
              </a:spcAft>
              <a:buClr>
                <a:srgbClr val="00D4AA"/>
              </a:buClr>
              <a:buFont typeface="Inter"/>
              <a:buChar char="•"/>
            </a:pPr>
            <a:r>
              <a:rPr sz="1800" b="0">
                <a:solidFill>
                  <a:srgbClr val="FFFFFF"/>
                </a:solidFill>
                <a:latin typeface="Inter"/>
              </a:rPr>
              <a:t>Red-teamed a banking agent: 2 of 16 attacks succeeded on v1, 0 of 16 on the fixed v2 (offline)</a:t>
            </a:r>
          </a:p>
          <a:p>
            <a:pPr marL="292608" indent="-292608">
              <a:lnSpc>
                <a:spcPct val="120000"/>
              </a:lnSpc>
              <a:spcAft>
                <a:spcPts val="1260"/>
              </a:spcAft>
              <a:buClr>
                <a:srgbClr val="00D4AA"/>
              </a:buClr>
              <a:buFont typeface="Inter"/>
              <a:buChar char="•"/>
            </a:pPr>
            <a:r>
              <a:rPr sz="1800" b="0">
                <a:solidFill>
                  <a:srgbClr val="FFFFFF"/>
                </a:solidFill>
                <a:latin typeface="Inter"/>
              </a:rPr>
              <a:t>Cut agent cost 29% with model routing, quality re-checked on the golden set (offline benchmark)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next seven days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Push Project 5 with a README a stranger can follow</a:t>
            </a:r>
          </a:p>
          <a:p>
            <a:pPr marL="292608" indent="-292608">
              <a:lnSpc>
                <a:spcPct val="120000"/>
              </a:lnSpc>
              <a:spcAft>
                <a:spcPts val="1539"/>
              </a:spcAft>
              <a:buClr>
                <a:srgbClr val="00D4AA"/>
              </a:buClr>
              <a:buFont typeface="Inter"/>
              <a:buChar char="•"/>
            </a:pPr>
            <a:r>
              <a:rPr sz="2200" b="0">
                <a:solidFill>
                  <a:srgbClr val="FFFFFF"/>
                </a:solidFill>
                <a:latin typeface="Inter"/>
              </a:rPr>
              <a:t>Record a 60-second demo: the gate blocking a bad prompt</a:t>
            </a:r>
          </a:p>
          <a:p>
            <a:pPr marL="292608" indent="-292608">
              <a:lnSpc>
                <a:spcPct val="120000"/>
              </a:lnSpc>
              <a:spcAft>
                <a:spcPts val="1539"/>
              </a:spcAft>
              <a:buClr>
                <a:srgbClr val="00D4AA"/>
              </a:buClr>
              <a:buFont typeface="Inter"/>
              <a:buChar char="•"/>
            </a:pPr>
            <a:r>
              <a:rPr sz="2200" b="0">
                <a:solidFill>
                  <a:srgbClr val="FFFFFF"/>
                </a:solidFill>
                <a:latin typeface="Inter"/>
              </a:rPr>
              <a:t>Rehearse the five answers out loud, once each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Pick a path; lead with the matching project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Answer with structure and your own numbers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Always say where a number came from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What Changes Next &amp; Your 30-Day Practice Plan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One lecture left.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15 · CAREER &amp; NEXT STEPS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15.2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What Changes Next &amp; Your 30-Day Practice Plan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Name three things in this field that will change, and the habit that keeps your work current.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will change, and what won't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Changing: library APIs (DeepEval, RAGAS, Langfuse all had breaking changes)</a:t>
            </a:r>
          </a:p>
          <a:p>
            <a:pPr marL="292608" indent="-292608">
              <a:lnSpc>
                <a:spcPct val="120000"/>
              </a:lnSpc>
              <a:spcAft>
                <a:spcPts val="1260"/>
              </a:spcAft>
              <a:buClr>
                <a:srgbClr val="00D4AA"/>
              </a:buClr>
              <a:buFont typeface="Inter"/>
              <a:buChar char="•"/>
            </a:pPr>
            <a:r>
              <a:rPr sz="1800" b="0">
                <a:solidFill>
                  <a:srgbClr val="FFFFFF"/>
                </a:solidFill>
                <a:latin typeface="Inter"/>
              </a:rPr>
              <a:t>Changing: standards still settling (OpenTelemetry GenAI names are "incubating", MCP is moving fast)</a:t>
            </a:r>
          </a:p>
          <a:p>
            <a:pPr marL="292608" indent="-292608">
              <a:lnSpc>
                <a:spcPct val="120000"/>
              </a:lnSpc>
              <a:spcAft>
                <a:spcPts val="1260"/>
              </a:spcAft>
              <a:buClr>
                <a:srgbClr val="00D4AA"/>
              </a:buClr>
              <a:buFont typeface="Inter"/>
              <a:buChar char="•"/>
            </a:pPr>
            <a:r>
              <a:rPr sz="1800" b="0">
                <a:solidFill>
                  <a:srgbClr val="FFFFFF"/>
                </a:solidFill>
                <a:latin typeface="Inter"/>
              </a:rPr>
              <a:t>Changing: models, prices and regulation (verify current pricing and rules)</a:t>
            </a:r>
          </a:p>
          <a:p>
            <a:pPr marL="292608" indent="-292608">
              <a:lnSpc>
                <a:spcPct val="120000"/>
              </a:lnSpc>
              <a:spcAft>
                <a:spcPts val="1260"/>
              </a:spcAft>
              <a:buClr>
                <a:srgbClr val="00D4AA"/>
              </a:buClr>
              <a:buFont typeface="Inter"/>
              <a:buChar char="•"/>
            </a:pPr>
            <a:r>
              <a:rPr sz="1800" b="0">
                <a:solidFill>
                  <a:srgbClr val="FFFFFF"/>
                </a:solidFill>
                <a:latin typeface="Inter"/>
              </a:rPr>
              <a:t>Not changing: golden sets, metrics, baselines, gates, red teams, monitoring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30-day plan, 30 minutes a day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1920240"/>
        </p:xfrm>
        <a:graphic>
          <a:graphicData uri="http://schemas.openxmlformats.org/drawingml/2006/table">
            <a:tbl>
              <a:tblPr firstRow="1" bandRow="1">
                <a:tableStyleId>{5C22544A-7EE6-4342-B048-85BDC9FD1C3A}</a:tableStyleId>
              </a:tblPr>
              <a:tblGrid>
                <a:gridCol w="857684"/>
                <a:gridCol w="857684"/>
                <a:gridCol w="8576840"/>
                <a:gridCol w="1000631"/>
              </a:tblGrid>
              <a:tr h="384048">
                <a:tc>
                  <a:txBody>
                    <a:bodyPr wrap="square"/>
                    <a:lstStyle/>
                    <a:p>
                      <a:r>
                        <a:rPr sz="1200" b="1">
                          <a:solidFill>
                            <a:srgbClr val="0A1628"/>
                          </a:solidFill>
                          <a:latin typeface="Inter"/>
                        </a:rPr>
                        <a:t>Week</a:t>
                      </a:r>
                    </a:p>
                  </a:txBody>
                  <a:tcPr marL="91440" marR="91440" marT="45720" marB="45720" anchor="ctr">
                    <a:solidFill>
                      <a:srgbClr val="00D4AA"/>
                    </a:solidFill>
                  </a:tcPr>
                </a:tc>
                <a:tc>
                  <a:txBody>
                    <a:bodyPr wrap="square"/>
                    <a:lstStyle/>
                    <a:p>
                      <a:r>
                        <a:rPr sz="1200" b="1">
                          <a:solidFill>
                            <a:srgbClr val="0A1628"/>
                          </a:solidFill>
                          <a:latin typeface="Inter"/>
                        </a:rPr>
                        <a:t>Days</a:t>
                      </a:r>
                    </a:p>
                  </a:txBody>
                  <a:tcPr marL="91440" marR="91440" marT="45720" marB="45720" anchor="ctr">
                    <a:solidFill>
                      <a:srgbClr val="00D4AA"/>
                    </a:solidFill>
                  </a:tcPr>
                </a:tc>
                <a:tc>
                  <a:txBody>
                    <a:bodyPr wrap="square"/>
                    <a:lstStyle/>
                    <a:p>
                      <a:r>
                        <a:rPr sz="1200" b="1">
                          <a:solidFill>
                            <a:srgbClr val="0A1628"/>
                          </a:solidFill>
                          <a:latin typeface="Inter"/>
                        </a:rPr>
                        <a:t>Focus</a:t>
                      </a:r>
                    </a:p>
                  </a:txBody>
                  <a:tcPr marL="91440" marR="91440" marT="45720" marB="45720" anchor="ctr">
                    <a:solidFill>
                      <a:srgbClr val="00D4AA"/>
                    </a:solidFill>
                  </a:tcPr>
                </a:tc>
                <a:tc>
                  <a:txBody>
                    <a:bodyPr wrap="square"/>
                    <a:lstStyle/>
                    <a:p>
                      <a:r>
                        <a:rPr sz="1200" b="1">
                          <a:solidFill>
                            <a:srgbClr val="0A1628"/>
                          </a:solidFill>
                          <a:latin typeface="Inter"/>
                        </a:rPr>
                        <a:t>Modules</a:t>
                      </a:r>
                    </a:p>
                  </a:txBody>
                  <a:tcPr marL="91440" marR="91440" marT="45720" marB="45720" anchor="ctr">
                    <a:solidFill>
                      <a:srgbClr val="00D4AA"/>
                    </a:solidFill>
                  </a:tcPr>
                </a:tc>
              </a:tr>
              <a:tr h="384048">
                <a:tc>
                  <a:txBody>
                    <a:bodyPr wrap="square"/>
                    <a:lstStyle/>
                    <a:p>
                      <a:r>
                        <a:rPr sz="1200" b="1">
                          <a:solidFill>
                            <a:srgbClr val="FFFFFF"/>
                          </a:solidFill>
                          <a:latin typeface="Inter"/>
                        </a:rPr>
                        <a:t>1</a:t>
                      </a:r>
                    </a:p>
                  </a:txBody>
                  <a:tcPr marL="91440" marR="91440" marT="45720" marB="45720" anchor="ctr">
                    <a:solidFill>
                      <a:srgbClr val="1A2742"/>
                    </a:solidFill>
                  </a:tcPr>
                </a:tc>
                <a:tc>
                  <a:txBody>
                    <a:bodyPr wrap="square"/>
                    <a:lstStyle/>
                    <a:p>
                      <a:r>
                        <a:rPr sz="1200" b="0">
                          <a:solidFill>
                            <a:srgbClr val="FFFFFF"/>
                          </a:solidFill>
                          <a:latin typeface="Inter"/>
                        </a:rPr>
                        <a:t>1–7</a:t>
                      </a:r>
                    </a:p>
                  </a:txBody>
                  <a:tcPr marL="91440" marR="91440" marT="45720" marB="45720" anchor="ctr">
                    <a:solidFill>
                      <a:srgbClr val="1A2742"/>
                    </a:solidFill>
                  </a:tcPr>
                </a:tc>
                <a:tc>
                  <a:txBody>
                    <a:bodyPr wrap="square"/>
                    <a:lstStyle/>
                    <a:p>
                      <a:r>
                        <a:rPr sz="1200" b="0">
                          <a:solidFill>
                            <a:srgbClr val="FFFFFF"/>
                          </a:solidFill>
                          <a:latin typeface="Inter"/>
                        </a:rPr>
                        <a:t>a new agent: failures, golden set, first metrics, a custom GEval</a:t>
                      </a:r>
                    </a:p>
                  </a:txBody>
                  <a:tcPr marL="91440" marR="91440" marT="45720" marB="45720" anchor="ctr">
                    <a:solidFill>
                      <a:srgbClr val="1A2742"/>
                    </a:solidFill>
                  </a:tcPr>
                </a:tc>
                <a:tc>
                  <a:txBody>
                    <a:bodyPr wrap="square"/>
                    <a:lstStyle/>
                    <a:p>
                      <a:r>
                        <a:rPr sz="1200" b="0">
                          <a:solidFill>
                            <a:srgbClr val="FFFFFF"/>
                          </a:solidFill>
                          <a:latin typeface="Inter"/>
                        </a:rPr>
                        <a:t>1–4</a:t>
                      </a:r>
                    </a:p>
                  </a:txBody>
                  <a:tcPr marL="91440" marR="91440" marT="45720" marB="45720" anchor="ctr">
                    <a:solidFill>
                      <a:srgbClr val="1A2742"/>
                    </a:solidFill>
                  </a:tcPr>
                </a:tc>
              </a:tr>
              <a:tr h="384048">
                <a:tc>
                  <a:txBody>
                    <a:bodyPr wrap="square"/>
                    <a:lstStyle/>
                    <a:p>
                      <a:r>
                        <a:rPr sz="1200" b="1">
                          <a:solidFill>
                            <a:srgbClr val="FFFFFF"/>
                          </a:solidFill>
                          <a:latin typeface="Inter"/>
                        </a:rPr>
                        <a:t>2</a:t>
                      </a:r>
                    </a:p>
                  </a:txBody>
                  <a:tcPr marL="91440" marR="91440" marT="45720" marB="45720" anchor="ctr">
                    <a:solidFill>
                      <a:srgbClr val="0F1E35"/>
                    </a:solidFill>
                  </a:tcPr>
                </a:tc>
                <a:tc>
                  <a:txBody>
                    <a:bodyPr wrap="square"/>
                    <a:lstStyle/>
                    <a:p>
                      <a:r>
                        <a:rPr sz="1200" b="0">
                          <a:solidFill>
                            <a:srgbClr val="FFFFFF"/>
                          </a:solidFill>
                          <a:latin typeface="Inter"/>
                        </a:rPr>
                        <a:t>8–14</a:t>
                      </a:r>
                    </a:p>
                  </a:txBody>
                  <a:tcPr marL="91440" marR="91440" marT="45720" marB="45720" anchor="ctr">
                    <a:solidFill>
                      <a:srgbClr val="0F1E35"/>
                    </a:solidFill>
                  </a:tcPr>
                </a:tc>
                <a:tc>
                  <a:txBody>
                    <a:bodyPr wrap="square"/>
                    <a:lstStyle/>
                    <a:p>
                      <a:r>
                        <a:rPr sz="1200" b="0">
                          <a:solidFill>
                            <a:srgbClr val="FFFFFF"/>
                          </a:solidFill>
                          <a:latin typeface="Inter"/>
                        </a:rPr>
                        <a:t>RAG, tool calls, multi-agent, 5 prompt injections, a PII scan</a:t>
                      </a:r>
                    </a:p>
                  </a:txBody>
                  <a:tcPr marL="91440" marR="91440" marT="45720" marB="45720" anchor="ctr">
                    <a:solidFill>
                      <a:srgbClr val="0F1E35"/>
                    </a:solidFill>
                  </a:tcPr>
                </a:tc>
                <a:tc>
                  <a:txBody>
                    <a:bodyPr wrap="square"/>
                    <a:lstStyle/>
                    <a:p>
                      <a:r>
                        <a:rPr sz="1200" b="0">
                          <a:solidFill>
                            <a:srgbClr val="FFFFFF"/>
                          </a:solidFill>
                          <a:latin typeface="Inter"/>
                        </a:rPr>
                        <a:t>5–8</a:t>
                      </a:r>
                    </a:p>
                  </a:txBody>
                  <a:tcPr marL="91440" marR="91440" marT="45720" marB="45720" anchor="ctr">
                    <a:solidFill>
                      <a:srgbClr val="0F1E35"/>
                    </a:solidFill>
                  </a:tcPr>
                </a:tc>
              </a:tr>
              <a:tr h="384048">
                <a:tc>
                  <a:txBody>
                    <a:bodyPr wrap="square"/>
                    <a:lstStyle/>
                    <a:p>
                      <a:r>
                        <a:rPr sz="1200" b="1">
                          <a:solidFill>
                            <a:srgbClr val="FFFFFF"/>
                          </a:solidFill>
                          <a:latin typeface="Inter"/>
                        </a:rPr>
                        <a:t>3</a:t>
                      </a:r>
                    </a:p>
                  </a:txBody>
                  <a:tcPr marL="91440" marR="91440" marT="45720" marB="45720" anchor="ctr">
                    <a:solidFill>
                      <a:srgbClr val="1A2742"/>
                    </a:solidFill>
                  </a:tcPr>
                </a:tc>
                <a:tc>
                  <a:txBody>
                    <a:bodyPr wrap="square"/>
                    <a:lstStyle/>
                    <a:p>
                      <a:r>
                        <a:rPr sz="1200" b="0">
                          <a:solidFill>
                            <a:srgbClr val="FFFFFF"/>
                          </a:solidFill>
                          <a:latin typeface="Inter"/>
                        </a:rPr>
                        <a:t>15–21</a:t>
                      </a:r>
                    </a:p>
                  </a:txBody>
                  <a:tcPr marL="91440" marR="91440" marT="45720" marB="45720" anchor="ctr">
                    <a:solidFill>
                      <a:srgbClr val="1A2742"/>
                    </a:solidFill>
                  </a:tcPr>
                </a:tc>
                <a:tc>
                  <a:txBody>
                    <a:bodyPr wrap="square"/>
                    <a:lstStyle/>
                    <a:p>
                      <a:r>
                        <a:rPr sz="1200" b="0">
                          <a:solidFill>
                            <a:srgbClr val="FFFFFF"/>
                          </a:solidFill>
                          <a:latin typeface="Inter"/>
                        </a:rPr>
                        <a:t>tracing, benchmark, routing, synthetic data, a regression, a CI gate</a:t>
                      </a:r>
                    </a:p>
                  </a:txBody>
                  <a:tcPr marL="91440" marR="91440" marT="45720" marB="45720" anchor="ctr">
                    <a:solidFill>
                      <a:srgbClr val="1A2742"/>
                    </a:solidFill>
                  </a:tcPr>
                </a:tc>
                <a:tc>
                  <a:txBody>
                    <a:bodyPr wrap="square"/>
                    <a:lstStyle/>
                    <a:p>
                      <a:r>
                        <a:rPr sz="1200" b="0">
                          <a:solidFill>
                            <a:srgbClr val="FFFFFF"/>
                          </a:solidFill>
                          <a:latin typeface="Inter"/>
                        </a:rPr>
                        <a:t>9–12</a:t>
                      </a:r>
                    </a:p>
                  </a:txBody>
                  <a:tcPr marL="91440" marR="91440" marT="45720" marB="45720" anchor="ctr">
                    <a:solidFill>
                      <a:srgbClr val="1A2742"/>
                    </a:solidFill>
                  </a:tcPr>
                </a:tc>
              </a:tr>
              <a:tr h="384048">
                <a:tc>
                  <a:txBody>
                    <a:bodyPr wrap="square"/>
                    <a:lstStyle/>
                    <a:p>
                      <a:r>
                        <a:rPr sz="1200" b="1">
                          <a:solidFill>
                            <a:srgbClr val="FFFFFF"/>
                          </a:solidFill>
                          <a:latin typeface="Inter"/>
                        </a:rPr>
                        <a:t>4</a:t>
                      </a:r>
                    </a:p>
                  </a:txBody>
                  <a:tcPr marL="91440" marR="91440" marT="45720" marB="45720" anchor="ctr">
                    <a:solidFill>
                      <a:srgbClr val="0F1E35"/>
                    </a:solidFill>
                  </a:tcPr>
                </a:tc>
                <a:tc>
                  <a:txBody>
                    <a:bodyPr wrap="square"/>
                    <a:lstStyle/>
                    <a:p>
                      <a:r>
                        <a:rPr sz="1200" b="0">
                          <a:solidFill>
                            <a:srgbClr val="FFFFFF"/>
                          </a:solidFill>
                          <a:latin typeface="Inter"/>
                        </a:rPr>
                        <a:t>22–30</a:t>
                      </a:r>
                    </a:p>
                  </a:txBody>
                  <a:tcPr marL="91440" marR="91440" marT="45720" marB="45720" anchor="ctr">
                    <a:solidFill>
                      <a:srgbClr val="0F1E35"/>
                    </a:solidFill>
                  </a:tcPr>
                </a:tc>
                <a:tc>
                  <a:txBody>
                    <a:bodyPr wrap="square"/>
                    <a:lstStyle/>
                    <a:p>
                      <a:r>
                        <a:rPr sz="1200" b="0">
                          <a:solidFill>
                            <a:srgbClr val="FFFFFF"/>
                          </a:solidFill>
                          <a:latin typeface="Inter"/>
                        </a:rPr>
                        <a:t>scorecard, monitoring, the capstone on your agent, publish and practise</a:t>
                      </a:r>
                    </a:p>
                  </a:txBody>
                  <a:tcPr marL="91440" marR="91440" marT="45720" marB="45720" anchor="ctr">
                    <a:solidFill>
                      <a:srgbClr val="0F1E35"/>
                    </a:solidFill>
                  </a:tcPr>
                </a:tc>
                <a:tc>
                  <a:txBody>
                    <a:bodyPr wrap="square"/>
                    <a:lstStyle/>
                    <a:p>
                      <a:r>
                        <a:rPr sz="1200" b="0">
                          <a:solidFill>
                            <a:srgbClr val="FFFFFF"/>
                          </a:solidFill>
                          <a:latin typeface="Inter"/>
                        </a:rPr>
                        <a:t>13–15</a:t>
                      </a:r>
                    </a:p>
                  </a:txBody>
                  <a:tcPr marL="91440" marR="91440" marT="45720" marB="45720" anchor="ctr">
                    <a:solidFill>
                      <a:srgbClr val="0F1E35"/>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to go next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Course 3: Production Voice AI Agents with Python (LiveKit, Pipecat, Twilio)</a:t>
            </a:r>
          </a:p>
          <a:p>
            <a:pPr marL="292608" indent="-292608">
              <a:lnSpc>
                <a:spcPct val="120000"/>
              </a:lnSpc>
              <a:spcAft>
                <a:spcPts val="1539"/>
              </a:spcAft>
              <a:buClr>
                <a:srgbClr val="00D4AA"/>
              </a:buClr>
              <a:buFont typeface="Inter"/>
              <a:buChar char="•"/>
            </a:pPr>
            <a:r>
              <a:rPr sz="2200" b="0">
                <a:solidFill>
                  <a:srgbClr val="FFFFFF"/>
                </a:solidFill>
                <a:latin typeface="Inter"/>
              </a:rPr>
              <a:t>Course 4: AI Agent Observability &amp; Cost Control (OpenTelemetry, Langfuse, LiteLLM)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Tools change; run </a:t>
            </a:r>
            <a:r>
              <a:rPr sz="1656" b="0">
                <a:solidFill>
                  <a:srgbClr val="00D4AA"/>
                </a:solidFill>
                <a:latin typeface="JetBrains Mono"/>
              </a:rPr>
              <a:t>make test</a:t>
            </a:r>
            <a:r>
              <a:rPr sz="1800" b="1">
                <a:solidFill>
                  <a:srgbClr val="FFFFFF"/>
                </a:solidFill>
                <a:latin typeface="Inter"/>
              </a:rPr>
              <a:t> after upgrades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30 days, 30 minutes, one new agent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Publish it, then practise the interview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15 · Lecture 15.2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Answer AI-testing interview questions with your own evidence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Keep your skills current as tools change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Practise daily on an agent of your 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