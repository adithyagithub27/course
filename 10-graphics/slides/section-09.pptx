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Why You Can't Debug an Agent Without Traces.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everything traditional monitoring gives you. The request succeeded. Latency is normal. No exceptions. And a reply that's polite, honest and useless. Every dashboard is green, and every customer is unhappy. What would you check first? Most people open the prompt. Hold that instinct. In a few minutes, you'll see the prompt was the one part working perfectly, and that editing it would have made Friday night longer, not shorter.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isn't a log line enough? Three reasons. An agent request isn't one call. It's a loop of model calls and tool calls, often four or five steps. The path can change from run to run, because the model decides what to do next. And the failure usually hides in a middle step, while the final reply looks perfectly reasonable.</a:t>
            </a:r>
          </a:p>
          <a:p/>
          <a:p>
            <a:r>
              <a:t>[B-ROLL: Animation, labelled "illustrative": the same customer question sent three times; the first run takes the path search, reply; the...]</a:t>
            </a:r>
          </a:p>
          <a:p/>
          <a:p>
            <a:r>
              <a:t>And you can't simply re-run the request to watch it fail. Remember Module 2: same input, different outputs. Have you ever tried to reproduce an agent bug and watched it work perfectly? By the time you try, the agent may take a different path. So you record the path the first time, on every request.</a:t>
            </a:r>
          </a:p>
          <a:p/>
          <a:p>
            <a:r>
              <a:t>A log tells you what went in and what came out. A trace tells you everything in between.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trace. The top box is one agent run, with who asked, which session, and the total cost. Inside it are spans, one per step. A generation span is a model call: the model, the messages, the tokens and the cost. A tool span is a tool call: its arguments and its result. Spans nest, so you can see which step caused which.</a:t>
            </a:r>
          </a:p>
          <a:p/>
          <a:p>
            <a:r>
              <a:t>And each span has a level. A tool that returns nothing can be marked as a warning. That's the detail that will crack our Friday incident.</a:t>
            </a:r>
          </a:p>
          <a:p/>
          <a:p>
            <a:r>
              <a:t>[CODE: `observability/langfuse_tracing.py`, `traced_tool`]</a:t>
            </a:r>
          </a:p>
          <a:p/>
          <a:p>
            <a:r>
              <a:t>Here's the instrumentation for every tool call, using Langfuse version four. One decorator turns the function into a tool span. The span records the arguments and the result. And if the result is "no relevant articles" or "customer not found", the level becomes WARNING. Six lines of code. You'll build the rest in the next lecture.</a:t>
            </a:r>
          </a:p>
          <a:p/>
          <a:p>
            <a:r>
              <a:t>[SCREEN: Terminal. Run the blind-versus-traced demo; pause on BLIND, then on the trace tree.]</a:t>
            </a:r>
          </a:p>
          <a:p/>
          <a:p>
            <a:r>
              <a:t>[DEMO: Output (banner trimmed; the trace ID changes on every run)]</a:t>
            </a:r>
          </a:p>
          <a:p/>
          <a:p>
            <a:r>
              <a:t>This demo simulates the Friday deploy: the search index is broken, so every search comes back empty. What would you guess from the first half alone? First, the blind view. A question, an answer, and nothing else. Is it the prompt? The model? You can't tell.</a:t>
            </a:r>
          </a:p>
          <a:p/>
          <a:p>
            <a:r>
              <a:t>[SCREEN: Zoom on the trace tree; highlight the WARNING line and its output.]</a:t>
            </a:r>
          </a:p>
          <a:p/>
          <a:p>
            <a:r>
              <a:t>Now the same run, traced. Four spans. The agent at the top. A generation: the model read 767 input tokens and decided to search. A tool span, flagged WARNING, and its output: "No relevant articles found." Then a second generation, 842 tokens in, where the model wrote that polite "I couldn't find it" reply.</a:t>
            </a:r>
          </a:p>
          <a:p/>
          <a:p>
            <a:r>
              <a:t>Read that trace again. Did the model do anything wrong? No. It searched, got nothing, and refused to guess, which is exactly what the prompt asks. The root cause is the search index. The healthy tool returns the refund article, KB-102. If you'd edited the prompt on Friday night, you'd have changed working code and fixed nothing.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to read in every trace. Which step failed, and its level. Tokens per call: notice input grew from 767 to 842, because each model call re-sends the whole conversation. Latency per step, to find the slow one. Tool success, and how many retries. And the total cost of the run. Lecture 9.3 turns those token counts into a cost breakdown. Which of those five would have cracked the Friday incident fastest? The first: one WARNING on one tool span.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Traces aren't just for incidents. They connect to everything you've built so far. When an eval fails in CI, its trace shows which step broke. When a production trace looks wrong, you can attach a score to it, exactly like an eval score. And a bad production trace becomes a new golden test case, so it can never happen twice. That's layer five of the pyramid, production monitoring, feeding back into layers three and four.</a:t>
            </a:r>
          </a:p>
          <a:p/>
          <a:p>
            <a:r>
              <a:t>[SCREEN: Terminal. Run the Lab 9.1 reference demo and show only the BEFORE FIX block.]</a:t>
            </a:r>
          </a:p>
          <a:p/>
          <a:p>
            <a:r>
              <a:t>[DEMO: Output (banner and AFTER FIX block trimmed)]</a:t>
            </a:r>
          </a:p>
          <a:p/>
          <a:p>
            <a:r>
              <a:t>You'll practise exactly this in Lab 9.1, right after the next lecture. Five traced questions, two of them failing. One is an email typed in mixed case that the lookup can't find. The other is an API question whose article is missing from the search index. Your job is to find both failing spans from the traces alone, fix them, and re-run to prove it.</a:t>
            </a:r>
          </a:p>
          <a:p/>
          <a:p>
            <a:r>
              <a:t>Here's the rule for this module. When an agent misbehaves, read the trace before you touch the prompt. In our incident, a trace turned a two-hour guessing game into a one-line diagnosis: the tool returned nothing. And it cost six lines of instrumentation. Is there any agent you run today that you couldn't trace like this? That's the one to fix first.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Tracing with Langfuse: Spans, Costs &amp; Latency.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Langfuse is an open-source platform for tracing and evaluating LLM apps, and version four is built on OpenTelemetry. You need four calls. The observe decorator turns a function into a span. Propagate attributes stamps the user, session and version onto every span. A generation observation records a model call. And create score attaches an evaluation result to a trace.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warning, because you'll meet old code. Langfuse changed its Python API between major versions, and many tutorials online were written for version two. If an import from a tutorial fails, what should you check first? The version it targets, before you debug anything else. In version four, everything you need imports straight from the `langfuse` package, and trace attributes always come from `propagate_attributes`.</a:t>
            </a:r>
          </a:p>
          <a:p/>
          <a:p>
            <a:r>
              <a:t>[CODE: `observability/langfuse_tracing.py`, the agent span and trace attributes]</a:t>
            </a:r>
          </a:p>
          <a:p/>
          <a:p>
            <a:r>
              <a:t>Here's the top of the trace. The decorator makes this function a span of type agent, named support-agent. Inside it, `propagate_attributes` sets the user ID, the session ID, two tags, the agent version and some metadata. Every span created inside this block inherits them. That's how you'll later filter "all traces for CUST-001" or "everything from version two".</a:t>
            </a:r>
          </a:p>
          <a:p/>
          <a:p>
            <a:r>
              <a:t>Notice that we didn't rewrite the agent. We passed it a traced OpenAI client and a traced tool executor. Why does that matter? Because your tracing code and your agent code stay separate, so turning tracing off can't break the agent.</a:t>
            </a:r>
          </a:p>
          <a:p/>
          <a:p>
            <a:r>
              <a:t>[CODE: `observability/langfuse_tracing.py`, `TracedOpenAI.create`]</a:t>
            </a:r>
          </a:p>
          <a:p/>
          <a:p>
            <a:r>
              <a:t>Every model call goes through this wrapper. Why wrap the client instead of decorating the agent's loop? Because the loop is the agent's code, and the client is the one place every model call passes through. It opens a generation observation with the model name and the messages. After the call, it records the output, the input and output tokens, and the cost. If the model asked for tools, the output is the list of tool names, so you can see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comes from `gpt-4.1-mini` list prices in the course settings: forty cents per million input tokens and a dollar sixty per million output. Verify current pricing before you trust any number.</a:t>
            </a:r>
          </a:p>
          <a:p/>
          <a:p>
            <a:r>
              <a:t>The tool spans are the six lines from Lecture 9.1, with the WARNING level for empty results.</a:t>
            </a:r>
          </a:p>
          <a:p/>
          <a:p>
            <a:r>
              <a:t>[CODE: `observability/langfuse_tracing.py`, `score_trace`]</a:t>
            </a:r>
          </a:p>
          <a:p/>
          <a:p>
            <a:r>
              <a:t>Now evaluation. After each run, the demo scores the answer with DeepEval's answer relevancy metric from Module 4, then calls `create_score` with the trace ID, a name and the value. In Langfuse, that score sits right on the trace. With no Langfuse keys, the course records it locally instead, so everything still runs offline. What can you do with scores on traces? Filter for every trace with relevancy under 0.7, and you have this week's list of bad answers, each with its full trace attached.</a:t>
            </a:r>
          </a:p>
          <a:p/>
          <a:p>
            <a:r>
              <a:t>[SCREEN: Terminal. Run the tracing demo; pause on the table, then on the trace tree.]</a:t>
            </a:r>
          </a:p>
          <a:p/>
          <a:p>
            <a:r>
              <a:t>[DEMO: Output (banner trimmed)]</a:t>
            </a:r>
          </a:p>
          <a:p/>
          <a:p>
            <a:r>
              <a:t>Four traces, one row each. Three of them took two model calls, about seventeen hundred tokens, and under a tenth of a cent. Which one is the outlier? The double charge. Six spans, three model calls, almost three thousand tokens, and fourteen hundredths of a cent. Nearly twice the cost, and you can see why in its tree.</a:t>
            </a:r>
          </a:p>
          <a:p/>
          <a:p>
            <a:r>
              <a:t>[SCREEN: Zoom on the trace tree.]</a:t>
            </a:r>
          </a:p>
          <a:p/>
          <a:p>
            <a:r>
              <a:t>Look up the customer. Create the ticket, TKT-5001, high priority. Then reply. Three generations, and the input grows each time, from 787 to 949 to 1,092 tokens, because each call carries everything before it. All four traces got a relevancy score of 1.00, attached with `create_score`.</a:t>
            </a:r>
          </a:p>
          <a:p/>
          <a:p>
            <a:r>
              <a:t>The latency column is simulated in offline mode, but the pattern holds live: more steps, more time. The ticket request took about three point three seconds against under two for the others.</a:t>
            </a:r>
          </a:p>
          <a:p/>
          <a:p>
            <a:r>
              <a:t>[SCREEN: PRODUCTION NOTE: re-capture live before recording. With `LANGFUSE_PUBLIC_KEY`, `LANGFUSE_SECRET_KEY` and `LANGFUSE_BASE_URL` set...]</a:t>
            </a:r>
          </a:p>
          <a:p/>
          <a:p>
            <a:r>
              <a:t>In the Langfuse UI, the same data becomes clickable. What would you click first? Filter by user and you see Alice's two requests. Open the double-charge trace and you get a timeline, every input and output, the cost and the score. Group by session, and a whole conversation lines up in order.</a:t>
            </a:r>
          </a:p>
          <a:p/>
          <a:p>
            <a:r>
              <a:t>[SCREEN: Terminal. Run the observability tests.]</a:t>
            </a:r>
          </a:p>
          <a:p/>
          <a:p>
            <a:r>
              <a:t>[DEMO: Output (trimmed)]</a:t>
            </a:r>
          </a:p>
          <a:p/>
          <a:p>
            <a:r>
              <a:t>Does tracing need tests? Yes. Three of them: the trace has the right span types in order, agent, generation, tool, generation, with the user and session on every span; scores are recorded; and the OpenTelemetry version, which is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OpenTelemetry GenAI Conventions: The Enterprise Standard.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OpenTelemetry is the open standard for traces, metrics and logs, supported by almost every observability vendor. Its semantic conventions are agreed names, so a span from your code means the same thing in every tool. The GenAI conventions add names for AI work: invoking an agent, calling a model, executing a tool.</a:t>
            </a:r>
          </a:p>
          <a:p/>
          <a:p>
            <a:r>
              <a:t>One honest caveat. These names are still marked incubating, which means they can change between releases. So pin your versions, and test your telemetry, which we'll do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agree on names at all? So a dashboard built for one agent works for every agent, and a backend can show token costs without knowing your code. Three span names. `invoke_agent` plus the agent name, for the whole run. `chat` plus the model, for each model call. `execute_tool` plus the tool, for each tool call. And on each span, attributes with a `gen_ai` prefix: the operation, the provider, the model, the token counts, the tool's name, arguments and result.</a:t>
            </a:r>
          </a:p>
          <a:p/>
          <a:p>
            <a:r>
              <a:t>[CODE: `observability/otel_genai.py`, imports and `OTelOpenAI.create`]</a:t>
            </a:r>
          </a:p>
          <a:p/>
          <a:p>
            <a:r>
              <a:t>Look at the import first, because it's the most common mistake. The constants come from the official `opentelemetry-semantic-conventions` package, from its incubating attributes module. If a tutorial imports `opentelemetry.semconv.ai`, that's a different, third-party package with its own names. Same idea, wrong names.</a:t>
            </a:r>
          </a:p>
          <a:p/>
          <a:p>
            <a:r>
              <a:t>Then the wrapper, the same pattern as the Langfuse one. Open a `chat` span. Record what was requested, the operation, the provider and the model. Make the call. Record what came back: the response model, ID, finish reasons and token counts. Why record both the requested and the response model? Because they can differ, and when a provider quietly serves a different model version, you'll want to know.</a:t>
            </a:r>
          </a:p>
          <a:p/>
          <a:p>
            <a:r>
              <a:t>[SCREEN: VS Code, `observability/otel_genai.py`. Scroll to `make_tool_executor` and highlight `span.set_status(Status(StatusCode.ERROR, "...]</a:t>
            </a:r>
          </a:p>
          <a:p/>
          <a:p>
            <a:r>
              <a:t>The tool executor does the same for `execute_tool` spans: the tool name, its arguments and its result. And an empty result sets the span's status to ERROR. That's the OpenTelemetry version of the WARNING level from 9.1, and every backend can alert on it.</a:t>
            </a:r>
          </a:p>
          <a:p/>
          <a:p>
            <a:r>
              <a:t>[SCREEN: Terminal. Run the OTel demo.]</a:t>
            </a:r>
          </a:p>
          <a:p/>
          <a:p>
            <a:r>
              <a:t>[DEMO: Output (banner trimmed; second chat span trimmed)]</a:t>
            </a:r>
          </a:p>
          <a:p/>
          <a:p>
            <a:r>
              <a:t>Does this match the Langfuse trace from 9.2? Same shape: four spans. The agent run, with its name and a conversation ID. A chat span: OpenAI, `gpt-4.1-mini`, finished with tool calls, 770 tokens in. A tool span: `lookup_customer` with Alice's email, and the result. And a final chat span that finished with "stop", 932 tokens in.</a:t>
            </a:r>
          </a:p>
          <a:p/>
          <a:p>
            <a:r>
              <a:t>One naming detail. Older examples use `gen_ai.system` for the provider. In the current conventions, that name is deprecated and replaced by `gen_ai.provider.name`, which is what you see here.</a:t>
            </a:r>
          </a:p>
          <a:p/>
          <a:p>
            <a:r>
              <a:t>How do you send these somewhere real? Swap the in-memory exporter for an OTLP exporter pointed at your backend. Langfuse accepts OpenTelemetry data, and so do Jaeger, Tempo and Datadog. One instrumentation, any destination.</a:t>
            </a:r>
          </a:p>
          <a:p/>
          <a:p>
            <a:r>
              <a:t>[CODE: `tests/production/test_observability.py`, `test_otel_genai_semantic_conventions`]</a:t>
            </a:r>
          </a:p>
          <a:p/>
          <a:p>
            <a:r>
              <a:t>And here's the step most teams skip: evaluating the agent's telemetry against the conventions. This test runs the agent and asserts the exact span names, in order, and the key attributes. If a library upgrade renames an attribute, or someone breaks the tool span, CI fails before your dashboards go quietly blank. Telemetry is an output. Test it like one.</a:t>
            </a:r>
          </a:p>
          <a:p/>
          <a:p>
            <a:r>
              <a:t>[SCREEN: Terminal. Run the cost analysis demo.]</a:t>
            </a:r>
          </a:p>
          <a:p/>
          <a:p>
            <a:r>
              <a:t>[DEMO: Output (banner trimmed)]</a:t>
            </a:r>
          </a:p>
          <a:p/>
          <a:p>
            <a:r>
              <a:t>Now put the token attributes to work. This is the longest request in the golden set: cancel and refund. Four model calls, almost four thousand input tokens, about a fifth of a cent. Where do the tokens go? The system prompt and the five tool schemas, 736 tokens, are re-sent on every call. That fixed overhead is 74 percent of all input tokens in this trace. On the first call, it's 93 percent.</a:t>
            </a:r>
          </a:p>
          <a:p/>
          <a:p>
            <a:r>
              <a:t>So the levers are clear. Fewer loop iterations. Smaller tool schemas. And prompt caching, because cached input is listed at a quarter of the normal price on `gpt-4.1-mini`. Verify current pricing before you build a business case on it. That's exactly where Module 10 picks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AGENT OBSERVABILITY &amp; TRACING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Why You Can't Debug an Agent Without Traces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why logs of requests and responses can't explain a multi-step, non-deterministic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your logs say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200 OK</a:t>
            </a:r>
          </a:p>
          <a:p>
            <a:pPr marL="292608" indent="-292608">
              <a:lnSpc>
                <a:spcPct val="120000"/>
              </a:lnSpc>
              <a:spcAft>
                <a:spcPts val="1539"/>
              </a:spcAft>
              <a:buClr>
                <a:srgbClr val="00D4AA"/>
              </a:buClr>
              <a:buFont typeface="Inter"/>
              <a:buChar char="•"/>
            </a:pPr>
            <a:r>
              <a:rPr sz="2200" b="0">
                <a:solidFill>
                  <a:srgbClr val="FFFFFF"/>
                </a:solidFill>
                <a:latin typeface="Inter"/>
              </a:rPr>
              <a:t>Latency: normal</a:t>
            </a:r>
          </a:p>
          <a:p>
            <a:pPr marL="292608" indent="-292608">
              <a:lnSpc>
                <a:spcPct val="120000"/>
              </a:lnSpc>
              <a:spcAft>
                <a:spcPts val="1539"/>
              </a:spcAft>
              <a:buClr>
                <a:srgbClr val="00D4AA"/>
              </a:buClr>
              <a:buFont typeface="Inter"/>
              <a:buChar char="•"/>
            </a:pPr>
            <a:r>
              <a:rPr sz="2200" b="0">
                <a:solidFill>
                  <a:srgbClr val="FFFFFF"/>
                </a:solidFill>
                <a:latin typeface="Inter"/>
              </a:rPr>
              <a:t>Errors: none</a:t>
            </a:r>
          </a:p>
          <a:p>
            <a:pPr marL="292608" indent="-292608">
              <a:lnSpc>
                <a:spcPct val="120000"/>
              </a:lnSpc>
              <a:spcAft>
                <a:spcPts val="1539"/>
              </a:spcAft>
              <a:buClr>
                <a:srgbClr val="00D4AA"/>
              </a:buClr>
              <a:buFont typeface="Inter"/>
              <a:buChar char="•"/>
            </a:pPr>
            <a:r>
              <a:rPr sz="2200" b="0">
                <a:solidFill>
                  <a:srgbClr val="FFFFFF"/>
                </a:solidFill>
                <a:latin typeface="Inter"/>
              </a:rPr>
              <a:t>Reply: "I couldn't find that in our knowledge base"</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langfuse 4.16.0. Offline mode: mock LLM + mock judge.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agents need more than logs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Many steps per request, not one</a:t>
            </a:r>
          </a:p>
          <a:p>
            <a:pPr marL="292608" indent="-292608">
              <a:lnSpc>
                <a:spcPct val="120000"/>
              </a:lnSpc>
              <a:spcAft>
                <a:spcPts val="1539"/>
              </a:spcAft>
              <a:buClr>
                <a:srgbClr val="00D4AA"/>
              </a:buClr>
              <a:buFont typeface="Inter"/>
              <a:buChar char="•"/>
            </a:pPr>
            <a:r>
              <a:rPr sz="2200" b="0">
                <a:solidFill>
                  <a:srgbClr val="FFFFFF"/>
                </a:solidFill>
                <a:latin typeface="Inter"/>
              </a:rPr>
              <a:t>A different path on every run</a:t>
            </a:r>
          </a:p>
          <a:p>
            <a:pPr marL="292608" indent="-292608">
              <a:lnSpc>
                <a:spcPct val="120000"/>
              </a:lnSpc>
              <a:spcAft>
                <a:spcPts val="1539"/>
              </a:spcAft>
              <a:buClr>
                <a:srgbClr val="00D4AA"/>
              </a:buClr>
              <a:buFont typeface="Inter"/>
              <a:buChar char="•"/>
            </a:pPr>
            <a:r>
              <a:rPr sz="2200" b="0">
                <a:solidFill>
                  <a:srgbClr val="FFFFFF"/>
                </a:solidFill>
                <a:latin typeface="Inter"/>
              </a:rPr>
              <a:t>The failure is often a step, not the reply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3-trace-anatomy.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09 · Lecture 9.1 · Anatomy of an agent trace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to read in every trace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Which step failed, and its level</a:t>
            </a:r>
          </a:p>
          <a:p>
            <a:pPr marL="292608" indent="-292608">
              <a:lnSpc>
                <a:spcPct val="120000"/>
              </a:lnSpc>
              <a:spcAft>
                <a:spcPts val="1539"/>
              </a:spcAft>
              <a:buClr>
                <a:srgbClr val="00D4AA"/>
              </a:buClr>
              <a:buFont typeface="Inter"/>
              <a:buChar char="•"/>
            </a:pPr>
            <a:r>
              <a:rPr sz="2200" b="0">
                <a:solidFill>
                  <a:srgbClr val="FFFFFF"/>
                </a:solidFill>
                <a:latin typeface="Inter"/>
              </a:rPr>
              <a:t>Tokens per call: is input growing?</a:t>
            </a:r>
          </a:p>
          <a:p>
            <a:pPr marL="292608" indent="-292608">
              <a:lnSpc>
                <a:spcPct val="120000"/>
              </a:lnSpc>
              <a:spcAft>
                <a:spcPts val="1539"/>
              </a:spcAft>
              <a:buClr>
                <a:srgbClr val="00D4AA"/>
              </a:buClr>
              <a:buFont typeface="Inter"/>
              <a:buChar char="•"/>
            </a:pPr>
            <a:r>
              <a:rPr sz="2200" b="0">
                <a:solidFill>
                  <a:srgbClr val="FFFFFF"/>
                </a:solidFill>
                <a:latin typeface="Inter"/>
              </a:rPr>
              <a:t>Latency per step: where's the wait?</a:t>
            </a:r>
          </a:p>
          <a:p>
            <a:pPr marL="292608" indent="-292608">
              <a:lnSpc>
                <a:spcPct val="120000"/>
              </a:lnSpc>
              <a:spcAft>
                <a:spcPts val="1539"/>
              </a:spcAft>
              <a:buClr>
                <a:srgbClr val="00D4AA"/>
              </a:buClr>
              <a:buFont typeface="Inter"/>
              <a:buChar char="•"/>
            </a:pPr>
            <a:r>
              <a:rPr sz="2200" b="0">
                <a:solidFill>
                  <a:srgbClr val="FFFFFF"/>
                </a:solidFill>
                <a:latin typeface="Inter"/>
              </a:rPr>
              <a:t>Tool success and retries</a:t>
            </a:r>
          </a:p>
          <a:p>
            <a:pPr marL="292608" indent="-292608">
              <a:lnSpc>
                <a:spcPct val="120000"/>
              </a:lnSpc>
              <a:spcAft>
                <a:spcPts val="1539"/>
              </a:spcAft>
              <a:buClr>
                <a:srgbClr val="00D4AA"/>
              </a:buClr>
              <a:buFont typeface="Inter"/>
              <a:buChar char="•"/>
            </a:pPr>
            <a:r>
              <a:rPr sz="2200" b="0">
                <a:solidFill>
                  <a:srgbClr val="FFFFFF"/>
                </a:solidFill>
                <a:latin typeface="Inter"/>
              </a:rPr>
              <a:t>Cost per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Traces and evals work together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Failed eval: open its trace to see why</a:t>
            </a:r>
          </a:p>
          <a:p>
            <a:pPr marL="292608" indent="-292608">
              <a:lnSpc>
                <a:spcPct val="120000"/>
              </a:lnSpc>
              <a:spcAft>
                <a:spcPts val="1539"/>
              </a:spcAft>
              <a:buClr>
                <a:srgbClr val="00D4AA"/>
              </a:buClr>
              <a:buFont typeface="Inter"/>
              <a:buChar char="•"/>
            </a:pPr>
            <a:r>
              <a:rPr sz="2200" b="0">
                <a:solidFill>
                  <a:srgbClr val="FFFFFF"/>
                </a:solidFill>
                <a:latin typeface="Inter"/>
              </a:rPr>
              <a:t>Production trace: score it, like an eval</a:t>
            </a:r>
          </a:p>
          <a:p>
            <a:pPr marL="292608" indent="-292608">
              <a:lnSpc>
                <a:spcPct val="120000"/>
              </a:lnSpc>
              <a:spcAft>
                <a:spcPts val="1539"/>
              </a:spcAft>
              <a:buClr>
                <a:srgbClr val="00D4AA"/>
              </a:buClr>
              <a:buFont typeface="Inter"/>
              <a:buChar char="•"/>
            </a:pPr>
            <a:r>
              <a:rPr sz="2200" b="0">
                <a:solidFill>
                  <a:srgbClr val="FFFFFF"/>
                </a:solidFill>
                <a:latin typeface="Inter"/>
              </a:rPr>
              <a:t>Bad trace: becomes a new golden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Final outputs hide the failing step</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Traces show every call, tool and token</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the trace before the prompt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Tracing with Langfuse: Spans, Costs &amp; Latency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In Lecture 9.2, you'll build that tracing yourself with Langfuse version four: spans, users and sessions, costs, latency…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AGENT OBSERVABILITY &amp; TRACING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Tracing with Langfuse: Spans, Costs &amp; Latency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Instrument an agent with Langfuse v4: </a:t>
            </a:r>
            <a:r>
              <a:rPr sz="1472" b="0">
                <a:solidFill>
                  <a:srgbClr val="00D4AA"/>
                </a:solidFill>
                <a:latin typeface="JetBrains Mono"/>
              </a:rPr>
              <a:t>@observe(as_type=...)</a:t>
            </a:r>
            <a:r>
              <a:rPr sz="1600" b="0">
                <a:solidFill>
                  <a:srgbClr val="CBD5E1"/>
                </a:solidFill>
                <a:latin typeface="Inter"/>
              </a:rPr>
              <a:t> for the agent and tools, and a generation per model call with usage and cost.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Langfuse v4 in four calls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@observe(as_type=...)</a:t>
            </a:r>
            <a:r>
              <a:rPr sz="2200" b="0">
                <a:solidFill>
                  <a:srgbClr val="FFFFFF"/>
                </a:solidFill>
                <a:latin typeface="Inter"/>
              </a:rPr>
              <a:t>: a function becomes a span</a:t>
            </a:r>
          </a:p>
          <a:p>
            <a:pPr marL="292608" indent="-292608">
              <a:lnSpc>
                <a:spcPct val="120000"/>
              </a:lnSpc>
              <a:spcAft>
                <a:spcPts val="1539"/>
              </a:spcAft>
              <a:buClr>
                <a:srgbClr val="00D4AA"/>
              </a:buClr>
              <a:buFont typeface="Inter"/>
              <a:buChar char="•"/>
            </a:pPr>
            <a:r>
              <a:rPr sz="2024" b="0">
                <a:solidFill>
                  <a:srgbClr val="00D4AA"/>
                </a:solidFill>
                <a:latin typeface="JetBrains Mono"/>
              </a:rPr>
              <a:t>propagate_attributes(...)</a:t>
            </a:r>
            <a:r>
              <a:rPr sz="2200" b="0">
                <a:solidFill>
                  <a:srgbClr val="FFFFFF"/>
                </a:solidFill>
                <a:latin typeface="Inter"/>
              </a:rPr>
              <a:t>: user, session, tags, version</a:t>
            </a:r>
          </a:p>
          <a:p>
            <a:pPr marL="292608" indent="-292608">
              <a:lnSpc>
                <a:spcPct val="120000"/>
              </a:lnSpc>
              <a:spcAft>
                <a:spcPts val="1539"/>
              </a:spcAft>
              <a:buClr>
                <a:srgbClr val="00D4AA"/>
              </a:buClr>
              <a:buFont typeface="Inter"/>
              <a:buChar char="•"/>
            </a:pPr>
            <a:r>
              <a:rPr sz="2024" b="0">
                <a:solidFill>
                  <a:srgbClr val="00D4AA"/>
                </a:solidFill>
                <a:latin typeface="JetBrains Mono"/>
              </a:rPr>
              <a:t>start_as_current_observation(as_type="generation")</a:t>
            </a:r>
            <a:r>
              <a:rPr sz="2200" b="0">
                <a:solidFill>
                  <a:srgbClr val="FFFFFF"/>
                </a:solidFill>
                <a:latin typeface="Inter"/>
              </a:rPr>
              <a:t>: a model call</a:t>
            </a:r>
          </a:p>
          <a:p>
            <a:pPr marL="292608" indent="-292608">
              <a:lnSpc>
                <a:spcPct val="120000"/>
              </a:lnSpc>
              <a:spcAft>
                <a:spcPts val="1539"/>
              </a:spcAft>
              <a:buClr>
                <a:srgbClr val="00D4AA"/>
              </a:buClr>
              <a:buFont typeface="Inter"/>
              <a:buChar char="•"/>
            </a:pPr>
            <a:r>
              <a:rPr sz="2024" b="0">
                <a:solidFill>
                  <a:srgbClr val="00D4AA"/>
                </a:solidFill>
                <a:latin typeface="JetBrains Mono"/>
              </a:rPr>
              <a:t>create_score(...)</a:t>
            </a:r>
            <a:r>
              <a:rPr sz="2200" b="0">
                <a:solidFill>
                  <a:srgbClr val="FFFFFF"/>
                </a:solidFill>
                <a:latin typeface="Inter"/>
              </a:rPr>
              <a:t>: an eval result on a trace</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langfuse 4.16.0. Offline mode: mock LLM + mock judge.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Using a tutorial? Check its version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This course: </a:t>
            </a:r>
            <a:r>
              <a:rPr sz="2024" b="0">
                <a:solidFill>
                  <a:srgbClr val="00D4AA"/>
                </a:solidFill>
                <a:latin typeface="JetBrains Mono"/>
              </a:rPr>
              <a:t>langfuse</a:t>
            </a:r>
            <a:r>
              <a:rPr sz="2200" b="0">
                <a:solidFill>
                  <a:srgbClr val="FFFFFF"/>
                </a:solidFill>
                <a:latin typeface="Inter"/>
              </a:rPr>
              <a:t> 4.16</a:t>
            </a:r>
          </a:p>
          <a:p>
            <a:pPr marL="292608" indent="-292608">
              <a:lnSpc>
                <a:spcPct val="120000"/>
              </a:lnSpc>
              <a:spcAft>
                <a:spcPts val="1539"/>
              </a:spcAft>
              <a:buClr>
                <a:srgbClr val="00D4AA"/>
              </a:buClr>
              <a:buFont typeface="Inter"/>
              <a:buChar char="•"/>
            </a:pPr>
            <a:r>
              <a:rPr sz="2200" b="0">
                <a:solidFill>
                  <a:srgbClr val="FFFFFF"/>
                </a:solidFill>
                <a:latin typeface="Inter"/>
              </a:rPr>
              <a:t>Everything imports from the </a:t>
            </a:r>
            <a:r>
              <a:rPr sz="2024" b="0">
                <a:solidFill>
                  <a:srgbClr val="00D4AA"/>
                </a:solidFill>
                <a:latin typeface="JetBrains Mono"/>
              </a:rPr>
              <a:t>langfuse</a:t>
            </a:r>
            <a:r>
              <a:rPr sz="2200" b="0">
                <a:solidFill>
                  <a:srgbClr val="FFFFFF"/>
                </a:solidFill>
                <a:latin typeface="Inter"/>
              </a:rPr>
              <a:t> package</a:t>
            </a:r>
          </a:p>
          <a:p>
            <a:pPr marL="292608" indent="-292608">
              <a:lnSpc>
                <a:spcPct val="120000"/>
              </a:lnSpc>
              <a:spcAft>
                <a:spcPts val="1539"/>
              </a:spcAft>
              <a:buClr>
                <a:srgbClr val="00D4AA"/>
              </a:buClr>
              <a:buFont typeface="Inter"/>
              <a:buChar char="•"/>
            </a:pPr>
            <a:r>
              <a:rPr sz="2200" b="0">
                <a:solidFill>
                  <a:srgbClr val="FFFFFF"/>
                </a:solidFill>
                <a:latin typeface="Inter"/>
              </a:rPr>
              <a:t>Trace attributes: </a:t>
            </a:r>
            <a:r>
              <a:rPr sz="2024" b="0">
                <a:solidFill>
                  <a:srgbClr val="00D4AA"/>
                </a:solidFill>
                <a:latin typeface="JetBrains Mono"/>
              </a:rPr>
              <a:t>propagate_attributes</a:t>
            </a:r>
          </a:p>
          <a:p>
            <a:pPr marL="292608" indent="-292608">
              <a:lnSpc>
                <a:spcPct val="120000"/>
              </a:lnSpc>
              <a:spcAft>
                <a:spcPts val="1539"/>
              </a:spcAft>
              <a:buClr>
                <a:srgbClr val="00D4AA"/>
              </a:buClr>
              <a:buFont typeface="Inter"/>
              <a:buChar char="•"/>
            </a:pPr>
            <a:r>
              <a:rPr sz="2200" b="0">
                <a:solidFill>
                  <a:srgbClr val="FFFFFF"/>
                </a:solidFill>
                <a:latin typeface="Inter"/>
              </a:rPr>
              <a:t>An import error usually means a v2-era tutorial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392" b="0">
                <a:solidFill>
                  <a:srgbClr val="00D4AA"/>
                </a:solidFill>
                <a:latin typeface="JetBrains Mono"/>
              </a:rPr>
              <a:t>gpt-4.1-mini</a:t>
            </a:r>
            <a:r>
              <a:rPr sz="2600" b="1">
                <a:solidFill>
                  <a:srgbClr val="FFFFFF"/>
                </a:solidFill>
                <a:latin typeface="Inter"/>
              </a:rPr>
              <a:t> list prices (verify current pricing)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Input: $0.40 per million tokens</a:t>
            </a:r>
          </a:p>
          <a:p>
            <a:pPr marL="292608" indent="-292608">
              <a:lnSpc>
                <a:spcPct val="120000"/>
              </a:lnSpc>
              <a:spcAft>
                <a:spcPts val="1539"/>
              </a:spcAft>
              <a:buClr>
                <a:srgbClr val="00D4AA"/>
              </a:buClr>
              <a:buFont typeface="Inter"/>
              <a:buChar char="•"/>
            </a:pPr>
            <a:r>
              <a:rPr sz="2200" b="0">
                <a:solidFill>
                  <a:srgbClr val="FFFFFF"/>
                </a:solidFill>
                <a:latin typeface="Inter"/>
              </a:rPr>
              <a:t>Cached input: $0.10 per million tokens</a:t>
            </a:r>
          </a:p>
          <a:p>
            <a:pPr marL="292608" indent="-292608">
              <a:lnSpc>
                <a:spcPct val="120000"/>
              </a:lnSpc>
              <a:spcAft>
                <a:spcPts val="1539"/>
              </a:spcAft>
              <a:buClr>
                <a:srgbClr val="00D4AA"/>
              </a:buClr>
              <a:buFont typeface="Inter"/>
              <a:buChar char="•"/>
            </a:pPr>
            <a:r>
              <a:rPr sz="2200" b="0">
                <a:solidFill>
                  <a:srgbClr val="FFFFFF"/>
                </a:solidFill>
                <a:latin typeface="Inter"/>
              </a:rPr>
              <a:t>Output: $1.60 per million tokens</a:t>
            </a:r>
          </a:p>
          <a:p>
            <a:pPr marL="292608" indent="-292608">
              <a:lnSpc>
                <a:spcPct val="120000"/>
              </a:lnSpc>
              <a:spcAft>
                <a:spcPts val="1539"/>
              </a:spcAft>
              <a:buClr>
                <a:srgbClr val="00D4AA"/>
              </a:buClr>
              <a:buFont typeface="Inter"/>
              <a:buChar char="•"/>
            </a:pPr>
            <a:r>
              <a:rPr sz="2200" b="0">
                <a:solidFill>
                  <a:srgbClr val="FFFFFF"/>
                </a:solidFill>
                <a:latin typeface="Inter"/>
              </a:rPr>
              <a:t>Source: </a:t>
            </a:r>
            <a:r>
              <a:rPr sz="2024" b="0">
                <a:solidFill>
                  <a:srgbClr val="00D4AA"/>
                </a:solidFill>
                <a:latin typeface="JetBrains Mono"/>
              </a:rPr>
              <a:t>config/settings.py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@observe</a:t>
            </a:r>
            <a:r>
              <a:rPr sz="1800" b="1">
                <a:solidFill>
                  <a:srgbClr val="FFFFFF"/>
                </a:solidFill>
                <a:latin typeface="Inter"/>
              </a:rPr>
              <a:t> turns functions into typed spans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propagate_attributes</a:t>
            </a:r>
            <a:r>
              <a:rPr sz="1800" b="1">
                <a:solidFill>
                  <a:srgbClr val="FFFFFF"/>
                </a:solidFill>
                <a:latin typeface="Inter"/>
              </a:rPr>
              <a:t> adds user, session, version</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create_score</a:t>
            </a:r>
            <a:r>
              <a:rPr sz="1800" b="1">
                <a:solidFill>
                  <a:srgbClr val="FFFFFF"/>
                </a:solidFill>
                <a:latin typeface="Inter"/>
              </a:rPr>
              <a:t> puts eval results on traces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OpenTelemetry GenAI Conventions: The Enterprise Standard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Langfuse is one backend.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AGENT OBSERVABILITY &amp; TRACING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OpenTelemetry GenAI Conventions: The Enterprise Standard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what the OpenTelemetry GenAI semantic conventions standardize: span names and </a:t>
            </a:r>
            <a:r>
              <a:rPr sz="1472" b="0">
                <a:solidFill>
                  <a:srgbClr val="00D4AA"/>
                </a:solidFill>
                <a:latin typeface="JetBrains Mono"/>
              </a:rPr>
              <a:t>gen_ai.*</a:t>
            </a:r>
            <a:r>
              <a:rPr sz="1600" b="0">
                <a:solidFill>
                  <a:srgbClr val="CBD5E1"/>
                </a:solidFill>
                <a:latin typeface="Inter"/>
              </a:rPr>
              <a:t> attributes for agents, model calls and tool calls.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OpenTelemetry GenAI conventions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OpenTelemetry: the open standard for traces</a:t>
            </a:r>
          </a:p>
          <a:p>
            <a:pPr marL="292608" indent="-292608">
              <a:lnSpc>
                <a:spcPct val="120000"/>
              </a:lnSpc>
              <a:spcAft>
                <a:spcPts val="1539"/>
              </a:spcAft>
              <a:buClr>
                <a:srgbClr val="00D4AA"/>
              </a:buClr>
              <a:buFont typeface="Inter"/>
              <a:buChar char="•"/>
            </a:pPr>
            <a:r>
              <a:rPr sz="2200" b="0">
                <a:solidFill>
                  <a:srgbClr val="FFFFFF"/>
                </a:solidFill>
                <a:latin typeface="Inter"/>
              </a:rPr>
              <a:t>GenAI conventions: shared names for AI spans</a:t>
            </a:r>
          </a:p>
          <a:p>
            <a:pPr marL="292608" indent="-292608">
              <a:lnSpc>
                <a:spcPct val="120000"/>
              </a:lnSpc>
              <a:spcAft>
                <a:spcPts val="1539"/>
              </a:spcAft>
              <a:buClr>
                <a:srgbClr val="00D4AA"/>
              </a:buClr>
              <a:buFont typeface="Inter"/>
              <a:buChar char="•"/>
            </a:pPr>
            <a:r>
              <a:rPr sz="2200" b="0">
                <a:solidFill>
                  <a:srgbClr val="FFFFFF"/>
                </a:solidFill>
                <a:latin typeface="Inter"/>
              </a:rPr>
              <a:t>Agent, model call, tool call</a:t>
            </a:r>
          </a:p>
          <a:p>
            <a:pPr marL="292608" indent="-292608">
              <a:lnSpc>
                <a:spcPct val="120000"/>
              </a:lnSpc>
              <a:spcAft>
                <a:spcPts val="1539"/>
              </a:spcAft>
              <a:buClr>
                <a:srgbClr val="00D4AA"/>
              </a:buClr>
              <a:buFont typeface="Inter"/>
              <a:buChar char="•"/>
            </a:pPr>
            <a:r>
              <a:rPr sz="2200" b="0">
                <a:solidFill>
                  <a:srgbClr val="FFFFFF"/>
                </a:solidFill>
                <a:latin typeface="Inter"/>
              </a:rPr>
              <a:t>Status: still marked "incubating"</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opentelemetry-sdk 1.45.0 | opentelemetry-semantic-conventions 0.66b0. Offline mode: mock LLM.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span types, official names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invoke_agent {agent}</a:t>
            </a:r>
            <a:r>
              <a:rPr sz="2200" b="0">
                <a:solidFill>
                  <a:srgbClr val="FFFFFF"/>
                </a:solidFill>
                <a:latin typeface="Inter"/>
              </a:rPr>
              <a:t>: the whole agent run</a:t>
            </a:r>
          </a:p>
          <a:p>
            <a:pPr marL="292608" indent="-292608">
              <a:lnSpc>
                <a:spcPct val="120000"/>
              </a:lnSpc>
              <a:spcAft>
                <a:spcPts val="1539"/>
              </a:spcAft>
              <a:buClr>
                <a:srgbClr val="00D4AA"/>
              </a:buClr>
              <a:buFont typeface="Inter"/>
              <a:buChar char="•"/>
            </a:pPr>
            <a:r>
              <a:rPr sz="2024" b="0">
                <a:solidFill>
                  <a:srgbClr val="00D4AA"/>
                </a:solidFill>
                <a:latin typeface="JetBrains Mono"/>
              </a:rPr>
              <a:t>chat {model}</a:t>
            </a:r>
            <a:r>
              <a:rPr sz="2200" b="0">
                <a:solidFill>
                  <a:srgbClr val="FFFFFF"/>
                </a:solidFill>
                <a:latin typeface="Inter"/>
              </a:rPr>
              <a:t>: one model call</a:t>
            </a:r>
          </a:p>
          <a:p>
            <a:pPr marL="292608" indent="-292608">
              <a:lnSpc>
                <a:spcPct val="120000"/>
              </a:lnSpc>
              <a:spcAft>
                <a:spcPts val="1539"/>
              </a:spcAft>
              <a:buClr>
                <a:srgbClr val="00D4AA"/>
              </a:buClr>
              <a:buFont typeface="Inter"/>
              <a:buChar char="•"/>
            </a:pPr>
            <a:r>
              <a:rPr sz="2024" b="0">
                <a:solidFill>
                  <a:srgbClr val="00D4AA"/>
                </a:solidFill>
                <a:latin typeface="JetBrains Mono"/>
              </a:rPr>
              <a:t>execute_tool {tool}</a:t>
            </a:r>
            <a:r>
              <a:rPr sz="2200" b="0">
                <a:solidFill>
                  <a:srgbClr val="FFFFFF"/>
                </a:solidFill>
                <a:latin typeface="Inter"/>
              </a:rPr>
              <a:t>: one tool call</a:t>
            </a:r>
          </a:p>
          <a:p>
            <a:pPr marL="292608" indent="-292608">
              <a:lnSpc>
                <a:spcPct val="120000"/>
              </a:lnSpc>
              <a:spcAft>
                <a:spcPts val="1539"/>
              </a:spcAft>
              <a:buClr>
                <a:srgbClr val="00D4AA"/>
              </a:buClr>
              <a:buFont typeface="Inter"/>
              <a:buChar char="•"/>
            </a:pPr>
            <a:r>
              <a:rPr sz="2200" b="0">
                <a:solidFill>
                  <a:srgbClr val="FFFFFF"/>
                </a:solidFill>
                <a:latin typeface="Inter"/>
              </a:rPr>
              <a:t>Attributes: </a:t>
            </a:r>
            <a:r>
              <a:rPr sz="2024" b="0">
                <a:solidFill>
                  <a:srgbClr val="00D4AA"/>
                </a:solidFill>
                <a:latin typeface="JetBrains Mono"/>
              </a:rPr>
              <a:t>gen_ai.operation.name</a:t>
            </a:r>
            <a:r>
              <a:rPr sz="2200" b="0">
                <a:solidFill>
                  <a:srgbClr val="FFFFFF"/>
                </a:solidFill>
                <a:latin typeface="Inter"/>
              </a:rPr>
              <a:t>, </a:t>
            </a:r>
            <a:r>
              <a:rPr sz="2024" b="0">
                <a:solidFill>
                  <a:srgbClr val="00D4AA"/>
                </a:solidFill>
                <a:latin typeface="JetBrains Mono"/>
              </a:rPr>
              <a:t>gen_ai.request.model</a:t>
            </a:r>
            <a:r>
              <a:rPr sz="2200" b="0">
                <a:solidFill>
                  <a:srgbClr val="FFFFFF"/>
                </a:solidFill>
                <a:latin typeface="Inter"/>
              </a:rPr>
              <a:t>, </a:t>
            </a:r>
            <a:r>
              <a:rPr sz="2024" b="0">
                <a:solidFill>
                  <a:srgbClr val="00D4AA"/>
                </a:solidFill>
                <a:latin typeface="JetBrains Mono"/>
              </a:rPr>
              <a:t>gen_ai.usage.input_tokens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a:t>
            </a:r>
            <a:r>
              <a:rPr sz="1656" b="0">
                <a:solidFill>
                  <a:srgbClr val="00D4AA"/>
                </a:solidFill>
                <a:latin typeface="JetBrains Mono"/>
              </a:rPr>
              <a:t>gen_ai</a:t>
            </a:r>
            <a:r>
              <a:rPr sz="1800" b="1">
                <a:solidFill>
                  <a:srgbClr val="FFFFFF"/>
                </a:solidFill>
                <a:latin typeface="Inter"/>
              </a:rPr>
              <a:t> span format, any backend</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Use the official semantic-conventions constants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telemetry; read tokens to find cost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Find a failing step from one trace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Trace agents in Langfuse v4 with scores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Emit vendor-neutral </a:t>
            </a:r>
            <a:r>
              <a:rPr sz="1656" b="0">
                <a:solidFill>
                  <a:srgbClr val="00D4AA"/>
                </a:solidFill>
                <a:latin typeface="JetBrains Mono"/>
              </a:rPr>
              <a:t>gen_ai</a:t>
            </a:r>
            <a:r>
              <a:rPr sz="1800" b="1">
                <a:solidFill>
                  <a:srgbClr val="FFFFFF"/>
                </a:solidFill>
                <a:latin typeface="Inter"/>
              </a:rPr>
              <a:t> spans with OpenTelemetry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09 · Lecture 9.3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Latency, Token Cost &amp; Throughput Benchmarking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 can now see where every token and every second goes.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