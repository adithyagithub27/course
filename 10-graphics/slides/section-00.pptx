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Your AI Agent Just Failed in Production — Now What?.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course, you'll catch failures like this before a single customer sees them. Let me show you the one we just described, running for real.</a:t>
            </a:r>
          </a:p>
          <a:p/>
          <a:p>
            <a:r>
              <a:t>[SCREEN: Terminal in `agent-eval-framework`. Run the 0.1 demo. Let the version banner sit for a beat, then zoom on the deleted line.]</a:t>
            </a:r>
          </a:p>
          <a:p/>
          <a:p>
            <a:r>
              <a:t>[DEMO: Output (banner trimmed)]</a:t>
            </a:r>
          </a:p>
          <a:p/>
          <a:p>
            <a:r>
              <a:t>This is the TechCorp support agent you'll test all course. Before the edit, it searched the knowledge base and quoted the policy. Faithfulness: one point zero. After the edit, look at the tools list. Empty. It answered from memory, and every number is wrong. Faithfulness: zero. One metric, one line of output, and that deploy is blocked.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nobody notice? Because the agent didn't crash. It answered fluently. A status-code check passes. A latency check passes. Only a check that compares the answer with the real policy fails. Now picture this at scale. Here's an illustrative scenario from the course materials: a support agent tells two hundred thirty customers their overdraft fees were waived, and the company honors forty-seven thousand dollars of mistakes. The root cause is the same: a prompt change, and no evaluation suite to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will you build? Four systems. First, an evaluation suite that scores your agent on correctness, faithfulness, relevance, safety and reliability. One command, numbers instead of opinions.</a:t>
            </a:r>
          </a:p>
          <a:p/>
          <a:p>
            <a:r>
              <a:t>[B-ROLL: Quick cuts, two seconds each: the Project 1 report table, a promptfoo red-team results grid, the Streamlit quality dashboard, a...]</a:t>
            </a:r>
          </a:p>
          <a:p/>
          <a:p>
            <a:r>
              <a:t>Second, a red-team report. You'll attack your own agents with prompt injections and jailbreaks, and find the holes first. Third, a monitoring dashboard, so drift shows up on a chart, not in a complaint three days later. Fourth, a CI quality gate. Every pull request runs your evals, and if quality drops, the merge is blocked. All four in Python, all yours to reuse at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 it in. Agents fail silently; the logs stayed clean while the refund policy changed. One faithfulness check caught it before deploy. And over this course, you'll build the four systems that make that check routine.</a:t>
            </a:r>
          </a:p>
          <a:p/>
          <a:p>
            <a:r>
              <a:t>Next, you'll see the full roadmap and get the course repo running on your machine. Two commands, about two hundred tests, and no API key required. Let's 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Course Roadmap &amp; Environment Setup.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exact versions I recorded with, pinned in the repo's lock file. If your screen ever looks different from mine, check this list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are you headed? Sixteen modules in five stages. Foundations first: what agents are, and why testing them is different. Then evaluation: metrics, RAG, tool calling and multi-agent systems. Then security and red teaming. Then operations: tracing, performance, regression, CI/CD and monitoring. And a capstone that ties it all into one quality platform. Along the way you'll finish four projects plus that capstone. Every one tests a real agent in the same repo.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need Python three eleven or newer, and `uv`. That's it to start. Do you need an OpenAI key? No, it's optional. Without one, the repo runs in offline mode, and offline mode costs nothing. Live runs cost a few cents each; check the current pricing before you run a big suite. Node twenty only matters in Module 8, for promptfoo.</a:t>
            </a:r>
          </a:p>
          <a:p/>
          <a:p>
            <a:r>
              <a:t>[SCREEN: Terminal, dark theme, large font. Open the `agent-eval-framework` folder from the course resources. Run the install.]</a:t>
            </a:r>
          </a:p>
          <a:p/>
          <a:p>
            <a:r>
              <a:t>[DEMO: Output (tail)]</a:t>
            </a:r>
          </a:p>
          <a:p/>
          <a:p>
            <a:r>
              <a:t>`make install` runs `uv sync` with the lock file, so you get exactly the packages I tested. On a fresh machine you'll see the install progress instead of "audited", and it takes about a minute. It also copies the example settings file to `.env`. Now the moment of truth.</a:t>
            </a:r>
          </a:p>
          <a:p/>
          <a:p>
            <a:r>
              <a:t>[SCREEN: Same terminal. Run the test suite.]</a:t>
            </a:r>
          </a:p>
          <a:p/>
          <a:p>
            <a:r>
              <a:t>[DEMO: Output (last lines)]</a:t>
            </a:r>
          </a:p>
          <a:p/>
          <a:p>
            <a:r>
              <a:t>Two hundred four passed, five skipped. The five skipped tests are the live ones. They wait for a real key. Everything else ran against a deterministic stand-in model and a stand-in judge. So, why does that matter? Because you get the same numbers I do, every time.</a:t>
            </a:r>
          </a:p>
          <a:p/>
          <a:p>
            <a:r>
              <a:t>[SCREEN: VS Code, `.env`. Highlight `OPENAI_API_KEY=` (empty), `OFFLINE=`, `OPENAI_MODEL=gpt-4.1-mini`, `OPENAI_JUDGE_MODEL=gpt-4.1`.]</a:t>
            </a:r>
          </a:p>
          <a:p/>
          <a:p>
            <a:r>
              <a:t>Here's the settings file. The key is empty, and that's fine. `OFFLINE` one forces offline mode, zero forces live. The agent model is `gpt-4.1-mini`, and the judge is `gpt-4.1`. When you add a key later, it goes here, never in code, and `.env` is already ignored by git.</a:t>
            </a:r>
          </a:p>
          <a:p/>
          <a:p>
            <a:r>
              <a:t>[SCREEN: Terminal. Run the setup check.]</a:t>
            </a:r>
          </a:p>
          <a:p/>
          <a:p>
            <a:r>
              <a:t>[DEMO: Output (banner trimmed)]</a:t>
            </a:r>
          </a:p>
          <a:p/>
          <a:p>
            <a:r>
              <a:t>What does the setup check actually check? Nine packages, two optional keys, and then it does real work. It asks the support agent a question, two LLM calls and one knowledge-base search, and scores the answer with a DeepEval metric. Relevancy: one point zero. Then the smallest eval in the course.</a:t>
            </a:r>
          </a:p>
          <a:p/>
          <a:p>
            <a:r>
              <a:t>[SCREEN: Terminal.]</a:t>
            </a:r>
          </a:p>
          <a:p/>
          <a:p>
            <a:r>
              <a:t>[DEMO: Output (banner trimmed)]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tour. Where does everything live? Agents holds the five agents you'll test, starting with TechCorp support. You don't build them; you test them. Config holds models, prices and every quality threshold. Datasets holds your golden test cases. Evaluators is where metrics live. Security, observability, performance, regression and monitoring each light up in their own module. Demos has one file per lecture, sixty-one of them. And tests is organized in five layers you'll meet in Lecture 2.3.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Two commands give you a locked environment and two hundred four passing tests. Offline mode means no key and no cost, with the same numbers I get. And the whole course runs in one repo, around one agent.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explain how a silent agent failure gets caught, and your environment is ready. Next, Module 1 starts with the three things about large language models every tester needs: tokens, context windows and temperature. Just enough to see why agents are hard to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0 · WELCOME &amp; COURSE OVERVIEW</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0.1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Your AI Agent Just Failed in Production — Now What?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Describe how a one-line prompt change can make a support agent invent policy without any error in the logs.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AI Agent Just Failed in Production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Agents fail politely: no error, wrong answer</a:t>
            </a:r>
          </a:p>
          <a:p>
            <a:pPr marL="292608" indent="-292608">
              <a:lnSpc>
                <a:spcPct val="120000"/>
              </a:lnSpc>
              <a:spcAft>
                <a:spcPts val="1539"/>
              </a:spcAft>
              <a:buClr>
                <a:srgbClr val="00D4AA"/>
              </a:buClr>
              <a:buFont typeface="Inter"/>
              <a:buChar char="•"/>
            </a:pPr>
            <a:r>
              <a:rPr sz="2200" b="0">
                <a:solidFill>
                  <a:srgbClr val="FFFFFF"/>
                </a:solidFill>
                <a:latin typeface="Inter"/>
              </a:rPr>
              <a:t>This course: catch it before your users 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00 · Lecture 0.1 · Why nobody noticed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you'll build in this course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An evaluation suite scored on five quality dimensions</a:t>
            </a:r>
          </a:p>
          <a:p>
            <a:pPr marL="292608" indent="-292608">
              <a:lnSpc>
                <a:spcPct val="120000"/>
              </a:lnSpc>
              <a:spcAft>
                <a:spcPts val="1539"/>
              </a:spcAft>
              <a:buClr>
                <a:srgbClr val="00D4AA"/>
              </a:buClr>
              <a:buFont typeface="Inter"/>
              <a:buChar char="•"/>
            </a:pPr>
            <a:r>
              <a:rPr sz="2200" b="0">
                <a:solidFill>
                  <a:srgbClr val="FFFFFF"/>
                </a:solidFill>
                <a:latin typeface="Inter"/>
              </a:rPr>
              <a:t>A red-team report from real attacks on your agent</a:t>
            </a:r>
          </a:p>
          <a:p>
            <a:pPr marL="292608" indent="-292608">
              <a:lnSpc>
                <a:spcPct val="120000"/>
              </a:lnSpc>
              <a:spcAft>
                <a:spcPts val="1539"/>
              </a:spcAft>
              <a:buClr>
                <a:srgbClr val="00D4AA"/>
              </a:buClr>
              <a:buFont typeface="Inter"/>
              <a:buChar char="•"/>
            </a:pPr>
            <a:r>
              <a:rPr sz="2200" b="0">
                <a:solidFill>
                  <a:srgbClr val="FFFFFF"/>
                </a:solidFill>
                <a:latin typeface="Inter"/>
              </a:rPr>
              <a:t>A monitoring dashboard for quality drift in production</a:t>
            </a:r>
          </a:p>
          <a:p>
            <a:pPr marL="292608" indent="-292608">
              <a:lnSpc>
                <a:spcPct val="120000"/>
              </a:lnSpc>
              <a:spcAft>
                <a:spcPts val="1539"/>
              </a:spcAft>
              <a:buClr>
                <a:srgbClr val="00D4AA"/>
              </a:buClr>
              <a:buFont typeface="Inter"/>
              <a:buChar char="•"/>
            </a:pPr>
            <a:r>
              <a:rPr sz="2200" b="0">
                <a:solidFill>
                  <a:srgbClr val="FFFFFF"/>
                </a:solidFill>
                <a:latin typeface="Inter"/>
              </a:rPr>
              <a:t>A CI quality gate that blocks bad merges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Agents fail silently: clean logs, wrong answers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evaluation metric caught the bad deploy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You'll build four quality systems from scratch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Course Roadmap &amp; Environment Setup</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0.2 — Course Roadmap &amp; Environment Setup.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0 · WELCOME &amp; COURSE OVERVIEW</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0.2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Course Roadmap &amp; Environment Setup</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Install the locked environment with </a:t>
            </a:r>
            <a:r>
              <a:rPr sz="1472" b="0">
                <a:solidFill>
                  <a:srgbClr val="00D4AA"/>
                </a:solidFill>
                <a:latin typeface="JetBrains Mono"/>
              </a:rPr>
              <a:t>make install</a:t>
            </a:r>
            <a:r>
              <a:rPr sz="1600" b="0">
                <a:solidFill>
                  <a:srgbClr val="CBD5E1"/>
                </a:solidFill>
                <a:latin typeface="Inter"/>
              </a:rPr>
              <a:t> and run the offline suite with </a:t>
            </a:r>
            <a:r>
              <a:rPr sz="1472" b="0">
                <a:solidFill>
                  <a:srgbClr val="00D4AA"/>
                </a:solidFill>
                <a:latin typeface="JetBrains Mono"/>
              </a:rPr>
              <a:t>make test</a:t>
            </a:r>
            <a:r>
              <a:rPr sz="1600" b="0">
                <a:solidFill>
                  <a:srgbClr val="CBD5E1"/>
                </a:solidFill>
                <a:latin typeface="Inter"/>
              </a:rPr>
              <a:t> (204 passed, 5 skipped).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Course Roadmap &amp; Environment Setup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Install the locked environment with two commands</a:t>
            </a:r>
          </a:p>
          <a:p>
            <a:pPr marL="292608" indent="-292608">
              <a:lnSpc>
                <a:spcPct val="120000"/>
              </a:lnSpc>
              <a:spcAft>
                <a:spcPts val="1539"/>
              </a:spcAft>
              <a:buClr>
                <a:srgbClr val="00D4AA"/>
              </a:buClr>
              <a:buFont typeface="Inter"/>
              <a:buChar char="•"/>
            </a:pPr>
            <a:r>
              <a:rPr sz="2200" b="0">
                <a:solidFill>
                  <a:srgbClr val="FFFFFF"/>
                </a:solidFill>
                <a:latin typeface="Inter"/>
              </a:rPr>
              <a:t>Know when you need an API key</a:t>
            </a:r>
          </a:p>
          <a:p>
            <a:pPr marL="292608" indent="-292608">
              <a:lnSpc>
                <a:spcPct val="120000"/>
              </a:lnSpc>
              <a:spcAft>
                <a:spcPts val="1539"/>
              </a:spcAft>
              <a:buClr>
                <a:srgbClr val="00D4AA"/>
              </a:buClr>
              <a:buFont typeface="Inter"/>
              <a:buChar char="•"/>
            </a:pPr>
            <a:r>
              <a:rPr sz="2200" b="0">
                <a:solidFill>
                  <a:srgbClr val="FFFFFF"/>
                </a:solidFill>
                <a:latin typeface="Inter"/>
              </a:rPr>
              <a:t>Find your way around the roadmap and repo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course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024" b="0">
                <a:solidFill>
                  <a:srgbClr val="00D4AA"/>
                </a:solidFill>
                <a:latin typeface="JetBrains Mono"/>
              </a:rPr>
              <a:t>ragas 0.4.3</a:t>
            </a:r>
            <a:r>
              <a:rPr sz="2200" b="0">
                <a:solidFill>
                  <a:srgbClr val="FFFFFF"/>
                </a:solidFill>
                <a:latin typeface="Inter"/>
              </a:rPr>
              <a:t>, </a:t>
            </a:r>
            <a:r>
              <a:rPr sz="2024" b="0">
                <a:solidFill>
                  <a:srgbClr val="00D4AA"/>
                </a:solidFill>
                <a:latin typeface="JetBrains Mono"/>
              </a:rPr>
              <a:t>langfuse 4.16.0</a:t>
            </a:r>
            <a:r>
              <a:rPr sz="2200" b="0">
                <a:solidFill>
                  <a:srgbClr val="FFFFFF"/>
                </a:solidFill>
                <a:latin typeface="Inter"/>
              </a:rPr>
              <a:t>, </a:t>
            </a:r>
            <a:r>
              <a:rPr sz="2024" b="0">
                <a:solidFill>
                  <a:srgbClr val="00D4AA"/>
                </a:solidFill>
                <a:latin typeface="JetBrains Mono"/>
              </a:rPr>
              <a:t>mcp 2.2.0</a:t>
            </a:r>
          </a:p>
          <a:p>
            <a:pPr marL="292608" indent="-292608">
              <a:lnSpc>
                <a:spcPct val="120000"/>
              </a:lnSpc>
              <a:spcAft>
                <a:spcPts val="1539"/>
              </a:spcAft>
              <a:buClr>
                <a:srgbClr val="00D4AA"/>
              </a:buClr>
              <a:buFont typeface="Inter"/>
              <a:buChar char="•"/>
            </a:pPr>
            <a:r>
              <a:rPr sz="2200" b="0">
                <a:solidFill>
                  <a:srgbClr val="FFFFFF"/>
                </a:solidFill>
                <a:latin typeface="Inter"/>
              </a:rPr>
              <a:t>Agent </a:t>
            </a:r>
            <a:r>
              <a:rPr sz="2024" b="0">
                <a:solidFill>
                  <a:srgbClr val="00D4AA"/>
                </a:solidFill>
                <a:latin typeface="JetBrains Mono"/>
              </a:rPr>
              <a:t>gpt-4.1-mini</a:t>
            </a:r>
            <a:r>
              <a:rPr sz="2200" b="0">
                <a:solidFill>
                  <a:srgbClr val="FFFFFF"/>
                </a:solidFill>
                <a:latin typeface="Inter"/>
              </a:rPr>
              <a:t>, judge </a:t>
            </a:r>
            <a:r>
              <a:rPr sz="2024" b="0">
                <a:solidFill>
                  <a:srgbClr val="00D4AA"/>
                </a:solidFill>
                <a:latin typeface="JetBrains Mono"/>
              </a:rPr>
              <a:t>gpt-4.1</a:t>
            </a:r>
          </a:p>
          <a:p>
            <a:pPr marL="292608" indent="-292608">
              <a:lnSpc>
                <a:spcPct val="120000"/>
              </a:lnSpc>
              <a:spcAft>
                <a:spcPts val="1539"/>
              </a:spcAft>
              <a:buClr>
                <a:srgbClr val="00D4AA"/>
              </a:buClr>
              <a:buFont typeface="Inter"/>
              <a:buChar char="•"/>
            </a:pPr>
            <a:r>
              <a:rPr sz="2200" b="0">
                <a:solidFill>
                  <a:srgbClr val="FFFFFF"/>
                </a:solidFill>
                <a:latin typeface="Inter"/>
              </a:rPr>
              <a:t>Python 3.11 or newer; Node 20+ in Module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6-capstone-architectur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00 · Lecture 0.2 · Sixteen modules, five stages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need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Python 3.11 or newer</a:t>
            </a:r>
          </a:p>
          <a:p>
            <a:pPr marL="292608" indent="-292608">
              <a:lnSpc>
                <a:spcPct val="120000"/>
              </a:lnSpc>
              <a:spcAft>
                <a:spcPts val="1539"/>
              </a:spcAft>
              <a:buClr>
                <a:srgbClr val="00D4AA"/>
              </a:buClr>
              <a:buFont typeface="Inter"/>
              <a:buChar char="•"/>
            </a:pPr>
            <a:r>
              <a:rPr sz="2024" b="0">
                <a:solidFill>
                  <a:srgbClr val="00D4AA"/>
                </a:solidFill>
                <a:latin typeface="JetBrains Mono"/>
              </a:rPr>
              <a:t>uv</a:t>
            </a:r>
            <a:r>
              <a:rPr sz="2200" b="0">
                <a:solidFill>
                  <a:srgbClr val="FFFFFF"/>
                </a:solidFill>
                <a:latin typeface="Inter"/>
              </a:rPr>
              <a:t>, the Python package manager</a:t>
            </a:r>
          </a:p>
          <a:p>
            <a:pPr marL="292608" indent="-292608">
              <a:lnSpc>
                <a:spcPct val="120000"/>
              </a:lnSpc>
              <a:spcAft>
                <a:spcPts val="1539"/>
              </a:spcAft>
              <a:buClr>
                <a:srgbClr val="00D4AA"/>
              </a:buClr>
              <a:buFont typeface="Inter"/>
              <a:buChar char="•"/>
            </a:pPr>
            <a:r>
              <a:rPr sz="2200" b="0">
                <a:solidFill>
                  <a:srgbClr val="FFFFFF"/>
                </a:solidFill>
                <a:latin typeface="Inter"/>
              </a:rPr>
              <a:t>An OpenAI key: optional, for live runs only</a:t>
            </a:r>
          </a:p>
          <a:p>
            <a:pPr marL="292608" indent="-292608">
              <a:lnSpc>
                <a:spcPct val="120000"/>
              </a:lnSpc>
              <a:spcAft>
                <a:spcPts val="1539"/>
              </a:spcAft>
              <a:buClr>
                <a:srgbClr val="00D4AA"/>
              </a:buClr>
              <a:buFont typeface="Inter"/>
              <a:buChar char="•"/>
            </a:pPr>
            <a:r>
              <a:rPr sz="2200" b="0">
                <a:solidFill>
                  <a:srgbClr val="FFFFFF"/>
                </a:solidFill>
                <a:latin typeface="Inter"/>
              </a:rPr>
              <a:t>Node 20 or newer, only from Module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repo you'll work in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text</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400">
                <a:solidFill>
                  <a:srgbClr val="FFFFFF"/>
                </a:solidFill>
                <a:latin typeface="JetBrains Mono"/>
              </a:rPr>
              <a:t>agents/       support_agent.py (TechCorp, 5 tools) + 4 more agents</a:t>
            </a:r>
          </a:p>
          <a:p>
            <a:r>
              <a:rPr sz="1400">
                <a:solidFill>
                  <a:srgbClr val="FFFFFF"/>
                </a:solidFill>
                <a:latin typeface="JetBrains Mono"/>
              </a:rPr>
              <a:t>config/       models, prices, thresholds (eval_config.yaml)</a:t>
            </a:r>
          </a:p>
          <a:p>
            <a:r>
              <a:rPr sz="1400">
                <a:solidFill>
                  <a:srgbClr val="FFFFFF"/>
                </a:solidFill>
                <a:latin typeface="JetBrains Mono"/>
              </a:rPr>
              <a:t>datasets/     golden_support.json (10 cases) and friends</a:t>
            </a:r>
          </a:p>
          <a:p>
            <a:r>
              <a:rPr sz="1400">
                <a:solidFill>
                  <a:srgbClr val="FFFFFF"/>
                </a:solidFill>
                <a:latin typeface="JetBrains Mono"/>
              </a:rPr>
              <a:t>evaluators/   DeepEval metrics, judge, RAGAS, tool checks</a:t>
            </a:r>
          </a:p>
          <a:p>
            <a:r>
              <a:rPr sz="1400">
                <a:solidFill>
                  <a:srgbClr val="FFFFFF"/>
                </a:solidFill>
                <a:latin typeface="JetBrains Mono"/>
              </a:rPr>
              <a:t>security/     promptfoo, Garak, PyRIT, PII scanner</a:t>
            </a:r>
          </a:p>
          <a:p>
            <a:r>
              <a:rPr sz="1400">
                <a:solidFill>
                  <a:srgbClr val="FFFFFF"/>
                </a:solidFill>
                <a:latin typeface="JetBrains Mono"/>
              </a:rPr>
              <a:t>observability/ performance/ regression/ monitoring/ reports/</a:t>
            </a:r>
          </a:p>
          <a:p>
            <a:r>
              <a:rPr sz="1400">
                <a:solidFill>
                  <a:srgbClr val="FFFFFF"/>
                </a:solidFill>
                <a:latin typeface="JetBrains Mono"/>
              </a:rPr>
              <a:t>demos/        61 lecture demos (mXX_*.py)</a:t>
            </a:r>
          </a:p>
          <a:p>
            <a:r>
              <a:rPr sz="1400">
                <a:solidFill>
                  <a:srgbClr val="FFFFFF"/>
                </a:solidFill>
                <a:latin typeface="JetBrains Mono"/>
              </a:rPr>
              <a:t>tests/        unit/ component/ trajectory/ e2e/ production/ live/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make install</a:t>
            </a:r>
            <a:r>
              <a:rPr sz="1800" b="1">
                <a:solidFill>
                  <a:srgbClr val="FFFFFF"/>
                </a:solidFill>
                <a:latin typeface="Inter"/>
              </a:rPr>
              <a:t>, then </a:t>
            </a:r>
            <a:r>
              <a:rPr sz="1656" b="0">
                <a:solidFill>
                  <a:srgbClr val="00D4AA"/>
                </a:solidFill>
                <a:latin typeface="JetBrains Mono"/>
              </a:rPr>
              <a:t>make test</a:t>
            </a:r>
            <a:r>
              <a:rPr sz="1800" b="1">
                <a:solidFill>
                  <a:srgbClr val="FFFFFF"/>
                </a:solidFill>
                <a:latin typeface="Inter"/>
              </a:rPr>
              <a:t>: 204 passed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Offline mode: no key, same numbers as mine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Sixteen modules, one repo, one running agent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Explain how a silent agent failure gets caught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Install and verify the course environment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any lecture demo offline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00 · Lecture 0.2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LLMs in 10 Minutes: Tokens, Context, Temperature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1.1 — LLMs in 10 Minutes: Tokens, Context, Temperature.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