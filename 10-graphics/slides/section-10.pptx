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Latency, Token Cost &amp; Throughput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agent answers most questions in under two seconds. Then one customer asks to cancel and get a refund, and they wait four and a half. Same agent. Same day. If you only measured the average, you'd never see that customer. So how slow is your agent, really? And what does each answer cost?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run a twenty-query benchmark on the TechCorp support agent. You'll read its latency distribution, see which step spends the money, and turn it all into two numbers your manager actually wants: tasks per minute and dollars per thousand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five quality dimensions from Module 2? Latency and cost aren't a sixth dimension. They live under Reliability. And they already have thresholds in `config/eval_config.yaml`: p95 latency at or under ten seconds, and at most one cent per task, verify current pricing. In Module 9 you traced a single request. Now you measure hundreds, because one trace is an anecdote and a benchmark is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numbers. Latency answers "how long does the user wait?" Token cost answers "what does each answer cost?" And throughput answers "how much traffic can one worker handle?" Each one needs a different measurement, so let's take them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averages lie. Most of our twenty tasks finish between one and two seconds. Three take longer. The average hides those three, but those three are the customers who complain.</a:t>
            </a:r>
          </a:p>
          <a:p/>
          <a:p>
            <a:r>
              <a:t>So you report percentiles. The p50, the median, is the typical user. The p95 is the unlucky one in twenty. And the max is your worst case. When your p95 is double your p50, you have a long tail, and the next question is always: which tasks live in the tail?</a:t>
            </a:r>
          </a:p>
          <a:p/>
          <a:p>
            <a:r>
              <a:t>If you stream responses, also measure time to first token, because that's when the user sees something happen. Our support agent doesn't stream, so we measure end to 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agents, latency has a simple driver. Every trip around the loop is another LLM call. A pricing question takes two calls: search the knowledge base, then answer. A cancel-and-refund request takes four calls and three tools. So the slowest task is usually the longest trajectory, not a slow network. What does that tell you about where to optimise first?</a:t>
            </a:r>
          </a:p>
          <a:p/>
          <a:p>
            <a:r>
              <a:t>[CODE: `performance/benchmark.py`, the `UsageMeter.create` method. Highlight the two `clock.now()` calls and the `step` line.]</a:t>
            </a:r>
          </a:p>
          <a:p/>
          <a:p>
            <a:r>
              <a:t>Here's the measuring tool. `UsageMeter` wraps the OpenAI client and records every call: the model, input tokens, output tokens, latency, and the step. If the model asked for a tool, it's a tool-call step. Otherwise it's the answer step. You pass it into the agent with `client=meter`, and the agent never knows it's being watched.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is arithmetic on those token counts. Input and output tokens have different prices. For gpt-4.1-mini, forty cents per million input tokens and a dollar sixty per million output tokens. Verify current pricing before you quote it. Add up the calls in a task, and you have cost per task. Multiply by a thousand, and you have a number finance can put in a spreadsheet.</a:t>
            </a:r>
          </a:p>
          <a:p/>
          <a:p>
            <a:r>
              <a:t>[SCREEN: Terminal in `04-code-examples/agent-eval-framework`. Type the command.]</a:t>
            </a:r>
          </a:p>
          <a:p/>
          <a:p>
            <a:r>
              <a:t>[DEMO: Output after the banner (offline, simulated latency)]</a:t>
            </a:r>
          </a:p>
          <a:p/>
          <a:p>
            <a:r>
              <a:t>Twenty queries: pricing, refunds, account lookups, an escalation, two attacks and one off-topic question. Read it top to bottom. The p50 is one point seven five seconds. The p95 is three point three four. So the unlucky one in twenty waits almost twice as long as the typical user.</a:t>
            </a:r>
          </a:p>
          <a:p/>
          <a:p>
            <a:r>
              <a:t>Average cost is about eight hundredths of a cent per task. That's eighty-one cents per thousand tasks on gpt-4.1-mini, verify current pricing.</a:t>
            </a:r>
          </a:p>
          <a:p/>
          <a:p>
            <a:r>
              <a:t>[SCREEN: Same output. Zoom on the histogram, then on the "Slowest task" line.]</a:t>
            </a:r>
          </a:p>
          <a:p/>
          <a:p>
            <a:r>
              <a:t>The histogram tells the story. Fifteen of twenty tasks finish in one to two seconds. Three stragglers sit above two seconds. And the slowest task is exactly what we predicted: cancel and refund, four LLM calls, three tools. Nobody needs to guess where the tail comes from.</a:t>
            </a:r>
          </a:p>
          <a:p/>
          <a:p>
            <a:r>
              <a:t>[SCREEN: Same output. Zoom on "Cost by step" and "Throughput".]</a:t>
            </a:r>
          </a:p>
          <a:p/>
          <a:p>
            <a:r>
              <a:t>Now cost by step. Tool-call steps cost seventy-nine ten-thousandths of a dollar in total. Answer steps cost eighty-three. Roughly half and half. So the money isn't hiding in one step. In Lecture 10.3, you'll find where it really goes.</a:t>
            </a:r>
          </a:p>
          <a:p/>
          <a:p>
            <a:r>
              <a:t>And throughput: thirty-two point four tasks per minute for one worker running sequentially. That's just sixty seconds divided by the average task time, so it moves whenever latency moves. Need a thousand tasks an hour? That's about seventeen a minute, so one worker covers it on paper. In production, rate limits usually decide before your code does.</a:t>
            </a:r>
          </a:p>
          <a:p/>
          <a:p>
            <a:r>
              <a:t>One honest note about these numbers. Offline, latency comes from a simulated clock, so it's repeatable but it's not a real API latency. Run the same command with your API key, and you'll get real times and real costs. Run it three times, too, because live latency varies from run to run, and one run is a sample, not a measurement. The shape usually holds: long trajectories form the tail. Which of your own agent's tasks do you think would land there?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keep. Latency is a distribution, so report p50, p95 and max. Meter every LLM call so cost and latency have an address. And translate it all into cost per thousand tasks, because that's the number that gets budgets approved.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Reliability: Failure Rate, Retry, Timeout &amp; Loop Detection.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two in the morning, your CRM times out. Your agent tries to look up a customer, gets an error, and... what? Does it retry? Does it hang forever? Does it tell the customer something made up? You don't know, because you've never tested it. Let's fix that.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build four reliability checks today. Failure rate and consistency, retries, timeouts, and loop detection. All four live in one small file, `performance/reliability.py`, and all four have thresholds waiting for them in `eval_config.yaml`.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targets. At least seventy percent of inputs should follow the same tool sequence every time. At most one run in ten may fail. No task may use more than six LLM calls. And the agent itself stops after five iterations and hands over to a human. Why run the same input more than once? Because a non-deterministic agent can pass on Monday and fail on Tuesday with the exact same question.</a:t>
            </a:r>
          </a:p>
          <a:p/>
          <a:p>
            <a:r>
              <a:t>[CODE: `performance/reliability.py`, the signature and loop of `measure_reliability`. Highlight `runs: int = 5` and the line that builds...]</a:t>
            </a:r>
          </a:p>
          <a:p/>
          <a:p>
            <a:r>
              <a:t>Check one: failure rate and consistency. `measure_reliability` runs each input five times. An exception or an empty response counts as a failure. It also records the sequence of tools the agent called. If every run of an input used the same tools in the same order, that input counts as consistent.</a:t>
            </a:r>
          </a:p>
          <a:p/>
          <a:p>
            <a:r>
              <a:t>[CODE: `performance/reliability.py`, `with_retry` and `call_with_timeout`.]</a:t>
            </a:r>
          </a:p>
          <a:p/>
          <a:p>
            <a:r>
              <a:t>Checks two and three. `with_retry` calls a function up to three times, with optional exponential backoff, and tells you how many retries it used. `call_with_timeout` runs the call in a worker thread and raises a clean `TimeoutError` if it takes too long. A clean error is the point. You never want a timeout to look like a tool result the agent might act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trap. `with_retry` retries the whole agent run. That repeats every LLM call, so it costs money. Worse, imagine the agent already created a ticket, and then a later step fails. The retry runs everything again. Now the customer has two tickets. So retry read-only work freely, like `lookup_customer`. For write tools like `create_ticket` and `send_email`, make them idempotent first, or retry the single tool call instead of the whole agent.</a:t>
            </a:r>
          </a:p>
          <a:p/>
          <a:p>
            <a:r>
              <a:t>[CODE: `performance/reliability.py`, `LoopDetector.record`.]</a:t>
            </a:r>
          </a:p>
          <a:p/>
          <a:p>
            <a:r>
              <a:t>Check four is loop detection, the sixth failure mode from Module 1. You met `LoopDetector` in Lecture 7.3. It flags two things: the same action with the same arguments three times in a row, or more than ten steps in total. `detect_tool_loop` runs it over a finished result's tool calls, so you can use it in tests as well as at runtime.</a:t>
            </a:r>
          </a:p>
          <a:p/>
          <a:p>
            <a:r>
              <a:t>[SCREEN: Terminal. Open `demos/m10_reliability.py` for three seconds: highlight the `flaky_tool` function that raises `ConnectionError("C...]</a:t>
            </a:r>
          </a:p>
          <a:p/>
          <a:p>
            <a:r>
              <a:t>[DEMO: Output after the banner (offline)]</a:t>
            </a:r>
          </a:p>
          <a:p/>
          <a:p>
            <a:r>
              <a:t>Five inputs, five runs each: twenty-five runs. Zero failures, zero loops, one hundred percent consistency. Offline, the mock model is scripted, so a perfect score is expected. Live, run it with your key and see your real number. Seventy percent is the bar, not a hundred.</a:t>
            </a:r>
          </a:p>
          <a:p/>
          <a:p>
            <a:r>
              <a:t>The retry line is the CRM outage from the hook. The demo's flaky tool throws a CRM timeout twice. The third attempt works, and Bob Smith gets his answer.</a:t>
            </a:r>
          </a:p>
          <a:p/>
          <a:p>
            <a:r>
              <a:t>The timeout fires at a tenth of a second, and the error message says exactly what happened. And the loop detector catches five identical knowledge-base searches on the third repeat, long before the step budget. Which would you rather read at two in the morning: "repeated three times in a row", or a ten-dollar bill for a loop?</a:t>
            </a:r>
          </a:p>
          <a:p/>
          <a:p>
            <a:r>
              <a:t>Put these four checks in your test suite and your runtime. Tests tell you before release. Runtime guards protect you after release. You'll want both, because live models drift, and tools fail on days you didn't test.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every input more than once. Retry the safe things, and protect the unsafe ones. And stop loops early, with a repeat count and a step budget.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Cost Engineering: Finding the 80/20 of Agent Spend.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Seventy-four percent. That's how much of the input you paid for in one TechCorp trace that the customer never typed. It was the same system prompt and the same tool schemas, sent again on every single call. Where else is your agent paying for words nobody reads?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you'll find your agent's biggest cost hotspot, then pull two levers and measure each one: a prompt diet and model routing. And after each change, you'll prove quality didn't drop. Cost cuts without a quality check are just bugs you haven't found yet.</a:t>
            </a:r>
          </a:p>
          <a:p/>
          <a:p>
            <a:r>
              <a:t>[SCREEN: Terminal. Run the Module 9 cost analysis again.]</a:t>
            </a:r>
          </a:p>
          <a:p/>
          <a:p>
            <a:r>
              <a:t>[DEMO: Output after the banner (offline)]</a:t>
            </a:r>
          </a:p>
          <a:p/>
          <a:p>
            <a:r>
              <a:t>Here's the trace from Lecture 9.3. Four LLM calls. On the first call, ninety-three percent of the input is fixed overhead. Across the whole trace, it's seventy-four percent. That's the 80/20 of agent spend: a small, fixed block of text, multiplied by every loop iteration and every customer.</a:t>
            </a:r>
          </a:p>
          <a:p/>
          <a:p>
            <a:r>
              <a:t>[SCREEN: Terminal. Run the hotspot demo.]</a:t>
            </a:r>
          </a:p>
          <a:p/>
          <a:p>
            <a:r>
              <a:t>[DEMO: Output after the banner (offline)]</a:t>
            </a:r>
          </a:p>
          <a:p/>
          <a:p>
            <a:r>
              <a:t>Now split that overhead. The system prompt is two hundred fifty-five tokens. The five tool schemas are four hundred eighty-one. So sixty-five percent of the overhead isn't your instructions. It's the tool definitions. Did you expect that?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Lever one: the prompt diet. A pricing question can only ever need one tool, the knowledge-base search. So why send all five schemas? The demo runs four FAQ questions twice. Once with all five tools, once with only the search tool. Input tokens drop from six thousand five hundred ninety-six to three thousand two hundred eighty-five. Cost drops forty-three percent on FAQ traffic. Verify current pricing, but the ratio holds.</a:t>
            </a:r>
          </a:p>
          <a:p/>
          <a:p>
            <a:r>
              <a:t>[CODE: `demos/m10_cost_hotspots.py`, the one line that builds the diet tool list.]</a:t>
            </a:r>
          </a:p>
          <a:p/>
          <a:p>
            <a:r>
              <a:t>The code is one line: filter the tool list. The hard part is deciding which requests are "FAQ only". Get it wrong, and a refund request arrives at an agent that has no ticket tool. So the diet needs a classifier you trust, and that's exactly the next lever.</a:t>
            </a:r>
          </a:p>
          <a:p/>
          <a:p>
            <a:r>
              <a:t>[CODE: `performance/cost.py`, `route_model` and the `RISKY` pattern.]</a:t>
            </a:r>
          </a:p>
          <a:p/>
          <a:p>
            <a:r>
              <a:t>Lever two: model routing. Start from the expensive setup, gpt-4.1 for everything. Then send simple FAQ questions to gpt-4.1-mini, which costs a fifth as much per token. Verify current pricing. Anything that smells risky stays on the strong model: an email address, a customer ID, tickets, cancellations, lawyers, breaches, "ignore" instructions. It's a plain regular expression. No extra LLM call, no extra latency. Why start with rules instead of an LLM classifier? Because rules are free, testable, and easy to explain in a review.</a:t>
            </a:r>
          </a:p>
          <a:p/>
          <a:p>
            <a:r>
              <a:t>[SCREEN: Terminal. Run the routing demo.]</a:t>
            </a:r>
          </a:p>
          <a:p/>
          <a:p>
            <a:r>
              <a:t>[DEMO: Output after the banner (offline)]</a:t>
            </a:r>
          </a:p>
          <a:p/>
          <a:p>
            <a:r>
              <a:t>Eight of the twenty benchmark queries go to the cheap model. Cost per thousand tasks drops from four dollars six to two dollars eighty-eight. That's a twenty-nine percent saving. You may have read claims of fifty percent. On this traffic mix it's about thirty, because twelve of the twenty queries are account work and escalations, and they stay on the strong model. Your saving depends on your mix.</a:t>
            </a:r>
          </a:p>
          <a:p/>
          <a:p>
            <a:r>
              <a:t>[SCREEN: Same output. Zoom on the "Quality check" line, then on the last line.]</a:t>
            </a:r>
          </a:p>
          <a:p/>
          <a:p>
            <a:r>
              <a:t>Then the step people skip: the quality check. All ten golden cases still pass. But read the last line. Offline, the mock gives the same answer whatever the model, so equal quality is guaranteed here. Live, this is the run that matters. Re-run it with your key before you ship a router.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levers, for your own experiments. Prompt caching: the provider bills a repeated prompt prefix at a discount, seventy-five percent cheaper on gpt-4.1-mini, verify current pricing. That fixed overhead is a perfect candidate. And semantic caching: reuse an answer when a new question means the same thing. Be careful with that one. A cached answer to "my refund" must never reach a different customer.</a:t>
            </a:r>
          </a:p>
          <a:p/>
          <a:p>
            <a:r>
              <a:t>In Lab 10.1, you'll benchmark, pick one lever, re-benchmark and re-run the golden set. Measure each lever on its own first. Savings don't simply add up. Your stretch goal is a thirty percent cut with no drop in quality. Routing alone lands at twenty-nine here, so you'll need to combine levers or tune the router.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Fixed overhead is the 80/20 of agent spend. A prompt diet cut FAQ cost by forty-three percent. Routing cut the whole benchmark by twenty-nine. And neither counts until the golden set passes with a live model.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benchmark an agent, prove it's reliable, and cut its cost without guessing.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PERFORMANCE &amp; RELIABILITY TESTING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Latency, Token Cost &amp; Throughput Benchmarking</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Measure end-to-end latency as a distribution (p50, p95, max) instead of an average.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a:t>
            </a:r>
          </a:p>
          <a:p>
            <a:pPr marL="292608" indent="-292608">
              <a:lnSpc>
                <a:spcPct val="120000"/>
              </a:lnSpc>
              <a:spcAft>
                <a:spcPts val="1539"/>
              </a:spcAft>
              <a:buClr>
                <a:srgbClr val="00D4AA"/>
              </a:buClr>
              <a:buFont typeface="Inter"/>
              <a:buChar char="•"/>
            </a:pPr>
            <a:r>
              <a:rPr sz="2200" b="0">
                <a:solidFill>
                  <a:srgbClr val="FFFFFF"/>
                </a:solidFill>
                <a:latin typeface="Inter"/>
              </a:rPr>
              <a:t>Agent gpt-4.1-mini, judge gpt-4.1 | OFFLINE=1 runs without a key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Benchmark latency as a distribution, not an average</a:t>
            </a:r>
          </a:p>
          <a:p>
            <a:pPr marL="292608" indent="-292608">
              <a:lnSpc>
                <a:spcPct val="120000"/>
              </a:lnSpc>
              <a:spcAft>
                <a:spcPts val="1539"/>
              </a:spcAft>
              <a:buClr>
                <a:srgbClr val="00D4AA"/>
              </a:buClr>
              <a:buFont typeface="Inter"/>
              <a:buChar char="•"/>
            </a:pPr>
            <a:r>
              <a:rPr sz="2200" b="0">
                <a:solidFill>
                  <a:srgbClr val="FFFFFF"/>
                </a:solidFill>
                <a:latin typeface="Inter"/>
              </a:rPr>
              <a:t>Attribute token cost to every LLM call and step</a:t>
            </a:r>
          </a:p>
          <a:p>
            <a:pPr marL="292608" indent="-292608">
              <a:lnSpc>
                <a:spcPct val="120000"/>
              </a:lnSpc>
              <a:spcAft>
                <a:spcPts val="1539"/>
              </a:spcAft>
              <a:buClr>
                <a:srgbClr val="00D4AA"/>
              </a:buClr>
              <a:buFont typeface="Inter"/>
              <a:buChar char="•"/>
            </a:pPr>
            <a:r>
              <a:rPr sz="2200" b="0">
                <a:solidFill>
                  <a:srgbClr val="FFFFFF"/>
                </a:solidFill>
                <a:latin typeface="Inter"/>
              </a:rPr>
              <a:t>Turn the numbers into throughput and cost per 1,000 tasks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performance fits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the five quality dimensions as five tiles in a row (Correctness, Faithfulness, Relevance, Safety, Reliability). The Reliability tile is highlighted in Teal and expands downward into four small tags: "consistency 0.7", "failure rate ≤ 10%", "p95 ≤ 10 s", "cost ≤ $0.01/task (verify current pricing)".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numbers, three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Latency: how long does the user wait?</a:t>
            </a:r>
          </a:p>
          <a:p>
            <a:pPr marL="292608" indent="-292608">
              <a:lnSpc>
                <a:spcPct val="120000"/>
              </a:lnSpc>
              <a:spcAft>
                <a:spcPts val="1539"/>
              </a:spcAft>
              <a:buClr>
                <a:srgbClr val="00D4AA"/>
              </a:buClr>
              <a:buFont typeface="Inter"/>
              <a:buChar char="•"/>
            </a:pPr>
            <a:r>
              <a:rPr sz="2200" b="0">
                <a:solidFill>
                  <a:srgbClr val="FFFFFF"/>
                </a:solidFill>
                <a:latin typeface="Inter"/>
              </a:rPr>
              <a:t>Token cost: how much does each answer cost?</a:t>
            </a:r>
          </a:p>
          <a:p>
            <a:pPr marL="292608" indent="-292608">
              <a:lnSpc>
                <a:spcPct val="120000"/>
              </a:lnSpc>
              <a:spcAft>
                <a:spcPts val="1539"/>
              </a:spcAft>
              <a:buClr>
                <a:srgbClr val="00D4AA"/>
              </a:buClr>
              <a:buFont typeface="Inter"/>
              <a:buChar char="•"/>
            </a:pPr>
            <a:r>
              <a:rPr sz="2200" b="0">
                <a:solidFill>
                  <a:srgbClr val="FFFFFF"/>
                </a:solidFill>
                <a:latin typeface="Inter"/>
              </a:rPr>
              <a:t>Throughput: how many tasks per minute can one worker 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Latency is a distribution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a histogram with five bars labelled 0-1 s, 1-2 s, 2-3 s, 3-4 s, 4-5 s, heights 2, 15, 1, 1, 1. A Teal vertical line at 1.75 s labelled "p50". An Amber line at 3.34 s labelled "p95". A small red marker at 4.5 s labelled "max". Footnote: "simulated latency, offline mode".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agent latency comes from</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Each loop iteration is one more LLM call</a:t>
            </a:r>
          </a:p>
          <a:p>
            <a:pPr marL="292608" indent="-292608">
              <a:lnSpc>
                <a:spcPct val="120000"/>
              </a:lnSpc>
              <a:spcAft>
                <a:spcPts val="1539"/>
              </a:spcAft>
              <a:buClr>
                <a:srgbClr val="00D4AA"/>
              </a:buClr>
              <a:buFont typeface="Inter"/>
              <a:buChar char="•"/>
            </a:pPr>
            <a:r>
              <a:rPr sz="2200" b="0">
                <a:solidFill>
                  <a:srgbClr val="FFFFFF"/>
                </a:solidFill>
                <a:latin typeface="Inter"/>
              </a:rPr>
              <a:t>FAQ answer: 2 LLM calls (search, then answer)</a:t>
            </a:r>
          </a:p>
          <a:p>
            <a:pPr marL="292608" indent="-292608">
              <a:lnSpc>
                <a:spcPct val="120000"/>
              </a:lnSpc>
              <a:spcAft>
                <a:spcPts val="1539"/>
              </a:spcAft>
              <a:buClr>
                <a:srgbClr val="00D4AA"/>
              </a:buClr>
              <a:buFont typeface="Inter"/>
              <a:buChar char="•"/>
            </a:pPr>
            <a:r>
              <a:rPr sz="2200" b="0">
                <a:solidFill>
                  <a:srgbClr val="FFFFFF"/>
                </a:solidFill>
                <a:latin typeface="Inter"/>
              </a:rPr>
              <a:t>Cancel and refund: 4 LLM calls, 3 tools</a:t>
            </a:r>
          </a:p>
          <a:p>
            <a:pPr marL="292608" indent="-292608">
              <a:lnSpc>
                <a:spcPct val="120000"/>
              </a:lnSpc>
              <a:spcAft>
                <a:spcPts val="1539"/>
              </a:spcAft>
              <a:buClr>
                <a:srgbClr val="00D4AA"/>
              </a:buClr>
              <a:buFont typeface="Inter"/>
              <a:buChar char="•"/>
            </a:pPr>
            <a:r>
              <a:rPr sz="2200" b="0">
                <a:solidFill>
                  <a:srgbClr val="FFFFFF"/>
                </a:solidFill>
                <a:latin typeface="Inter"/>
              </a:rPr>
              <a:t>More calls means more waiting and more tokens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Cost per call, per task, per 1,000 tasks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Cost = input tokens × input price + output tokens × output price</a:t>
            </a:r>
          </a:p>
          <a:p>
            <a:pPr marL="292608" indent="-292608">
              <a:lnSpc>
                <a:spcPct val="120000"/>
              </a:lnSpc>
              <a:spcAft>
                <a:spcPts val="1539"/>
              </a:spcAft>
              <a:buClr>
                <a:srgbClr val="00D4AA"/>
              </a:buClr>
              <a:buFont typeface="Inter"/>
              <a:buChar char="•"/>
            </a:pPr>
            <a:r>
              <a:rPr sz="2200" b="0">
                <a:solidFill>
                  <a:srgbClr val="FFFFFF"/>
                </a:solidFill>
                <a:latin typeface="Inter"/>
              </a:rPr>
              <a:t>gpt-4.1-mini: $0.40 in, $1.60 out per 1M tokens (verify current pricing)</a:t>
            </a:r>
          </a:p>
          <a:p>
            <a:pPr marL="292608" indent="-292608">
              <a:lnSpc>
                <a:spcPct val="120000"/>
              </a:lnSpc>
              <a:spcAft>
                <a:spcPts val="1539"/>
              </a:spcAft>
              <a:buClr>
                <a:srgbClr val="00D4AA"/>
              </a:buClr>
              <a:buFont typeface="Inter"/>
              <a:buChar char="•"/>
            </a:pPr>
            <a:r>
              <a:rPr sz="2200" b="0">
                <a:solidFill>
                  <a:srgbClr val="FFFFFF"/>
                </a:solidFill>
                <a:latin typeface="Inter"/>
              </a:rPr>
              <a:t>Sum per task, then multiply by 1,000 for a budget number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Report p50, p95 and max, never the average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Meter every LLM call: tokens, latency, step</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Budget in cost per 1,000 tasks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Reliability: Failure Rate, Retry, Timeout &amp; Loop Detection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A fast agent that fails one time in ten is still broken.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PERFORMANCE &amp; RELIABILITY TESTING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Reliability: Failure Rate, Retry, Timeout &amp; Loop Detection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Measure failure rate and tool-sequence consistency by running the same inputs several times.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a:t>
            </a:r>
          </a:p>
          <a:p>
            <a:pPr marL="292608" indent="-292608">
              <a:lnSpc>
                <a:spcPct val="120000"/>
              </a:lnSpc>
              <a:spcAft>
                <a:spcPts val="1539"/>
              </a:spcAft>
              <a:buClr>
                <a:srgbClr val="00D4AA"/>
              </a:buClr>
              <a:buFont typeface="Inter"/>
              <a:buChar char="•"/>
            </a:pPr>
            <a:r>
              <a:rPr sz="2200" b="0">
                <a:solidFill>
                  <a:srgbClr val="FFFFFF"/>
                </a:solidFill>
                <a:latin typeface="Inter"/>
              </a:rPr>
              <a:t>Agent gpt-4.1-mini | OFFLINE=1 runs without a key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Measure failure rate and consistency over repeated runs</a:t>
            </a:r>
          </a:p>
          <a:p>
            <a:pPr marL="292608" indent="-292608">
              <a:lnSpc>
                <a:spcPct val="120000"/>
              </a:lnSpc>
              <a:spcAft>
                <a:spcPts val="1539"/>
              </a:spcAft>
              <a:buClr>
                <a:srgbClr val="00D4AA"/>
              </a:buClr>
              <a:buFont typeface="Inter"/>
              <a:buChar char="•"/>
            </a:pPr>
            <a:r>
              <a:rPr sz="2200" b="0">
                <a:solidFill>
                  <a:srgbClr val="FFFFFF"/>
                </a:solidFill>
                <a:latin typeface="Inter"/>
              </a:rPr>
              <a:t>Add retries and timeouts, and know when retries hurt</a:t>
            </a:r>
          </a:p>
          <a:p>
            <a:pPr marL="292608" indent="-292608">
              <a:lnSpc>
                <a:spcPct val="120000"/>
              </a:lnSpc>
              <a:spcAft>
                <a:spcPts val="1539"/>
              </a:spcAft>
              <a:buClr>
                <a:srgbClr val="00D4AA"/>
              </a:buClr>
              <a:buFont typeface="Inter"/>
              <a:buChar char="•"/>
            </a:pPr>
            <a:r>
              <a:rPr sz="2200" b="0">
                <a:solidFill>
                  <a:srgbClr val="FFFFFF"/>
                </a:solidFill>
                <a:latin typeface="Inter"/>
              </a:rPr>
              <a:t>Catch infinite loops while they happen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Reliability thresholds you already own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consistency ≥ 0.7 (same tool sequence across runs)</a:t>
            </a:r>
          </a:p>
          <a:p>
            <a:pPr marL="292608" indent="-292608">
              <a:lnSpc>
                <a:spcPct val="120000"/>
              </a:lnSpc>
              <a:spcAft>
                <a:spcPts val="1539"/>
              </a:spcAft>
              <a:buClr>
                <a:srgbClr val="00D4AA"/>
              </a:buClr>
              <a:buFont typeface="Inter"/>
              <a:buChar char="•"/>
            </a:pPr>
            <a:r>
              <a:rPr sz="2200" b="0">
                <a:solidFill>
                  <a:srgbClr val="FFFFFF"/>
                </a:solidFill>
                <a:latin typeface="Inter"/>
              </a:rPr>
              <a:t>max failure rate 0.1</a:t>
            </a:r>
          </a:p>
          <a:p>
            <a:pPr marL="292608" indent="-292608">
              <a:lnSpc>
                <a:spcPct val="120000"/>
              </a:lnSpc>
              <a:spcAft>
                <a:spcPts val="1539"/>
              </a:spcAft>
              <a:buClr>
                <a:srgbClr val="00D4AA"/>
              </a:buClr>
              <a:buFont typeface="Inter"/>
              <a:buChar char="•"/>
            </a:pPr>
            <a:r>
              <a:rPr sz="2200" b="0">
                <a:solidFill>
                  <a:srgbClr val="FFFFFF"/>
                </a:solidFill>
                <a:latin typeface="Inter"/>
              </a:rPr>
              <a:t>max 6 LLM calls per task (loop guard)</a:t>
            </a:r>
          </a:p>
          <a:p>
            <a:pPr marL="292608" indent="-292608">
              <a:lnSpc>
                <a:spcPct val="120000"/>
              </a:lnSpc>
              <a:spcAft>
                <a:spcPts val="1539"/>
              </a:spcAft>
              <a:buClr>
                <a:srgbClr val="00D4AA"/>
              </a:buClr>
              <a:buFont typeface="Inter"/>
              <a:buChar char="•"/>
            </a:pPr>
            <a:r>
              <a:rPr sz="2200" b="0">
                <a:solidFill>
                  <a:srgbClr val="FFFFFF"/>
                </a:solidFill>
                <a:latin typeface="Inter"/>
              </a:rPr>
              <a:t>agent loop cap: 5 iterations, then escalate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a retry hurts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Retrying the whole agent repeats every LLM call (cost)</a:t>
            </a:r>
          </a:p>
          <a:p>
            <a:pPr marL="292608" indent="-292608">
              <a:lnSpc>
                <a:spcPct val="120000"/>
              </a:lnSpc>
              <a:spcAft>
                <a:spcPts val="1539"/>
              </a:spcAft>
              <a:buClr>
                <a:srgbClr val="00D4AA"/>
              </a:buClr>
              <a:buFont typeface="Inter"/>
              <a:buChar char="•"/>
            </a:pPr>
            <a:r>
              <a:rPr sz="2200" b="0">
                <a:solidFill>
                  <a:srgbClr val="FFFFFF"/>
                </a:solidFill>
                <a:latin typeface="Inter"/>
              </a:rPr>
              <a:t>Retrying after </a:t>
            </a:r>
            <a:r>
              <a:rPr sz="2024" b="0">
                <a:solidFill>
                  <a:srgbClr val="00D4AA"/>
                </a:solidFill>
                <a:latin typeface="JetBrains Mono"/>
              </a:rPr>
              <a:t>create_ticket</a:t>
            </a:r>
            <a:r>
              <a:rPr sz="2200" b="0">
                <a:solidFill>
                  <a:srgbClr val="FFFFFF"/>
                </a:solidFill>
                <a:latin typeface="Inter"/>
              </a:rPr>
              <a:t> succeeded can create a duplicate ticket</a:t>
            </a:r>
          </a:p>
          <a:p>
            <a:pPr marL="292608" indent="-292608">
              <a:lnSpc>
                <a:spcPct val="120000"/>
              </a:lnSpc>
              <a:spcAft>
                <a:spcPts val="1539"/>
              </a:spcAft>
              <a:buClr>
                <a:srgbClr val="00D4AA"/>
              </a:buClr>
              <a:buFont typeface="Inter"/>
              <a:buChar char="•"/>
            </a:pPr>
            <a:r>
              <a:rPr sz="2200" b="0">
                <a:solidFill>
                  <a:srgbClr val="FFFFFF"/>
                </a:solidFill>
                <a:latin typeface="Inter"/>
              </a:rPr>
              <a:t>Retry read-only tools; make write tools idempotent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Run each input several times; measure failures and consistency</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Retry reads freely; make writes idempotent first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Stop loops with a repeat count and step budget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Cost Engineering: Finding the 80/20 of Agent Spend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Your agent is reliable now.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10 · PERFORMANCE &amp; RELIABILITY TESTING</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10.3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Cost Engineering: Finding the 80/20 of Agent Spend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Find the fixed prompt overhead that is re-sent on every LLM call.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a:t>
            </a:r>
          </a:p>
          <a:p>
            <a:pPr marL="292608" indent="-292608">
              <a:lnSpc>
                <a:spcPct val="120000"/>
              </a:lnSpc>
              <a:spcAft>
                <a:spcPts val="1539"/>
              </a:spcAft>
              <a:buClr>
                <a:srgbClr val="00D4AA"/>
              </a:buClr>
              <a:buFont typeface="Inter"/>
              <a:buChar char="•"/>
            </a:pPr>
            <a:r>
              <a:rPr sz="2200" b="0">
                <a:solidFill>
                  <a:srgbClr val="FFFFFF"/>
                </a:solidFill>
                <a:latin typeface="Inter"/>
              </a:rPr>
              <a:t>gpt-4.1-mini and gpt-4.1 | prices: verify current pricing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Find the fixed overhead in every call</a:t>
            </a:r>
          </a:p>
          <a:p>
            <a:pPr marL="292608" indent="-292608">
              <a:lnSpc>
                <a:spcPct val="120000"/>
              </a:lnSpc>
              <a:spcAft>
                <a:spcPts val="1539"/>
              </a:spcAft>
              <a:buClr>
                <a:srgbClr val="00D4AA"/>
              </a:buClr>
              <a:buFont typeface="Inter"/>
              <a:buChar char="•"/>
            </a:pPr>
            <a:r>
              <a:rPr sz="2200" b="0">
                <a:solidFill>
                  <a:srgbClr val="FFFFFF"/>
                </a:solidFill>
                <a:latin typeface="Inter"/>
              </a:rPr>
              <a:t>Cut it with a prompt diet, and measure</a:t>
            </a:r>
          </a:p>
          <a:p>
            <a:pPr marL="292608" indent="-292608">
              <a:lnSpc>
                <a:spcPct val="120000"/>
              </a:lnSpc>
              <a:spcAft>
                <a:spcPts val="1539"/>
              </a:spcAft>
              <a:buClr>
                <a:srgbClr val="00D4AA"/>
              </a:buClr>
              <a:buFont typeface="Inter"/>
              <a:buChar char="•"/>
            </a:pPr>
            <a:r>
              <a:rPr sz="2200" b="0">
                <a:solidFill>
                  <a:srgbClr val="FFFFFF"/>
                </a:solidFill>
                <a:latin typeface="Inter"/>
              </a:rPr>
              <a:t>Route easy questions to a cheaper model, and re-check quality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Lever 1: the prompt diet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pricing question needs one tool: </a:t>
            </a:r>
            <a:r>
              <a:rPr sz="2024" b="0">
                <a:solidFill>
                  <a:srgbClr val="00D4AA"/>
                </a:solidFill>
                <a:latin typeface="JetBrains Mono"/>
              </a:rPr>
              <a:t>search_knowledge_base</a:t>
            </a:r>
          </a:p>
          <a:p>
            <a:pPr marL="292608" indent="-292608">
              <a:lnSpc>
                <a:spcPct val="120000"/>
              </a:lnSpc>
              <a:spcAft>
                <a:spcPts val="1539"/>
              </a:spcAft>
              <a:buClr>
                <a:srgbClr val="00D4AA"/>
              </a:buClr>
              <a:buFont typeface="Inter"/>
              <a:buChar char="•"/>
            </a:pPr>
            <a:r>
              <a:rPr sz="2200" b="0">
                <a:solidFill>
                  <a:srgbClr val="FFFFFF"/>
                </a:solidFill>
                <a:latin typeface="Inter"/>
              </a:rPr>
              <a:t>Sending all 5 schemas costs 481 tokens per call</a:t>
            </a:r>
          </a:p>
          <a:p>
            <a:pPr marL="292608" indent="-292608">
              <a:lnSpc>
                <a:spcPct val="120000"/>
              </a:lnSpc>
              <a:spcAft>
                <a:spcPts val="1539"/>
              </a:spcAft>
              <a:buClr>
                <a:srgbClr val="00D4AA"/>
              </a:buClr>
              <a:buFont typeface="Inter"/>
              <a:buChar char="•"/>
            </a:pPr>
            <a:r>
              <a:rPr sz="2200" b="0">
                <a:solidFill>
                  <a:srgbClr val="FFFFFF"/>
                </a:solidFill>
                <a:latin typeface="Inter"/>
              </a:rPr>
              <a:t>Send only the tools a request can use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more levers to measure next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Prompt caching: cached input is 75% cheaper on gpt-4.1-mini (verify)</a:t>
            </a:r>
          </a:p>
          <a:p>
            <a:pPr marL="292608" indent="-292608">
              <a:lnSpc>
                <a:spcPct val="120000"/>
              </a:lnSpc>
              <a:spcAft>
                <a:spcPts val="1539"/>
              </a:spcAft>
              <a:buClr>
                <a:srgbClr val="00D4AA"/>
              </a:buClr>
              <a:buFont typeface="Inter"/>
              <a:buChar char="•"/>
            </a:pPr>
            <a:r>
              <a:rPr sz="2200" b="0">
                <a:solidFill>
                  <a:srgbClr val="FFFFFF"/>
                </a:solidFill>
                <a:latin typeface="Inter"/>
              </a:rPr>
              <a:t>Semantic caching: reuse answers to near-identical questions</a:t>
            </a:r>
          </a:p>
          <a:p>
            <a:pPr marL="292608" indent="-292608">
              <a:lnSpc>
                <a:spcPct val="120000"/>
              </a:lnSpc>
              <a:spcAft>
                <a:spcPts val="1539"/>
              </a:spcAft>
              <a:buClr>
                <a:srgbClr val="00D4AA"/>
              </a:buClr>
              <a:buFont typeface="Inter"/>
              <a:buChar char="•"/>
            </a:pPr>
            <a:r>
              <a:rPr sz="2200" b="0">
                <a:solidFill>
                  <a:srgbClr val="FFFFFF"/>
                </a:solidFill>
                <a:latin typeface="Inter"/>
              </a:rPr>
              <a:t>Measure each lever alone, then together, on the same benchmark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Fixed overhead was 74% of input tokens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Prompt diet: −43% on FAQ traffic</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Routing: −29%, then re-check quality live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Benchmark p50, p95 and cost per 1,000 tasks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Measure failure rate, retries, timeouts and loops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Cut agent cost with measured levers and a quality check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10 · Lecture 10.3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Why Agents Regress: Model Updates, Prompt Drift, Tool Changes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Every change you just made, a new tool list, a new model, could quietly break something.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