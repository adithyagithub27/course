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Multi-Agent Architectures: What Can Go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common ways to wire agents together. Hierarchical: a supervisor hands work to specialist workers and decides when the job is done. Peer-to-peer: agents message each other directly. Pipeline: a fixed chain, each agent passing its output to the next. And debate: two or more agents critique each other until they agree.</a:t>
            </a:r>
          </a:p>
          <a:p/>
          <a:p>
            <a:r>
              <a:t>Frameworks like LangGraph, CrewAI and AutoGen can build all four. The testing questions are the same whichever one you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shape has a favourite way to fail. Which one have you built? Peer-to-peer systems love circular delegation: A asks B, B asks A. Pipelines pass errors downstream, because each stage trusts the one before it. Debates can argue forever, or agree on something wrong. And hierarchies put everything on the supervisor: if it routes badly, every worker does the wrong job well.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is hierarchical. The TechCorp Reply Desk has three agents. The supervisor is a model call that returns JSON: who works next, research, writer or finish, and an instruction. The research agent searches the knowledge base and replies with findings. The writing agent turns those findings into a polite reply.</a:t>
            </a:r>
          </a:p>
          <a:p/>
          <a:p>
            <a:r>
              <a:t>Agents never call each other directly. Every hand-off is a message object with a sender, a receiver, the content and a checksum. That design choice is what makes the system testable. Can you guess why? Because every hand-off becomes a record you can inspect and assert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math that makes multi-agent testing harder. With three agents where anyone can message anyone, there are six directed hand-offs to test. Route everything through a supervisor, and there are four. Add a fourth agent to a free-for-all, and how many is it? Twelve. Fewer paths means fewer places for a message to go wrong, which is a big reason the hierarchical pattern is popular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single-agent failure mode from Module 1 still applies to each agent. But five new ones appear between them. Miscommunication: a message that's well formed but missing what the next agent needs. Delegation errors: the supervisor sends a task to the wrong worker. That's wrong tool selection, one level up. Infinite delegation: work bouncing between agents forever. That's failure mode six, infinite loops, at the system level.</a:t>
            </a:r>
          </a:p>
          <a:p/>
          <a:p>
            <a:r>
              <a:t>State corruption: data altered in transit, or one agent acting on a value another agent already changed. Picture agent A reading a balance of one hundred dollars, agent B updating it to fifty, and agent A acting on the stale hundred. And the most dangerous one: failure propagation.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propagation, step by step. Agent C fails, say an empty search. Agent B doesn't notice and passes on whatever it got. Agent A, the writer, does its job beautifully, on top of nothing. And the user receives a confident, polished, wrong answer.</a:t>
            </a:r>
          </a:p>
          <a:p/>
          <a:p>
            <a:r>
              <a:t>Where would you put the check? The last build shows it: at every hand-off. The error should stop where it started. Here's an illustrative case, made up but realistic. A design-review system needs three approvals. One reviewer agent times out. The supervisor sees two approvals and no denial, and reports "approved". A missing "no" is not a "yes".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a system do when a hand-off fails? The Reply Desk reports one of three statuses. "Ok" means everything worked. "Recovered" means something failed, it was caught, and a retry worked. "Degraded" means the system gave up safely and sent a fallback: a member of the support team will follow up within one business day. Never garbage. Which status would you rather see in a dashboard at 3 a.m.? Degraded is fine. Garbage marked "ok" is the nightmare.</a:t>
            </a:r>
          </a:p>
          <a:p/>
          <a:p>
            <a:r>
              <a:t>[SCREEN: Terminal. Run the failure montage; pause on each of the four blocks.]</a:t>
            </a:r>
          </a:p>
          <a:p/>
          <a:p>
            <a:r>
              <a:t>[DEMO: Output (banner trimmed; replies cut at 110 characters by the demo)]</a:t>
            </a:r>
          </a:p>
          <a:p/>
          <a:p>
            <a:r>
              <a:t>The healthy run: research, writer, finish. Three steps, status ok, and the reply quotes the 30-day guarantee.</a:t>
            </a:r>
          </a:p>
          <a:p/>
          <a:p>
            <a:r>
              <a:t>Failure one, the loop. The research agent keeps asking which plan the customer is on, so the supervisor keeps sending research. After three identical delegations in a row, the loop detector stops it. Status degraded, fallback reply. Three steps, not three hundred.</a:t>
            </a:r>
          </a:p>
          <a:p/>
          <a:p>
            <a:r>
              <a:t>[SCREEN: Zoom on blocks 2 and 3; highlight `checksum mismatch on message 2` and `status=degraded steps=1`.]</a:t>
            </a:r>
          </a:p>
          <a:p/>
          <a:p>
            <a:r>
              <a:t>Failure two, corruption. Message two, research to supervisor, arrived altered: its checksum didn't match. The supervisor caught it, asked research again, and the retry was clean. Status recovered, and the customer still got the right answer.</a:t>
            </a:r>
          </a:p>
          <a:p/>
          <a:p>
            <a:r>
              <a:t>Failure three, the cascade that didn't happen. The knowledge base returned nothing. Instead of handing an empty finding to the writer, the supervisor stopped after one step and sent the fallback. The writer never got the chance to write something confident about nothing.</a:t>
            </a:r>
          </a:p>
          <a:p/>
          <a:p>
            <a:r>
              <a:t>Notice what this demo didn't test: whether each agent is individually good. You did that in Modules 3 to 6, and you still need it. Multi-agent tests sit on top. They ask whether the system stays safe when one of its parts misbehaves. Count the outcomes: one ok, one recovered, two degraded, and zero garbage replies. What would your own multi-agent system score on that count today?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Testing Agent Communication, Delegation &amp;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3, you graded an agent's final answer. That's still necessary here, but it isn't enough. A multi-agent system has an internal conversation, and that's where most of its bugs hide. So the first job is to capture that conversation in a form you can assert on.</a:t>
            </a:r>
          </a:p>
          <a:p/>
          <a:p>
            <a:r>
              <a:t>[CODE: `agents/multi_agent.py`, `Message`]</a:t>
            </a:r>
          </a:p>
          <a:p/>
          <a:p>
            <a:r>
              <a:t>Here's the message. Five fields: sender, receiver, content, an ID and a checksum. The checksum is the first twelve hex characters of a SHA-256 hash of the content, computed when the message is created.</a:t>
            </a:r>
          </a:p>
          <a:p/>
          <a:p>
            <a:r>
              <a:t>`is_valid` checks two things. The content isn't empty, and it still matches its checksum. If anything changes the content after it was sent, a bug, a truncation, a bad serializer, validation fails. Why not just compare strings? Because the receiver doesn't have the original to compare against. The checksum travels with the message.</a:t>
            </a:r>
          </a:p>
          <a:p/>
          <a:p>
            <a:r>
              <a:t>[CODE: `agents/multi_agent.py`, `Supervisor._decide` (defensive parsing)]</a:t>
            </a:r>
          </a:p>
          <a:p/>
          <a:p>
            <a:r>
              <a:t>The supervisor's decision is a model call in JSON mode. Models usually return valid JSON, but "usually" isn't a test strategy. So the code parses defensively. If the JSON is broken, or "next" isn't one of the three allowed workers, the decision becomes "finish". With no draft yet, finishing means the fallback reply. An invalid decision fails safe instead of crashing, or worse, sending work to a worker that doesn't exist.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tests. Five checks, one for each way a hand-off can go wrong.</a:t>
            </a:r>
          </a:p>
          <a:p/>
          <a:p>
            <a:r>
              <a:t>Delegation: research must come before the writer. A writer with no research is a hallucination waiting to happen. Integrity: every message passes its checksum. Topology: workers only ever talk to the supervisor, never to each other. That keeps us at four hand-off paths, not six.</a:t>
            </a:r>
          </a:p>
          <a:p/>
          <a:p>
            <a:r>
              <a:t>Content flow is the clever one. How do you prove the writer used the research? Check that a fact only the research could supply shows up in the reply. Here, that's the Pro price, twenty-nine ninety-nine. And budget: the whole run finishes within ten steps.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about delegation accuracy, when a supervisor has several specialists to choose from? Say billing and technical support. Test it exactly like tool selection in Lecture 6.2: a table of requests, each with the worker it should go to first, and an accuracy number across the table. A supervisor choosing a worker is an agent choosing a tool, one level up.</a:t>
            </a:r>
          </a:p>
          <a:p/>
          <a:p>
            <a:r>
              <a:t>[CODE: `demos/m07_communication_tests.py`, the five checks]</a:t>
            </a:r>
          </a:p>
          <a:p/>
          <a:p>
            <a:r>
              <a:t>Here they are in code. Each check is one line, and each reads like the slide. Notice that none of them needs a judge model. The run result already holds the delegations, the messages and the step count.</a:t>
            </a:r>
          </a:p>
          <a:p/>
          <a:p>
            <a:r>
              <a:t>[SCREEN: Terminal. Run the communication tests; pause on the message table, then the five PASS lines.]</a:t>
            </a:r>
          </a:p>
          <a:p/>
          <a:p>
            <a:r>
              <a:t>[DEMO: Output (banner trimmed; content cut at 60 characters by the demo)]</a:t>
            </a:r>
          </a:p>
          <a:p/>
          <a:p>
            <a:r>
              <a:t>Read the table as a conversation. Message one: the supervisor asks research to find the facts. Message two: research returns findings from KB-101, plans and pricing. Message three: the supervisor forwards those findings to the writer. Why route them through the supervisor instead of straight to the writer? So one place sees, and checks, every hand-off. Message four: the writer's draft goes back to the supervisor. Four messages, all valid, and every one has the supervisor on one end.</a:t>
            </a:r>
          </a:p>
          <a:p/>
          <a:p>
            <a:r>
              <a:t>All five checks pass, and the final reply carries the three prices from KB-101: nine ninety-nine, twenty-nine ninety-nine and custom pricing for Enterprise.</a:t>
            </a:r>
          </a:p>
          <a:p/>
          <a:p>
            <a:r>
              <a:t>[CODE: `tests/trajectory/test_multi_agent.py`, the healthy-run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design choice to notice: coordination. The Reply Desk's agents share no mutable state. Everything one agent knows reaches the next inside a message. That means no locks to test and no race conditions. If your agents do share a database or a scratchpad, you'll need tests for concurrent writes, which Lecture 7.3 touches on.</a:t>
            </a:r>
          </a:p>
          <a:p/>
          <a:p>
            <a:r>
              <a:t>In the test suite, the same idea is even stricter. It asserts the exact sequence of sender and receiver pairs. If someone adds a shortcut that lets research talk straight to the writer, this test fails on the next pull request. What else would you add? A test that feeds the supervisor broken JSON and asserts a safe finish is a good first exercise.</a:t>
            </a:r>
          </a:p>
          <a:p/>
          <a:p>
            <a:r>
              <a:t>[SCREEN: Terminal. Run the multi-agent tests.]</a:t>
            </a:r>
          </a:p>
          <a:p/>
          <a:p>
            <a:r>
              <a:t>[DEMO: Output (trimmed)]</a:t>
            </a:r>
          </a:p>
          <a:p/>
          <a:p>
            <a:r>
              <a:t>Seven tests: the healthy run, four injected failures, a toxic-text test and a checksum test. You'll meet the injected ones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Detecting Infinite Loops, State Corruption &amp; Failure Propagation.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is about guards that run in production, inside the system, not just in your test suite. Three of them. A loop detector. A checksum with one retry. And hand-off checks that stop the run when a worker returns nothing usable, or something unsafe. Then you'll prove each guard works by breaking the system on purpose.</a:t>
            </a:r>
          </a:p>
          <a:p/>
          <a:p>
            <a:r>
              <a:t>[CODE: `performance/reliability.py`, `LoopDetector`]</a:t>
            </a:r>
          </a:p>
          <a:p/>
          <a:p>
            <a:r>
              <a:t>Here's the whole loop detector. You record every action, with a detail string. Two rules. If the history passes ten steps, the step budget is exceeded. And if the last three entries are identical, action and detail both, that's a loop.</a:t>
            </a:r>
          </a:p>
          <a:p/>
          <a:p>
            <a:r>
              <a:t>Why compare the detail too? Because research twice with two different questions is progress. Research three times with the same question is a loop. And why keep the step budget as well? Because a loop can alternate, research, writer, research, writer, and never repeat three times in a row. The budget catches what the pattern misses.</a:t>
            </a:r>
          </a:p>
          <a:p/>
          <a:p>
            <a:r>
              <a:t>[SCREEN: Terminal. Run the loop detector demo.]</a:t>
            </a:r>
          </a:p>
          <a:p/>
          <a:p>
            <a:r>
              <a:t>[DEMO: Output (banner trimmed)]</a:t>
            </a:r>
          </a:p>
          <a:p/>
          <a:p>
            <a:r>
              <a:t>Steps one and two repeat, but only twice, and then the writer runs. Fine. Steps four, five and six are identical: halt at six. The last line reuses the same detector on a single agent's tool calls: four identical knowledge base searches, flagged on the third. One class guards both the system and each agent inside it. The single support agent has a backstop of its own, too: a hard cap of five model calls per request.</a:t>
            </a:r>
          </a:p>
          <a:p/>
          <a:p>
            <a:r>
              <a:t>[CODE: `agents/multi_agent.py`, `Supervisor.run` (the corruption and empty-findings guards)]</a:t>
            </a:r>
          </a:p>
          <a:p/>
          <a:p>
            <a:r>
              <a:t>Now the supervisor's guards, all in one place. A message that fails its checksum is recorded as a failure, and the supervisor retries once. Why only once? Because one corruption can be a glitch, but two in a row means something systematic. A second corruption breaks the run. A request for clarification sends the supervisor back around, which is exactly what the loop detector watches. And empty findings stop the run immediately. That last one is the cascade breaker: the writer never sees an empty finding, so it can't dress one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end of every run, one rule decides the outcome. Any unrecovered failure, or no draft at all, means degraded and the fallback reply. Failures that were all recovered means recovered, with the real reply. No failures means ok. There's no path where garbage reaches the customer marked as success. How would you prove that? Inject every failure and check.</a:t>
            </a:r>
          </a:p>
          <a:p/>
          <a:p>
            <a:r>
              <a:t>[CODE: `demos/m07_lab_failure_injection.py`, the injection loop]</a:t>
            </a:r>
          </a:p>
          <a:p/>
          <a:p>
            <a:r>
              <a:t>`FailureInjection` has four switches, one per Lab 7.1 failure. Research returns empty. The writer's draft comes back abusive. Research loops. A message is corrupted. For each one, you assert two things: the right failure was detected, and the run ended degraded or recovered.</a:t>
            </a:r>
          </a:p>
          <a:p/>
          <a:p>
            <a:r>
              <a:t>[SCREEN: Terminal. Run the failure-injection demo.]</a:t>
            </a:r>
          </a:p>
          <a:p/>
          <a:p>
            <a:r>
              <a:t>[DEMO: Output (banner trimmed)]</a:t>
            </a:r>
          </a:p>
          <a:p/>
          <a:p>
            <a:r>
              <a:t>Four injections, four detections, four passes. Empty research: stopped after one step. Toxic writer: caught after two, and the abusive draft never left the building. The loop: three steps. Corruption: recovered in four, with the real password-reset answer.</a:t>
            </a:r>
          </a:p>
          <a:p/>
          <a:p>
            <a:r>
              <a:t>Look at the steps column. The worst case is four steps, well under the budget of ten. That's what bounded failure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look at the fallback itself. Is it a good reply? It's honest: it says the system couldn't confirm the details. It sets an expectation: a person follows up within one business day. It invents nothing. And the failure type is recorded in the run result, so it shows up in your traces in Module 9. A fallback is a product decision as much as an engineering one, so write it with your support team.</a:t>
            </a:r>
          </a:p>
          <a:p/>
          <a:p>
            <a:r>
              <a:t>These same four injections are parametrized tests in the suite you ran in 7.2, so they run on every pull request. And they're your next assignment. In Lab 7.1, you'll inject each failure yourself, confirm detection, and then try to break the guards. Then add a fifth failure of your own. What would it be? A writer that ignores the findings is a good one. Make the system catch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MULTI-AGENT SYSTEM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Multi-Agent Architectures: What Can Go Wrong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Compare four multi-agent architectures: hierarchical, peer-to-peer, pipeline and debate.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ways to wire agents together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Hierarchical: a supervisor delegates to workers</a:t>
            </a:r>
          </a:p>
          <a:p>
            <a:pPr marL="292608" indent="-292608">
              <a:lnSpc>
                <a:spcPct val="120000"/>
              </a:lnSpc>
              <a:spcAft>
                <a:spcPts val="1539"/>
              </a:spcAft>
              <a:buClr>
                <a:srgbClr val="00D4AA"/>
              </a:buClr>
              <a:buFont typeface="Inter"/>
              <a:buChar char="•"/>
            </a:pPr>
            <a:r>
              <a:rPr sz="2200" b="0">
                <a:solidFill>
                  <a:srgbClr val="FFFFFF"/>
                </a:solidFill>
                <a:latin typeface="Inter"/>
              </a:rPr>
              <a:t>Peer-to-peer: agents message each other freely</a:t>
            </a:r>
          </a:p>
          <a:p>
            <a:pPr marL="292608" indent="-292608">
              <a:lnSpc>
                <a:spcPct val="120000"/>
              </a:lnSpc>
              <a:spcAft>
                <a:spcPts val="1539"/>
              </a:spcAft>
              <a:buClr>
                <a:srgbClr val="00D4AA"/>
              </a:buClr>
              <a:buFont typeface="Inter"/>
              <a:buChar char="•"/>
            </a:pPr>
            <a:r>
              <a:rPr sz="2200" b="0">
                <a:solidFill>
                  <a:srgbClr val="FFFFFF"/>
                </a:solidFill>
                <a:latin typeface="Inter"/>
              </a:rPr>
              <a:t>Pipeline: each agent hands off to the next</a:t>
            </a:r>
          </a:p>
          <a:p>
            <a:pPr marL="292608" indent="-292608">
              <a:lnSpc>
                <a:spcPct val="120000"/>
              </a:lnSpc>
              <a:spcAft>
                <a:spcPts val="1539"/>
              </a:spcAft>
              <a:buClr>
                <a:srgbClr val="00D4AA"/>
              </a:buClr>
              <a:buFont typeface="Inter"/>
              <a:buChar char="•"/>
            </a:pPr>
            <a:r>
              <a:rPr sz="2200" b="0">
                <a:solidFill>
                  <a:srgbClr val="FFFFFF"/>
                </a:solidFill>
                <a:latin typeface="Inter"/>
              </a:rPr>
              <a:t>Debate: agents critique each other's answers</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Each shape fails its own way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Peer-to-peer: circular delegation</a:t>
            </a:r>
          </a:p>
          <a:p>
            <a:pPr marL="292608" indent="-292608">
              <a:lnSpc>
                <a:spcPct val="120000"/>
              </a:lnSpc>
              <a:spcAft>
                <a:spcPts val="1539"/>
              </a:spcAft>
              <a:buClr>
                <a:srgbClr val="00D4AA"/>
              </a:buClr>
              <a:buFont typeface="Inter"/>
              <a:buChar char="•"/>
            </a:pPr>
            <a:r>
              <a:rPr sz="2200" b="0">
                <a:solidFill>
                  <a:srgbClr val="FFFFFF"/>
                </a:solidFill>
                <a:latin typeface="Inter"/>
              </a:rPr>
              <a:t>Pipeline: errors flow downstream</a:t>
            </a:r>
          </a:p>
          <a:p>
            <a:pPr marL="292608" indent="-292608">
              <a:lnSpc>
                <a:spcPct val="120000"/>
              </a:lnSpc>
              <a:spcAft>
                <a:spcPts val="1539"/>
              </a:spcAft>
              <a:buClr>
                <a:srgbClr val="00D4AA"/>
              </a:buClr>
              <a:buFont typeface="Inter"/>
              <a:buChar char="•"/>
            </a:pPr>
            <a:r>
              <a:rPr sz="2200" b="0">
                <a:solidFill>
                  <a:srgbClr val="FFFFFF"/>
                </a:solidFill>
                <a:latin typeface="Inter"/>
              </a:rPr>
              <a:t>Debate: endless argument, or agreeing on wrong</a:t>
            </a:r>
          </a:p>
          <a:p>
            <a:pPr marL="292608" indent="-292608">
              <a:lnSpc>
                <a:spcPct val="120000"/>
              </a:lnSpc>
              <a:spcAft>
                <a:spcPts val="1539"/>
              </a:spcAft>
              <a:buClr>
                <a:srgbClr val="00D4AA"/>
              </a:buClr>
              <a:buFont typeface="Inter"/>
              <a:buChar char="•"/>
            </a:pPr>
            <a:r>
              <a:rPr sz="2200" b="0">
                <a:solidFill>
                  <a:srgbClr val="FFFFFF"/>
                </a:solidFill>
                <a:latin typeface="Inter"/>
              </a:rPr>
              <a:t>Hierarchy: one bad router, many wrong jobs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TechCorp Reply Desk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Supervisor: picks research, writer or finish</a:t>
            </a:r>
          </a:p>
          <a:p>
            <a:pPr marL="292608" indent="-292608">
              <a:lnSpc>
                <a:spcPct val="120000"/>
              </a:lnSpc>
              <a:spcAft>
                <a:spcPts val="1539"/>
              </a:spcAft>
              <a:buClr>
                <a:srgbClr val="00D4AA"/>
              </a:buClr>
              <a:buFont typeface="Inter"/>
              <a:buChar char="•"/>
            </a:pPr>
            <a:r>
              <a:rPr sz="2200" b="0">
                <a:solidFill>
                  <a:srgbClr val="FFFFFF"/>
                </a:solidFill>
                <a:latin typeface="Inter"/>
              </a:rPr>
              <a:t>Research Agent: searches the knowledge base</a:t>
            </a:r>
          </a:p>
          <a:p>
            <a:pPr marL="292608" indent="-292608">
              <a:lnSpc>
                <a:spcPct val="120000"/>
              </a:lnSpc>
              <a:spcAft>
                <a:spcPts val="1539"/>
              </a:spcAft>
              <a:buClr>
                <a:srgbClr val="00D4AA"/>
              </a:buClr>
              <a:buFont typeface="Inter"/>
              <a:buChar char="•"/>
            </a:pPr>
            <a:r>
              <a:rPr sz="2200" b="0">
                <a:solidFill>
                  <a:srgbClr val="FFFFFF"/>
                </a:solidFill>
                <a:latin typeface="Inter"/>
              </a:rPr>
              <a:t>Writing Agent: drafts the customer reply</a:t>
            </a:r>
          </a:p>
          <a:p>
            <a:pPr marL="292608" indent="-292608">
              <a:lnSpc>
                <a:spcPct val="120000"/>
              </a:lnSpc>
              <a:spcAft>
                <a:spcPts val="1539"/>
              </a:spcAft>
              <a:buClr>
                <a:srgbClr val="00D4AA"/>
              </a:buClr>
              <a:buFont typeface="Inter"/>
              <a:buChar char="•"/>
            </a:pPr>
            <a:r>
              <a:rPr sz="2200" b="0">
                <a:solidFill>
                  <a:srgbClr val="FFFFFF"/>
                </a:solidFill>
                <a:latin typeface="Inter"/>
              </a:rPr>
              <a:t>Every hand-off is a checksummed </a:t>
            </a:r>
            <a:r>
              <a:rPr sz="2024" b="0">
                <a:solidFill>
                  <a:srgbClr val="00D4AA"/>
                </a:solidFill>
                <a:latin typeface="JetBrains Mono"/>
              </a:rPr>
              <a:t>Message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Hand-offs grow fast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3 agents, everyone talks: 6 directed hand-offs</a:t>
            </a:r>
          </a:p>
          <a:p>
            <a:pPr marL="292608" indent="-292608">
              <a:lnSpc>
                <a:spcPct val="120000"/>
              </a:lnSpc>
              <a:spcAft>
                <a:spcPts val="1539"/>
              </a:spcAft>
              <a:buClr>
                <a:srgbClr val="00D4AA"/>
              </a:buClr>
              <a:buFont typeface="Inter"/>
              <a:buChar char="•"/>
            </a:pPr>
            <a:r>
              <a:rPr sz="2200" b="0">
                <a:solidFill>
                  <a:srgbClr val="FFFFFF"/>
                </a:solidFill>
                <a:latin typeface="Inter"/>
              </a:rPr>
              <a:t>Supervisor in the middle: 4 directed hand-offs</a:t>
            </a:r>
          </a:p>
          <a:p>
            <a:pPr marL="292608" indent="-292608">
              <a:lnSpc>
                <a:spcPct val="120000"/>
              </a:lnSpc>
              <a:spcAft>
                <a:spcPts val="1539"/>
              </a:spcAft>
              <a:buClr>
                <a:srgbClr val="00D4AA"/>
              </a:buClr>
              <a:buFont typeface="Inter"/>
              <a:buChar char="•"/>
            </a:pPr>
            <a:r>
              <a:rPr sz="2200" b="0">
                <a:solidFill>
                  <a:srgbClr val="FFFFFF"/>
                </a:solidFill>
                <a:latin typeface="Inter"/>
              </a:rPr>
              <a:t>Each hand-off is a place to fail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New failures between agents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Miscommunication: a message missing what the next agent needs</a:t>
            </a:r>
          </a:p>
          <a:p>
            <a:pPr marL="292608" indent="-292608">
              <a:lnSpc>
                <a:spcPct val="120000"/>
              </a:lnSpc>
              <a:spcAft>
                <a:spcPts val="1260"/>
              </a:spcAft>
              <a:buClr>
                <a:srgbClr val="00D4AA"/>
              </a:buClr>
              <a:buFont typeface="Inter"/>
              <a:buChar char="•"/>
            </a:pPr>
            <a:r>
              <a:rPr sz="1800" b="0">
                <a:solidFill>
                  <a:srgbClr val="FFFFFF"/>
                </a:solidFill>
                <a:latin typeface="Inter"/>
              </a:rPr>
              <a:t>Delegation error: the wrong worker gets the task</a:t>
            </a:r>
          </a:p>
          <a:p>
            <a:pPr marL="292608" indent="-292608">
              <a:lnSpc>
                <a:spcPct val="120000"/>
              </a:lnSpc>
              <a:spcAft>
                <a:spcPts val="1260"/>
              </a:spcAft>
              <a:buClr>
                <a:srgbClr val="00D4AA"/>
              </a:buClr>
              <a:buFont typeface="Inter"/>
              <a:buChar char="•"/>
            </a:pPr>
            <a:r>
              <a:rPr sz="1800" b="0">
                <a:solidFill>
                  <a:srgbClr val="FFFFFF"/>
                </a:solidFill>
                <a:latin typeface="Inter"/>
              </a:rPr>
              <a:t>Infinite delegation: work bounces back and forth</a:t>
            </a:r>
          </a:p>
          <a:p>
            <a:pPr marL="292608" indent="-292608">
              <a:lnSpc>
                <a:spcPct val="120000"/>
              </a:lnSpc>
              <a:spcAft>
                <a:spcPts val="1260"/>
              </a:spcAft>
              <a:buClr>
                <a:srgbClr val="00D4AA"/>
              </a:buClr>
              <a:buFont typeface="Inter"/>
              <a:buChar char="•"/>
            </a:pPr>
            <a:r>
              <a:rPr sz="1800" b="0">
                <a:solidFill>
                  <a:srgbClr val="FFFFFF"/>
                </a:solidFill>
                <a:latin typeface="Inter"/>
              </a:rPr>
              <a:t>State corruption: data altered or stale in transit</a:t>
            </a:r>
          </a:p>
          <a:p>
            <a:pPr marL="292608" indent="-292608">
              <a:lnSpc>
                <a:spcPct val="120000"/>
              </a:lnSpc>
              <a:spcAft>
                <a:spcPts val="1260"/>
              </a:spcAft>
              <a:buClr>
                <a:srgbClr val="00D4AA"/>
              </a:buClr>
              <a:buFont typeface="Inter"/>
              <a:buChar char="•"/>
            </a:pPr>
            <a:r>
              <a:rPr sz="1800" b="0">
                <a:solidFill>
                  <a:srgbClr val="FFFFFF"/>
                </a:solidFill>
                <a:latin typeface="Inter"/>
              </a:rPr>
              <a:t>Failure propagation: one bad output poisons the 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1-multi-agent-failure-cascad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07 · Lecture 7.1 · How one agent's failure spreads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safe system returns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ok: everything worked</a:t>
            </a:r>
          </a:p>
          <a:p>
            <a:pPr marL="292608" indent="-292608">
              <a:lnSpc>
                <a:spcPct val="120000"/>
              </a:lnSpc>
              <a:spcAft>
                <a:spcPts val="1539"/>
              </a:spcAft>
              <a:buClr>
                <a:srgbClr val="00D4AA"/>
              </a:buClr>
              <a:buFont typeface="Inter"/>
              <a:buChar char="•"/>
            </a:pPr>
            <a:r>
              <a:rPr sz="2200" b="0">
                <a:solidFill>
                  <a:srgbClr val="FFFFFF"/>
                </a:solidFill>
                <a:latin typeface="Inter"/>
              </a:rPr>
              <a:t>recovered: a failure was caught and retried successfully</a:t>
            </a:r>
          </a:p>
          <a:p>
            <a:pPr marL="292608" indent="-292608">
              <a:lnSpc>
                <a:spcPct val="120000"/>
              </a:lnSpc>
              <a:spcAft>
                <a:spcPts val="1539"/>
              </a:spcAft>
              <a:buClr>
                <a:srgbClr val="00D4AA"/>
              </a:buClr>
              <a:buFont typeface="Inter"/>
              <a:buChar char="•"/>
            </a:pPr>
            <a:r>
              <a:rPr sz="2200" b="0">
                <a:solidFill>
                  <a:srgbClr val="FFFFFF"/>
                </a:solidFill>
                <a:latin typeface="Inter"/>
              </a:rPr>
              <a:t>degraded: the customer gets a safe fallback reply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Agents fail between each other, too</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Loops, corruption and cascades need system tests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Degrade to a safe reply, never garbage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Testing Agent Communication, Delegation &amp; Coordination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In Lecture 7.2, you'll write the tests that check every one of those hand-offs: who talks to whom…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MULTI-AGENT SYSTEM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Testing Agent Communication, Delegation &amp; Coordination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Make hand-offs testable with a message object that carries sender, receiver and a checksum.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Test the conversation, not just the answer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Final reply: what the customer sees</a:t>
            </a:r>
          </a:p>
          <a:p>
            <a:pPr marL="292608" indent="-292608">
              <a:lnSpc>
                <a:spcPct val="120000"/>
              </a:lnSpc>
              <a:spcAft>
                <a:spcPts val="1539"/>
              </a:spcAft>
              <a:buClr>
                <a:srgbClr val="00D4AA"/>
              </a:buClr>
              <a:buFont typeface="Inter"/>
              <a:buChar char="•"/>
            </a:pPr>
            <a:r>
              <a:rPr sz="2200" b="0">
                <a:solidFill>
                  <a:srgbClr val="FFFFFF"/>
                </a:solidFill>
                <a:latin typeface="Inter"/>
              </a:rPr>
              <a:t>Messages: how the agents got there</a:t>
            </a:r>
          </a:p>
          <a:p>
            <a:pPr marL="292608" indent="-292608">
              <a:lnSpc>
                <a:spcPct val="120000"/>
              </a:lnSpc>
              <a:spcAft>
                <a:spcPts val="1539"/>
              </a:spcAft>
              <a:buClr>
                <a:srgbClr val="00D4AA"/>
              </a:buClr>
              <a:buFont typeface="Inter"/>
              <a:buChar char="•"/>
            </a:pPr>
            <a:r>
              <a:rPr sz="2200" b="0">
                <a:solidFill>
                  <a:srgbClr val="FFFFFF"/>
                </a:solidFill>
                <a:latin typeface="Inter"/>
              </a:rPr>
              <a:t>Most multi-agent bugs hide in the messages</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hand-off checks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Delegation: research before the writer</a:t>
            </a:r>
          </a:p>
          <a:p>
            <a:pPr marL="292608" indent="-292608">
              <a:lnSpc>
                <a:spcPct val="120000"/>
              </a:lnSpc>
              <a:spcAft>
                <a:spcPts val="1539"/>
              </a:spcAft>
              <a:buClr>
                <a:srgbClr val="00D4AA"/>
              </a:buClr>
              <a:buFont typeface="Inter"/>
              <a:buChar char="•"/>
            </a:pPr>
            <a:r>
              <a:rPr sz="2200" b="0">
                <a:solidFill>
                  <a:srgbClr val="FFFFFF"/>
                </a:solidFill>
                <a:latin typeface="Inter"/>
              </a:rPr>
              <a:t>Integrity: every message passes its checksum</a:t>
            </a:r>
          </a:p>
          <a:p>
            <a:pPr marL="292608" indent="-292608">
              <a:lnSpc>
                <a:spcPct val="120000"/>
              </a:lnSpc>
              <a:spcAft>
                <a:spcPts val="1539"/>
              </a:spcAft>
              <a:buClr>
                <a:srgbClr val="00D4AA"/>
              </a:buClr>
              <a:buFont typeface="Inter"/>
              <a:buChar char="•"/>
            </a:pPr>
            <a:r>
              <a:rPr sz="2200" b="0">
                <a:solidFill>
                  <a:srgbClr val="FFFFFF"/>
                </a:solidFill>
                <a:latin typeface="Inter"/>
              </a:rPr>
              <a:t>Topology: workers only talk to the supervisor</a:t>
            </a:r>
          </a:p>
          <a:p>
            <a:pPr marL="292608" indent="-292608">
              <a:lnSpc>
                <a:spcPct val="120000"/>
              </a:lnSpc>
              <a:spcAft>
                <a:spcPts val="1539"/>
              </a:spcAft>
              <a:buClr>
                <a:srgbClr val="00D4AA"/>
              </a:buClr>
              <a:buFont typeface="Inter"/>
              <a:buChar char="•"/>
            </a:pPr>
            <a:r>
              <a:rPr sz="2200" b="0">
                <a:solidFill>
                  <a:srgbClr val="FFFFFF"/>
                </a:solidFill>
                <a:latin typeface="Inter"/>
              </a:rPr>
              <a:t>Content flow: the writer used the findings</a:t>
            </a:r>
          </a:p>
          <a:p>
            <a:pPr marL="292608" indent="-292608">
              <a:lnSpc>
                <a:spcPct val="120000"/>
              </a:lnSpc>
              <a:spcAft>
                <a:spcPts val="1539"/>
              </a:spcAft>
              <a:buClr>
                <a:srgbClr val="00D4AA"/>
              </a:buClr>
              <a:buFont typeface="Inter"/>
              <a:buChar char="•"/>
            </a:pPr>
            <a:r>
              <a:rPr sz="2200" b="0">
                <a:solidFill>
                  <a:srgbClr val="FFFFFF"/>
                </a:solidFill>
                <a:latin typeface="Inter"/>
              </a:rPr>
              <a:t>Budget: finished within 10 steps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Delegation accuracy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Table: request and the expected first worker</a:t>
            </a:r>
          </a:p>
          <a:p>
            <a:pPr marL="292608" indent="-292608">
              <a:lnSpc>
                <a:spcPct val="120000"/>
              </a:lnSpc>
              <a:spcAft>
                <a:spcPts val="1539"/>
              </a:spcAft>
              <a:buClr>
                <a:srgbClr val="00D4AA"/>
              </a:buClr>
              <a:buFont typeface="Inter"/>
              <a:buChar char="•"/>
            </a:pPr>
            <a:r>
              <a:rPr sz="2200" b="0">
                <a:solidFill>
                  <a:srgbClr val="FFFFFF"/>
                </a:solidFill>
                <a:latin typeface="Inter"/>
              </a:rPr>
              <a:t>Run each request; record the supervisor's choice</a:t>
            </a:r>
          </a:p>
          <a:p>
            <a:pPr marL="292608" indent="-292608">
              <a:lnSpc>
                <a:spcPct val="120000"/>
              </a:lnSpc>
              <a:spcAft>
                <a:spcPts val="1539"/>
              </a:spcAft>
              <a:buClr>
                <a:srgbClr val="00D4AA"/>
              </a:buClr>
              <a:buFont typeface="Inter"/>
              <a:buChar char="•"/>
            </a:pPr>
            <a:r>
              <a:rPr sz="2200" b="0">
                <a:solidFill>
                  <a:srgbClr val="FFFFFF"/>
                </a:solidFill>
                <a:latin typeface="Inter"/>
              </a:rPr>
              <a:t>Score accuracy, like tool selection in 6.2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Coordination without shared state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Agents share nothing mutable</a:t>
            </a:r>
          </a:p>
          <a:p>
            <a:pPr marL="292608" indent="-292608">
              <a:lnSpc>
                <a:spcPct val="120000"/>
              </a:lnSpc>
              <a:spcAft>
                <a:spcPts val="1539"/>
              </a:spcAft>
              <a:buClr>
                <a:srgbClr val="00D4AA"/>
              </a:buClr>
              <a:buFont typeface="Inter"/>
              <a:buChar char="•"/>
            </a:pPr>
            <a:r>
              <a:rPr sz="2200" b="0">
                <a:solidFill>
                  <a:srgbClr val="FFFFFF"/>
                </a:solidFill>
                <a:latin typeface="Inter"/>
              </a:rPr>
              <a:t>All state travels inside messages</a:t>
            </a:r>
          </a:p>
          <a:p>
            <a:pPr marL="292608" indent="-292608">
              <a:lnSpc>
                <a:spcPct val="120000"/>
              </a:lnSpc>
              <a:spcAft>
                <a:spcPts val="1539"/>
              </a:spcAft>
              <a:buClr>
                <a:srgbClr val="00D4AA"/>
              </a:buClr>
              <a:buFont typeface="Inter"/>
              <a:buChar char="•"/>
            </a:pPr>
            <a:r>
              <a:rPr sz="2200" b="0">
                <a:solidFill>
                  <a:srgbClr val="FFFFFF"/>
                </a:solidFill>
                <a:latin typeface="Inter"/>
              </a:rPr>
              <a:t>No locks, no races, nothing stale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hand-offs, not just the final reply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Check order, integrity, topology and content flow</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Parse routing decisions defensively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Detecting Infinite Loops, State Corruption &amp; Failure Propagation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Healthy runs are the easy part.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MULTI-AGENT SYSTEM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Detecting Infinite Loops, State Corruption &amp; Failure Propagation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 runtime loop detector that halts after three identical consecutive actions or a ten-step budget.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runtime guards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Loop detector: 3 identical actions, or 10 steps</a:t>
            </a:r>
          </a:p>
          <a:p>
            <a:pPr marL="292608" indent="-292608">
              <a:lnSpc>
                <a:spcPct val="120000"/>
              </a:lnSpc>
              <a:spcAft>
                <a:spcPts val="1539"/>
              </a:spcAft>
              <a:buClr>
                <a:srgbClr val="00D4AA"/>
              </a:buClr>
              <a:buFont typeface="Inter"/>
              <a:buChar char="•"/>
            </a:pPr>
            <a:r>
              <a:rPr sz="2200" b="0">
                <a:solidFill>
                  <a:srgbClr val="FFFFFF"/>
                </a:solidFill>
                <a:latin typeface="Inter"/>
              </a:rPr>
              <a:t>Checksum: corrupted message, retry once</a:t>
            </a:r>
          </a:p>
          <a:p>
            <a:pPr marL="292608" indent="-292608">
              <a:lnSpc>
                <a:spcPct val="120000"/>
              </a:lnSpc>
              <a:spcAft>
                <a:spcPts val="1539"/>
              </a:spcAft>
              <a:buClr>
                <a:srgbClr val="00D4AA"/>
              </a:buClr>
              <a:buFont typeface="Inter"/>
              <a:buChar char="•"/>
            </a:pPr>
            <a:r>
              <a:rPr sz="2200" b="0">
                <a:solidFill>
                  <a:srgbClr val="FFFFFF"/>
                </a:solidFill>
                <a:latin typeface="Inter"/>
              </a:rPr>
              <a:t>Hand-off checks: empty or unsafe output stops the run</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end of every run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Any unrecovered failure: degraded, fallback reply</a:t>
            </a:r>
          </a:p>
          <a:p>
            <a:pPr marL="292608" indent="-292608">
              <a:lnSpc>
                <a:spcPct val="120000"/>
              </a:lnSpc>
              <a:spcAft>
                <a:spcPts val="1539"/>
              </a:spcAft>
              <a:buClr>
                <a:srgbClr val="00D4AA"/>
              </a:buClr>
              <a:buFont typeface="Inter"/>
              <a:buChar char="•"/>
            </a:pPr>
            <a:r>
              <a:rPr sz="2200" b="0">
                <a:solidFill>
                  <a:srgbClr val="FFFFFF"/>
                </a:solidFill>
                <a:latin typeface="Inter"/>
              </a:rPr>
              <a:t>No draft at all: degraded, fallback reply</a:t>
            </a:r>
          </a:p>
          <a:p>
            <a:pPr marL="292608" indent="-292608">
              <a:lnSpc>
                <a:spcPct val="120000"/>
              </a:lnSpc>
              <a:spcAft>
                <a:spcPts val="1539"/>
              </a:spcAft>
              <a:buClr>
                <a:srgbClr val="00D4AA"/>
              </a:buClr>
              <a:buFont typeface="Inter"/>
              <a:buChar char="•"/>
            </a:pPr>
            <a:r>
              <a:rPr sz="2200" b="0">
                <a:solidFill>
                  <a:srgbClr val="FFFFFF"/>
                </a:solidFill>
                <a:latin typeface="Inter"/>
              </a:rPr>
              <a:t>Failures all recovered: recovered, real reply</a:t>
            </a:r>
          </a:p>
          <a:p>
            <a:pPr marL="292608" indent="-292608">
              <a:lnSpc>
                <a:spcPct val="120000"/>
              </a:lnSpc>
              <a:spcAft>
                <a:spcPts val="1539"/>
              </a:spcAft>
              <a:buClr>
                <a:srgbClr val="00D4AA"/>
              </a:buClr>
              <a:buFont typeface="Inter"/>
              <a:buChar char="•"/>
            </a:pPr>
            <a:r>
              <a:rPr sz="2200" b="0">
                <a:solidFill>
                  <a:srgbClr val="FFFFFF"/>
                </a:solidFill>
                <a:latin typeface="Inter"/>
              </a:rPr>
              <a:t>No failures: ok, real reply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good fallback reply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Honest: says it couldn't confirm the details</a:t>
            </a:r>
          </a:p>
          <a:p>
            <a:pPr marL="292608" indent="-292608">
              <a:lnSpc>
                <a:spcPct val="120000"/>
              </a:lnSpc>
              <a:spcAft>
                <a:spcPts val="1539"/>
              </a:spcAft>
              <a:buClr>
                <a:srgbClr val="00D4AA"/>
              </a:buClr>
              <a:buFont typeface="Inter"/>
              <a:buChar char="•"/>
            </a:pPr>
            <a:r>
              <a:rPr sz="2200" b="0">
                <a:solidFill>
                  <a:srgbClr val="FFFFFF"/>
                </a:solidFill>
                <a:latin typeface="Inter"/>
              </a:rPr>
              <a:t>Sets an expectation: one business day</a:t>
            </a:r>
          </a:p>
          <a:p>
            <a:pPr marL="292608" indent="-292608">
              <a:lnSpc>
                <a:spcPct val="120000"/>
              </a:lnSpc>
              <a:spcAft>
                <a:spcPts val="1539"/>
              </a:spcAft>
              <a:buClr>
                <a:srgbClr val="00D4AA"/>
              </a:buClr>
              <a:buFont typeface="Inter"/>
              <a:buChar char="•"/>
            </a:pPr>
            <a:r>
              <a:rPr sz="2200" b="0">
                <a:solidFill>
                  <a:srgbClr val="FFFFFF"/>
                </a:solidFill>
                <a:latin typeface="Inter"/>
              </a:rPr>
              <a:t>Invents nothing: no prices, no policies</a:t>
            </a:r>
          </a:p>
          <a:p>
            <a:pPr marL="292608" indent="-292608">
              <a:lnSpc>
                <a:spcPct val="120000"/>
              </a:lnSpc>
              <a:spcAft>
                <a:spcPts val="1539"/>
              </a:spcAft>
              <a:buClr>
                <a:srgbClr val="00D4AA"/>
              </a:buClr>
              <a:buFont typeface="Inter"/>
              <a:buChar char="•"/>
            </a:pPr>
            <a:r>
              <a:rPr sz="2200" b="0">
                <a:solidFill>
                  <a:srgbClr val="FFFFFF"/>
                </a:solidFill>
                <a:latin typeface="Inter"/>
              </a:rPr>
              <a:t>Logged: the failure type travels with the run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Halt on 3 repeats or 10 steps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Checksum hand-offs; retry once, then degrade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Inject every failure; assert a safe ending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Name the failures between agents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hand-offs for order and integrity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Inject failures and verify safe degradation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07 · Lecture 7.3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AI Agent Threat Model: What Attackers Actually Do</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Do Lab 7.1 now, while the Reply Desk is fresh.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