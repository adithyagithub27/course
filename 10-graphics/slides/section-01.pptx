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LLMs in 10 Minutes: Tokens, Context, Temperature.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lecture, you'll be able to explain how tokens, context windows and temperature shape every test you write for an agent.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isn't a machine learning course. You don't need attention mechanisms or training math. You need three ideas, because every evaluation technique from Module 3 onward leans on them. Think of this as your tester's cheat sheet for language models.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Language models don't read words. They read tokens. A token is a chunk of text: often a whole word, sometimes part of one, sometimes punctuation. A handy rule of thumb: a hundred tokens is roughly seventy-five English words.</a:t>
            </a:r>
          </a:p>
          <a:p/>
          <a:p>
            <a:r>
              <a:t>Why should a tester care? Two reasons. Cost, and truncation. Every token in and out is billed. And when you cap a response with a maximum token count, you're cutting tokens, not words. A capped answer can stop mid-sentence, and your test has to notice.</a:t>
            </a:r>
          </a:p>
          <a:p/>
          <a:p>
            <a:r>
              <a:t>[SCREEN: Terminal. Run the token demo; the version banner shows `openai 2.54.0 | tiktoken 0.14.0`.]</a:t>
            </a:r>
          </a:p>
          <a:p/>
          <a:p>
            <a:r>
              <a:t>[DEMO: Output (banner trimmed)]</a:t>
            </a:r>
          </a:p>
          <a:p/>
          <a:p>
            <a:r>
              <a:t>Here's a real customer message for our TechCorp agent. Nineteen tokens. But look at what the model actually receives on the first call. The system prompt is two hundred fifty-five tokens. The five tool definitions are four hundred eighty-one. The customer's words are the smallest part: nineteen out of seven hundred fifty-five.</a:t>
            </a:r>
          </a:p>
          <a:p/>
          <a:p>
            <a:r>
              <a:t>That surprises most testers. The fixed overhead, the prompt and the tool schemas, is paid again on every single call. And an agent makes several calls per question. So when someone adds a sixth tool or a longer rule to the prompt, every test case gets more expensive, and every conversation fills its context a little faster.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what does that cost? On `gpt-4.1-mini`, about four hundredths of a cent per call. Tiny. Now scale it. A suite of five hundred test cases at two thousand tokens each is a million tokens per run. Your judge model, `gpt-4.1`, is about five times the price of the agent model. Run that suite ten times a day and you can see the bill. Tokens are your testing budget, and that's why this course runs offline by default.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context window is everything the model can see at once. Think of it as a desk. The system prompt, the tool definitions, the conversation so far, any documents the agent retrieved, the new question, and room for the answer: all of it has to fit on the desk.</a:t>
            </a:r>
          </a:p>
          <a:p/>
          <a:p>
            <a:r>
              <a:t>The `gpt-4.1` family has a window of about one million tokens. Our demo says that's over twelve thousand turns of this size. Sounds endless, right?</a:t>
            </a:r>
          </a:p>
          <a:p/>
          <a:p>
            <a:r>
              <a:t>It isn't, for two reasons. Real turns carry more than a short question: every tool result the agent reads lands on the desk too, and a single knowledge-base article can be longer than the whole customer message. And the window is a hard limit only at the very edge. Long before it's full, quality can slip.</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catch. Size isn't the problem; attention is. Research on long contexts found that models use information at the start and end of the context better than information buried in the middle. It's often called "lost in the middle" (verify: Liu et al., 2023). For you, that means an agent can answer perfectly in a three-turn test and forget the customer's account ID by turn thirty. Your test suite needs both lengths.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Third idea: temperature. Every time a model picks the next token, it chooses from a list of likely options. Temperature controls how adventurous that choice is. At zero, it nearly always takes the most likely token, so the wording barely changes. At one, it samples more widely. Same facts, different words. Push it toward two, and answers get strange.</a:t>
            </a:r>
          </a:p>
          <a:p/>
          <a:p>
            <a:r>
              <a:t>Which setting would you rather test against? Here's an analogy. Ask ten people to finish "the capital of France is", and they all say Paris. That's temperature zero. Ask them to "name a city in France", and you get Paris, Lyon, Nice. All correct, all different. That's temperature one.</a:t>
            </a:r>
          </a:p>
          <a:p/>
          <a:p>
            <a:r>
              <a:t>[SCREEN: Terminal. Run the temperature demo. Highlight the five identical lines, then the three different phrasings.]</a:t>
            </a:r>
          </a:p>
          <a:p/>
          <a:p>
            <a:r>
              <a:t>[DEMO: Output (banner trimmed)]</a:t>
            </a:r>
          </a:p>
          <a:p/>
          <a:p>
            <a:r>
              <a:t>Same question, "How long do refunds take?", five times at each setting. At zero: one distinct answer out of five. At one: three distinct answers out of five. Every one says five to seven business days. Every one is correct. And an exact-match assertion fails on every run that isn't word-for-word the expected sentence. That's the test from the start of this lecture.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Can you just set temperature to zero for testing? It helps, but it's not a guarantee. Providers update models, and long contexts shift outputs, so even at zero you'll see some drift. And you want to test the agent the way it runs in production. Our TechCorp agent doesn't set a temperature, so it uses the API default. The fix isn't to freeze the model. It's to check meaning instead of exact words. That's exactly what you'll build in Module 3.</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There's a second habit worth starting now. When the output can vary, one run proves very little. So how many runs do you need? In Module 10 you'll run the same case several times and measure consistency: how often the agent takes the same path of tools. Our quality policy asks for at least zero point seven.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fundamentals. Tokens are your cost currency: seven hundred fifty-five tokens before the agent even acts, and judge calls cost more. Context windows fill with prompts, tools and history, and details in the middle fade. And temperature changes the wording from run to run, so exact-match assertions break and semantic checks win.</a:t>
            </a:r>
          </a:p>
          <a:p/>
          <a:p>
            <a:r>
              <a:t>Now you know the engine. Next, you'll see what makes an agent different from a chatbot. Spoiler: it isn't the model. It's the loop. Agents don't just answer; they act, look at the result, and act again. That changes what you have to test.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What Makes an Agent an Agent (Not a Chatbot).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lecture, you'll be able to look at any AI system, say whether it's a chatbot or an agent, and explain why agents need a different kind of test.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Last lecture was about the engine: tokens, context and temperature. Now let's look at the machine built around it. People say "agent" when they mean "chatbot" all the time. If you mix them up, you'll test the wrong things.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chatbot is the simplest thing you can build with a language model. A message goes in, one model call happens, and text comes out. No tools. No database. No second step. It can't check your account, because it has no way to reach your account.</a:t>
            </a:r>
          </a:p>
          <a:p/>
          <a:p>
            <a:r>
              <a:t>Testing a chatbot is fairly direct. Send a prompt, judge the response. You still need to check meaning rather than exact words, as you saw last lecture, but there's one input and one output. One thing to check.</a:t>
            </a:r>
          </a:p>
          <a:p/>
          <a:p>
            <a:r>
              <a:t>Now, what happens when you give that same model hands?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agent runs in a loop. It observes the conversation and any tool results. It thinks: what should I do next? It acts: either it calls a tool, or it writes the final answer. If it called a tool, the result goes back into the conversation, and the loop runs again.</a:t>
            </a:r>
          </a:p>
          <a:p/>
          <a:p>
            <a:r>
              <a:t>That's the whole difference. The same model, but now it decides which tool to call, with which arguments, how many times, and when to stop. Every one of those decisions can be wrong.</a:t>
            </a:r>
          </a:p>
          <a:p/>
          <a:p>
            <a:r>
              <a:t>[SCREEN: Terminal. Run the side-by-side demo. Pause on the chatbot paragraph, then step through the agent's three lines.]</a:t>
            </a:r>
          </a:p>
          <a:p/>
          <a:p>
            <a:r>
              <a:t>[DEMO: Output (banner trimmed)]</a:t>
            </a:r>
          </a:p>
          <a:p/>
          <a:p>
            <a:r>
              <a:t>Here's the real thing. The chatbot gets one model call and no tools, so it does the honest thing: it says it can't reach the account. Polite, correct, and useless to Alice. Notice that a chatbot test would probably pass this answer. It's relevant and it's safe. It just doesn't do the job.</a:t>
            </a:r>
          </a:p>
          <a:p/>
          <a:p>
            <a:r>
              <a:t>The agent goes to work. Step one: it calls `lookup_customer` with the email. The tool returns Alice Johnson, customer one. Step two: it calls `create_ticket` for that customer ID, with priority high. The tool returns ticket five thousand and one. Then the model writes the final answer. Three model calls, two tool calls, just under three thousand tokens.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count what you could test in that one run. Was `lookup_customer` the right first tool? Was the email the right argument? Did the ticket use the customer ID the lookup returned, not a guess? Did the agent stop after the ticket, or wander on? And is the final answer correct and supported by what the tools said? A chatbot test checks one thing. This agent run gives you at least five.</a:t>
            </a:r>
          </a:p>
          <a:p/>
          <a:p>
            <a:r>
              <a:t>[CODE: `agents/support_agent.py`, the loop inside `run_support_agent` (trimmed)]</a:t>
            </a:r>
          </a:p>
          <a:p/>
          <a:p>
            <a:r>
              <a:t>Here's that loop in our agent. It's plain OpenAI tool calling, no framework. Each pass calls the model with the conversation and the five tool definitions. If the model asks for tools, the code runs them, logs the tool name, the arguments and the result, and appends the result to the conversation. Otherwise, it returns the answer.</a:t>
            </a:r>
          </a:p>
          <a:p/>
          <a:p>
            <a:r>
              <a:t>See the line that appends `choice.message`? The agent's own tool request goes into the conversation too, so on the next pass the model can see what it asked for and what came back. That's how the loop remembers.</a:t>
            </a:r>
          </a:p>
          <a:p/>
          <a:p>
            <a:r>
              <a:t>Notice two more things. First, `max_iterations` is five. The loop can't run forever; you'll see why that matters in Lecture 1.4. Second, `tool_calls_log`. Every step is recorded. That log is what your trajectory tests will read.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properties separate agents from chatbots. Reasoning: it decides what to do next instead of just replying. Tools: it can change real systems, like opening a ticket or sending an email. Memory: it carries the conversation and tool results from step to step. And goal pursuit: it keeps going until the job is done, or it gives up and escalates.</a:t>
            </a:r>
          </a:p>
          <a:p/>
          <a:p>
            <a:r>
              <a:t>A chatbot has none of these. Which ones does a basic retrieval bot have? Just one: a single tool, the search. A full agent has all four, and each is a separate thing to test. You'll take each one apart in the next lecture.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 brings us to the most important word in this course: trajectory. The trajectory is the full path: every tool call, every argument, every result, in order. Why does it matter? Because an agent can reach the right answer by a risky path, like reading an account it had no reason to open. And when the answer is wrong, the trajectory tells you which step went wrong. That's why our agent logs every step.</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takeaways. Chatbots take text in and give text out. Agents run a loop of observe, think and act, with tools at every step. One short agent run already gives you five things to check. So you don't just test the final answer. You test the trajectory: every tool, every argument, every step.</a:t>
            </a:r>
          </a:p>
          <a:p/>
          <a:p>
            <a:r>
              <a:t>You've seen that agents run a loop. So what's inside that loop? Next, you'll break an agent into its four building blocks: the model, the tools, memory and planning. And, more useful for you, where each one breaks.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Agent Architecture: The Loop, Tools, Memory, Planning.</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lecture, you'll be able to take any agent and map it to four components you can test one at a time.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agent has the same four parts, whatever framework built it. A model that reasons. Tools that act. Memory that carries context. And planning, the strategy for getting from question to done. Each part breaks in its own way, so each needs its own tests. This blueprint is the map you'll use every time you design a test strategy.</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one is the model itself. In our agent, that's `gpt-4.1-mini`. It reads the system prompt, the conversation and every tool result, and it writes three kinds of output: reasoning, tool calls and the final answer.</a:t>
            </a:r>
          </a:p>
          <a:p/>
          <a:p>
            <a:r>
              <a:t>Sound like anyone you've worked with? Think of it as a brilliant but unreliable consultant. It connects dots fast and writes beautifully. It also sometimes invents facts, sometimes draws the wrong conclusion from the right facts, and sometimes forgets a rule from the brief.</a:t>
            </a:r>
          </a:p>
          <a:p/>
          <a:p>
            <a:r>
              <a:t>[SCREEN: VS Code, `agents/support_agent.py`, scroll `SYSTEM_PROMPT`. Highlight "Only state prices, limits and policies that appear in a k...]</a:t>
            </a:r>
          </a:p>
          <a:p/>
          <a:p>
            <a:r>
              <a:t>Here's the brief our agent gets. Five responsibilities, six rules, four escalation rules. Every rule is a test waiting to be written. "Only state prices, limits and policies that appear in a knowledge base result." That's the line from Lecture 0.1. Delete it, and the brain starts inventing prices.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two: tools. These are the agent's hands. Our agent has five: look up a customer, search the knowledge base, create a ticket, send an email, and escalate to a human.</a:t>
            </a:r>
          </a:p>
          <a:p/>
          <a:p>
            <a:r>
              <a:t>[SCREEN: VS Code, `agents/support_agent.py`, collapse `TOOLS` to show the five `"name":` lines, then expand `create_ticket` to show its f...]</a:t>
            </a:r>
          </a:p>
          <a:p/>
          <a:p>
            <a:r>
              <a:t>Here's why tools carry the most risk. A bad sentence is embarrassing. A bad tool call opens the wrong ticket, emails the wrong person, or reads the wrong customer's account. Tools have side effects.</a:t>
            </a:r>
          </a:p>
          <a:p/>
          <a:p>
            <a:r>
              <a:t>Every tool has three failure surfaces. Selection: did it pick the right tool? Arguments: did it pass the right values? And result use: did it read the result correctly? Five tools, three surfaces each. That's fifteen things to test before you even look at the answer. Which of the five worries you most? Look at the ones that change something: `create_ticket`, `send_email` and `escalate_to_human`. A wrong search wastes a call. A wrong email can't be unsent.</a:t>
            </a:r>
          </a:p>
          <a:p/>
          <a:p>
            <a:r>
              <a:t>[SCREEN: Terminal. Run the Lab 1.1 demo and zoom on the third query, the unknown email.]</a:t>
            </a:r>
          </a:p>
          <a:p/>
          <a:p>
            <a:r>
              <a:t>[DEMO: Output (third query only)]</a:t>
            </a:r>
          </a:p>
          <a:p/>
          <a:p>
            <a:r>
              <a:t>Here's result use done right. The tool says "Customer not found." The agent tells the customer exactly that and asks for another identifier. A weaker agent might treat an empty result as success and invent an account. That's a test case: feed a tool an unknown value, check the answer admits it.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three: memory. Three layers. Short-term memory is the conversation history; in our code, that's the `conversation_history` argument. Working memory is the message list inside one run: every tool call and result so far. Long-term memory is what the agent can look up: five knowledge-base articles and three customer records here, often a vector database in bigger systems.</a:t>
            </a:r>
          </a:p>
          <a:p/>
          <a:p>
            <a:r>
              <a:t>What breaks? Retrieval can return the wrong article. History can grow until early details get dropped. A customer gives their email in message two; by message thirty, the agent asks for it again. Testing memory means testing at several conversation lengths. Few teams ever write that test. Will yours?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four: planning. How does the agent break a task into steps, and when does it stop? Take one of our hardest golden cases: cancel my subscription and refund me, I signed up three weeks ago. The agent looks up the customer, searches the refund policy, then creates a ticket. Four model calls, three tools, in that order.</a:t>
            </a:r>
          </a:p>
          <a:p/>
          <a:p>
            <a:r>
              <a:t>Planning failures are the hardest to test, because the right plan depends on what each step returns. You can't always hard-code the expected steps. Sometimes you check the order. Sometimes you check that the plan was sensible given what the agent knew. That's trajectory evaluation, and you'll build it in Module 6.</a:t>
            </a:r>
          </a:p>
          <a:p/>
          <a:p>
            <a:r>
              <a:t>[SCREEN: VS Code, `run_support_agent` signature. Highlight `conversation_history: list | None = None` and `max_iterations: int = 5`.]</a:t>
            </a:r>
          </a:p>
          <a:p/>
          <a:p>
            <a:r>
              <a:t>In code, our agent's planning is the loop itself, plus the system prompt's rules, plus one guard: at most five model calls. Hit the cap, and it apologizes and escalates. Is five the right number? For this agent, yes: its longest golden case needs four calls. Your agent might need a different cap, and testing tells you which.</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put it together. What does each part do, and how does it fail? The LLM reasons and writes; it can hallucinate, reason badly or drift from the brief. Tools act; they can be the wrong tool, get the wrong arguments, or have their results misread. Memory stores and retrieves; it can retrieve the wrong thing or forget. Planning sequences the steps; it can choose a bad plan or never stop. Every test you write targets one of these rows.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Lock in the blueprint. Every agent has four testable parts: the model, the tools, memory and planning. Tools carry the most risk, because they change real systems. And each part fails in its own way, so each gets its own tests.</a:t>
            </a:r>
          </a:p>
          <a:p/>
          <a:p>
            <a:r>
              <a:t>You know the four parts. Next, the six specific ways they fail: hallucination, wrong tool selection, incorrect tool arguments, reasoning errors, goal drift and infinite loops. You'll see a real recorded example of every one.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The 6 Ways AI Agents Fail (And Why Testing Is Hard).</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lecture, you'll be able to name the six ways agents fail, show an example of each, and say which check catches it.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you can test anything, you need to know what breaks. This is your field guide. Every technique from Module 3 onward maps back to one of these six.</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Failure one: hallucination. The agent states facts that aren't in its context, its tool results or the world. That pricing answer was hallucinated: it never searched the knowledge base, so it answered from memory. The check that catches it is faithfulness: compare every claim with the source.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Failure two: wrong tool selection. The agent calls the wrong tool, or a tool when none was needed. That's the password question from last lecture: a ticket instead of a knowledge-base search. The check: expected tools versus called tools.</a:t>
            </a:r>
          </a:p>
          <a:p/>
          <a:p>
            <a:r>
              <a:t>Failure three: incorrect tool arguments. Right tool, wrong values. The customer gives an email, and the agent looks up the first name instead. The tool finds nothing. The check: compare the arguments with what they should be.</a:t>
            </a:r>
          </a:p>
          <a:p/>
          <a:p>
            <a:r>
              <a:t>Which component failed in each case? Hallucination is the brain. Wrong tool and wrong arguments are the hands: the tools layer from last lecture.</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Failure four: reasoning errors. Correct inputs, correct tools, wrong conclusion. The agent reads the thirty-day refund policy, hears "three weeks", and says that's too late. Twenty-one days is less than thirty. The check: correctness against an expected answer.</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Failure five: goal drift. The agent wanders off the user's goal. Someone asks about a double charge, and the agent ends up explaining API rate limits. Prompt injection is goal drift on purpose, when an attacker hijacks the goal. The check: answer relevancy, and red teaming in Module 8.</a:t>
            </a:r>
          </a:p>
          <a:p/>
          <a:p>
            <a:r>
              <a:t>Failure six: infinite loops. The agent repeats the same step without progress. Same search, same result, again and again. Every pass costs tokens, and the customer waits. The check: a loop detector, and a hard cap on steps.</a:t>
            </a:r>
          </a:p>
          <a:p/>
          <a:p>
            <a:r>
              <a:t>And the components? Reasoning errors live in the brain. Goal drift and loops are planning failures: the agent lost track of where it was going. So where would you look first if your agent started looping?</a:t>
            </a:r>
          </a:p>
          <a:p/>
          <a:p>
            <a:r>
              <a:t>[SCREEN: Terminal. Run the failure gallery. Scroll one case at a time; colour each "caught" line red.]</a:t>
            </a:r>
          </a:p>
          <a:p/>
          <a:p>
            <a:r>
              <a:t>[DEMO: Output (banner trimmed)]</a:t>
            </a:r>
          </a:p>
          <a:p/>
          <a:p>
            <a:r>
              <a:t>Here are all six, one recorded run each, and each one caught by a different check. Hallucination: faithfulness zero against a threshold of zero point eight. Wrong tool: we expected a search and got a ticket. Wrong argument: the check shows exactly which value was wrong. Reasoning: correctness zero point three. Drift: relevancy zero. And the loop: the same search five times, until the five-step cap stopped it. The detector flagged it at three in a row.</a:t>
            </a:r>
          </a:p>
          <a:p/>
          <a:p>
            <a:r>
              <a:t>Notice something? Six failures, and not one exception. Every run returned a polite answer. A monitoring alert on errors would have stayed green all day. And look at the reasoning case: the agent did search, and it found the right policy. A test that only checks "did it call the knowledge base?" passes. The mistake is in what it concluded.</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why is this hard? First, nothing crashes. Second, every single step can look reasonable on its own. The drifting agent's search was a sensible search. Third, failures compound: a wrong argument in step one means step two works on bad data. And fourth, there's no single check. Faithfulness misses the loop. A loop detector misses the hallucination. You need a set of checks, applied to the whole trajectory. Which of these six would hurt your users most?</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Lock it in. Six failure modes: hallucination, wrong tool selection, incorrect tool arguments, reasoning errors, goal drift and infinite loops. Agents fail politely, with no exceptions to catch. And because failures compound, you test the whole trajectory, with a different check for each mode.</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can now take any agent apart, and name the six ways it can fail. In Lab 1.1, you'll run the agent on five queries and fill in a failure worksheet. Then Module 2 tackles why your existing test toolkit, exact assertions, mocks and pass or fail, breaks on all of this.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 Id="rId3" Type="http://schemas.openxmlformats.org/officeDocument/2006/relationships/image" Target="../media/image4.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 Id="rId3" Type="http://schemas.openxmlformats.org/officeDocument/2006/relationships/image" Target="../media/image5.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 Id="rId3" Type="http://schemas.openxmlformats.org/officeDocument/2006/relationships/image" Target="../media/image6.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 Id="rId3" Type="http://schemas.openxmlformats.org/officeDocument/2006/relationships/image" Target="../media/image5.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01 · Lecture 1.1</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1 · AI AGENTS: WHAT YOU NEED TO KNOW FOR TESTING</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1.1</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LLMs in 10 Minutes: Tokens, Context, Temperature</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Explain tokens and estimate what a test run costs from token counts.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01 · Lecture 1.1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LLMs in 10 Minutes: Tokens, Context, Temperature</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Tokens: what you pay for and what gets cut</a:t>
            </a:r>
          </a:p>
          <a:p>
            <a:pPr marL="292608" indent="-292608">
              <a:lnSpc>
                <a:spcPct val="120000"/>
              </a:lnSpc>
              <a:spcAft>
                <a:spcPts val="1539"/>
              </a:spcAft>
              <a:buClr>
                <a:srgbClr val="00D4AA"/>
              </a:buClr>
              <a:buFont typeface="Inter"/>
              <a:buChar char="•"/>
            </a:pPr>
            <a:r>
              <a:rPr sz="2200" b="0">
                <a:solidFill>
                  <a:srgbClr val="FFFFFF"/>
                </a:solidFill>
                <a:latin typeface="Inter"/>
              </a:rPr>
              <a:t>Context: everything the model sees at once</a:t>
            </a:r>
          </a:p>
          <a:p>
            <a:pPr marL="292608" indent="-292608">
              <a:lnSpc>
                <a:spcPct val="120000"/>
              </a:lnSpc>
              <a:spcAft>
                <a:spcPts val="1539"/>
              </a:spcAft>
              <a:buClr>
                <a:srgbClr val="00D4AA"/>
              </a:buClr>
              <a:buFont typeface="Inter"/>
              <a:buChar char="•"/>
            </a:pPr>
            <a:r>
              <a:rPr sz="2200" b="0">
                <a:solidFill>
                  <a:srgbClr val="FFFFFF"/>
                </a:solidFill>
                <a:latin typeface="Inter"/>
              </a:rPr>
              <a:t>Temperature: why the same question varies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01 · Lecture 1.1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Your testing cheat sheet</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Not how transformers work</a:t>
            </a:r>
          </a:p>
          <a:p>
            <a:pPr marL="292608" indent="-292608">
              <a:lnSpc>
                <a:spcPct val="120000"/>
              </a:lnSpc>
              <a:spcAft>
                <a:spcPts val="1539"/>
              </a:spcAft>
              <a:buClr>
                <a:srgbClr val="00D4AA"/>
              </a:buClr>
              <a:buFont typeface="Inter"/>
              <a:buChar char="•"/>
            </a:pPr>
            <a:r>
              <a:rPr sz="2200" b="0">
                <a:solidFill>
                  <a:srgbClr val="FFFFFF"/>
                </a:solidFill>
                <a:latin typeface="Inter"/>
              </a:rPr>
              <a:t>Three ideas that change how you test</a:t>
            </a:r>
          </a:p>
          <a:p>
            <a:pPr marL="292608" indent="-292608">
              <a:lnSpc>
                <a:spcPct val="120000"/>
              </a:lnSpc>
              <a:spcAft>
                <a:spcPts val="1539"/>
              </a:spcAft>
              <a:buClr>
                <a:srgbClr val="00D4AA"/>
              </a:buClr>
              <a:buFont typeface="Inter"/>
              <a:buChar char="•"/>
            </a:pPr>
            <a:r>
              <a:rPr sz="2200" b="0">
                <a:solidFill>
                  <a:srgbClr val="FFFFFF"/>
                </a:solidFill>
                <a:latin typeface="Inter"/>
              </a:rPr>
              <a:t>Used in every module from 3 onward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01 · Lecture 1.1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Tokens: the units a model reads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1673860" y="1325880"/>
            <a:ext cx="8859520" cy="4983480"/>
          </a:xfrm>
          <a:prstGeom prst="roundRect">
            <a:avLst>
              <a:gd name="adj" fmla="val 1027"/>
            </a:avLst>
          </a:prstGeom>
          <a:solidFill>
            <a:srgbClr val="0F1E35"/>
          </a:solidFill>
          <a:ln w="19050">
            <a:solidFill>
              <a:srgbClr val="FFB02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948180" y="1508760"/>
            <a:ext cx="8310880" cy="365760"/>
          </a:xfrm>
          <a:prstGeom prst="rect">
            <a:avLst/>
          </a:prstGeom>
          <a:noFill/>
        </p:spPr>
        <p:txBody>
          <a:bodyPr wrap="square" lIns="45720" rIns="45720" tIns="27432" bIns="27432" anchor="t">
            <a:spAutoFit/>
          </a:bodyPr>
          <a:lstStyle/>
          <a:p>
            <a:r>
              <a:rPr sz="1100" b="1">
                <a:solidFill>
                  <a:srgbClr val="FFB020"/>
                </a:solidFill>
                <a:latin typeface="Inter"/>
              </a:rPr>
              <a:t>DIAGRAM TO BUILD</a:t>
            </a:r>
          </a:p>
        </p:txBody>
      </p:sp>
      <p:sp>
        <p:nvSpPr>
          <p:cNvPr id="7" name="TextBox 6"/>
          <p:cNvSpPr txBox="1"/>
          <p:nvPr/>
        </p:nvSpPr>
        <p:spPr>
          <a:xfrm>
            <a:off x="1948180" y="1920240"/>
            <a:ext cx="8310880" cy="4251960"/>
          </a:xfrm>
          <a:prstGeom prst="rect">
            <a:avLst/>
          </a:prstGeom>
          <a:noFill/>
        </p:spPr>
        <p:txBody>
          <a:bodyPr wrap="square" lIns="45720" rIns="45720" tIns="27432" bIns="27432" anchor="t">
            <a:spAutoFit/>
          </a:bodyPr>
          <a:lstStyle/>
          <a:p>
            <a:pPr>
              <a:lnSpc>
                <a:spcPct val="125000"/>
              </a:lnSpc>
            </a:pPr>
            <a:r>
              <a:rPr sz="1500" b="0">
                <a:solidFill>
                  <a:srgbClr val="CBD5E1"/>
                </a:solidFill>
                <a:latin typeface="Inter"/>
              </a:rPr>
              <a:t>Diagram: The customer query "Hi, I was charged twice for my Pro plan this month. Can you refund one charge?" splits into coloured blocks, one per token. A counter under it reads "78 characters → 19 tokens". A small note: "rule of thumb: 100 tokens ≈ 75 English words".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01 · Lecture 1.1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Tokens are your test budget</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755 input tokens before the agent does anything</a:t>
            </a:r>
          </a:p>
          <a:p>
            <a:pPr marL="292608" indent="-292608">
              <a:lnSpc>
                <a:spcPct val="120000"/>
              </a:lnSpc>
              <a:spcAft>
                <a:spcPts val="1539"/>
              </a:spcAft>
              <a:buClr>
                <a:srgbClr val="00D4AA"/>
              </a:buClr>
              <a:buFont typeface="Inter"/>
              <a:buChar char="•"/>
            </a:pPr>
            <a:r>
              <a:rPr sz="2024" b="0">
                <a:solidFill>
                  <a:srgbClr val="00D4AA"/>
                </a:solidFill>
                <a:latin typeface="JetBrains Mono"/>
              </a:rPr>
              <a:t>gpt-4.1-mini</a:t>
            </a:r>
            <a:r>
              <a:rPr sz="2200" b="0">
                <a:solidFill>
                  <a:srgbClr val="FFFFFF"/>
                </a:solidFill>
                <a:latin typeface="Inter"/>
              </a:rPr>
              <a:t>: about $0.0004 per call (verify pricing)</a:t>
            </a:r>
          </a:p>
          <a:p>
            <a:pPr marL="292608" indent="-292608">
              <a:lnSpc>
                <a:spcPct val="120000"/>
              </a:lnSpc>
              <a:spcAft>
                <a:spcPts val="1539"/>
              </a:spcAft>
              <a:buClr>
                <a:srgbClr val="00D4AA"/>
              </a:buClr>
              <a:buFont typeface="Inter"/>
              <a:buChar char="•"/>
            </a:pPr>
            <a:r>
              <a:rPr sz="2200" b="0">
                <a:solidFill>
                  <a:srgbClr val="FFFFFF"/>
                </a:solidFill>
                <a:latin typeface="Inter"/>
              </a:rPr>
              <a:t>Judge calls on </a:t>
            </a:r>
            <a:r>
              <a:rPr sz="2024" b="0">
                <a:solidFill>
                  <a:srgbClr val="00D4AA"/>
                </a:solidFill>
                <a:latin typeface="JetBrains Mono"/>
              </a:rPr>
              <a:t>gpt-4.1</a:t>
            </a:r>
            <a:r>
              <a:rPr sz="2200" b="0">
                <a:solidFill>
                  <a:srgbClr val="FFFFFF"/>
                </a:solidFill>
                <a:latin typeface="Inter"/>
              </a:rPr>
              <a:t> cost about 5x more</a:t>
            </a:r>
          </a:p>
          <a:p>
            <a:pPr marL="292608" indent="-292608">
              <a:lnSpc>
                <a:spcPct val="120000"/>
              </a:lnSpc>
              <a:spcAft>
                <a:spcPts val="1539"/>
              </a:spcAft>
              <a:buClr>
                <a:srgbClr val="00D4AA"/>
              </a:buClr>
              <a:buFont typeface="Inter"/>
              <a:buChar char="•"/>
            </a:pPr>
            <a:r>
              <a:rPr sz="2200" b="0">
                <a:solidFill>
                  <a:srgbClr val="FFFFFF"/>
                </a:solidFill>
                <a:latin typeface="Inter"/>
              </a:rPr>
              <a:t>500 cases × 2,000 tokens = 1M tokens per run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01 · Lecture 1.1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Context window: the model's desk</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1673860" y="1325880"/>
            <a:ext cx="8859520" cy="4983480"/>
          </a:xfrm>
          <a:prstGeom prst="roundRect">
            <a:avLst>
              <a:gd name="adj" fmla="val 1027"/>
            </a:avLst>
          </a:prstGeom>
          <a:solidFill>
            <a:srgbClr val="0F1E35"/>
          </a:solidFill>
          <a:ln w="19050">
            <a:solidFill>
              <a:srgbClr val="FFB02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948180" y="1508760"/>
            <a:ext cx="8310880" cy="365760"/>
          </a:xfrm>
          <a:prstGeom prst="rect">
            <a:avLst/>
          </a:prstGeom>
          <a:noFill/>
        </p:spPr>
        <p:txBody>
          <a:bodyPr wrap="square" lIns="45720" rIns="45720" tIns="27432" bIns="27432" anchor="t">
            <a:spAutoFit/>
          </a:bodyPr>
          <a:lstStyle/>
          <a:p>
            <a:r>
              <a:rPr sz="1100" b="1">
                <a:solidFill>
                  <a:srgbClr val="FFB020"/>
                </a:solidFill>
                <a:latin typeface="Inter"/>
              </a:rPr>
              <a:t>DIAGRAM TO BUILD</a:t>
            </a:r>
          </a:p>
        </p:txBody>
      </p:sp>
      <p:sp>
        <p:nvSpPr>
          <p:cNvPr id="7" name="TextBox 6"/>
          <p:cNvSpPr txBox="1"/>
          <p:nvPr/>
        </p:nvSpPr>
        <p:spPr>
          <a:xfrm>
            <a:off x="1948180" y="1920240"/>
            <a:ext cx="8310880" cy="4251960"/>
          </a:xfrm>
          <a:prstGeom prst="rect">
            <a:avLst/>
          </a:prstGeom>
          <a:noFill/>
        </p:spPr>
        <p:txBody>
          <a:bodyPr wrap="square" lIns="45720" rIns="45720" tIns="27432" bIns="27432" anchor="t">
            <a:spAutoFit/>
          </a:bodyPr>
          <a:lstStyle/>
          <a:p>
            <a:pPr>
              <a:lnSpc>
                <a:spcPct val="125000"/>
              </a:lnSpc>
            </a:pPr>
            <a:r>
              <a:rPr sz="1500" b="0">
                <a:solidFill>
                  <a:srgbClr val="CBD5E1"/>
                </a:solidFill>
                <a:latin typeface="Inter"/>
              </a:rPr>
              <a:t>Diagram: A horizontal bar labelled "context window". Segments from left: system prompt (255), tool schemas (481), conversation history (grows every turn), retrieved knowledge-base text (varies), customer query (19), and "space for the answer" at the right. A red arrow at the right edge: "overflow: something gets dropped".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01 · Lecture 1.1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Big windows still fail</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History grows with every turn</a:t>
            </a:r>
          </a:p>
          <a:p>
            <a:pPr marL="292608" indent="-292608">
              <a:lnSpc>
                <a:spcPct val="120000"/>
              </a:lnSpc>
              <a:spcAft>
                <a:spcPts val="1539"/>
              </a:spcAft>
              <a:buClr>
                <a:srgbClr val="00D4AA"/>
              </a:buClr>
              <a:buFont typeface="Inter"/>
              <a:buChar char="•"/>
            </a:pPr>
            <a:r>
              <a:rPr sz="2200" b="0">
                <a:solidFill>
                  <a:srgbClr val="FFFFFF"/>
                </a:solidFill>
                <a:latin typeface="Inter"/>
              </a:rPr>
              <a:t>Retrieval can add thousands of tokens per call</a:t>
            </a:r>
          </a:p>
          <a:p>
            <a:pPr marL="292608" indent="-292608">
              <a:lnSpc>
                <a:spcPct val="120000"/>
              </a:lnSpc>
              <a:spcAft>
                <a:spcPts val="1539"/>
              </a:spcAft>
              <a:buClr>
                <a:srgbClr val="00D4AA"/>
              </a:buClr>
              <a:buFont typeface="Inter"/>
              <a:buChar char="•"/>
            </a:pPr>
            <a:r>
              <a:rPr sz="2200" b="0">
                <a:solidFill>
                  <a:srgbClr val="FFFFFF"/>
                </a:solidFill>
                <a:latin typeface="Inter"/>
              </a:rPr>
              <a:t>Details in the middle get less attention</a:t>
            </a:r>
          </a:p>
          <a:p>
            <a:pPr marL="292608" indent="-292608">
              <a:lnSpc>
                <a:spcPct val="120000"/>
              </a:lnSpc>
              <a:spcAft>
                <a:spcPts val="1539"/>
              </a:spcAft>
              <a:buClr>
                <a:srgbClr val="00D4AA"/>
              </a:buClr>
              <a:buFont typeface="Inter"/>
              <a:buChar char="•"/>
            </a:pPr>
            <a:r>
              <a:rPr sz="2200" b="0">
                <a:solidFill>
                  <a:srgbClr val="FFFFFF"/>
                </a:solidFill>
                <a:latin typeface="Inter"/>
              </a:rPr>
              <a:t>Test short and long conversations, both</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01 · Lecture 1.1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Temperature: the variation dial</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1673860" y="1325880"/>
            <a:ext cx="8859520" cy="4983480"/>
          </a:xfrm>
          <a:prstGeom prst="roundRect">
            <a:avLst>
              <a:gd name="adj" fmla="val 1027"/>
            </a:avLst>
          </a:prstGeom>
          <a:solidFill>
            <a:srgbClr val="0F1E35"/>
          </a:solidFill>
          <a:ln w="19050">
            <a:solidFill>
              <a:srgbClr val="FFB02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948180" y="1508760"/>
            <a:ext cx="8310880" cy="365760"/>
          </a:xfrm>
          <a:prstGeom prst="rect">
            <a:avLst/>
          </a:prstGeom>
          <a:noFill/>
        </p:spPr>
        <p:txBody>
          <a:bodyPr wrap="square" lIns="45720" rIns="45720" tIns="27432" bIns="27432" anchor="t">
            <a:spAutoFit/>
          </a:bodyPr>
          <a:lstStyle/>
          <a:p>
            <a:r>
              <a:rPr sz="1100" b="1">
                <a:solidFill>
                  <a:srgbClr val="FFB020"/>
                </a:solidFill>
                <a:latin typeface="Inter"/>
              </a:rPr>
              <a:t>DIAGRAM TO BUILD</a:t>
            </a:r>
          </a:p>
        </p:txBody>
      </p:sp>
      <p:sp>
        <p:nvSpPr>
          <p:cNvPr id="7" name="TextBox 6"/>
          <p:cNvSpPr txBox="1"/>
          <p:nvPr/>
        </p:nvSpPr>
        <p:spPr>
          <a:xfrm>
            <a:off x="1948180" y="1920240"/>
            <a:ext cx="8310880" cy="4251960"/>
          </a:xfrm>
          <a:prstGeom prst="rect">
            <a:avLst/>
          </a:prstGeom>
          <a:noFill/>
        </p:spPr>
        <p:txBody>
          <a:bodyPr wrap="square" lIns="45720" rIns="45720" tIns="27432" bIns="27432" anchor="t">
            <a:spAutoFit/>
          </a:bodyPr>
          <a:lstStyle/>
          <a:p>
            <a:pPr>
              <a:lnSpc>
                <a:spcPct val="125000"/>
              </a:lnSpc>
            </a:pPr>
            <a:r>
              <a:rPr sz="1500" b="0">
                <a:solidFill>
                  <a:srgbClr val="CBD5E1"/>
                </a:solidFill>
                <a:latin typeface="Inter"/>
              </a:rPr>
              <a:t>Diagram: A slider from 0.0 to 2.0. At 0.0: one answer repeated ("same wording every run"). At 1.0: several different sentences fanning out ("same facts, different words"). At 2.0, greyed out: "rarely used: often incoherent".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01 · Lecture 1.1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What this means for your tests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Low temperature reduces variation; it doesn't remove it</a:t>
            </a:r>
          </a:p>
          <a:p>
            <a:pPr marL="292608" indent="-292608">
              <a:lnSpc>
                <a:spcPct val="120000"/>
              </a:lnSpc>
              <a:spcAft>
                <a:spcPts val="1539"/>
              </a:spcAft>
              <a:buClr>
                <a:srgbClr val="00D4AA"/>
              </a:buClr>
              <a:buFont typeface="Inter"/>
              <a:buChar char="•"/>
            </a:pPr>
            <a:r>
              <a:rPr sz="2200" b="0">
                <a:solidFill>
                  <a:srgbClr val="FFFFFF"/>
                </a:solidFill>
                <a:latin typeface="Inter"/>
              </a:rPr>
              <a:t>Our agent uses the API's default temperature</a:t>
            </a:r>
          </a:p>
          <a:p>
            <a:pPr marL="292608" indent="-292608">
              <a:lnSpc>
                <a:spcPct val="120000"/>
              </a:lnSpc>
              <a:spcAft>
                <a:spcPts val="1539"/>
              </a:spcAft>
              <a:buClr>
                <a:srgbClr val="00D4AA"/>
              </a:buClr>
              <a:buFont typeface="Inter"/>
              <a:buChar char="•"/>
            </a:pPr>
            <a:r>
              <a:rPr sz="2200" b="0">
                <a:solidFill>
                  <a:srgbClr val="FFFFFF"/>
                </a:solidFill>
                <a:latin typeface="Inter"/>
              </a:rPr>
              <a:t>Check meaning, not exact wording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01 · Lecture 1.1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One run proves very little</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Same case, several runs</a:t>
            </a:r>
          </a:p>
          <a:p>
            <a:pPr marL="292608" indent="-292608">
              <a:lnSpc>
                <a:spcPct val="120000"/>
              </a:lnSpc>
              <a:spcAft>
                <a:spcPts val="1539"/>
              </a:spcAft>
              <a:buClr>
                <a:srgbClr val="00D4AA"/>
              </a:buClr>
              <a:buFont typeface="Inter"/>
              <a:buChar char="•"/>
            </a:pPr>
            <a:r>
              <a:rPr sz="2200" b="0">
                <a:solidFill>
                  <a:srgbClr val="FFFFFF"/>
                </a:solidFill>
                <a:latin typeface="Inter"/>
              </a:rPr>
              <a:t>Measure how often it behaves the same</a:t>
            </a:r>
          </a:p>
          <a:p>
            <a:pPr marL="292608" indent="-292608">
              <a:lnSpc>
                <a:spcPct val="120000"/>
              </a:lnSpc>
              <a:spcAft>
                <a:spcPts val="1539"/>
              </a:spcAft>
              <a:buClr>
                <a:srgbClr val="00D4AA"/>
              </a:buClr>
              <a:buFont typeface="Inter"/>
              <a:buChar char="•"/>
            </a:pPr>
            <a:r>
              <a:rPr sz="2200" b="0">
                <a:solidFill>
                  <a:srgbClr val="FFFFFF"/>
                </a:solidFill>
                <a:latin typeface="Inter"/>
              </a:rPr>
              <a:t>Course threshold: consistency of at least 0.7</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01 · Lecture 1.1</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Tokens set your cost and truncation risk</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Context windows fill fast; the middle fades</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Temperature varies wording; test meaning instead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01 · Lecture 1.1</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What Makes an Agent an Agent (Not a Chatbot)</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Next: Lecture 1.2 — What Makes an Agent an Agent (Not a Chatbot).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01 · Lecture 1.2</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1 · AI AGENTS: WHAT YOU NEED TO KNOW FOR TESTING</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1.2</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What Makes an Agent an Agent (Not a Chatbot)</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Distinguish a chatbot (one call, text in, text out) from an agent (LLM plus tools in a loop).</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01 · Lecture 1.2</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What Makes an Agent an Agent (Not a Chatbot)</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Tell a chatbot from an agent in one look</a:t>
            </a:r>
          </a:p>
          <a:p>
            <a:pPr marL="292608" indent="-292608">
              <a:lnSpc>
                <a:spcPct val="120000"/>
              </a:lnSpc>
              <a:spcAft>
                <a:spcPts val="1539"/>
              </a:spcAft>
              <a:buClr>
                <a:srgbClr val="00D4AA"/>
              </a:buClr>
              <a:buFont typeface="Inter"/>
              <a:buChar char="•"/>
            </a:pPr>
            <a:r>
              <a:rPr sz="2200" b="0">
                <a:solidFill>
                  <a:srgbClr val="FFFFFF"/>
                </a:solidFill>
                <a:latin typeface="Inter"/>
              </a:rPr>
              <a:t>Read an agent's trace step by step</a:t>
            </a:r>
          </a:p>
          <a:p>
            <a:pPr marL="292608" indent="-292608">
              <a:lnSpc>
                <a:spcPct val="120000"/>
              </a:lnSpc>
              <a:spcAft>
                <a:spcPts val="1539"/>
              </a:spcAft>
              <a:buClr>
                <a:srgbClr val="00D4AA"/>
              </a:buClr>
              <a:buFont typeface="Inter"/>
              <a:buChar char="•"/>
            </a:pPr>
            <a:r>
              <a:rPr sz="2200" b="0">
                <a:solidFill>
                  <a:srgbClr val="FFFFFF"/>
                </a:solidFill>
                <a:latin typeface="Inter"/>
              </a:rPr>
              <a:t>Know why the path matters, not just the answer</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01 · Lecture 1.2</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Verified for this lecture</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024" b="0">
                <a:solidFill>
                  <a:srgbClr val="00D4AA"/>
                </a:solidFill>
                <a:latin typeface="JetBrains Mono"/>
              </a:rPr>
              <a:t>openai 2.54.0</a:t>
            </a:r>
            <a:r>
              <a:rPr sz="2200" b="0">
                <a:solidFill>
                  <a:srgbClr val="FFFFFF"/>
                </a:solidFill>
                <a:latin typeface="Inter"/>
              </a:rPr>
              <a:t> and </a:t>
            </a:r>
            <a:r>
              <a:rPr sz="2024" b="0">
                <a:solidFill>
                  <a:srgbClr val="00D4AA"/>
                </a:solidFill>
                <a:latin typeface="JetBrains Mono"/>
              </a:rPr>
              <a:t>deepeval 4.2.7</a:t>
            </a:r>
          </a:p>
          <a:p>
            <a:pPr marL="292608" indent="-292608">
              <a:lnSpc>
                <a:spcPct val="120000"/>
              </a:lnSpc>
              <a:spcAft>
                <a:spcPts val="1539"/>
              </a:spcAft>
              <a:buClr>
                <a:srgbClr val="00D4AA"/>
              </a:buClr>
              <a:buFont typeface="Inter"/>
              <a:buChar char="•"/>
            </a:pPr>
            <a:r>
              <a:rPr sz="2200" b="0">
                <a:solidFill>
                  <a:srgbClr val="FFFFFF"/>
                </a:solidFill>
                <a:latin typeface="Inter"/>
              </a:rPr>
              <a:t>Agent </a:t>
            </a:r>
            <a:r>
              <a:rPr sz="2024" b="0">
                <a:solidFill>
                  <a:srgbClr val="00D4AA"/>
                </a:solidFill>
                <a:latin typeface="JetBrains Mono"/>
              </a:rPr>
              <a:t>gpt-4.1-mini</a:t>
            </a:r>
            <a:r>
              <a:rPr sz="2200" b="0">
                <a:solidFill>
                  <a:srgbClr val="FFFFFF"/>
                </a:solidFill>
                <a:latin typeface="Inter"/>
              </a:rPr>
              <a:t>; offline mock in the demos</a:t>
            </a:r>
          </a:p>
          <a:p>
            <a:pPr marL="292608" indent="-292608">
              <a:lnSpc>
                <a:spcPct val="120000"/>
              </a:lnSpc>
              <a:spcAft>
                <a:spcPts val="1539"/>
              </a:spcAft>
              <a:buClr>
                <a:srgbClr val="00D4AA"/>
              </a:buClr>
              <a:buFont typeface="Inter"/>
              <a:buChar char="•"/>
            </a:pPr>
            <a:r>
              <a:rPr sz="2200" b="0">
                <a:solidFill>
                  <a:srgbClr val="FFFFFF"/>
                </a:solidFill>
                <a:latin typeface="Inter"/>
              </a:rPr>
              <a:t>File: </a:t>
            </a:r>
            <a:r>
              <a:rPr sz="2024" b="0">
                <a:solidFill>
                  <a:srgbClr val="00D4AA"/>
                </a:solidFill>
                <a:latin typeface="JetBrains Mono"/>
              </a:rPr>
              <a:t>agents/support_agent.py</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pic>
        <p:nvPicPr>
          <p:cNvPr id="2" name="Picture 1" descr="D3-step1.png"/>
          <p:cNvPicPr>
            <a:picLocks noChangeAspect="1"/>
          </p:cNvPicPr>
          <p:nvPr/>
        </p:nvPicPr>
        <p:blipFill>
          <a:blip r:embed="rId3"/>
          <a:stretch>
            <a:fillRect/>
          </a:stretch>
        </p:blipFill>
        <p:spPr>
          <a:xfrm>
            <a:off x="0" y="0"/>
            <a:ext cx="12191695" cy="6857828"/>
          </a:xfrm>
          <a:prstGeom prst="rect">
            <a:avLst/>
          </a:prstGeom>
        </p:spPr>
      </p:pic>
      <p:sp>
        <p:nvSpPr>
          <p:cNvPr id="3" name="TextBox 2"/>
          <p:cNvSpPr txBox="1"/>
          <p:nvPr/>
        </p:nvSpPr>
        <p:spPr>
          <a:xfrm>
            <a:off x="6217920" y="109728"/>
            <a:ext cx="5806440" cy="274320"/>
          </a:xfrm>
          <a:prstGeom prst="rect">
            <a:avLst/>
          </a:prstGeom>
          <a:noFill/>
        </p:spPr>
        <p:txBody>
          <a:bodyPr wrap="square" lIns="45720" rIns="45720" tIns="27432" bIns="27432" anchor="t">
            <a:spAutoFit/>
          </a:bodyPr>
          <a:lstStyle/>
          <a:p>
            <a:pPr algn="r"/>
            <a:r>
              <a:rPr sz="900" b="0">
                <a:solidFill>
                  <a:srgbClr val="64748B"/>
                </a:solidFill>
                <a:latin typeface="Inter"/>
              </a:rPr>
              <a:t>Section 01 · Lecture 1.2 · A chatbot: text in, text out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pic>
        <p:nvPicPr>
          <p:cNvPr id="2" name="Picture 1" descr="D3-step2.png"/>
          <p:cNvPicPr>
            <a:picLocks noChangeAspect="1"/>
          </p:cNvPicPr>
          <p:nvPr/>
        </p:nvPicPr>
        <p:blipFill>
          <a:blip r:embed="rId3"/>
          <a:stretch>
            <a:fillRect/>
          </a:stretch>
        </p:blipFill>
        <p:spPr>
          <a:xfrm>
            <a:off x="0" y="0"/>
            <a:ext cx="12191695" cy="6857828"/>
          </a:xfrm>
          <a:prstGeom prst="rect">
            <a:avLst/>
          </a:prstGeom>
        </p:spPr>
      </p:pic>
      <p:sp>
        <p:nvSpPr>
          <p:cNvPr id="3" name="TextBox 2"/>
          <p:cNvSpPr txBox="1"/>
          <p:nvPr/>
        </p:nvSpPr>
        <p:spPr>
          <a:xfrm>
            <a:off x="6217920" y="109728"/>
            <a:ext cx="5806440" cy="274320"/>
          </a:xfrm>
          <a:prstGeom prst="rect">
            <a:avLst/>
          </a:prstGeom>
          <a:noFill/>
        </p:spPr>
        <p:txBody>
          <a:bodyPr wrap="square" lIns="45720" rIns="45720" tIns="27432" bIns="27432" anchor="t">
            <a:spAutoFit/>
          </a:bodyPr>
          <a:lstStyle/>
          <a:p>
            <a:pPr algn="r"/>
            <a:r>
              <a:rPr sz="900" b="0">
                <a:solidFill>
                  <a:srgbClr val="64748B"/>
                </a:solidFill>
                <a:latin typeface="Inter"/>
              </a:rPr>
              <a:t>Section 01 · Lecture 1.2 · An agent: a loop with tools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01 · Lecture 1.2</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Five things you can check in one run</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Did it pick the right tools?</a:t>
            </a:r>
          </a:p>
          <a:p>
            <a:pPr marL="292608" indent="-292608">
              <a:lnSpc>
                <a:spcPct val="120000"/>
              </a:lnSpc>
              <a:spcAft>
                <a:spcPts val="1539"/>
              </a:spcAft>
              <a:buClr>
                <a:srgbClr val="00D4AA"/>
              </a:buClr>
              <a:buFont typeface="Inter"/>
              <a:buChar char="•"/>
            </a:pPr>
            <a:r>
              <a:rPr sz="2200" b="0">
                <a:solidFill>
                  <a:srgbClr val="FFFFFF"/>
                </a:solidFill>
                <a:latin typeface="Inter"/>
              </a:rPr>
              <a:t>Did it pass the right arguments?</a:t>
            </a:r>
          </a:p>
          <a:p>
            <a:pPr marL="292608" indent="-292608">
              <a:lnSpc>
                <a:spcPct val="120000"/>
              </a:lnSpc>
              <a:spcAft>
                <a:spcPts val="1539"/>
              </a:spcAft>
              <a:buClr>
                <a:srgbClr val="00D4AA"/>
              </a:buClr>
              <a:buFont typeface="Inter"/>
              <a:buChar char="•"/>
            </a:pPr>
            <a:r>
              <a:rPr sz="2200" b="0">
                <a:solidFill>
                  <a:srgbClr val="FFFFFF"/>
                </a:solidFill>
                <a:latin typeface="Inter"/>
              </a:rPr>
              <a:t>Did it use the tool results correctly?</a:t>
            </a:r>
          </a:p>
          <a:p>
            <a:pPr marL="292608" indent="-292608">
              <a:lnSpc>
                <a:spcPct val="120000"/>
              </a:lnSpc>
              <a:spcAft>
                <a:spcPts val="1539"/>
              </a:spcAft>
              <a:buClr>
                <a:srgbClr val="00D4AA"/>
              </a:buClr>
              <a:buFont typeface="Inter"/>
              <a:buChar char="•"/>
            </a:pPr>
            <a:r>
              <a:rPr sz="2200" b="0">
                <a:solidFill>
                  <a:srgbClr val="FFFFFF"/>
                </a:solidFill>
                <a:latin typeface="Inter"/>
              </a:rPr>
              <a:t>Did it stop at the right time?</a:t>
            </a:r>
          </a:p>
          <a:p>
            <a:pPr marL="292608" indent="-292608">
              <a:lnSpc>
                <a:spcPct val="120000"/>
              </a:lnSpc>
              <a:spcAft>
                <a:spcPts val="1539"/>
              </a:spcAft>
              <a:buClr>
                <a:srgbClr val="00D4AA"/>
              </a:buClr>
              <a:buFont typeface="Inter"/>
              <a:buChar char="•"/>
            </a:pPr>
            <a:r>
              <a:rPr sz="2200" b="0">
                <a:solidFill>
                  <a:srgbClr val="FFFFFF"/>
                </a:solidFill>
                <a:latin typeface="Inter"/>
              </a:rPr>
              <a:t>Is the final answer right and grounded?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01 · Lecture 1.2</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Four properties of an agent</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Reasoning: decides what to do next</a:t>
            </a:r>
          </a:p>
          <a:p>
            <a:pPr marL="292608" indent="-292608">
              <a:lnSpc>
                <a:spcPct val="120000"/>
              </a:lnSpc>
              <a:spcAft>
                <a:spcPts val="1539"/>
              </a:spcAft>
              <a:buClr>
                <a:srgbClr val="00D4AA"/>
              </a:buClr>
              <a:buFont typeface="Inter"/>
              <a:buChar char="•"/>
            </a:pPr>
            <a:r>
              <a:rPr sz="2200" b="0">
                <a:solidFill>
                  <a:srgbClr val="FFFFFF"/>
                </a:solidFill>
                <a:latin typeface="Inter"/>
              </a:rPr>
              <a:t>Tools: acts on real systems</a:t>
            </a:r>
          </a:p>
          <a:p>
            <a:pPr marL="292608" indent="-292608">
              <a:lnSpc>
                <a:spcPct val="120000"/>
              </a:lnSpc>
              <a:spcAft>
                <a:spcPts val="1539"/>
              </a:spcAft>
              <a:buClr>
                <a:srgbClr val="00D4AA"/>
              </a:buClr>
              <a:buFont typeface="Inter"/>
              <a:buChar char="•"/>
            </a:pPr>
            <a:r>
              <a:rPr sz="2200" b="0">
                <a:solidFill>
                  <a:srgbClr val="FFFFFF"/>
                </a:solidFill>
                <a:latin typeface="Inter"/>
              </a:rPr>
              <a:t>Memory: carries context between steps and turns</a:t>
            </a:r>
          </a:p>
          <a:p>
            <a:pPr marL="292608" indent="-292608">
              <a:lnSpc>
                <a:spcPct val="120000"/>
              </a:lnSpc>
              <a:spcAft>
                <a:spcPts val="1539"/>
              </a:spcAft>
              <a:buClr>
                <a:srgbClr val="00D4AA"/>
              </a:buClr>
              <a:buFont typeface="Inter"/>
              <a:buChar char="•"/>
            </a:pPr>
            <a:r>
              <a:rPr sz="2200" b="0">
                <a:solidFill>
                  <a:srgbClr val="FFFFFF"/>
                </a:solidFill>
                <a:latin typeface="Inter"/>
              </a:rPr>
              <a:t>Goal pursuit: works until the task is done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01 · Lecture 1.2</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Trajectory: the path, not just the destination</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Trajectory: every step, tool and argument, in order</a:t>
            </a:r>
          </a:p>
          <a:p>
            <a:pPr marL="292608" indent="-292608">
              <a:lnSpc>
                <a:spcPct val="120000"/>
              </a:lnSpc>
              <a:spcAft>
                <a:spcPts val="1539"/>
              </a:spcAft>
              <a:buClr>
                <a:srgbClr val="00D4AA"/>
              </a:buClr>
              <a:buFont typeface="Inter"/>
              <a:buChar char="•"/>
            </a:pPr>
            <a:r>
              <a:rPr sz="2200" b="0">
                <a:solidFill>
                  <a:srgbClr val="FFFFFF"/>
                </a:solidFill>
                <a:latin typeface="Inter"/>
              </a:rPr>
              <a:t>Right answer, risky path: still a failure</a:t>
            </a:r>
          </a:p>
          <a:p>
            <a:pPr marL="292608" indent="-292608">
              <a:lnSpc>
                <a:spcPct val="120000"/>
              </a:lnSpc>
              <a:spcAft>
                <a:spcPts val="1539"/>
              </a:spcAft>
              <a:buClr>
                <a:srgbClr val="00D4AA"/>
              </a:buClr>
              <a:buFont typeface="Inter"/>
              <a:buChar char="•"/>
            </a:pPr>
            <a:r>
              <a:rPr sz="2200" b="0">
                <a:solidFill>
                  <a:srgbClr val="FFFFFF"/>
                </a:solidFill>
                <a:latin typeface="Inter"/>
              </a:rPr>
              <a:t>Wrong answer: the trajectory shows where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01 · Lecture 1.2</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Chatbots answer; agents act in a loop</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One run gives five things to check</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Test the trajectory, not just the answer</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01 · Lecture 1.2</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Agent Architecture: The Loop, Tools, Memory, Planning</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Next: Lecture 1.3 — Agent Architecture: The Loop, Tools, Memory, Planning.</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01 · Lecture 1.3</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1 · AI AGENTS: WHAT YOU NEED TO KNOW FOR TESTING</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1.3</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Agent Architecture: The Loop, Tools, Memory, Planning</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Map any agent to four testable components: the LLM, tools, memory, planning.</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01 · Lecture 1.3</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Agent Architecture: The Loop, Tools, Memory, Planning</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Map any agent to four testable parts</a:t>
            </a:r>
          </a:p>
          <a:p>
            <a:pPr marL="292608" indent="-292608">
              <a:lnSpc>
                <a:spcPct val="120000"/>
              </a:lnSpc>
              <a:spcAft>
                <a:spcPts val="1539"/>
              </a:spcAft>
              <a:buClr>
                <a:srgbClr val="00D4AA"/>
              </a:buClr>
              <a:buFont typeface="Inter"/>
              <a:buChar char="•"/>
            </a:pPr>
            <a:r>
              <a:rPr sz="2200" b="0">
                <a:solidFill>
                  <a:srgbClr val="FFFFFF"/>
                </a:solidFill>
                <a:latin typeface="Inter"/>
              </a:rPr>
              <a:t>Know how each part breaks</a:t>
            </a:r>
          </a:p>
          <a:p>
            <a:pPr marL="292608" indent="-292608">
              <a:lnSpc>
                <a:spcPct val="120000"/>
              </a:lnSpc>
              <a:spcAft>
                <a:spcPts val="1539"/>
              </a:spcAft>
              <a:buClr>
                <a:srgbClr val="00D4AA"/>
              </a:buClr>
              <a:buFont typeface="Inter"/>
              <a:buChar char="•"/>
            </a:pPr>
            <a:r>
              <a:rPr sz="2200" b="0">
                <a:solidFill>
                  <a:srgbClr val="FFFFFF"/>
                </a:solidFill>
                <a:latin typeface="Inter"/>
              </a:rPr>
              <a:t>Find each part in real code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pic>
        <p:nvPicPr>
          <p:cNvPr id="2" name="Picture 1" descr="D3-step2.png"/>
          <p:cNvPicPr>
            <a:picLocks noChangeAspect="1"/>
          </p:cNvPicPr>
          <p:nvPr/>
        </p:nvPicPr>
        <p:blipFill>
          <a:blip r:embed="rId3"/>
          <a:stretch>
            <a:fillRect/>
          </a:stretch>
        </p:blipFill>
        <p:spPr>
          <a:xfrm>
            <a:off x="0" y="0"/>
            <a:ext cx="12191695" cy="6857828"/>
          </a:xfrm>
          <a:prstGeom prst="rect">
            <a:avLst/>
          </a:prstGeom>
        </p:spPr>
      </p:pic>
      <p:sp>
        <p:nvSpPr>
          <p:cNvPr id="3" name="TextBox 2"/>
          <p:cNvSpPr txBox="1"/>
          <p:nvPr/>
        </p:nvSpPr>
        <p:spPr>
          <a:xfrm>
            <a:off x="6217920" y="109728"/>
            <a:ext cx="5806440" cy="274320"/>
          </a:xfrm>
          <a:prstGeom prst="rect">
            <a:avLst/>
          </a:prstGeom>
          <a:noFill/>
        </p:spPr>
        <p:txBody>
          <a:bodyPr wrap="square" lIns="45720" rIns="45720" tIns="27432" bIns="27432" anchor="t">
            <a:spAutoFit/>
          </a:bodyPr>
          <a:lstStyle/>
          <a:p>
            <a:pPr algn="r"/>
            <a:r>
              <a:rPr sz="900" b="0">
                <a:solidFill>
                  <a:srgbClr val="64748B"/>
                </a:solidFill>
                <a:latin typeface="Inter"/>
              </a:rPr>
              <a:t>Section 01 · Lecture 1.3 · The blueprint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01 · Lecture 1.3</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Part 1: the LLM brain</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Reads system prompt, history, tool results</a:t>
            </a:r>
          </a:p>
          <a:p>
            <a:pPr marL="292608" indent="-292608">
              <a:lnSpc>
                <a:spcPct val="120000"/>
              </a:lnSpc>
              <a:spcAft>
                <a:spcPts val="1539"/>
              </a:spcAft>
              <a:buClr>
                <a:srgbClr val="00D4AA"/>
              </a:buClr>
              <a:buFont typeface="Inter"/>
              <a:buChar char="•"/>
            </a:pPr>
            <a:r>
              <a:rPr sz="2200" b="0">
                <a:solidFill>
                  <a:srgbClr val="FFFFFF"/>
                </a:solidFill>
                <a:latin typeface="Inter"/>
              </a:rPr>
              <a:t>Writes reasoning, tool calls and answers</a:t>
            </a:r>
          </a:p>
          <a:p>
            <a:pPr marL="292608" indent="-292608">
              <a:lnSpc>
                <a:spcPct val="120000"/>
              </a:lnSpc>
              <a:spcAft>
                <a:spcPts val="1539"/>
              </a:spcAft>
              <a:buClr>
                <a:srgbClr val="00D4AA"/>
              </a:buClr>
              <a:buFont typeface="Inter"/>
              <a:buChar char="•"/>
            </a:pPr>
            <a:r>
              <a:rPr sz="2200" b="0">
                <a:solidFill>
                  <a:srgbClr val="FFFFFF"/>
                </a:solidFill>
                <a:latin typeface="Inter"/>
              </a:rPr>
              <a:t>Risks: hallucination, reasoning errors, ignored rules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01 · Lecture 1.3</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Part 2: tools, the agent's hands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1673860" y="1325880"/>
            <a:ext cx="8859520" cy="4983480"/>
          </a:xfrm>
          <a:prstGeom prst="roundRect">
            <a:avLst>
              <a:gd name="adj" fmla="val 1027"/>
            </a:avLst>
          </a:prstGeom>
          <a:solidFill>
            <a:srgbClr val="0F1E35"/>
          </a:solidFill>
          <a:ln w="19050">
            <a:solidFill>
              <a:srgbClr val="FFB02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948180" y="1508760"/>
            <a:ext cx="8310880" cy="365760"/>
          </a:xfrm>
          <a:prstGeom prst="rect">
            <a:avLst/>
          </a:prstGeom>
          <a:noFill/>
        </p:spPr>
        <p:txBody>
          <a:bodyPr wrap="square" lIns="45720" rIns="45720" tIns="27432" bIns="27432" anchor="t">
            <a:spAutoFit/>
          </a:bodyPr>
          <a:lstStyle/>
          <a:p>
            <a:r>
              <a:rPr sz="1100" b="1">
                <a:solidFill>
                  <a:srgbClr val="FFB020"/>
                </a:solidFill>
                <a:latin typeface="Inter"/>
              </a:rPr>
              <a:t>DIAGRAM TO BUILD</a:t>
            </a:r>
          </a:p>
        </p:txBody>
      </p:sp>
      <p:sp>
        <p:nvSpPr>
          <p:cNvPr id="7" name="TextBox 6"/>
          <p:cNvSpPr txBox="1"/>
          <p:nvPr/>
        </p:nvSpPr>
        <p:spPr>
          <a:xfrm>
            <a:off x="1948180" y="1920240"/>
            <a:ext cx="8310880" cy="4251960"/>
          </a:xfrm>
          <a:prstGeom prst="rect">
            <a:avLst/>
          </a:prstGeom>
          <a:noFill/>
        </p:spPr>
        <p:txBody>
          <a:bodyPr wrap="square" lIns="45720" rIns="45720" tIns="27432" bIns="27432" anchor="t">
            <a:spAutoFit/>
          </a:bodyPr>
          <a:lstStyle/>
          <a:p>
            <a:pPr>
              <a:lnSpc>
                <a:spcPct val="125000"/>
              </a:lnSpc>
            </a:pPr>
            <a:r>
              <a:rPr sz="1500" b="0">
                <a:solidFill>
                  <a:srgbClr val="CBD5E1"/>
                </a:solidFill>
                <a:latin typeface="Inter"/>
              </a:rPr>
              <a:t>Diagram: Five tool cards in a row: </a:t>
            </a:r>
            <a:r>
              <a:rPr sz="1380" b="0">
                <a:solidFill>
                  <a:srgbClr val="00D4AA"/>
                </a:solidFill>
                <a:latin typeface="JetBrains Mono"/>
              </a:rPr>
              <a:t>lookup_customer</a:t>
            </a:r>
            <a:r>
              <a:rPr sz="1500" b="0">
                <a:solidFill>
                  <a:srgbClr val="CBD5E1"/>
                </a:solidFill>
                <a:latin typeface="Inter"/>
              </a:rPr>
              <a:t>, </a:t>
            </a:r>
            <a:r>
              <a:rPr sz="1380" b="0">
                <a:solidFill>
                  <a:srgbClr val="00D4AA"/>
                </a:solidFill>
                <a:latin typeface="JetBrains Mono"/>
              </a:rPr>
              <a:t>search_knowledge_base</a:t>
            </a:r>
            <a:r>
              <a:rPr sz="1500" b="0">
                <a:solidFill>
                  <a:srgbClr val="CBD5E1"/>
                </a:solidFill>
                <a:latin typeface="Inter"/>
              </a:rPr>
              <a:t>, </a:t>
            </a:r>
            <a:r>
              <a:rPr sz="1380" b="0">
                <a:solidFill>
                  <a:srgbClr val="00D4AA"/>
                </a:solidFill>
                <a:latin typeface="JetBrains Mono"/>
              </a:rPr>
              <a:t>create_ticket</a:t>
            </a:r>
            <a:r>
              <a:rPr sz="1500" b="0">
                <a:solidFill>
                  <a:srgbClr val="CBD5E1"/>
                </a:solidFill>
                <a:latin typeface="Inter"/>
              </a:rPr>
              <a:t>, </a:t>
            </a:r>
            <a:r>
              <a:rPr sz="1380" b="0">
                <a:solidFill>
                  <a:srgbClr val="00D4AA"/>
                </a:solidFill>
                <a:latin typeface="JetBrains Mono"/>
              </a:rPr>
              <a:t>send_email</a:t>
            </a:r>
            <a:r>
              <a:rPr sz="1500" b="0">
                <a:solidFill>
                  <a:srgbClr val="CBD5E1"/>
                </a:solidFill>
                <a:latin typeface="Inter"/>
              </a:rPr>
              <a:t>, </a:t>
            </a:r>
            <a:r>
              <a:rPr sz="1380" b="0">
                <a:solidFill>
                  <a:srgbClr val="00D4AA"/>
                </a:solidFill>
                <a:latin typeface="JetBrains Mono"/>
              </a:rPr>
              <a:t>escalate_to_human</a:t>
            </a:r>
            <a:r>
              <a:rPr sz="1500" b="0">
                <a:solidFill>
                  <a:srgbClr val="CBD5E1"/>
                </a:solidFill>
                <a:latin typeface="Inter"/>
              </a:rPr>
              <a:t>. Under each, three small check boxes: selection, arguments, result use. Two cards (</a:t>
            </a:r>
            <a:r>
              <a:rPr sz="1380" b="0">
                <a:solidFill>
                  <a:srgbClr val="00D4AA"/>
                </a:solidFill>
                <a:latin typeface="JetBrains Mono"/>
              </a:rPr>
              <a:t>create_ticket</a:t>
            </a:r>
            <a:r>
              <a:rPr sz="1500" b="0">
                <a:solidFill>
                  <a:srgbClr val="CBD5E1"/>
                </a:solidFill>
                <a:latin typeface="Inter"/>
              </a:rPr>
              <a:t>, </a:t>
            </a:r>
            <a:r>
              <a:rPr sz="1380" b="0">
                <a:solidFill>
                  <a:srgbClr val="00D4AA"/>
                </a:solidFill>
                <a:latin typeface="JetBrains Mono"/>
              </a:rPr>
              <a:t>send_email</a:t>
            </a:r>
            <a:r>
              <a:rPr sz="1500" b="0">
                <a:solidFill>
                  <a:srgbClr val="CBD5E1"/>
                </a:solidFill>
                <a:latin typeface="Inter"/>
              </a:rPr>
              <a:t>) carry a red "side effect" tag.</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01 · Lecture 1.3</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Part 3: memory</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Short-term: the conversation history</a:t>
            </a:r>
          </a:p>
          <a:p>
            <a:pPr marL="292608" indent="-292608">
              <a:lnSpc>
                <a:spcPct val="120000"/>
              </a:lnSpc>
              <a:spcAft>
                <a:spcPts val="1539"/>
              </a:spcAft>
              <a:buClr>
                <a:srgbClr val="00D4AA"/>
              </a:buClr>
              <a:buFont typeface="Inter"/>
              <a:buChar char="•"/>
            </a:pPr>
            <a:r>
              <a:rPr sz="2200" b="0">
                <a:solidFill>
                  <a:srgbClr val="FFFFFF"/>
                </a:solidFill>
                <a:latin typeface="Inter"/>
              </a:rPr>
              <a:t>Working: messages and tool results in this run</a:t>
            </a:r>
          </a:p>
          <a:p>
            <a:pPr marL="292608" indent="-292608">
              <a:lnSpc>
                <a:spcPct val="120000"/>
              </a:lnSpc>
              <a:spcAft>
                <a:spcPts val="1539"/>
              </a:spcAft>
              <a:buClr>
                <a:srgbClr val="00D4AA"/>
              </a:buClr>
              <a:buFont typeface="Inter"/>
              <a:buChar char="•"/>
            </a:pPr>
            <a:r>
              <a:rPr sz="2200" b="0">
                <a:solidFill>
                  <a:srgbClr val="FFFFFF"/>
                </a:solidFill>
                <a:latin typeface="Inter"/>
              </a:rPr>
              <a:t>Long-term: knowledge base and customer records</a:t>
            </a:r>
          </a:p>
          <a:p>
            <a:pPr marL="292608" indent="-292608">
              <a:lnSpc>
                <a:spcPct val="120000"/>
              </a:lnSpc>
              <a:spcAft>
                <a:spcPts val="1539"/>
              </a:spcAft>
              <a:buClr>
                <a:srgbClr val="00D4AA"/>
              </a:buClr>
              <a:buFont typeface="Inter"/>
              <a:buChar char="•"/>
            </a:pPr>
            <a:r>
              <a:rPr sz="2200" b="0">
                <a:solidFill>
                  <a:srgbClr val="FFFFFF"/>
                </a:solidFill>
                <a:latin typeface="Inter"/>
              </a:rPr>
              <a:t>Risks: forgotten facts, wrong retrieval, overflow</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01 · Lecture 1.3</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Part 4: planning</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1673860" y="1325880"/>
            <a:ext cx="8859520" cy="4983480"/>
          </a:xfrm>
          <a:prstGeom prst="roundRect">
            <a:avLst>
              <a:gd name="adj" fmla="val 1027"/>
            </a:avLst>
          </a:prstGeom>
          <a:solidFill>
            <a:srgbClr val="0F1E35"/>
          </a:solidFill>
          <a:ln w="19050">
            <a:solidFill>
              <a:srgbClr val="FFB02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948180" y="1508760"/>
            <a:ext cx="8310880" cy="365760"/>
          </a:xfrm>
          <a:prstGeom prst="rect">
            <a:avLst/>
          </a:prstGeom>
          <a:noFill/>
        </p:spPr>
        <p:txBody>
          <a:bodyPr wrap="square" lIns="45720" rIns="45720" tIns="27432" bIns="27432" anchor="t">
            <a:spAutoFit/>
          </a:bodyPr>
          <a:lstStyle/>
          <a:p>
            <a:r>
              <a:rPr sz="1100" b="1">
                <a:solidFill>
                  <a:srgbClr val="FFB020"/>
                </a:solidFill>
                <a:latin typeface="Inter"/>
              </a:rPr>
              <a:t>DIAGRAM TO BUILD</a:t>
            </a:r>
          </a:p>
        </p:txBody>
      </p:sp>
      <p:sp>
        <p:nvSpPr>
          <p:cNvPr id="7" name="TextBox 6"/>
          <p:cNvSpPr txBox="1"/>
          <p:nvPr/>
        </p:nvSpPr>
        <p:spPr>
          <a:xfrm>
            <a:off x="1948180" y="1920240"/>
            <a:ext cx="8310880" cy="4251960"/>
          </a:xfrm>
          <a:prstGeom prst="rect">
            <a:avLst/>
          </a:prstGeom>
          <a:noFill/>
        </p:spPr>
        <p:txBody>
          <a:bodyPr wrap="square" lIns="45720" rIns="45720" tIns="27432" bIns="27432" anchor="t">
            <a:spAutoFit/>
          </a:bodyPr>
          <a:lstStyle/>
          <a:p>
            <a:pPr>
              <a:lnSpc>
                <a:spcPct val="125000"/>
              </a:lnSpc>
            </a:pPr>
            <a:r>
              <a:rPr sz="1500" b="0">
                <a:solidFill>
                  <a:srgbClr val="CBD5E1"/>
                </a:solidFill>
                <a:latin typeface="Inter"/>
              </a:rPr>
              <a:t>Diagram: "Cancel my subscription and refund me. I signed up 3 weeks ago." Plan: 1 </a:t>
            </a:r>
            <a:r>
              <a:rPr sz="1380" b="0">
                <a:solidFill>
                  <a:srgbClr val="00D4AA"/>
                </a:solidFill>
                <a:latin typeface="JetBrains Mono"/>
              </a:rPr>
              <a:t>lookup_customer</a:t>
            </a:r>
            <a:r>
              <a:rPr sz="1500" b="0">
                <a:solidFill>
                  <a:srgbClr val="CBD5E1"/>
                </a:solidFill>
                <a:latin typeface="Inter"/>
              </a:rPr>
              <a:t> → 2 </a:t>
            </a:r>
            <a:r>
              <a:rPr sz="1380" b="0">
                <a:solidFill>
                  <a:srgbClr val="00D4AA"/>
                </a:solidFill>
                <a:latin typeface="JetBrains Mono"/>
              </a:rPr>
              <a:t>search_knowledge_base</a:t>
            </a:r>
            <a:r>
              <a:rPr sz="1500" b="0">
                <a:solidFill>
                  <a:srgbClr val="CBD5E1"/>
                </a:solidFill>
                <a:latin typeface="Inter"/>
              </a:rPr>
              <a:t> (refund policy) → 3 </a:t>
            </a:r>
            <a:r>
              <a:rPr sz="1380" b="0">
                <a:solidFill>
                  <a:srgbClr val="00D4AA"/>
                </a:solidFill>
                <a:latin typeface="JetBrains Mono"/>
              </a:rPr>
              <a:t>create_ticket</a:t>
            </a:r>
            <a:r>
              <a:rPr sz="1500" b="0">
                <a:solidFill>
                  <a:srgbClr val="CBD5E1"/>
                </a:solidFill>
                <a:latin typeface="Inter"/>
              </a:rPr>
              <a:t> → answer. A "reflect" diamond after each step: "did that work? adjust the plan?" A side branch at step 2: "21 days &lt; 30 days: eligible".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pic>
        <p:nvPicPr>
          <p:cNvPr id="2" name="Picture 1" descr="D6-test-strategy-matrix.png"/>
          <p:cNvPicPr>
            <a:picLocks noChangeAspect="1"/>
          </p:cNvPicPr>
          <p:nvPr/>
        </p:nvPicPr>
        <p:blipFill>
          <a:blip r:embed="rId3"/>
          <a:stretch>
            <a:fillRect/>
          </a:stretch>
        </p:blipFill>
        <p:spPr>
          <a:xfrm>
            <a:off x="0" y="0"/>
            <a:ext cx="12191695" cy="6857828"/>
          </a:xfrm>
          <a:prstGeom prst="rect">
            <a:avLst/>
          </a:prstGeom>
        </p:spPr>
      </p:pic>
      <p:sp>
        <p:nvSpPr>
          <p:cNvPr id="3" name="TextBox 2"/>
          <p:cNvSpPr txBox="1"/>
          <p:nvPr/>
        </p:nvSpPr>
        <p:spPr>
          <a:xfrm>
            <a:off x="6217920" y="109728"/>
            <a:ext cx="5806440" cy="274320"/>
          </a:xfrm>
          <a:prstGeom prst="rect">
            <a:avLst/>
          </a:prstGeom>
          <a:noFill/>
        </p:spPr>
        <p:txBody>
          <a:bodyPr wrap="square" lIns="45720" rIns="45720" tIns="27432" bIns="27432" anchor="t">
            <a:spAutoFit/>
          </a:bodyPr>
          <a:lstStyle/>
          <a:p>
            <a:pPr algn="r"/>
            <a:r>
              <a:rPr sz="900" b="0">
                <a:solidFill>
                  <a:srgbClr val="64748B"/>
                </a:solidFill>
                <a:latin typeface="Inter"/>
              </a:rPr>
              <a:t>Section 01 · Lecture 1.3 · Your testing map</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01 · Lecture 1.3</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Four parts: brain, tools, memory, planning</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Tools carry the most risk: side effects</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Each part fails differently; test each</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01 · Lecture 1.3</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The 6 Ways AI Agents Fail (And Why Testing Is Hard)</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Next: Lecture 1.4 — The 6 Ways AI Agents Fail (And Why Testing Is Hard).</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01 · Lecture 1.4</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1 · AI AGENTS: WHAT YOU NEED TO KNOW FOR TESTING</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1.4</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The 6 Ways AI Agents Fail (And Why Testing Is Hard)</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Name the six failure modes: hallucination, wrong tool selection, incorrect tool arguments, reasoning errors, goal drift, infinite loops.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01 · Lecture 1.4</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The 6 Ways AI Agents Fail</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Name all six failure modes</a:t>
            </a:r>
          </a:p>
          <a:p>
            <a:pPr marL="292608" indent="-292608">
              <a:lnSpc>
                <a:spcPct val="120000"/>
              </a:lnSpc>
              <a:spcAft>
                <a:spcPts val="1539"/>
              </a:spcAft>
              <a:buClr>
                <a:srgbClr val="00D4AA"/>
              </a:buClr>
              <a:buFont typeface="Inter"/>
              <a:buChar char="•"/>
            </a:pPr>
            <a:r>
              <a:rPr sz="2200" b="0">
                <a:solidFill>
                  <a:srgbClr val="FFFFFF"/>
                </a:solidFill>
                <a:latin typeface="Inter"/>
              </a:rPr>
              <a:t>See a real example of each</a:t>
            </a:r>
          </a:p>
          <a:p>
            <a:pPr marL="292608" indent="-292608">
              <a:lnSpc>
                <a:spcPct val="120000"/>
              </a:lnSpc>
              <a:spcAft>
                <a:spcPts val="1539"/>
              </a:spcAft>
              <a:buClr>
                <a:srgbClr val="00D4AA"/>
              </a:buClr>
              <a:buFont typeface="Inter"/>
              <a:buChar char="•"/>
            </a:pPr>
            <a:r>
              <a:rPr sz="2200" b="0">
                <a:solidFill>
                  <a:srgbClr val="FFFFFF"/>
                </a:solidFill>
                <a:latin typeface="Inter"/>
              </a:rPr>
              <a:t>Know which check catches which</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01 · Lecture 1.4</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Verified for this lecture</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024" b="0">
                <a:solidFill>
                  <a:srgbClr val="00D4AA"/>
                </a:solidFill>
                <a:latin typeface="JetBrains Mono"/>
              </a:rPr>
              <a:t>openai 2.54.0</a:t>
            </a:r>
            <a:r>
              <a:rPr sz="2200" b="0">
                <a:solidFill>
                  <a:srgbClr val="FFFFFF"/>
                </a:solidFill>
                <a:latin typeface="Inter"/>
              </a:rPr>
              <a:t> and </a:t>
            </a:r>
            <a:r>
              <a:rPr sz="2024" b="0">
                <a:solidFill>
                  <a:srgbClr val="00D4AA"/>
                </a:solidFill>
                <a:latin typeface="JetBrains Mono"/>
              </a:rPr>
              <a:t>deepeval 4.2.7</a:t>
            </a:r>
          </a:p>
          <a:p>
            <a:pPr marL="292608" indent="-292608">
              <a:lnSpc>
                <a:spcPct val="120000"/>
              </a:lnSpc>
              <a:spcAft>
                <a:spcPts val="1539"/>
              </a:spcAft>
              <a:buClr>
                <a:srgbClr val="00D4AA"/>
              </a:buClr>
              <a:buFont typeface="Inter"/>
              <a:buChar char="•"/>
            </a:pPr>
            <a:r>
              <a:rPr sz="2200" b="0">
                <a:solidFill>
                  <a:srgbClr val="FFFFFF"/>
                </a:solidFill>
                <a:latin typeface="Inter"/>
              </a:rPr>
              <a:t>Six recorded runs from </a:t>
            </a:r>
            <a:r>
              <a:rPr sz="2024" b="0">
                <a:solidFill>
                  <a:srgbClr val="00D4AA"/>
                </a:solidFill>
                <a:latin typeface="JetBrains Mono"/>
              </a:rPr>
              <a:t>failure_gallery.json</a:t>
            </a:r>
          </a:p>
          <a:p>
            <a:pPr marL="292608" indent="-292608">
              <a:lnSpc>
                <a:spcPct val="120000"/>
              </a:lnSpc>
              <a:spcAft>
                <a:spcPts val="1539"/>
              </a:spcAft>
              <a:buClr>
                <a:srgbClr val="00D4AA"/>
              </a:buClr>
              <a:buFont typeface="Inter"/>
              <a:buChar char="•"/>
            </a:pPr>
            <a:r>
              <a:rPr sz="2200" b="0">
                <a:solidFill>
                  <a:srgbClr val="FFFFFF"/>
                </a:solidFill>
                <a:latin typeface="Inter"/>
              </a:rPr>
              <a:t>Checks run offline with the mock judge</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pic>
        <p:nvPicPr>
          <p:cNvPr id="2" name="Picture 1" descr="D1-step1.png"/>
          <p:cNvPicPr>
            <a:picLocks noChangeAspect="1"/>
          </p:cNvPicPr>
          <p:nvPr/>
        </p:nvPicPr>
        <p:blipFill>
          <a:blip r:embed="rId3"/>
          <a:stretch>
            <a:fillRect/>
          </a:stretch>
        </p:blipFill>
        <p:spPr>
          <a:xfrm>
            <a:off x="0" y="0"/>
            <a:ext cx="12191695" cy="6857828"/>
          </a:xfrm>
          <a:prstGeom prst="rect">
            <a:avLst/>
          </a:prstGeom>
        </p:spPr>
      </p:pic>
      <p:sp>
        <p:nvSpPr>
          <p:cNvPr id="3" name="TextBox 2"/>
          <p:cNvSpPr txBox="1"/>
          <p:nvPr/>
        </p:nvSpPr>
        <p:spPr>
          <a:xfrm>
            <a:off x="6217920" y="109728"/>
            <a:ext cx="5806440" cy="274320"/>
          </a:xfrm>
          <a:prstGeom prst="rect">
            <a:avLst/>
          </a:prstGeom>
          <a:noFill/>
        </p:spPr>
        <p:txBody>
          <a:bodyPr wrap="square" lIns="45720" rIns="45720" tIns="27432" bIns="27432" anchor="t">
            <a:spAutoFit/>
          </a:bodyPr>
          <a:lstStyle/>
          <a:p>
            <a:pPr algn="r"/>
            <a:r>
              <a:rPr sz="900" b="0">
                <a:solidFill>
                  <a:srgbClr val="64748B"/>
                </a:solidFill>
                <a:latin typeface="Inter"/>
              </a:rPr>
              <a:t>Section 01 · Lecture 1.4 · Failure 1: hallucination</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pic>
        <p:nvPicPr>
          <p:cNvPr id="2" name="Picture 1" descr="D1-six-failure-modes.png"/>
          <p:cNvPicPr>
            <a:picLocks noChangeAspect="1"/>
          </p:cNvPicPr>
          <p:nvPr/>
        </p:nvPicPr>
        <p:blipFill>
          <a:blip r:embed="rId3"/>
          <a:stretch>
            <a:fillRect/>
          </a:stretch>
        </p:blipFill>
        <p:spPr>
          <a:xfrm>
            <a:off x="0" y="0"/>
            <a:ext cx="12191695" cy="6857828"/>
          </a:xfrm>
          <a:prstGeom prst="rect">
            <a:avLst/>
          </a:prstGeom>
        </p:spPr>
      </p:pic>
      <p:sp>
        <p:nvSpPr>
          <p:cNvPr id="3" name="TextBox 2"/>
          <p:cNvSpPr txBox="1"/>
          <p:nvPr/>
        </p:nvSpPr>
        <p:spPr>
          <a:xfrm>
            <a:off x="6217920" y="109728"/>
            <a:ext cx="5806440" cy="274320"/>
          </a:xfrm>
          <a:prstGeom prst="rect">
            <a:avLst/>
          </a:prstGeom>
          <a:noFill/>
        </p:spPr>
        <p:txBody>
          <a:bodyPr wrap="square" lIns="45720" rIns="45720" tIns="27432" bIns="27432" anchor="t">
            <a:spAutoFit/>
          </a:bodyPr>
          <a:lstStyle/>
          <a:p>
            <a:pPr algn="r"/>
            <a:r>
              <a:rPr sz="900" b="0">
                <a:solidFill>
                  <a:srgbClr val="64748B"/>
                </a:solidFill>
                <a:latin typeface="Inter"/>
              </a:rPr>
              <a:t>Section 01 · Lecture 1.4 · Failures 2 and 3: the hands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pic>
        <p:nvPicPr>
          <p:cNvPr id="2" name="Picture 1" descr="D1-step4.png"/>
          <p:cNvPicPr>
            <a:picLocks noChangeAspect="1"/>
          </p:cNvPicPr>
          <p:nvPr/>
        </p:nvPicPr>
        <p:blipFill>
          <a:blip r:embed="rId3"/>
          <a:stretch>
            <a:fillRect/>
          </a:stretch>
        </p:blipFill>
        <p:spPr>
          <a:xfrm>
            <a:off x="0" y="0"/>
            <a:ext cx="12191695" cy="6857828"/>
          </a:xfrm>
          <a:prstGeom prst="rect">
            <a:avLst/>
          </a:prstGeom>
        </p:spPr>
      </p:pic>
      <p:sp>
        <p:nvSpPr>
          <p:cNvPr id="3" name="TextBox 2"/>
          <p:cNvSpPr txBox="1"/>
          <p:nvPr/>
        </p:nvSpPr>
        <p:spPr>
          <a:xfrm>
            <a:off x="6217920" y="109728"/>
            <a:ext cx="5806440" cy="274320"/>
          </a:xfrm>
          <a:prstGeom prst="rect">
            <a:avLst/>
          </a:prstGeom>
          <a:noFill/>
        </p:spPr>
        <p:txBody>
          <a:bodyPr wrap="square" lIns="45720" rIns="45720" tIns="27432" bIns="27432" anchor="t">
            <a:spAutoFit/>
          </a:bodyPr>
          <a:lstStyle/>
          <a:p>
            <a:pPr algn="r"/>
            <a:r>
              <a:rPr sz="900" b="0">
                <a:solidFill>
                  <a:srgbClr val="64748B"/>
                </a:solidFill>
                <a:latin typeface="Inter"/>
              </a:rPr>
              <a:t>Section 01 · Lecture 1.4 · Failure 4: reasoning errors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pic>
        <p:nvPicPr>
          <p:cNvPr id="2" name="Picture 1" descr="D1-six-failure-modes.png"/>
          <p:cNvPicPr>
            <a:picLocks noChangeAspect="1"/>
          </p:cNvPicPr>
          <p:nvPr/>
        </p:nvPicPr>
        <p:blipFill>
          <a:blip r:embed="rId3"/>
          <a:stretch>
            <a:fillRect/>
          </a:stretch>
        </p:blipFill>
        <p:spPr>
          <a:xfrm>
            <a:off x="0" y="0"/>
            <a:ext cx="12191695" cy="6857828"/>
          </a:xfrm>
          <a:prstGeom prst="rect">
            <a:avLst/>
          </a:prstGeom>
        </p:spPr>
      </p:pic>
      <p:sp>
        <p:nvSpPr>
          <p:cNvPr id="3" name="TextBox 2"/>
          <p:cNvSpPr txBox="1"/>
          <p:nvPr/>
        </p:nvSpPr>
        <p:spPr>
          <a:xfrm>
            <a:off x="6217920" y="109728"/>
            <a:ext cx="5806440" cy="274320"/>
          </a:xfrm>
          <a:prstGeom prst="rect">
            <a:avLst/>
          </a:prstGeom>
          <a:noFill/>
        </p:spPr>
        <p:txBody>
          <a:bodyPr wrap="square" lIns="45720" rIns="45720" tIns="27432" bIns="27432" anchor="t">
            <a:spAutoFit/>
          </a:bodyPr>
          <a:lstStyle/>
          <a:p>
            <a:pPr algn="r"/>
            <a:r>
              <a:rPr sz="900" b="0">
                <a:solidFill>
                  <a:srgbClr val="64748B"/>
                </a:solidFill>
                <a:latin typeface="Inter"/>
              </a:rPr>
              <a:t>Section 01 · Lecture 1.4 · Failures 5 and 6: losing the plot</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01 · Lecture 1.4</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Why testing agents is hard</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No crash: every failure returns a fluent answer</a:t>
            </a:r>
          </a:p>
          <a:p>
            <a:pPr marL="292608" indent="-292608">
              <a:lnSpc>
                <a:spcPct val="120000"/>
              </a:lnSpc>
              <a:spcAft>
                <a:spcPts val="1539"/>
              </a:spcAft>
              <a:buClr>
                <a:srgbClr val="00D4AA"/>
              </a:buClr>
              <a:buFont typeface="Inter"/>
              <a:buChar char="•"/>
            </a:pPr>
            <a:r>
              <a:rPr sz="2200" b="0">
                <a:solidFill>
                  <a:srgbClr val="FFFFFF"/>
                </a:solidFill>
                <a:latin typeface="Inter"/>
              </a:rPr>
              <a:t>Each step can look fine alone</a:t>
            </a:r>
          </a:p>
          <a:p>
            <a:pPr marL="292608" indent="-292608">
              <a:lnSpc>
                <a:spcPct val="120000"/>
              </a:lnSpc>
              <a:spcAft>
                <a:spcPts val="1539"/>
              </a:spcAft>
              <a:buClr>
                <a:srgbClr val="00D4AA"/>
              </a:buClr>
              <a:buFont typeface="Inter"/>
              <a:buChar char="•"/>
            </a:pPr>
            <a:r>
              <a:rPr sz="2200" b="0">
                <a:solidFill>
                  <a:srgbClr val="FFFFFF"/>
                </a:solidFill>
                <a:latin typeface="Inter"/>
              </a:rPr>
              <a:t>Failures compound across steps</a:t>
            </a:r>
          </a:p>
          <a:p>
            <a:pPr marL="292608" indent="-292608">
              <a:lnSpc>
                <a:spcPct val="120000"/>
              </a:lnSpc>
              <a:spcAft>
                <a:spcPts val="1539"/>
              </a:spcAft>
              <a:buClr>
                <a:srgbClr val="00D4AA"/>
              </a:buClr>
              <a:buFont typeface="Inter"/>
              <a:buChar char="•"/>
            </a:pPr>
            <a:r>
              <a:rPr sz="2200" b="0">
                <a:solidFill>
                  <a:srgbClr val="FFFFFF"/>
                </a:solidFill>
                <a:latin typeface="Inter"/>
              </a:rPr>
              <a:t>Different failures need different checks</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01 · Lecture 1.4</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Six failure modes, each with its own check</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Agents fail politely, with no exceptions</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Test the whole trajectory, not single steps</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01 · Lecture 1.4</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SECTION COMPLETE</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You can now</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Explain tokens, context windows and temperature for testing</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Map any agent to brain, tools, memory, planning</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Name the six failure modes and their checks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01 · Lecture 1.4</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Deterministic vs. Non-Deterministic: The Testing Paradigm Shift</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Next: Lecture 2.1 — Deterministic vs.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