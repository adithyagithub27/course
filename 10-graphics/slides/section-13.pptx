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Monitoring Agents in Production: Drift, Degradation &amp; Alerts.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agent passed every gate. It shipped clean. And four weeks later, its faithfulness is about eleven points lower, and no test ever failed. Nobody changed the code. So what happened? And how would you know before your customers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you'll set up the last layer of the eval pyramid: production monitoring. You'll pick what to watch, decide how to score live traffic, and run a drift detector that raises an alert days before the threshold is crossed.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The production agent serves real users. You sample some of those requests. An evaluator scores them, with the same metrics you use in CI. The scores land in a store. A dashboard and alerts watch the store. And when an alert fires, the failing conversations become new golden cases. So production feeds your regression suite, and the pyramid closes into a circle.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signals. Quality drift is the slow one: scores sliding a point a day. Cost anomalies are the loud one: tokens per task doubling overnight, often a loop. Behaviour changes are subtle: suddenly the agent escalates twice as often, or stops calling the knowledge base. And user feedback is the ground truth, but it arrives late and it's noisy. Which of the four would you wire up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quality drift when nobody touched the code? You know two causes from Module 11: the knowledge base changed, or the model behind the alias changed. The third is new: your users change. They start asking about a product you launched last week, and your golden set has no questions about it. The gate keeps passing, because it only asks the questions you already wrote.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two ways to score production. Online scoring evaluates a sample of live requests as they happen. Keep the metrics cheap and the sample small, a few percent of traffic, and it catches sudden breaks within hours. A nightly batch re-scores yesterday's sample with the full suite and your best judge. Slower, but more accurate, and the bill is predictable. Most teams run both. And with Langfuse, the scores you attached with `create_score` in Lecture 9.2 already give you a store to read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detection. Daily scores are noisy, so you smooth them with a seven-day rolling average. Then two rules. The threshold rule fires when the average falls below the policy line in `eval_config.yaml`, point eight for faithfulness. The baseline-drop rule fires when the average falls more than five points below where it was at launch. Why two? Because they answer different questions. Watch.</a:t>
            </a:r>
          </a:p>
          <a:p/>
          <a:p>
            <a:r>
              <a:t>[CODE: `monitoring/drift_monitor.py`, `check`. Highlight the two `alerts.append` lines.]</a:t>
            </a:r>
          </a:p>
          <a:p/>
          <a:p>
            <a:r>
              <a:t>Here's the whole detector. For each metric, walk the rolling averages day by day. Below the threshold? Raise one threshold alert. More than the allowed drop below the baseline? Raise one baseline-drop alert. Each kind fires once per metric, so a bad week produces one alert, not seven.</a:t>
            </a:r>
          </a:p>
          <a:p/>
          <a:p>
            <a:r>
              <a:t>[SCREEN: Terminal in `04-code-examples/agent-eval-framework`.]</a:t>
            </a:r>
          </a:p>
          <a:p/>
          <a:p>
            <a:r>
              <a:t>[DEMO: Output after the banner (offline, simulated data)]</a:t>
            </a:r>
          </a:p>
          <a:p/>
          <a:p>
            <a:r>
              <a:t>Four weeks of simulated daily scores. Launch baseline: point nine one two. For two weeks, it's flat. Then it slides: point nine oh four, point eight seven three, point eight four two, and finally point seven nine eight.</a:t>
            </a:r>
          </a:p>
          <a:p/>
          <a:p>
            <a:r>
              <a:t>[SCREEN: Same output. Zoom on the first alert, then the second, with the dates highlighted in Amber.]</a:t>
            </a:r>
          </a:p>
          <a:p/>
          <a:p>
            <a:r>
              <a:t>Now the alerts. On September twenty-fourth, the baseline-drop rule fires: average point eight five one, more than five points below launch. The threshold rule only fires on the twenty-eighth, when the average finally crosses point eight. The relative rule saw it four days earlier. Four days of customers getting worse answers. That's why you want both rules.</a:t>
            </a:r>
          </a:p>
          <a:p/>
          <a:p>
            <a:r>
              <a:t>And look at the third alert. Task completion also slid, on the same day. When two metrics move together, look for a shared cause, like a knowledge-base change or a model update that week. That's your first question in the incident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detector doesn't care what the number means. Feed it cost per task, and you'll catch cost anomalies: our benchmark baseline was about eight hundredths of a cent, so double that is worth an alert. Feed it LLM calls per task, and anything above six means the loop guard is working too hard. Feed it the escalation rate, or the share of answers that searched the knowledge base. Remember the regression from Module 11? Its first production symptom would be exactly that: fewer searches.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when an alert fires, follow four steps. One: what changed this week? Check the audit trail, the knowledge-base history and the provider's changelog. Two: pull the lowest-scoring traces in Langfuse and read them. Three: turn the worst conversations into golden cases. Four: fix it, and prove the fix with the regression suite. Step three is the one teams skip, and it's the one that stops the same drift from coming 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four signals. Score a sample online, and the full suite nightly. And alert on two rules: below the threshold, and too far below launch. The second one buys you days.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Enterprise AI Governance: Policies, Audit Trails &amp;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an incident review. The agent leaked a customer's balance. The first question isn't "why?". It's "who approved this version, and what did its tests say?" Silence. Someone scrolls through Slack. Someone else thinks it was Tuesday. Can your team answer that question in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you'll set up the paperwork that makes all your testing count, without the paperwork. A policy as code. An audit trail you can trust. And a release gate that needs the right approvals.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has four parts. A policy that says what you test and who owns it. An audit trail that records every evaluation, red-team run, approval and deployment. A model card that says what the agent does and doesn't do. And a compliance map that links each regulation to the evidence. Each layer feeds the one above.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news: your evaluation policy already exists. It's `eval_config.yaml`. Five dimensions, each with metrics and thresholds. A `gates` block that says what blocks a merge. The workflow file says how often it runs. The one thing missing is an owner. Add the config file to your CODEOWNERS file, so changing a threshold needs approval from a named person. A threshold nobody owns will drift down, one "temporary" change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audit trail is a list of events. Evaluation ran. Red team ran. Someone approved. Release deployed. The trick is making it tamper-evident. Each record stores a hash of its own contents, plus the hash of the record before it. Change one old record, and its hash no longer matches what the next record remembers. The chain breaks, and you can prove it.</a:t>
            </a:r>
          </a:p>
          <a:p/>
          <a:p>
            <a:r>
              <a:t>[CODE: `monitoring/governance.py`, `AuditTrail.log`. Highlight the `prev_hash` line and the `sha256` line.]</a:t>
            </a:r>
          </a:p>
          <a:p/>
          <a:p>
            <a:r>
              <a:t>Here's the code. Every record gets a sequence number, a timestamp, the event, the actor, the agent version and the data. The previous record's hash goes in. Then a SHA-256 hash over everything. It's appended as one JSON line. Twelve lines of Python, and no blockchain required.</a:t>
            </a:r>
          </a:p>
          <a:p/>
          <a:p>
            <a:r>
              <a:t>[SCREEN: Terminal in `04-code-examples/agent-eval-framework`.]</a:t>
            </a:r>
          </a:p>
          <a:p/>
          <a:p>
            <a:r>
              <a:t>[DEMO: Output after the banner (offline)]</a:t>
            </a:r>
          </a:p>
          <a:p/>
          <a:p>
            <a:r>
              <a:t>Read it as the release story of version one point three. CI ran the evaluation, pass rate one hundred percent. CI ran the red team, ten attacks, zero findings. The QA lead approved. At that moment, the release gate said no: missing approval, product owner. Next morning, the product owner approved, and the release bot deployed.</a:t>
            </a:r>
          </a:p>
          <a:p/>
          <a:p>
            <a:r>
              <a:t>[SCREEN: Same output. Zoom on the last two lines.]</a:t>
            </a:r>
          </a:p>
          <a:p/>
          <a:p>
            <a:r>
              <a:t>Then the demo does something sneaky. It edits record one by hand, changing the pass rate from one point oh to point six. The chain check fails immediately. Nobody can quietly rewrite what the evaluation said after an incident.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honest about the limits: a hash chain detects edits, but someone with write access could delete the last few records, or rebuild the whole chain. So in production, also ship each record somewhere append-only, like a write-once storage bucket or your log platform. The chain proves integrity. The storage protects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approves? In the demo, a release needs two roles: the QA lead and the product owner. That's a policy decision, and it belongs in writing. Add one more rule: the person who wrote a prompt change can't be the one who approves it. And let the machines go first. Evaluation and red-team results land in the trail before any human signs, so approvers sign evidence, not vibes. How many approvals does a prompt change need at your company today? For many teams, the honest answer is zero.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card for an agent is a one-page fact sheet. What it's for, and who uses it. What it must never do. Which tools and data it can reach: for TechCorp, five tools and customer records. The latest evaluation results, with dataset versions. And known limitations, written down honestly. Remember the gap you found in Lecture 8.2? The agent doesn't re-verify identity across turns. That belongs on the card until it's fixed. Update the card with every release, and link it from the audit record, so the version in production and the card describing it always match. One page, ten minutes per release.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compliance mapping. Which rules apply depends on your industry and country, so verify with your compliance team. This isn't legal advice. But the pattern is always the same: each rule asks a question, and you answer with evidence you already produce. Data protection asks about personal data: your PII scanner and red-team results. Change-control rules ask who approved: your audit trail. Which of these does your company already ask you for?</a:t>
            </a:r>
          </a:p>
          <a:p/>
          <a:p>
            <a:r>
              <a:t>[B-ROLL: A Langfuse trace view (from Lecture 9.2) with the `lookup_customer` tool output expanded, showing "Alice Johnson" and "alice@exa...]</a:t>
            </a:r>
          </a:p>
          <a:p/>
          <a:p>
            <a:r>
              <a:t>One warning that connects governance back to Module 9. Your traces are evidence, and your traces contain personal data. Every `lookup_customer` span holds a name, an email and a balance. So the same rules apply to your observability store: who can read it, how long you keep it, and whether you redact before you store. Run the Module 8 PII scanner over a sample of traces, not just over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policy is code, with an owner. Your audit trail is hash-chained, and releases need the right approvals. And your model card and compliance map are built from evidence you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Building an Agent Quality Scorecard for Leadership.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dashboards, traces, audit trails and a hundred metrics. Your VP has ninety seconds between meetings. What do you show them? If the answer is "the dashboard", they'll nod, and decide on gut feeling anyway.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you'll build a one-page scorecard that answers leadership's questions in under a minute, for three TechCorp agents, using the five quality dimensions you've used since Module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Leadership asks three questions. Is it working? So every agent gets one status: green, amber or red. Which way is it going? So every dimension gets a trend arrow. And what does it cost? So the page shows cost per task, weekly cost and the escalation rate, which is a cost too, because every escalation is a person's time.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columns are the five dimensions you know: correctness, faithfulness, relevance, safety and reliability. The rows are your agents. Here, three TechCorp agents: the support agent, the policy assistant from Module 5, and the operations agent from Module 6.</a:t>
            </a:r>
          </a:p>
          <a:p/>
          <a:p>
            <a:r>
              <a:t>[CODE: `demos/m13_quality_scorecard.py`, the lines that feed the support agent's real evaluation into the scorecard.]</a:t>
            </a:r>
          </a:p>
          <a:p/>
          <a:p>
            <a:r>
              <a:t>Here's the build. Start from example inputs for the three agents. Then run the real golden evaluation for the support agent, and overwrite its correctness, faithfulness and relevance with this week's averages. `build_scorecard` computes lights and arrows. `render_markdown` writes one table to `reports/results/scorecard.md`. In your project, every row comes from real runs. Here, two rows are illustrative so you can see amber and red.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send this to anyone, know where every number comes from. Correctness, faithfulness and relevance come from the nightly golden run. Safety comes from the red-team pass rate and the safety GEvals. Reliability comes from your Module 10 checks. Cost comes from the benchmark or from Langfuse. And escalations are simply the share of conversations that called `escalate_to_human`. If a VP asks "where's that number from?", you answer in one sentence. Could you do that for every cell today?</a:t>
            </a:r>
          </a:p>
          <a:p/>
          <a:p>
            <a:r>
              <a:t>[SCREEN: Terminal in `04-code-examples/agent-eval-framework`.]</a:t>
            </a:r>
          </a:p>
          <a:p/>
          <a:p>
            <a:r>
              <a:t>[DEMO: Output after the banner (offline; Support row partly real, other rows illustrative)]</a:t>
            </a:r>
          </a:p>
          <a:p/>
          <a:p>
            <a:r>
              <a:t>Here's the page. Read it the way a VP would, from the left. Support: green. Policy assistant: amber. Operations agent: red. That took two seconds.</a:t>
            </a:r>
          </a:p>
          <a:p/>
          <a:p>
            <a:r>
              <a:t>[SCREEN: Same output. Highlight the Policy Assistant correctness cell, then the Operations Agent safety cell.]</a:t>
            </a:r>
          </a:p>
          <a:p/>
          <a:p>
            <a:r>
              <a:t>Why amber? Correctness is point eight four, and the arrow points down. It's within five points of its target line, and declining. That's a "watch this" signal. Why red? Safety is point eight nine, just under its target, and it's trending down. And the overall status takes the worst cell, because one unsafe dimension sinks the whole agent. Should a cheaper, faster agent ever turn green if safety is red?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present a red cell as a number. Present it as a decision. What happened: safety is point eight nine, below target, and falling. So what: safety is the dimension that decides whether this agent may ship at all. Now what: the team reviews the red-team report before the next release. Three sentences. That's the whole conversation.</a:t>
            </a:r>
          </a:p>
          <a:p/>
          <a:p>
            <a:r>
              <a:t>Send this page every week, at the same time, in the same format. Consistency is the feature. After a month, your leadership will glance at the colours, read the one red line, and move on. That's the goal: quality decisions made in ninety seconds, on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is it working, which way is it going, what does it cost. Five dimensions with lights and arrows. And every red cell comes with a decision.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monitor agents in production, govern their releases with evidence, and report their quality on one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PRODUCTION MONITORING &amp; GOVERNANCE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Monitoring Agents in Production: Drift, Degradation &amp; Alerts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four production signals: quality drift, cost anomalies, behaviour changes and user feedback.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langfuse 4.16.0</a:t>
            </a:r>
          </a:p>
          <a:p>
            <a:pPr marL="292608" indent="-292608">
              <a:lnSpc>
                <a:spcPct val="120000"/>
              </a:lnSpc>
              <a:spcAft>
                <a:spcPts val="1539"/>
              </a:spcAft>
              <a:buClr>
                <a:srgbClr val="00D4AA"/>
              </a:buClr>
              <a:buFont typeface="Inter"/>
              <a:buChar char="•"/>
            </a:pPr>
            <a:r>
              <a:rPr sz="2200" b="0">
                <a:solidFill>
                  <a:srgbClr val="FFFFFF"/>
                </a:solidFill>
                <a:latin typeface="Inter"/>
              </a:rPr>
              <a:t>Python 3.11+ | drift data in this demo is simulated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Name the four production signals to watch</a:t>
            </a:r>
          </a:p>
          <a:p>
            <a:pPr marL="292608" indent="-292608">
              <a:lnSpc>
                <a:spcPct val="120000"/>
              </a:lnSpc>
              <a:spcAft>
                <a:spcPts val="1539"/>
              </a:spcAft>
              <a:buClr>
                <a:srgbClr val="00D4AA"/>
              </a:buClr>
              <a:buFont typeface="Inter"/>
              <a:buChar char="•"/>
            </a:pPr>
            <a:r>
              <a:rPr sz="2200" b="0">
                <a:solidFill>
                  <a:srgbClr val="FFFFFF"/>
                </a:solidFill>
                <a:latin typeface="Inter"/>
              </a:rPr>
              <a:t>Choose online scoring or nightly batch evaluation</a:t>
            </a:r>
          </a:p>
          <a:p>
            <a:pPr marL="292608" indent="-292608">
              <a:lnSpc>
                <a:spcPct val="120000"/>
              </a:lnSpc>
              <a:spcAft>
                <a:spcPts val="1539"/>
              </a:spcAft>
              <a:buClr>
                <a:srgbClr val="00D4AA"/>
              </a:buClr>
              <a:buFont typeface="Inter"/>
              <a:buChar char="•"/>
            </a:pPr>
            <a:r>
              <a:rPr sz="2200" b="0">
                <a:solidFill>
                  <a:srgbClr val="FFFFFF"/>
                </a:solidFill>
                <a:latin typeface="Inter"/>
              </a:rPr>
              <a:t>Detect drift with a rolling average and two alerts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5-production-monitoring-loop.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13 · Lecture 13.1 · The production monitoring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signals to watch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Quality drift: judge scores sliding down over days</a:t>
            </a:r>
          </a:p>
          <a:p>
            <a:pPr marL="292608" indent="-292608">
              <a:lnSpc>
                <a:spcPct val="120000"/>
              </a:lnSpc>
              <a:spcAft>
                <a:spcPts val="1539"/>
              </a:spcAft>
              <a:buClr>
                <a:srgbClr val="00D4AA"/>
              </a:buClr>
              <a:buFont typeface="Inter"/>
              <a:buChar char="•"/>
            </a:pPr>
            <a:r>
              <a:rPr sz="2200" b="0">
                <a:solidFill>
                  <a:srgbClr val="FFFFFF"/>
                </a:solidFill>
                <a:latin typeface="Inter"/>
              </a:rPr>
              <a:t>Cost anomalies: tokens or cost per task jumping</a:t>
            </a:r>
          </a:p>
          <a:p>
            <a:pPr marL="292608" indent="-292608">
              <a:lnSpc>
                <a:spcPct val="120000"/>
              </a:lnSpc>
              <a:spcAft>
                <a:spcPts val="1539"/>
              </a:spcAft>
              <a:buClr>
                <a:srgbClr val="00D4AA"/>
              </a:buClr>
              <a:buFont typeface="Inter"/>
              <a:buChar char="•"/>
            </a:pPr>
            <a:r>
              <a:rPr sz="2200" b="0">
                <a:solidFill>
                  <a:srgbClr val="FFFFFF"/>
                </a:solidFill>
                <a:latin typeface="Inter"/>
              </a:rPr>
              <a:t>Behaviour changes: tool-call mix, response length, escalation rate</a:t>
            </a:r>
          </a:p>
          <a:p>
            <a:pPr marL="292608" indent="-292608">
              <a:lnSpc>
                <a:spcPct val="120000"/>
              </a:lnSpc>
              <a:spcAft>
                <a:spcPts val="1539"/>
              </a:spcAft>
              <a:buClr>
                <a:srgbClr val="00D4AA"/>
              </a:buClr>
              <a:buFont typeface="Inter"/>
              <a:buChar char="•"/>
            </a:pPr>
            <a:r>
              <a:rPr sz="2200" b="0">
                <a:solidFill>
                  <a:srgbClr val="FFFFFF"/>
                </a:solidFill>
                <a:latin typeface="Inter"/>
              </a:rPr>
              <a:t>User feedback: thumbs-down, complaints, repeat contacts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drift happens with no code change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Users change: new questions, new products, new slang</a:t>
            </a:r>
          </a:p>
          <a:p>
            <a:pPr marL="292608" indent="-292608">
              <a:lnSpc>
                <a:spcPct val="120000"/>
              </a:lnSpc>
              <a:spcAft>
                <a:spcPts val="1539"/>
              </a:spcAft>
              <a:buClr>
                <a:srgbClr val="00D4AA"/>
              </a:buClr>
              <a:buFont typeface="Inter"/>
              <a:buChar char="•"/>
            </a:pPr>
            <a:r>
              <a:rPr sz="2200" b="0">
                <a:solidFill>
                  <a:srgbClr val="FFFFFF"/>
                </a:solidFill>
                <a:latin typeface="Inter"/>
              </a:rPr>
              <a:t>Context changes: knowledge-base edits, new documents</a:t>
            </a:r>
          </a:p>
          <a:p>
            <a:pPr marL="292608" indent="-292608">
              <a:lnSpc>
                <a:spcPct val="120000"/>
              </a:lnSpc>
              <a:spcAft>
                <a:spcPts val="1539"/>
              </a:spcAft>
              <a:buClr>
                <a:srgbClr val="00D4AA"/>
              </a:buClr>
              <a:buFont typeface="Inter"/>
              <a:buChar char="•"/>
            </a:pPr>
            <a:r>
              <a:rPr sz="2200" b="0">
                <a:solidFill>
                  <a:srgbClr val="FFFFFF"/>
                </a:solidFill>
                <a:latin typeface="Inter"/>
              </a:rPr>
              <a:t>Models change: provider updates behind an alias</a:t>
            </a:r>
          </a:p>
          <a:p>
            <a:pPr marL="292608" indent="-292608">
              <a:lnSpc>
                <a:spcPct val="120000"/>
              </a:lnSpc>
              <a:spcAft>
                <a:spcPts val="1539"/>
              </a:spcAft>
              <a:buClr>
                <a:srgbClr val="00D4AA"/>
              </a:buClr>
              <a:buFont typeface="Inter"/>
              <a:buChar char="•"/>
            </a:pPr>
            <a:r>
              <a:rPr sz="2200" b="0">
                <a:solidFill>
                  <a:srgbClr val="FFFFFF"/>
                </a:solidFill>
                <a:latin typeface="Inter"/>
              </a:rPr>
              <a:t>Your gate only tests the questions you already wrote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Online or nightly?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920240"/>
        </p:xfrm>
        <a:graphic>
          <a:graphicData uri="http://schemas.openxmlformats.org/drawingml/2006/table">
            <a:tbl>
              <a:tblPr firstRow="1" bandRow="1">
                <a:tableStyleId>{5C22544A-7EE6-4342-B048-85BDC9FD1C3A}</a:tableStyleId>
              </a:tblPr>
              <a:tblGrid>
                <a:gridCol w="888200"/>
                <a:gridCol w="5836748"/>
                <a:gridCol w="4567890"/>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Online scoring</a:t>
                      </a:r>
                    </a:p>
                  </a:txBody>
                  <a:tcPr marL="91440" marR="91440" marT="45720" marB="45720" anchor="ctr">
                    <a:solidFill>
                      <a:srgbClr val="00D4AA"/>
                    </a:solidFill>
                  </a:tcPr>
                </a:tc>
                <a:tc>
                  <a:txBody>
                    <a:bodyPr wrap="square"/>
                    <a:lstStyle/>
                    <a:p>
                      <a:r>
                        <a:rPr sz="1200" b="1">
                          <a:solidFill>
                            <a:srgbClr val="0A1628"/>
                          </a:solidFill>
                          <a:latin typeface="Inter"/>
                        </a:rPr>
                        <a:t>Nightly batch</a:t>
                      </a:r>
                    </a:p>
                  </a:txBody>
                  <a:tcPr marL="91440" marR="91440" marT="45720" marB="45720" anchor="ctr">
                    <a:solidFill>
                      <a:srgbClr val="00D4AA"/>
                    </a:solidFill>
                  </a:tcPr>
                </a:tc>
              </a:tr>
              <a:tr h="384048">
                <a:tc>
                  <a:txBody>
                    <a:bodyPr wrap="square"/>
                    <a:lstStyle/>
                    <a:p>
                      <a:r>
                        <a:rPr sz="1200" b="1">
                          <a:solidFill>
                            <a:srgbClr val="FFFFFF"/>
                          </a:solidFill>
                          <a:latin typeface="Inter"/>
                        </a:rPr>
                        <a:t>What</a:t>
                      </a:r>
                    </a:p>
                  </a:txBody>
                  <a:tcPr marL="91440" marR="91440" marT="45720" marB="45720" anchor="ctr">
                    <a:solidFill>
                      <a:srgbClr val="1A2742"/>
                    </a:solidFill>
                  </a:tcPr>
                </a:tc>
                <a:tc>
                  <a:txBody>
                    <a:bodyPr wrap="square"/>
                    <a:lstStyle/>
                    <a:p>
                      <a:r>
                        <a:rPr sz="1200" b="0">
                          <a:solidFill>
                            <a:srgbClr val="FFFFFF"/>
                          </a:solidFill>
                          <a:latin typeface="Inter"/>
                        </a:rPr>
                        <a:t>score a sample of live requests as they happen</a:t>
                      </a:r>
                    </a:p>
                  </a:txBody>
                  <a:tcPr marL="91440" marR="91440" marT="45720" marB="45720" anchor="ctr">
                    <a:solidFill>
                      <a:srgbClr val="1A2742"/>
                    </a:solidFill>
                  </a:tcPr>
                </a:tc>
                <a:tc>
                  <a:txBody>
                    <a:bodyPr wrap="square"/>
                    <a:lstStyle/>
                    <a:p>
                      <a:r>
                        <a:rPr sz="1200" b="0">
                          <a:solidFill>
                            <a:srgbClr val="FFFFFF"/>
                          </a:solidFill>
                          <a:latin typeface="Inter"/>
                        </a:rPr>
                        <a:t>re-score yesterday's sampled traffic</a:t>
                      </a:r>
                    </a:p>
                  </a:txBody>
                  <a:tcPr marL="91440" marR="91440" marT="45720" marB="45720" anchor="ctr">
                    <a:solidFill>
                      <a:srgbClr val="1A2742"/>
                    </a:solidFill>
                  </a:tcPr>
                </a:tc>
              </a:tr>
              <a:tr h="384048">
                <a:tc>
                  <a:txBody>
                    <a:bodyPr wrap="square"/>
                    <a:lstStyle/>
                    <a:p>
                      <a:r>
                        <a:rPr sz="1200" b="1">
                          <a:solidFill>
                            <a:srgbClr val="FFFFFF"/>
                          </a:solidFill>
                          <a:latin typeface="Inter"/>
                        </a:rPr>
                        <a:t>Metrics</a:t>
                      </a:r>
                    </a:p>
                  </a:txBody>
                  <a:tcPr marL="91440" marR="91440" marT="45720" marB="45720" anchor="ctr">
                    <a:solidFill>
                      <a:srgbClr val="0F1E35"/>
                    </a:solidFill>
                  </a:tcPr>
                </a:tc>
                <a:tc>
                  <a:txBody>
                    <a:bodyPr wrap="square"/>
                    <a:lstStyle/>
                    <a:p>
                      <a:r>
                        <a:rPr sz="1200" b="0">
                          <a:solidFill>
                            <a:srgbClr val="FFFFFF"/>
                          </a:solidFill>
                          <a:latin typeface="Inter"/>
                        </a:rPr>
                        <a:t>cheap ones (relevancy, a short GEval)</a:t>
                      </a:r>
                    </a:p>
                  </a:txBody>
                  <a:tcPr marL="91440" marR="91440" marT="45720" marB="45720" anchor="ctr">
                    <a:solidFill>
                      <a:srgbClr val="0F1E35"/>
                    </a:solidFill>
                  </a:tcPr>
                </a:tc>
                <a:tc>
                  <a:txBody>
                    <a:bodyPr wrap="square"/>
                    <a:lstStyle/>
                    <a:p>
                      <a:r>
                        <a:rPr sz="1200" b="0">
                          <a:solidFill>
                            <a:srgbClr val="FFFFFF"/>
                          </a:solidFill>
                          <a:latin typeface="Inter"/>
                        </a:rPr>
                        <a:t>the full suite</a:t>
                      </a:r>
                    </a:p>
                  </a:txBody>
                  <a:tcPr marL="91440" marR="91440" marT="45720" marB="45720" anchor="ctr">
                    <a:solidFill>
                      <a:srgbClr val="0F1E35"/>
                    </a:solidFill>
                  </a:tcPr>
                </a:tc>
              </a:tr>
              <a:tr h="384048">
                <a:tc>
                  <a:txBody>
                    <a:bodyPr wrap="square"/>
                    <a:lstStyle/>
                    <a:p>
                      <a:r>
                        <a:rPr sz="1200" b="1">
                          <a:solidFill>
                            <a:srgbClr val="FFFFFF"/>
                          </a:solidFill>
                          <a:latin typeface="Inter"/>
                        </a:rPr>
                        <a:t>Catches</a:t>
                      </a:r>
                    </a:p>
                  </a:txBody>
                  <a:tcPr marL="91440" marR="91440" marT="45720" marB="45720" anchor="ctr">
                    <a:solidFill>
                      <a:srgbClr val="1A2742"/>
                    </a:solidFill>
                  </a:tcPr>
                </a:tc>
                <a:tc>
                  <a:txBody>
                    <a:bodyPr wrap="square"/>
                    <a:lstStyle/>
                    <a:p>
                      <a:r>
                        <a:rPr sz="1200" b="0">
                          <a:solidFill>
                            <a:srgbClr val="FFFFFF"/>
                          </a:solidFill>
                          <a:latin typeface="Inter"/>
                        </a:rPr>
                        <a:t>sudden breaks within hours</a:t>
                      </a:r>
                    </a:p>
                  </a:txBody>
                  <a:tcPr marL="91440" marR="91440" marT="45720" marB="45720" anchor="ctr">
                    <a:solidFill>
                      <a:srgbClr val="1A2742"/>
                    </a:solidFill>
                  </a:tcPr>
                </a:tc>
                <a:tc>
                  <a:txBody>
                    <a:bodyPr wrap="square"/>
                    <a:lstStyle/>
                    <a:p>
                      <a:r>
                        <a:rPr sz="1200" b="0">
                          <a:solidFill>
                            <a:srgbClr val="FFFFFF"/>
                          </a:solidFill>
                          <a:latin typeface="Inter"/>
                        </a:rPr>
                        <a:t>slow drift, with better judges</a:t>
                      </a:r>
                    </a:p>
                  </a:txBody>
                  <a:tcPr marL="91440" marR="91440" marT="45720" marB="45720" anchor="ctr">
                    <a:solidFill>
                      <a:srgbClr val="1A2742"/>
                    </a:solidFill>
                  </a:tcPr>
                </a:tc>
              </a:tr>
              <a:tr h="384048">
                <a:tc>
                  <a:txBody>
                    <a:bodyPr wrap="square"/>
                    <a:lstStyle/>
                    <a:p>
                      <a:r>
                        <a:rPr sz="1200" b="1">
                          <a:solidFill>
                            <a:srgbClr val="FFFFFF"/>
                          </a:solidFill>
                          <a:latin typeface="Inter"/>
                        </a:rPr>
                        <a:t>Cost</a:t>
                      </a:r>
                    </a:p>
                  </a:txBody>
                  <a:tcPr marL="91440" marR="91440" marT="45720" marB="45720" anchor="ctr">
                    <a:solidFill>
                      <a:srgbClr val="0F1E35"/>
                    </a:solidFill>
                  </a:tcPr>
                </a:tc>
                <a:tc>
                  <a:txBody>
                    <a:bodyPr wrap="square"/>
                    <a:lstStyle/>
                    <a:p>
                      <a:r>
                        <a:rPr sz="1200" b="0">
                          <a:solidFill>
                            <a:srgbClr val="FFFFFF"/>
                          </a:solidFill>
                          <a:latin typeface="Inter"/>
                        </a:rPr>
                        <a:t>grows with traffic and sample rate</a:t>
                      </a:r>
                    </a:p>
                  </a:txBody>
                  <a:tcPr marL="91440" marR="91440" marT="45720" marB="45720" anchor="ctr">
                    <a:solidFill>
                      <a:srgbClr val="0F1E35"/>
                    </a:solidFill>
                  </a:tcPr>
                </a:tc>
                <a:tc>
                  <a:txBody>
                    <a:bodyPr wrap="square"/>
                    <a:lstStyle/>
                    <a:p>
                      <a:r>
                        <a:rPr sz="1200" b="0">
                          <a:solidFill>
                            <a:srgbClr val="FFFFFF"/>
                          </a:solidFill>
                          <a:latin typeface="Inter"/>
                        </a:rPr>
                        <a:t>fixed per night</a:t>
                      </a:r>
                    </a:p>
                  </a:txBody>
                  <a:tcPr marL="91440" marR="91440" marT="45720" marB="45720" anchor="ctr">
                    <a:solidFill>
                      <a:srgbClr val="0F1E3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alert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Threshold: 7-day average below the policy line (faithfulness 0.8)</a:t>
            </a:r>
          </a:p>
          <a:p>
            <a:pPr marL="292608" indent="-292608">
              <a:lnSpc>
                <a:spcPct val="120000"/>
              </a:lnSpc>
              <a:spcAft>
                <a:spcPts val="1539"/>
              </a:spcAft>
              <a:buClr>
                <a:srgbClr val="00D4AA"/>
              </a:buClr>
              <a:buFont typeface="Inter"/>
              <a:buChar char="•"/>
            </a:pPr>
            <a:r>
              <a:rPr sz="2200" b="0">
                <a:solidFill>
                  <a:srgbClr val="FFFFFF"/>
                </a:solidFill>
                <a:latin typeface="Inter"/>
              </a:rPr>
              <a:t>Baseline drop: 7-day average more than 5 points below launch</a:t>
            </a:r>
          </a:p>
          <a:p>
            <a:pPr marL="292608" indent="-292608">
              <a:lnSpc>
                <a:spcPct val="120000"/>
              </a:lnSpc>
              <a:spcAft>
                <a:spcPts val="1539"/>
              </a:spcAft>
              <a:buClr>
                <a:srgbClr val="00D4AA"/>
              </a:buClr>
              <a:buFont typeface="Inter"/>
              <a:buChar char="•"/>
            </a:pPr>
            <a:r>
              <a:rPr sz="2200" b="0">
                <a:solidFill>
                  <a:srgbClr val="FFFFFF"/>
                </a:solidFill>
                <a:latin typeface="Inter"/>
              </a:rPr>
              <a:t>Rolling averages smooth out one bad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Same detector, other signals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per task: baseline $0.0008 (Lecture 10.1), alert at 2× (verify current pricing)</a:t>
            </a:r>
          </a:p>
          <a:p>
            <a:pPr marL="292608" indent="-292608">
              <a:lnSpc>
                <a:spcPct val="120000"/>
              </a:lnSpc>
              <a:spcAft>
                <a:spcPts val="1260"/>
              </a:spcAft>
              <a:buClr>
                <a:srgbClr val="00D4AA"/>
              </a:buClr>
              <a:buFont typeface="Inter"/>
              <a:buChar char="•"/>
            </a:pPr>
            <a:r>
              <a:rPr sz="1800" b="0">
                <a:solidFill>
                  <a:srgbClr val="FFFFFF"/>
                </a:solidFill>
                <a:latin typeface="Inter"/>
              </a:rPr>
              <a:t>LLM calls per task: alert above 6 (the loop guard)</a:t>
            </a:r>
          </a:p>
          <a:p>
            <a:pPr marL="292608" indent="-292608">
              <a:lnSpc>
                <a:spcPct val="120000"/>
              </a:lnSpc>
              <a:spcAft>
                <a:spcPts val="1260"/>
              </a:spcAft>
              <a:buClr>
                <a:srgbClr val="00D4AA"/>
              </a:buClr>
              <a:buFont typeface="Inter"/>
              <a:buChar char="•"/>
            </a:pPr>
            <a:r>
              <a:rPr sz="1800" b="0">
                <a:solidFill>
                  <a:srgbClr val="FFFFFF"/>
                </a:solidFill>
                <a:latin typeface="Inter"/>
              </a:rPr>
              <a:t>Escalation rate: alert on a jump from your weekly norm</a:t>
            </a:r>
          </a:p>
          <a:p>
            <a:pPr marL="292608" indent="-292608">
              <a:lnSpc>
                <a:spcPct val="120000"/>
              </a:lnSpc>
              <a:spcAft>
                <a:spcPts val="1260"/>
              </a:spcAft>
              <a:buClr>
                <a:srgbClr val="00D4AA"/>
              </a:buClr>
              <a:buFont typeface="Inter"/>
              <a:buChar char="•"/>
            </a:pPr>
            <a:r>
              <a:rPr sz="1800" b="0">
                <a:solidFill>
                  <a:srgbClr val="FFFFFF"/>
                </a:solidFill>
                <a:latin typeface="Inter"/>
              </a:rPr>
              <a:t>Tool mix: alert when </a:t>
            </a:r>
            <a:r>
              <a:rPr sz="1656" b="0">
                <a:solidFill>
                  <a:srgbClr val="00D4AA"/>
                </a:solidFill>
                <a:latin typeface="JetBrains Mono"/>
              </a:rPr>
              <a:t>search_knowledge_base</a:t>
            </a:r>
            <a:r>
              <a:rPr sz="1800" b="0">
                <a:solidFill>
                  <a:srgbClr val="FFFFFF"/>
                </a:solidFill>
                <a:latin typeface="Inter"/>
              </a:rPr>
              <a:t> share falls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an alert fires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changed this week? Deploys, knowledge-base edits, model updates</a:t>
            </a:r>
          </a:p>
          <a:p>
            <a:pPr marL="292608" indent="-292608">
              <a:lnSpc>
                <a:spcPct val="120000"/>
              </a:lnSpc>
              <a:spcAft>
                <a:spcPts val="1539"/>
              </a:spcAft>
              <a:buClr>
                <a:srgbClr val="00D4AA"/>
              </a:buClr>
              <a:buFont typeface="Inter"/>
              <a:buChar char="•"/>
            </a:pPr>
            <a:r>
              <a:rPr sz="2200" b="0">
                <a:solidFill>
                  <a:srgbClr val="FFFFFF"/>
                </a:solidFill>
                <a:latin typeface="Inter"/>
              </a:rPr>
              <a:t>Pull the lowest-scoring traces in Langfuse</a:t>
            </a:r>
          </a:p>
          <a:p>
            <a:pPr marL="292608" indent="-292608">
              <a:lnSpc>
                <a:spcPct val="120000"/>
              </a:lnSpc>
              <a:spcAft>
                <a:spcPts val="1539"/>
              </a:spcAft>
              <a:buClr>
                <a:srgbClr val="00D4AA"/>
              </a:buClr>
              <a:buFont typeface="Inter"/>
              <a:buChar char="•"/>
            </a:pPr>
            <a:r>
              <a:rPr sz="2200" b="0">
                <a:solidFill>
                  <a:srgbClr val="FFFFFF"/>
                </a:solidFill>
                <a:latin typeface="Inter"/>
              </a:rPr>
              <a:t>Turn the worst conversations into golden cases</a:t>
            </a:r>
          </a:p>
          <a:p>
            <a:pPr marL="292608" indent="-292608">
              <a:lnSpc>
                <a:spcPct val="120000"/>
              </a:lnSpc>
              <a:spcAft>
                <a:spcPts val="1539"/>
              </a:spcAft>
              <a:buClr>
                <a:srgbClr val="00D4AA"/>
              </a:buClr>
              <a:buFont typeface="Inter"/>
              <a:buChar char="•"/>
            </a:pPr>
            <a:r>
              <a:rPr sz="2200" b="0">
                <a:solidFill>
                  <a:srgbClr val="FFFFFF"/>
                </a:solidFill>
                <a:latin typeface="Inter"/>
              </a:rPr>
              <a:t>Fix, then prove it with the regression suite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Watch quality, cost, behaviour and user feedback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Score samples online; run the full suite nightly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Two alerts: threshold and drop from baseline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Enterprise AI Governance: Policies, Audit Trails &amp; Compliance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When an alert fires, someone will ask: which version was live, who approved it, and what did 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PRODUCTION MONITORING &amp; GOVERNANCE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Enterprise AI Governance: Policies, Audit Trails &amp; Compliance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an evaluation policy as code: metrics, thresholds, frequency and owner.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Not legal advice: verify with your compliance team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Write an evaluation policy as code</a:t>
            </a:r>
          </a:p>
          <a:p>
            <a:pPr marL="292608" indent="-292608">
              <a:lnSpc>
                <a:spcPct val="120000"/>
              </a:lnSpc>
              <a:spcAft>
                <a:spcPts val="1539"/>
              </a:spcAft>
              <a:buClr>
                <a:srgbClr val="00D4AA"/>
              </a:buClr>
              <a:buFont typeface="Inter"/>
              <a:buChar char="•"/>
            </a:pPr>
            <a:r>
              <a:rPr sz="2200" b="0">
                <a:solidFill>
                  <a:srgbClr val="FFFFFF"/>
                </a:solidFill>
                <a:latin typeface="Inter"/>
              </a:rPr>
              <a:t>Keep a tamper-evident audit trail and a release gate</a:t>
            </a:r>
          </a:p>
          <a:p>
            <a:pPr marL="292608" indent="-292608">
              <a:lnSpc>
                <a:spcPct val="120000"/>
              </a:lnSpc>
              <a:spcAft>
                <a:spcPts val="1539"/>
              </a:spcAft>
              <a:buClr>
                <a:srgbClr val="00D4AA"/>
              </a:buClr>
              <a:buFont typeface="Inter"/>
              <a:buChar char="•"/>
            </a:pPr>
            <a:r>
              <a:rPr sz="2200" b="0">
                <a:solidFill>
                  <a:srgbClr val="FFFFFF"/>
                </a:solidFill>
                <a:latin typeface="Inter"/>
              </a:rPr>
              <a:t>Know what goes in a model card and a compliance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parts of agent governance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four stacked Teal blocks, bottom to top: "Evaluation policy (what we test, thresholds, who owns it)", "Audit trail (every eval, red-team run, approval, deployment)", "Model card (what the agent does and doesn't do)", "Compliance map (which rules apply, and the evidence)". An arrow on the right labelled "evidence flows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evaluation policy is a file you already have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Metrics and thresholds: </a:t>
            </a:r>
            <a:r>
              <a:rPr sz="2024" b="0">
                <a:solidFill>
                  <a:srgbClr val="00D4AA"/>
                </a:solidFill>
                <a:latin typeface="JetBrains Mono"/>
              </a:rPr>
              <a:t>config/eval_config.yaml</a:t>
            </a:r>
          </a:p>
          <a:p>
            <a:pPr marL="292608" indent="-292608">
              <a:lnSpc>
                <a:spcPct val="120000"/>
              </a:lnSpc>
              <a:spcAft>
                <a:spcPts val="1539"/>
              </a:spcAft>
              <a:buClr>
                <a:srgbClr val="00D4AA"/>
              </a:buClr>
              <a:buFont typeface="Inter"/>
              <a:buChar char="•"/>
            </a:pPr>
            <a:r>
              <a:rPr sz="2200" b="0">
                <a:solidFill>
                  <a:srgbClr val="FFFFFF"/>
                </a:solidFill>
                <a:latin typeface="Inter"/>
              </a:rPr>
              <a:t>Gates and tolerance: the </a:t>
            </a:r>
            <a:r>
              <a:rPr sz="2024" b="0">
                <a:solidFill>
                  <a:srgbClr val="00D4AA"/>
                </a:solidFill>
                <a:latin typeface="JetBrains Mono"/>
              </a:rPr>
              <a:t>gates</a:t>
            </a:r>
            <a:r>
              <a:rPr sz="2200" b="0">
                <a:solidFill>
                  <a:srgbClr val="FFFFFF"/>
                </a:solidFill>
                <a:latin typeface="Inter"/>
              </a:rPr>
              <a:t> block</a:t>
            </a:r>
          </a:p>
          <a:p>
            <a:pPr marL="292608" indent="-292608">
              <a:lnSpc>
                <a:spcPct val="120000"/>
              </a:lnSpc>
              <a:spcAft>
                <a:spcPts val="1539"/>
              </a:spcAft>
              <a:buClr>
                <a:srgbClr val="00D4AA"/>
              </a:buClr>
              <a:buFont typeface="Inter"/>
              <a:buChar char="•"/>
            </a:pPr>
            <a:r>
              <a:rPr sz="2200" b="0">
                <a:solidFill>
                  <a:srgbClr val="FFFFFF"/>
                </a:solidFill>
                <a:latin typeface="Inter"/>
              </a:rPr>
              <a:t>Frequency: the workflow triggers (push, PR, nightly)</a:t>
            </a:r>
          </a:p>
          <a:p>
            <a:pPr marL="292608" indent="-292608">
              <a:lnSpc>
                <a:spcPct val="120000"/>
              </a:lnSpc>
              <a:spcAft>
                <a:spcPts val="1539"/>
              </a:spcAft>
              <a:buClr>
                <a:srgbClr val="00D4AA"/>
              </a:buClr>
              <a:buFont typeface="Inter"/>
              <a:buChar char="•"/>
            </a:pPr>
            <a:r>
              <a:rPr sz="2200" b="0">
                <a:solidFill>
                  <a:srgbClr val="FFFFFF"/>
                </a:solidFill>
                <a:latin typeface="Inter"/>
              </a:rPr>
              <a:t>Owner: a named person in CODEOWNERS (your addition)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 audit trail that can't be quietly edited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five records in a row, each a card with "event, actor, version, data" and two small fields "prev_hash" and "hash". Arrows link each card's hash to the next card's prev_hash. The first card's prev_hash shows "000…0". A red pencil icon on card 1 breaks every arrow after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Limits of a hash chain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Detects edits to past records</a:t>
            </a:r>
          </a:p>
          <a:p>
            <a:pPr marL="292608" indent="-292608">
              <a:lnSpc>
                <a:spcPct val="120000"/>
              </a:lnSpc>
              <a:spcAft>
                <a:spcPts val="1539"/>
              </a:spcAft>
              <a:buClr>
                <a:srgbClr val="00D4AA"/>
              </a:buClr>
              <a:buFont typeface="Inter"/>
              <a:buChar char="•"/>
            </a:pPr>
            <a:r>
              <a:rPr sz="2200" b="0">
                <a:solidFill>
                  <a:srgbClr val="FFFFFF"/>
                </a:solidFill>
                <a:latin typeface="Inter"/>
              </a:rPr>
              <a:t>Does not stop someone deleting the newest records</a:t>
            </a:r>
          </a:p>
          <a:p>
            <a:pPr marL="292608" indent="-292608">
              <a:lnSpc>
                <a:spcPct val="120000"/>
              </a:lnSpc>
              <a:spcAft>
                <a:spcPts val="1539"/>
              </a:spcAft>
              <a:buClr>
                <a:srgbClr val="00D4AA"/>
              </a:buClr>
              <a:buFont typeface="Inter"/>
              <a:buChar char="•"/>
            </a:pPr>
            <a:r>
              <a:rPr sz="2200" b="0">
                <a:solidFill>
                  <a:srgbClr val="FFFFFF"/>
                </a:solidFill>
                <a:latin typeface="Inter"/>
              </a:rPr>
              <a:t>Ship records to append-only storage (write-once bucket, log service)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Who may approve a release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2 required approvals for v1.3: QA lead and Product owner</a:t>
            </a:r>
          </a:p>
          <a:p>
            <a:pPr marL="292608" indent="-292608">
              <a:lnSpc>
                <a:spcPct val="120000"/>
              </a:lnSpc>
              <a:spcAft>
                <a:spcPts val="1539"/>
              </a:spcAft>
              <a:buClr>
                <a:srgbClr val="00D4AA"/>
              </a:buClr>
              <a:buFont typeface="Inter"/>
              <a:buChar char="•"/>
            </a:pPr>
            <a:r>
              <a:rPr sz="2200" b="0">
                <a:solidFill>
                  <a:srgbClr val="FFFFFF"/>
                </a:solidFill>
                <a:latin typeface="Inter"/>
              </a:rPr>
              <a:t>The author of a prompt change cannot approve it</a:t>
            </a:r>
          </a:p>
          <a:p>
            <a:pPr marL="292608" indent="-292608">
              <a:lnSpc>
                <a:spcPct val="120000"/>
              </a:lnSpc>
              <a:spcAft>
                <a:spcPts val="1539"/>
              </a:spcAft>
              <a:buClr>
                <a:srgbClr val="00D4AA"/>
              </a:buClr>
              <a:buFont typeface="Inter"/>
              <a:buChar char="•"/>
            </a:pPr>
            <a:r>
              <a:rPr sz="2200" b="0">
                <a:solidFill>
                  <a:srgbClr val="FFFFFF"/>
                </a:solidFill>
                <a:latin typeface="Inter"/>
              </a:rPr>
              <a:t>Automated evidence first: evaluation and red team before any human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Model card for an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Purpose and users; what it must never do</a:t>
            </a:r>
          </a:p>
          <a:p>
            <a:pPr marL="292608" indent="-292608">
              <a:lnSpc>
                <a:spcPct val="120000"/>
              </a:lnSpc>
              <a:spcAft>
                <a:spcPts val="1539"/>
              </a:spcAft>
              <a:buClr>
                <a:srgbClr val="00D4AA"/>
              </a:buClr>
              <a:buFont typeface="Inter"/>
              <a:buChar char="•"/>
            </a:pPr>
            <a:r>
              <a:rPr sz="2200" b="0">
                <a:solidFill>
                  <a:srgbClr val="FFFFFF"/>
                </a:solidFill>
                <a:latin typeface="Inter"/>
              </a:rPr>
              <a:t>Tools and data it can reach (5 tools, customer records)</a:t>
            </a:r>
          </a:p>
          <a:p>
            <a:pPr marL="292608" indent="-292608">
              <a:lnSpc>
                <a:spcPct val="120000"/>
              </a:lnSpc>
              <a:spcAft>
                <a:spcPts val="1539"/>
              </a:spcAft>
              <a:buClr>
                <a:srgbClr val="00D4AA"/>
              </a:buClr>
              <a:buFont typeface="Inter"/>
              <a:buChar char="•"/>
            </a:pPr>
            <a:r>
              <a:rPr sz="2200" b="0">
                <a:solidFill>
                  <a:srgbClr val="FFFFFF"/>
                </a:solidFill>
                <a:latin typeface="Inter"/>
              </a:rPr>
              <a:t>Evaluation results and the dataset versions behind them</a:t>
            </a:r>
          </a:p>
          <a:p>
            <a:pPr marL="292608" indent="-292608">
              <a:lnSpc>
                <a:spcPct val="120000"/>
              </a:lnSpc>
              <a:spcAft>
                <a:spcPts val="1539"/>
              </a:spcAft>
              <a:buClr>
                <a:srgbClr val="00D4AA"/>
              </a:buClr>
              <a:buFont typeface="Inter"/>
              <a:buChar char="•"/>
            </a:pPr>
            <a:r>
              <a:rPr sz="2200" b="0">
                <a:solidFill>
                  <a:srgbClr val="FFFFFF"/>
                </a:solidFill>
                <a:latin typeface="Inter"/>
              </a:rPr>
              <a:t>Known limitations: identity not re-verified across turns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Compliance mapping (verify with your compliance team)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194560"/>
        </p:xfrm>
        <a:graphic>
          <a:graphicData uri="http://schemas.openxmlformats.org/drawingml/2006/table">
            <a:tbl>
              <a:tblPr firstRow="1" bandRow="1">
                <a:tableStyleId>{5C22544A-7EE6-4342-B048-85BDC9FD1C3A}</a:tableStyleId>
              </a:tblPr>
              <a:tblGrid>
                <a:gridCol w="2765593"/>
                <a:gridCol w="4263623"/>
                <a:gridCol w="4263623"/>
              </a:tblGrid>
              <a:tr h="438912">
                <a:tc>
                  <a:txBody>
                    <a:bodyPr wrap="square"/>
                    <a:lstStyle/>
                    <a:p>
                      <a:r>
                        <a:rPr sz="1400" b="1">
                          <a:solidFill>
                            <a:srgbClr val="0A1628"/>
                          </a:solidFill>
                          <a:latin typeface="Inter"/>
                        </a:rPr>
                        <a:t>Rule (examples)</a:t>
                      </a:r>
                    </a:p>
                  </a:txBody>
                  <a:tcPr marL="91440" marR="91440" marT="45720" marB="45720" anchor="ctr">
                    <a:solidFill>
                      <a:srgbClr val="00D4AA"/>
                    </a:solidFill>
                  </a:tcPr>
                </a:tc>
                <a:tc>
                  <a:txBody>
                    <a:bodyPr wrap="square"/>
                    <a:lstStyle/>
                    <a:p>
                      <a:r>
                        <a:rPr sz="1400" b="1">
                          <a:solidFill>
                            <a:srgbClr val="0A1628"/>
                          </a:solidFill>
                          <a:latin typeface="Inter"/>
                        </a:rPr>
                        <a:t>Question it asks</a:t>
                      </a:r>
                    </a:p>
                  </a:txBody>
                  <a:tcPr marL="91440" marR="91440" marT="45720" marB="45720" anchor="ctr">
                    <a:solidFill>
                      <a:srgbClr val="00D4AA"/>
                    </a:solidFill>
                  </a:tcPr>
                </a:tc>
                <a:tc>
                  <a:txBody>
                    <a:bodyPr wrap="square"/>
                    <a:lstStyle/>
                    <a:p>
                      <a:r>
                        <a:rPr sz="1400" b="1">
                          <a:solidFill>
                            <a:srgbClr val="0A1628"/>
                          </a:solidFill>
                          <a:latin typeface="Inter"/>
                        </a:rPr>
                        <a:t>Evidence you already produce</a:t>
                      </a:r>
                    </a:p>
                  </a:txBody>
                  <a:tcPr marL="91440" marR="91440" marT="45720" marB="45720" anchor="ctr">
                    <a:solidFill>
                      <a:srgbClr val="00D4AA"/>
                    </a:solidFill>
                  </a:tcPr>
                </a:tc>
              </a:tr>
              <a:tr h="438912">
                <a:tc>
                  <a:txBody>
                    <a:bodyPr wrap="square"/>
                    <a:lstStyle/>
                    <a:p>
                      <a:r>
                        <a:rPr sz="1400" b="1">
                          <a:solidFill>
                            <a:srgbClr val="FFFFFF"/>
                          </a:solidFill>
                          <a:latin typeface="Inter"/>
                        </a:rPr>
                        <a:t>GDPR</a:t>
                      </a:r>
                    </a:p>
                  </a:txBody>
                  <a:tcPr marL="91440" marR="91440" marT="45720" marB="45720" anchor="ctr">
                    <a:solidFill>
                      <a:srgbClr val="1A2742"/>
                    </a:solidFill>
                  </a:tcPr>
                </a:tc>
                <a:tc>
                  <a:txBody>
                    <a:bodyPr wrap="square"/>
                    <a:lstStyle/>
                    <a:p>
                      <a:r>
                        <a:rPr sz="1400" b="0">
                          <a:solidFill>
                            <a:srgbClr val="FFFFFF"/>
                          </a:solidFill>
                          <a:latin typeface="Inter"/>
                        </a:rPr>
                        <a:t>Is personal data protected?</a:t>
                      </a:r>
                    </a:p>
                  </a:txBody>
                  <a:tcPr marL="91440" marR="91440" marT="45720" marB="45720" anchor="ctr">
                    <a:solidFill>
                      <a:srgbClr val="1A2742"/>
                    </a:solidFill>
                  </a:tcPr>
                </a:tc>
                <a:tc>
                  <a:txBody>
                    <a:bodyPr wrap="square"/>
                    <a:lstStyle/>
                    <a:p>
                      <a:r>
                        <a:rPr sz="1400" b="0">
                          <a:solidFill>
                            <a:srgbClr val="FFFFFF"/>
                          </a:solidFill>
                          <a:latin typeface="Inter"/>
                        </a:rPr>
                        <a:t>PII scanner, red-team PII cases</a:t>
                      </a:r>
                    </a:p>
                  </a:txBody>
                  <a:tcPr marL="91440" marR="91440" marT="45720" marB="45720" anchor="ctr">
                    <a:solidFill>
                      <a:srgbClr val="1A2742"/>
                    </a:solidFill>
                  </a:tcPr>
                </a:tc>
              </a:tr>
              <a:tr h="438912">
                <a:tc>
                  <a:txBody>
                    <a:bodyPr wrap="square"/>
                    <a:lstStyle/>
                    <a:p>
                      <a:r>
                        <a:rPr sz="1400" b="1">
                          <a:solidFill>
                            <a:srgbClr val="FFFFFF"/>
                          </a:solidFill>
                          <a:latin typeface="Inter"/>
                        </a:rPr>
                        <a:t>EU AI Act</a:t>
                      </a:r>
                    </a:p>
                  </a:txBody>
                  <a:tcPr marL="91440" marR="91440" marT="45720" marB="45720" anchor="ctr">
                    <a:solidFill>
                      <a:srgbClr val="0F1E35"/>
                    </a:solidFill>
                  </a:tcPr>
                </a:tc>
                <a:tc>
                  <a:txBody>
                    <a:bodyPr wrap="square"/>
                    <a:lstStyle/>
                    <a:p>
                      <a:r>
                        <a:rPr sz="1400" b="0">
                          <a:solidFill>
                            <a:srgbClr val="FFFFFF"/>
                          </a:solidFill>
                          <a:latin typeface="Inter"/>
                        </a:rPr>
                        <a:t>Was the system tested and documented?</a:t>
                      </a:r>
                    </a:p>
                  </a:txBody>
                  <a:tcPr marL="91440" marR="91440" marT="45720" marB="45720" anchor="ctr">
                    <a:solidFill>
                      <a:srgbClr val="0F1E35"/>
                    </a:solidFill>
                  </a:tcPr>
                </a:tc>
                <a:tc>
                  <a:txBody>
                    <a:bodyPr wrap="square"/>
                    <a:lstStyle/>
                    <a:p>
                      <a:r>
                        <a:rPr sz="1400" b="0">
                          <a:solidFill>
                            <a:srgbClr val="FFFFFF"/>
                          </a:solidFill>
                          <a:latin typeface="Inter"/>
                        </a:rPr>
                        <a:t>audit trail, model card, eval reports</a:t>
                      </a:r>
                    </a:p>
                  </a:txBody>
                  <a:tcPr marL="91440" marR="91440" marT="45720" marB="45720" anchor="ctr">
                    <a:solidFill>
                      <a:srgbClr val="0F1E35"/>
                    </a:solidFill>
                  </a:tcPr>
                </a:tc>
              </a:tr>
              <a:tr h="438912">
                <a:tc>
                  <a:txBody>
                    <a:bodyPr wrap="square"/>
                    <a:lstStyle/>
                    <a:p>
                      <a:r>
                        <a:rPr sz="1400" b="1">
                          <a:solidFill>
                            <a:srgbClr val="FFFFFF"/>
                          </a:solidFill>
                          <a:latin typeface="Inter"/>
                        </a:rPr>
                        <a:t>SOX / financial controls</a:t>
                      </a:r>
                    </a:p>
                  </a:txBody>
                  <a:tcPr marL="91440" marR="91440" marT="45720" marB="45720" anchor="ctr">
                    <a:solidFill>
                      <a:srgbClr val="1A2742"/>
                    </a:solidFill>
                  </a:tcPr>
                </a:tc>
                <a:tc>
                  <a:txBody>
                    <a:bodyPr wrap="square"/>
                    <a:lstStyle/>
                    <a:p>
                      <a:r>
                        <a:rPr sz="1400" b="0">
                          <a:solidFill>
                            <a:srgbClr val="FFFFFF"/>
                          </a:solidFill>
                          <a:latin typeface="Inter"/>
                        </a:rPr>
                        <a:t>Who approved the change?</a:t>
                      </a:r>
                    </a:p>
                  </a:txBody>
                  <a:tcPr marL="91440" marR="91440" marT="45720" marB="45720" anchor="ctr">
                    <a:solidFill>
                      <a:srgbClr val="1A2742"/>
                    </a:solidFill>
                  </a:tcPr>
                </a:tc>
                <a:tc>
                  <a:txBody>
                    <a:bodyPr wrap="square"/>
                    <a:lstStyle/>
                    <a:p>
                      <a:r>
                        <a:rPr sz="1400" b="0">
                          <a:solidFill>
                            <a:srgbClr val="FFFFFF"/>
                          </a:solidFill>
                          <a:latin typeface="Inter"/>
                        </a:rPr>
                        <a:t>approvals in the audit trail</a:t>
                      </a:r>
                    </a:p>
                  </a:txBody>
                  <a:tcPr marL="91440" marR="91440" marT="45720" marB="45720" anchor="ctr">
                    <a:solidFill>
                      <a:srgbClr val="1A2742"/>
                    </a:solidFill>
                  </a:tcPr>
                </a:tc>
              </a:tr>
              <a:tr h="438912">
                <a:tc>
                  <a:txBody>
                    <a:bodyPr wrap="square"/>
                    <a:lstStyle/>
                    <a:p>
                      <a:r>
                        <a:rPr sz="1400" b="1">
                          <a:solidFill>
                            <a:srgbClr val="FFFFFF"/>
                          </a:solidFill>
                          <a:latin typeface="Inter"/>
                        </a:rPr>
                        <a:t>HIPAA (health data)</a:t>
                      </a:r>
                    </a:p>
                  </a:txBody>
                  <a:tcPr marL="91440" marR="91440" marT="45720" marB="45720" anchor="ctr">
                    <a:solidFill>
                      <a:srgbClr val="0F1E35"/>
                    </a:solidFill>
                  </a:tcPr>
                </a:tc>
                <a:tc>
                  <a:txBody>
                    <a:bodyPr wrap="square"/>
                    <a:lstStyle/>
                    <a:p>
                      <a:r>
                        <a:rPr sz="1400" b="0">
                          <a:solidFill>
                            <a:srgbClr val="FFFFFF"/>
                          </a:solidFill>
                          <a:latin typeface="Inter"/>
                        </a:rPr>
                        <a:t>Is health data exposed?</a:t>
                      </a:r>
                    </a:p>
                  </a:txBody>
                  <a:tcPr marL="91440" marR="91440" marT="45720" marB="45720" anchor="ctr">
                    <a:solidFill>
                      <a:srgbClr val="0F1E35"/>
                    </a:solidFill>
                  </a:tcPr>
                </a:tc>
                <a:tc>
                  <a:txBody>
                    <a:bodyPr wrap="square"/>
                    <a:lstStyle/>
                    <a:p>
                      <a:r>
                        <a:rPr sz="1400" b="0">
                          <a:solidFill>
                            <a:srgbClr val="FFFFFF"/>
                          </a:solidFill>
                          <a:latin typeface="Inter"/>
                        </a:rPr>
                        <a:t>PII scanner, access tests</a:t>
                      </a:r>
                    </a:p>
                  </a:txBody>
                  <a:tcPr marL="91440" marR="91440" marT="45720" marB="45720" anchor="ctr">
                    <a:solidFill>
                      <a:srgbClr val="0F1E35"/>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Policy as code, with a named owner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Hash-chained audit trail plus a release gate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Model card and compliance map built from evidence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Building an Agent Quality Scorecard for Leadership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Leadership won't read an audit trail.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PRODUCTION MONITORING &amp; GOVERNANCE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Building an Agent Quality Scorecard for Leadership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Answer leadership's three questions (is it working, which way is it going, what does it cost) on one page.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Support row from a real offline eval; other rows illustrative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Answer leadership's three questions on one page</a:t>
            </a:r>
          </a:p>
          <a:p>
            <a:pPr marL="292608" indent="-292608">
              <a:lnSpc>
                <a:spcPct val="120000"/>
              </a:lnSpc>
              <a:spcAft>
                <a:spcPts val="1539"/>
              </a:spcAft>
              <a:buClr>
                <a:srgbClr val="00D4AA"/>
              </a:buClr>
              <a:buFont typeface="Inter"/>
              <a:buChar char="•"/>
            </a:pPr>
            <a:r>
              <a:rPr sz="2200" b="0">
                <a:solidFill>
                  <a:srgbClr val="FFFFFF"/>
                </a:solidFill>
                <a:latin typeface="Inter"/>
              </a:rPr>
              <a:t>Build a traffic-light scorecard for three agents</a:t>
            </a:r>
          </a:p>
          <a:p>
            <a:pPr marL="292608" indent="-292608">
              <a:lnSpc>
                <a:spcPct val="120000"/>
              </a:lnSpc>
              <a:spcAft>
                <a:spcPts val="1539"/>
              </a:spcAft>
              <a:buClr>
                <a:srgbClr val="00D4AA"/>
              </a:buClr>
              <a:buFont typeface="Inter"/>
              <a:buChar char="•"/>
            </a:pPr>
            <a:r>
              <a:rPr sz="2200" b="0">
                <a:solidFill>
                  <a:srgbClr val="FFFFFF"/>
                </a:solidFill>
                <a:latin typeface="Inter"/>
              </a:rPr>
              <a:t>Turn a red cell into a decision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questions leadership asks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Is it working? One status per agent: green, amber, red</a:t>
            </a:r>
          </a:p>
          <a:p>
            <a:pPr marL="292608" indent="-292608">
              <a:lnSpc>
                <a:spcPct val="120000"/>
              </a:lnSpc>
              <a:spcAft>
                <a:spcPts val="1539"/>
              </a:spcAft>
              <a:buClr>
                <a:srgbClr val="00D4AA"/>
              </a:buClr>
              <a:buFont typeface="Inter"/>
              <a:buChar char="•"/>
            </a:pPr>
            <a:r>
              <a:rPr sz="2200" b="0">
                <a:solidFill>
                  <a:srgbClr val="FFFFFF"/>
                </a:solidFill>
                <a:latin typeface="Inter"/>
              </a:rPr>
              <a:t>Which way is it going? A trend arrow per dimension</a:t>
            </a:r>
          </a:p>
          <a:p>
            <a:pPr marL="292608" indent="-292608">
              <a:lnSpc>
                <a:spcPct val="120000"/>
              </a:lnSpc>
              <a:spcAft>
                <a:spcPts val="1539"/>
              </a:spcAft>
              <a:buClr>
                <a:srgbClr val="00D4AA"/>
              </a:buClr>
              <a:buFont typeface="Inter"/>
              <a:buChar char="•"/>
            </a:pPr>
            <a:r>
              <a:rPr sz="2200" b="0">
                <a:solidFill>
                  <a:srgbClr val="FFFFFF"/>
                </a:solidFill>
                <a:latin typeface="Inter"/>
              </a:rPr>
              <a:t>What does it cost? Cost per task, weekly cost, escalation rate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5-five-dimensions-radar.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13 · Lecture 13.3 · Five dimensions, one row per agent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every number on the page comes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4672899"/>
                <a:gridCol w="6619940"/>
              </a:tblGrid>
              <a:tr h="384048">
                <a:tc>
                  <a:txBody>
                    <a:bodyPr wrap="square"/>
                    <a:lstStyle/>
                    <a:p>
                      <a:r>
                        <a:rPr sz="1200" b="1">
                          <a:solidFill>
                            <a:srgbClr val="0A1628"/>
                          </a:solidFill>
                          <a:latin typeface="Inter"/>
                        </a:rPr>
                        <a:t>Column</a:t>
                      </a:r>
                    </a:p>
                  </a:txBody>
                  <a:tcPr marL="91440" marR="91440" marT="45720" marB="45720" anchor="ctr">
                    <a:solidFill>
                      <a:srgbClr val="00D4AA"/>
                    </a:solidFill>
                  </a:tcPr>
                </a:tc>
                <a:tc>
                  <a:txBody>
                    <a:bodyPr wrap="square"/>
                    <a:lstStyle/>
                    <a:p>
                      <a:r>
                        <a:rPr sz="1200" b="1">
                          <a:solidFill>
                            <a:srgbClr val="0A1628"/>
                          </a:solidFill>
                          <a:latin typeface="Inter"/>
                        </a:rPr>
                        <a:t>Source in your pipeline</a:t>
                      </a:r>
                    </a:p>
                  </a:txBody>
                  <a:tcPr marL="91440" marR="91440" marT="45720" marB="45720" anchor="ctr">
                    <a:solidFill>
                      <a:srgbClr val="00D4AA"/>
                    </a:solidFill>
                  </a:tcPr>
                </a:tc>
              </a:tr>
              <a:tr h="384048">
                <a:tc>
                  <a:txBody>
                    <a:bodyPr wrap="square"/>
                    <a:lstStyle/>
                    <a:p>
                      <a:r>
                        <a:rPr sz="1200" b="1">
                          <a:solidFill>
                            <a:srgbClr val="FFFFFF"/>
                          </a:solidFill>
                          <a:latin typeface="Inter"/>
                        </a:rPr>
                        <a:t>Correctness, Faithfulness, Relevance</a:t>
                      </a:r>
                    </a:p>
                  </a:txBody>
                  <a:tcPr marL="91440" marR="91440" marT="45720" marB="45720" anchor="ctr">
                    <a:solidFill>
                      <a:srgbClr val="1A2742"/>
                    </a:solidFill>
                  </a:tcPr>
                </a:tc>
                <a:tc>
                  <a:txBody>
                    <a:bodyPr wrap="square"/>
                    <a:lstStyle/>
                    <a:p>
                      <a:r>
                        <a:rPr sz="1200" b="0">
                          <a:solidFill>
                            <a:srgbClr val="FFFFFF"/>
                          </a:solidFill>
                          <a:latin typeface="Inter"/>
                        </a:rPr>
                        <a:t>nightly golden evaluation (Module 12)</a:t>
                      </a:r>
                    </a:p>
                  </a:txBody>
                  <a:tcPr marL="91440" marR="91440" marT="45720" marB="45720" anchor="ctr">
                    <a:solidFill>
                      <a:srgbClr val="1A2742"/>
                    </a:solidFill>
                  </a:tcPr>
                </a:tc>
              </a:tr>
              <a:tr h="384048">
                <a:tc>
                  <a:txBody>
                    <a:bodyPr wrap="square"/>
                    <a:lstStyle/>
                    <a:p>
                      <a:r>
                        <a:rPr sz="1200" b="1">
                          <a:solidFill>
                            <a:srgbClr val="FFFFFF"/>
                          </a:solidFill>
                          <a:latin typeface="Inter"/>
                        </a:rPr>
                        <a:t>Safety</a:t>
                      </a:r>
                    </a:p>
                  </a:txBody>
                  <a:tcPr marL="91440" marR="91440" marT="45720" marB="45720" anchor="ctr">
                    <a:solidFill>
                      <a:srgbClr val="0F1E35"/>
                    </a:solidFill>
                  </a:tcPr>
                </a:tc>
                <a:tc>
                  <a:txBody>
                    <a:bodyPr wrap="square"/>
                    <a:lstStyle/>
                    <a:p>
                      <a:r>
                        <a:rPr sz="1200" b="0">
                          <a:solidFill>
                            <a:srgbClr val="FFFFFF"/>
                          </a:solidFill>
                          <a:latin typeface="Inter"/>
                        </a:rPr>
                        <a:t>red-team pass rate and safety GEvals (Module 8)</a:t>
                      </a:r>
                    </a:p>
                  </a:txBody>
                  <a:tcPr marL="91440" marR="91440" marT="45720" marB="45720" anchor="ctr">
                    <a:solidFill>
                      <a:srgbClr val="0F1E35"/>
                    </a:solidFill>
                  </a:tcPr>
                </a:tc>
              </a:tr>
              <a:tr h="384048">
                <a:tc>
                  <a:txBody>
                    <a:bodyPr wrap="square"/>
                    <a:lstStyle/>
                    <a:p>
                      <a:r>
                        <a:rPr sz="1200" b="1">
                          <a:solidFill>
                            <a:srgbClr val="FFFFFF"/>
                          </a:solidFill>
                          <a:latin typeface="Inter"/>
                        </a:rPr>
                        <a:t>Reliability</a:t>
                      </a:r>
                    </a:p>
                  </a:txBody>
                  <a:tcPr marL="91440" marR="91440" marT="45720" marB="45720" anchor="ctr">
                    <a:solidFill>
                      <a:srgbClr val="1A2742"/>
                    </a:solidFill>
                  </a:tcPr>
                </a:tc>
                <a:tc>
                  <a:txBody>
                    <a:bodyPr wrap="square"/>
                    <a:lstStyle/>
                    <a:p>
                      <a:r>
                        <a:rPr sz="1104" b="0">
                          <a:solidFill>
                            <a:srgbClr val="00D4AA"/>
                          </a:solidFill>
                          <a:latin typeface="JetBrains Mono"/>
                        </a:rPr>
                        <a:t>measure_reliability</a:t>
                      </a:r>
                      <a:r>
                        <a:rPr sz="1200" b="0">
                          <a:solidFill>
                            <a:srgbClr val="FFFFFF"/>
                          </a:solidFill>
                          <a:latin typeface="Inter"/>
                        </a:rPr>
                        <a:t> and benchmark p95 (Module 10)</a:t>
                      </a:r>
                    </a:p>
                  </a:txBody>
                  <a:tcPr marL="91440" marR="91440" marT="45720" marB="45720" anchor="ctr">
                    <a:solidFill>
                      <a:srgbClr val="1A2742"/>
                    </a:solidFill>
                  </a:tcPr>
                </a:tc>
              </a:tr>
              <a:tr h="384048">
                <a:tc>
                  <a:txBody>
                    <a:bodyPr wrap="square"/>
                    <a:lstStyle/>
                    <a:p>
                      <a:r>
                        <a:rPr sz="1200" b="1">
                          <a:solidFill>
                            <a:srgbClr val="FFFFFF"/>
                          </a:solidFill>
                          <a:latin typeface="Inter"/>
                        </a:rPr>
                        <a:t>Cost/task, weekly cost</a:t>
                      </a:r>
                    </a:p>
                  </a:txBody>
                  <a:tcPr marL="91440" marR="91440" marT="45720" marB="45720" anchor="ctr">
                    <a:solidFill>
                      <a:srgbClr val="0F1E35"/>
                    </a:solidFill>
                  </a:tcPr>
                </a:tc>
                <a:tc>
                  <a:txBody>
                    <a:bodyPr wrap="square"/>
                    <a:lstStyle/>
                    <a:p>
                      <a:r>
                        <a:rPr sz="1200" b="0">
                          <a:solidFill>
                            <a:srgbClr val="FFFFFF"/>
                          </a:solidFill>
                          <a:latin typeface="Inter"/>
                        </a:rPr>
                        <a:t>benchmark or Langfuse costs (Modules 9 and 10)</a:t>
                      </a:r>
                    </a:p>
                  </a:txBody>
                  <a:tcPr marL="91440" marR="91440" marT="45720" marB="45720" anchor="ctr">
                    <a:solidFill>
                      <a:srgbClr val="0F1E35"/>
                    </a:solidFill>
                  </a:tcPr>
                </a:tc>
              </a:tr>
              <a:tr h="384048">
                <a:tc>
                  <a:txBody>
                    <a:bodyPr wrap="square"/>
                    <a:lstStyle/>
                    <a:p>
                      <a:r>
                        <a:rPr sz="1200" b="1">
                          <a:solidFill>
                            <a:srgbClr val="FFFFFF"/>
                          </a:solidFill>
                          <a:latin typeface="Inter"/>
                        </a:rPr>
                        <a:t>Escalations</a:t>
                      </a:r>
                    </a:p>
                  </a:txBody>
                  <a:tcPr marL="91440" marR="91440" marT="45720" marB="45720" anchor="ctr">
                    <a:solidFill>
                      <a:srgbClr val="1A2742"/>
                    </a:solidFill>
                  </a:tcPr>
                </a:tc>
                <a:tc>
                  <a:txBody>
                    <a:bodyPr wrap="square"/>
                    <a:lstStyle/>
                    <a:p>
                      <a:r>
                        <a:rPr sz="1200" b="0">
                          <a:solidFill>
                            <a:srgbClr val="FFFFFF"/>
                          </a:solidFill>
                          <a:latin typeface="Inter"/>
                        </a:rPr>
                        <a:t>share of conversations calling </a:t>
                      </a:r>
                      <a:r>
                        <a:rPr sz="1104" b="0">
                          <a:solidFill>
                            <a:srgbClr val="00D4AA"/>
                          </a:solidFill>
                          <a:latin typeface="JetBrains Mono"/>
                        </a:rPr>
                        <a:t>escalate_to_human</a:t>
                      </a:r>
                    </a:p>
                  </a:txBody>
                  <a:tcPr marL="91440" marR="91440" marT="45720" marB="45720" anchor="ctr">
                    <a:solidFill>
                      <a:srgbClr val="1A274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Present a red cell as a decision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Operations Agent safety 0.89, below target, declining</a:t>
            </a:r>
          </a:p>
          <a:p>
            <a:pPr marL="292608" indent="-292608">
              <a:lnSpc>
                <a:spcPct val="120000"/>
              </a:lnSpc>
              <a:spcAft>
                <a:spcPts val="1539"/>
              </a:spcAft>
              <a:buClr>
                <a:srgbClr val="00D4AA"/>
              </a:buClr>
              <a:buFont typeface="Inter"/>
              <a:buChar char="•"/>
            </a:pPr>
            <a:r>
              <a:rPr sz="2200" b="0">
                <a:solidFill>
                  <a:srgbClr val="FFFFFF"/>
                </a:solidFill>
                <a:latin typeface="Inter"/>
              </a:rPr>
              <a:t>So what: safety decides whether this agent may ship</a:t>
            </a:r>
          </a:p>
          <a:p>
            <a:pPr marL="292608" indent="-292608">
              <a:lnSpc>
                <a:spcPct val="120000"/>
              </a:lnSpc>
              <a:spcAft>
                <a:spcPts val="1539"/>
              </a:spcAft>
              <a:buClr>
                <a:srgbClr val="00D4AA"/>
              </a:buClr>
              <a:buFont typeface="Inter"/>
              <a:buChar char="•"/>
            </a:pPr>
            <a:r>
              <a:rPr sz="2200" b="0">
                <a:solidFill>
                  <a:srgbClr val="FFFFFF"/>
                </a:solidFill>
                <a:latin typeface="Inter"/>
              </a:rPr>
              <a:t>Now what: review the red-team report before the next release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Three questions: working, trending, costing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dimensions, traffic lights, trend arrows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red cell gets what, so what, now what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Detect drift with two alert rules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Keep a tamper-evident audit trail and release gate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 one-page leadership scorecard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13 · Lecture 13.3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Capstone Architecture &amp; Requirements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You've built every piece of an agent quality platform, one module at a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