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Capstone brief and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scenario. Maple Street Dental wants Riley to replace its overflow voicemail for good. The owner, Doctor Maya Chen, will only sign off after a go-live review. And you're the engineer presenting.</a:t>
            </a:r>
          </a:p>
          <a:p/>
          <a:p>
            <a:r>
              <a:t>Read her words the way an engineer would. Every phrase hides a requirement. "Careful with patient information" means verification and redaction. "Knows when to get a human" means escalation and transfers. "Show me how you tested it" means the test pyramid. "What it costs per minute" means telemetry. And "what happens when something breaks" means fallbacks, which you just saw in the chaos demo.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requirements table in `05-projects/capstone-riley.md` has eleven areas. Here they are, grouped. You've built every one of them already. Booking with read-backs in Section 5. Knowledge and handoffs in Section 7. The phone number in Section 8. Tests in Section 9. Telemetry in Section 10. Guardrails in Section 11. And deployment and fallbacks in Section 12.</a:t>
            </a:r>
          </a:p>
          <a:p/>
          <a:p>
            <a:r>
              <a:t>[SCREEN: VS Code explorer, `03-code/agents/`. Highlight each file as the narration names its section: `s05_booking_agent.py`, `s07_multi_...]</a:t>
            </a:r>
          </a:p>
          <a:p/>
          <a:p>
            <a:r>
              <a:t>For the handoff, the reference sends insurance, payment and billing questions from Riley to a Billing specialist, and back again. The full Greeter, Booking and Billing graph from Section 7 is equally valid.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The requirements table in `05-projects/capstone-riley.md` has eleven areas. Here they are, grouped. You've built every one of them already. Booking with read-backs in Section 5. Knowledge and handoffs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15 of 24. Excellent: 20 or more.</a:t>
            </a:r>
          </a:p>
          <a:p/>
          <a:p>
            <a:r>
              <a:t>Now the part most portfolio projects skip. Acceptance tests you can measure. The brief has twenty-four, written as "given, when, then", and each one names its test layer.</a:t>
            </a:r>
          </a:p>
          <a:p/>
          <a:p>
            <a:r>
              <a:t>Most are behavior tests. Booking with a read-back. The verification gate. The billing handoff. An impersonation attempt. A few are unit tests, like the verification lockout and PII redaction. Four are evals: speakability scored by a judge at point seven or better, p95 voice-to-voice at or under sixteen hundred milliseconds, which is the default budget in `latency.py`, cost per minute, and word error rate. One uses simulated callers. And two are manual, with recorded evidence: the chaos test from Lecture 12.8, and a deployed agent that answers the phone.</a:t>
            </a:r>
          </a:p>
          <a:p/>
          <a:p>
            <a:r>
              <a:t>[SCREEN: terminal in `03-code`: `uv run python tests/evals/latency_report.py`; highlight the `voice_to_voice` row and its `1600` budget,...]</a:t>
            </a:r>
          </a:p>
          <a:p/>
          <a:p>
            <a:r>
              <a:t>Fifteen passing is a pass. Twenty or more is excellent. And one rule matters a lot. Write your latency and cost targets down *before* you measure. Moving targets after the fact is the first thing a reviewer notices.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architecture on one slide. Callers arrive by phone, through the Twilio trunk, LiveKit SIP and a dispatch rule that asks for `riley-receptionist`. Or by browser, over WebRTC. Both land in a LiveKit room.</a:t>
            </a:r>
          </a:p>
          <a:p/>
          <a:p>
            <a:r>
              <a:t>The agent server, running our Docker image, dispatches Riley into that room. The session wires up STT, LLM and TTS, each with a fallback and a timeout, plus VAD and the turn detector.</a:t>
            </a:r>
          </a:p>
          <a:p/>
          <a:p>
            <a:r>
              <a:t>Inside, Riley and the Billing specialist share one `CallState`. Their tools call into `src/maple`, our pure-Python core. Transfers go only to the number in config. Telemetry flows out to metrics files and Langfuse, redacted. And the whole test pyramid runs in CI before anything ships.</a:t>
            </a:r>
          </a:p>
          <a:p/>
          <a:p>
            <a:r>
              <a:t>Slide text (drawn on the diagram): Callers: phone → Twilio SIP trunk → LiveKit SIP → dispatch rule (`riley-receptionist`) → room; web user → WebRTC → room · Agent server (Docker, `start`): `AgentSession` with VAD, turn detector, STT → LLM → TTS, fallbacks and `conn_options` · Agents: Riley (front desk + booking, guardrails) ⇄ Billing specialist, shared `CallState` · Tools → `src/maple` (scheduler, knowledge, pii, costs); transfer to the front desk (config number only) · Telemetry: metrics JSONL, usage and cost, OpenTelemetry → Langfuse (redacted) · CI: unit → behavior → evals → simulated callers, gating deploys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deliverables. Your own agent file, called `capstone_riley.py`, so it never gets confused with my reference file. An acceptance report. A three-to-five-minute demo video. Your own architecture diagram. Diff notes, which I'll explain in the next lecture. And a portfolio write-up.</a:t>
            </a:r>
          </a:p>
          <a:p/>
          <a:p>
            <a:r>
              <a:t>The brief also has a suggested week plan, one focus per day. Day one, merge your Project 1 and 2 agents. Day two, knowledge and a handoff. Day three, guardrails. Day four, observability. Day five, hardening and acceptance tests. Day six, deploy. Day seven, the demo and the write-up.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Six deliverables. Your own agent file, called `capstone_riley.py`, so it never gets confused with my reference file. An acceptance report. A three-to-five-minute demo video. Your own architecture diag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if the week runs out, there's a "minimum viable capstone": booking with read-back, the FAQ, a transfer or its fallback, verification, injection resistance, metrics, deployed, and at least fifteen acceptance tests passing. Handoffs, Langfuse and fallbacks can go under "next steps". Use it. A finished smaller scope beats an unfinished big one.</a:t>
            </a:r>
          </a:p>
          <a:p/>
          <a:p>
            <a:r>
              <a:t>The full brief, with all twenty-four acceptance tests and the grading rubric, is in `05-projects/capstone-riley.md`. Read it now, before the next lecture. Because in the next lecture, I'm going to ask you to do something a little unusual.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Build it yourself first: the capstone gate.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deal. Put an end date in your calendar, one week from today. Build your own `capstone_riley.py` from the brief.</a:t>
            </a:r>
          </a:p>
          <a:p/>
          <a:p>
            <a:r>
              <a:t>[SCREEN: terminal in `03-code`: `make test` ends in `211 passed`; then `touch agents/capstone_riley.py` and the empty file opens in VS Co...]</a:t>
            </a:r>
          </a:p>
          <a:p/>
          <a:p>
            <a:r>
              <a:t>You can use everything you've built so far. Your projects and labs. `src/maple` and `common.py`. The earlier section agents, up to Section 11. The docs. And the Q&amp;A, for questions about concepts. What you can't open yet is my capstone file, or the next four lectures.</a:t>
            </a:r>
          </a:p>
          <a:p/>
          <a:p>
            <a:r>
              <a:t>If you're stuck on one thing for more than ninety minutes, don't burn a day on it. Write down what you tried, cut the scope using the "minimum viable capstone" list in the brief, and move on. `10-resources/troubleshooting.md` covers the common errors. Unfinished but honest beats finished but copied.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week is up, whatever state you're in, come back and watch the reference solution. Watch it as a code reviewer. Then write `DIFF_NOTES.md`: three things the reference does differently from you, and whether you adopted each one. Some of mine will be better. Some of yours will be better. That comparison is often the most valuable hour of the course. And wherever your version passes the acceptance tests, keep it. It's yours.</a:t>
            </a:r>
          </a:p>
          <a:p/>
          <a:p>
            <a:r>
              <a:t>I know it's tempting to click "next." Close this video, open the brief, and start with day one of the week plan.</a:t>
            </a:r>
          </a:p>
          <a:p/>
          <a:p>
            <a:r>
              <a:t>I'll see you in a week.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Reference solution: assembling the production agent (Part A and Part 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inventory. Booking tools, with the read-back rule in their docstrings and the verification gate. Verification tools, with the lockout and the "own data only" rule. The knowledge tool, which answers only from the FAQ. Telephony tools, with a transfer number that comes from config. And the guardrails, which add no tools at all, only hooks.</a:t>
            </a:r>
          </a:p>
          <a:p/>
          <a:p>
            <a:r>
              <a:t>When you compare with your own capstone, this is the first thing to check. Did you rebuild any of these from scratch? If you did, ask whether your version has the same tests behind it.</a:t>
            </a:r>
          </a:p>
          <a:p/>
          <a:p>
            <a:r>
              <a:t>Step one. The capstone's own prompt rules.</a:t>
            </a:r>
          </a:p>
          <a:p/>
          <a:p>
            <a:r>
              <a:t>[CODE: `CAPSTONE_EXTRA`]</a:t>
            </a:r>
          </a:p>
          <a:p/>
          <a:p>
            <a:r>
              <a:t>Five rules that only make sense when everything is combined. New bookings don't need verification, but anything touching an existing appointment does. Billing questions hand off to the specialist. Say one sentence before transferring to a human. Say goodbye before hanging up. And the fifth, about closed days, came out of a failing acceptance test. You'll watch it fail and get fixed in lecture 13.4.</a:t>
            </a:r>
          </a:p>
          <a:p/>
          <a:p>
            <a:r>
              <a:t>These go on top of the standard blocks. Booking, knowledge, safety, escalation and security all come from `build_instructions`, as you'll see in a second.</a:t>
            </a:r>
          </a:p>
          <a:p/>
          <a:p>
            <a:r>
              <a:t>Step two. The main agent.</a:t>
            </a:r>
          </a:p>
          <a:p/>
          <a:p>
            <a:r>
              <a:t>[CODE: `CapstoneRiley`]</a:t>
            </a:r>
          </a:p>
          <a:p/>
          <a:p>
            <a:r>
              <a:t>Read the class line first. `GuardrailsMixin` comes first, so its `on_user_turn_completed` and `llm_node` win. Then the four tool mixins. Then `Agent` last. Order matters in Python's method resolution, and guardrails must wrap everything else.</a:t>
            </a:r>
          </a:p>
          <a:p/>
          <a:p>
            <a:r>
              <a:t>`require_verification = True` turns on the identity gate from Lecture 11.2.</a:t>
            </a:r>
          </a:p>
          <a:p/>
          <a:p>
            <a:r>
              <a:t>[CODE: same class, highlight `__init__`: the `caller_line` and the `build_instructions(...)` call.]</a:t>
            </a:r>
          </a:p>
          <a:p/>
          <a:p>
            <a:r>
              <a:t>The constructor takes an optional caller ID. If the call came from a phone, we add a line to the instructions: "Caller ID shows five one two, five five five... confirm it before using it." Notice "confirm it." Caller ID can be spoofed, remember, so it's a convenience, not proof of identity.</a:t>
            </a:r>
          </a:p>
          <a:p/>
          <a:p>
            <a:r>
              <a:t>Then the instructions, built from blocks: booking, knowledge and security on, plus the language, plus our capstone rules. And an optional `chat_ctx`, which matters for handoffs.</a:t>
            </a:r>
          </a:p>
          <a:p/>
          <a:p>
            <a:r>
              <a:t>[CODE: same class, highlight `on_enter`, then `transfer_to_billing`.]</a:t>
            </a:r>
          </a:p>
          <a:p/>
          <a:p>
            <a:r>
              <a:t>`on_enter` has two modes. A fresh call gets the standard greeting, with the AI disclosure, spoken with `session.say`, so it's instant and never varies. A caller coming *back* from billing gets a short "anything else?" instead of a second greeting.</a:t>
            </a:r>
          </a:p>
          <a:p/>
          <a:p>
            <a:r>
              <a:t>And the handoff tool, `transfer_to_billing`. It records a note in `CallState`, copies the chat history without the old instructions, truncated to the last twelve items, and returns a new `BillingSpecialist` plus a short message. Returning an agent from a tool is how LiveKit does a handoff, the same pattern as Section 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truncate? Because the specialist needs context, like the caller's name and question, but not the whole call. Twelve items keeps the prompt small and the latency low.</a:t>
            </a:r>
          </a:p>
          <a:p/>
          <a:p>
            <a:r>
              <a:t>And why `exclude_instructions=True`? Because Riley's instructions shouldn't leak into the specialist's prompt. Each agent brings its own instructions. If you forget this, the billing specialist suddenly thinks it can book appointments, because Riley's booking rules came along with the history.</a:t>
            </a:r>
          </a:p>
          <a:p/>
          <a:p>
            <a:r>
              <a:t>One more design choice to notice. The greeting uses `session.say` with a fixed string, not `generate_reply`. That costs nothing, starts speaking immediately, and the AI disclosure is exactly the same on every call. For a legal requirement like disclosure, you want the same words every time, not the model's paraphrase.</a:t>
            </a:r>
          </a:p>
          <a:p/>
          <a:p>
            <a:r>
              <a:t>[SCREEN: Switch to Part B title card.]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five tool steps? A reschedule can take four tool calls in one turn: verify, look up the appointment, find slots, and reschedule. The default of three would cut that off halfway. Five gives room, without letting a confused model loop forever.</a:t>
            </a:r>
          </a:p>
          <a:p/>
          <a:p>
            <a:r>
              <a:t>`create_session` itself comes from `common.py`, so the VAD from `prewarm`, the turn detector and the endpointing settings are exactly the ones we tuned in Section 3. The capstone only overrides what's different in production.</a:t>
            </a:r>
          </a:p>
          <a:p/>
          <a:p>
            <a:r>
              <a:t>[CODE: the entrypoint, part 2: error handler, observers, start]</a:t>
            </a:r>
          </a:p>
          <a:p/>
          <a:p>
            <a:r>
              <a:t>Then the error handler, which we'll study in the next lecture. On an unrecoverable error it speaks a fixed line, then hands off to `recover_after_error`, which transfers the caller or says goodbye and hangs up. Then `attach_observers` from Section 10: metrics to JSONL, per-turn latency logs, and a cost report at shutdown, computed from `session.usage`. And finally, start the session with a fresh `CapstoneRiley`.</a:t>
            </a:r>
          </a:p>
          <a:p/>
          <a:p>
            <a:r>
              <a:t>One more detail in the decorator: `on_simulation_end`. That's the LiveKit Simulations hook from Lecture 9.14, so the same file can be graded by simulated calls.</a:t>
            </a:r>
          </a:p>
          <a:p/>
          <a:p>
            <a:r>
              <a:t>[SCREEN: Terminal.]</a:t>
            </a:r>
          </a:p>
          <a:p/>
          <a:p>
            <a:r>
              <a:t>Let's run it. Zero-cost first. Mock mode uses the scripted LLM and text input.</a:t>
            </a:r>
          </a:p>
          <a:p/>
          <a:p>
            <a:r>
              <a:t>[SCREEN: Text console. Type "What are your hours?" and see the `lookup_clinic_info` tool run and a reply.]</a:t>
            </a:r>
          </a:p>
          <a:p/>
          <a:p>
            <a:r>
              <a:t>The real tools run, with a fake brain. Great for checking wiring without spending a cent.</a:t>
            </a:r>
          </a:p>
          <a:p/>
          <a:p>
            <a:r>
              <a:t>Now the real thing, with your voice.</a:t>
            </a:r>
          </a:p>
          <a:p/>
          <a:p>
            <a:r>
              <a:t>[DEMO: Console voice session.]</a:t>
            </a:r>
          </a:p>
          <a:p/>
          <a:p>
            <a:r>
              <a:t>**Riley:** Thanks for calling Maple Street Dental. This is Riley, the clinic's AI assistant. How can I help you today?</a:t>
            </a:r>
          </a:p>
          <a:p/>
          <a:p>
            <a:r>
              <a:t>**You:** Do you take Delta Dental?</a:t>
            </a:r>
          </a:p>
          <a:p/>
          <a:p>
            <a:r>
              <a:t>**Riley:** Let me connect you with our billing specialist.</a:t>
            </a:r>
          </a:p>
          <a:p/>
          <a:p>
            <a:r>
              <a:t>**Riley (billing):** Yes, we're in network with Delta Dental. Is there anything else about billing I can help with?</a:t>
            </a:r>
          </a:p>
          <a:p/>
          <a:p>
            <a:r>
              <a:t>**You:** No, but I'd like to book a cleaning tomorrow morning.</a:t>
            </a:r>
          </a:p>
          <a:p/>
          <a:p>
            <a:r>
              <a:t>**Riley:** Sure. One moment while I check the schedule. I have eight o'clock, eight thirty or nine o'clock tomorrow morning. Which works best?</a:t>
            </a:r>
          </a:p>
          <a:p/>
          <a:p>
            <a:r>
              <a:t>[SCREEN: Console log. Highlight `transfer_to_billing`, `lookup_clinic_info`, `back_to_riley`, `find_available_slots`.]</a:t>
            </a:r>
          </a:p>
          <a:p/>
          <a:p>
            <a:r>
              <a:t>Look at the log. Riley handed off to billing. Billing looked up the FAQ. Then, when I asked about booking, billing handed back to Riley, who checked the schedule. Two agents, one call, one shared state.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Hardening: fallbacks, timeouts, error speech.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`agents/s13_capstone_receptionist.py`, `CONN_OPTIONS`.]</a:t>
            </a:r>
          </a:p>
          <a:p/>
          <a:p>
            <a:r>
              <a:t>Layer one. Timeouts and retries.</a:t>
            </a:r>
          </a:p>
          <a:p/>
          <a:p>
            <a:r>
              <a:t>[CODE: `CONN_OPTIONS`]</a:t>
            </a:r>
          </a:p>
          <a:p/>
          <a:p>
            <a:r>
              <a:t>`SessionConnectOptions` holds one `APIConnectOptions` per stage. Each has three numbers: how many retries, how long to wait between them, and the timeout for a single attempt.</a:t>
            </a:r>
          </a:p>
          <a:p/>
          <a:p>
            <a:r>
              <a:t>Look at how they differ. STT and TTS get two retries, one second apart, with an eight-second timeout. Those are streaming connections, and a quick reconnect usually works. The LLM gets only one retry, half a second later, with a ten-second timeout. Why fewer? Because the fallback adapter, coming up next, is a better answer than retrying a slow LLM. Every retry is silence the caller has to sit through.</a:t>
            </a:r>
          </a:p>
          <a:p/>
          <a:p>
            <a:r>
              <a:t>And `max_unrecoverable_errors=3`. After three unrecoverable errors in a row, the session gives up and closes, instead of looping forever.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library defaults are three retries, two seconds apart, ten-second timeouts. They're reasonable. But on a phone call, three retries two seconds apart is six seconds of dead air. Choose these numbers on purpose, using the latency budget you set in Lecture 1.4.</a:t>
            </a:r>
          </a:p>
          <a:p/>
          <a:p>
            <a:r>
              <a:t>Layer two. Fallbacks.</a:t>
            </a:r>
          </a:p>
          <a:p/>
          <a:p>
            <a:r>
              <a:t>[CODE: `build_resilient_models`]</a:t>
            </a:r>
          </a:p>
          <a:p/>
          <a:p>
            <a:r>
              <a:t>Two different mechanisms, and it's worth knowing why.</a:t>
            </a:r>
          </a:p>
          <a:p/>
          <a:p>
            <a:r>
              <a:t>For STT and TTS, LiveKit Inference supports a `fallback=` list. The fallback runs *server side*, inside LiveKit Inference. If Deepgram has a problem, LiveKit switches to the fallback STT model for you. Same for TTS. Our fallback models come from config: `FALLBACK_STT_MODEL` and `FALLBACK_TTS_MODEL`. Check that the model strings in your `.env` are on LiveKit Inference's current model list. Model names change.</a:t>
            </a:r>
          </a:p>
          <a:p/>
          <a:p>
            <a:r>
              <a:t>Notice the STT still gets our dental keyterms and smart formatting. Remember from Lecture 11.3, smart formatting is what turns spoken phone numbers into digits, so redaction can catch them.</a:t>
            </a:r>
          </a:p>
          <a:p/>
          <a:p>
            <a:r>
              <a:t>[CODE: same function, highlight `llm.FallbackAdapter([...], attempt_timeout=5.0)`.]</a:t>
            </a:r>
          </a:p>
          <a:p/>
          <a:p>
            <a:r>
              <a:t>For the LLM, we use `llm.FallbackAdapter`, which runs *client side*, in our process. It takes a list of LLMs, primary first. If the primary fails, or takes longer than `attempt_timeout`, five seconds here, it moves to the next one. And in the background, it checks whether the primary has recovered, and switches back.</a:t>
            </a:r>
          </a:p>
          <a:p/>
          <a:p>
            <a:r>
              <a:t>One subtlety you saw in the chaos demo. If the primary fails *after* it already started streaming text, the adapter doesn't retry by default, because the caller already heard half a sentence. There's a `retry_on_chunk_sent` option if you want to change that. For a receptionist, the default is right.</a:t>
            </a:r>
          </a:p>
          <a:p/>
          <a:p>
            <a:r>
              <a:t>[CODE: same function, highlight the `if settings.provider_mode == "plugins":` branch.]</a:t>
            </a:r>
          </a:p>
          <a:p/>
          <a:p>
            <a:r>
              <a:t>And look at the top of the function. In `plugins` mode, where you use your own provider keys, the capstone returns plain models with no fallbacks. If you run in plugins mode in production, wrap your plugin instances in `stt.FallbackAdapter`, `llm.FallbackAdapter` and `tts.FallbackAdapter` yourself. The pattern is the same.</a:t>
            </a:r>
          </a:p>
          <a:p/>
          <a:p>
            <a:r>
              <a:t>[SCREEN: `.env.example`, the fallback lines. Caption: "Fallback model strings: verify in current docs".]</a:t>
            </a:r>
          </a:p>
          <a:p/>
          <a:p>
            <a:r>
              <a:t>The defaults live in `.env.example`. A different provider for each fallback is the point. If your primary and fallback share a provider, one outage takes out both.</a:t>
            </a:r>
          </a:p>
          <a:p/>
          <a:p>
            <a:r>
              <a:t>There's a quality question too. A fallback LLM will phrase things differently, and might call tools a little differently. So run your behavior tests against the fallback model as well, at least once, by setting `LLM_MODEL` to the fallback string. A fallback that fails your acceptance tests is only half a fallback. The same goes for the fallback voice: listen to it, and make sure the clinic is happy with how it sounds.</a:t>
            </a:r>
          </a:p>
          <a:p/>
          <a:p>
            <a:r>
              <a:t>Layer three. Spoken recovery.</a:t>
            </a:r>
          </a:p>
          <a:p/>
          <a:p>
            <a:r>
              <a:t>[CODE: the `error` handler in the entrypoint]</a:t>
            </a:r>
          </a:p>
          <a:p/>
          <a:p>
            <a:r>
              <a:t>The session emits an `error` event whenever a stage fails. Most errors are recoverable, which means the framework is still retrying, so we ignore them. When an error is *unrecoverable*, we log it, record the outcome in `CallState`, so it shows up in our metrics as an error call, and speak `ERROR_SPEECH`. The check on `call_outcome` stops a second error from starting a second recovery.</a:t>
            </a:r>
          </a:p>
          <a:p/>
          <a:p>
            <a:r>
              <a:t>[CODE: `ERROR_SPEECH` in `src/maple/prompts.py`]</a:t>
            </a:r>
          </a:p>
          <a:p/>
          <a:p>
            <a:r>
              <a:t>It's a fixed string, spoken with `session.say`, so it doesn't need the LLM. And `allow_interruptions=False`, so the caller hears the whole thing.</a:t>
            </a:r>
          </a:p>
          <a:p/>
          <a:p>
            <a:r>
              <a:t>But that line makes a promise: "Let me connect you with someone at the front desk." So the handler doesn't stop at speaking. It starts `recover_after_error`.</a:t>
            </a:r>
          </a:p>
          <a:p/>
          <a:p>
            <a:r>
              <a:t>[CODE: `recover_after_error` in `agents/s13_capstone_receptionist.py`]</a:t>
            </a:r>
          </a:p>
          <a:p/>
          <a:p>
            <a:r>
              <a:t>First, it waits for the error line to finish, with a twenty-second cap, because the TTS might be the very thing that failed. Then the same check `transfer_to_human` makes: is there a phone caller, and is a transfer number configured? If so, it calls the shared `transfer_sip_caller` helper from lecture 8.4, and the caller reaches the front desk.</a:t>
            </a:r>
          </a:p>
          <a:p/>
          <a:p>
            <a:r>
              <a:t>If not, because it's a web call, console mode, or the transfer itself failed, it notes that in `CallState`, speaks `ERROR_GOODBYE` with the clinic's phone number, and hangs up with the same `hang_up` helper `end_call` uses. Either way, the call ends with words and a next step, never a dead line. You heard the goodbye path in the chaos demo, Part B.</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piece of hardening is inside the tools, and you built it back in Section 5. Every scheduler exception carries a message you can say to a caller. `ToolError` passes that message to the LLM instead of a stack trace. And `transfer_to_human` has its own graceful failure: if there's no phone caller, or no number configured, it tells Riley to apologise and take a message.</a:t>
            </a:r>
          </a:p>
          <a:p/>
          <a:p>
            <a:r>
              <a:t>[SCREEN: Terminal.]</a:t>
            </a:r>
          </a:p>
          <a:p/>
          <a:p>
            <a:r>
              <a:t>Let's check the hardening without breaking a real provider. The brief's hint for acceptance test twenty-three: for one run, point a model at a name that doesn't exist.</a:t>
            </a:r>
          </a:p>
          <a:p/>
          <a:p>
            <a:r>
              <a:t>[SCREEN: Type "What are your hours?". Log: the primary LLM fails, the adapter switches to the fallback, and Riley answers.]</a:t>
            </a:r>
          </a:p>
          <a:p/>
          <a:p>
            <a:r>
              <a:t>The primary fails immediately, the adapter logs "switching to next LLM," and Riley answers from the fallback model. And the per-turn latency line shows what that switch cost.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Full test run: unit → behavior → evals → simulated calls.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Terminal, repo root. Footer: "APIs verified on livekit-agents 1.8 / pipecat-ai 1.12; check the repo README for updates."]</a:t>
            </a:r>
          </a:p>
          <a:p/>
          <a:p>
            <a:r>
              <a:t>Layer one. Unit tests.</a:t>
            </a:r>
          </a:p>
          <a:p/>
          <a:p>
            <a:r>
              <a:t>[SCREEN: `211 passed` in well under a second.]</a:t>
            </a:r>
          </a:p>
          <a:p/>
          <a:p>
            <a:r>
              <a:t>Two hundred and eleven tests, in under a second, with no API keys. That's the scheduler, knowledge retrieval, PII redaction, word error rate, latency statistics, cost maths, prompts and config. All the business rules. If any of these fail, stop here.</a:t>
            </a:r>
          </a:p>
          <a:p/>
          <a:p>
            <a:r>
              <a:t>Layer two. The offline agent tests. These use the scripted mock LLM, so they test the wiring for free.</a:t>
            </a:r>
          </a:p>
          <a:p/>
          <a:p>
            <a:r>
              <a:t>[SCREEN: `22 passed, 32 deselected`.]</a:t>
            </a:r>
          </a:p>
          <a:p/>
          <a:p>
            <a:r>
              <a:t>Twenty-two pass. The thirty-two deselected are the live behavior and eval tests, which we run next.</a:t>
            </a:r>
          </a:p>
          <a:p/>
          <a:p>
            <a:r>
              <a:t>Layer three. Live behavior tests. These use a real LLM, so they cost a few cents.</a:t>
            </a:r>
          </a:p>
          <a:p/>
          <a:p>
            <a:r>
              <a:t>[SCREEN: Greeting, booking-flow, mock-mode and safety tests passing.]</a:t>
            </a:r>
          </a:p>
          <a:p/>
          <a:p>
            <a:r>
              <a:t>Greeting. Booking flows, including the mocked "no availability" and "backend outage" cases from Lecture 9.5. The handoff from greeter to booking. And the safety suite from Section 11. All green.</a:t>
            </a:r>
          </a:p>
          <a:p/>
          <a:p>
            <a:r>
              <a:t>Layer four. Evals.</a:t>
            </a:r>
          </a:p>
          <a:p/>
          <a:p>
            <a:r>
              <a:t>[SCREEN: DeepEval results for the golden conversations; then the WER report; then the latency table.]</a:t>
            </a:r>
          </a:p>
          <a:p/>
          <a:p>
            <a:r>
              <a:t>Three reports in one command. First, DeepEval judges the golden conversations on three criteria: voice brevity, confirmation read-back and safety escalation. Some golden conversations are deliberately bad, and those are expected to fail. That checks the judge, not just the agent. A judge that passes a markdown monologue is a broken judge.</a:t>
            </a:r>
          </a:p>
          <a:p/>
          <a:p>
            <a:r>
              <a:t>[SCREEN: scroll to the WER report: `corpus WER (maple): 26.32% | jiwer: 26.32% | match` under `baseline`, `3.76%` under `with_keyterms`.]</a:t>
            </a:r>
          </a:p>
          <a:p/>
          <a:p>
            <a:r>
              <a:t>Then word error rate. Look at the two lines at the bottom. Nova-3 without keyterms: twenty-six point three percent on our reference set. With the dental keyterms: three point seven six percent. Same audio. That one setting is worth a seven-times improvement on names and dental terms. And our pure-Python WER matches `jiwer` exactly.</a:t>
            </a:r>
          </a:p>
          <a:p/>
          <a:p>
            <a:r>
              <a:t>[SCREEN: scroll to the latency table: `voice_to_voice 14 1215 1434 1474 1600 OK`, then `PASS: every stage is within budget`.]</a:t>
            </a:r>
          </a:p>
          <a:p/>
          <a:p>
            <a:r>
              <a:t>Then the latency report against the budget. On the bundled sample data, every stage is inside budget. Voice-to-voice p95 is fourteen hundred and seventy-four milliseconds, against a budget of sixteen hundred. In Lecture 13.5, we'll run this on real calls to the deployed agent.</a:t>
            </a:r>
          </a:p>
          <a:p/>
          <a:p>
            <a:r>
              <a:t>Layer five. Simulated callers.</a:t>
            </a:r>
          </a:p>
          <a:p/>
          <a:p>
            <a:r>
              <a:t>[SCREEN: Five personas, each with a transcript and a verdict: confused senior, impatient caller, injection attacker, emergency caller, op...]</a:t>
            </a:r>
          </a:p>
          <a:p/>
          <a:p>
            <a:r>
              <a:t>Five personas. The confused senior who needs patience. The impatient caller. The injection attacker from Section 11. The emergency caller, who must be told to call nine one one. And the opt-out caller from lecture 9.9. Five out of five.</a:t>
            </a:r>
          </a:p>
          <a:p/>
          <a:p>
            <a:r>
              <a:t>Acceptance test twenty-two asks for the confused senior to book in at least two out of three runs, and the attacker to be refused three out of three. So for your `ACCEPTANCE.md`, run the persona you're measuring three times.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[SCREEN: Terminal, repo root. Footer: "APIs verified on livekit-agents 1.8 / pipecat-ai 1.12; check the repo README for updates."]</a:t>
            </a:r>
          </a:p>
          <a:p/>
          <a:p>
            <a:r>
              <a:t>Layer one. Unit tests.</a:t>
            </a:r>
          </a:p>
          <a:p/>
          <a:p>
            <a:r>
              <a:t>[SCREEN: `211 passed` in well under a second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notice something. The existing behavior tests exercise the section agents. The booking agent from Section 5, the multi-agent graph from Section 7, the guarded agent from Section 11. That's deliberate: they're the building blocks. But the capstone adds behavior of its own, like the billing handoff. So it needs its own tests.</a:t>
            </a:r>
          </a:p>
          <a:p/>
          <a:p>
            <a:r>
              <a:t>The repo ships that file. Here are its two tests, for acceptance tests five and ten.</a:t>
            </a:r>
          </a:p>
          <a:p/>
          <a:p>
            <a:r>
              <a:t>[CODE: `tests/agent/test_capstone.py`]</a:t>
            </a:r>
          </a:p>
          <a:p/>
          <a:p>
            <a:r>
              <a:t>The fixtures come from `tests/agent/conftest.py`: a real LLM, the same LLM as judge, and a demo calendar pinned to Monday, October fifth.</a:t>
            </a:r>
          </a:p>
          <a:p/>
          <a:p>
            <a:r>
              <a:t>Acceptance test five. A caller asks for Sunday. No booking should happen, and the judge checks that Riley says we're closed *and* offers times on the next open day.</a:t>
            </a:r>
          </a:p>
          <a:p/>
          <a:p>
            <a:r>
              <a:t>Acceptance test ten. An insurance question should call `transfer_to_billing`, and `contains_agent_handoff` checks that the new agent is actually a `BillingSpecialist`.</a:t>
            </a:r>
          </a:p>
          <a:p/>
          <a:p>
            <a:r>
              <a:t>[SCREEN: `test_at10...` passes. `test_at05...` fails. The judge's reason: "The assistant says the clinic is closed on Sundays and asks wh...]</a:t>
            </a:r>
          </a:p>
          <a:p/>
          <a:p>
            <a:r>
              <a:t>One pass, one fail. Let's read the failure, because the judge's reason tells us exactly what happened. Riley said we're closed on Sundays and asked if another day would work. Polite. Correct. But it didn't offer times, so the caller has to do the work.</a:t>
            </a:r>
          </a:p>
          <a:p/>
          <a:p>
            <a:r>
              <a:t>Where does that sentence come from? Let's trace it.</a:t>
            </a:r>
          </a:p>
          <a:p/>
          <a:p>
            <a:r>
              <a:t>[SCREEN: `src/maple/scheduler.py`, `ClinicClosedError` message; then `agents/common.py`, `find_available_slots` raising `ToolError`.]</a:t>
            </a:r>
          </a:p>
          <a:p/>
          <a:p>
            <a:r>
              <a:t>The scheduler raises `ClinicClosedError` with the message, "We're closed on Sundays. Would another day work?" The tool turns that into a `ToolError`, and the model reads it out. Everything is working as designed. The design just doesn't meet acceptance test five.</a:t>
            </a:r>
          </a:p>
          <a:p/>
          <a:p>
            <a:r>
              <a:t>We have two options. Change the tool, so a closed day automatically searches ahead. Or tell the model what to do next. The tool is shared by every section agent, and their tests expect today's behavior. So the smallest safe fix is one capstone rule.</a:t>
            </a:r>
          </a:p>
          <a:p/>
          <a:p>
            <a:r>
              <a:t>[CODE: one new line at the end of `CAPSTONE_EXTRA` in `agents/s13_capstone_receptionist.py`]</a:t>
            </a:r>
          </a:p>
          <a:p/>
          <a:p>
            <a:r>
              <a:t>[SCREEN: Both tests pass. Show the run's events: `find_available_slots("Sunday")` returns an error, then `find_available_slots("2026-10-1...]</a:t>
            </a:r>
          </a:p>
          <a:p/>
          <a:p>
            <a:r>
              <a:t>Green. And look at the events. Riley tried Sunday, got the closed error, then called the tool again for Monday, October twelfth, and offered eight, eight thirty and nine. That's exactly what a good receptionist does.</a:t>
            </a:r>
          </a:p>
          <a:p/>
          <a:p>
            <a:r>
              <a:t>Before we move on, notice what we *didn't* do. We didn't loosen the test's intent until it passed. The test described what a good receptionist does, and the agent had to change, not the test. If you ever find yourself editing an intent to match what the agent said, stop and ask whether the agent is actually right.</a:t>
            </a:r>
          </a:p>
          <a:p/>
          <a:p>
            <a:r>
              <a:t>Now the most important step. Re-run everything that could be affected by a prompt change.</a:t>
            </a:r>
          </a:p>
          <a:p/>
          <a:p>
            <a:r>
              <a:t>[SCREEN: All green again.]</a:t>
            </a:r>
          </a:p>
          <a:p/>
          <a:p>
            <a:r>
              <a:t>A prompt change can break something far away, so the whole live layer runs again. Still green.</a:t>
            </a:r>
          </a:p>
          <a:p/>
          <a:p>
            <a:r>
              <a:t>[SCREEN: `.github/workflows/ci.yml`.]</a:t>
            </a:r>
          </a:p>
          <a:p/>
          <a:p>
            <a:r>
              <a:t>And in CI, from Lecture 9.10, the `unit` job runs lint, unit tests, offline agent tests, WER and the latency report on every push. The `live` job runs the behavior tests, evals and simulated callers whenever the API key secret is present. So these acceptance tests now guard every future change.</a:t>
            </a:r>
          </a:p>
          <a:p/>
          <a:p>
            <a:r>
              <a:t>That's the full pyramid, on the full agent. And the lesson from that one failure is worth repeating. Every component worked. The failure was in how they combined. That's exactly why the capstone needs its own acceptance tests.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Deploy, call, observe (Part A and Part B).</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numbers for the acceptance report. Here are my targets, written down *before* measuring, as the brief requires.</a:t>
            </a:r>
          </a:p>
          <a:p/>
          <a:p>
            <a:r>
              <a:t>For latency, I need ten calls with their metrics files. In the cloud, those files live inside the container, so for the measurement run, I use the same capstone code locally, in `dev` mode, under a separate agent name.</a:t>
            </a:r>
          </a:p>
          <a:p/>
          <a:p>
            <a:r>
              <a:t>[SCREEN: Time-lapse of ten short web calls through the Agents Playground with agent name `riley-dev`. The `metrics/` folder fills with on...]</a:t>
            </a:r>
          </a:p>
          <a:p/>
          <a:p>
            <a:r>
              <a:t>Ten short calls, each with a booking or an FAQ question. Mix them up the way real callers would: a couple of bookings, a couple of FAQ questions, one cancellation with verification. If all ten are identical, your percentiles describe one conversation, not your agent. Each call writes one JSONL file to the metrics folder. Then the same report we used on sample data:</a:t>
            </a:r>
          </a:p>
          <a:p/>
          <a:p>
            <a:r>
              <a:t>[SCREEN: Latency table for the ten calls; PASS or FAIL line.]</a:t>
            </a:r>
          </a:p>
          <a:p/>
          <a:p>
            <a:r>
              <a:t>Here's the table from real calls. Voice-to-voice p95, [number] milliseconds, against a budget of sixteen hundred. TTS time to first byte, [number]. That goes straight into `ACCEPTANCE.md`, as acceptance test nineteen, with this output as the evidence.</a:t>
            </a:r>
          </a:p>
          <a:p/>
          <a:p>
            <a:r>
              <a:t>And cost. Each call summary in the JSONL has a `cost_per_minute` field. Average the ten, and compare with the target you wrote down. If you miss it, say so, and say why. The example submission in the brief misses its phone target because of telephony minutes, and explains exactly that.</a:t>
            </a:r>
          </a:p>
          <a:p/>
          <a:p>
            <a:r>
              <a:t>So here's what we can show Doctor Chen. It works: two real calls, on two channels. We tested it: the full pyramid, in CI. It's careful with patient data: redacted logs and PII-free traces. We know what it costs per minute. And we know what happens when something breaks, because we broke it on purpose in Lecture 12.8.</a:t>
            </a:r>
          </a:p>
          <a:p/>
          <a:p>
            <a:r>
              <a:t>That's a go-live review you can pass.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Capstone submission and portfolio write-up.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README. The capstone brief has a template, and it's in this order on purpose.</a:t>
            </a:r>
          </a:p>
          <a:p/>
          <a:p>
            <a:r>
              <a:t>A one-line summary, with the demo link right at the top. People would rather listen for two minutes than read for ten. Then what it does, in plain words for a non-technical reader. Then your architecture diagram, and one or two sentences on why you chose the cascaded pipeline or the realtime model, with your measured numbers.</a:t>
            </a:r>
          </a:p>
          <a:p/>
          <a:p>
            <a:r>
              <a:t>[B-ROLL: a mock capstone README scrolling: a demo-video thumbnail and a "call it" line at the top, a plain-language summary, then an arch...]</a:t>
            </a:r>
          </a:p>
          <a:p/>
          <a:p>
            <a:r>
              <a:t>Then "How I tested it." Tests per layer, your acceptance score out of twenty-four, and the CI badge. Then a results table. p50 and p95 latency. Cost per minute. Word error rate. Injection pass rate. Each one next to the target you wrote down *before* measuring.</a:t>
            </a:r>
          </a:p>
          <a:p/>
          <a:p>
            <a:r>
              <a:t>Then decisions and trade-offs, including something that didn't work. That section shows judgement, and interviewers love it. And finally, what you'd do next, and how to run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Start with the README. The capstone brief has a template, and it's in this order on purpose.</a:t>
            </a:r>
          </a:p>
          <a:p/>
          <a:p>
            <a:r>
              <a:t>A one-line summary, with the demo link right at the top. People would rather listen for two minutes than 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video. Three to five minutes. One real call, with the audio unedited. People can hear latency, so don't speed it up. If it's fast, let them hear that it's fast.</a:t>
            </a:r>
          </a:p>
          <a:p/>
          <a:p>
            <a:r>
              <a:t>In the call, cover five things. A booking with a read-back. An FAQ answer. A verification before a change. An injection attempt that fails. And a transfer, or the fallback when a transfer isn't possible. Then cut to the evidence: the test suite running, a trace with the phone numbers redacted, and your cost per minute.</a:t>
            </a:r>
          </a:p>
          <a:p/>
          <a:p>
            <a:r>
              <a:t>Turn captions on. Many people watch with the sound off first. And record it twice. The second take is always better.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files make a reviewer trust you. `ACCEPTANCE.md` lists all twenty-four tests, PASS or FAIL, with a link to the evidence for each. Include the failures. The example submission in the brief misses its cost target on phone calls, and explains why. That honesty scores better than a suspiciously perfect table.</a:t>
            </a:r>
          </a:p>
          <a:p/>
          <a:p>
            <a:r>
              <a:t>And `DIFF_NOTES.md`, from the capstone gate. Three things the reference does differently, and whether you adopted each one.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terminal in your capstone repo: `git check-ignore -v .env .env.production` prints `.gitignore:1:.env` and `.gitignore:2:.env.*`....]</a:t>
            </a:r>
          </a:p>
          <a:p/>
          <a:p>
            <a:r>
              <a:t>A quick hygiene check before you publish. No secrets in the repo, including the history. If a key was ever committed, rotate it. CI green on the commit you deployed. Only fictional data: our demo patients and five-five-five numbers. And a license, plus a short note that this isn't ready for real clinical use without a compliance review. That note makes you look more professional, not less.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submit, use the capstone assignment in this lecture. Three questions. Your links, your acceptance score, and whether you built it before watching the reference. One production failure your system is designed to survive, with the evidence. And your decisions section, plus one item from your diff notes.</a:t>
            </a:r>
          </a:p>
          <a:p/>
          <a:p>
            <a:r>
              <a:t>After you submit, the assignment shows my example answer. Then review one other student's submission, using the peer-review checklist at the end of the brief. Reading someone else's solution is one of the fastest ways to improve your own.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the post, for LinkedIn or your blog. The brief has a template, and it's under a hundred and fifty words. What you built. What it does. What you're proudest of, which should be the testing, with numbers. Your biggest lesson. And the links.</a:t>
            </a:r>
          </a:p>
          <a:p/>
          <a:p>
            <a:r>
              <a:t>One last thought. Don't wait for it to be perfect. A capstone with honest numbers and a clear "what I'd do next" list is far more impressive than a polished demo with no evidence. Ship it this week.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Domain swap: ship Riley for a restaurant, salon or law office.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one of three briefs. They're in `05-projects/challenges.md`, and each one stresses a different skill.</a:t>
            </a:r>
          </a:p>
          <a:p/>
          <a:p>
            <a:r>
              <a:t>[B-ROLL: three quick cards, one per brief: a restaurant table plan with an allergy flag, a salon calendar with two-hour colour blocks, a...]</a:t>
            </a:r>
          </a:p>
          <a:p/>
          <a:p>
            <a:r>
              <a:t>Nonna's Table is a restaurant. Tables for two, four and six. Parties over eight go to the events team. And the domain risk is allergies. Riley must never promise a dish is safe. It notes the allergy on the booking and offers the host.</a:t>
            </a:r>
          </a:p>
          <a:p/>
          <a:p>
            <a:r>
              <a:t>Fade &amp; Bloom is a salon. A colour takes two hours, a cut forty-five minutes, and each stylist has their own days. Our dental scheduler uses fixed thirty-minute slots, so you'll generalise it to take a duration. That's a real engineering change.</a:t>
            </a:r>
          </a:p>
          <a:p/>
          <a:p>
            <a:r>
              <a:t>Harbor Legal is a law office, and it's the hardest on purpose. Riley must never give legal advice or predict outcomes. New matters need a conflict check before booking. And existing clients must be verified before leaving a message about their matter, enforced in code, just like our verification gate.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changes and what stays. You'll replace the FAQ, the tool schemas, the business-logic module, the prompt blocks and the test data.</a:t>
            </a:r>
          </a:p>
          <a:p/>
          <a:p>
            <a:r>
              <a:t>[SCREEN: VS Code explorer in `03-code`: `src/maple/data/faq.md`, `src/maple/scheduler.py` and `src/maple/prompts.py` highlighted as the d...]</a:t>
            </a:r>
          </a:p>
          <a:p/>
          <a:p>
            <a:r>
              <a:t>What stays is most of the hard stuff. Session wiring, fallbacks, telemetry, redaction, deployment, and the shape of the test pyramid. That's the point. The architecture is reusable. The domain is a layer on top.</a:t>
            </a:r>
          </a:p>
          <a:p/>
          <a:p>
            <a:r>
              <a:t>Start with `10-resources/business-template.md`. It walks you through the questions to answer before you write any code: who calls and why, the facts they ask about, what the agent must never do, and when it hands off.</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deliverables. The new agent with its FAQ, business logic and tests. A two-to-three-minute demo call. And a README from the capstone template, with one extra table: "What changed from Riley."</a:t>
            </a:r>
          </a:p>
          <a:p/>
          <a:p>
            <a:r>
              <a:t>The bar is at least fifteen capstone acceptance tests, adapted and passing. For example, AT-02 "book a cleaning" becomes "book a table for four on Friday at seven thirty." Plus new unit tests for the new rules, like the last-seating time or the patch-test rule.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tips. Write the business logic first, with unit tests and no agent, just like Section 5. Write the "never do" list before the prompt, and turn each item into a safety test. And keep Riley's output and security rules. They're about voice and safety, not dentistry.</a:t>
            </a:r>
          </a:p>
          <a:p/>
          <a:p>
            <a:r>
              <a:t>When you're done, you'll have two production voice agents in two different domains, with the same engineering discipline behind both. That's a strong story. Submit it through the domain-swap assignment in this lecture, and tell us in the Q&amp;A which business you picked.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CAPSTONE: RILEY, PRODUCTION RECEPTIONIST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Capstone brief and architecture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Turn the client's go-live review into requirements by area.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go-live review</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607040" cy="4892040"/>
          </a:xfrm>
          <a:prstGeom prst="rect">
            <a:avLst/>
          </a:prstGeom>
          <a:noFill/>
        </p:spPr>
        <p:txBody>
          <a:bodyPr wrap="square" lIns="45720" rIns="45720" tIns="27432" bIns="27432" anchor="t">
            <a:spAutoFit/>
          </a:bodyPr>
          <a:lstStyle/>
          <a:p>
            <a:pPr>
              <a:spcAft>
                <a:spcPts val="600"/>
              </a:spcAft>
            </a:pPr>
            <a:r>
              <a:rPr sz="1500" b="0">
                <a:solidFill>
                  <a:srgbClr val="CBD5E1"/>
                </a:solidFill>
                <a:latin typeface="Inter"/>
              </a:rPr>
              <a:t>"I need to trust it like a new receptionist: polite, accurate, careful with patient information, and it knows when to get a human. Show me it works, show me how you tested it, show me what it costs per minute, and show me what happens when something breaks."</a:t>
            </a:r>
          </a:p>
          <a:p>
            <a:pPr>
              <a:spcAft>
                <a:spcPts val="600"/>
              </a:spcAft>
            </a:pPr>
            <a:r>
              <a:rPr sz="1500" b="0">
                <a:solidFill>
                  <a:srgbClr val="CBD5E1"/>
                </a:solidFill>
                <a:latin typeface="Inter"/>
              </a:rPr>
              <a:t>Dr. Maya Chen, owner, Maple Street Dental (fictional)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Requirements by area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Conversation and booking: voice-first prompt, AI disclosure, read-back before every commit</a:t>
            </a:r>
          </a:p>
          <a:p>
            <a:pPr marL="292608" indent="-292608">
              <a:lnSpc>
                <a:spcPct val="120000"/>
              </a:lnSpc>
              <a:spcAft>
                <a:spcPts val="1260"/>
              </a:spcAft>
              <a:buClr>
                <a:srgbClr val="00D4AA"/>
              </a:buClr>
              <a:buFont typeface="Inter"/>
              <a:buChar char="•"/>
            </a:pPr>
            <a:r>
              <a:rPr sz="1800" b="0">
                <a:solidFill>
                  <a:srgbClr val="FFFFFF"/>
                </a:solidFill>
                <a:latin typeface="Inter"/>
              </a:rPr>
              <a:t>Knowledge: </a:t>
            </a:r>
            <a:r>
              <a:rPr sz="1656" b="0">
                <a:solidFill>
                  <a:srgbClr val="00D4AA"/>
                </a:solidFill>
                <a:latin typeface="JetBrains Mono"/>
              </a:rPr>
              <a:t>lookup_clinic_info</a:t>
            </a:r>
            <a:r>
              <a:rPr sz="1800" b="0">
                <a:solidFill>
                  <a:srgbClr val="FFFFFF"/>
                </a:solidFill>
                <a:latin typeface="Inter"/>
              </a:rPr>
              <a:t> grounded in </a:t>
            </a:r>
            <a:r>
              <a:rPr sz="1656" b="0">
                <a:solidFill>
                  <a:srgbClr val="00D4AA"/>
                </a:solidFill>
                <a:latin typeface="JetBrains Mono"/>
              </a:rPr>
              <a:t>faq.md</a:t>
            </a:r>
            <a:r>
              <a:rPr sz="1800" b="0">
                <a:solidFill>
                  <a:srgbClr val="FFFFFF"/>
                </a:solidFill>
                <a:latin typeface="Inter"/>
              </a:rPr>
              <a:t>, honest "I'm not sure"</a:t>
            </a:r>
          </a:p>
          <a:p>
            <a:pPr marL="292608" indent="-292608">
              <a:lnSpc>
                <a:spcPct val="120000"/>
              </a:lnSpc>
              <a:spcAft>
                <a:spcPts val="1260"/>
              </a:spcAft>
              <a:buClr>
                <a:srgbClr val="00D4AA"/>
              </a:buClr>
              <a:buFont typeface="Inter"/>
              <a:buChar char="•"/>
            </a:pPr>
            <a:r>
              <a:rPr sz="1800" b="0">
                <a:solidFill>
                  <a:srgbClr val="FFFFFF"/>
                </a:solidFill>
                <a:latin typeface="Inter"/>
              </a:rPr>
              <a:t>Multi-agent: at least one specialist handoff with shared </a:t>
            </a:r>
            <a:r>
              <a:rPr sz="1656" b="0">
                <a:solidFill>
                  <a:srgbClr val="00D4AA"/>
                </a:solidFill>
                <a:latin typeface="JetBrains Mono"/>
              </a:rPr>
              <a:t>CallState</a:t>
            </a:r>
          </a:p>
          <a:p>
            <a:pPr marL="292608" indent="-292608">
              <a:lnSpc>
                <a:spcPct val="120000"/>
              </a:lnSpc>
              <a:spcAft>
                <a:spcPts val="1260"/>
              </a:spcAft>
              <a:buClr>
                <a:srgbClr val="00D4AA"/>
              </a:buClr>
              <a:buFont typeface="Inter"/>
              <a:buChar char="•"/>
            </a:pPr>
            <a:r>
              <a:rPr sz="1800" b="0">
                <a:solidFill>
                  <a:srgbClr val="FFFFFF"/>
                </a:solidFill>
                <a:latin typeface="Inter"/>
              </a:rPr>
              <a:t>Telephony: named agent </a:t>
            </a:r>
            <a:r>
              <a:rPr sz="1656" b="0">
                <a:solidFill>
                  <a:srgbClr val="00D4AA"/>
                </a:solidFill>
                <a:latin typeface="JetBrains Mono"/>
              </a:rPr>
              <a:t>riley-receptionist</a:t>
            </a:r>
            <a:r>
              <a:rPr sz="1800" b="0">
                <a:solidFill>
                  <a:srgbClr val="FFFFFF"/>
                </a:solidFill>
                <a:latin typeface="Inter"/>
              </a:rPr>
              <a:t>, caller ID, transfer, end call</a:t>
            </a:r>
          </a:p>
          <a:p>
            <a:pPr marL="292608" indent="-292608">
              <a:lnSpc>
                <a:spcPct val="120000"/>
              </a:lnSpc>
              <a:spcAft>
                <a:spcPts val="1260"/>
              </a:spcAft>
              <a:buClr>
                <a:srgbClr val="00D4AA"/>
              </a:buClr>
              <a:buFont typeface="Inter"/>
              <a:buChar char="•"/>
            </a:pPr>
            <a:r>
              <a:rPr sz="1800" b="0">
                <a:solidFill>
                  <a:srgbClr val="FFFFFF"/>
                </a:solidFill>
                <a:latin typeface="Inter"/>
              </a:rPr>
              <a:t>Security and safety: verification enforced in code, lockout, injection resistance, no medical advice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Requirements by area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Observability and reliability: metrics, cost per minute, traces, fallbacks, timeouts, error speech</a:t>
            </a:r>
          </a:p>
          <a:p>
            <a:pPr marL="292608" indent="-292608">
              <a:lnSpc>
                <a:spcPct val="120000"/>
              </a:lnSpc>
              <a:spcAft>
                <a:spcPts val="1539"/>
              </a:spcAft>
              <a:buClr>
                <a:srgbClr val="00D4AA"/>
              </a:buClr>
              <a:buFont typeface="Inter"/>
              <a:buChar char="•"/>
            </a:pPr>
            <a:r>
              <a:rPr sz="2200" b="0">
                <a:solidFill>
                  <a:srgbClr val="FFFFFF"/>
                </a:solidFill>
                <a:latin typeface="Inter"/>
              </a:rPr>
              <a:t>Deployment and testing: Docker, deployed and reachable, the full pyramid in CI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24 acceptance tests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304288"/>
        </p:xfrm>
        <a:graphic>
          <a:graphicData uri="http://schemas.openxmlformats.org/drawingml/2006/table">
            <a:tbl>
              <a:tblPr firstRow="1" bandRow="1">
                <a:tableStyleId>{5C22544A-7EE6-4342-B048-85BDC9FD1C3A}</a:tableStyleId>
              </a:tblPr>
              <a:tblGrid>
                <a:gridCol w="2011053"/>
                <a:gridCol w="9281786"/>
              </a:tblGrid>
              <a:tr h="384048">
                <a:tc>
                  <a:txBody>
                    <a:bodyPr wrap="square"/>
                    <a:lstStyle/>
                    <a:p>
                      <a:r>
                        <a:rPr sz="1200" b="1">
                          <a:solidFill>
                            <a:srgbClr val="0A1628"/>
                          </a:solidFill>
                          <a:latin typeface="Inter"/>
                        </a:rPr>
                        <a:t>Layer</a:t>
                      </a:r>
                    </a:p>
                  </a:txBody>
                  <a:tcPr marL="91440" marR="91440" marT="45720" marB="45720" anchor="ctr">
                    <a:solidFill>
                      <a:srgbClr val="00D4AA"/>
                    </a:solidFill>
                  </a:tcPr>
                </a:tc>
                <a:tc>
                  <a:txBody>
                    <a:bodyPr wrap="square"/>
                    <a:lstStyle/>
                    <a:p>
                      <a:r>
                        <a:rPr sz="1200" b="1">
                          <a:solidFill>
                            <a:srgbClr val="0A1628"/>
                          </a:solidFill>
                          <a:latin typeface="Inter"/>
                        </a:rPr>
                        <a:t>Examples</a:t>
                      </a:r>
                    </a:p>
                  </a:txBody>
                  <a:tcPr marL="91440" marR="91440" marT="45720" marB="45720" anchor="ctr">
                    <a:solidFill>
                      <a:srgbClr val="00D4AA"/>
                    </a:solidFill>
                  </a:tcPr>
                </a:tc>
              </a:tr>
              <a:tr h="384048">
                <a:tc>
                  <a:txBody>
                    <a:bodyPr wrap="square"/>
                    <a:lstStyle/>
                    <a:p>
                      <a:r>
                        <a:rPr sz="1200" b="1">
                          <a:solidFill>
                            <a:srgbClr val="FFFFFF"/>
                          </a:solidFill>
                          <a:latin typeface="Inter"/>
                        </a:rPr>
                        <a:t>Behavior (B)</a:t>
                      </a:r>
                    </a:p>
                  </a:txBody>
                  <a:tcPr marL="91440" marR="91440" marT="45720" marB="45720" anchor="ctr">
                    <a:solidFill>
                      <a:srgbClr val="1A2742"/>
                    </a:solidFill>
                  </a:tcPr>
                </a:tc>
                <a:tc>
                  <a:txBody>
                    <a:bodyPr wrap="square"/>
                    <a:lstStyle/>
                    <a:p>
                      <a:r>
                        <a:rPr sz="1200" b="0">
                          <a:solidFill>
                            <a:srgbClr val="FFFFFF"/>
                          </a:solidFill>
                          <a:latin typeface="Inter"/>
                        </a:rPr>
                        <a:t>AT-02 booking with read-back, AT-06 verification gate, AT-10 billing handoff, AT-14 impersonation</a:t>
                      </a:r>
                    </a:p>
                  </a:txBody>
                  <a:tcPr marL="91440" marR="91440" marT="45720" marB="45720" anchor="ctr">
                    <a:solidFill>
                      <a:srgbClr val="1A2742"/>
                    </a:solidFill>
                  </a:tcPr>
                </a:tc>
              </a:tr>
              <a:tr h="384048">
                <a:tc>
                  <a:txBody>
                    <a:bodyPr wrap="square"/>
                    <a:lstStyle/>
                    <a:p>
                      <a:r>
                        <a:rPr sz="1200" b="1">
                          <a:solidFill>
                            <a:srgbClr val="FFFFFF"/>
                          </a:solidFill>
                          <a:latin typeface="Inter"/>
                        </a:rPr>
                        <a:t>Unit (U)</a:t>
                      </a:r>
                    </a:p>
                  </a:txBody>
                  <a:tcPr marL="91440" marR="91440" marT="45720" marB="45720" anchor="ctr">
                    <a:solidFill>
                      <a:srgbClr val="0F1E35"/>
                    </a:solidFill>
                  </a:tcPr>
                </a:tc>
                <a:tc>
                  <a:txBody>
                    <a:bodyPr wrap="square"/>
                    <a:lstStyle/>
                    <a:p>
                      <a:r>
                        <a:rPr sz="1200" b="0">
                          <a:solidFill>
                            <a:srgbClr val="FFFFFF"/>
                          </a:solidFill>
                          <a:latin typeface="Inter"/>
                        </a:rPr>
                        <a:t>AT-16 verification lockout, AT-17 PII redaction</a:t>
                      </a:r>
                    </a:p>
                  </a:txBody>
                  <a:tcPr marL="91440" marR="91440" marT="45720" marB="45720" anchor="ctr">
                    <a:solidFill>
                      <a:srgbClr val="0F1E35"/>
                    </a:solidFill>
                  </a:tcPr>
                </a:tc>
              </a:tr>
              <a:tr h="384048">
                <a:tc>
                  <a:txBody>
                    <a:bodyPr wrap="square"/>
                    <a:lstStyle/>
                    <a:p>
                      <a:r>
                        <a:rPr sz="1200" b="1">
                          <a:solidFill>
                            <a:srgbClr val="FFFFFF"/>
                          </a:solidFill>
                          <a:latin typeface="Inter"/>
                        </a:rPr>
                        <a:t>Eval (E)</a:t>
                      </a:r>
                    </a:p>
                  </a:txBody>
                  <a:tcPr marL="91440" marR="91440" marT="45720" marB="45720" anchor="ctr">
                    <a:solidFill>
                      <a:srgbClr val="1A2742"/>
                    </a:solidFill>
                  </a:tcPr>
                </a:tc>
                <a:tc>
                  <a:txBody>
                    <a:bodyPr wrap="square"/>
                    <a:lstStyle/>
                    <a:p>
                      <a:r>
                        <a:rPr sz="1200" b="0">
                          <a:solidFill>
                            <a:srgbClr val="FFFFFF"/>
                          </a:solidFill>
                          <a:latin typeface="Inter"/>
                        </a:rPr>
                        <a:t>AT-18 speakability ≥ 0.7, AT-19 p95 voice-to-voice ≤ 1,600 ms, AT-20 cost per minute, AT-21 WER</a:t>
                      </a:r>
                    </a:p>
                  </a:txBody>
                  <a:tcPr marL="91440" marR="91440" marT="45720" marB="45720" anchor="ctr">
                    <a:solidFill>
                      <a:srgbClr val="1A2742"/>
                    </a:solidFill>
                  </a:tcPr>
                </a:tc>
              </a:tr>
              <a:tr h="384048">
                <a:tc>
                  <a:txBody>
                    <a:bodyPr wrap="square"/>
                    <a:lstStyle/>
                    <a:p>
                      <a:r>
                        <a:rPr sz="1200" b="1">
                          <a:solidFill>
                            <a:srgbClr val="FFFFFF"/>
                          </a:solidFill>
                          <a:latin typeface="Inter"/>
                        </a:rPr>
                        <a:t>Simulated (S)</a:t>
                      </a:r>
                    </a:p>
                  </a:txBody>
                  <a:tcPr marL="91440" marR="91440" marT="45720" marB="45720" anchor="ctr">
                    <a:solidFill>
                      <a:srgbClr val="0F1E35"/>
                    </a:solidFill>
                  </a:tcPr>
                </a:tc>
                <a:tc>
                  <a:txBody>
                    <a:bodyPr wrap="square"/>
                    <a:lstStyle/>
                    <a:p>
                      <a:r>
                        <a:rPr sz="1200" b="0">
                          <a:solidFill>
                            <a:srgbClr val="FFFFFF"/>
                          </a:solidFill>
                          <a:latin typeface="Inter"/>
                        </a:rPr>
                        <a:t>AT-22 confused senior books 2 of 3 runs; injection attacker refused 3 of 3</a:t>
                      </a:r>
                    </a:p>
                  </a:txBody>
                  <a:tcPr marL="91440" marR="91440" marT="45720" marB="45720" anchor="ctr">
                    <a:solidFill>
                      <a:srgbClr val="0F1E35"/>
                    </a:solidFill>
                  </a:tcPr>
                </a:tc>
              </a:tr>
              <a:tr h="384048">
                <a:tc>
                  <a:txBody>
                    <a:bodyPr wrap="square"/>
                    <a:lstStyle/>
                    <a:p>
                      <a:r>
                        <a:rPr sz="1200" b="1">
                          <a:solidFill>
                            <a:srgbClr val="FFFFFF"/>
                          </a:solidFill>
                          <a:latin typeface="Inter"/>
                        </a:rPr>
                        <a:t>Manual (M)</a:t>
                      </a:r>
                    </a:p>
                  </a:txBody>
                  <a:tcPr marL="91440" marR="91440" marT="45720" marB="45720" anchor="ctr">
                    <a:solidFill>
                      <a:srgbClr val="1A2742"/>
                    </a:solidFill>
                  </a:tcPr>
                </a:tc>
                <a:tc>
                  <a:txBody>
                    <a:bodyPr wrap="square"/>
                    <a:lstStyle/>
                    <a:p>
                      <a:r>
                        <a:rPr sz="1200" b="0">
                          <a:solidFill>
                            <a:srgbClr val="FFFFFF"/>
                          </a:solidFill>
                          <a:latin typeface="Inter"/>
                        </a:rPr>
                        <a:t>AT-23 resilience (chaos test), AT-24 deployed and reachable</a:t>
                      </a:r>
                    </a:p>
                  </a:txBody>
                  <a:tcPr marL="91440" marR="91440" marT="45720" marB="45720" anchor="ctr">
                    <a:solidFill>
                      <a:srgbClr val="1A274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4-capstone-architecture.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13 · Lecture 13.1 · 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Deliverables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D1 Repository with </a:t>
            </a:r>
            <a:r>
              <a:rPr sz="1656" b="0">
                <a:solidFill>
                  <a:srgbClr val="00D4AA"/>
                </a:solidFill>
                <a:latin typeface="JetBrains Mono"/>
              </a:rPr>
              <a:t>agents/capstone_riley.py</a:t>
            </a:r>
            <a:r>
              <a:rPr sz="1800" b="0">
                <a:solidFill>
                  <a:srgbClr val="FFFFFF"/>
                </a:solidFill>
                <a:latin typeface="Inter"/>
              </a:rPr>
              <a:t>, tests, Dockerfile, CI, README</a:t>
            </a:r>
          </a:p>
          <a:p>
            <a:pPr marL="292608" indent="-292608">
              <a:lnSpc>
                <a:spcPct val="120000"/>
              </a:lnSpc>
              <a:spcAft>
                <a:spcPts val="1260"/>
              </a:spcAft>
              <a:buClr>
                <a:srgbClr val="00D4AA"/>
              </a:buClr>
              <a:buFont typeface="Inter"/>
              <a:buChar char="•"/>
            </a:pPr>
            <a:r>
              <a:rPr sz="1800" b="0">
                <a:solidFill>
                  <a:srgbClr val="FFFFFF"/>
                </a:solidFill>
                <a:latin typeface="Inter"/>
              </a:rPr>
              <a:t>D2 </a:t>
            </a:r>
            <a:r>
              <a:rPr sz="1656" b="0">
                <a:solidFill>
                  <a:srgbClr val="00D4AA"/>
                </a:solidFill>
                <a:latin typeface="JetBrains Mono"/>
              </a:rPr>
              <a:t>ACCEPTANCE.md</a:t>
            </a:r>
            <a:r>
              <a:rPr sz="1800" b="0">
                <a:solidFill>
                  <a:srgbClr val="FFFFFF"/>
                </a:solidFill>
                <a:latin typeface="Inter"/>
              </a:rPr>
              <a:t>: 24 tests, PASS or FAIL, with evidence</a:t>
            </a:r>
          </a:p>
          <a:p>
            <a:pPr marL="292608" indent="-292608">
              <a:lnSpc>
                <a:spcPct val="120000"/>
              </a:lnSpc>
              <a:spcAft>
                <a:spcPts val="1260"/>
              </a:spcAft>
              <a:buClr>
                <a:srgbClr val="00D4AA"/>
              </a:buClr>
              <a:buFont typeface="Inter"/>
              <a:buChar char="•"/>
            </a:pPr>
            <a:r>
              <a:rPr sz="1800" b="0">
                <a:solidFill>
                  <a:srgbClr val="FFFFFF"/>
                </a:solidFill>
                <a:latin typeface="Inter"/>
              </a:rPr>
              <a:t>D3 Demo video, 3 to 5 minutes</a:t>
            </a:r>
          </a:p>
          <a:p>
            <a:pPr marL="292608" indent="-292608">
              <a:lnSpc>
                <a:spcPct val="120000"/>
              </a:lnSpc>
              <a:spcAft>
                <a:spcPts val="1260"/>
              </a:spcAft>
              <a:buClr>
                <a:srgbClr val="00D4AA"/>
              </a:buClr>
              <a:buFont typeface="Inter"/>
              <a:buChar char="•"/>
            </a:pPr>
            <a:r>
              <a:rPr sz="1800" b="0">
                <a:solidFill>
                  <a:srgbClr val="FFFFFF"/>
                </a:solidFill>
                <a:latin typeface="Inter"/>
              </a:rPr>
              <a:t>D4 Architecture diagram of what you built</a:t>
            </a:r>
          </a:p>
          <a:p>
            <a:pPr marL="292608" indent="-292608">
              <a:lnSpc>
                <a:spcPct val="120000"/>
              </a:lnSpc>
              <a:spcAft>
                <a:spcPts val="1260"/>
              </a:spcAft>
              <a:buClr>
                <a:srgbClr val="00D4AA"/>
              </a:buClr>
              <a:buFont typeface="Inter"/>
              <a:buChar char="•"/>
            </a:pPr>
            <a:r>
              <a:rPr sz="1800" b="0">
                <a:solidFill>
                  <a:srgbClr val="FFFFFF"/>
                </a:solidFill>
                <a:latin typeface="Inter"/>
              </a:rPr>
              <a:t>D5 </a:t>
            </a:r>
            <a:r>
              <a:rPr sz="1656" b="0">
                <a:solidFill>
                  <a:srgbClr val="00D4AA"/>
                </a:solidFill>
                <a:latin typeface="JetBrains Mono"/>
              </a:rPr>
              <a:t>DIFF_NOTES.md</a:t>
            </a:r>
            <a:r>
              <a:rPr sz="1800" b="0">
                <a:solidFill>
                  <a:srgbClr val="FFFFFF"/>
                </a:solidFill>
                <a:latin typeface="Inter"/>
              </a:rPr>
              <a:t>, written after the reference solution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Deliverables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D6 Portfolio write-up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minimum viable capstone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Booking with read-back, the FAQ, a transfer or its fallback</a:t>
            </a:r>
          </a:p>
          <a:p>
            <a:pPr marL="292608" indent="-292608">
              <a:lnSpc>
                <a:spcPct val="120000"/>
              </a:lnSpc>
              <a:spcAft>
                <a:spcPts val="1539"/>
              </a:spcAft>
              <a:buClr>
                <a:srgbClr val="00D4AA"/>
              </a:buClr>
              <a:buFont typeface="Inter"/>
              <a:buChar char="•"/>
            </a:pPr>
            <a:r>
              <a:rPr sz="2200" b="0">
                <a:solidFill>
                  <a:srgbClr val="FFFFFF"/>
                </a:solidFill>
                <a:latin typeface="Inter"/>
              </a:rPr>
              <a:t>Verification, injection resistance, metrics, deployed</a:t>
            </a:r>
          </a:p>
          <a:p>
            <a:pPr marL="292608" indent="-292608">
              <a:lnSpc>
                <a:spcPct val="120000"/>
              </a:lnSpc>
              <a:spcAft>
                <a:spcPts val="1539"/>
              </a:spcAft>
              <a:buClr>
                <a:srgbClr val="00D4AA"/>
              </a:buClr>
              <a:buFont typeface="Inter"/>
              <a:buChar char="•"/>
            </a:pPr>
            <a:r>
              <a:rPr sz="2200" b="0">
                <a:solidFill>
                  <a:srgbClr val="FFFFFF"/>
                </a:solidFill>
                <a:latin typeface="Inter"/>
              </a:rPr>
              <a:t>At least 15 acceptance tests passing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client's go-live review becomes requirements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24 acceptance tests, each with a test layer</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Six deliverables; write targets before measuring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Build it yourself first: the capstone gate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capstone gate: why you should build this yourself before you watch my solution.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13.1a</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CAPSTONE: RILEY, PRODUCTION RECEPTIONIST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13.1a</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Build it yourself first: the capstone gate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Commit to a one-week, time-boxed attempt at the capstone from the brief alone.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13.1a</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capstone gate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Time box: one week. Put the end date in your calendar now</a:t>
            </a:r>
          </a:p>
          <a:p>
            <a:pPr marL="292608" indent="-292608">
              <a:lnSpc>
                <a:spcPct val="120000"/>
              </a:lnSpc>
              <a:spcAft>
                <a:spcPts val="1260"/>
              </a:spcAft>
              <a:buClr>
                <a:srgbClr val="00D4AA"/>
              </a:buClr>
              <a:buFont typeface="Inter"/>
              <a:buChar char="•"/>
            </a:pPr>
            <a:r>
              <a:rPr sz="1800" b="0">
                <a:solidFill>
                  <a:srgbClr val="FFFFFF"/>
                </a:solidFill>
                <a:latin typeface="Inter"/>
              </a:rPr>
              <a:t>Build your own </a:t>
            </a:r>
            <a:r>
              <a:rPr sz="1656" b="0">
                <a:solidFill>
                  <a:srgbClr val="00D4AA"/>
                </a:solidFill>
                <a:latin typeface="JetBrains Mono"/>
              </a:rPr>
              <a:t>agents/capstone_riley.py</a:t>
            </a:r>
            <a:r>
              <a:rPr sz="1800" b="0">
                <a:solidFill>
                  <a:srgbClr val="FFFFFF"/>
                </a:solidFill>
                <a:latin typeface="Inter"/>
              </a:rPr>
              <a:t> from the brief</a:t>
            </a:r>
          </a:p>
          <a:p>
            <a:pPr marL="292608" indent="-292608">
              <a:lnSpc>
                <a:spcPct val="120000"/>
              </a:lnSpc>
              <a:spcAft>
                <a:spcPts val="1260"/>
              </a:spcAft>
              <a:buClr>
                <a:srgbClr val="00D4AA"/>
              </a:buClr>
              <a:buFont typeface="Inter"/>
              <a:buChar char="•"/>
            </a:pPr>
            <a:r>
              <a:rPr sz="1800" b="0">
                <a:solidFill>
                  <a:srgbClr val="FFFFFF"/>
                </a:solidFill>
                <a:latin typeface="Inter"/>
              </a:rPr>
              <a:t>Allowed: your projects and labs, </a:t>
            </a:r>
            <a:r>
              <a:rPr sz="1656" b="0">
                <a:solidFill>
                  <a:srgbClr val="00D4AA"/>
                </a:solidFill>
                <a:latin typeface="JetBrains Mono"/>
              </a:rPr>
              <a:t>src/maple/</a:t>
            </a:r>
            <a:r>
              <a:rPr sz="1800" b="0">
                <a:solidFill>
                  <a:srgbClr val="FFFFFF"/>
                </a:solidFill>
                <a:latin typeface="Inter"/>
              </a:rPr>
              <a:t>, </a:t>
            </a:r>
            <a:r>
              <a:rPr sz="1656" b="0">
                <a:solidFill>
                  <a:srgbClr val="00D4AA"/>
                </a:solidFill>
                <a:latin typeface="JetBrains Mono"/>
              </a:rPr>
              <a:t>agents/common.py</a:t>
            </a:r>
            <a:r>
              <a:rPr sz="1800" b="0">
                <a:solidFill>
                  <a:srgbClr val="FFFFFF"/>
                </a:solidFill>
                <a:latin typeface="Inter"/>
              </a:rPr>
              <a:t>, agents </a:t>
            </a:r>
            <a:r>
              <a:rPr sz="1656" b="0">
                <a:solidFill>
                  <a:srgbClr val="00D4AA"/>
                </a:solidFill>
                <a:latin typeface="JetBrains Mono"/>
              </a:rPr>
              <a:t>s03</a:t>
            </a:r>
            <a:r>
              <a:rPr sz="1800" b="0">
                <a:solidFill>
                  <a:srgbClr val="FFFFFF"/>
                </a:solidFill>
                <a:latin typeface="Inter"/>
              </a:rPr>
              <a:t> to </a:t>
            </a:r>
            <a:r>
              <a:rPr sz="1656" b="0">
                <a:solidFill>
                  <a:srgbClr val="00D4AA"/>
                </a:solidFill>
                <a:latin typeface="JetBrains Mono"/>
              </a:rPr>
              <a:t>s11</a:t>
            </a:r>
            <a:r>
              <a:rPr sz="1800" b="0">
                <a:solidFill>
                  <a:srgbClr val="FFFFFF"/>
                </a:solidFill>
                <a:latin typeface="Inter"/>
              </a:rPr>
              <a:t>, the docs, the Q&amp;A</a:t>
            </a:r>
          </a:p>
          <a:p>
            <a:pPr marL="292608" indent="-292608">
              <a:lnSpc>
                <a:spcPct val="120000"/>
              </a:lnSpc>
              <a:spcAft>
                <a:spcPts val="1260"/>
              </a:spcAft>
              <a:buClr>
                <a:srgbClr val="00D4AA"/>
              </a:buClr>
              <a:buFont typeface="Inter"/>
              <a:buChar char="•"/>
            </a:pPr>
            <a:r>
              <a:rPr sz="1800" b="0">
                <a:solidFill>
                  <a:srgbClr val="FFFFFF"/>
                </a:solidFill>
                <a:latin typeface="Inter"/>
              </a:rPr>
              <a:t>Not yet: </a:t>
            </a:r>
            <a:r>
              <a:rPr sz="1656" b="0">
                <a:solidFill>
                  <a:srgbClr val="00D4AA"/>
                </a:solidFill>
                <a:latin typeface="JetBrains Mono"/>
              </a:rPr>
              <a:t>agents/s13_capstone_receptionist.py</a:t>
            </a:r>
            <a:r>
              <a:rPr sz="1800" b="0">
                <a:solidFill>
                  <a:srgbClr val="FFFFFF"/>
                </a:solidFill>
                <a:latin typeface="Inter"/>
              </a:rPr>
              <a:t> and lectures 13.2 to 13.5</a:t>
            </a:r>
          </a:p>
          <a:p>
            <a:pPr marL="292608" indent="-292608">
              <a:lnSpc>
                <a:spcPct val="120000"/>
              </a:lnSpc>
              <a:spcAft>
                <a:spcPts val="1260"/>
              </a:spcAft>
              <a:buClr>
                <a:srgbClr val="00D4AA"/>
              </a:buClr>
              <a:buFont typeface="Inter"/>
              <a:buChar char="•"/>
            </a:pPr>
            <a:r>
              <a:rPr sz="1800" b="0">
                <a:solidFill>
                  <a:srgbClr val="FFFFFF"/>
                </a:solidFill>
                <a:latin typeface="Inter"/>
              </a:rPr>
              <a:t>Stuck for more than 90 minutes? Write down what you tried, cut scope, move 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13.1a</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you come back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Watch 13.2 to 13.5 as a code reviewer</a:t>
            </a:r>
          </a:p>
          <a:p>
            <a:pPr marL="292608" indent="-292608">
              <a:lnSpc>
                <a:spcPct val="120000"/>
              </a:lnSpc>
              <a:spcAft>
                <a:spcPts val="1539"/>
              </a:spcAft>
              <a:buClr>
                <a:srgbClr val="00D4AA"/>
              </a:buClr>
              <a:buFont typeface="Inter"/>
              <a:buChar char="•"/>
            </a:pPr>
            <a:r>
              <a:rPr sz="2200" b="0">
                <a:solidFill>
                  <a:srgbClr val="FFFFFF"/>
                </a:solidFill>
                <a:latin typeface="Inter"/>
              </a:rPr>
              <a:t>Write </a:t>
            </a:r>
            <a:r>
              <a:rPr sz="2024" b="0">
                <a:solidFill>
                  <a:srgbClr val="00D4AA"/>
                </a:solidFill>
                <a:latin typeface="JetBrains Mono"/>
              </a:rPr>
              <a:t>DIFF_NOTES.md</a:t>
            </a:r>
            <a:r>
              <a:rPr sz="2200" b="0">
                <a:solidFill>
                  <a:srgbClr val="FFFFFF"/>
                </a:solidFill>
                <a:latin typeface="Inter"/>
              </a:rPr>
              <a:t>: three things the reference does differently, and whether you adopted each</a:t>
            </a:r>
          </a:p>
          <a:p>
            <a:pPr marL="292608" indent="-292608">
              <a:lnSpc>
                <a:spcPct val="120000"/>
              </a:lnSpc>
              <a:spcAft>
                <a:spcPts val="1539"/>
              </a:spcAft>
              <a:buClr>
                <a:srgbClr val="00D4AA"/>
              </a:buClr>
              <a:buFont typeface="Inter"/>
              <a:buChar char="•"/>
            </a:pPr>
            <a:r>
              <a:rPr sz="2200" b="0">
                <a:solidFill>
                  <a:srgbClr val="FFFFFF"/>
                </a:solidFill>
                <a:latin typeface="Inter"/>
              </a:rPr>
              <a:t>Keep your version wherever it passes the acceptance tests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13.1a</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Stop: build your own capstone first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One-week time box; cut scope, don't copy</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Then review the reference and write </a:t>
            </a:r>
            <a:r>
              <a:rPr sz="1656" b="0">
                <a:solidFill>
                  <a:srgbClr val="00D4AA"/>
                </a:solidFill>
                <a:latin typeface="JetBrains Mono"/>
              </a:rPr>
              <a:t>DIFF_NOTES.md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13.1a</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Reference solution: assembling the production agent (Part A and Part B)</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When you're back, the next lecture is the reference solution, starting with how the production agent is assembled.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CAPSTONE: RILEY, PRODUCTION RECEPTIONIST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Reference solution: assembling the production agent (Part A and Part B)</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Compose </a:t>
            </a:r>
            <a:r>
              <a:rPr sz="1472" b="0">
                <a:solidFill>
                  <a:srgbClr val="00D4AA"/>
                </a:solidFill>
                <a:latin typeface="JetBrains Mono"/>
              </a:rPr>
              <a:t>CapstoneRiley</a:t>
            </a:r>
            <a:r>
              <a:rPr sz="1600" b="0">
                <a:solidFill>
                  <a:srgbClr val="CBD5E1"/>
                </a:solidFill>
                <a:latin typeface="Inter"/>
              </a:rPr>
              <a:t> from the shared tool mixins, the Section 11 guardrails and the capstone prompt rules.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each mixin brings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304288"/>
        </p:xfrm>
        <a:graphic>
          <a:graphicData uri="http://schemas.openxmlformats.org/drawingml/2006/table">
            <a:tbl>
              <a:tblPr firstRow="1" bandRow="1">
                <a:tableStyleId>{5C22544A-7EE6-4342-B048-85BDC9FD1C3A}</a:tableStyleId>
              </a:tblPr>
              <a:tblGrid>
                <a:gridCol w="2221542"/>
                <a:gridCol w="3517441"/>
                <a:gridCol w="5553855"/>
              </a:tblGrid>
              <a:tr h="384048">
                <a:tc>
                  <a:txBody>
                    <a:bodyPr wrap="square"/>
                    <a:lstStyle/>
                    <a:p>
                      <a:r>
                        <a:rPr sz="1200" b="1">
                          <a:solidFill>
                            <a:srgbClr val="0A1628"/>
                          </a:solidFill>
                          <a:latin typeface="Inter"/>
                        </a:rPr>
                        <a:t>Mixin</a:t>
                      </a:r>
                    </a:p>
                  </a:txBody>
                  <a:tcPr marL="91440" marR="91440" marT="45720" marB="45720" anchor="ctr">
                    <a:solidFill>
                      <a:srgbClr val="00D4AA"/>
                    </a:solidFill>
                  </a:tcPr>
                </a:tc>
                <a:tc>
                  <a:txBody>
                    <a:bodyPr wrap="square"/>
                    <a:lstStyle/>
                    <a:p>
                      <a:r>
                        <a:rPr sz="1200" b="1">
                          <a:solidFill>
                            <a:srgbClr val="0A1628"/>
                          </a:solidFill>
                          <a:latin typeface="Inter"/>
                        </a:rPr>
                        <a:t>Tools</a:t>
                      </a:r>
                    </a:p>
                  </a:txBody>
                  <a:tcPr marL="91440" marR="91440" marT="45720" marB="45720" anchor="ctr">
                    <a:solidFill>
                      <a:srgbClr val="00D4AA"/>
                    </a:solidFill>
                  </a:tcPr>
                </a:tc>
                <a:tc>
                  <a:txBody>
                    <a:bodyPr wrap="square"/>
                    <a:lstStyle/>
                    <a:p>
                      <a:r>
                        <a:rPr sz="1200" b="1">
                          <a:solidFill>
                            <a:srgbClr val="0A1628"/>
                          </a:solidFill>
                          <a:latin typeface="Inter"/>
                        </a:rPr>
                        <a:t>Rule it enforces</a:t>
                      </a:r>
                    </a:p>
                  </a:txBody>
                  <a:tcPr marL="91440" marR="91440" marT="45720" marB="45720" anchor="ctr">
                    <a:solidFill>
                      <a:srgbClr val="00D4AA"/>
                    </a:solidFill>
                  </a:tcPr>
                </a:tc>
              </a:tr>
              <a:tr h="384048">
                <a:tc>
                  <a:txBody>
                    <a:bodyPr wrap="square"/>
                    <a:lstStyle/>
                    <a:p>
                      <a:r>
                        <a:rPr sz="1104" b="0">
                          <a:solidFill>
                            <a:srgbClr val="00D4AA"/>
                          </a:solidFill>
                          <a:latin typeface="JetBrains Mono"/>
                        </a:rPr>
                        <a:t>BookingToolsMixin</a:t>
                      </a:r>
                    </a:p>
                  </a:txBody>
                  <a:tcPr marL="91440" marR="91440" marT="45720" marB="45720" anchor="ctr">
                    <a:solidFill>
                      <a:srgbClr val="1A2742"/>
                    </a:solidFill>
                  </a:tcPr>
                </a:tc>
                <a:tc>
                  <a:txBody>
                    <a:bodyPr wrap="square"/>
                    <a:lstStyle/>
                    <a:p>
                      <a:r>
                        <a:rPr sz="1200" b="0">
                          <a:solidFill>
                            <a:srgbClr val="FFFFFF"/>
                          </a:solidFill>
                          <a:latin typeface="Inter"/>
                        </a:rPr>
                        <a:t>find, book, reschedule, cancel</a:t>
                      </a:r>
                    </a:p>
                  </a:txBody>
                  <a:tcPr marL="91440" marR="91440" marT="45720" marB="45720" anchor="ctr">
                    <a:solidFill>
                      <a:srgbClr val="1A2742"/>
                    </a:solidFill>
                  </a:tcPr>
                </a:tc>
                <a:tc>
                  <a:txBody>
                    <a:bodyPr wrap="square"/>
                    <a:lstStyle/>
                    <a:p>
                      <a:r>
                        <a:rPr sz="1200" b="0">
                          <a:solidFill>
                            <a:srgbClr val="FFFFFF"/>
                          </a:solidFill>
                          <a:latin typeface="Inter"/>
                        </a:rPr>
                        <a:t>Read-back in docstrings; verification gate when </a:t>
                      </a:r>
                      <a:r>
                        <a:rPr sz="1104" b="0">
                          <a:solidFill>
                            <a:srgbClr val="00D4AA"/>
                          </a:solidFill>
                          <a:latin typeface="JetBrains Mono"/>
                        </a:rPr>
                        <a:t>require_verification</a:t>
                      </a:r>
                    </a:p>
                  </a:txBody>
                  <a:tcPr marL="91440" marR="91440" marT="45720" marB="45720" anchor="ctr">
                    <a:solidFill>
                      <a:srgbClr val="1A2742"/>
                    </a:solidFill>
                  </a:tcPr>
                </a:tc>
              </a:tr>
              <a:tr h="384048">
                <a:tc>
                  <a:txBody>
                    <a:bodyPr wrap="square"/>
                    <a:lstStyle/>
                    <a:p>
                      <a:r>
                        <a:rPr sz="1104" b="0">
                          <a:solidFill>
                            <a:srgbClr val="00D4AA"/>
                          </a:solidFill>
                          <a:latin typeface="JetBrains Mono"/>
                        </a:rPr>
                        <a:t>VerificationToolsMixin</a:t>
                      </a:r>
                    </a:p>
                  </a:txBody>
                  <a:tcPr marL="91440" marR="91440" marT="45720" marB="45720" anchor="ctr">
                    <a:solidFill>
                      <a:srgbClr val="0F1E35"/>
                    </a:solidFill>
                  </a:tcPr>
                </a:tc>
                <a:tc>
                  <a:txBody>
                    <a:bodyPr wrap="square"/>
                    <a:lstStyle/>
                    <a:p>
                      <a:r>
                        <a:rPr sz="1104" b="0">
                          <a:solidFill>
                            <a:srgbClr val="00D4AA"/>
                          </a:solidFill>
                          <a:latin typeface="JetBrains Mono"/>
                        </a:rPr>
                        <a:t>verify_caller</a:t>
                      </a:r>
                      <a:r>
                        <a:rPr sz="1200" b="0">
                          <a:solidFill>
                            <a:srgbClr val="FFFFFF"/>
                          </a:solidFill>
                          <a:latin typeface="Inter"/>
                        </a:rPr>
                        <a:t>, </a:t>
                      </a:r>
                      <a:r>
                        <a:rPr sz="1104" b="0">
                          <a:solidFill>
                            <a:srgbClr val="00D4AA"/>
                          </a:solidFill>
                          <a:latin typeface="JetBrains Mono"/>
                        </a:rPr>
                        <a:t>get_my_appointments</a:t>
                      </a:r>
                    </a:p>
                  </a:txBody>
                  <a:tcPr marL="91440" marR="91440" marT="45720" marB="45720" anchor="ctr">
                    <a:solidFill>
                      <a:srgbClr val="0F1E35"/>
                    </a:solidFill>
                  </a:tcPr>
                </a:tc>
                <a:tc>
                  <a:txBody>
                    <a:bodyPr wrap="square"/>
                    <a:lstStyle/>
                    <a:p>
                      <a:r>
                        <a:rPr sz="1200" b="0">
                          <a:solidFill>
                            <a:srgbClr val="FFFFFF"/>
                          </a:solidFill>
                          <a:latin typeface="Inter"/>
                        </a:rPr>
                        <a:t>Phone + date of birth; 3-attempt lockout; own data only</a:t>
                      </a:r>
                    </a:p>
                  </a:txBody>
                  <a:tcPr marL="91440" marR="91440" marT="45720" marB="45720" anchor="ctr">
                    <a:solidFill>
                      <a:srgbClr val="0F1E35"/>
                    </a:solidFill>
                  </a:tcPr>
                </a:tc>
              </a:tr>
              <a:tr h="384048">
                <a:tc>
                  <a:txBody>
                    <a:bodyPr wrap="square"/>
                    <a:lstStyle/>
                    <a:p>
                      <a:r>
                        <a:rPr sz="1104" b="0">
                          <a:solidFill>
                            <a:srgbClr val="00D4AA"/>
                          </a:solidFill>
                          <a:latin typeface="JetBrains Mono"/>
                        </a:rPr>
                        <a:t>KnowledgeToolsMixin</a:t>
                      </a:r>
                    </a:p>
                  </a:txBody>
                  <a:tcPr marL="91440" marR="91440" marT="45720" marB="45720" anchor="ctr">
                    <a:solidFill>
                      <a:srgbClr val="1A2742"/>
                    </a:solidFill>
                  </a:tcPr>
                </a:tc>
                <a:tc>
                  <a:txBody>
                    <a:bodyPr wrap="square"/>
                    <a:lstStyle/>
                    <a:p>
                      <a:r>
                        <a:rPr sz="1104" b="0">
                          <a:solidFill>
                            <a:srgbClr val="00D4AA"/>
                          </a:solidFill>
                          <a:latin typeface="JetBrains Mono"/>
                        </a:rPr>
                        <a:t>lookup_clinic_info</a:t>
                      </a:r>
                    </a:p>
                  </a:txBody>
                  <a:tcPr marL="91440" marR="91440" marT="45720" marB="45720" anchor="ctr">
                    <a:solidFill>
                      <a:srgbClr val="1A2742"/>
                    </a:solidFill>
                  </a:tcPr>
                </a:tc>
                <a:tc>
                  <a:txBody>
                    <a:bodyPr wrap="square"/>
                    <a:lstStyle/>
                    <a:p>
                      <a:r>
                        <a:rPr sz="1200" b="0">
                          <a:solidFill>
                            <a:srgbClr val="FFFFFF"/>
                          </a:solidFill>
                          <a:latin typeface="Inter"/>
                        </a:rPr>
                        <a:t>Answer only from the FAQ; honest "not sure"</a:t>
                      </a:r>
                    </a:p>
                  </a:txBody>
                  <a:tcPr marL="91440" marR="91440" marT="45720" marB="45720" anchor="ctr">
                    <a:solidFill>
                      <a:srgbClr val="1A2742"/>
                    </a:solidFill>
                  </a:tcPr>
                </a:tc>
              </a:tr>
              <a:tr h="384048">
                <a:tc>
                  <a:txBody>
                    <a:bodyPr wrap="square"/>
                    <a:lstStyle/>
                    <a:p>
                      <a:r>
                        <a:rPr sz="1104" b="0">
                          <a:solidFill>
                            <a:srgbClr val="00D4AA"/>
                          </a:solidFill>
                          <a:latin typeface="JetBrains Mono"/>
                        </a:rPr>
                        <a:t>TelephonyToolsMixin</a:t>
                      </a:r>
                    </a:p>
                  </a:txBody>
                  <a:tcPr marL="91440" marR="91440" marT="45720" marB="45720" anchor="ctr">
                    <a:solidFill>
                      <a:srgbClr val="0F1E35"/>
                    </a:solidFill>
                  </a:tcPr>
                </a:tc>
                <a:tc>
                  <a:txBody>
                    <a:bodyPr wrap="square"/>
                    <a:lstStyle/>
                    <a:p>
                      <a:r>
                        <a:rPr sz="1104" b="0">
                          <a:solidFill>
                            <a:srgbClr val="00D4AA"/>
                          </a:solidFill>
                          <a:latin typeface="JetBrains Mono"/>
                        </a:rPr>
                        <a:t>transfer_to_human</a:t>
                      </a:r>
                      <a:r>
                        <a:rPr sz="1200" b="0">
                          <a:solidFill>
                            <a:srgbClr val="FFFFFF"/>
                          </a:solidFill>
                          <a:latin typeface="Inter"/>
                        </a:rPr>
                        <a:t>, </a:t>
                      </a:r>
                      <a:r>
                        <a:rPr sz="1104" b="0">
                          <a:solidFill>
                            <a:srgbClr val="00D4AA"/>
                          </a:solidFill>
                          <a:latin typeface="JetBrains Mono"/>
                        </a:rPr>
                        <a:t>end_call</a:t>
                      </a:r>
                    </a:p>
                  </a:txBody>
                  <a:tcPr marL="91440" marR="91440" marT="45720" marB="45720" anchor="ctr">
                    <a:solidFill>
                      <a:srgbClr val="0F1E35"/>
                    </a:solidFill>
                  </a:tcPr>
                </a:tc>
                <a:tc>
                  <a:txBody>
                    <a:bodyPr wrap="square"/>
                    <a:lstStyle/>
                    <a:p>
                      <a:r>
                        <a:rPr sz="1200" b="0">
                          <a:solidFill>
                            <a:srgbClr val="FFFFFF"/>
                          </a:solidFill>
                          <a:latin typeface="Inter"/>
                        </a:rPr>
                        <a:t>Config-only transfer number; graceful fallback</a:t>
                      </a:r>
                    </a:p>
                  </a:txBody>
                  <a:tcPr marL="91440" marR="91440" marT="45720" marB="45720" anchor="ctr">
                    <a:solidFill>
                      <a:srgbClr val="0F1E35"/>
                    </a:solidFill>
                  </a:tcPr>
                </a:tc>
              </a:tr>
              <a:tr h="384048">
                <a:tc>
                  <a:txBody>
                    <a:bodyPr wrap="square"/>
                    <a:lstStyle/>
                    <a:p>
                      <a:r>
                        <a:rPr sz="1104" b="0">
                          <a:solidFill>
                            <a:srgbClr val="00D4AA"/>
                          </a:solidFill>
                          <a:latin typeface="JetBrains Mono"/>
                        </a:rPr>
                        <a:t>GuardrailsMixin</a:t>
                      </a:r>
                    </a:p>
                  </a:txBody>
                  <a:tcPr marL="91440" marR="91440" marT="45720" marB="45720" anchor="ctr">
                    <a:solidFill>
                      <a:srgbClr val="1A2742"/>
                    </a:solidFill>
                  </a:tcPr>
                </a:tc>
                <a:tc>
                  <a:txBody>
                    <a:bodyPr wrap="square"/>
                    <a:lstStyle/>
                    <a:p>
                      <a:r>
                        <a:rPr sz="1200" b="0">
                          <a:solidFill>
                            <a:srgbClr val="FFFFFF"/>
                          </a:solidFill>
                          <a:latin typeface="Inter"/>
                        </a:rPr>
                        <a:t>(hooks, no tools)</a:t>
                      </a:r>
                    </a:p>
                  </a:txBody>
                  <a:tcPr marL="91440" marR="91440" marT="45720" marB="45720" anchor="ctr">
                    <a:solidFill>
                      <a:srgbClr val="1A2742"/>
                    </a:solidFill>
                  </a:tcPr>
                </a:tc>
                <a:tc>
                  <a:txBody>
                    <a:bodyPr wrap="square"/>
                    <a:lstStyle/>
                    <a:p>
                      <a:r>
                        <a:rPr sz="1200" b="0">
                          <a:solidFill>
                            <a:srgbClr val="FFFFFF"/>
                          </a:solidFill>
                          <a:latin typeface="Inter"/>
                        </a:rPr>
                        <a:t>Input reminders, output rail</a:t>
                      </a:r>
                    </a:p>
                  </a:txBody>
                  <a:tcPr marL="91440" marR="91440" marT="45720" marB="45720" anchor="ctr">
                    <a:solidFill>
                      <a:srgbClr val="1A2742"/>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Handing off context, not instructions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copy(exclude_instructions=True)</a:t>
            </a:r>
            <a:r>
              <a:rPr sz="2200" b="0">
                <a:solidFill>
                  <a:srgbClr val="FFFFFF"/>
                </a:solidFill>
                <a:latin typeface="Inter"/>
              </a:rPr>
              <a:t>: Riley's rules stay with Riley</a:t>
            </a:r>
          </a:p>
          <a:p>
            <a:pPr marL="292608" indent="-292608">
              <a:lnSpc>
                <a:spcPct val="120000"/>
              </a:lnSpc>
              <a:spcAft>
                <a:spcPts val="1539"/>
              </a:spcAft>
              <a:buClr>
                <a:srgbClr val="00D4AA"/>
              </a:buClr>
              <a:buFont typeface="Inter"/>
              <a:buChar char="•"/>
            </a:pPr>
            <a:r>
              <a:rPr sz="2024" b="0">
                <a:solidFill>
                  <a:srgbClr val="00D4AA"/>
                </a:solidFill>
                <a:latin typeface="JetBrains Mono"/>
              </a:rPr>
              <a:t>truncate(max_items=12)</a:t>
            </a:r>
            <a:r>
              <a:rPr sz="2200" b="0">
                <a:solidFill>
                  <a:srgbClr val="FFFFFF"/>
                </a:solidFill>
                <a:latin typeface="Inter"/>
              </a:rPr>
              <a:t>: enough context, small prompt</a:t>
            </a:r>
          </a:p>
          <a:p>
            <a:pPr marL="292608" indent="-292608">
              <a:lnSpc>
                <a:spcPct val="120000"/>
              </a:lnSpc>
              <a:spcAft>
                <a:spcPts val="1539"/>
              </a:spcAft>
              <a:buClr>
                <a:srgbClr val="00D4AA"/>
              </a:buClr>
              <a:buFont typeface="Inter"/>
              <a:buChar char="•"/>
            </a:pPr>
            <a:r>
              <a:rPr sz="2200" b="0">
                <a:solidFill>
                  <a:srgbClr val="FFFFFF"/>
                </a:solidFill>
                <a:latin typeface="Inter"/>
              </a:rPr>
              <a:t>One shared </a:t>
            </a:r>
            <a:r>
              <a:rPr sz="2024" b="0">
                <a:solidFill>
                  <a:srgbClr val="00D4AA"/>
                </a:solidFill>
                <a:latin typeface="JetBrains Mono"/>
              </a:rPr>
              <a:t>CallState</a:t>
            </a:r>
            <a:r>
              <a:rPr sz="2200" b="0">
                <a:solidFill>
                  <a:srgbClr val="FFFFFF"/>
                </a:solidFill>
                <a:latin typeface="Inter"/>
              </a:rPr>
              <a:t>: verification survives the handoff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a:t>
            </a:r>
            <a:r>
              <a:rPr sz="2392" b="0">
                <a:solidFill>
                  <a:srgbClr val="00D4AA"/>
                </a:solidFill>
                <a:latin typeface="JetBrains Mono"/>
              </a:rPr>
              <a:t>max_tool_steps=5</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 reschedule: verify, look up, find slots, reschedule</a:t>
            </a:r>
          </a:p>
          <a:p>
            <a:pPr marL="292608" indent="-292608">
              <a:lnSpc>
                <a:spcPct val="120000"/>
              </a:lnSpc>
              <a:spcAft>
                <a:spcPts val="1539"/>
              </a:spcAft>
              <a:buClr>
                <a:srgbClr val="00D4AA"/>
              </a:buClr>
              <a:buFont typeface="Inter"/>
              <a:buChar char="•"/>
            </a:pPr>
            <a:r>
              <a:rPr sz="2200" b="0">
                <a:solidFill>
                  <a:srgbClr val="FFFFFF"/>
                </a:solidFill>
                <a:latin typeface="Inter"/>
              </a:rPr>
              <a:t>The default of three stops halfway</a:t>
            </a:r>
          </a:p>
          <a:p>
            <a:pPr marL="292608" indent="-292608">
              <a:lnSpc>
                <a:spcPct val="120000"/>
              </a:lnSpc>
              <a:spcAft>
                <a:spcPts val="1539"/>
              </a:spcAft>
              <a:buClr>
                <a:srgbClr val="00D4AA"/>
              </a:buClr>
              <a:buFont typeface="Inter"/>
              <a:buChar char="•"/>
            </a:pPr>
            <a:r>
              <a:rPr sz="2200" b="0">
                <a:solidFill>
                  <a:srgbClr val="FFFFFF"/>
                </a:solidFill>
                <a:latin typeface="Inter"/>
              </a:rPr>
              <a:t>Five leaves room without endless loops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 capstone composes tested mixins; no tool is rebuilt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Riley and Billing share one </a:t>
            </a:r>
            <a:r>
              <a:rPr sz="1656" b="0">
                <a:solidFill>
                  <a:srgbClr val="00D4AA"/>
                </a:solidFill>
                <a:latin typeface="JetBrains Mono"/>
              </a:rPr>
              <a:t>CallState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 entrypoint wraps one session with redaction, tracing, fallbacks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Hardening: fallbacks, timeouts, error speech</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 harden it: fallbacks, timeouts and what Riley says when something breaks.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CAPSTONE: RILEY, PRODUCTION RECEPTIONIST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Hardening: fallbacks, timeouts, error speech</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Configure per-stage timeouts and retries with </a:t>
            </a:r>
            <a:r>
              <a:rPr sz="1472" b="0">
                <a:solidFill>
                  <a:srgbClr val="00D4AA"/>
                </a:solidFill>
                <a:latin typeface="JetBrains Mono"/>
              </a:rPr>
              <a:t>SessionConnectOptions</a:t>
            </a:r>
            <a:r>
              <a:rPr sz="1600" b="0">
                <a:solidFill>
                  <a:srgbClr val="CBD5E1"/>
                </a:solidFill>
                <a:latin typeface="Inter"/>
              </a:rPr>
              <a:t> and </a:t>
            </a:r>
            <a:r>
              <a:rPr sz="1472" b="0">
                <a:solidFill>
                  <a:srgbClr val="00D4AA"/>
                </a:solidFill>
                <a:latin typeface="JetBrains Mono"/>
              </a:rPr>
              <a:t>APIConnectOptions</a:t>
            </a:r>
            <a:r>
              <a:rPr sz="1600" b="0">
                <a:solidFill>
                  <a:srgbClr val="CBD5E1"/>
                </a:solidFill>
                <a:latin typeface="Inter"/>
              </a:rP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layers of hardening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Timeouts and retries: </a:t>
            </a:r>
            <a:r>
              <a:rPr sz="2024" b="0">
                <a:solidFill>
                  <a:srgbClr val="00D4AA"/>
                </a:solidFill>
                <a:latin typeface="JetBrains Mono"/>
              </a:rPr>
              <a:t>conn_options</a:t>
            </a:r>
          </a:p>
          <a:p>
            <a:pPr marL="292608" indent="-292608">
              <a:lnSpc>
                <a:spcPct val="120000"/>
              </a:lnSpc>
              <a:spcAft>
                <a:spcPts val="1539"/>
              </a:spcAft>
              <a:buClr>
                <a:srgbClr val="00D4AA"/>
              </a:buClr>
              <a:buFont typeface="Inter"/>
              <a:buChar char="•"/>
            </a:pPr>
            <a:r>
              <a:rPr sz="2200" b="0">
                <a:solidFill>
                  <a:srgbClr val="FFFFFF"/>
                </a:solidFill>
                <a:latin typeface="Inter"/>
              </a:rPr>
              <a:t>Fallback providers: </a:t>
            </a:r>
            <a:r>
              <a:rPr sz="2024" b="0">
                <a:solidFill>
                  <a:srgbClr val="00D4AA"/>
                </a:solidFill>
                <a:latin typeface="JetBrains Mono"/>
              </a:rPr>
              <a:t>fallback=</a:t>
            </a:r>
            <a:r>
              <a:rPr sz="2200" b="0">
                <a:solidFill>
                  <a:srgbClr val="FFFFFF"/>
                </a:solidFill>
                <a:latin typeface="Inter"/>
              </a:rPr>
              <a:t> and </a:t>
            </a:r>
            <a:r>
              <a:rPr sz="2024" b="0">
                <a:solidFill>
                  <a:srgbClr val="00D4AA"/>
                </a:solidFill>
                <a:latin typeface="JetBrains Mono"/>
              </a:rPr>
              <a:t>llm.FallbackAdapter</a:t>
            </a:r>
          </a:p>
          <a:p>
            <a:pPr marL="292608" indent="-292608">
              <a:lnSpc>
                <a:spcPct val="120000"/>
              </a:lnSpc>
              <a:spcAft>
                <a:spcPts val="1539"/>
              </a:spcAft>
              <a:buClr>
                <a:srgbClr val="00D4AA"/>
              </a:buClr>
              <a:buFont typeface="Inter"/>
              <a:buChar char="•"/>
            </a:pPr>
            <a:r>
              <a:rPr sz="2200" b="0">
                <a:solidFill>
                  <a:srgbClr val="FFFFFF"/>
                </a:solidFill>
                <a:latin typeface="Inter"/>
              </a:rPr>
              <a:t>Spoken recovery: </a:t>
            </a:r>
            <a:r>
              <a:rPr sz="2024" b="0">
                <a:solidFill>
                  <a:srgbClr val="00D4AA"/>
                </a:solidFill>
                <a:latin typeface="JetBrains Mono"/>
              </a:rPr>
              <a:t>ERROR_SPEECH</a:t>
            </a:r>
            <a:r>
              <a:rPr sz="2200" b="0">
                <a:solidFill>
                  <a:srgbClr val="FFFFFF"/>
                </a:solidFill>
                <a:latin typeface="Inter"/>
              </a:rPr>
              <a:t>, </a:t>
            </a:r>
            <a:r>
              <a:rPr sz="2024" b="0">
                <a:solidFill>
                  <a:srgbClr val="00D4AA"/>
                </a:solidFill>
                <a:latin typeface="JetBrains Mono"/>
              </a:rPr>
              <a:t>recover_after_error</a:t>
            </a:r>
            <a:r>
              <a:rPr sz="2200" b="0">
                <a:solidFill>
                  <a:srgbClr val="FFFFFF"/>
                </a:solidFill>
                <a:latin typeface="Inter"/>
              </a:rPr>
              <a:t> and speakable </a:t>
            </a:r>
            <a:r>
              <a:rPr sz="2024" b="0">
                <a:solidFill>
                  <a:srgbClr val="00D4AA"/>
                </a:solidFill>
                <a:latin typeface="JetBrains Mono"/>
              </a:rPr>
              <a:t>ToolError</a:t>
            </a:r>
            <a:r>
              <a:rPr sz="2200" b="0">
                <a:solidFill>
                  <a:srgbClr val="FFFFFF"/>
                </a:solidFill>
                <a:latin typeface="Inter"/>
              </a:rPr>
              <a: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Library defaults vs Riley's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7" cy="1755648"/>
        </p:xfrm>
        <a:graphic>
          <a:graphicData uri="http://schemas.openxmlformats.org/drawingml/2006/table">
            <a:tbl>
              <a:tblPr firstRow="1" bandRow="1">
                <a:tableStyleId>{5C22544A-7EE6-4342-B048-85BDC9FD1C3A}</a:tableStyleId>
              </a:tblPr>
              <a:tblGrid>
                <a:gridCol w="6421418"/>
                <a:gridCol w="1549997"/>
                <a:gridCol w="1771425"/>
                <a:gridCol w="1549997"/>
              </a:tblGrid>
              <a:tr h="438912">
                <a:tc>
                  <a:txBody>
                    <a:bodyPr wrap="square"/>
                    <a:lstStyle/>
                    <a:p/>
                  </a:txBody>
                  <a:tcPr marL="91440" marR="91440" marT="45720" marB="45720" anchor="ctr">
                    <a:solidFill>
                      <a:srgbClr val="00D4AA"/>
                    </a:solidFill>
                  </a:tcPr>
                </a:tc>
                <a:tc>
                  <a:txBody>
                    <a:bodyPr wrap="square"/>
                    <a:lstStyle/>
                    <a:p>
                      <a:r>
                        <a:rPr sz="1400" b="1">
                          <a:solidFill>
                            <a:srgbClr val="0A1628"/>
                          </a:solidFill>
                          <a:latin typeface="Inter"/>
                        </a:rPr>
                        <a:t>Retries</a:t>
                      </a:r>
                    </a:p>
                  </a:txBody>
                  <a:tcPr marL="91440" marR="91440" marT="45720" marB="45720" anchor="ctr">
                    <a:solidFill>
                      <a:srgbClr val="00D4AA"/>
                    </a:solidFill>
                  </a:tcPr>
                </a:tc>
                <a:tc>
                  <a:txBody>
                    <a:bodyPr wrap="square"/>
                    <a:lstStyle/>
                    <a:p>
                      <a:r>
                        <a:rPr sz="1400" b="1">
                          <a:solidFill>
                            <a:srgbClr val="0A1628"/>
                          </a:solidFill>
                          <a:latin typeface="Inter"/>
                        </a:rPr>
                        <a:t>Interval</a:t>
                      </a:r>
                    </a:p>
                  </a:txBody>
                  <a:tcPr marL="91440" marR="91440" marT="45720" marB="45720" anchor="ctr">
                    <a:solidFill>
                      <a:srgbClr val="00D4AA"/>
                    </a:solidFill>
                  </a:tcPr>
                </a:tc>
                <a:tc>
                  <a:txBody>
                    <a:bodyPr wrap="square"/>
                    <a:lstStyle/>
                    <a:p>
                      <a:r>
                        <a:rPr sz="1400" b="1">
                          <a:solidFill>
                            <a:srgbClr val="0A1628"/>
                          </a:solidFill>
                          <a:latin typeface="Inter"/>
                        </a:rPr>
                        <a:t>Timeout</a:t>
                      </a:r>
                    </a:p>
                  </a:txBody>
                  <a:tcPr marL="91440" marR="91440" marT="45720" marB="45720" anchor="ctr">
                    <a:solidFill>
                      <a:srgbClr val="00D4AA"/>
                    </a:solidFill>
                  </a:tcPr>
                </a:tc>
              </a:tr>
              <a:tr h="438912">
                <a:tc>
                  <a:txBody>
                    <a:bodyPr wrap="square"/>
                    <a:lstStyle/>
                    <a:p>
                      <a:r>
                        <a:rPr sz="1288" b="0">
                          <a:solidFill>
                            <a:srgbClr val="00D4AA"/>
                          </a:solidFill>
                          <a:latin typeface="JetBrains Mono"/>
                        </a:rPr>
                        <a:t>APIConnectOptions()</a:t>
                      </a:r>
                      <a:r>
                        <a:rPr sz="1400" b="1">
                          <a:solidFill>
                            <a:srgbClr val="FFFFFF"/>
                          </a:solidFill>
                          <a:latin typeface="Inter"/>
                        </a:rPr>
                        <a:t> default</a:t>
                      </a:r>
                    </a:p>
                  </a:txBody>
                  <a:tcPr marL="91440" marR="91440" marT="45720" marB="45720" anchor="ctr">
                    <a:solidFill>
                      <a:srgbClr val="1A2742"/>
                    </a:solidFill>
                  </a:tcPr>
                </a:tc>
                <a:tc>
                  <a:txBody>
                    <a:bodyPr wrap="square"/>
                    <a:lstStyle/>
                    <a:p>
                      <a:r>
                        <a:rPr sz="1400" b="0">
                          <a:solidFill>
                            <a:srgbClr val="FFFFFF"/>
                          </a:solidFill>
                          <a:latin typeface="Inter"/>
                        </a:rPr>
                        <a:t>3</a:t>
                      </a:r>
                    </a:p>
                  </a:txBody>
                  <a:tcPr marL="91440" marR="91440" marT="45720" marB="45720" anchor="ctr">
                    <a:solidFill>
                      <a:srgbClr val="1A2742"/>
                    </a:solidFill>
                  </a:tcPr>
                </a:tc>
                <a:tc>
                  <a:txBody>
                    <a:bodyPr wrap="square"/>
                    <a:lstStyle/>
                    <a:p>
                      <a:r>
                        <a:rPr sz="1400" b="0">
                          <a:solidFill>
                            <a:srgbClr val="FFFFFF"/>
                          </a:solidFill>
                          <a:latin typeface="Inter"/>
                        </a:rPr>
                        <a:t>2.0 s</a:t>
                      </a:r>
                    </a:p>
                  </a:txBody>
                  <a:tcPr marL="91440" marR="91440" marT="45720" marB="45720" anchor="ctr">
                    <a:solidFill>
                      <a:srgbClr val="1A2742"/>
                    </a:solidFill>
                  </a:tcPr>
                </a:tc>
                <a:tc>
                  <a:txBody>
                    <a:bodyPr wrap="square"/>
                    <a:lstStyle/>
                    <a:p>
                      <a:r>
                        <a:rPr sz="1400" b="0">
                          <a:solidFill>
                            <a:srgbClr val="FFFFFF"/>
                          </a:solidFill>
                          <a:latin typeface="Inter"/>
                        </a:rPr>
                        <a:t>10 s</a:t>
                      </a:r>
                    </a:p>
                  </a:txBody>
                  <a:tcPr marL="91440" marR="91440" marT="45720" marB="45720" anchor="ctr">
                    <a:solidFill>
                      <a:srgbClr val="1A2742"/>
                    </a:solidFill>
                  </a:tcPr>
                </a:tc>
              </a:tr>
              <a:tr h="438912">
                <a:tc>
                  <a:txBody>
                    <a:bodyPr wrap="square"/>
                    <a:lstStyle/>
                    <a:p>
                      <a:r>
                        <a:rPr sz="1400" b="1">
                          <a:solidFill>
                            <a:srgbClr val="FFFFFF"/>
                          </a:solidFill>
                          <a:latin typeface="Inter"/>
                        </a:rPr>
                        <a:t>Riley STT and TTS</a:t>
                      </a:r>
                    </a:p>
                  </a:txBody>
                  <a:tcPr marL="91440" marR="91440" marT="45720" marB="45720" anchor="ctr">
                    <a:solidFill>
                      <a:srgbClr val="0F1E35"/>
                    </a:solidFill>
                  </a:tcPr>
                </a:tc>
                <a:tc>
                  <a:txBody>
                    <a:bodyPr wrap="square"/>
                    <a:lstStyle/>
                    <a:p>
                      <a:r>
                        <a:rPr sz="1400" b="0">
                          <a:solidFill>
                            <a:srgbClr val="FFFFFF"/>
                          </a:solidFill>
                          <a:latin typeface="Inter"/>
                        </a:rPr>
                        <a:t>2</a:t>
                      </a:r>
                    </a:p>
                  </a:txBody>
                  <a:tcPr marL="91440" marR="91440" marT="45720" marB="45720" anchor="ctr">
                    <a:solidFill>
                      <a:srgbClr val="0F1E35"/>
                    </a:solidFill>
                  </a:tcPr>
                </a:tc>
                <a:tc>
                  <a:txBody>
                    <a:bodyPr wrap="square"/>
                    <a:lstStyle/>
                    <a:p>
                      <a:r>
                        <a:rPr sz="1400" b="0">
                          <a:solidFill>
                            <a:srgbClr val="FFFFFF"/>
                          </a:solidFill>
                          <a:latin typeface="Inter"/>
                        </a:rPr>
                        <a:t>1.0 s</a:t>
                      </a:r>
                    </a:p>
                  </a:txBody>
                  <a:tcPr marL="91440" marR="91440" marT="45720" marB="45720" anchor="ctr">
                    <a:solidFill>
                      <a:srgbClr val="0F1E35"/>
                    </a:solidFill>
                  </a:tcPr>
                </a:tc>
                <a:tc>
                  <a:txBody>
                    <a:bodyPr wrap="square"/>
                    <a:lstStyle/>
                    <a:p>
                      <a:r>
                        <a:rPr sz="1400" b="0">
                          <a:solidFill>
                            <a:srgbClr val="FFFFFF"/>
                          </a:solidFill>
                          <a:latin typeface="Inter"/>
                        </a:rPr>
                        <a:t>8 s</a:t>
                      </a:r>
                    </a:p>
                  </a:txBody>
                  <a:tcPr marL="91440" marR="91440" marT="45720" marB="45720" anchor="ctr">
                    <a:solidFill>
                      <a:srgbClr val="0F1E35"/>
                    </a:solidFill>
                  </a:tcPr>
                </a:tc>
              </a:tr>
              <a:tr h="438912">
                <a:tc>
                  <a:txBody>
                    <a:bodyPr wrap="square"/>
                    <a:lstStyle/>
                    <a:p>
                      <a:r>
                        <a:rPr sz="1400" b="1">
                          <a:solidFill>
                            <a:srgbClr val="FFFFFF"/>
                          </a:solidFill>
                          <a:latin typeface="Inter"/>
                        </a:rPr>
                        <a:t>Riley LLM</a:t>
                      </a:r>
                    </a:p>
                  </a:txBody>
                  <a:tcPr marL="91440" marR="91440" marT="45720" marB="45720" anchor="ctr">
                    <a:solidFill>
                      <a:srgbClr val="1A2742"/>
                    </a:solidFill>
                  </a:tcPr>
                </a:tc>
                <a:tc>
                  <a:txBody>
                    <a:bodyPr wrap="square"/>
                    <a:lstStyle/>
                    <a:p>
                      <a:r>
                        <a:rPr sz="1400" b="0">
                          <a:solidFill>
                            <a:srgbClr val="FFFFFF"/>
                          </a:solidFill>
                          <a:latin typeface="Inter"/>
                        </a:rPr>
                        <a:t>1</a:t>
                      </a:r>
                    </a:p>
                  </a:txBody>
                  <a:tcPr marL="91440" marR="91440" marT="45720" marB="45720" anchor="ctr">
                    <a:solidFill>
                      <a:srgbClr val="1A2742"/>
                    </a:solidFill>
                  </a:tcPr>
                </a:tc>
                <a:tc>
                  <a:txBody>
                    <a:bodyPr wrap="square"/>
                    <a:lstStyle/>
                    <a:p>
                      <a:r>
                        <a:rPr sz="1400" b="0">
                          <a:solidFill>
                            <a:srgbClr val="FFFFFF"/>
                          </a:solidFill>
                          <a:latin typeface="Inter"/>
                        </a:rPr>
                        <a:t>0.5 s</a:t>
                      </a:r>
                    </a:p>
                  </a:txBody>
                  <a:tcPr marL="91440" marR="91440" marT="45720" marB="45720" anchor="ctr">
                    <a:solidFill>
                      <a:srgbClr val="1A2742"/>
                    </a:solidFill>
                  </a:tcPr>
                </a:tc>
                <a:tc>
                  <a:txBody>
                    <a:bodyPr wrap="square"/>
                    <a:lstStyle/>
                    <a:p>
                      <a:r>
                        <a:rPr sz="1400" b="0">
                          <a:solidFill>
                            <a:srgbClr val="FFFFFF"/>
                          </a:solidFill>
                          <a:latin typeface="Inter"/>
                        </a:rPr>
                        <a:t>10 s</a:t>
                      </a:r>
                    </a:p>
                  </a:txBody>
                  <a:tcPr marL="91440" marR="91440" marT="45720" marB="45720" anchor="ctr">
                    <a:solidFill>
                      <a:srgbClr val="1A2742"/>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Speakable failures inside tools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Scheduler exceptions carry caller-ready messages ("We're closed on Sundays. Would another day work?")</a:t>
            </a:r>
          </a:p>
          <a:p>
            <a:pPr marL="292608" indent="-292608">
              <a:lnSpc>
                <a:spcPct val="120000"/>
              </a:lnSpc>
              <a:spcAft>
                <a:spcPts val="1260"/>
              </a:spcAft>
              <a:buClr>
                <a:srgbClr val="00D4AA"/>
              </a:buClr>
              <a:buFont typeface="Inter"/>
              <a:buChar char="•"/>
            </a:pPr>
            <a:r>
              <a:rPr sz="1656" b="0">
                <a:solidFill>
                  <a:srgbClr val="00D4AA"/>
                </a:solidFill>
                <a:latin typeface="JetBrains Mono"/>
              </a:rPr>
              <a:t>ToolError</a:t>
            </a:r>
            <a:r>
              <a:rPr sz="1800" b="0">
                <a:solidFill>
                  <a:srgbClr val="FFFFFF"/>
                </a:solidFill>
                <a:latin typeface="Inter"/>
              </a:rPr>
              <a:t> sends that message to the LLM, not a stack trace</a:t>
            </a:r>
          </a:p>
          <a:p>
            <a:pPr marL="292608" indent="-292608">
              <a:lnSpc>
                <a:spcPct val="120000"/>
              </a:lnSpc>
              <a:spcAft>
                <a:spcPts val="1260"/>
              </a:spcAft>
              <a:buClr>
                <a:srgbClr val="00D4AA"/>
              </a:buClr>
              <a:buFont typeface="Inter"/>
              <a:buChar char="•"/>
            </a:pPr>
            <a:r>
              <a:rPr sz="1656" b="0">
                <a:solidFill>
                  <a:srgbClr val="00D4AA"/>
                </a:solidFill>
                <a:latin typeface="JetBrains Mono"/>
              </a:rPr>
              <a:t>transfer_to_human</a:t>
            </a:r>
            <a:r>
              <a:rPr sz="1800" b="0">
                <a:solidFill>
                  <a:srgbClr val="FFFFFF"/>
                </a:solidFill>
                <a:latin typeface="Inter"/>
              </a:rPr>
              <a:t> without a SIP caller or number: "offer to take a message"</a:t>
            </a:r>
          </a:p>
          <a:p>
            <a:pPr marL="292608" indent="-292608">
              <a:lnSpc>
                <a:spcPct val="120000"/>
              </a:lnSpc>
              <a:spcAft>
                <a:spcPts val="1260"/>
              </a:spcAft>
              <a:buClr>
                <a:srgbClr val="00D4AA"/>
              </a:buClr>
              <a:buFont typeface="Inter"/>
              <a:buChar char="•"/>
            </a:pPr>
            <a:r>
              <a:rPr sz="1800" b="0">
                <a:solidFill>
                  <a:srgbClr val="FFFFFF"/>
                </a:solidFill>
                <a:latin typeface="Inter"/>
              </a:rPr>
              <a:t>Filler speech (</a:t>
            </a:r>
            <a:r>
              <a:rPr sz="1656" b="0">
                <a:solidFill>
                  <a:srgbClr val="00D4AA"/>
                </a:solidFill>
                <a:latin typeface="JetBrains Mono"/>
              </a:rPr>
              <a:t>with_filler</a:t>
            </a:r>
            <a:r>
              <a:rPr sz="1800" b="0">
                <a:solidFill>
                  <a:srgbClr val="FFFFFF"/>
                </a:solidFill>
                <a:latin typeface="Inter"/>
              </a:rPr>
              <a:t>) covers slow tools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Per-stage timeouts chosen against the latency budget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fallback from a different provider for every model</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Error line, then transfer or goodbye: never silence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Full test run: unit → behavior → evals → simulated calls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full test run: unit, behavior, evals and simulated callers, and we'll fix a failing acceptance test…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CAPSTONE: RILEY, PRODUCTION RECEPTIONIST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Full test run: unit → behavior → evals → simulated calls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Run every layer of the testing pyramid with the Makefile and read each report.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run order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make test</a:t>
            </a:r>
            <a:r>
              <a:rPr sz="1800" b="0">
                <a:solidFill>
                  <a:srgbClr val="FFFFFF"/>
                </a:solidFill>
                <a:latin typeface="Inter"/>
              </a:rPr>
              <a:t>: unit tests, offline, seconds</a:t>
            </a:r>
          </a:p>
          <a:p>
            <a:pPr marL="292608" indent="-292608">
              <a:lnSpc>
                <a:spcPct val="120000"/>
              </a:lnSpc>
              <a:spcAft>
                <a:spcPts val="1260"/>
              </a:spcAft>
              <a:buClr>
                <a:srgbClr val="00D4AA"/>
              </a:buClr>
              <a:buFont typeface="Inter"/>
              <a:buChar char="•"/>
            </a:pPr>
            <a:r>
              <a:rPr sz="1800" b="0">
                <a:solidFill>
                  <a:srgbClr val="FFFFFF"/>
                </a:solidFill>
                <a:latin typeface="Inter"/>
              </a:rPr>
              <a:t>Offline agent tests with the mock LLM</a:t>
            </a:r>
          </a:p>
          <a:p>
            <a:pPr marL="292608" indent="-292608">
              <a:lnSpc>
                <a:spcPct val="120000"/>
              </a:lnSpc>
              <a:spcAft>
                <a:spcPts val="1260"/>
              </a:spcAft>
              <a:buClr>
                <a:srgbClr val="00D4AA"/>
              </a:buClr>
              <a:buFont typeface="Inter"/>
              <a:buChar char="•"/>
            </a:pPr>
            <a:r>
              <a:rPr sz="1656" b="0">
                <a:solidFill>
                  <a:srgbClr val="00D4AA"/>
                </a:solidFill>
                <a:latin typeface="JetBrains Mono"/>
              </a:rPr>
              <a:t>make test-agent</a:t>
            </a:r>
            <a:r>
              <a:rPr sz="1800" b="0">
                <a:solidFill>
                  <a:srgbClr val="FFFFFF"/>
                </a:solidFill>
                <a:latin typeface="Inter"/>
              </a:rPr>
              <a:t>: live behavior tests (needs </a:t>
            </a:r>
            <a:r>
              <a:rPr sz="1656" b="0">
                <a:solidFill>
                  <a:srgbClr val="00D4AA"/>
                </a:solidFill>
                <a:latin typeface="JetBrains Mono"/>
              </a:rPr>
              <a:t>OPENAI_API_KEY</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656" b="0">
                <a:solidFill>
                  <a:srgbClr val="00D4AA"/>
                </a:solidFill>
                <a:latin typeface="JetBrains Mono"/>
              </a:rPr>
              <a:t>make eval</a:t>
            </a:r>
            <a:r>
              <a:rPr sz="1800" b="0">
                <a:solidFill>
                  <a:srgbClr val="FFFFFF"/>
                </a:solidFill>
                <a:latin typeface="Inter"/>
              </a:rPr>
              <a:t>: DeepEval judges, WER, latency budget</a:t>
            </a:r>
          </a:p>
          <a:p>
            <a:pPr marL="292608" indent="-292608">
              <a:lnSpc>
                <a:spcPct val="120000"/>
              </a:lnSpc>
              <a:spcAft>
                <a:spcPts val="1260"/>
              </a:spcAft>
              <a:buClr>
                <a:srgbClr val="00D4AA"/>
              </a:buClr>
              <a:buFont typeface="Inter"/>
              <a:buChar char="•"/>
            </a:pPr>
            <a:r>
              <a:rPr sz="1656" b="0">
                <a:solidFill>
                  <a:srgbClr val="00D4AA"/>
                </a:solidFill>
                <a:latin typeface="JetBrains Mono"/>
              </a:rPr>
              <a:t>make simulate</a:t>
            </a:r>
            <a:r>
              <a:rPr sz="1800" b="0">
                <a:solidFill>
                  <a:srgbClr val="FFFFFF"/>
                </a:solidFill>
                <a:latin typeface="Inter"/>
              </a:rPr>
              <a:t>: simulated callers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run order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Capstone acceptance tests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What's not covered yet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The existing suites test the section agents (</a:t>
            </a:r>
            <a:r>
              <a:rPr sz="2024" b="0">
                <a:solidFill>
                  <a:srgbClr val="00D4AA"/>
                </a:solidFill>
                <a:latin typeface="JetBrains Mono"/>
              </a:rPr>
              <a:t>s05</a:t>
            </a:r>
            <a:r>
              <a:rPr sz="2200" b="0">
                <a:solidFill>
                  <a:srgbClr val="FFFFFF"/>
                </a:solidFill>
                <a:latin typeface="Inter"/>
              </a:rPr>
              <a:t>, </a:t>
            </a:r>
            <a:r>
              <a:rPr sz="2024" b="0">
                <a:solidFill>
                  <a:srgbClr val="00D4AA"/>
                </a:solidFill>
                <a:latin typeface="JetBrains Mono"/>
              </a:rPr>
              <a:t>s07</a:t>
            </a:r>
            <a:r>
              <a:rPr sz="2200" b="0">
                <a:solidFill>
                  <a:srgbClr val="FFFFFF"/>
                </a:solidFill>
                <a:latin typeface="Inter"/>
              </a:rPr>
              <a:t>, </a:t>
            </a:r>
            <a:r>
              <a:rPr sz="2024" b="0">
                <a:solidFill>
                  <a:srgbClr val="00D4AA"/>
                </a:solidFill>
                <a:latin typeface="JetBrains Mono"/>
              </a:rPr>
              <a:t>s11</a:t>
            </a:r>
            <a:r>
              <a:rPr sz="2200" b="0">
                <a:solidFill>
                  <a:srgbClr val="FFFFFF"/>
                </a:solidFill>
                <a:latin typeface="Inter"/>
              </a:rPr>
              <a:t>)</a:t>
            </a:r>
          </a:p>
          <a:p>
            <a:pPr marL="292608" indent="-292608">
              <a:lnSpc>
                <a:spcPct val="120000"/>
              </a:lnSpc>
              <a:spcAft>
                <a:spcPts val="1539"/>
              </a:spcAft>
              <a:buClr>
                <a:srgbClr val="00D4AA"/>
              </a:buClr>
              <a:buFont typeface="Inter"/>
              <a:buChar char="•"/>
            </a:pPr>
            <a:r>
              <a:rPr sz="2200" b="0">
                <a:solidFill>
                  <a:srgbClr val="FFFFFF"/>
                </a:solidFill>
                <a:latin typeface="Inter"/>
              </a:rPr>
              <a:t>The capstone adds its own behavior: billing handoff, capstone rules</a:t>
            </a:r>
          </a:p>
          <a:p>
            <a:pPr marL="292608" indent="-292608">
              <a:lnSpc>
                <a:spcPct val="120000"/>
              </a:lnSpc>
              <a:spcAft>
                <a:spcPts val="1539"/>
              </a:spcAft>
              <a:buClr>
                <a:srgbClr val="00D4AA"/>
              </a:buClr>
              <a:buFont typeface="Inter"/>
              <a:buChar char="•"/>
            </a:pPr>
            <a:r>
              <a:rPr sz="2200" b="0">
                <a:solidFill>
                  <a:srgbClr val="FFFFFF"/>
                </a:solidFill>
                <a:latin typeface="Inter"/>
              </a:rPr>
              <a:t>So we add </a:t>
            </a:r>
            <a:r>
              <a:rPr sz="2024" b="0">
                <a:solidFill>
                  <a:srgbClr val="00D4AA"/>
                </a:solidFill>
                <a:latin typeface="JetBrains Mono"/>
              </a:rPr>
              <a:t>tests/agent/test_capstone.py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Run the pyramid cheapest first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Capstone behavior gets its own acceptance tests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Fix the agent, not the test; re-run live layers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Deploy, call, observe (Part A and Part B)</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 deploy the capstone, place real calls and watch the traces and the cost per minute.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CAPSTONE: RILEY, PRODUCTION RECEPTIONIST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Deploy, call, observe (Part A and Part B)</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Build and deploy the capstone image to LiveKit Cloud and reach it by phone and web.</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Targets, written before measuring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194560"/>
        </p:xfrm>
        <a:graphic>
          <a:graphicData uri="http://schemas.openxmlformats.org/drawingml/2006/table">
            <a:tbl>
              <a:tblPr firstRow="1" bandRow="1">
                <a:tableStyleId>{5C22544A-7EE6-4342-B048-85BDC9FD1C3A}</a:tableStyleId>
              </a:tblPr>
              <a:tblGrid>
                <a:gridCol w="4871421"/>
                <a:gridCol w="2878567"/>
                <a:gridCol w="3542851"/>
              </a:tblGrid>
              <a:tr h="438912">
                <a:tc>
                  <a:txBody>
                    <a:bodyPr wrap="square"/>
                    <a:lstStyle/>
                    <a:p>
                      <a:r>
                        <a:rPr sz="1400" b="1">
                          <a:solidFill>
                            <a:srgbClr val="0A1628"/>
                          </a:solidFill>
                          <a:latin typeface="Inter"/>
                        </a:rPr>
                        <a:t>Metric</a:t>
                      </a:r>
                    </a:p>
                  </a:txBody>
                  <a:tcPr marL="91440" marR="91440" marT="45720" marB="45720" anchor="ctr">
                    <a:solidFill>
                      <a:srgbClr val="00D4AA"/>
                    </a:solidFill>
                  </a:tcPr>
                </a:tc>
                <a:tc>
                  <a:txBody>
                    <a:bodyPr wrap="square"/>
                    <a:lstStyle/>
                    <a:p>
                      <a:r>
                        <a:rPr sz="1400" b="1">
                          <a:solidFill>
                            <a:srgbClr val="0A1628"/>
                          </a:solidFill>
                          <a:latin typeface="Inter"/>
                        </a:rPr>
                        <a:t>Target</a:t>
                      </a:r>
                    </a:p>
                  </a:txBody>
                  <a:tcPr marL="91440" marR="91440" marT="45720" marB="45720" anchor="ctr">
                    <a:solidFill>
                      <a:srgbClr val="00D4AA"/>
                    </a:solidFill>
                  </a:tcPr>
                </a:tc>
                <a:tc>
                  <a:txBody>
                    <a:bodyPr wrap="square"/>
                    <a:lstStyle/>
                    <a:p>
                      <a:r>
                        <a:rPr sz="1400" b="1">
                          <a:solidFill>
                            <a:srgbClr val="0A1628"/>
                          </a:solidFill>
                          <a:latin typeface="Inter"/>
                        </a:rPr>
                        <a:t>Measured</a:t>
                      </a:r>
                    </a:p>
                  </a:txBody>
                  <a:tcPr marL="91440" marR="91440" marT="45720" marB="45720" anchor="ctr">
                    <a:solidFill>
                      <a:srgbClr val="00D4AA"/>
                    </a:solidFill>
                  </a:tcPr>
                </a:tc>
              </a:tr>
              <a:tr h="438912">
                <a:tc>
                  <a:txBody>
                    <a:bodyPr wrap="square"/>
                    <a:lstStyle/>
                    <a:p>
                      <a:r>
                        <a:rPr sz="1400" b="1">
                          <a:solidFill>
                            <a:srgbClr val="FFFFFF"/>
                          </a:solidFill>
                          <a:latin typeface="Inter"/>
                        </a:rPr>
                        <a:t>p95 voice-to-voice</a:t>
                      </a:r>
                    </a:p>
                  </a:txBody>
                  <a:tcPr marL="91440" marR="91440" marT="45720" marB="45720" anchor="ctr">
                    <a:solidFill>
                      <a:srgbClr val="1A2742"/>
                    </a:solidFill>
                  </a:tcPr>
                </a:tc>
                <a:tc>
                  <a:txBody>
                    <a:bodyPr wrap="square"/>
                    <a:lstStyle/>
                    <a:p>
                      <a:r>
                        <a:rPr sz="1400" b="0">
                          <a:solidFill>
                            <a:srgbClr val="FFFFFF"/>
                          </a:solidFill>
                          <a:latin typeface="Inter"/>
                        </a:rPr>
                        <a:t>≤ 1,600 ms</a:t>
                      </a:r>
                    </a:p>
                  </a:txBody>
                  <a:tcPr marL="91440" marR="91440" marT="45720" marB="45720" anchor="ctr">
                    <a:solidFill>
                      <a:srgbClr val="1A2742"/>
                    </a:solidFill>
                  </a:tcPr>
                </a:tc>
                <a:tc>
                  <a:txBody>
                    <a:bodyPr wrap="square"/>
                    <a:lstStyle/>
                    <a:p>
                      <a:r>
                        <a:rPr sz="1400" b="0">
                          <a:solidFill>
                            <a:srgbClr val="FFFFFF"/>
                          </a:solidFill>
                          <a:latin typeface="Inter"/>
                        </a:rPr>
                        <a:t>[from recording]</a:t>
                      </a:r>
                    </a:p>
                  </a:txBody>
                  <a:tcPr marL="91440" marR="91440" marT="45720" marB="45720" anchor="ctr">
                    <a:solidFill>
                      <a:srgbClr val="1A2742"/>
                    </a:solidFill>
                  </a:tcPr>
                </a:tc>
              </a:tr>
              <a:tr h="438912">
                <a:tc>
                  <a:txBody>
                    <a:bodyPr wrap="square"/>
                    <a:lstStyle/>
                    <a:p>
                      <a:r>
                        <a:rPr sz="1400" b="1">
                          <a:solidFill>
                            <a:srgbClr val="FFFFFF"/>
                          </a:solidFill>
                          <a:latin typeface="Inter"/>
                        </a:rPr>
                        <a:t>p95 TTS TTFB</a:t>
                      </a:r>
                    </a:p>
                  </a:txBody>
                  <a:tcPr marL="91440" marR="91440" marT="45720" marB="45720" anchor="ctr">
                    <a:solidFill>
                      <a:srgbClr val="0F1E35"/>
                    </a:solidFill>
                  </a:tcPr>
                </a:tc>
                <a:tc>
                  <a:txBody>
                    <a:bodyPr wrap="square"/>
                    <a:lstStyle/>
                    <a:p>
                      <a:r>
                        <a:rPr sz="1400" b="0">
                          <a:solidFill>
                            <a:srgbClr val="FFFFFF"/>
                          </a:solidFill>
                          <a:latin typeface="Inter"/>
                        </a:rPr>
                        <a:t>≤ 300 ms</a:t>
                      </a:r>
                    </a:p>
                  </a:txBody>
                  <a:tcPr marL="91440" marR="91440" marT="45720" marB="45720" anchor="ctr">
                    <a:solidFill>
                      <a:srgbClr val="0F1E35"/>
                    </a:solidFill>
                  </a:tcPr>
                </a:tc>
                <a:tc>
                  <a:txBody>
                    <a:bodyPr wrap="square"/>
                    <a:lstStyle/>
                    <a:p>
                      <a:r>
                        <a:rPr sz="1400" b="0">
                          <a:solidFill>
                            <a:srgbClr val="FFFFFF"/>
                          </a:solidFill>
                          <a:latin typeface="Inter"/>
                        </a:rPr>
                        <a:t>[from recording]</a:t>
                      </a:r>
                    </a:p>
                  </a:txBody>
                  <a:tcPr marL="91440" marR="91440" marT="45720" marB="45720" anchor="ctr">
                    <a:solidFill>
                      <a:srgbClr val="0F1E35"/>
                    </a:solidFill>
                  </a:tcPr>
                </a:tc>
              </a:tr>
              <a:tr h="438912">
                <a:tc>
                  <a:txBody>
                    <a:bodyPr wrap="square"/>
                    <a:lstStyle/>
                    <a:p>
                      <a:r>
                        <a:rPr sz="1400" b="1">
                          <a:solidFill>
                            <a:srgbClr val="FFFFFF"/>
                          </a:solidFill>
                          <a:latin typeface="Inter"/>
                        </a:rPr>
                        <a:t>Cost per minute, web</a:t>
                      </a:r>
                    </a:p>
                  </a:txBody>
                  <a:tcPr marL="91440" marR="91440" marT="45720" marB="45720" anchor="ctr">
                    <a:solidFill>
                      <a:srgbClr val="1A2742"/>
                    </a:solidFill>
                  </a:tcPr>
                </a:tc>
                <a:tc>
                  <a:txBody>
                    <a:bodyPr wrap="square"/>
                    <a:lstStyle/>
                    <a:p>
                      <a:r>
                        <a:rPr sz="1400" b="0">
                          <a:solidFill>
                            <a:srgbClr val="FFFFFF"/>
                          </a:solidFill>
                          <a:latin typeface="Inter"/>
                        </a:rPr>
                        <a:t>[your target]</a:t>
                      </a:r>
                    </a:p>
                  </a:txBody>
                  <a:tcPr marL="91440" marR="91440" marT="45720" marB="45720" anchor="ctr">
                    <a:solidFill>
                      <a:srgbClr val="1A2742"/>
                    </a:solidFill>
                  </a:tcPr>
                </a:tc>
                <a:tc>
                  <a:txBody>
                    <a:bodyPr wrap="square"/>
                    <a:lstStyle/>
                    <a:p>
                      <a:r>
                        <a:rPr sz="1400" b="0">
                          <a:solidFill>
                            <a:srgbClr val="FFFFFF"/>
                          </a:solidFill>
                          <a:latin typeface="Inter"/>
                        </a:rPr>
                        <a:t>[from recording]</a:t>
                      </a:r>
                    </a:p>
                  </a:txBody>
                  <a:tcPr marL="91440" marR="91440" marT="45720" marB="45720" anchor="ctr">
                    <a:solidFill>
                      <a:srgbClr val="1A2742"/>
                    </a:solidFill>
                  </a:tcPr>
                </a:tc>
              </a:tr>
              <a:tr h="438912">
                <a:tc>
                  <a:txBody>
                    <a:bodyPr wrap="square"/>
                    <a:lstStyle/>
                    <a:p>
                      <a:r>
                        <a:rPr sz="1400" b="1">
                          <a:solidFill>
                            <a:srgbClr val="FFFFFF"/>
                          </a:solidFill>
                          <a:latin typeface="Inter"/>
                        </a:rPr>
                        <a:t>Cost per minute, phone</a:t>
                      </a:r>
                    </a:p>
                  </a:txBody>
                  <a:tcPr marL="91440" marR="91440" marT="45720" marB="45720" anchor="ctr">
                    <a:solidFill>
                      <a:srgbClr val="0F1E35"/>
                    </a:solidFill>
                  </a:tcPr>
                </a:tc>
                <a:tc>
                  <a:txBody>
                    <a:bodyPr wrap="square"/>
                    <a:lstStyle/>
                    <a:p>
                      <a:r>
                        <a:rPr sz="1400" b="0">
                          <a:solidFill>
                            <a:srgbClr val="FFFFFF"/>
                          </a:solidFill>
                          <a:latin typeface="Inter"/>
                        </a:rPr>
                        <a:t>[your target]</a:t>
                      </a:r>
                    </a:p>
                  </a:txBody>
                  <a:tcPr marL="91440" marR="91440" marT="45720" marB="45720" anchor="ctr">
                    <a:solidFill>
                      <a:srgbClr val="0F1E35"/>
                    </a:solidFill>
                  </a:tcPr>
                </a:tc>
                <a:tc>
                  <a:txBody>
                    <a:bodyPr wrap="square"/>
                    <a:lstStyle/>
                    <a:p>
                      <a:r>
                        <a:rPr sz="1400" b="0">
                          <a:solidFill>
                            <a:srgbClr val="FFFFFF"/>
                          </a:solidFill>
                          <a:latin typeface="Inter"/>
                        </a:rPr>
                        <a:t>[from recording]</a:t>
                      </a:r>
                    </a:p>
                  </a:txBody>
                  <a:tcPr marL="91440" marR="91440" marT="45720" marB="45720" anchor="ctr">
                    <a:solidFill>
                      <a:srgbClr val="0F1E35"/>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Smoke-test the image, then deploy it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Prove it on phone and web</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Logs, traces and ten measured calls become evidence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Capstone submission and portfolio write-up</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 package all of this into a submission and a portfolio write-up that people will actually read.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CAPSTONE: RILEY, PRODUCTION RECEPTIONIST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Capstone submission and portfolio write-up</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Package the capstone so a reviewer understands it in two minutes: README, </a:t>
            </a:r>
            <a:r>
              <a:rPr sz="1472" b="0">
                <a:solidFill>
                  <a:srgbClr val="00D4AA"/>
                </a:solidFill>
                <a:latin typeface="JetBrains Mono"/>
              </a:rPr>
              <a:t>ACCEPTANCE.md</a:t>
            </a:r>
            <a:r>
              <a:rPr sz="1600" b="0">
                <a:solidFill>
                  <a:srgbClr val="CBD5E1"/>
                </a:solidFill>
                <a:latin typeface="Inter"/>
              </a:rPr>
              <a:t>, diagram, </a:t>
            </a:r>
            <a:r>
              <a:rPr sz="1472" b="0">
                <a:solidFill>
                  <a:srgbClr val="00D4AA"/>
                </a:solidFill>
                <a:latin typeface="JetBrains Mono"/>
              </a:rPr>
              <a:t>DIFF_NOTES.md</a:t>
            </a:r>
            <a:r>
              <a:rPr sz="1600" b="0">
                <a:solidFill>
                  <a:srgbClr val="CBD5E1"/>
                </a:solidFill>
                <a:latin typeface="Inter"/>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README, top to bottom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One-line summary, demo link, "call it" line</a:t>
            </a:r>
          </a:p>
          <a:p>
            <a:pPr marL="292608" indent="-292608">
              <a:lnSpc>
                <a:spcPct val="120000"/>
              </a:lnSpc>
              <a:spcAft>
                <a:spcPts val="1260"/>
              </a:spcAft>
              <a:buClr>
                <a:srgbClr val="00D4AA"/>
              </a:buClr>
              <a:buFont typeface="Inter"/>
              <a:buChar char="•"/>
            </a:pPr>
            <a:r>
              <a:rPr sz="1800" b="0">
                <a:solidFill>
                  <a:srgbClr val="FFFFFF"/>
                </a:solidFill>
                <a:latin typeface="Inter"/>
              </a:rPr>
              <a:t>What it does (for a non-technical reader)</a:t>
            </a:r>
          </a:p>
          <a:p>
            <a:pPr marL="292608" indent="-292608">
              <a:lnSpc>
                <a:spcPct val="120000"/>
              </a:lnSpc>
              <a:spcAft>
                <a:spcPts val="1260"/>
              </a:spcAft>
              <a:buClr>
                <a:srgbClr val="00D4AA"/>
              </a:buClr>
              <a:buFont typeface="Inter"/>
              <a:buChar char="•"/>
            </a:pPr>
            <a:r>
              <a:rPr sz="1800" b="0">
                <a:solidFill>
                  <a:srgbClr val="FFFFFF"/>
                </a:solidFill>
                <a:latin typeface="Inter"/>
              </a:rPr>
              <a:t>Architecture diagram + why cascaded or realtime, with numbers</a:t>
            </a:r>
          </a:p>
          <a:p>
            <a:pPr marL="292608" indent="-292608">
              <a:lnSpc>
                <a:spcPct val="120000"/>
              </a:lnSpc>
              <a:spcAft>
                <a:spcPts val="1260"/>
              </a:spcAft>
              <a:buClr>
                <a:srgbClr val="00D4AA"/>
              </a:buClr>
              <a:buFont typeface="Inter"/>
              <a:buChar char="•"/>
            </a:pPr>
            <a:r>
              <a:rPr sz="1800" b="0">
                <a:solidFill>
                  <a:srgbClr val="FFFFFF"/>
                </a:solidFill>
                <a:latin typeface="Inter"/>
              </a:rPr>
              <a:t>How I tested it: tests per layer, acceptance score, CI badge</a:t>
            </a:r>
          </a:p>
          <a:p>
            <a:pPr marL="292608" indent="-292608">
              <a:lnSpc>
                <a:spcPct val="120000"/>
              </a:lnSpc>
              <a:spcAft>
                <a:spcPts val="1260"/>
              </a:spcAft>
              <a:buClr>
                <a:srgbClr val="00D4AA"/>
              </a:buClr>
              <a:buFont typeface="Inter"/>
              <a:buChar char="•"/>
            </a:pPr>
            <a:r>
              <a:rPr sz="1800" b="0">
                <a:solidFill>
                  <a:srgbClr val="FFFFFF"/>
                </a:solidFill>
                <a:latin typeface="Inter"/>
              </a:rPr>
              <a:t>Results: latency, cost per minute, WER, injection pass rate, each with a target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README, top to bottom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Decisions and trade-offs</a:t>
            </a:r>
          </a:p>
          <a:p>
            <a:pPr marL="292608" indent="-292608">
              <a:lnSpc>
                <a:spcPct val="120000"/>
              </a:lnSpc>
              <a:spcAft>
                <a:spcPts val="1539"/>
              </a:spcAft>
              <a:buClr>
                <a:srgbClr val="00D4AA"/>
              </a:buClr>
              <a:buFont typeface="Inter"/>
              <a:buChar char="•"/>
            </a:pPr>
            <a:r>
              <a:rPr sz="2200" b="0">
                <a:solidFill>
                  <a:srgbClr val="FFFFFF"/>
                </a:solidFill>
                <a:latin typeface="Inter"/>
              </a:rPr>
              <a:t>What I'd do next, then how to run it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demo video (3 to 5 minutes)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One real call: booking, FAQ, verification, an injection attempt, a transfer or fallback</a:t>
            </a:r>
          </a:p>
          <a:p>
            <a:pPr marL="292608" indent="-292608">
              <a:lnSpc>
                <a:spcPct val="120000"/>
              </a:lnSpc>
              <a:spcAft>
                <a:spcPts val="1260"/>
              </a:spcAft>
              <a:buClr>
                <a:srgbClr val="00D4AA"/>
              </a:buClr>
              <a:buFont typeface="Inter"/>
              <a:buChar char="•"/>
            </a:pPr>
            <a:r>
              <a:rPr sz="1800" b="0">
                <a:solidFill>
                  <a:srgbClr val="FFFFFF"/>
                </a:solidFill>
                <a:latin typeface="Inter"/>
              </a:rPr>
              <a:t>Unedited audio, captions on</a:t>
            </a:r>
          </a:p>
          <a:p>
            <a:pPr marL="292608" indent="-292608">
              <a:lnSpc>
                <a:spcPct val="120000"/>
              </a:lnSpc>
              <a:spcAft>
                <a:spcPts val="1260"/>
              </a:spcAft>
              <a:buClr>
                <a:srgbClr val="00D4AA"/>
              </a:buClr>
              <a:buFont typeface="Inter"/>
              <a:buChar char="•"/>
            </a:pPr>
            <a:r>
              <a:rPr sz="1800" b="0">
                <a:solidFill>
                  <a:srgbClr val="FFFFFF"/>
                </a:solidFill>
                <a:latin typeface="Inter"/>
              </a:rPr>
              <a:t>Then: the test run, a trace with redacted phone numbers, the cost view</a:t>
            </a:r>
          </a:p>
          <a:p>
            <a:pPr marL="292608" indent="-292608">
              <a:lnSpc>
                <a:spcPct val="120000"/>
              </a:lnSpc>
              <a:spcAft>
                <a:spcPts val="1260"/>
              </a:spcAft>
              <a:buClr>
                <a:srgbClr val="00D4AA"/>
              </a:buClr>
              <a:buFont typeface="Inter"/>
              <a:buChar char="•"/>
            </a:pPr>
            <a:r>
              <a:rPr sz="1800" b="0">
                <a:solidFill>
                  <a:srgbClr val="FFFFFF"/>
                </a:solidFill>
                <a:latin typeface="Inter"/>
              </a:rPr>
              <a:t>On Path B? Say so on the first slide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files that set you apart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ACCEPTANCE.md</a:t>
            </a:r>
            <a:r>
              <a:rPr sz="2200" b="0">
                <a:solidFill>
                  <a:srgbClr val="FFFFFF"/>
                </a:solidFill>
                <a:latin typeface="Inter"/>
              </a:rPr>
              <a:t>: all 24 tests, PASS or FAIL, evidence links, honest notes</a:t>
            </a:r>
          </a:p>
          <a:p>
            <a:pPr marL="292608" indent="-292608">
              <a:lnSpc>
                <a:spcPct val="120000"/>
              </a:lnSpc>
              <a:spcAft>
                <a:spcPts val="1539"/>
              </a:spcAft>
              <a:buClr>
                <a:srgbClr val="00D4AA"/>
              </a:buClr>
              <a:buFont typeface="Inter"/>
              <a:buChar char="•"/>
            </a:pPr>
            <a:r>
              <a:rPr sz="2024" b="0">
                <a:solidFill>
                  <a:srgbClr val="00D4AA"/>
                </a:solidFill>
                <a:latin typeface="JetBrains Mono"/>
              </a:rPr>
              <a:t>DIFF_NOTES.md</a:t>
            </a:r>
            <a:r>
              <a:rPr sz="2200" b="0">
                <a:solidFill>
                  <a:srgbClr val="FFFFFF"/>
                </a:solidFill>
                <a:latin typeface="Inter"/>
              </a:rPr>
              <a:t>: three differences from the reference, adopted or not, and why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Repo hygiene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No secrets: </a:t>
            </a:r>
            <a:r>
              <a:rPr sz="2024" b="0">
                <a:solidFill>
                  <a:srgbClr val="00D4AA"/>
                </a:solidFill>
                <a:latin typeface="JetBrains Mono"/>
              </a:rPr>
              <a:t>.env</a:t>
            </a:r>
            <a:r>
              <a:rPr sz="2200" b="0">
                <a:solidFill>
                  <a:srgbClr val="FFFFFF"/>
                </a:solidFill>
                <a:latin typeface="Inter"/>
              </a:rPr>
              <a:t> ignored, keys rotated if ever committed</a:t>
            </a:r>
          </a:p>
          <a:p>
            <a:pPr marL="292608" indent="-292608">
              <a:lnSpc>
                <a:spcPct val="120000"/>
              </a:lnSpc>
              <a:spcAft>
                <a:spcPts val="1539"/>
              </a:spcAft>
              <a:buClr>
                <a:srgbClr val="00D4AA"/>
              </a:buClr>
              <a:buFont typeface="Inter"/>
              <a:buChar char="•"/>
            </a:pPr>
            <a:r>
              <a:rPr sz="2200" b="0">
                <a:solidFill>
                  <a:srgbClr val="FFFFFF"/>
                </a:solidFill>
                <a:latin typeface="Inter"/>
              </a:rPr>
              <a:t>CI green on the deployed commit</a:t>
            </a:r>
          </a:p>
          <a:p>
            <a:pPr marL="292608" indent="-292608">
              <a:lnSpc>
                <a:spcPct val="120000"/>
              </a:lnSpc>
              <a:spcAft>
                <a:spcPts val="1539"/>
              </a:spcAft>
              <a:buClr>
                <a:srgbClr val="00D4AA"/>
              </a:buClr>
              <a:buFont typeface="Inter"/>
              <a:buChar char="•"/>
            </a:pPr>
            <a:r>
              <a:rPr sz="2200" b="0">
                <a:solidFill>
                  <a:srgbClr val="FFFFFF"/>
                </a:solidFill>
                <a:latin typeface="Inter"/>
              </a:rPr>
              <a:t>Fictional data only: demo patients, 555 numbers</a:t>
            </a:r>
          </a:p>
          <a:p>
            <a:pPr marL="292608" indent="-292608">
              <a:lnSpc>
                <a:spcPct val="120000"/>
              </a:lnSpc>
              <a:spcAft>
                <a:spcPts val="1539"/>
              </a:spcAft>
              <a:buClr>
                <a:srgbClr val="00D4AA"/>
              </a:buClr>
              <a:buFont typeface="Inter"/>
              <a:buChar char="•"/>
            </a:pPr>
            <a:r>
              <a:rPr sz="2200" b="0">
                <a:solidFill>
                  <a:srgbClr val="FFFFFF"/>
                </a:solidFill>
                <a:latin typeface="Inter"/>
              </a:rPr>
              <a:t>License and a note: "not for clinical use without a compliance review"</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Submitting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Udemy assignment: "Capstone: Riley, production receptionist"</a:t>
            </a:r>
          </a:p>
          <a:p>
            <a:pPr marL="292608" indent="-292608">
              <a:lnSpc>
                <a:spcPct val="120000"/>
              </a:lnSpc>
              <a:spcAft>
                <a:spcPts val="1260"/>
              </a:spcAft>
              <a:buClr>
                <a:srgbClr val="00D4AA"/>
              </a:buClr>
              <a:buFont typeface="Inter"/>
              <a:buChar char="•"/>
            </a:pPr>
            <a:r>
              <a:rPr sz="1800" b="0">
                <a:solidFill>
                  <a:srgbClr val="FFFFFF"/>
                </a:solidFill>
                <a:latin typeface="Inter"/>
              </a:rPr>
              <a:t>Q1: links, acceptance score, did you respect the gate?</a:t>
            </a:r>
          </a:p>
          <a:p>
            <a:pPr marL="292608" indent="-292608">
              <a:lnSpc>
                <a:spcPct val="120000"/>
              </a:lnSpc>
              <a:spcAft>
                <a:spcPts val="1260"/>
              </a:spcAft>
              <a:buClr>
                <a:srgbClr val="00D4AA"/>
              </a:buClr>
              <a:buFont typeface="Inter"/>
              <a:buChar char="•"/>
            </a:pPr>
            <a:r>
              <a:rPr sz="1800" b="0">
                <a:solidFill>
                  <a:srgbClr val="FFFFFF"/>
                </a:solidFill>
                <a:latin typeface="Inter"/>
              </a:rPr>
              <a:t>Q2: one production failure your system survives, with evidence</a:t>
            </a:r>
          </a:p>
          <a:p>
            <a:pPr marL="292608" indent="-292608">
              <a:lnSpc>
                <a:spcPct val="120000"/>
              </a:lnSpc>
              <a:spcAft>
                <a:spcPts val="1260"/>
              </a:spcAft>
              <a:buClr>
                <a:srgbClr val="00D4AA"/>
              </a:buClr>
              <a:buFont typeface="Inter"/>
              <a:buChar char="•"/>
            </a:pPr>
            <a:r>
              <a:rPr sz="1800" b="0">
                <a:solidFill>
                  <a:srgbClr val="FFFFFF"/>
                </a:solidFill>
                <a:latin typeface="Inter"/>
              </a:rPr>
              <a:t>Q3: your "Decisions and trade-offs", plus one </a:t>
            </a:r>
            <a:r>
              <a:rPr sz="1656" b="0">
                <a:solidFill>
                  <a:srgbClr val="00D4AA"/>
                </a:solidFill>
                <a:latin typeface="JetBrains Mono"/>
              </a:rPr>
              <a:t>DIFF_NOTES.md</a:t>
            </a:r>
            <a:r>
              <a:rPr sz="1800" b="0">
                <a:solidFill>
                  <a:srgbClr val="FFFFFF"/>
                </a:solidFill>
                <a:latin typeface="Inter"/>
              </a:rPr>
              <a:t> item</a:t>
            </a:r>
          </a:p>
          <a:p>
            <a:pPr marL="292608" indent="-292608">
              <a:lnSpc>
                <a:spcPct val="120000"/>
              </a:lnSpc>
              <a:spcAft>
                <a:spcPts val="1260"/>
              </a:spcAft>
              <a:buClr>
                <a:srgbClr val="00D4AA"/>
              </a:buClr>
              <a:buFont typeface="Inter"/>
              <a:buChar char="•"/>
            </a:pPr>
            <a:r>
              <a:rPr sz="1800" b="0">
                <a:solidFill>
                  <a:srgbClr val="FFFFFF"/>
                </a:solidFill>
                <a:latin typeface="Inter"/>
              </a:rPr>
              <a:t>Then review one other student's capstone with the peer-review checklist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LinkedIn post (under 150 words)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What you built, in one line</a:t>
            </a:r>
          </a:p>
          <a:p>
            <a:pPr marL="292608" indent="-292608">
              <a:lnSpc>
                <a:spcPct val="120000"/>
              </a:lnSpc>
              <a:spcAft>
                <a:spcPts val="1539"/>
              </a:spcAft>
              <a:buClr>
                <a:srgbClr val="00D4AA"/>
              </a:buClr>
              <a:buFont typeface="Inter"/>
              <a:buChar char="•"/>
            </a:pPr>
            <a:r>
              <a:rPr sz="2200" b="0">
                <a:solidFill>
                  <a:srgbClr val="FFFFFF"/>
                </a:solidFill>
                <a:latin typeface="Inter"/>
              </a:rPr>
              <a:t>What it does, in one or two lines</a:t>
            </a:r>
          </a:p>
          <a:p>
            <a:pPr marL="292608" indent="-292608">
              <a:lnSpc>
                <a:spcPct val="120000"/>
              </a:lnSpc>
              <a:spcAft>
                <a:spcPts val="1539"/>
              </a:spcAft>
              <a:buClr>
                <a:srgbClr val="00D4AA"/>
              </a:buClr>
              <a:buFont typeface="Inter"/>
              <a:buChar char="•"/>
            </a:pPr>
            <a:r>
              <a:rPr sz="2200" b="0">
                <a:solidFill>
                  <a:srgbClr val="FFFFFF"/>
                </a:solidFill>
                <a:latin typeface="Inter"/>
              </a:rPr>
              <a:t>What you're proudest of: the testing, with numbers</a:t>
            </a:r>
          </a:p>
          <a:p>
            <a:pPr marL="292608" indent="-292608">
              <a:lnSpc>
                <a:spcPct val="120000"/>
              </a:lnSpc>
              <a:spcAft>
                <a:spcPts val="1539"/>
              </a:spcAft>
              <a:buClr>
                <a:srgbClr val="00D4AA"/>
              </a:buClr>
              <a:buFont typeface="Inter"/>
              <a:buChar char="•"/>
            </a:pPr>
            <a:r>
              <a:rPr sz="2200" b="0">
                <a:solidFill>
                  <a:srgbClr val="FFFFFF"/>
                </a:solidFill>
                <a:latin typeface="Inter"/>
              </a:rPr>
              <a:t>Biggest lesson, in one sentence</a:t>
            </a:r>
          </a:p>
          <a:p>
            <a:pPr marL="292608" indent="-292608">
              <a:lnSpc>
                <a:spcPct val="120000"/>
              </a:lnSpc>
              <a:spcAft>
                <a:spcPts val="1539"/>
              </a:spcAft>
              <a:buClr>
                <a:srgbClr val="00D4AA"/>
              </a:buClr>
              <a:buFont typeface="Inter"/>
              <a:buChar char="•"/>
            </a:pPr>
            <a:r>
              <a:rPr sz="2200" b="0">
                <a:solidFill>
                  <a:srgbClr val="FFFFFF"/>
                </a:solidFill>
                <a:latin typeface="Inter"/>
              </a:rPr>
              <a:t>Demo and code links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Lead with a demo and a results table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ACCEPTANCE.md</a:t>
            </a:r>
            <a:r>
              <a:rPr sz="1800" b="1">
                <a:solidFill>
                  <a:srgbClr val="FFFFFF"/>
                </a:solidFill>
                <a:latin typeface="Inter"/>
              </a:rPr>
              <a:t> and </a:t>
            </a:r>
            <a:r>
              <a:rPr sz="1656" b="0">
                <a:solidFill>
                  <a:srgbClr val="00D4AA"/>
                </a:solidFill>
                <a:latin typeface="JetBrains Mono"/>
              </a:rPr>
              <a:t>DIFF_NOTES.md</a:t>
            </a:r>
            <a:r>
              <a:rPr sz="1800" b="1">
                <a:solidFill>
                  <a:srgbClr val="FFFFFF"/>
                </a:solidFill>
                <a:latin typeface="Inter"/>
              </a:rPr>
              <a:t>, failures included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Clean repo, honest numbers, then review a peer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Domain swap: ship Riley for a restaurant, salon or law office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one more assignment that proves your skills transfer: ship Riley for a completely different business.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CAPSTONE: RILEY, PRODUCTION RECEPTIONIST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Domain swap: ship Riley for a restaurant, salon or law office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Re-skin the capstone for a new business by replacing the FAQ, tool schema, business-logic module and prompt blocks.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Pick one brief</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1536192"/>
        </p:xfrm>
        <a:graphic>
          <a:graphicData uri="http://schemas.openxmlformats.org/drawingml/2006/table">
            <a:tbl>
              <a:tblPr firstRow="1" bandRow="1">
                <a:tableStyleId>{5C22544A-7EE6-4342-B048-85BDC9FD1C3A}</a:tableStyleId>
              </a:tblPr>
              <a:tblGrid>
                <a:gridCol w="621624"/>
                <a:gridCol w="4662181"/>
                <a:gridCol w="6009034"/>
              </a:tblGrid>
              <a:tr h="384048">
                <a:tc>
                  <a:txBody>
                    <a:bodyPr wrap="square"/>
                    <a:lstStyle/>
                    <a:p>
                      <a:r>
                        <a:rPr sz="1200" b="1">
                          <a:solidFill>
                            <a:srgbClr val="0A1628"/>
                          </a:solidFill>
                          <a:latin typeface="Inter"/>
                        </a:rPr>
                        <a:t>Brief</a:t>
                      </a:r>
                    </a:p>
                  </a:txBody>
                  <a:tcPr marL="91440" marR="91440" marT="45720" marB="45720" anchor="ctr">
                    <a:solidFill>
                      <a:srgbClr val="00D4AA"/>
                    </a:solidFill>
                  </a:tcPr>
                </a:tc>
                <a:tc>
                  <a:txBody>
                    <a:bodyPr wrap="square"/>
                    <a:lstStyle/>
                    <a:p>
                      <a:r>
                        <a:rPr sz="1200" b="1">
                          <a:solidFill>
                            <a:srgbClr val="0A1628"/>
                          </a:solidFill>
                          <a:latin typeface="Inter"/>
                        </a:rPr>
                        <a:t>Business</a:t>
                      </a:r>
                    </a:p>
                  </a:txBody>
                  <a:tcPr marL="91440" marR="91440" marT="45720" marB="45720" anchor="ctr">
                    <a:solidFill>
                      <a:srgbClr val="00D4AA"/>
                    </a:solidFill>
                  </a:tcPr>
                </a:tc>
                <a:tc>
                  <a:txBody>
                    <a:bodyPr wrap="square"/>
                    <a:lstStyle/>
                    <a:p>
                      <a:r>
                        <a:rPr sz="1200" b="1">
                          <a:solidFill>
                            <a:srgbClr val="0A1628"/>
                          </a:solidFill>
                          <a:latin typeface="Inter"/>
                        </a:rPr>
                        <a:t>The domain risk</a:t>
                      </a:r>
                    </a:p>
                  </a:txBody>
                  <a:tcPr marL="91440" marR="91440" marT="45720" marB="45720" anchor="ctr">
                    <a:solidFill>
                      <a:srgbClr val="00D4AA"/>
                    </a:solidFill>
                  </a:tcPr>
                </a:tc>
              </a:tr>
              <a:tr h="384048">
                <a:tc>
                  <a:txBody>
                    <a:bodyPr wrap="square"/>
                    <a:lstStyle/>
                    <a:p>
                      <a:r>
                        <a:rPr sz="1200" b="1">
                          <a:solidFill>
                            <a:srgbClr val="FFFFFF"/>
                          </a:solidFill>
                          <a:latin typeface="Inter"/>
                        </a:rPr>
                        <a:t>A</a:t>
                      </a:r>
                    </a:p>
                  </a:txBody>
                  <a:tcPr marL="91440" marR="91440" marT="45720" marB="45720" anchor="ctr">
                    <a:solidFill>
                      <a:srgbClr val="1A2742"/>
                    </a:solidFill>
                  </a:tcPr>
                </a:tc>
                <a:tc>
                  <a:txBody>
                    <a:bodyPr wrap="square"/>
                    <a:lstStyle/>
                    <a:p>
                      <a:r>
                        <a:rPr sz="1200" b="0">
                          <a:solidFill>
                            <a:srgbClr val="FFFFFF"/>
                          </a:solidFill>
                          <a:latin typeface="Inter"/>
                        </a:rPr>
                        <a:t>Nonna's Table, a 60-seat Italian restaurant</a:t>
                      </a:r>
                    </a:p>
                  </a:txBody>
                  <a:tcPr marL="91440" marR="91440" marT="45720" marB="45720" anchor="ctr">
                    <a:solidFill>
                      <a:srgbClr val="1A2742"/>
                    </a:solidFill>
                  </a:tcPr>
                </a:tc>
                <a:tc>
                  <a:txBody>
                    <a:bodyPr wrap="square"/>
                    <a:lstStyle/>
                    <a:p>
                      <a:r>
                        <a:rPr sz="1200" b="0">
                          <a:solidFill>
                            <a:srgbClr val="FFFFFF"/>
                          </a:solidFill>
                          <a:latin typeface="Inter"/>
                        </a:rPr>
                        <a:t>Allergies: never promise a dish is safe</a:t>
                      </a:r>
                    </a:p>
                  </a:txBody>
                  <a:tcPr marL="91440" marR="91440" marT="45720" marB="45720" anchor="ctr">
                    <a:solidFill>
                      <a:srgbClr val="1A2742"/>
                    </a:solidFill>
                  </a:tcPr>
                </a:tc>
              </a:tr>
              <a:tr h="384048">
                <a:tc>
                  <a:txBody>
                    <a:bodyPr wrap="square"/>
                    <a:lstStyle/>
                    <a:p>
                      <a:r>
                        <a:rPr sz="1200" b="1">
                          <a:solidFill>
                            <a:srgbClr val="FFFFFF"/>
                          </a:solidFill>
                          <a:latin typeface="Inter"/>
                        </a:rPr>
                        <a:t>B</a:t>
                      </a:r>
                    </a:p>
                  </a:txBody>
                  <a:tcPr marL="91440" marR="91440" marT="45720" marB="45720" anchor="ctr">
                    <a:solidFill>
                      <a:srgbClr val="0F1E35"/>
                    </a:solidFill>
                  </a:tcPr>
                </a:tc>
                <a:tc>
                  <a:txBody>
                    <a:bodyPr wrap="square"/>
                    <a:lstStyle/>
                    <a:p>
                      <a:r>
                        <a:rPr sz="1200" b="0">
                          <a:solidFill>
                            <a:srgbClr val="FFFFFF"/>
                          </a:solidFill>
                          <a:latin typeface="Inter"/>
                        </a:rPr>
                        <a:t>Fade &amp; Bloom, a hair salon with four stylists</a:t>
                      </a:r>
                    </a:p>
                  </a:txBody>
                  <a:tcPr marL="91440" marR="91440" marT="45720" marB="45720" anchor="ctr">
                    <a:solidFill>
                      <a:srgbClr val="0F1E35"/>
                    </a:solidFill>
                  </a:tcPr>
                </a:tc>
                <a:tc>
                  <a:txBody>
                    <a:bodyPr wrap="square"/>
                    <a:lstStyle/>
                    <a:p>
                      <a:r>
                        <a:rPr sz="1200" b="0">
                          <a:solidFill>
                            <a:srgbClr val="FFFFFF"/>
                          </a:solidFill>
                          <a:latin typeface="Inter"/>
                        </a:rPr>
                        <a:t>Variable-length services must fit each stylist's hours</a:t>
                      </a:r>
                    </a:p>
                  </a:txBody>
                  <a:tcPr marL="91440" marR="91440" marT="45720" marB="45720" anchor="ctr">
                    <a:solidFill>
                      <a:srgbClr val="0F1E35"/>
                    </a:solidFill>
                  </a:tcPr>
                </a:tc>
              </a:tr>
              <a:tr h="384048">
                <a:tc>
                  <a:txBody>
                    <a:bodyPr wrap="square"/>
                    <a:lstStyle/>
                    <a:p>
                      <a:r>
                        <a:rPr sz="1200" b="1">
                          <a:solidFill>
                            <a:srgbClr val="FFFFFF"/>
                          </a:solidFill>
                          <a:latin typeface="Inter"/>
                        </a:rPr>
                        <a:t>C</a:t>
                      </a:r>
                    </a:p>
                  </a:txBody>
                  <a:tcPr marL="91440" marR="91440" marT="45720" marB="45720" anchor="ctr">
                    <a:solidFill>
                      <a:srgbClr val="1A2742"/>
                    </a:solidFill>
                  </a:tcPr>
                </a:tc>
                <a:tc>
                  <a:txBody>
                    <a:bodyPr wrap="square"/>
                    <a:lstStyle/>
                    <a:p>
                      <a:r>
                        <a:rPr sz="1200" b="0">
                          <a:solidFill>
                            <a:srgbClr val="FFFFFF"/>
                          </a:solidFill>
                          <a:latin typeface="Inter"/>
                        </a:rPr>
                        <a:t>Harbor Legal, a four-lawyer law office</a:t>
                      </a:r>
                    </a:p>
                  </a:txBody>
                  <a:tcPr marL="91440" marR="91440" marT="45720" marB="45720" anchor="ctr">
                    <a:solidFill>
                      <a:srgbClr val="1A2742"/>
                    </a:solidFill>
                  </a:tcPr>
                </a:tc>
                <a:tc>
                  <a:txBody>
                    <a:bodyPr wrap="square"/>
                    <a:lstStyle/>
                    <a:p>
                      <a:r>
                        <a:rPr sz="1200" b="0">
                          <a:solidFill>
                            <a:srgbClr val="FFFFFF"/>
                          </a:solidFill>
                          <a:latin typeface="Inter"/>
                        </a:rPr>
                        <a:t>Never give legal advice; confidentiality; urgent deadlines</a:t>
                      </a:r>
                    </a:p>
                  </a:txBody>
                  <a:tcPr marL="91440" marR="91440" marT="45720" marB="45720" anchor="ctr">
                    <a:solidFill>
                      <a:srgbClr val="1A2742"/>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changes, what stays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304288"/>
        </p:xfrm>
        <a:graphic>
          <a:graphicData uri="http://schemas.openxmlformats.org/drawingml/2006/table">
            <a:tbl>
              <a:tblPr firstRow="1" bandRow="1">
                <a:tableStyleId>{5C22544A-7EE6-4342-B048-85BDC9FD1C3A}</a:tableStyleId>
              </a:tblPr>
              <a:tblGrid>
                <a:gridCol w="5377542"/>
                <a:gridCol w="5915297"/>
              </a:tblGrid>
              <a:tr h="384048">
                <a:tc>
                  <a:txBody>
                    <a:bodyPr wrap="square"/>
                    <a:lstStyle/>
                    <a:p>
                      <a:r>
                        <a:rPr sz="1200" b="1">
                          <a:solidFill>
                            <a:srgbClr val="0A1628"/>
                          </a:solidFill>
                          <a:latin typeface="Inter"/>
                        </a:rPr>
                        <a:t>Changes</a:t>
                      </a:r>
                    </a:p>
                  </a:txBody>
                  <a:tcPr marL="91440" marR="91440" marT="45720" marB="45720" anchor="ctr">
                    <a:solidFill>
                      <a:srgbClr val="00D4AA"/>
                    </a:solidFill>
                  </a:tcPr>
                </a:tc>
                <a:tc>
                  <a:txBody>
                    <a:bodyPr wrap="square"/>
                    <a:lstStyle/>
                    <a:p>
                      <a:r>
                        <a:rPr sz="1200" b="1">
                          <a:solidFill>
                            <a:srgbClr val="0A1628"/>
                          </a:solidFill>
                          <a:latin typeface="Inter"/>
                        </a:rPr>
                        <a:t>Stays</a:t>
                      </a:r>
                    </a:p>
                  </a:txBody>
                  <a:tcPr marL="91440" marR="91440" marT="45720" marB="45720" anchor="ctr">
                    <a:solidFill>
                      <a:srgbClr val="00D4AA"/>
                    </a:solidFill>
                  </a:tcPr>
                </a:tc>
              </a:tr>
              <a:tr h="384048">
                <a:tc>
                  <a:txBody>
                    <a:bodyPr wrap="square"/>
                    <a:lstStyle/>
                    <a:p>
                      <a:r>
                        <a:rPr sz="1200" b="1">
                          <a:solidFill>
                            <a:srgbClr val="FFFFFF"/>
                          </a:solidFill>
                          <a:latin typeface="Inter"/>
                        </a:rPr>
                        <a:t>FAQ file</a:t>
                      </a:r>
                    </a:p>
                  </a:txBody>
                  <a:tcPr marL="91440" marR="91440" marT="45720" marB="45720" anchor="ctr">
                    <a:solidFill>
                      <a:srgbClr val="1A2742"/>
                    </a:solidFill>
                  </a:tcPr>
                </a:tc>
                <a:tc>
                  <a:txBody>
                    <a:bodyPr wrap="square"/>
                    <a:lstStyle/>
                    <a:p>
                      <a:r>
                        <a:rPr sz="1200" b="0">
                          <a:solidFill>
                            <a:srgbClr val="FFFFFF"/>
                          </a:solidFill>
                          <a:latin typeface="Inter"/>
                        </a:rPr>
                        <a:t>Agent server, session wiring, turn handling, fallbacks</a:t>
                      </a:r>
                    </a:p>
                  </a:txBody>
                  <a:tcPr marL="91440" marR="91440" marT="45720" marB="45720" anchor="ctr">
                    <a:solidFill>
                      <a:srgbClr val="1A2742"/>
                    </a:solidFill>
                  </a:tcPr>
                </a:tc>
              </a:tr>
              <a:tr h="384048">
                <a:tc>
                  <a:txBody>
                    <a:bodyPr wrap="square"/>
                    <a:lstStyle/>
                    <a:p>
                      <a:r>
                        <a:rPr sz="1200" b="1">
                          <a:solidFill>
                            <a:srgbClr val="FFFFFF"/>
                          </a:solidFill>
                          <a:latin typeface="Inter"/>
                        </a:rPr>
                        <a:t>Tool schema (names, arguments, docstrings)</a:t>
                      </a:r>
                    </a:p>
                  </a:txBody>
                  <a:tcPr marL="91440" marR="91440" marT="45720" marB="45720" anchor="ctr">
                    <a:solidFill>
                      <a:srgbClr val="0F1E35"/>
                    </a:solidFill>
                  </a:tcPr>
                </a:tc>
                <a:tc>
                  <a:txBody>
                    <a:bodyPr wrap="square"/>
                    <a:lstStyle/>
                    <a:p>
                      <a:r>
                        <a:rPr sz="1200" b="0">
                          <a:solidFill>
                            <a:srgbClr val="FFFFFF"/>
                          </a:solidFill>
                          <a:latin typeface="Inter"/>
                        </a:rPr>
                        <a:t>Tool patterns: read-back, </a:t>
                      </a:r>
                      <a:r>
                        <a:rPr sz="1104" b="0">
                          <a:solidFill>
                            <a:srgbClr val="00D4AA"/>
                          </a:solidFill>
                          <a:latin typeface="JetBrains Mono"/>
                        </a:rPr>
                        <a:t>ToolError</a:t>
                      </a:r>
                      <a:r>
                        <a:rPr sz="1200" b="0">
                          <a:solidFill>
                            <a:srgbClr val="FFFFFF"/>
                          </a:solidFill>
                          <a:latin typeface="Inter"/>
                        </a:rPr>
                        <a:t>, filler, userdata</a:t>
                      </a:r>
                    </a:p>
                  </a:txBody>
                  <a:tcPr marL="91440" marR="91440" marT="45720" marB="45720" anchor="ctr">
                    <a:solidFill>
                      <a:srgbClr val="0F1E35"/>
                    </a:solidFill>
                  </a:tcPr>
                </a:tc>
              </a:tr>
              <a:tr h="384048">
                <a:tc>
                  <a:txBody>
                    <a:bodyPr wrap="square"/>
                    <a:lstStyle/>
                    <a:p>
                      <a:r>
                        <a:rPr sz="1200" b="1">
                          <a:solidFill>
                            <a:srgbClr val="FFFFFF"/>
                          </a:solidFill>
                          <a:latin typeface="Inter"/>
                        </a:rPr>
                        <a:t>Business-logic module (the scheduler equivalent)</a:t>
                      </a:r>
                    </a:p>
                  </a:txBody>
                  <a:tcPr marL="91440" marR="91440" marT="45720" marB="45720" anchor="ctr">
                    <a:solidFill>
                      <a:srgbClr val="1A2742"/>
                    </a:solidFill>
                  </a:tcPr>
                </a:tc>
                <a:tc>
                  <a:txBody>
                    <a:bodyPr wrap="square"/>
                    <a:lstStyle/>
                    <a:p>
                      <a:r>
                        <a:rPr sz="1200" b="0">
                          <a:solidFill>
                            <a:srgbClr val="FFFFFF"/>
                          </a:solidFill>
                          <a:latin typeface="Inter"/>
                        </a:rPr>
                        <a:t>Pure-Python-first design with unit tests</a:t>
                      </a:r>
                    </a:p>
                  </a:txBody>
                  <a:tcPr marL="91440" marR="91440" marT="45720" marB="45720" anchor="ctr">
                    <a:solidFill>
                      <a:srgbClr val="1A2742"/>
                    </a:solidFill>
                  </a:tcPr>
                </a:tc>
              </a:tr>
              <a:tr h="384048">
                <a:tc>
                  <a:txBody>
                    <a:bodyPr wrap="square"/>
                    <a:lstStyle/>
                    <a:p>
                      <a:r>
                        <a:rPr sz="1200" b="1">
                          <a:solidFill>
                            <a:srgbClr val="FFFFFF"/>
                          </a:solidFill>
                          <a:latin typeface="Inter"/>
                        </a:rPr>
                        <a:t>Prompt blocks: identity, rules, safety, escalation</a:t>
                      </a:r>
                    </a:p>
                  </a:txBody>
                  <a:tcPr marL="91440" marR="91440" marT="45720" marB="45720" anchor="ctr">
                    <a:solidFill>
                      <a:srgbClr val="0F1E35"/>
                    </a:solidFill>
                  </a:tcPr>
                </a:tc>
                <a:tc>
                  <a:txBody>
                    <a:bodyPr wrap="square"/>
                    <a:lstStyle/>
                    <a:p>
                      <a:r>
                        <a:rPr sz="1200" b="0">
                          <a:solidFill>
                            <a:srgbClr val="FFFFFF"/>
                          </a:solidFill>
                          <a:latin typeface="Inter"/>
                        </a:rPr>
                        <a:t>Output rules, security rules, verification pattern</a:t>
                      </a:r>
                    </a:p>
                  </a:txBody>
                  <a:tcPr marL="91440" marR="91440" marT="45720" marB="45720" anchor="ctr">
                    <a:solidFill>
                      <a:srgbClr val="0F1E35"/>
                    </a:solidFill>
                  </a:tcPr>
                </a:tc>
              </a:tr>
              <a:tr h="384048">
                <a:tc>
                  <a:txBody>
                    <a:bodyPr wrap="square"/>
                    <a:lstStyle/>
                    <a:p>
                      <a:r>
                        <a:rPr sz="1200" b="1">
                          <a:solidFill>
                            <a:srgbClr val="FFFFFF"/>
                          </a:solidFill>
                          <a:latin typeface="Inter"/>
                        </a:rPr>
                        <a:t>Test data and judge intents</a:t>
                      </a:r>
                    </a:p>
                  </a:txBody>
                  <a:tcPr marL="91440" marR="91440" marT="45720" marB="45720" anchor="ctr">
                    <a:solidFill>
                      <a:srgbClr val="1A2742"/>
                    </a:solidFill>
                  </a:tcPr>
                </a:tc>
                <a:tc>
                  <a:txBody>
                    <a:bodyPr wrap="square"/>
                    <a:lstStyle/>
                    <a:p>
                      <a:r>
                        <a:rPr sz="1200" b="0">
                          <a:solidFill>
                            <a:srgbClr val="FFFFFF"/>
                          </a:solidFill>
                          <a:latin typeface="Inter"/>
                        </a:rPr>
                        <a:t>Test pyramid, CI, latency and cost reporting</a:t>
                      </a:r>
                    </a:p>
                  </a:txBody>
                  <a:tcPr marL="91440" marR="91440" marT="45720" marB="45720" anchor="ctr">
                    <a:solidFill>
                      <a:srgbClr val="1A2742"/>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Deliverables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D1 A separate repo (or clearly separate folder): agent, FAQ, business logic, adapted tests</a:t>
            </a:r>
          </a:p>
          <a:p>
            <a:pPr marL="292608" indent="-292608">
              <a:lnSpc>
                <a:spcPct val="120000"/>
              </a:lnSpc>
              <a:spcAft>
                <a:spcPts val="1260"/>
              </a:spcAft>
              <a:buClr>
                <a:srgbClr val="00D4AA"/>
              </a:buClr>
              <a:buFont typeface="Inter"/>
              <a:buChar char="•"/>
            </a:pPr>
            <a:r>
              <a:rPr sz="1800" b="0">
                <a:solidFill>
                  <a:srgbClr val="FFFFFF"/>
                </a:solidFill>
                <a:latin typeface="Inter"/>
              </a:rPr>
              <a:t>D2 A 2 to 3 minute demo call</a:t>
            </a:r>
          </a:p>
          <a:p>
            <a:pPr marL="292608" indent="-292608">
              <a:lnSpc>
                <a:spcPct val="120000"/>
              </a:lnSpc>
              <a:spcAft>
                <a:spcPts val="1260"/>
              </a:spcAft>
              <a:buClr>
                <a:srgbClr val="00D4AA"/>
              </a:buClr>
              <a:buFont typeface="Inter"/>
              <a:buChar char="•"/>
            </a:pPr>
            <a:r>
              <a:rPr sz="1800" b="0">
                <a:solidFill>
                  <a:srgbClr val="FFFFFF"/>
                </a:solidFill>
                <a:latin typeface="Inter"/>
              </a:rPr>
              <a:t>D3 README from the capstone template, plus a "What changed from Riley" table</a:t>
            </a:r>
          </a:p>
          <a:p>
            <a:pPr marL="292608" indent="-292608">
              <a:lnSpc>
                <a:spcPct val="120000"/>
              </a:lnSpc>
              <a:spcAft>
                <a:spcPts val="1260"/>
              </a:spcAft>
              <a:buClr>
                <a:srgbClr val="00D4AA"/>
              </a:buClr>
              <a:buFont typeface="Inter"/>
              <a:buChar char="•"/>
            </a:pPr>
            <a:r>
              <a:rPr sz="1800" b="0">
                <a:solidFill>
                  <a:srgbClr val="FFFFFF"/>
                </a:solidFill>
                <a:latin typeface="Inter"/>
              </a:rPr>
              <a:t>Bar: at least 15 capstone acceptance tests adapted and passing, plus new unit tests for the new rules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Tips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Write the business logic and its unit tests first, with no agent</a:t>
            </a:r>
          </a:p>
          <a:p>
            <a:pPr marL="292608" indent="-292608">
              <a:lnSpc>
                <a:spcPct val="120000"/>
              </a:lnSpc>
              <a:spcAft>
                <a:spcPts val="1539"/>
              </a:spcAft>
              <a:buClr>
                <a:srgbClr val="00D4AA"/>
              </a:buClr>
              <a:buFont typeface="Inter"/>
              <a:buChar char="•"/>
            </a:pPr>
            <a:r>
              <a:rPr sz="2200" b="0">
                <a:solidFill>
                  <a:srgbClr val="FFFFFF"/>
                </a:solidFill>
                <a:latin typeface="Inter"/>
              </a:rPr>
              <a:t>Write the "never do" list first; turn each item into a safety test</a:t>
            </a:r>
          </a:p>
          <a:p>
            <a:pPr marL="292608" indent="-292608">
              <a:lnSpc>
                <a:spcPct val="120000"/>
              </a:lnSpc>
              <a:spcAft>
                <a:spcPts val="1539"/>
              </a:spcAft>
              <a:buClr>
                <a:srgbClr val="00D4AA"/>
              </a:buClr>
              <a:buFont typeface="Inter"/>
              <a:buChar char="•"/>
            </a:pPr>
            <a:r>
              <a:rPr sz="2200" b="0">
                <a:solidFill>
                  <a:srgbClr val="FFFFFF"/>
                </a:solidFill>
                <a:latin typeface="Inter"/>
              </a:rPr>
              <a:t>Keep the output and security rules from Riley unchanged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13.7</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Assemble a production voice agent from tested parts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Prove it with measurable acceptance tests and evidence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Re-skin the same architecture for a new business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13 · Lecture 13.7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Pipecat's frame pipeline model</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That completes the capstone.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