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What you built and where to go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name it properly, because you'll want these words for your portfolio and your next interview.</a:t>
            </a:r>
          </a:p>
          <a:p/>
          <a:p>
            <a:r>
              <a:t>You built a cascaded voice pipeline, and you tuned turn-taking by ear and by numbers. You built a speech-to-speech version and measured it against the cascade. You gave Riley tools, with read-backs and filler speech. You added knowledge and specialist agents. And you put it all on a phone number.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part most voice tutorials skip. You know it works. You have unit tests for the business logic. Behavior tests for tool calls. LLM judges for conversation quality. Word error rate for the speech-to-text. Latency budgets that fail the build. Simulated callers that attack your agent. And in production, you have traces and a cost per minute you can defend in a meeting.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next? Here are four directions, and each one reuses almost everything you built.</a:t>
            </a:r>
          </a:p>
          <a:p/>
          <a:p>
            <a:r>
              <a:t>Multilingual agents. Many STT and TTS providers support multiple languages, and LiveKit lets you switch models per agent. The hard part isn't the code. It's testing. Build a WER reference set per language, and run your behavior tests in each one.</a:t>
            </a:r>
          </a:p>
          <a:p/>
          <a:p>
            <a:r>
              <a:t>[B-ROLL: the 12.5 web front end with an avatar video tile next to the live captions.]</a:t>
            </a:r>
          </a:p>
          <a:p/>
          <a:p>
            <a:r>
              <a:t>Avatars. LiveKit Agents supports video avatar providers, so Riley can have a face on the web front end. Same session, same tools, one more output. Measure latency again, because video adds some. And re-run your cost numbers, because video minutes are priced differently.</a:t>
            </a:r>
          </a:p>
          <a:p/>
          <a:p>
            <a:r>
              <a:t>Outbound campaigns. You built one reminder call in Section 8. Scaling that to thousands is mostly about compliance, retries and answering-machine handling, not about the agent. Revisit Lecture 8.6 before you dial anyone.</a:t>
            </a:r>
          </a:p>
          <a:p/>
          <a:p>
            <a:r>
              <a:t>[B-ROLL: the three domain-swap briefs from Lecture 13.7 flip past: a restaurant, a property-maintenance line, an IT help desk.]</a:t>
            </a:r>
          </a:p>
          <a:p/>
          <a:p>
            <a:r>
              <a:t>And new domains. Swap the scheduler and the FAQ, keep the architecture. A restaurant booking line. A property maintenance line. An internal IT help desk. The testing pyramid transfers directly. You've already practised this in the domain-swap assignment, Lecture 13.7.</a:t>
            </a:r>
          </a:p>
          <a:p/>
          <a:p>
            <a:r>
              <a:t>Whichever you pick, start the same way you started Riley. Business logic first, in pure Python, with unit tests. Then the agent. Then the tests that prove it works. Then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course is one part of a path I think of as Build, Test, Operate. Building agents from scratch. Testing and evaluating them properly. And running them in real time, with a voice and a phone number, which is what you just did.</a:t>
            </a:r>
          </a:p>
          <a:p/>
          <a:p>
            <a:r>
              <a:t>You didn't need the other two to take this one. But if a part of this course felt thin for you, maybe the eval theory or the agent foundations, that's where the deeper material lives. I'll say more in the bonus lecture at the very 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my challenge for your next seven days. Finish the capstone and push it to GitHub. Record a two-minute demo call. Then change one thing, a new domain, a new language or a new voice, and run the full test suite again. If the tests catch something, even better. That's the whole point.</a:t>
            </a:r>
          </a:p>
          <a:p/>
          <a:p>
            <a:r>
              <a:t>Thank you for building this with me. Riley's on the line. Go put your own agent on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Final practice test.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questions follow the order of the course. Architecture and latency first. Then prompting, tools, telephony, testing, observability, security and deployment.</a:t>
            </a:r>
          </a:p>
          <a:p/>
          <a:p>
            <a:r>
              <a:t>Take it in one sitting if you can. It takes most students thirty to forty minutes.</a:t>
            </a:r>
          </a:p>
          <a:p/>
          <a:p>
            <a:r>
              <a:t>When you finish, don't just look at the score. Look at *where* you missed questions. If three of them come from the same section, that's the section to rewatch before your next project.</a:t>
            </a:r>
          </a:p>
          <a:p/>
          <a:p>
            <a:r>
              <a:t>Good luck. You're ready for this.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Careers: voice AI roles, interview questions, pricing a client project.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Job titles are messy in this field, so search for several. "Voice AI engineer" roles focus on the real-time pipeline: latency, turn-taking, telephony. "Conversational AI engineer" roles lean toward dialogue design, prompting and evaluation. "AI solutions engineer" roles are customer-facing. You build integrations and demos for clients. And many "applied AI" or "forward-deployed" roles include voice work without saying so in the title.</a:t>
            </a:r>
          </a:p>
          <a:p/>
          <a:p>
            <a:r>
              <a:t>Read the job description, not the title. Look for words like real-time, WebRTC, SIP, latency, speech-to-text and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Whatever the title, your evidence is the same. Your capstone repo. A short demo call. Your latency and cost numbers. And the domain-swap project, which proves you can do it twice. Numbers beat adjectives. "p95 voice-to-voice under one second" is a stronger line than "low-latency."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interviews. Here are twelve questions I'd expect, with short model answers. Longer versions are in `interview-questions.md`.</a:t>
            </a:r>
          </a:p>
          <a:p/>
          <a:p>
            <a:r>
              <a:t>One. Cascaded versus speech-to-speech. Model answer: "Cascaded gives me control: I can pick each provider, inspect text, and guard output. Speech-to-speech can feel more natural and responsive, but I have less control and it can cost more per minute. I measured both on the same five calls and chose with data."</a:t>
            </a:r>
          </a:p>
          <a:p/>
          <a:p>
            <a:r>
              <a:t>Two. Where does latency come from? "Endpointing, STT finalisation, LLM time to first token, TTS time to first byte, and network. I measure each stage at p50 and p95 and tune the biggest one first, usually endpointing or the LLM."</a:t>
            </a:r>
          </a:p>
          <a:p/>
          <a:p>
            <a:r>
              <a:t>[B-ROLL: the Section 9 latency waterfall with its segments labelled: endpointing, STT final, LLM time to first token, TTS time to first b...]</a:t>
            </a:r>
          </a:p>
          <a:p/>
          <a:p>
            <a:r>
              <a:t>Three. VAD versus turn detection. "VAD detects speech versus silence. Turn detection decides whether the caller has actually finished their thought. A pause isn't always the end of a turn."</a:t>
            </a:r>
          </a:p>
          <a:p/>
          <a:p>
            <a:r>
              <a:t>Four. Interruptions. "Set a minimum interruption duration so coughs don't cut the agent off, resume after false interruptions, and make sure only the spoken part of an interrupted reply goes into history."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Safe tool calls. "Read back before committing, disallow interruptions during the commit, enforce permissions in tool code rather than the prompt, and return speakable errors."</a:t>
            </a:r>
          </a:p>
          <a:p/>
          <a:p>
            <a:r>
              <a:t>Six. Phone calls. "The carrier routes the number to a SIP trunk, the trunk sends it to LiveKit SIP, a dispatch rule creates a room and dispatches the named agent. Transfers use SIP REFER through the framework."</a:t>
            </a:r>
          </a:p>
          <a:p/>
          <a:p>
            <a:r>
              <a:t>Seven. Testing. "A pyramid. Unit tests for business logic, behavior tests on text sessions with tool-call assertions, LLM judges for quality, WER for STT, latency budgets, simulated callers, and production monitoring. The cheap layers run on every commit."</a:t>
            </a:r>
          </a:p>
          <a:p/>
          <a:p>
            <a:r>
              <a:t>Eight. STT quality. "Word error rate against reference transcripts, with a focus on domain terms like names and drug names, and keyterm boosting where the provider supports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Cost. "I compute cost per minute from usage metrics times a price table. For my build, I can tell you which component is largest and what I'd change to reduce it." Then give your actual breakdown.</a:t>
            </a:r>
          </a:p>
          <a:p/>
          <a:p>
            <a:r>
              <a:t>Ten. Personal data. "Verify identity before revealing anything, redact at the edge before logging or tracing, keep third-party telemetry PII-free by default, and apply a short retention policy."</a:t>
            </a:r>
          </a:p>
          <a:p/>
          <a:p>
            <a:r>
              <a:t>[B-ROLL: the 12.8 chaos demo clip: the log line "switching to next LLM" scrolls past while the call carries on.]</a:t>
            </a:r>
          </a:p>
          <a:p/>
          <a:p>
            <a:r>
              <a:t>Eleven. Provider outage. "Fallback providers for STT, LLM and TTS, explicit timeouts, a pre-written error line, then a transfer to a human or a clean goodbye. I've tested it by killing a provider mid-call." That's Lecture 12.8.</a:t>
            </a:r>
          </a:p>
          <a:p/>
          <a:p>
            <a:r>
              <a:t>Twelve. Deploys. "Each call runs in its own process, the server drains on SIGTERM, and the platform's grace period is at least the drain timeout. Rollbacks are one command."</a:t>
            </a:r>
          </a:p>
          <a:p/>
          <a:p>
            <a:r>
              <a:t>Notice the pattern. Every good answer names a mechanism and some evidence. That's what interviewers are listening for.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freelance, here's how to scope. Start with a paid discovery. Ask about call volume, the top five call types, which systems you must integrate with, like their scheduling software, and any compliance requirements. Integrations are where projects blow up, so find them early.</a:t>
            </a:r>
          </a:p>
          <a:p/>
          <a:p>
            <a:r>
              <a:t>Then write the scope down. Which call types Riley handles. Which ones it transfers. And what "done" means, as acceptance tests. Your Section 9 suite is perfect for this. "These twenty scenarios pass" is a definition of done that nobody can argue with later.</a:t>
            </a:r>
          </a:p>
          <a:p/>
          <a:p>
            <a:r>
              <a:t>And propose a pilot. After-hours calls only, or one location. Measure containment and caller satisfaction. Then expand.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pricing. I won't give you numbers, because markets differ a lot. But here's a structure that protects you. A fixed discovery fee. A fixed setup fee for the build, based on the scope and the number of integrations. A monthly retainer for monitoring, prompt updates and keeping the tests green. And usage passed through, based on cost per minute from `costs.py`, times minutes, plus an agreed margin.</a:t>
            </a:r>
          </a:p>
          <a:p/>
          <a:p>
            <a:r>
              <a:t>Why separate usage? Because it scales with the client's call volume, not your effort. If a clinic doubles its calls, your costs double. Passing usage through keeps you from quietly losing money on your best clients.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things belong in every proposal. First, what's out of scope. "Adding a new call type" is a change request, not a bug. Second, who owns the accounts. The cleanest setup is that the client owns the LiveKit, model and phone accounts, and you get access. If you part ways, their receptionist keeps working.</a:t>
            </a:r>
          </a:p>
          <a:p/>
          <a:p>
            <a:r>
              <a:t>And agree on response times up front. A voice agent that answers the phone is a live system. If it breaks at nine A M on a Monday, the client will call you. Decide together what counts as urgent, and put it in the retainer.</a:t>
            </a:r>
          </a:p>
          <a:p/>
          <a:p>
            <a:r>
              <a:t>Last tip. Whether it's a job interview or a client pitch, lead with a call. Play your two-minute demo. Then show the test suite and the numbers. Most candidates only have the first part. You have all three.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Bonus lecture: keep building.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updates. Voice AI moves fast. LiveKit Agents and Pipecat release often, and model names change. Every script in this course was checked against livekit-agents 1.8 and pipecat-ai 1.12. You've already seen what that looks like in practice. In Section 14, Pipecat had renamed two core classes, and the old names still worked with a warning. Most changes arrive like that: a deprecation warning first, a removal later. Read your warnings.</a:t>
            </a:r>
          </a:p>
          <a:p/>
          <a:p>
            <a:r>
              <a:t>When something changes, I update the repo README first, with the tested versions and any code changes. Big changes also go out as a course announcement.</a:t>
            </a:r>
          </a:p>
          <a:p/>
          <a:p>
            <a:r>
              <a:t>[SCREEN: `03-code/pyproject.toml`, the `livekit-agents[...]~=1.8` line; the file tree shows `uv.lock` beside it. Terminal: `uv lock --che...]</a:t>
            </a:r>
          </a:p>
          <a:p/>
          <a:p>
            <a:r>
              <a:t>And for your own production agent, pin your versions, like the repo does with `pyproject.toml` and the committed `uv.lock`. Upgrade on purpose, with your test suite running. That's exactly what the tests are for.</a:t>
            </a:r>
          </a:p>
          <a:p/>
          <a:p>
            <a:r>
              <a:t>Here's an upgrade routine that works. Once a month, read the changelogs for your framework and your providers. Upgrade on a branch. Run the whole pyramid, including the safety suite and a latency report. If the numbers hold, deploy, and keep the rollback ready. Twenty minutes a month keeps you off the "it broke on Friday" list.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help. The Q&amp;A stays open. When you post, include three things: the exact command you ran, the full error message, and your package versions. That turns a two-day back-and-forth into a one-reply fix.</a:t>
            </a:r>
          </a:p>
          <a:p/>
          <a:p>
            <a:r>
              <a:t>And please share your capstone demo in the Q&amp;A. Other students learn a lot from seeing different domains and voices, and so do I. Some of the best improvements to this course came from student questions, so if something was confusing, say so. That feedback shapes the next update.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and only if it's useful to you: this course is part of a set.</a:t>
            </a:r>
          </a:p>
          <a:p/>
          <a:p>
            <a:r>
              <a:t>*Generative AI &amp; AI Agents: Zero to Production* is the building course. It's for you if the LLM and agent parts of this course felt fast. It covers prompting, tools, retrieval and agent design for text agents, from first principles.</a:t>
            </a:r>
          </a:p>
          <a:p/>
          <a:p>
            <a:r>
              <a:t>*AI Agent Testing &amp; Evaluation* is the testing course. It's for you if Section 9 was your favorite, or if you're the person on your team who owns quality. It goes much deeper on evaluation design, LLM judges, datasets and test strategy than we had room for here.</a:t>
            </a:r>
          </a:p>
          <a:p/>
          <a:p>
            <a:r>
              <a:t>You don't need either one to use what you've learned here. The links are in the resources panel for this lecture if you want to take a look.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it. Thank you for taking this course, and for sticking with it all the way to a production agent. Finish the capstone. Share your demo. Keep your tests green.</a:t>
            </a:r>
          </a:p>
          <a:p/>
          <a:p>
            <a:r>
              <a:t>I'll see you in the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15 · WRAP-UP AND NEXT STEPS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15.1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What you built and where to go next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Summarise the full Riley stack, from pipeline to phone number to tests to production.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you built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 cascaded voice pipeline: STT, LLM, TTS, VAD, turn detection</a:t>
            </a:r>
          </a:p>
          <a:p>
            <a:pPr marL="292608" indent="-292608">
              <a:lnSpc>
                <a:spcPct val="120000"/>
              </a:lnSpc>
              <a:spcAft>
                <a:spcPts val="1260"/>
              </a:spcAft>
              <a:buClr>
                <a:srgbClr val="00D4AA"/>
              </a:buClr>
              <a:buFont typeface="Inter"/>
              <a:buChar char="•"/>
            </a:pPr>
            <a:r>
              <a:rPr sz="1800" b="0">
                <a:solidFill>
                  <a:srgbClr val="FFFFFF"/>
                </a:solidFill>
                <a:latin typeface="Inter"/>
              </a:rPr>
              <a:t>A speech-to-speech version on OpenAI Realtime</a:t>
            </a:r>
          </a:p>
          <a:p>
            <a:pPr marL="292608" indent="-292608">
              <a:lnSpc>
                <a:spcPct val="120000"/>
              </a:lnSpc>
              <a:spcAft>
                <a:spcPts val="1260"/>
              </a:spcAft>
              <a:buClr>
                <a:srgbClr val="00D4AA"/>
              </a:buClr>
              <a:buFont typeface="Inter"/>
              <a:buChar char="•"/>
            </a:pPr>
            <a:r>
              <a:rPr sz="1800" b="0">
                <a:solidFill>
                  <a:srgbClr val="FFFFFF"/>
                </a:solidFill>
                <a:latin typeface="Inter"/>
              </a:rPr>
              <a:t>Tools with read-backs, filler speech and confirmation gates</a:t>
            </a:r>
          </a:p>
          <a:p>
            <a:pPr marL="292608" indent="-292608">
              <a:lnSpc>
                <a:spcPct val="120000"/>
              </a:lnSpc>
              <a:spcAft>
                <a:spcPts val="1260"/>
              </a:spcAft>
              <a:buClr>
                <a:srgbClr val="00D4AA"/>
              </a:buClr>
              <a:buFont typeface="Inter"/>
              <a:buChar char="•"/>
            </a:pPr>
            <a:r>
              <a:rPr sz="1800" b="0">
                <a:solidFill>
                  <a:srgbClr val="FFFFFF"/>
                </a:solidFill>
                <a:latin typeface="Inter"/>
              </a:rPr>
              <a:t>Knowledge lookup and multi-agent handoffs</a:t>
            </a:r>
          </a:p>
          <a:p>
            <a:pPr marL="292608" indent="-292608">
              <a:lnSpc>
                <a:spcPct val="120000"/>
              </a:lnSpc>
              <a:spcAft>
                <a:spcPts val="1260"/>
              </a:spcAft>
              <a:buClr>
                <a:srgbClr val="00D4AA"/>
              </a:buClr>
              <a:buFont typeface="Inter"/>
              <a:buChar char="•"/>
            </a:pPr>
            <a:r>
              <a:rPr sz="1800" b="0">
                <a:solidFill>
                  <a:srgbClr val="FFFFFF"/>
                </a:solidFill>
                <a:latin typeface="Inter"/>
              </a:rPr>
              <a:t>A phone number: inbound, outbound and transfer to a human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you know it works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The voice testing pyramid: unit, behavior, evals, simulated calls</a:t>
            </a:r>
          </a:p>
          <a:p>
            <a:pPr marL="292608" indent="-292608">
              <a:lnSpc>
                <a:spcPct val="120000"/>
              </a:lnSpc>
              <a:spcAft>
                <a:spcPts val="1260"/>
              </a:spcAft>
              <a:buClr>
                <a:srgbClr val="00D4AA"/>
              </a:buClr>
              <a:buFont typeface="Inter"/>
              <a:buChar char="•"/>
            </a:pPr>
            <a:r>
              <a:rPr sz="1800" b="0">
                <a:solidFill>
                  <a:srgbClr val="FFFFFF"/>
                </a:solidFill>
                <a:latin typeface="Inter"/>
              </a:rPr>
              <a:t>WER for STT, latency budgets, LLM judges</a:t>
            </a:r>
          </a:p>
          <a:p>
            <a:pPr marL="292608" indent="-292608">
              <a:lnSpc>
                <a:spcPct val="120000"/>
              </a:lnSpc>
              <a:spcAft>
                <a:spcPts val="1260"/>
              </a:spcAft>
              <a:buClr>
                <a:srgbClr val="00D4AA"/>
              </a:buClr>
              <a:buFont typeface="Inter"/>
              <a:buChar char="•"/>
            </a:pPr>
            <a:r>
              <a:rPr sz="1800" b="0">
                <a:solidFill>
                  <a:srgbClr val="FFFFFF"/>
                </a:solidFill>
                <a:latin typeface="Inter"/>
              </a:rPr>
              <a:t>Metrics, traces and cost per minute</a:t>
            </a:r>
          </a:p>
          <a:p>
            <a:pPr marL="292608" indent="-292608">
              <a:lnSpc>
                <a:spcPct val="120000"/>
              </a:lnSpc>
              <a:spcAft>
                <a:spcPts val="1260"/>
              </a:spcAft>
              <a:buClr>
                <a:srgbClr val="00D4AA"/>
              </a:buClr>
              <a:buFont typeface="Inter"/>
              <a:buChar char="•"/>
            </a:pPr>
            <a:r>
              <a:rPr sz="1800" b="0">
                <a:solidFill>
                  <a:srgbClr val="FFFFFF"/>
                </a:solidFill>
                <a:latin typeface="Inter"/>
              </a:rPr>
              <a:t>Guardrails, red-team tests and PII redaction</a:t>
            </a:r>
          </a:p>
          <a:p>
            <a:pPr marL="292608" indent="-292608">
              <a:lnSpc>
                <a:spcPct val="120000"/>
              </a:lnSpc>
              <a:spcAft>
                <a:spcPts val="1260"/>
              </a:spcAft>
              <a:buClr>
                <a:srgbClr val="00D4AA"/>
              </a:buClr>
              <a:buFont typeface="Inter"/>
              <a:buChar char="•"/>
            </a:pPr>
            <a:r>
              <a:rPr sz="1800" b="0">
                <a:solidFill>
                  <a:srgbClr val="FFFFFF"/>
                </a:solidFill>
                <a:latin typeface="Inter"/>
              </a:rPr>
              <a:t>Docker, LiveKit Cloud and a production checklist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to go next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Multilingual: language detection, per-language voices, WER per language</a:t>
            </a:r>
          </a:p>
          <a:p>
            <a:pPr marL="292608" indent="-292608">
              <a:lnSpc>
                <a:spcPct val="120000"/>
              </a:lnSpc>
              <a:spcAft>
                <a:spcPts val="1260"/>
              </a:spcAft>
              <a:buClr>
                <a:srgbClr val="00D4AA"/>
              </a:buClr>
              <a:buFont typeface="Inter"/>
              <a:buChar char="•"/>
            </a:pPr>
            <a:r>
              <a:rPr sz="1800" b="0">
                <a:solidFill>
                  <a:srgbClr val="FFFFFF"/>
                </a:solidFill>
                <a:latin typeface="Inter"/>
              </a:rPr>
              <a:t>Avatars: a face for Riley on the web front end</a:t>
            </a:r>
          </a:p>
          <a:p>
            <a:pPr marL="292608" indent="-292608">
              <a:lnSpc>
                <a:spcPct val="120000"/>
              </a:lnSpc>
              <a:spcAft>
                <a:spcPts val="1260"/>
              </a:spcAft>
              <a:buClr>
                <a:srgbClr val="00D4AA"/>
              </a:buClr>
              <a:buFont typeface="Inter"/>
              <a:buChar char="•"/>
            </a:pPr>
            <a:r>
              <a:rPr sz="1800" b="0">
                <a:solidFill>
                  <a:srgbClr val="FFFFFF"/>
                </a:solidFill>
                <a:latin typeface="Inter"/>
              </a:rPr>
              <a:t>Outbound campaigns: reminders at scale, with consent and do-not-call</a:t>
            </a:r>
          </a:p>
          <a:p>
            <a:pPr marL="292608" indent="-292608">
              <a:lnSpc>
                <a:spcPct val="120000"/>
              </a:lnSpc>
              <a:spcAft>
                <a:spcPts val="1260"/>
              </a:spcAft>
              <a:buClr>
                <a:srgbClr val="00D4AA"/>
              </a:buClr>
              <a:buFont typeface="Inter"/>
              <a:buChar char="•"/>
            </a:pPr>
            <a:r>
              <a:rPr sz="1800" b="0">
                <a:solidFill>
                  <a:srgbClr val="FFFFFF"/>
                </a:solidFill>
                <a:latin typeface="Inter"/>
              </a:rPr>
              <a:t>New domains: restaurants, property management, IT help desk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Build, Test, Operate path</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Build: Generative AI &amp; AI Agents: Zero to Production</a:t>
            </a:r>
          </a:p>
          <a:p>
            <a:pPr marL="292608" indent="-292608">
              <a:lnSpc>
                <a:spcPct val="120000"/>
              </a:lnSpc>
              <a:spcAft>
                <a:spcPts val="1539"/>
              </a:spcAft>
              <a:buClr>
                <a:srgbClr val="00D4AA"/>
              </a:buClr>
              <a:buFont typeface="Inter"/>
              <a:buChar char="•"/>
            </a:pPr>
            <a:r>
              <a:rPr sz="2200" b="0">
                <a:solidFill>
                  <a:srgbClr val="FFFFFF"/>
                </a:solidFill>
                <a:latin typeface="Inter"/>
              </a:rPr>
              <a:t>Test: AI Agent Testing &amp; Evaluation</a:t>
            </a:r>
          </a:p>
          <a:p>
            <a:pPr marL="292608" indent="-292608">
              <a:lnSpc>
                <a:spcPct val="120000"/>
              </a:lnSpc>
              <a:spcAft>
                <a:spcPts val="1539"/>
              </a:spcAft>
              <a:buClr>
                <a:srgbClr val="00D4AA"/>
              </a:buClr>
              <a:buFont typeface="Inter"/>
              <a:buChar char="•"/>
            </a:pPr>
            <a:r>
              <a:rPr sz="2200" b="0">
                <a:solidFill>
                  <a:srgbClr val="FFFFFF"/>
                </a:solidFill>
                <a:latin typeface="Inter"/>
              </a:rPr>
              <a:t>Operate in real time: this course</a:t>
            </a:r>
          </a:p>
          <a:p>
            <a:pPr marL="292608" indent="-292608">
              <a:lnSpc>
                <a:spcPct val="120000"/>
              </a:lnSpc>
              <a:spcAft>
                <a:spcPts val="1539"/>
              </a:spcAft>
              <a:buClr>
                <a:srgbClr val="00D4AA"/>
              </a:buClr>
              <a:buFont typeface="Inter"/>
              <a:buChar char="•"/>
            </a:pPr>
            <a:r>
              <a:rPr sz="2200" b="0">
                <a:solidFill>
                  <a:srgbClr val="FFFFFF"/>
                </a:solidFill>
                <a:latin typeface="Inter"/>
              </a:rPr>
              <a:t>All three stand alone; together they cover the full lifecycle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next 7 days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Finish the capstone and push it to GitHub</a:t>
            </a:r>
          </a:p>
          <a:p>
            <a:pPr marL="292608" indent="-292608">
              <a:lnSpc>
                <a:spcPct val="120000"/>
              </a:lnSpc>
              <a:spcAft>
                <a:spcPts val="1539"/>
              </a:spcAft>
              <a:buClr>
                <a:srgbClr val="00D4AA"/>
              </a:buClr>
              <a:buFont typeface="Inter"/>
              <a:buChar char="•"/>
            </a:pPr>
            <a:r>
              <a:rPr sz="2200" b="0">
                <a:solidFill>
                  <a:srgbClr val="FFFFFF"/>
                </a:solidFill>
                <a:latin typeface="Inter"/>
              </a:rPr>
              <a:t>Record a two-minute demo call</a:t>
            </a:r>
          </a:p>
          <a:p>
            <a:pPr marL="292608" indent="-292608">
              <a:lnSpc>
                <a:spcPct val="120000"/>
              </a:lnSpc>
              <a:spcAft>
                <a:spcPts val="1539"/>
              </a:spcAft>
              <a:buClr>
                <a:srgbClr val="00D4AA"/>
              </a:buClr>
              <a:buFont typeface="Inter"/>
              <a:buChar char="•"/>
            </a:pPr>
            <a:r>
              <a:rPr sz="2200" b="0">
                <a:solidFill>
                  <a:srgbClr val="FFFFFF"/>
                </a:solidFill>
                <a:latin typeface="Inter"/>
              </a:rPr>
              <a:t>Change one thing (domain, language or voice) and re-run the full test suite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production voice agent, built and tested</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Proof: tests, traces and cost per minute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Next: multilingual, avatars, outbound or a new domain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Final practice test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test yourself with the forty-question final practice test.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15 · WRAP-UP AND NEXT STEPS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15.2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Final practice test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end-to-end understanding across all fifteen sections.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Final practice test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40 questions across all 15 sections</a:t>
            </a:r>
          </a:p>
          <a:p>
            <a:pPr marL="292608" indent="-292608">
              <a:lnSpc>
                <a:spcPct val="120000"/>
              </a:lnSpc>
              <a:spcAft>
                <a:spcPts val="1539"/>
              </a:spcAft>
              <a:buClr>
                <a:srgbClr val="00D4AA"/>
              </a:buClr>
              <a:buFont typeface="Inter"/>
              <a:buChar char="•"/>
            </a:pPr>
            <a:r>
              <a:rPr sz="2200" b="0">
                <a:solidFill>
                  <a:srgbClr val="FFFFFF"/>
                </a:solidFill>
                <a:latin typeface="Inter"/>
              </a:rPr>
              <a:t>Architecture, prompting, tools, telephony, testing, observability, security, deployment</a:t>
            </a:r>
          </a:p>
          <a:p>
            <a:pPr marL="292608" indent="-292608">
              <a:lnSpc>
                <a:spcPct val="120000"/>
              </a:lnSpc>
              <a:spcAft>
                <a:spcPts val="1539"/>
              </a:spcAft>
              <a:buClr>
                <a:srgbClr val="00D4AA"/>
              </a:buClr>
              <a:buFont typeface="Inter"/>
              <a:buChar char="•"/>
            </a:pPr>
            <a:r>
              <a:rPr sz="2200" b="0">
                <a:solidFill>
                  <a:srgbClr val="FFFFFF"/>
                </a:solidFill>
                <a:latin typeface="Inter"/>
              </a:rPr>
              <a:t>Read every explanation, even for answers you got right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Careers: voice AI roles, interview questions, pricing a client project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turn these skills into a career: roles, interview questions, and how to scope and price 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15 · WRAP-UP AND NEXT STEPS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15.4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Careers: voice AI roles, interview questions, pricing a client project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Name the job titles that hire for voice agent skills and what each one emphasises.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Roles that hire for this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Voice AI engineer: real-time pipelines, latency, telephony</a:t>
            </a:r>
          </a:p>
          <a:p>
            <a:pPr marL="292608" indent="-292608">
              <a:lnSpc>
                <a:spcPct val="120000"/>
              </a:lnSpc>
              <a:spcAft>
                <a:spcPts val="1260"/>
              </a:spcAft>
              <a:buClr>
                <a:srgbClr val="00D4AA"/>
              </a:buClr>
              <a:buFont typeface="Inter"/>
              <a:buChar char="•"/>
            </a:pPr>
            <a:r>
              <a:rPr sz="1800" b="0">
                <a:solidFill>
                  <a:srgbClr val="FFFFFF"/>
                </a:solidFill>
                <a:latin typeface="Inter"/>
              </a:rPr>
              <a:t>Conversational AI engineer: dialogue design, prompts, evaluation</a:t>
            </a:r>
          </a:p>
          <a:p>
            <a:pPr marL="292608" indent="-292608">
              <a:lnSpc>
                <a:spcPct val="120000"/>
              </a:lnSpc>
              <a:spcAft>
                <a:spcPts val="1260"/>
              </a:spcAft>
              <a:buClr>
                <a:srgbClr val="00D4AA"/>
              </a:buClr>
              <a:buFont typeface="Inter"/>
              <a:buChar char="•"/>
            </a:pPr>
            <a:r>
              <a:rPr sz="1800" b="0">
                <a:solidFill>
                  <a:srgbClr val="FFFFFF"/>
                </a:solidFill>
                <a:latin typeface="Inter"/>
              </a:rPr>
              <a:t>AI solutions engineer: customer-facing builds, integrations, demos</a:t>
            </a:r>
          </a:p>
          <a:p>
            <a:pPr marL="292608" indent="-292608">
              <a:lnSpc>
                <a:spcPct val="120000"/>
              </a:lnSpc>
              <a:spcAft>
                <a:spcPts val="1260"/>
              </a:spcAft>
              <a:buClr>
                <a:srgbClr val="00D4AA"/>
              </a:buClr>
              <a:buFont typeface="Inter"/>
              <a:buChar char="•"/>
            </a:pPr>
            <a:r>
              <a:rPr sz="1800" b="0">
                <a:solidFill>
                  <a:srgbClr val="FFFFFF"/>
                </a:solidFill>
                <a:latin typeface="Inter"/>
              </a:rPr>
              <a:t>Also: applied AI engineer, AI product engineer, forward-deployed engineer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evidence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capstone repo with a clear README</a:t>
            </a:r>
          </a:p>
          <a:p>
            <a:pPr marL="292608" indent="-292608">
              <a:lnSpc>
                <a:spcPct val="120000"/>
              </a:lnSpc>
              <a:spcAft>
                <a:spcPts val="1539"/>
              </a:spcAft>
              <a:buClr>
                <a:srgbClr val="00D4AA"/>
              </a:buClr>
              <a:buFont typeface="Inter"/>
              <a:buChar char="•"/>
            </a:pPr>
            <a:r>
              <a:rPr sz="2200" b="0">
                <a:solidFill>
                  <a:srgbClr val="FFFFFF"/>
                </a:solidFill>
                <a:latin typeface="Inter"/>
              </a:rPr>
              <a:t>A two-minute demo call recording</a:t>
            </a:r>
          </a:p>
          <a:p>
            <a:pPr marL="292608" indent="-292608">
              <a:lnSpc>
                <a:spcPct val="120000"/>
              </a:lnSpc>
              <a:spcAft>
                <a:spcPts val="1539"/>
              </a:spcAft>
              <a:buClr>
                <a:srgbClr val="00D4AA"/>
              </a:buClr>
              <a:buFont typeface="Inter"/>
              <a:buChar char="•"/>
            </a:pPr>
            <a:r>
              <a:rPr sz="2200" b="0">
                <a:solidFill>
                  <a:srgbClr val="FFFFFF"/>
                </a:solidFill>
                <a:latin typeface="Inter"/>
              </a:rPr>
              <a:t>Your latency report and cost per minute</a:t>
            </a:r>
          </a:p>
          <a:p>
            <a:pPr marL="292608" indent="-292608">
              <a:lnSpc>
                <a:spcPct val="120000"/>
              </a:lnSpc>
              <a:spcAft>
                <a:spcPts val="1539"/>
              </a:spcAft>
              <a:buClr>
                <a:srgbClr val="00D4AA"/>
              </a:buClr>
              <a:buFont typeface="Inter"/>
              <a:buChar char="•"/>
            </a:pPr>
            <a:r>
              <a:rPr sz="2200" b="0">
                <a:solidFill>
                  <a:srgbClr val="FFFFFF"/>
                </a:solidFill>
                <a:latin typeface="Inter"/>
              </a:rPr>
              <a:t>The domain-swap project from Lecture 13.7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Interview questions 1-4: architecture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Cascaded vs speech-to-speech: when would you pick each?</a:t>
            </a:r>
          </a:p>
          <a:p>
            <a:pPr marL="292608" indent="-292608">
              <a:lnSpc>
                <a:spcPct val="120000"/>
              </a:lnSpc>
              <a:spcAft>
                <a:spcPts val="1539"/>
              </a:spcAft>
              <a:buClr>
                <a:srgbClr val="00D4AA"/>
              </a:buClr>
              <a:buFont typeface="Inter"/>
              <a:buChar char="•"/>
            </a:pPr>
            <a:r>
              <a:rPr sz="2200" b="0">
                <a:solidFill>
                  <a:srgbClr val="FFFFFF"/>
                </a:solidFill>
                <a:latin typeface="Inter"/>
              </a:rPr>
              <a:t>Where does latency come from in a voice pipeline?</a:t>
            </a:r>
          </a:p>
          <a:p>
            <a:pPr marL="292608" indent="-292608">
              <a:lnSpc>
                <a:spcPct val="120000"/>
              </a:lnSpc>
              <a:spcAft>
                <a:spcPts val="1539"/>
              </a:spcAft>
              <a:buClr>
                <a:srgbClr val="00D4AA"/>
              </a:buClr>
              <a:buFont typeface="Inter"/>
              <a:buChar char="•"/>
            </a:pPr>
            <a:r>
              <a:rPr sz="2200" b="0">
                <a:solidFill>
                  <a:srgbClr val="FFFFFF"/>
                </a:solidFill>
                <a:latin typeface="Inter"/>
              </a:rPr>
              <a:t>What's the difference between VAD and turn detection?</a:t>
            </a:r>
          </a:p>
          <a:p>
            <a:pPr marL="292608" indent="-292608">
              <a:lnSpc>
                <a:spcPct val="120000"/>
              </a:lnSpc>
              <a:spcAft>
                <a:spcPts val="1539"/>
              </a:spcAft>
              <a:buClr>
                <a:srgbClr val="00D4AA"/>
              </a:buClr>
              <a:buFont typeface="Inter"/>
              <a:buChar char="•"/>
            </a:pPr>
            <a:r>
              <a:rPr sz="2200" b="0">
                <a:solidFill>
                  <a:srgbClr val="FFFFFF"/>
                </a:solidFill>
                <a:latin typeface="Inter"/>
              </a:rPr>
              <a:t>How do you handle interruptions?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Interview questions 5-8: tools, telephony, testing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How do you make tool calls safe?</a:t>
            </a:r>
          </a:p>
          <a:p>
            <a:pPr marL="292608" indent="-292608">
              <a:lnSpc>
                <a:spcPct val="120000"/>
              </a:lnSpc>
              <a:spcAft>
                <a:spcPts val="1539"/>
              </a:spcAft>
              <a:buClr>
                <a:srgbClr val="00D4AA"/>
              </a:buClr>
              <a:buFont typeface="Inter"/>
              <a:buChar char="•"/>
            </a:pPr>
            <a:r>
              <a:rPr sz="2200" b="0">
                <a:solidFill>
                  <a:srgbClr val="FFFFFF"/>
                </a:solidFill>
                <a:latin typeface="Inter"/>
              </a:rPr>
              <a:t>How does a phone call reach your agent?</a:t>
            </a:r>
          </a:p>
          <a:p>
            <a:pPr marL="292608" indent="-292608">
              <a:lnSpc>
                <a:spcPct val="120000"/>
              </a:lnSpc>
              <a:spcAft>
                <a:spcPts val="1539"/>
              </a:spcAft>
              <a:buClr>
                <a:srgbClr val="00D4AA"/>
              </a:buClr>
              <a:buFont typeface="Inter"/>
              <a:buChar char="•"/>
            </a:pPr>
            <a:r>
              <a:rPr sz="2200" b="0">
                <a:solidFill>
                  <a:srgbClr val="FFFFFF"/>
                </a:solidFill>
                <a:latin typeface="Inter"/>
              </a:rPr>
              <a:t>How do you test a voice agent?</a:t>
            </a:r>
          </a:p>
          <a:p>
            <a:pPr marL="292608" indent="-292608">
              <a:lnSpc>
                <a:spcPct val="120000"/>
              </a:lnSpc>
              <a:spcAft>
                <a:spcPts val="1539"/>
              </a:spcAft>
              <a:buClr>
                <a:srgbClr val="00D4AA"/>
              </a:buClr>
              <a:buFont typeface="Inter"/>
              <a:buChar char="•"/>
            </a:pPr>
            <a:r>
              <a:rPr sz="2200" b="0">
                <a:solidFill>
                  <a:srgbClr val="FFFFFF"/>
                </a:solidFill>
                <a:latin typeface="Inter"/>
              </a:rPr>
              <a:t>How do you test speech recognition quality?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Interview questions 9-12: production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What does it cost per minute, and where does the money go?</a:t>
            </a:r>
          </a:p>
          <a:p>
            <a:pPr marL="292608" indent="-292608">
              <a:lnSpc>
                <a:spcPct val="120000"/>
              </a:lnSpc>
              <a:spcAft>
                <a:spcPts val="1539"/>
              </a:spcAft>
              <a:buClr>
                <a:srgbClr val="00D4AA"/>
              </a:buClr>
              <a:buFont typeface="Inter"/>
              <a:buChar char="•"/>
            </a:pPr>
            <a:r>
              <a:rPr sz="2200" b="0">
                <a:solidFill>
                  <a:srgbClr val="FFFFFF"/>
                </a:solidFill>
                <a:latin typeface="Inter"/>
              </a:rPr>
              <a:t>How do you protect personal data?</a:t>
            </a:r>
          </a:p>
          <a:p>
            <a:pPr marL="292608" indent="-292608">
              <a:lnSpc>
                <a:spcPct val="120000"/>
              </a:lnSpc>
              <a:spcAft>
                <a:spcPts val="1539"/>
              </a:spcAft>
              <a:buClr>
                <a:srgbClr val="00D4AA"/>
              </a:buClr>
              <a:buFont typeface="Inter"/>
              <a:buChar char="•"/>
            </a:pPr>
            <a:r>
              <a:rPr sz="2200" b="0">
                <a:solidFill>
                  <a:srgbClr val="FFFFFF"/>
                </a:solidFill>
                <a:latin typeface="Inter"/>
              </a:rPr>
              <a:t>What happens when a provider goes down mid-call?</a:t>
            </a:r>
          </a:p>
          <a:p>
            <a:pPr marL="292608" indent="-292608">
              <a:lnSpc>
                <a:spcPct val="120000"/>
              </a:lnSpc>
              <a:spcAft>
                <a:spcPts val="1539"/>
              </a:spcAft>
              <a:buClr>
                <a:srgbClr val="00D4AA"/>
              </a:buClr>
              <a:buFont typeface="Inter"/>
              <a:buChar char="•"/>
            </a:pPr>
            <a:r>
              <a:rPr sz="2200" b="0">
                <a:solidFill>
                  <a:srgbClr val="FFFFFF"/>
                </a:solidFill>
                <a:latin typeface="Inter"/>
              </a:rPr>
              <a:t>How do you deploy without dropping calls?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Freelance: scoping a voice agent project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Discovery: call volume, call types, systems to integrate, compliance needs</a:t>
            </a:r>
          </a:p>
          <a:p>
            <a:pPr marL="292608" indent="-292608">
              <a:lnSpc>
                <a:spcPct val="120000"/>
              </a:lnSpc>
              <a:spcAft>
                <a:spcPts val="1260"/>
              </a:spcAft>
              <a:buClr>
                <a:srgbClr val="00D4AA"/>
              </a:buClr>
              <a:buFont typeface="Inter"/>
              <a:buChar char="•"/>
            </a:pPr>
            <a:r>
              <a:rPr sz="1800" b="0">
                <a:solidFill>
                  <a:srgbClr val="FFFFFF"/>
                </a:solidFill>
                <a:latin typeface="Inter"/>
              </a:rPr>
              <a:t>A written scope: which call types, which integrations, what "done" means</a:t>
            </a:r>
          </a:p>
          <a:p>
            <a:pPr marL="292608" indent="-292608">
              <a:lnSpc>
                <a:spcPct val="120000"/>
              </a:lnSpc>
              <a:spcAft>
                <a:spcPts val="1260"/>
              </a:spcAft>
              <a:buClr>
                <a:srgbClr val="00D4AA"/>
              </a:buClr>
              <a:buFont typeface="Inter"/>
              <a:buChar char="•"/>
            </a:pPr>
            <a:r>
              <a:rPr sz="1800" b="0">
                <a:solidFill>
                  <a:srgbClr val="FFFFFF"/>
                </a:solidFill>
                <a:latin typeface="Inter"/>
              </a:rPr>
              <a:t>Acceptance tests agreed up front (your Section 9 suite)</a:t>
            </a:r>
          </a:p>
          <a:p>
            <a:pPr marL="292608" indent="-292608">
              <a:lnSpc>
                <a:spcPct val="120000"/>
              </a:lnSpc>
              <a:spcAft>
                <a:spcPts val="1260"/>
              </a:spcAft>
              <a:buClr>
                <a:srgbClr val="00D4AA"/>
              </a:buClr>
              <a:buFont typeface="Inter"/>
              <a:buChar char="•"/>
            </a:pPr>
            <a:r>
              <a:rPr sz="1800" b="0">
                <a:solidFill>
                  <a:srgbClr val="FFFFFF"/>
                </a:solidFill>
                <a:latin typeface="Inter"/>
              </a:rPr>
              <a:t>A pilot: limited hours or one location, then expand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Freelance: structuring the price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Discovery fee (fixed)</a:t>
            </a:r>
          </a:p>
          <a:p>
            <a:pPr marL="292608" indent="-292608">
              <a:lnSpc>
                <a:spcPct val="120000"/>
              </a:lnSpc>
              <a:spcAft>
                <a:spcPts val="1539"/>
              </a:spcAft>
              <a:buClr>
                <a:srgbClr val="00D4AA"/>
              </a:buClr>
              <a:buFont typeface="Inter"/>
              <a:buChar char="•"/>
            </a:pPr>
            <a:r>
              <a:rPr sz="2200" b="0">
                <a:solidFill>
                  <a:srgbClr val="FFFFFF"/>
                </a:solidFill>
                <a:latin typeface="Inter"/>
              </a:rPr>
              <a:t>Setup / build fee (fixed, based on scope and integrations)</a:t>
            </a:r>
          </a:p>
          <a:p>
            <a:pPr marL="292608" indent="-292608">
              <a:lnSpc>
                <a:spcPct val="120000"/>
              </a:lnSpc>
              <a:spcAft>
                <a:spcPts val="1539"/>
              </a:spcAft>
              <a:buClr>
                <a:srgbClr val="00D4AA"/>
              </a:buClr>
              <a:buFont typeface="Inter"/>
              <a:buChar char="•"/>
            </a:pPr>
            <a:r>
              <a:rPr sz="2200" b="0">
                <a:solidFill>
                  <a:srgbClr val="FFFFFF"/>
                </a:solidFill>
                <a:latin typeface="Inter"/>
              </a:rPr>
              <a:t>Monthly retainer (monitoring, prompt updates, test maintenance)</a:t>
            </a:r>
          </a:p>
          <a:p>
            <a:pPr marL="292608" indent="-292608">
              <a:lnSpc>
                <a:spcPct val="120000"/>
              </a:lnSpc>
              <a:spcAft>
                <a:spcPts val="1539"/>
              </a:spcAft>
              <a:buClr>
                <a:srgbClr val="00D4AA"/>
              </a:buClr>
              <a:buFont typeface="Inter"/>
              <a:buChar char="•"/>
            </a:pPr>
            <a:r>
              <a:rPr sz="2200" b="0">
                <a:solidFill>
                  <a:srgbClr val="FFFFFF"/>
                </a:solidFill>
                <a:latin typeface="Inter"/>
              </a:rPr>
              <a:t>Usage passed through: cost per minute × minutes, plus an agreed margin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Put these in writing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What's out of scope (and what counts as a change request)</a:t>
            </a:r>
          </a:p>
          <a:p>
            <a:pPr marL="292608" indent="-292608">
              <a:lnSpc>
                <a:spcPct val="120000"/>
              </a:lnSpc>
              <a:spcAft>
                <a:spcPts val="1539"/>
              </a:spcAft>
              <a:buClr>
                <a:srgbClr val="00D4AA"/>
              </a:buClr>
              <a:buFont typeface="Inter"/>
              <a:buChar char="•"/>
            </a:pPr>
            <a:r>
              <a:rPr sz="2200" b="0">
                <a:solidFill>
                  <a:srgbClr val="FFFFFF"/>
                </a:solidFill>
                <a:latin typeface="Inter"/>
              </a:rPr>
              <a:t>Who owns provider accounts and API keys</a:t>
            </a:r>
          </a:p>
          <a:p>
            <a:pPr marL="292608" indent="-292608">
              <a:lnSpc>
                <a:spcPct val="120000"/>
              </a:lnSpc>
              <a:spcAft>
                <a:spcPts val="1539"/>
              </a:spcAft>
              <a:buClr>
                <a:srgbClr val="00D4AA"/>
              </a:buClr>
              <a:buFont typeface="Inter"/>
              <a:buChar char="•"/>
            </a:pPr>
            <a:r>
              <a:rPr sz="2200" b="0">
                <a:solidFill>
                  <a:srgbClr val="FFFFFF"/>
                </a:solidFill>
                <a:latin typeface="Inter"/>
              </a:rPr>
              <a:t>Response times for fixes, and what counts as urgent</a:t>
            </a:r>
          </a:p>
          <a:p>
            <a:pPr marL="292608" indent="-292608">
              <a:lnSpc>
                <a:spcPct val="120000"/>
              </a:lnSpc>
              <a:spcAft>
                <a:spcPts val="1539"/>
              </a:spcAft>
              <a:buClr>
                <a:srgbClr val="00D4AA"/>
              </a:buClr>
              <a:buFont typeface="Inter"/>
              <a:buChar char="•"/>
            </a:pPr>
            <a:r>
              <a:rPr sz="2200" b="0">
                <a:solidFill>
                  <a:srgbClr val="FFFFFF"/>
                </a:solidFill>
                <a:latin typeface="Inter"/>
              </a:rPr>
              <a:t>Who owns compliance review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Search for skills, not titles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Answer with a mechanism plus evidence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Price as discovery, setup, retainer, pass-through usage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Bonus lecture: keep building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One more short video to finish the course: the bonus lecture.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15 · WRAP-UP AND NEXT STEPS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15.3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Bonus lecture: keep building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Know where to get help and updates after the course: the Q&amp;A, the repo README and announcements.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Keeping your project current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Voice AI libraries release often</a:t>
            </a:r>
          </a:p>
          <a:p>
            <a:pPr marL="292608" indent="-292608">
              <a:lnSpc>
                <a:spcPct val="120000"/>
              </a:lnSpc>
              <a:spcAft>
                <a:spcPts val="1539"/>
              </a:spcAft>
              <a:buClr>
                <a:srgbClr val="00D4AA"/>
              </a:buClr>
              <a:buFont typeface="Inter"/>
              <a:buChar char="•"/>
            </a:pPr>
            <a:r>
              <a:rPr sz="2200" b="0">
                <a:solidFill>
                  <a:srgbClr val="FFFFFF"/>
                </a:solidFill>
                <a:latin typeface="Inter"/>
              </a:rPr>
              <a:t>The repo README lists the tested versions</a:t>
            </a:r>
          </a:p>
          <a:p>
            <a:pPr marL="292608" indent="-292608">
              <a:lnSpc>
                <a:spcPct val="120000"/>
              </a:lnSpc>
              <a:spcAft>
                <a:spcPts val="1539"/>
              </a:spcAft>
              <a:buClr>
                <a:srgbClr val="00D4AA"/>
              </a:buClr>
              <a:buFont typeface="Inter"/>
              <a:buChar char="•"/>
            </a:pPr>
            <a:r>
              <a:rPr sz="2200" b="0">
                <a:solidFill>
                  <a:srgbClr val="FFFFFF"/>
                </a:solidFill>
                <a:latin typeface="Inter"/>
              </a:rPr>
              <a:t>Course announcements flag breaking changes</a:t>
            </a:r>
          </a:p>
          <a:p>
            <a:pPr marL="292608" indent="-292608">
              <a:lnSpc>
                <a:spcPct val="120000"/>
              </a:lnSpc>
              <a:spcAft>
                <a:spcPts val="1539"/>
              </a:spcAft>
              <a:buClr>
                <a:srgbClr val="00D4AA"/>
              </a:buClr>
              <a:buFont typeface="Inter"/>
              <a:buChar char="•"/>
            </a:pPr>
            <a:r>
              <a:rPr sz="2200" b="0">
                <a:solidFill>
                  <a:srgbClr val="FFFFFF"/>
                </a:solidFill>
                <a:latin typeface="Inter"/>
              </a:rPr>
              <a:t>Pin your versions in production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Getting help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Q&amp;A: include your command, the full error and your versions</a:t>
            </a:r>
          </a:p>
          <a:p>
            <a:pPr marL="292608" indent="-292608">
              <a:lnSpc>
                <a:spcPct val="120000"/>
              </a:lnSpc>
              <a:spcAft>
                <a:spcPts val="1539"/>
              </a:spcAft>
              <a:buClr>
                <a:srgbClr val="00D4AA"/>
              </a:buClr>
              <a:buFont typeface="Inter"/>
              <a:buChar char="•"/>
            </a:pPr>
            <a:r>
              <a:rPr sz="2200" b="0">
                <a:solidFill>
                  <a:srgbClr val="FFFFFF"/>
                </a:solidFill>
                <a:latin typeface="Inter"/>
              </a:rPr>
              <a:t>Search the Q&amp;A first: most setup issues are answered there</a:t>
            </a:r>
          </a:p>
          <a:p>
            <a:pPr marL="292608" indent="-292608">
              <a:lnSpc>
                <a:spcPct val="120000"/>
              </a:lnSpc>
              <a:spcAft>
                <a:spcPts val="1539"/>
              </a:spcAft>
              <a:buClr>
                <a:srgbClr val="00D4AA"/>
              </a:buClr>
              <a:buFont typeface="Inter"/>
              <a:buChar char="•"/>
            </a:pPr>
            <a:r>
              <a:rPr sz="2200" b="0">
                <a:solidFill>
                  <a:srgbClr val="FFFFFF"/>
                </a:solidFill>
                <a:latin typeface="Inter"/>
              </a:rPr>
              <a:t>Share your capstone demo: it helps other students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Related courses (optional)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Generative AI &amp; AI Agents: Zero to Production: build text agents from first principles</a:t>
            </a:r>
          </a:p>
          <a:p>
            <a:pPr marL="292608" indent="-292608">
              <a:lnSpc>
                <a:spcPct val="120000"/>
              </a:lnSpc>
              <a:spcAft>
                <a:spcPts val="1539"/>
              </a:spcAft>
              <a:buClr>
                <a:srgbClr val="00D4AA"/>
              </a:buClr>
              <a:buFont typeface="Inter"/>
              <a:buChar char="•"/>
            </a:pPr>
            <a:r>
              <a:rPr sz="2200" b="0">
                <a:solidFill>
                  <a:srgbClr val="FFFFFF"/>
                </a:solidFill>
                <a:latin typeface="Inter"/>
              </a:rPr>
              <a:t>AI Agent Testing &amp; Evaluation: go deep on evals, judges and test strategy</a:t>
            </a:r>
          </a:p>
          <a:p>
            <a:pPr marL="292608" indent="-292608">
              <a:lnSpc>
                <a:spcPct val="120000"/>
              </a:lnSpc>
              <a:spcAft>
                <a:spcPts val="1539"/>
              </a:spcAft>
              <a:buClr>
                <a:srgbClr val="00D4AA"/>
              </a:buClr>
              <a:buFont typeface="Inter"/>
              <a:buChar char="•"/>
            </a:pPr>
            <a:r>
              <a:rPr sz="2200" b="0">
                <a:solidFill>
                  <a:srgbClr val="FFFFFF"/>
                </a:solidFill>
                <a:latin typeface="Inter"/>
              </a:rPr>
              <a:t>Links are in the resources panel for this lecture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Thank you</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Finish the capstone</a:t>
            </a:r>
          </a:p>
          <a:p>
            <a:pPr marL="292608" indent="-292608">
              <a:lnSpc>
                <a:spcPct val="120000"/>
              </a:lnSpc>
              <a:spcAft>
                <a:spcPts val="1539"/>
              </a:spcAft>
              <a:buClr>
                <a:srgbClr val="00D4AA"/>
              </a:buClr>
              <a:buFont typeface="Inter"/>
              <a:buChar char="•"/>
            </a:pPr>
            <a:r>
              <a:rPr sz="2200" b="0">
                <a:solidFill>
                  <a:srgbClr val="FFFFFF"/>
                </a:solidFill>
                <a:latin typeface="Inter"/>
              </a:rPr>
              <a:t>Share your demo</a:t>
            </a:r>
          </a:p>
          <a:p>
            <a:pPr marL="292608" indent="-292608">
              <a:lnSpc>
                <a:spcPct val="120000"/>
              </a:lnSpc>
              <a:spcAft>
                <a:spcPts val="1539"/>
              </a:spcAft>
              <a:buClr>
                <a:srgbClr val="00D4AA"/>
              </a:buClr>
              <a:buFont typeface="Inter"/>
              <a:buChar char="•"/>
            </a:pPr>
            <a:r>
              <a:rPr sz="2200" b="0">
                <a:solidFill>
                  <a:srgbClr val="FFFFFF"/>
                </a:solidFill>
                <a:latin typeface="Inter"/>
              </a:rPr>
              <a:t>Keep your tests green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Pin versions; upgrade on a branch with tests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Ask in the Q&amp;A with command, error, versions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Related courses are optional next steps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15 · Lecture 15.3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Build a voice agent from pipeline to phone number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Test it across the full voice testing pyramid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Deploy, observe and price it in production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