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Accounts you need and what they cost.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accounts you need today. LiveKit Cloud and OpenAI. Everything else is either optional or waits until Section eight.</a:t>
            </a:r>
          </a:p>
          <a:p/>
          <a:p>
            <a:r>
              <a:t>Why so few? Because of something called LiveKit Inference. Let me explain it, because it changes which accounts you need.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column, "Direct provider plugins":</a:t>
            </a:r>
          </a:p>
          <a:p>
            <a:r>
              <a:t>- Your own account and key per provider</a:t>
            </a:r>
          </a:p>
          <a:p>
            <a:r>
              <a:t>- Access to every provider-specific option</a:t>
            </a:r>
          </a:p>
          <a:p/>
          <a:p>
            <a:r>
              <a:t>There are two ways to call a model from LiveKit Agents. On the left, model strings. You write "deepgram slash nova-three" and LiveKit Cloud calls Deepgram for you, and bills you through your LiveKit account. One account. One bill. No Deepgram key.</a:t>
            </a:r>
          </a:p>
          <a:p/>
          <a:p>
            <a:r>
              <a:t>On the right, direct plugins. You import the Deepgram plugin, give it your own Deepgram key, and call Deepgram directly. You pay Deepgram directly, and you get every provider-specific setting.</a:t>
            </a:r>
          </a:p>
          <a:p/>
          <a:p>
            <a:r>
              <a:t>[SCREEN: VS Code, `03-code/.env.example`, the "Models" block. Highlight `MAPLE_PROVIDER_MODE=inference`, then the `STT_MODEL`, `LLM_MODEL...]</a:t>
            </a:r>
          </a:p>
          <a:p/>
          <a:p>
            <a:r>
              <a:t>This course defaults to model strings, because it means fewer accounts on day one. You can see it in the settings template of the repo you'll clone next lecture: provider mode is "inference," and the three models are plain strings. In Lecture 3.5 you'll see when it's worth switching to plugins. The good news is it's a one-line change in that file.</a:t>
            </a:r>
          </a:p>
          <a:p/>
          <a:p>
            <a:r>
              <a:t>[SCREEN: Browser. Go to cloud.livekit.io. Click "Sign up", sign in with GitHub. Show the new project dashboard. Hover over the "Settings"...]</a:t>
            </a:r>
          </a:p>
          <a:p/>
          <a:p>
            <a:r>
              <a:t>Account one, LiveKit Cloud. Go to cloud dot livekit dot io and sign up. I'm using my GitHub login. It creates your first project automatically. A project is a container for your rooms, your agents and your keys.</a:t>
            </a:r>
          </a:p>
          <a:p/>
          <a:p>
            <a:r>
              <a:t>The free tier includes a monthly allowance of agent session minutes and some inference credits. That's enough for most of this course. Don't create keys yet. We'll let the LiveKit command-line tool do that in Lecture 2.3.</a:t>
            </a:r>
          </a:p>
          <a:p/>
          <a:p>
            <a:r>
              <a:t>[SCREEN: Browser. Go to platform.openai.com. Show Billing → add a small prepaid credit. Then Limits → set a monthly budget. Then API keys...]</a:t>
            </a:r>
          </a:p>
          <a:p/>
          <a:p>
            <a:r>
              <a:t>Account two, OpenAI. We use it for three things. Riley's LLM, if you switch to the plugin. The speech-to-speech model in Section six. And the judge model that grades Riley's answers in Section nine.</a:t>
            </a:r>
          </a:p>
          <a:p/>
          <a:p>
            <a:r>
              <a:t>Go to platform dot openai dot com. Add a small prepaid credit. Five dollars is plenty to start. Then do the step most people skip. Go to Limits, and set a monthly budget. I set mine to twenty dollars. Now a runaway test loop can't surprise you.</a:t>
            </a:r>
          </a:p>
          <a:p/>
          <a:p>
            <a:r>
              <a:t>Create a secret key, name it "voice-course", and copy it somewhere safe for a minute. You'll paste it into a file in the next lecture.</a:t>
            </a:r>
          </a:p>
          <a:p/>
          <a:p>
            <a:r>
              <a:t>[SCREEN: Quick tour, ten seconds each: deepgram.com signup page, cartesia.ai signup page, elevenlabs.io pricing page. Don't sign up on ca...]</a:t>
            </a:r>
          </a:p>
          <a:p/>
          <a:p>
            <a:r>
              <a:t>The optional accounts. Deepgram for speech-to-text. Cartesia for text-to-speech. ElevenLabs, if you want to try another voice provider. You only need these if you want to use direct plugins. Each has a free tier or signup credit, so there's no harm in grabbing them later when you get curious.</a:t>
            </a:r>
          </a:p>
          <a:p/>
          <a:p>
            <a:r>
              <a:t>[SCREEN: twilio.com trial signup page, pointing at "trial credit".]</a:t>
            </a:r>
          </a:p>
          <a:p/>
          <a:p>
            <a:r>
              <a:t>And Twilio, which gives Riley a real phone number in Section eight. The trial comes with some credit, which is enough for the course. We'll set it up when we get there, so don't worry about it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full picture on one slide. Screenshot it, or open the provider cost guide in the resources folder, which has links to every pricing page.</a:t>
            </a:r>
          </a:p>
          <a:p/>
          <a:p>
            <a:r>
              <a:t>Every price here says "check current pricing," and I mean it. Voice AI pricing changes every few months. Usually downward, but not always.</a:t>
            </a:r>
          </a:p>
          <a:p/>
          <a:p>
            <a:r>
              <a:t>So where does the money actually go? A cascaded call costs a few cents per minute. Text-to-speech is usually the biggest slice, then the platform minutes, then speech-to-text. The LLM is often the smallest part, because Riley's replies are short. Speech-to-speech models cost more per minute. You'll measure all of this properly in Section 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habits keep your bill tiny. Set that OpenAI limit today. When you're tweaking a prompt, use text mode, which skips speech-to-text and text-to-speech entirely. Run the unit tests as often as you like, because they're offline and free. Stop your dev server when you walk away. And when you finish Section eight, release your Twilio number if you don't need it. In Lecture 2.7, we'll go deeper, including a mock mode that costs nothing at all.</a:t>
            </a:r>
          </a:p>
          <a:p/>
          <a:p>
            <a:r>
              <a:t>One last thing. Treat your keys like passwords. They never go in a screenshot, a Git commit or a Q&amp;A post. If one leaks, delete it and make a new one. It takes thirty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Python project setup with uv.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can't use uv, say on a locked-down work laptop, here's the fallback. Make a virtual environment, activate it, and pip install the project in editable mode with the dev extras. Then, everywhere I type `uv run`, you just leave it off.</a:t>
            </a:r>
          </a:p>
          <a:p/>
          <a:p>
            <a:r>
              <a:t>[SCREEN: Terminal, then VS Code with `.env` open.]</a:t>
            </a:r>
          </a:p>
          <a:p/>
          <a:p>
            <a:r>
              <a:t>Now the secrets. The repo includes a template called dot env dot example. Copy it to dot env.</a:t>
            </a:r>
          </a:p>
          <a:p/>
          <a:p>
            <a:r>
              <a:t>[CODE: create your .env]</a:t>
            </a:r>
          </a:p>
          <a:p/>
          <a:p>
            <a:r>
              <a:t>[SCREEN: VS Code, `.env` open. Walk down the file. Blur values.]</a:t>
            </a:r>
          </a:p>
          <a:p/>
          <a:p>
            <a:r>
              <a:t>[CODE: your new `.env`, copied from `.env.example` (excerpt; `...` marks lines left out)]</a:t>
            </a:r>
          </a:p>
          <a:p>
            <a:r>
              <a:t>(The full file also has the agent name, fallback models, behaviour settings such as `MOCK_MODE`, `MAPLE_TODAY` and the endpointing delays, telephony and observability, each with a comment. We'll meet them in the sections that use them.)</a:t>
            </a:r>
          </a:p>
          <a:p/>
          <a:p>
            <a:r>
              <a:t>[SCREEN: `.env`, highlight the three `LIVEKIT_` lines.]</a:t>
            </a:r>
          </a:p>
          <a:p/>
          <a:p>
            <a:r>
              <a:t>Let's read it top to bottom. Three LiveKit values: the URL of your project, an API key and an API secret. Leave them as they are for now. The LiveKit CLI will give us the real values in the next lecture.</a:t>
            </a:r>
          </a:p>
          <a:p/>
          <a:p>
            <a:r>
              <a:t>[SCREEN: `.env`, highlight `OPENAI_API_KEY`, then the two optional keys below it.]</a:t>
            </a:r>
          </a:p>
          <a:p/>
          <a:p>
            <a:r>
              <a:t>Then provider keys. Paste your OpenAI key now. Deepgram and Cartesia are optional, so leave them blank unless you created those accounts.</a:t>
            </a:r>
          </a:p>
          <a:p/>
          <a:p>
            <a:r>
              <a:t>[SCREEN: `.env`, highlight the "Models" block.]</a:t>
            </a:r>
          </a:p>
          <a:p/>
          <a:p>
            <a:r>
              <a:t>Then the model settings. These are read by `src/maple/config.py`. Provider mode says whether we use LiveKit Inference model strings or your own provider keys. The rest default to the models and voice we use in the course. When a provider launches a new model, or renames an old one, you change it here. You don't touch the code.</a:t>
            </a:r>
          </a:p>
          <a:p/>
          <a:p>
            <a:r>
              <a:t>[SCREEN: Terminal, run `git status`. `.env` is not listed. Then `cat .gitignore | grep env`.]</a:t>
            </a:r>
          </a:p>
          <a:p/>
          <a:p>
            <a:r>
              <a:t>Quick safety check. Run git status. Notice dot env doesn't show up. That's because it's in the gitignore file. Your keys will never be committed by accident. Please keep it that way.</a:t>
            </a:r>
          </a:p>
          <a:p/>
          <a:p>
            <a:r>
              <a:t>[SCREEN: Terminal.]</a:t>
            </a:r>
          </a:p>
          <a:p/>
          <a:p>
            <a:r>
              <a:t>Now let's use the Makefile shortcut. `make install` runs that same uv sync command for you, and it's what I'll use from now on.</a:t>
            </a:r>
          </a:p>
          <a:p/>
          <a:p>
            <a:r>
              <a:t>[CODE: the Makefile shortcut]</a:t>
            </a:r>
          </a:p>
          <a:p/>
          <a:p>
            <a:r>
              <a:t>[SCREEN: Terminal.]</a:t>
            </a:r>
          </a:p>
          <a:p/>
          <a:p>
            <a:r>
              <a:t>One more step. Some models run locally on your machine, not in the cloud. The Silero voice activity detector, and a local fallback for the turn detector. Those need to be downloaded once. The agent file has a built-in command for that.</a:t>
            </a:r>
          </a:p>
          <a:p/>
          <a:p>
            <a:r>
              <a:t>[CODE: download local model files]</a:t>
            </a:r>
          </a:p>
          <a:p/>
          <a:p>
            <a:r>
              <a:t>[DEMO: Progress output as model files download. Finishes in a few seconds.]</a:t>
            </a:r>
          </a:p>
          <a:p/>
          <a:p>
            <a:r>
              <a:t>This is the same file you'll build from scratch in Section three. Every agent in this course has these built-in commands: console, dev, start, connect and download-files. We'll use most of them soon.</a:t>
            </a:r>
          </a:p>
          <a:p/>
          <a:p>
            <a:r>
              <a:t>If you do this on a new machine, or in a Docker image later, you run download-files once. In Section twelve, we'll bake it into the Docker build so production containers start fast.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LiveKit CLI, projects and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each value does. The URL tells your agent server where to connect. The key identifies your project. The secret signs access tokens, so treat it like a password.</a:t>
            </a:r>
          </a:p>
          <a:p/>
          <a:p>
            <a:r>
              <a:t>And remember LiveKit Inference from Lecture 2.1? Model strings like "deepgram slash nova-three" are billed to this same key and secret. So these three lines unlock speech-to-text, the LLM and text-to-speech, without any other provider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preview of where the CLI shows up again. Section eight uses it to create phone trunks and dispatch rules. Section twelve uses it to deploy Riley to LiveKit Cloud. And newer versions of the CLI can also run your agent locally, with `lk agent console`. In this course I'll mostly run agents with `uv run python`, because it works the same everywhere. Both approaches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Smoke test: unit tests and console mode.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five problems I see most. Let's walk them.</a:t>
            </a:r>
          </a:p>
          <a:p/>
          <a:p>
            <a:r>
              <a:t>Mic meter flat? Your terminal doesn't have microphone permission. On a Mac, open Privacy and Security, then Microphone, and enable your terminal app or VS Code. Then fully restart the terminal.</a:t>
            </a:r>
          </a:p>
          <a:p/>
          <a:p>
            <a:r>
              <a:t>Wrong device? Run console with the list devices flag, then pass the one you want.</a:t>
            </a:r>
          </a:p>
          <a:p/>
          <a:p>
            <a:r>
              <a:t>An unauthorized error? Your LiveKit values are missing or mismatched. Re-run lk app env and paste all three lines together.</a:t>
            </a:r>
          </a:p>
          <a:p/>
          <a:p>
            <a:r>
              <a:t>An error about model files? You skipped download files.</a:t>
            </a:r>
          </a:p>
          <a:p/>
          <a:p>
            <a:r>
              <a:t>And if Riley keeps interrupting itself, your speakers are feeding back into your microphone. Wear headphones. Seriously. It's the single best upgrade for this course.</a:t>
            </a:r>
          </a:p>
          <a:p/>
          <a:p>
            <a:r>
              <a:t>[SCREEN: Terminal.]</a:t>
            </a:r>
          </a:p>
          <a:p/>
          <a:p>
            <a:r>
              <a:t>[CODE: text mode, no microphone needed]</a:t>
            </a:r>
          </a:p>
          <a:p/>
          <a:p>
            <a:r>
              <a:t>[DEMO: Type "What are your opening hours?" and see Riley's text reply.]</a:t>
            </a:r>
          </a:p>
          <a:p/>
          <a:p>
            <a:r>
              <a:t>One more trick. Add dash dash text, and console mode becomes a chat in your terminal. No microphone, no speech-to-text, no text-to-speech. It's perfect for quick prompt experiments, and it's cheaper. If your mic won't cooperate, this at least proves your keys and LLM work.</a:t>
            </a:r>
          </a:p>
          <a:p/>
          <a:p>
            <a:r>
              <a:t>So here's your checklist. Make test is green. Console mode greets you and answers out loud. If both are true, your environment is done. You won't need to touch setup again until telephony.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Lab 1: Environment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Quick win: run the finished Riley before you build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greeting disclosed that Riley is an AI. That's Section four. "One moment while I check the schedule" is filler speech, which hides tool latency. Section five. The times were real, pulled from the scheduler, and never more than three. The read-back before booking and the cancellation reminder, also Section five.</a:t>
            </a:r>
          </a:p>
          <a:p/>
          <a:p>
            <a:r>
              <a:t>And the transfer. In console mode there's no phone line, so there's nobody to transfer to. Watch what Riley did. It didn't pretend. It apologized and offered to take a message. That graceful fallback is written into the transfer tool, and you'll build it in Section eight. On a real phone number, that same request connects you to a human.</a:t>
            </a:r>
          </a:p>
          <a:p/>
          <a:p>
            <a:r>
              <a:t>[SCREEN: Terminal. Scroll up through the console log. Highlight the lines where `find_available_slots` and `book_appointment` were called...]</a:t>
            </a:r>
          </a:p>
          <a:p/>
          <a:p>
            <a:r>
              <a:t>Now scroll up in the terminal. See these lines? That's Riley calling find available slots, with day and part of day. And then book appointment, with the name, phone and slot. The LLM never touched the calendar directly. It asked, and our code did the work. You'll learn to write tests that check exactly these calls.</a:t>
            </a:r>
          </a:p>
          <a:p/>
          <a:p>
            <a:r>
              <a:t>[SCREEN: Terminal. Run it again and try to trip Riley up: ask "What should I take for tooth pain?"]</a:t>
            </a:r>
          </a:p>
          <a:p/>
          <a:p>
            <a:r>
              <a:t>Try to break it. Ask for medical advice. Ask it to ignore its instructions. Ask it for Sunday. You'll find it's surprisingly hard to trip up, and by Section eleven you'll know why.</a:t>
            </a:r>
          </a:p>
          <a:p/>
          <a:p>
            <a:r>
              <a:t>Here's the thing I want you to notice. None of that was one big clever prompt. It's a dozen small, tested pieces. And you'll build every one of them, starting with a thirty-line agent in Section three.</a:t>
            </a:r>
          </a:p>
          <a:p/>
          <a:p>
            <a:r>
              <a:t>If you ever get lost later in the course, come back and run this file. It's your reference for "what good looks like."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The greeting disclosed that Riley is an AI. That's Section four. "One moment while I check the schedule" is filler speech, which hides tool latency. Section five. The times were real, pulled from the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Spending caps, free tiers and offline mock mode.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rough picture using the placeholder price table in the repo. A cascaded call costs a few cents per minute. Text-to-speech is the biggest slice. Speech-to-speech costs several times more per minute. And unit tests, text mode and mock mode cost nothing. Prices change, so check current pricing before you trust any of these numbers.</a:t>
            </a:r>
          </a:p>
          <a:p/>
          <a:p>
            <a:r>
              <a:t>Habit two, practice for free. Most of your time in this course is spent on prompts and tool logic, not on voices. So why pay for speech while you're fixing a tool's error message?</a:t>
            </a:r>
          </a:p>
          <a:p/>
          <a:p>
            <a:r>
              <a:t>[SCREEN: Terminal.]</a:t>
            </a:r>
          </a:p>
          <a:p/>
          <a:p>
            <a:r>
              <a:t>[CODE: run Riley in offline mock mode (macOS and Linux)]</a:t>
            </a:r>
          </a:p>
          <a:p/>
          <a:p>
            <a:r>
              <a:t>[CODE: the same on Windows PowerShell]</a:t>
            </a:r>
          </a:p>
          <a:p/>
          <a:p>
            <a:r>
              <a:t>Set MOCK_MODE to one and run the agent in text mode. Now there's no speech-to-text and no voice, because we're typing. And the LLM is replaced by a small scripted fake. Nothing leaves your laptop, and nothing is billed.</a:t>
            </a:r>
          </a:p>
          <a:p/>
          <a:p>
            <a:r>
              <a:t>[DEMO: Type "I'd like to book a cleaning on Thursday". The scripted fake replies, and the log shows a real `find_available_slots` call ag...]</a:t>
            </a:r>
          </a:p>
          <a:p/>
          <a:p>
            <a:r>
              <a:t>Watch the log. The fake LLM still calls the real tools, against the real scheduler. That's perfect for checking your tool code, your error messages and your read-back wording. What it can't tell you is how a real model behaves, so once your code works in mock mode, switch it off for a few real test calls.</a:t>
            </a:r>
          </a:p>
          <a:p/>
          <a:p>
            <a:r>
              <a:t>You can also put MOCK_MODE equals one in your dot env while you're working on tools, and remove it when you want the real thing. The switch is read by `src/maple/config.py`, and the agents pick it up through `agents/common.py`.</a:t>
            </a:r>
          </a:p>
          <a:p/>
          <a:p>
            <a:r>
              <a:t>Habit three, estimate before you run. How many call minutes will the next lab take? Turn that into dollars before you start. Lab 4 in Section six, for example, budgets about fifty cents to a dollar fifty, mostly realtime audio.</a:t>
            </a:r>
          </a:p>
          <a:p/>
          <a:p>
            <a:r>
              <a:t>[CODE: estimate ten minutes of cascaded calls]</a:t>
            </a:r>
          </a:p>
          <a:p/>
          <a:p>
            <a:r>
              <a:t>[DEMO: Output]</a:t>
            </a:r>
          </a:p>
          <a:p/>
          <a:p>
            <a:r>
              <a:t>This uses the course's cost calculator with a typical receptionist call. Ten minutes of cascaded calls comes out around seventy cents with the placeholder prices. Swap in typical realtime usage and you'll see it's a few times more. You'll build a proper version of this report from real usage data in Section ten.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checklist. Caps set. Usage page bookmarked. Mock mode for tool work. Text mode when you don't need to hear it. A quick estimate before voice labs. And shut things down when you're done.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(continued) Here's your checklist. Caps set. Usage page bookmarked. Mock mode for tool work. Text mode when you don't need to hear it. A quick estimate before voice labs. And shut things down when you're done.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Accounts you need and what they cost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Create the accounts the course needs and know which are optional.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need, and when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Required now: LiveKit Cloud, OpenAI</a:t>
            </a:r>
          </a:p>
          <a:p>
            <a:pPr marL="292608" indent="-292608">
              <a:lnSpc>
                <a:spcPct val="120000"/>
              </a:lnSpc>
              <a:spcAft>
                <a:spcPts val="1539"/>
              </a:spcAft>
              <a:buClr>
                <a:srgbClr val="00D4AA"/>
              </a:buClr>
              <a:buFont typeface="Inter"/>
              <a:buChar char="•"/>
            </a:pPr>
            <a:r>
              <a:rPr sz="2200" b="0">
                <a:solidFill>
                  <a:srgbClr val="FFFFFF"/>
                </a:solidFill>
                <a:latin typeface="Inter"/>
              </a:rPr>
              <a:t>Optional: Deepgram, Cartesia, ElevenLabs (direct provider keys)</a:t>
            </a:r>
          </a:p>
          <a:p>
            <a:pPr marL="292608" indent="-292608">
              <a:lnSpc>
                <a:spcPct val="120000"/>
              </a:lnSpc>
              <a:spcAft>
                <a:spcPts val="1539"/>
              </a:spcAft>
              <a:buClr>
                <a:srgbClr val="00D4AA"/>
              </a:buClr>
              <a:buFont typeface="Inter"/>
              <a:buChar char="•"/>
            </a:pPr>
            <a:r>
              <a:rPr sz="2200" b="0">
                <a:solidFill>
                  <a:srgbClr val="FFFFFF"/>
                </a:solidFill>
                <a:latin typeface="Inter"/>
              </a:rPr>
              <a:t>Section 8 only: Twilio (phone number)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call models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One account, one bill (LiveKit Cloud)</a:t>
            </a:r>
          </a:p>
          <a:p>
            <a:pPr marL="292608" indent="-292608">
              <a:lnSpc>
                <a:spcPct val="120000"/>
              </a:lnSpc>
              <a:spcAft>
                <a:spcPts val="1120"/>
              </a:spcAft>
              <a:buClr>
                <a:srgbClr val="00D4AA"/>
              </a:buClr>
              <a:buFont typeface="Inter"/>
              <a:buChar char="•"/>
            </a:pPr>
            <a:r>
              <a:rPr sz="1600" b="0">
                <a:solidFill>
                  <a:srgbClr val="FFFFFF"/>
                </a:solidFill>
                <a:latin typeface="Inter"/>
              </a:rPr>
              <a:t>Uses your LIVEKIT_API_KEY and LIVEKIT_API_SECRET</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python</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AgentSession(</a:t>
            </a:r>
          </a:p>
          <a:p>
            <a:r>
              <a:rPr sz="1400">
                <a:solidFill>
                  <a:srgbClr val="FFFFFF"/>
                </a:solidFill>
                <a:latin typeface="JetBrains Mono"/>
              </a:rPr>
              <a:t>    stt="deepgram/nova-3",</a:t>
            </a:r>
          </a:p>
          <a:p>
            <a:r>
              <a:rPr sz="1400">
                <a:solidFill>
                  <a:srgbClr val="FFFFFF"/>
                </a:solidFill>
                <a:latin typeface="JetBrains Mono"/>
              </a:rPr>
              <a:t>    llm="openai/gpt-4.1-mini",</a:t>
            </a:r>
          </a:p>
          <a:p>
            <a:r>
              <a:rPr sz="1400">
                <a:solidFill>
                  <a:srgbClr val="FFFFFF"/>
                </a:solidFill>
                <a:latin typeface="JetBrains Mono"/>
              </a:rPr>
              <a:t>    tts="cartesia/sonic-3",</a:t>
            </a:r>
          </a:p>
          <a:p>
            <a:r>
              <a:rPr sz="1400">
                <a:solidFill>
                  <a:srgbClr val="FFFFFF"/>
                </a:solidFill>
                <a:latin typeface="JetBrains Mono"/>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Student cost guide (check current pricing)</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7" cy="3072384"/>
        </p:xfrm>
        <a:graphic>
          <a:graphicData uri="http://schemas.openxmlformats.org/drawingml/2006/table">
            <a:tbl>
              <a:tblPr firstRow="1" bandRow="1">
                <a:tableStyleId>{5C22544A-7EE6-4342-B048-85BDC9FD1C3A}</a:tableStyleId>
              </a:tblPr>
              <a:tblGrid>
                <a:gridCol w="1216151"/>
                <a:gridCol w="2548128"/>
                <a:gridCol w="3358895"/>
                <a:gridCol w="3474720"/>
                <a:gridCol w="694943"/>
              </a:tblGrid>
              <a:tr h="384048">
                <a:tc>
                  <a:txBody>
                    <a:bodyPr wrap="square"/>
                    <a:lstStyle/>
                    <a:p>
                      <a:r>
                        <a:rPr sz="1200" b="1">
                          <a:solidFill>
                            <a:srgbClr val="0A1628"/>
                          </a:solidFill>
                          <a:latin typeface="Inter"/>
                        </a:rPr>
                        <a:t>Service</a:t>
                      </a:r>
                    </a:p>
                  </a:txBody>
                  <a:tcPr marL="91440" marR="91440" marT="45720" marB="45720" anchor="ctr">
                    <a:solidFill>
                      <a:srgbClr val="00D4AA"/>
                    </a:solidFill>
                  </a:tcPr>
                </a:tc>
                <a:tc>
                  <a:txBody>
                    <a:bodyPr wrap="square"/>
                    <a:lstStyle/>
                    <a:p>
                      <a:r>
                        <a:rPr sz="1200" b="1">
                          <a:solidFill>
                            <a:srgbClr val="0A1628"/>
                          </a:solidFill>
                          <a:latin typeface="Inter"/>
                        </a:rPr>
                        <a:t>Used for</a:t>
                      </a:r>
                    </a:p>
                  </a:txBody>
                  <a:tcPr marL="91440" marR="91440" marT="45720" marB="45720" anchor="ctr">
                    <a:solidFill>
                      <a:srgbClr val="00D4AA"/>
                    </a:solidFill>
                  </a:tcPr>
                </a:tc>
                <a:tc>
                  <a:txBody>
                    <a:bodyPr wrap="square"/>
                    <a:lstStyle/>
                    <a:p>
                      <a:r>
                        <a:rPr sz="1200" b="1">
                          <a:solidFill>
                            <a:srgbClr val="0A1628"/>
                          </a:solidFill>
                          <a:latin typeface="Inter"/>
                        </a:rPr>
                        <a:t>Free tier or trial</a:t>
                      </a:r>
                    </a:p>
                  </a:txBody>
                  <a:tcPr marL="91440" marR="91440" marT="45720" marB="45720" anchor="ctr">
                    <a:solidFill>
                      <a:srgbClr val="00D4AA"/>
                    </a:solidFill>
                  </a:tcPr>
                </a:tc>
                <a:tc>
                  <a:txBody>
                    <a:bodyPr wrap="square"/>
                    <a:lstStyle/>
                    <a:p>
                      <a:r>
                        <a:rPr sz="1200" b="1">
                          <a:solidFill>
                            <a:srgbClr val="0A1628"/>
                          </a:solidFill>
                          <a:latin typeface="Inter"/>
                        </a:rPr>
                        <a:t>Paid ballpark</a:t>
                      </a:r>
                    </a:p>
                  </a:txBody>
                  <a:tcPr marL="91440" marR="91440" marT="45720" marB="45720" anchor="ctr">
                    <a:solidFill>
                      <a:srgbClr val="00D4AA"/>
                    </a:solidFill>
                  </a:tcPr>
                </a:tc>
                <a:tc>
                  <a:txBody>
                    <a:bodyPr wrap="square"/>
                    <a:lstStyle/>
                    <a:p>
                      <a:r>
                        <a:rPr sz="1200" b="1">
                          <a:solidFill>
                            <a:srgbClr val="0A1628"/>
                          </a:solidFill>
                          <a:latin typeface="Inter"/>
                        </a:rPr>
                        <a:t>Needed?</a:t>
                      </a:r>
                    </a:p>
                  </a:txBody>
                  <a:tcPr marL="91440" marR="91440" marT="45720" marB="45720" anchor="ctr">
                    <a:solidFill>
                      <a:srgbClr val="00D4AA"/>
                    </a:solidFill>
                  </a:tcPr>
                </a:tc>
              </a:tr>
              <a:tr h="384048">
                <a:tc>
                  <a:txBody>
                    <a:bodyPr wrap="square"/>
                    <a:lstStyle/>
                    <a:p>
                      <a:r>
                        <a:rPr sz="1200" b="1">
                          <a:solidFill>
                            <a:srgbClr val="FFFFFF"/>
                          </a:solidFill>
                          <a:latin typeface="Inter"/>
                        </a:rPr>
                        <a:t>LiveKit Cloud</a:t>
                      </a:r>
                    </a:p>
                  </a:txBody>
                  <a:tcPr marL="91440" marR="91440" marT="45720" marB="45720" anchor="ctr">
                    <a:solidFill>
                      <a:srgbClr val="1A2742"/>
                    </a:solidFill>
                  </a:tcPr>
                </a:tc>
                <a:tc>
                  <a:txBody>
                    <a:bodyPr wrap="square"/>
                    <a:lstStyle/>
                    <a:p>
                      <a:r>
                        <a:rPr sz="1200" b="0">
                          <a:solidFill>
                            <a:srgbClr val="FFFFFF"/>
                          </a:solidFill>
                          <a:latin typeface="Inter"/>
                        </a:rPr>
                        <a:t>Rooms, agent hosting, LiveKit Inference, SIP</a:t>
                      </a:r>
                    </a:p>
                  </a:txBody>
                  <a:tcPr marL="91440" marR="91440" marT="45720" marB="45720" anchor="ctr">
                    <a:solidFill>
                      <a:srgbClr val="1A2742"/>
                    </a:solidFill>
                  </a:tcPr>
                </a:tc>
                <a:tc>
                  <a:txBody>
                    <a:bodyPr wrap="square"/>
                    <a:lstStyle/>
                    <a:p>
                      <a:r>
                        <a:rPr sz="1200" b="0">
                          <a:solidFill>
                            <a:srgbClr val="FFFFFF"/>
                          </a:solidFill>
                          <a:latin typeface="Inter"/>
                        </a:rPr>
                        <a:t>Free plan with monthly agent minutes and inference credits</a:t>
                      </a:r>
                    </a:p>
                  </a:txBody>
                  <a:tcPr marL="91440" marR="91440" marT="45720" marB="45720" anchor="ctr">
                    <a:solidFill>
                      <a:srgbClr val="1A2742"/>
                    </a:solidFill>
                  </a:tcPr>
                </a:tc>
                <a:tc>
                  <a:txBody>
                    <a:bodyPr wrap="square"/>
                    <a:lstStyle/>
                    <a:p>
                      <a:r>
                        <a:rPr sz="1200" b="0">
                          <a:solidFill>
                            <a:srgbClr val="FFFFFF"/>
                          </a:solidFill>
                          <a:latin typeface="Inter"/>
                        </a:rPr>
                        <a:t>Usage-based above free tier</a:t>
                      </a:r>
                    </a:p>
                  </a:txBody>
                  <a:tcPr marL="91440" marR="91440" marT="45720" marB="45720" anchor="ctr">
                    <a:solidFill>
                      <a:srgbClr val="1A2742"/>
                    </a:solidFill>
                  </a:tcPr>
                </a:tc>
                <a:tc>
                  <a:txBody>
                    <a:bodyPr wrap="square"/>
                    <a:lstStyle/>
                    <a:p>
                      <a:r>
                        <a:rPr sz="1200" b="0">
                          <a:solidFill>
                            <a:srgbClr val="FFFFFF"/>
                          </a:solidFill>
                          <a:latin typeface="Inter"/>
                        </a:rPr>
                        <a:t>Yes, from S2</a:t>
                      </a:r>
                    </a:p>
                  </a:txBody>
                  <a:tcPr marL="91440" marR="91440" marT="45720" marB="45720" anchor="ctr">
                    <a:solidFill>
                      <a:srgbClr val="1A2742"/>
                    </a:solidFill>
                  </a:tcPr>
                </a:tc>
              </a:tr>
              <a:tr h="384048">
                <a:tc>
                  <a:txBody>
                    <a:bodyPr wrap="square"/>
                    <a:lstStyle/>
                    <a:p>
                      <a:r>
                        <a:rPr sz="1200" b="1">
                          <a:solidFill>
                            <a:srgbClr val="FFFFFF"/>
                          </a:solidFill>
                          <a:latin typeface="Inter"/>
                        </a:rPr>
                        <a:t>OpenAI</a:t>
                      </a:r>
                    </a:p>
                  </a:txBody>
                  <a:tcPr marL="91440" marR="91440" marT="45720" marB="45720" anchor="ctr">
                    <a:solidFill>
                      <a:srgbClr val="0F1E35"/>
                    </a:solidFill>
                  </a:tcPr>
                </a:tc>
                <a:tc>
                  <a:txBody>
                    <a:bodyPr wrap="square"/>
                    <a:lstStyle/>
                    <a:p>
                      <a:r>
                        <a:rPr sz="1200" b="0">
                          <a:solidFill>
                            <a:srgbClr val="FFFFFF"/>
                          </a:solidFill>
                          <a:latin typeface="Inter"/>
                        </a:rPr>
                        <a:t>LLM plugin, Realtime (S6), judge model (S9)</a:t>
                      </a:r>
                    </a:p>
                  </a:txBody>
                  <a:tcPr marL="91440" marR="91440" marT="45720" marB="45720" anchor="ctr">
                    <a:solidFill>
                      <a:srgbClr val="0F1E35"/>
                    </a:solidFill>
                  </a:tcPr>
                </a:tc>
                <a:tc>
                  <a:txBody>
                    <a:bodyPr wrap="square"/>
                    <a:lstStyle/>
                    <a:p>
                      <a:r>
                        <a:rPr sz="1200" b="0">
                          <a:solidFill>
                            <a:srgbClr val="FFFFFF"/>
                          </a:solidFill>
                          <a:latin typeface="Inter"/>
                        </a:rPr>
                        <a:t>No standing free tier; prepaid credit from about $5</a:t>
                      </a:r>
                    </a:p>
                  </a:txBody>
                  <a:tcPr marL="91440" marR="91440" marT="45720" marB="45720" anchor="ctr">
                    <a:solidFill>
                      <a:srgbClr val="0F1E35"/>
                    </a:solidFill>
                  </a:tcPr>
                </a:tc>
                <a:tc>
                  <a:txBody>
                    <a:bodyPr wrap="square"/>
                    <a:lstStyle/>
                    <a:p>
                      <a:r>
                        <a:rPr sz="1200" b="0">
                          <a:solidFill>
                            <a:srgbClr val="FFFFFF"/>
                          </a:solidFill>
                          <a:latin typeface="Inter"/>
                        </a:rPr>
                        <a:t>gpt-4.1-mini: cents per call; realtime audio costs noticeably more</a:t>
                      </a:r>
                    </a:p>
                  </a:txBody>
                  <a:tcPr marL="91440" marR="91440" marT="45720" marB="45720" anchor="ctr">
                    <a:solidFill>
                      <a:srgbClr val="0F1E35"/>
                    </a:solidFill>
                  </a:tcPr>
                </a:tc>
                <a:tc>
                  <a:txBody>
                    <a:bodyPr wrap="square"/>
                    <a:lstStyle/>
                    <a:p>
                      <a:r>
                        <a:rPr sz="1200" b="0">
                          <a:solidFill>
                            <a:srgbClr val="FFFFFF"/>
                          </a:solidFill>
                          <a:latin typeface="Inter"/>
                        </a:rPr>
                        <a:t>Yes, from S2</a:t>
                      </a:r>
                    </a:p>
                  </a:txBody>
                  <a:tcPr marL="91440" marR="91440" marT="45720" marB="45720" anchor="ctr">
                    <a:solidFill>
                      <a:srgbClr val="0F1E35"/>
                    </a:solidFill>
                  </a:tcPr>
                </a:tc>
              </a:tr>
              <a:tr h="384048">
                <a:tc>
                  <a:txBody>
                    <a:bodyPr wrap="square"/>
                    <a:lstStyle/>
                    <a:p>
                      <a:r>
                        <a:rPr sz="1200" b="1">
                          <a:solidFill>
                            <a:srgbClr val="FFFFFF"/>
                          </a:solidFill>
                          <a:latin typeface="Inter"/>
                        </a:rPr>
                        <a:t>Deepgram</a:t>
                      </a:r>
                    </a:p>
                  </a:txBody>
                  <a:tcPr marL="91440" marR="91440" marT="45720" marB="45720" anchor="ctr">
                    <a:solidFill>
                      <a:srgbClr val="1A2742"/>
                    </a:solidFill>
                  </a:tcPr>
                </a:tc>
                <a:tc>
                  <a:txBody>
                    <a:bodyPr wrap="square"/>
                    <a:lstStyle/>
                    <a:p>
                      <a:r>
                        <a:rPr sz="1200" b="0">
                          <a:solidFill>
                            <a:srgbClr val="FFFFFF"/>
                          </a:solidFill>
                          <a:latin typeface="Inter"/>
                        </a:rPr>
                        <a:t>STT via direct plugin</a:t>
                      </a:r>
                    </a:p>
                  </a:txBody>
                  <a:tcPr marL="91440" marR="91440" marT="45720" marB="45720" anchor="ctr">
                    <a:solidFill>
                      <a:srgbClr val="1A2742"/>
                    </a:solidFill>
                  </a:tcPr>
                </a:tc>
                <a:tc>
                  <a:txBody>
                    <a:bodyPr wrap="square"/>
                    <a:lstStyle/>
                    <a:p>
                      <a:r>
                        <a:rPr sz="1200" b="0">
                          <a:solidFill>
                            <a:srgbClr val="FFFFFF"/>
                          </a:solidFill>
                          <a:latin typeface="Inter"/>
                        </a:rPr>
                        <a:t>Signup credit</a:t>
                      </a:r>
                    </a:p>
                  </a:txBody>
                  <a:tcPr marL="91440" marR="91440" marT="45720" marB="45720" anchor="ctr">
                    <a:solidFill>
                      <a:srgbClr val="1A2742"/>
                    </a:solidFill>
                  </a:tcPr>
                </a:tc>
                <a:tc>
                  <a:txBody>
                    <a:bodyPr wrap="square"/>
                    <a:lstStyle/>
                    <a:p>
                      <a:r>
                        <a:rPr sz="1200" b="0">
                          <a:solidFill>
                            <a:srgbClr val="FFFFFF"/>
                          </a:solidFill>
                          <a:latin typeface="Inter"/>
                        </a:rPr>
                        <a:t>About one cent or less per streaming minute</a:t>
                      </a:r>
                    </a:p>
                  </a:txBody>
                  <a:tcPr marL="91440" marR="91440" marT="45720" marB="45720" anchor="ctr">
                    <a:solidFill>
                      <a:srgbClr val="1A2742"/>
                    </a:solidFill>
                  </a:tcPr>
                </a:tc>
                <a:tc>
                  <a:txBody>
                    <a:bodyPr wrap="square"/>
                    <a:lstStyle/>
                    <a:p>
                      <a:r>
                        <a:rPr sz="1200" b="0">
                          <a:solidFill>
                            <a:srgbClr val="FFFFFF"/>
                          </a:solidFill>
                          <a:latin typeface="Inter"/>
                        </a:rPr>
                        <a:t>Optional</a:t>
                      </a:r>
                    </a:p>
                  </a:txBody>
                  <a:tcPr marL="91440" marR="91440" marT="45720" marB="45720" anchor="ctr">
                    <a:solidFill>
                      <a:srgbClr val="1A2742"/>
                    </a:solidFill>
                  </a:tcPr>
                </a:tc>
              </a:tr>
              <a:tr h="384048">
                <a:tc>
                  <a:txBody>
                    <a:bodyPr wrap="square"/>
                    <a:lstStyle/>
                    <a:p>
                      <a:r>
                        <a:rPr sz="1200" b="1">
                          <a:solidFill>
                            <a:srgbClr val="FFFFFF"/>
                          </a:solidFill>
                          <a:latin typeface="Inter"/>
                        </a:rPr>
                        <a:t>Cartesia</a:t>
                      </a:r>
                    </a:p>
                  </a:txBody>
                  <a:tcPr marL="91440" marR="91440" marT="45720" marB="45720" anchor="ctr">
                    <a:solidFill>
                      <a:srgbClr val="0F1E35"/>
                    </a:solidFill>
                  </a:tcPr>
                </a:tc>
                <a:tc>
                  <a:txBody>
                    <a:bodyPr wrap="square"/>
                    <a:lstStyle/>
                    <a:p>
                      <a:r>
                        <a:rPr sz="1200" b="0">
                          <a:solidFill>
                            <a:srgbClr val="FFFFFF"/>
                          </a:solidFill>
                          <a:latin typeface="Inter"/>
                        </a:rPr>
                        <a:t>TTS via direct plugin</a:t>
                      </a:r>
                    </a:p>
                  </a:txBody>
                  <a:tcPr marL="91440" marR="91440" marT="45720" marB="45720" anchor="ctr">
                    <a:solidFill>
                      <a:srgbClr val="0F1E35"/>
                    </a:solidFill>
                  </a:tcPr>
                </a:tc>
                <a:tc>
                  <a:txBody>
                    <a:bodyPr wrap="square"/>
                    <a:lstStyle/>
                    <a:p>
                      <a:r>
                        <a:rPr sz="1200" b="0">
                          <a:solidFill>
                            <a:srgbClr val="FFFFFF"/>
                          </a:solidFill>
                          <a:latin typeface="Inter"/>
                        </a:rPr>
                        <a:t>Free monthly credits</a:t>
                      </a:r>
                    </a:p>
                  </a:txBody>
                  <a:tcPr marL="91440" marR="91440" marT="45720" marB="45720" anchor="ctr">
                    <a:solidFill>
                      <a:srgbClr val="0F1E35"/>
                    </a:solidFill>
                  </a:tcPr>
                </a:tc>
                <a:tc>
                  <a:txBody>
                    <a:bodyPr wrap="square"/>
                    <a:lstStyle/>
                    <a:p>
                      <a:r>
                        <a:rPr sz="1200" b="0">
                          <a:solidFill>
                            <a:srgbClr val="FFFFFF"/>
                          </a:solidFill>
                          <a:latin typeface="Inter"/>
                        </a:rPr>
                        <a:t>Low-cost starter plan</a:t>
                      </a:r>
                    </a:p>
                  </a:txBody>
                  <a:tcPr marL="91440" marR="91440" marT="45720" marB="45720" anchor="ctr">
                    <a:solidFill>
                      <a:srgbClr val="0F1E35"/>
                    </a:solidFill>
                  </a:tcPr>
                </a:tc>
                <a:tc>
                  <a:txBody>
                    <a:bodyPr wrap="square"/>
                    <a:lstStyle/>
                    <a:p>
                      <a:r>
                        <a:rPr sz="1200" b="0">
                          <a:solidFill>
                            <a:srgbClr val="FFFFFF"/>
                          </a:solidFill>
                          <a:latin typeface="Inter"/>
                        </a:rPr>
                        <a:t>Optional</a:t>
                      </a:r>
                    </a:p>
                  </a:txBody>
                  <a:tcPr marL="91440" marR="91440" marT="45720" marB="45720" anchor="ctr">
                    <a:solidFill>
                      <a:srgbClr val="0F1E35"/>
                    </a:solidFill>
                  </a:tcPr>
                </a:tc>
              </a:tr>
              <a:tr h="384048">
                <a:tc>
                  <a:txBody>
                    <a:bodyPr wrap="square"/>
                    <a:lstStyle/>
                    <a:p>
                      <a:r>
                        <a:rPr sz="1200" b="1">
                          <a:solidFill>
                            <a:srgbClr val="FFFFFF"/>
                          </a:solidFill>
                          <a:latin typeface="Inter"/>
                        </a:rPr>
                        <a:t>ElevenLabs</a:t>
                      </a:r>
                    </a:p>
                  </a:txBody>
                  <a:tcPr marL="91440" marR="91440" marT="45720" marB="45720" anchor="ctr">
                    <a:solidFill>
                      <a:srgbClr val="1A2742"/>
                    </a:solidFill>
                  </a:tcPr>
                </a:tc>
                <a:tc>
                  <a:txBody>
                    <a:bodyPr wrap="square"/>
                    <a:lstStyle/>
                    <a:p>
                      <a:r>
                        <a:rPr sz="1200" b="0">
                          <a:solidFill>
                            <a:srgbClr val="FFFFFF"/>
                          </a:solidFill>
                          <a:latin typeface="Inter"/>
                        </a:rPr>
                        <a:t>Alternative TTS</a:t>
                      </a:r>
                    </a:p>
                  </a:txBody>
                  <a:tcPr marL="91440" marR="91440" marT="45720" marB="45720" anchor="ctr">
                    <a:solidFill>
                      <a:srgbClr val="1A2742"/>
                    </a:solidFill>
                  </a:tcPr>
                </a:tc>
                <a:tc>
                  <a:txBody>
                    <a:bodyPr wrap="square"/>
                    <a:lstStyle/>
                    <a:p>
                      <a:r>
                        <a:rPr sz="1200" b="0">
                          <a:solidFill>
                            <a:srgbClr val="FFFFFF"/>
                          </a:solidFill>
                          <a:latin typeface="Inter"/>
                        </a:rPr>
                        <a:t>Free monthly credits</a:t>
                      </a:r>
                    </a:p>
                  </a:txBody>
                  <a:tcPr marL="91440" marR="91440" marT="45720" marB="45720" anchor="ctr">
                    <a:solidFill>
                      <a:srgbClr val="1A2742"/>
                    </a:solidFill>
                  </a:tcPr>
                </a:tc>
                <a:tc>
                  <a:txBody>
                    <a:bodyPr wrap="square"/>
                    <a:lstStyle/>
                    <a:p>
                      <a:r>
                        <a:rPr sz="1200" b="0">
                          <a:solidFill>
                            <a:srgbClr val="FFFFFF"/>
                          </a:solidFill>
                          <a:latin typeface="Inter"/>
                        </a:rPr>
                        <a:t>Low-cost starter plan</a:t>
                      </a:r>
                    </a:p>
                  </a:txBody>
                  <a:tcPr marL="91440" marR="91440" marT="45720" marB="45720" anchor="ctr">
                    <a:solidFill>
                      <a:srgbClr val="1A2742"/>
                    </a:solidFill>
                  </a:tcPr>
                </a:tc>
                <a:tc>
                  <a:txBody>
                    <a:bodyPr wrap="square"/>
                    <a:lstStyle/>
                    <a:p>
                      <a:r>
                        <a:rPr sz="1200" b="0">
                          <a:solidFill>
                            <a:srgbClr val="FFFFFF"/>
                          </a:solidFill>
                          <a:latin typeface="Inter"/>
                        </a:rPr>
                        <a:t>Optional</a:t>
                      </a:r>
                    </a:p>
                  </a:txBody>
                  <a:tcPr marL="91440" marR="91440" marT="45720" marB="45720" anchor="ctr">
                    <a:solidFill>
                      <a:srgbClr val="1A2742"/>
                    </a:solidFill>
                  </a:tcPr>
                </a:tc>
              </a:tr>
              <a:tr h="384048">
                <a:tc>
                  <a:txBody>
                    <a:bodyPr wrap="square"/>
                    <a:lstStyle/>
                    <a:p>
                      <a:r>
                        <a:rPr sz="1200" b="1">
                          <a:solidFill>
                            <a:srgbClr val="FFFFFF"/>
                          </a:solidFill>
                          <a:latin typeface="Inter"/>
                        </a:rPr>
                        <a:t>Twilio</a:t>
                      </a:r>
                    </a:p>
                  </a:txBody>
                  <a:tcPr marL="91440" marR="91440" marT="45720" marB="45720" anchor="ctr">
                    <a:solidFill>
                      <a:srgbClr val="0F1E35"/>
                    </a:solidFill>
                  </a:tcPr>
                </a:tc>
                <a:tc>
                  <a:txBody>
                    <a:bodyPr wrap="square"/>
                    <a:lstStyle/>
                    <a:p>
                      <a:r>
                        <a:rPr sz="1200" b="0">
                          <a:solidFill>
                            <a:srgbClr val="FFFFFF"/>
                          </a:solidFill>
                          <a:latin typeface="Inter"/>
                        </a:rPr>
                        <a:t>Phone number and calls (S8)</a:t>
                      </a:r>
                    </a:p>
                  </a:txBody>
                  <a:tcPr marL="91440" marR="91440" marT="45720" marB="45720" anchor="ctr">
                    <a:solidFill>
                      <a:srgbClr val="0F1E35"/>
                    </a:solidFill>
                  </a:tcPr>
                </a:tc>
                <a:tc>
                  <a:txBody>
                    <a:bodyPr wrap="square"/>
                    <a:lstStyle/>
                    <a:p>
                      <a:r>
                        <a:rPr sz="1200" b="0">
                          <a:solidFill>
                            <a:srgbClr val="FFFFFF"/>
                          </a:solidFill>
                          <a:latin typeface="Inter"/>
                        </a:rPr>
                        <a:t>Trial credit, calls to verified numbers only</a:t>
                      </a:r>
                    </a:p>
                  </a:txBody>
                  <a:tcPr marL="91440" marR="91440" marT="45720" marB="45720" anchor="ctr">
                    <a:solidFill>
                      <a:srgbClr val="0F1E35"/>
                    </a:solidFill>
                  </a:tcPr>
                </a:tc>
                <a:tc>
                  <a:txBody>
                    <a:bodyPr wrap="square"/>
                    <a:lstStyle/>
                    <a:p>
                      <a:r>
                        <a:rPr sz="1200" b="0">
                          <a:solidFill>
                            <a:srgbClr val="FFFFFF"/>
                          </a:solidFill>
                          <a:latin typeface="Inter"/>
                        </a:rPr>
                        <a:t>Around a dollar per month per number plus per-minute call fees</a:t>
                      </a:r>
                    </a:p>
                  </a:txBody>
                  <a:tcPr marL="91440" marR="91440" marT="45720" marB="45720" anchor="ctr">
                    <a:solidFill>
                      <a:srgbClr val="0F1E35"/>
                    </a:solidFill>
                  </a:tcPr>
                </a:tc>
                <a:tc>
                  <a:txBody>
                    <a:bodyPr wrap="square"/>
                    <a:lstStyle/>
                    <a:p>
                      <a:r>
                        <a:rPr sz="1200" b="0">
                          <a:solidFill>
                            <a:srgbClr val="FFFFFF"/>
                          </a:solidFill>
                          <a:latin typeface="Inter"/>
                        </a:rPr>
                        <a:t>S8 only</a:t>
                      </a:r>
                    </a:p>
                  </a:txBody>
                  <a:tcPr marL="91440" marR="91440" marT="45720" marB="45720" anchor="ctr">
                    <a:solidFill>
                      <a:srgbClr val="0F1E35"/>
                    </a:solidFill>
                  </a:tcPr>
                </a:tc>
              </a:tr>
              <a:tr h="384048">
                <a:tc>
                  <a:txBody>
                    <a:bodyPr wrap="square"/>
                    <a:lstStyle/>
                    <a:p>
                      <a:r>
                        <a:rPr sz="1200" b="1">
                          <a:solidFill>
                            <a:srgbClr val="FFFFFF"/>
                          </a:solidFill>
                          <a:latin typeface="Inter"/>
                        </a:rPr>
                        <a:t>Expected course total</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c>
                  <a:txBody>
                    <a:bodyPr wrap="square"/>
                    <a:lstStyle/>
                    <a:p>
                      <a:r>
                        <a:rPr sz="1200" b="0">
                          <a:solidFill>
                            <a:srgbClr val="FFFFFF"/>
                          </a:solidFill>
                          <a:latin typeface="Inter"/>
                        </a:rPr>
                        <a:t>≈ $10–20</a:t>
                      </a:r>
                    </a:p>
                  </a:txBody>
                  <a:tcPr marL="91440" marR="91440" marT="45720" marB="45720" anchor="ctr">
                    <a:solidFill>
                      <a:srgbClr val="1A2742"/>
                    </a:solidFill>
                  </a:tcPr>
                </a:tc>
                <a:tc>
                  <a:txBody>
                    <a:bodyPr wrap="square"/>
                    <a:lstStyle/>
                    <a:p/>
                  </a:txBody>
                  <a:tcPr marL="91440" marR="91440" marT="45720" marB="45720" anchor="ctr">
                    <a:solidFill>
                      <a:srgbClr val="1A2742"/>
                    </a:solidFill>
                  </a:tcPr>
                </a:tc>
              </a:tr>
            </a:tbl>
          </a:graphicData>
        </a:graphic>
      </p:graphicFrame>
      <p:sp>
        <p:nvSpPr>
          <p:cNvPr id="6" name="TextBox 5"/>
          <p:cNvSpPr txBox="1"/>
          <p:nvPr/>
        </p:nvSpPr>
        <p:spPr>
          <a:xfrm>
            <a:off x="457200" y="6053328"/>
            <a:ext cx="11247120" cy="365760"/>
          </a:xfrm>
          <a:prstGeom prst="rect">
            <a:avLst/>
          </a:prstGeom>
          <a:noFill/>
        </p:spPr>
        <p:txBody>
          <a:bodyPr wrap="square" lIns="45720" rIns="45720" tIns="27432" bIns="27432" anchor="t">
            <a:spAutoFit/>
          </a:bodyPr>
          <a:lstStyle/>
          <a:p>
            <a:r>
              <a:rPr sz="1100" b="0">
                <a:solidFill>
                  <a:srgbClr val="94A3B8"/>
                </a:solidFill>
                <a:latin typeface="Inter"/>
              </a:rPr>
              <a:t>Prices and free tiers change often. Check current pricing on each provider's site. Full details: 10-resources/provider-cost-guide.md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Five ways to keep your bill tiny (Lecture 2.7 goes deeper)</a:t>
            </a:r>
          </a:p>
        </p:txBody>
      </p:sp>
      <p:sp>
        <p:nvSpPr>
          <p:cNvPr id="4" name="Rectangle 3"/>
          <p:cNvSpPr/>
          <p:nvPr/>
        </p:nvSpPr>
        <p:spPr>
          <a:xfrm>
            <a:off x="502920" y="1435607"/>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828800"/>
            <a:ext cx="10881360" cy="448056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Set a monthly spending limit on OpenAI today</a:t>
            </a:r>
          </a:p>
          <a:p>
            <a:pPr marL="292608" indent="-292608">
              <a:lnSpc>
                <a:spcPct val="120000"/>
              </a:lnSpc>
              <a:spcAft>
                <a:spcPts val="1260"/>
              </a:spcAft>
              <a:buClr>
                <a:srgbClr val="00D4AA"/>
              </a:buClr>
              <a:buFont typeface="Inter"/>
              <a:buChar char="•"/>
            </a:pPr>
            <a:r>
              <a:rPr sz="1800" b="0">
                <a:solidFill>
                  <a:srgbClr val="FFFFFF"/>
                </a:solidFill>
                <a:latin typeface="Inter"/>
              </a:rPr>
              <a:t>Iterate on prompts in text mode: </a:t>
            </a:r>
            <a:r>
              <a:rPr sz="1656" b="0">
                <a:solidFill>
                  <a:srgbClr val="00D4AA"/>
                </a:solidFill>
                <a:latin typeface="JetBrains Mono"/>
              </a:rPr>
              <a:t>console --text</a:t>
            </a:r>
            <a:r>
              <a:rPr sz="1800" b="0">
                <a:solidFill>
                  <a:srgbClr val="FFFFFF"/>
                </a:solidFill>
                <a:latin typeface="Inter"/>
              </a:rPr>
              <a:t> (no STT or TTS cost)</a:t>
            </a:r>
          </a:p>
          <a:p>
            <a:pPr marL="292608" indent="-292608">
              <a:lnSpc>
                <a:spcPct val="120000"/>
              </a:lnSpc>
              <a:spcAft>
                <a:spcPts val="1260"/>
              </a:spcAft>
              <a:buClr>
                <a:srgbClr val="00D4AA"/>
              </a:buClr>
              <a:buFont typeface="Inter"/>
              <a:buChar char="•"/>
            </a:pPr>
            <a:r>
              <a:rPr sz="1800" b="0">
                <a:solidFill>
                  <a:srgbClr val="FFFFFF"/>
                </a:solidFill>
                <a:latin typeface="Inter"/>
              </a:rPr>
              <a:t>Run </a:t>
            </a:r>
            <a:r>
              <a:rPr sz="1656" b="0">
                <a:solidFill>
                  <a:srgbClr val="00D4AA"/>
                </a:solidFill>
                <a:latin typeface="JetBrains Mono"/>
              </a:rPr>
              <a:t>make test</a:t>
            </a:r>
            <a:r>
              <a:rPr sz="1800" b="0">
                <a:solidFill>
                  <a:srgbClr val="FFFFFF"/>
                </a:solidFill>
                <a:latin typeface="Inter"/>
              </a:rPr>
              <a:t> often: unit tests are offline and free</a:t>
            </a:r>
          </a:p>
          <a:p>
            <a:pPr marL="292608" indent="-292608">
              <a:lnSpc>
                <a:spcPct val="120000"/>
              </a:lnSpc>
              <a:spcAft>
                <a:spcPts val="1260"/>
              </a:spcAft>
              <a:buClr>
                <a:srgbClr val="00D4AA"/>
              </a:buClr>
              <a:buFont typeface="Inter"/>
              <a:buChar char="•"/>
            </a:pPr>
            <a:r>
              <a:rPr sz="1800" b="0">
                <a:solidFill>
                  <a:srgbClr val="FFFFFF"/>
                </a:solidFill>
                <a:latin typeface="Inter"/>
              </a:rPr>
              <a:t>Stop </a:t>
            </a:r>
            <a:r>
              <a:rPr sz="1656" b="0">
                <a:solidFill>
                  <a:srgbClr val="00D4AA"/>
                </a:solidFill>
                <a:latin typeface="JetBrains Mono"/>
              </a:rPr>
              <a:t>dev</a:t>
            </a:r>
            <a:r>
              <a:rPr sz="1800" b="0">
                <a:solidFill>
                  <a:srgbClr val="FFFFFF"/>
                </a:solidFill>
                <a:latin typeface="Inter"/>
              </a:rPr>
              <a:t> mode when you're not using it</a:t>
            </a:r>
          </a:p>
          <a:p>
            <a:pPr marL="292608" indent="-292608">
              <a:lnSpc>
                <a:spcPct val="120000"/>
              </a:lnSpc>
              <a:spcAft>
                <a:spcPts val="1260"/>
              </a:spcAft>
              <a:buClr>
                <a:srgbClr val="00D4AA"/>
              </a:buClr>
              <a:buFont typeface="Inter"/>
              <a:buChar char="•"/>
            </a:pPr>
            <a:r>
              <a:rPr sz="1800" b="0">
                <a:solidFill>
                  <a:srgbClr val="FFFFFF"/>
                </a:solidFill>
                <a:latin typeface="Inter"/>
              </a:rPr>
              <a:t>Delete unused Twilio numbers after Section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Today you need LiveKit Cloud and OpenAI</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Model strings: one account, one bill</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Spending limit plus text mode keeps costs tiny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Python project setup with uv</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With accounts ready, let's clone the repo and set up the Python project with uv.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Python project setup with uv</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Clone the course repo and install dependencies with </a:t>
            </a:r>
            <a:r>
              <a:rPr sz="1472" b="0">
                <a:solidFill>
                  <a:srgbClr val="00D4AA"/>
                </a:solidFill>
                <a:latin typeface="JetBrains Mono"/>
              </a:rPr>
              <a:t>uv sync --extra dev</a:t>
            </a:r>
            <a:r>
              <a:rPr sz="1600" b="0">
                <a:solidFill>
                  <a:srgbClr val="CBD5E1"/>
                </a:solidFill>
                <a:latin typeface="Inter"/>
              </a:rPr>
              <a:t> (or the pip fallback).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No uv? The pip fallback</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457200" y="1325880"/>
            <a:ext cx="4023360" cy="4983480"/>
          </a:xfrm>
          <a:prstGeom prst="rect">
            <a:avLst/>
          </a:prstGeom>
          <a:noFill/>
        </p:spPr>
        <p:txBody>
          <a:bodyPr wrap="square" lIns="45720" rIns="45720" tIns="27432" bIns="27432" anchor="t">
            <a:spAutoFit/>
          </a:bodyPr>
          <a:lstStyle/>
          <a:p>
            <a:pPr marL="292608" indent="-292608">
              <a:lnSpc>
                <a:spcPct val="120000"/>
              </a:lnSpc>
              <a:spcAft>
                <a:spcPts val="1120"/>
              </a:spcAft>
              <a:buClr>
                <a:srgbClr val="00D4AA"/>
              </a:buClr>
              <a:buFont typeface="Inter"/>
              <a:buChar char="•"/>
            </a:pPr>
            <a:r>
              <a:rPr sz="1600" b="0">
                <a:solidFill>
                  <a:srgbClr val="FFFFFF"/>
                </a:solidFill>
                <a:latin typeface="Inter"/>
              </a:rPr>
              <a:t>Then drop </a:t>
            </a:r>
            <a:r>
              <a:rPr sz="1472" b="0">
                <a:solidFill>
                  <a:srgbClr val="00D4AA"/>
                </a:solidFill>
                <a:latin typeface="JetBrains Mono"/>
              </a:rPr>
              <a:t>uv run</a:t>
            </a:r>
            <a:r>
              <a:rPr sz="1600" b="0">
                <a:solidFill>
                  <a:srgbClr val="FFFFFF"/>
                </a:solidFill>
                <a:latin typeface="Inter"/>
              </a:rPr>
              <a:t> from every command in the course</a:t>
            </a:r>
          </a:p>
        </p:txBody>
      </p:sp>
      <p:sp>
        <p:nvSpPr>
          <p:cNvPr id="6" name="Rounded Rectangle 5"/>
          <p:cNvSpPr/>
          <p:nvPr/>
        </p:nvSpPr>
        <p:spPr>
          <a:xfrm>
            <a:off x="4663440" y="1325880"/>
            <a:ext cx="7086600" cy="4983480"/>
          </a:xfrm>
          <a:prstGeom prst="roundRect">
            <a:avLst>
              <a:gd name="adj" fmla="val 1027"/>
            </a:avLst>
          </a:prstGeom>
          <a:solidFill>
            <a:srgbClr val="0F1E35"/>
          </a:solidFill>
          <a:ln w="19050">
            <a:solidFill>
              <a:srgbClr val="1A274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663440" y="1325880"/>
            <a:ext cx="54864" cy="498348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92040" y="1399032"/>
            <a:ext cx="6720840" cy="320040"/>
          </a:xfrm>
          <a:prstGeom prst="rect">
            <a:avLst/>
          </a:prstGeom>
          <a:noFill/>
        </p:spPr>
        <p:txBody>
          <a:bodyPr wrap="square" lIns="45720" rIns="45720" tIns="27432" bIns="27432" anchor="t">
            <a:spAutoFit/>
          </a:bodyPr>
          <a:lstStyle/>
          <a:p>
            <a:r>
              <a:rPr sz="1000" b="0">
                <a:solidFill>
                  <a:srgbClr val="94A3B8"/>
                </a:solidFill>
                <a:latin typeface="JetBrains Mono"/>
              </a:rPr>
              <a:t>bash</a:t>
            </a:r>
          </a:p>
        </p:txBody>
      </p:sp>
      <p:sp>
        <p:nvSpPr>
          <p:cNvPr id="9" name="TextBox 8"/>
          <p:cNvSpPr txBox="1"/>
          <p:nvPr/>
        </p:nvSpPr>
        <p:spPr>
          <a:xfrm>
            <a:off x="4892040" y="1737360"/>
            <a:ext cx="6720840" cy="4526280"/>
          </a:xfrm>
          <a:prstGeom prst="rect">
            <a:avLst/>
          </a:prstGeom>
          <a:noFill/>
        </p:spPr>
        <p:txBody>
          <a:bodyPr wrap="none" lIns="45720" rIns="45720" tIns="27432" bIns="27432" anchor="t">
            <a:spAutoFit/>
          </a:bodyPr>
          <a:lstStyle/>
          <a:p>
            <a:r>
              <a:rPr sz="1400">
                <a:solidFill>
                  <a:srgbClr val="FFFFFF"/>
                </a:solidFill>
                <a:latin typeface="JetBrains Mono"/>
              </a:rPr>
              <a:t>python3 -m venv .venv</a:t>
            </a:r>
          </a:p>
          <a:p>
            <a:r>
              <a:rPr sz="1400">
                <a:solidFill>
                  <a:srgbClr val="FFFFFF"/>
                </a:solidFill>
                <a:latin typeface="JetBrains Mono"/>
              </a:rPr>
              <a:t>source .venv/bin/activate        # Windows: .venv\Scripts\activate</a:t>
            </a:r>
          </a:p>
          <a:p>
            <a:r>
              <a:rPr sz="1400">
                <a:solidFill>
                  <a:srgbClr val="FFFFFF"/>
                </a:solidFill>
                <a:latin typeface="JetBrains Mono"/>
              </a:rPr>
              <a:t>pip install -e ".[dev]"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uv sync --extra dev</a:t>
            </a:r>
            <a:r>
              <a:rPr sz="1800" b="1">
                <a:solidFill>
                  <a:srgbClr val="FFFFFF"/>
                </a:solidFill>
                <a:latin typeface="Inter"/>
              </a:rPr>
              <a:t>: one pinned environment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.env</a:t>
            </a:r>
            <a:r>
              <a:rPr sz="1800" b="1">
                <a:solidFill>
                  <a:srgbClr val="FFFFFF"/>
                </a:solidFill>
                <a:latin typeface="Inter"/>
              </a:rPr>
              <a:t> holds your keys and model names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download-files</a:t>
            </a:r>
            <a:r>
              <a:rPr sz="1800" b="1">
                <a:solidFill>
                  <a:srgbClr val="FFFFFF"/>
                </a:solidFill>
                <a:latin typeface="Inter"/>
              </a:rPr>
              <a:t> fetches local models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LiveKit CLI, projects and credentials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Your </a:t>
            </a:r>
            <a:r>
              <a:rPr sz="1288" b="0">
                <a:solidFill>
                  <a:srgbClr val="00D4AA"/>
                </a:solidFill>
                <a:latin typeface="JetBrains Mono"/>
              </a:rPr>
              <a:t>.env</a:t>
            </a:r>
            <a:r>
              <a:rPr sz="1400" b="0">
                <a:solidFill>
                  <a:srgbClr val="94A3B8"/>
                </a:solidFill>
                <a:latin typeface="Inter"/>
              </a:rPr>
              <a:t> still has three empty LiveKit lines, so next we'll install the LiveKit CLI and fill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LiveKit CLI, projects and credentials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Install the </a:t>
            </a:r>
            <a:r>
              <a:rPr sz="1472" b="0">
                <a:solidFill>
                  <a:srgbClr val="00D4AA"/>
                </a:solidFill>
                <a:latin typeface="JetBrains Mono"/>
              </a:rPr>
              <a:t>lk</a:t>
            </a:r>
            <a:r>
              <a:rPr sz="1600" b="0">
                <a:solidFill>
                  <a:srgbClr val="CBD5E1"/>
                </a:solidFill>
                <a:latin typeface="Inter"/>
              </a:rPr>
              <a:t> CLI and link it to your LiveKit Cloud project with </a:t>
            </a:r>
            <a:r>
              <a:rPr sz="1472" b="0">
                <a:solidFill>
                  <a:srgbClr val="00D4AA"/>
                </a:solidFill>
                <a:latin typeface="JetBrains Mono"/>
              </a:rPr>
              <a:t>lk cloud auth</a:t>
            </a:r>
            <a:r>
              <a:rPr sz="1600" b="0">
                <a:solidFill>
                  <a:srgbClr val="CBD5E1"/>
                </a:solidFill>
                <a:latin typeface="Inter"/>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each value is for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LIVEKIT_URL</a:t>
            </a:r>
            <a:r>
              <a:rPr sz="1800" b="0">
                <a:solidFill>
                  <a:srgbClr val="FFFFFF"/>
                </a:solidFill>
                <a:latin typeface="Inter"/>
              </a:rPr>
              <a:t>: where your agent server connects (your project's WebSocket URL)</a:t>
            </a:r>
          </a:p>
          <a:p>
            <a:pPr marL="292608" indent="-292608">
              <a:lnSpc>
                <a:spcPct val="120000"/>
              </a:lnSpc>
              <a:spcAft>
                <a:spcPts val="1260"/>
              </a:spcAft>
              <a:buClr>
                <a:srgbClr val="00D4AA"/>
              </a:buClr>
              <a:buFont typeface="Inter"/>
              <a:buChar char="•"/>
            </a:pPr>
            <a:r>
              <a:rPr sz="1656" b="0">
                <a:solidFill>
                  <a:srgbClr val="00D4AA"/>
                </a:solidFill>
                <a:latin typeface="JetBrains Mono"/>
              </a:rPr>
              <a:t>LIVEKIT_API_KEY</a:t>
            </a:r>
            <a:r>
              <a:rPr sz="1800" b="0">
                <a:solidFill>
                  <a:srgbClr val="FFFFFF"/>
                </a:solidFill>
                <a:latin typeface="Inter"/>
              </a:rPr>
              <a:t>: identifies your project</a:t>
            </a:r>
          </a:p>
          <a:p>
            <a:pPr marL="292608" indent="-292608">
              <a:lnSpc>
                <a:spcPct val="120000"/>
              </a:lnSpc>
              <a:spcAft>
                <a:spcPts val="1260"/>
              </a:spcAft>
              <a:buClr>
                <a:srgbClr val="00D4AA"/>
              </a:buClr>
              <a:buFont typeface="Inter"/>
              <a:buChar char="•"/>
            </a:pPr>
            <a:r>
              <a:rPr sz="1656" b="0">
                <a:solidFill>
                  <a:srgbClr val="00D4AA"/>
                </a:solidFill>
                <a:latin typeface="JetBrains Mono"/>
              </a:rPr>
              <a:t>LIVEKIT_API_SECRET</a:t>
            </a:r>
            <a:r>
              <a:rPr sz="1800" b="0">
                <a:solidFill>
                  <a:srgbClr val="FFFFFF"/>
                </a:solidFill>
                <a:latin typeface="Inter"/>
              </a:rPr>
              <a:t>: signs tokens. Treat it like a password.</a:t>
            </a:r>
          </a:p>
          <a:p>
            <a:pPr marL="292608" indent="-292608">
              <a:lnSpc>
                <a:spcPct val="120000"/>
              </a:lnSpc>
              <a:spcAft>
                <a:spcPts val="1260"/>
              </a:spcAft>
              <a:buClr>
                <a:srgbClr val="00D4AA"/>
              </a:buClr>
              <a:buFont typeface="Inter"/>
              <a:buChar char="•"/>
            </a:pPr>
            <a:r>
              <a:rPr sz="1800" b="0">
                <a:solidFill>
                  <a:srgbClr val="FFFFFF"/>
                </a:solidFill>
                <a:latin typeface="Inter"/>
              </a:rPr>
              <a:t>LiveKit Inference also uses the key and secret, so model strings work without provider keys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a:t>
            </a:r>
            <a:r>
              <a:rPr sz="2392" b="0">
                <a:solidFill>
                  <a:srgbClr val="00D4AA"/>
                </a:solidFill>
                <a:latin typeface="JetBrains Mono"/>
              </a:rPr>
              <a:t>lk</a:t>
            </a:r>
            <a:r>
              <a:rPr sz="2600" b="1">
                <a:solidFill>
                  <a:srgbClr val="FFFFFF"/>
                </a:solidFill>
                <a:latin typeface="Inter"/>
              </a:rPr>
              <a:t> commands you'll use in this course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lk cloud auth</a:t>
            </a:r>
            <a:r>
              <a:rPr sz="1800" b="0">
                <a:solidFill>
                  <a:srgbClr val="FFFFFF"/>
                </a:solidFill>
                <a:latin typeface="Inter"/>
              </a:rPr>
              <a:t>: link a project (S2)</a:t>
            </a:r>
          </a:p>
          <a:p>
            <a:pPr marL="292608" indent="-292608">
              <a:lnSpc>
                <a:spcPct val="120000"/>
              </a:lnSpc>
              <a:spcAft>
                <a:spcPts val="1260"/>
              </a:spcAft>
              <a:buClr>
                <a:srgbClr val="00D4AA"/>
              </a:buClr>
              <a:buFont typeface="Inter"/>
              <a:buChar char="•"/>
            </a:pPr>
            <a:r>
              <a:rPr sz="1656" b="0">
                <a:solidFill>
                  <a:srgbClr val="00D4AA"/>
                </a:solidFill>
                <a:latin typeface="JetBrains Mono"/>
              </a:rPr>
              <a:t>lk room list</a:t>
            </a:r>
            <a:r>
              <a:rPr sz="1800" b="0">
                <a:solidFill>
                  <a:srgbClr val="FFFFFF"/>
                </a:solidFill>
                <a:latin typeface="Inter"/>
              </a:rPr>
              <a:t>: check rooms and credentials (S2, S3)</a:t>
            </a:r>
          </a:p>
          <a:p>
            <a:pPr marL="292608" indent="-292608">
              <a:lnSpc>
                <a:spcPct val="120000"/>
              </a:lnSpc>
              <a:spcAft>
                <a:spcPts val="1260"/>
              </a:spcAft>
              <a:buClr>
                <a:srgbClr val="00D4AA"/>
              </a:buClr>
              <a:buFont typeface="Inter"/>
              <a:buChar char="•"/>
            </a:pPr>
            <a:r>
              <a:rPr sz="1656" b="0">
                <a:solidFill>
                  <a:srgbClr val="00D4AA"/>
                </a:solidFill>
                <a:latin typeface="JetBrains Mono"/>
              </a:rPr>
              <a:t>lk agent console</a:t>
            </a:r>
            <a:r>
              <a:rPr sz="1800" b="0">
                <a:solidFill>
                  <a:srgbClr val="FFFFFF"/>
                </a:solidFill>
                <a:latin typeface="Inter"/>
              </a:rPr>
              <a:t> / </a:t>
            </a:r>
            <a:r>
              <a:rPr sz="1656" b="0">
                <a:solidFill>
                  <a:srgbClr val="00D4AA"/>
                </a:solidFill>
                <a:latin typeface="JetBrains Mono"/>
              </a:rPr>
              <a:t>lk agent dev</a:t>
            </a:r>
            <a:r>
              <a:rPr sz="1800" b="0">
                <a:solidFill>
                  <a:srgbClr val="FFFFFF"/>
                </a:solidFill>
                <a:latin typeface="Inter"/>
              </a:rPr>
              <a:t>: newer way to run agents locally (optional)</a:t>
            </a:r>
          </a:p>
          <a:p>
            <a:pPr marL="292608" indent="-292608">
              <a:lnSpc>
                <a:spcPct val="120000"/>
              </a:lnSpc>
              <a:spcAft>
                <a:spcPts val="1260"/>
              </a:spcAft>
              <a:buClr>
                <a:srgbClr val="00D4AA"/>
              </a:buClr>
              <a:buFont typeface="Inter"/>
              <a:buChar char="•"/>
            </a:pPr>
            <a:r>
              <a:rPr sz="1656" b="0">
                <a:solidFill>
                  <a:srgbClr val="00D4AA"/>
                </a:solidFill>
                <a:latin typeface="JetBrains Mono"/>
              </a:rPr>
              <a:t>lk sip ...</a:t>
            </a:r>
            <a:r>
              <a:rPr sz="1800" b="0">
                <a:solidFill>
                  <a:srgbClr val="FFFFFF"/>
                </a:solidFill>
                <a:latin typeface="Inter"/>
              </a:rPr>
              <a:t>: trunks and dispatch rules (S8)</a:t>
            </a:r>
          </a:p>
          <a:p>
            <a:pPr marL="292608" indent="-292608">
              <a:lnSpc>
                <a:spcPct val="120000"/>
              </a:lnSpc>
              <a:spcAft>
                <a:spcPts val="1260"/>
              </a:spcAft>
              <a:buClr>
                <a:srgbClr val="00D4AA"/>
              </a:buClr>
              <a:buFont typeface="Inter"/>
              <a:buChar char="•"/>
            </a:pPr>
            <a:r>
              <a:rPr sz="1656" b="0">
                <a:solidFill>
                  <a:srgbClr val="00D4AA"/>
                </a:solidFill>
                <a:latin typeface="JetBrains Mono"/>
              </a:rPr>
              <a:t>lk agent create</a:t>
            </a:r>
            <a:r>
              <a:rPr sz="1800" b="0">
                <a:solidFill>
                  <a:srgbClr val="FFFFFF"/>
                </a:solidFill>
                <a:latin typeface="Inter"/>
              </a:rPr>
              <a:t> and deploy commands: LiveKit Cloud agents (S12)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lk cloud auth</a:t>
            </a:r>
            <a:r>
              <a:rPr sz="1800" b="1">
                <a:solidFill>
                  <a:srgbClr val="FFFFFF"/>
                </a:solidFill>
                <a:latin typeface="Inter"/>
              </a:rPr>
              <a:t> links your project</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lk app env</a:t>
            </a:r>
            <a:r>
              <a:rPr sz="1800" b="1">
                <a:solidFill>
                  <a:srgbClr val="FFFFFF"/>
                </a:solidFill>
                <a:latin typeface="Inter"/>
              </a:rPr>
              <a:t> prints the three LiveKit values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An empty </a:t>
            </a:r>
            <a:r>
              <a:rPr sz="1656" b="0">
                <a:solidFill>
                  <a:srgbClr val="00D4AA"/>
                </a:solidFill>
                <a:latin typeface="JetBrains Mono"/>
              </a:rPr>
              <a:t>lk room list</a:t>
            </a:r>
            <a:r>
              <a:rPr sz="1800" b="1">
                <a:solidFill>
                  <a:srgbClr val="FFFFFF"/>
                </a:solidFill>
                <a:latin typeface="Inter"/>
              </a:rPr>
              <a:t> means success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Smoke test: unit tests and console mode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Everything's installed and connected, so let's run the smoke test and hear an agent talk through your laptop.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2.4</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2.4</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Smoke test: unit tests and console mode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offline unit tests with </a:t>
            </a:r>
            <a:r>
              <a:rPr sz="1472" b="0">
                <a:solidFill>
                  <a:srgbClr val="00D4AA"/>
                </a:solidFill>
                <a:latin typeface="JetBrains Mono"/>
              </a:rPr>
              <a:t>make test</a:t>
            </a:r>
            <a:r>
              <a:rPr sz="1600" b="0">
                <a:solidFill>
                  <a:srgbClr val="CBD5E1"/>
                </a:solidFill>
                <a:latin typeface="Inter"/>
              </a:rPr>
              <a:t> and read the result.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2.4</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Troubleshooting console mode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39" cy="2304288"/>
        </p:xfrm>
        <a:graphic>
          <a:graphicData uri="http://schemas.openxmlformats.org/drawingml/2006/table">
            <a:tbl>
              <a:tblPr firstRow="1" bandRow="1">
                <a:tableStyleId>{5C22544A-7EE6-4342-B048-85BDC9FD1C3A}</a:tableStyleId>
              </a:tblPr>
              <a:tblGrid>
                <a:gridCol w="2823210"/>
                <a:gridCol w="3764279"/>
                <a:gridCol w="4705350"/>
              </a:tblGrid>
              <a:tr h="384048">
                <a:tc>
                  <a:txBody>
                    <a:bodyPr wrap="square"/>
                    <a:lstStyle/>
                    <a:p>
                      <a:r>
                        <a:rPr sz="1200" b="1">
                          <a:solidFill>
                            <a:srgbClr val="0A1628"/>
                          </a:solidFill>
                          <a:latin typeface="Inter"/>
                        </a:rPr>
                        <a:t>Symptom</a:t>
                      </a:r>
                    </a:p>
                  </a:txBody>
                  <a:tcPr marL="91440" marR="91440" marT="45720" marB="45720" anchor="ctr">
                    <a:solidFill>
                      <a:srgbClr val="00D4AA"/>
                    </a:solidFill>
                  </a:tcPr>
                </a:tc>
                <a:tc>
                  <a:txBody>
                    <a:bodyPr wrap="square"/>
                    <a:lstStyle/>
                    <a:p>
                      <a:r>
                        <a:rPr sz="1200" b="1">
                          <a:solidFill>
                            <a:srgbClr val="0A1628"/>
                          </a:solidFill>
                          <a:latin typeface="Inter"/>
                        </a:rPr>
                        <a:t>Likely cause</a:t>
                      </a:r>
                    </a:p>
                  </a:txBody>
                  <a:tcPr marL="91440" marR="91440" marT="45720" marB="45720" anchor="ctr">
                    <a:solidFill>
                      <a:srgbClr val="00D4AA"/>
                    </a:solidFill>
                  </a:tcPr>
                </a:tc>
                <a:tc>
                  <a:txBody>
                    <a:bodyPr wrap="square"/>
                    <a:lstStyle/>
                    <a:p>
                      <a:r>
                        <a:rPr sz="1200" b="1">
                          <a:solidFill>
                            <a:srgbClr val="0A1628"/>
                          </a:solidFill>
                          <a:latin typeface="Inter"/>
                        </a:rPr>
                        <a:t>Fix</a:t>
                      </a:r>
                    </a:p>
                  </a:txBody>
                  <a:tcPr marL="91440" marR="91440" marT="45720" marB="45720" anchor="ctr">
                    <a:solidFill>
                      <a:srgbClr val="00D4AA"/>
                    </a:solidFill>
                  </a:tcPr>
                </a:tc>
              </a:tr>
              <a:tr h="384048">
                <a:tc>
                  <a:txBody>
                    <a:bodyPr wrap="square"/>
                    <a:lstStyle/>
                    <a:p>
                      <a:r>
                        <a:rPr sz="1200" b="1">
                          <a:solidFill>
                            <a:srgbClr val="FFFFFF"/>
                          </a:solidFill>
                          <a:latin typeface="Inter"/>
                        </a:rPr>
                        <a:t>Mic meter flat, agent never responds</a:t>
                      </a:r>
                    </a:p>
                  </a:txBody>
                  <a:tcPr marL="91440" marR="91440" marT="45720" marB="45720" anchor="ctr">
                    <a:solidFill>
                      <a:srgbClr val="1A2742"/>
                    </a:solidFill>
                  </a:tcPr>
                </a:tc>
                <a:tc>
                  <a:txBody>
                    <a:bodyPr wrap="square"/>
                    <a:lstStyle/>
                    <a:p>
                      <a:r>
                        <a:rPr sz="1200" b="0">
                          <a:solidFill>
                            <a:srgbClr val="FFFFFF"/>
                          </a:solidFill>
                          <a:latin typeface="Inter"/>
                        </a:rPr>
                        <a:t>Terminal has no mic permission</a:t>
                      </a:r>
                    </a:p>
                  </a:txBody>
                  <a:tcPr marL="91440" marR="91440" marT="45720" marB="45720" anchor="ctr">
                    <a:solidFill>
                      <a:srgbClr val="1A2742"/>
                    </a:solidFill>
                  </a:tcPr>
                </a:tc>
                <a:tc>
                  <a:txBody>
                    <a:bodyPr wrap="square"/>
                    <a:lstStyle/>
                    <a:p>
                      <a:r>
                        <a:rPr sz="1200" b="0">
                          <a:solidFill>
                            <a:srgbClr val="FFFFFF"/>
                          </a:solidFill>
                          <a:latin typeface="Inter"/>
                        </a:rPr>
                        <a:t>macOS: System Settings → Privacy &amp; Security → Microphone → enable your terminal or VS Code. Restart the terminal.</a:t>
                      </a:r>
                    </a:p>
                  </a:txBody>
                  <a:tcPr marL="91440" marR="91440" marT="45720" marB="45720" anchor="ctr">
                    <a:solidFill>
                      <a:srgbClr val="1A2742"/>
                    </a:solidFill>
                  </a:tcPr>
                </a:tc>
              </a:tr>
              <a:tr h="384048">
                <a:tc>
                  <a:txBody>
                    <a:bodyPr wrap="square"/>
                    <a:lstStyle/>
                    <a:p>
                      <a:r>
                        <a:rPr sz="1200" b="1">
                          <a:solidFill>
                            <a:srgbClr val="FFFFFF"/>
                          </a:solidFill>
                          <a:latin typeface="Inter"/>
                        </a:rPr>
                        <a:t>Wrong mic or speakers</a:t>
                      </a:r>
                    </a:p>
                  </a:txBody>
                  <a:tcPr marL="91440" marR="91440" marT="45720" marB="45720" anchor="ctr">
                    <a:solidFill>
                      <a:srgbClr val="0F1E35"/>
                    </a:solidFill>
                  </a:tcPr>
                </a:tc>
                <a:tc>
                  <a:txBody>
                    <a:bodyPr wrap="square"/>
                    <a:lstStyle/>
                    <a:p>
                      <a:r>
                        <a:rPr sz="1200" b="0">
                          <a:solidFill>
                            <a:srgbClr val="FFFFFF"/>
                          </a:solidFill>
                          <a:latin typeface="Inter"/>
                        </a:rPr>
                        <a:t>Default device is a headset or virtual device</a:t>
                      </a:r>
                    </a:p>
                  </a:txBody>
                  <a:tcPr marL="91440" marR="91440" marT="45720" marB="45720" anchor="ctr">
                    <a:solidFill>
                      <a:srgbClr val="0F1E35"/>
                    </a:solidFill>
                  </a:tcPr>
                </a:tc>
                <a:tc>
                  <a:txBody>
                    <a:bodyPr wrap="square"/>
                    <a:lstStyle/>
                    <a:p>
                      <a:r>
                        <a:rPr sz="1104" b="0">
                          <a:solidFill>
                            <a:srgbClr val="00D4AA"/>
                          </a:solidFill>
                          <a:latin typeface="JetBrains Mono"/>
                        </a:rPr>
                        <a:t>console --list-devices</a:t>
                      </a:r>
                      <a:r>
                        <a:rPr sz="1200" b="0">
                          <a:solidFill>
                            <a:srgbClr val="FFFFFF"/>
                          </a:solidFill>
                          <a:latin typeface="Inter"/>
                        </a:rPr>
                        <a:t>, then </a:t>
                      </a:r>
                      <a:r>
                        <a:rPr sz="1104" b="0">
                          <a:solidFill>
                            <a:srgbClr val="00D4AA"/>
                          </a:solidFill>
                          <a:latin typeface="JetBrains Mono"/>
                        </a:rPr>
                        <a:t>console --input-device "&lt;name&gt;"</a:t>
                      </a:r>
                    </a:p>
                  </a:txBody>
                  <a:tcPr marL="91440" marR="91440" marT="45720" marB="45720" anchor="ctr">
                    <a:solidFill>
                      <a:srgbClr val="0F1E35"/>
                    </a:solidFill>
                  </a:tcPr>
                </a:tc>
              </a:tr>
              <a:tr h="384048">
                <a:tc>
                  <a:txBody>
                    <a:bodyPr wrap="square"/>
                    <a:lstStyle/>
                    <a:p>
                      <a:r>
                        <a:rPr sz="1104" b="0">
                          <a:solidFill>
                            <a:srgbClr val="00D4AA"/>
                          </a:solidFill>
                          <a:latin typeface="JetBrains Mono"/>
                        </a:rPr>
                        <a:t>401</a:t>
                      </a:r>
                      <a:r>
                        <a:rPr sz="1200" b="1">
                          <a:solidFill>
                            <a:srgbClr val="FFFFFF"/>
                          </a:solidFill>
                          <a:latin typeface="Inter"/>
                        </a:rPr>
                        <a:t> or "unauthorized"</a:t>
                      </a:r>
                    </a:p>
                  </a:txBody>
                  <a:tcPr marL="91440" marR="91440" marT="45720" marB="45720" anchor="ctr">
                    <a:solidFill>
                      <a:srgbClr val="1A2742"/>
                    </a:solidFill>
                  </a:tcPr>
                </a:tc>
                <a:tc>
                  <a:txBody>
                    <a:bodyPr wrap="square"/>
                    <a:lstStyle/>
                    <a:p>
                      <a:r>
                        <a:rPr sz="1200" b="0">
                          <a:solidFill>
                            <a:srgbClr val="FFFFFF"/>
                          </a:solidFill>
                          <a:latin typeface="Inter"/>
                        </a:rPr>
                        <a:t>LiveKit key, secret or URL missing or mismatched</a:t>
                      </a:r>
                    </a:p>
                  </a:txBody>
                  <a:tcPr marL="91440" marR="91440" marT="45720" marB="45720" anchor="ctr">
                    <a:solidFill>
                      <a:srgbClr val="1A2742"/>
                    </a:solidFill>
                  </a:tcPr>
                </a:tc>
                <a:tc>
                  <a:txBody>
                    <a:bodyPr wrap="square"/>
                    <a:lstStyle/>
                    <a:p>
                      <a:r>
                        <a:rPr sz="1200" b="0">
                          <a:solidFill>
                            <a:srgbClr val="FFFFFF"/>
                          </a:solidFill>
                          <a:latin typeface="Inter"/>
                        </a:rPr>
                        <a:t>Re-run </a:t>
                      </a:r>
                      <a:r>
                        <a:rPr sz="1104" b="0">
                          <a:solidFill>
                            <a:srgbClr val="00D4AA"/>
                          </a:solidFill>
                          <a:latin typeface="JetBrains Mono"/>
                        </a:rPr>
                        <a:t>lk app env</a:t>
                      </a:r>
                      <a:r>
                        <a:rPr sz="1200" b="0">
                          <a:solidFill>
                            <a:srgbClr val="FFFFFF"/>
                          </a:solidFill>
                          <a:latin typeface="Inter"/>
                        </a:rPr>
                        <a:t>, paste all three lines</a:t>
                      </a:r>
                    </a:p>
                  </a:txBody>
                  <a:tcPr marL="91440" marR="91440" marT="45720" marB="45720" anchor="ctr">
                    <a:solidFill>
                      <a:srgbClr val="1A2742"/>
                    </a:solidFill>
                  </a:tcPr>
                </a:tc>
              </a:tr>
              <a:tr h="384048">
                <a:tc>
                  <a:txBody>
                    <a:bodyPr wrap="square"/>
                    <a:lstStyle/>
                    <a:p>
                      <a:r>
                        <a:rPr sz="1200" b="1">
                          <a:solidFill>
                            <a:srgbClr val="FFFFFF"/>
                          </a:solidFill>
                          <a:latin typeface="Inter"/>
                        </a:rPr>
                        <a:t>Error about missing model files</a:t>
                      </a:r>
                    </a:p>
                  </a:txBody>
                  <a:tcPr marL="91440" marR="91440" marT="45720" marB="45720" anchor="ctr">
                    <a:solidFill>
                      <a:srgbClr val="0F1E35"/>
                    </a:solidFill>
                  </a:tcPr>
                </a:tc>
                <a:tc>
                  <a:txBody>
                    <a:bodyPr wrap="square"/>
                    <a:lstStyle/>
                    <a:p>
                      <a:r>
                        <a:rPr sz="1200" b="0">
                          <a:solidFill>
                            <a:srgbClr val="FFFFFF"/>
                          </a:solidFill>
                          <a:latin typeface="Inter"/>
                        </a:rPr>
                        <a:t>Skipped download step</a:t>
                      </a:r>
                    </a:p>
                  </a:txBody>
                  <a:tcPr marL="91440" marR="91440" marT="45720" marB="45720" anchor="ctr">
                    <a:solidFill>
                      <a:srgbClr val="0F1E35"/>
                    </a:solidFill>
                  </a:tcPr>
                </a:tc>
                <a:tc>
                  <a:txBody>
                    <a:bodyPr wrap="square"/>
                    <a:lstStyle/>
                    <a:p>
                      <a:r>
                        <a:rPr sz="1104" b="0">
                          <a:solidFill>
                            <a:srgbClr val="00D4AA"/>
                          </a:solidFill>
                          <a:latin typeface="JetBrains Mono"/>
                        </a:rPr>
                        <a:t>uv run python agents/s03_hello_agent.py download-files</a:t>
                      </a:r>
                    </a:p>
                  </a:txBody>
                  <a:tcPr marL="91440" marR="91440" marT="45720" marB="45720" anchor="ctr">
                    <a:solidFill>
                      <a:srgbClr val="0F1E35"/>
                    </a:solidFill>
                  </a:tcPr>
                </a:tc>
              </a:tr>
              <a:tr h="384048">
                <a:tc>
                  <a:txBody>
                    <a:bodyPr wrap="square"/>
                    <a:lstStyle/>
                    <a:p>
                      <a:r>
                        <a:rPr sz="1200" b="1">
                          <a:solidFill>
                            <a:srgbClr val="FFFFFF"/>
                          </a:solidFill>
                          <a:latin typeface="Inter"/>
                        </a:rPr>
                        <a:t>Agent keeps interrupting itself</a:t>
                      </a:r>
                    </a:p>
                  </a:txBody>
                  <a:tcPr marL="91440" marR="91440" marT="45720" marB="45720" anchor="ctr">
                    <a:solidFill>
                      <a:srgbClr val="1A2742"/>
                    </a:solidFill>
                  </a:tcPr>
                </a:tc>
                <a:tc>
                  <a:txBody>
                    <a:bodyPr wrap="square"/>
                    <a:lstStyle/>
                    <a:p>
                      <a:r>
                        <a:rPr sz="1200" b="0">
                          <a:solidFill>
                            <a:srgbClr val="FFFFFF"/>
                          </a:solidFill>
                          <a:latin typeface="Inter"/>
                        </a:rPr>
                        <a:t>Speakers feeding back into the mic</a:t>
                      </a:r>
                    </a:p>
                  </a:txBody>
                  <a:tcPr marL="91440" marR="91440" marT="45720" marB="45720" anchor="ctr">
                    <a:solidFill>
                      <a:srgbClr val="1A2742"/>
                    </a:solidFill>
                  </a:tcPr>
                </a:tc>
                <a:tc>
                  <a:txBody>
                    <a:bodyPr wrap="square"/>
                    <a:lstStyle/>
                    <a:p>
                      <a:r>
                        <a:rPr sz="1200" b="0">
                          <a:solidFill>
                            <a:srgbClr val="FFFFFF"/>
                          </a:solidFill>
                          <a:latin typeface="Inter"/>
                        </a:rPr>
                        <a:t>Use headphones</a:t>
                      </a:r>
                    </a:p>
                  </a:txBody>
                  <a:tcPr marL="91440" marR="91440" marT="45720" marB="45720" anchor="ctr">
                    <a:solidFill>
                      <a:srgbClr val="1A2742"/>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2.4</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make test</a:t>
            </a:r>
            <a:r>
              <a:rPr sz="1800" b="1">
                <a:solidFill>
                  <a:srgbClr val="FFFFFF"/>
                </a:solidFill>
                <a:latin typeface="Inter"/>
              </a:rPr>
              <a:t>: the offline Python side, free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console</a:t>
            </a:r>
            <a:r>
              <a:rPr sz="1800" b="1">
                <a:solidFill>
                  <a:srgbClr val="FFFFFF"/>
                </a:solidFill>
                <a:latin typeface="Inter"/>
              </a:rPr>
              <a:t>: the full voice pipeline, your mic</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console --text</a:t>
            </a:r>
            <a:r>
              <a:rPr sz="1800" b="1">
                <a:solidFill>
                  <a:srgbClr val="FFFFFF"/>
                </a:solidFill>
                <a:latin typeface="Inter"/>
              </a:rPr>
              <a:t>: no mic, cheaper prompt experiments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2.4</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Lab 1: Environment verification</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is a short lab where you'll run through the environment checklist yourself and record your results.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2.5</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2.5</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Lab 1: Environment verification</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Verify every part of the environment with a repeatable checklist.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2.5</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Quick win: run the finished Riley before you build it</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Next, a quick win: you'll run the finished Riley on your laptop before building 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2.6</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2.6</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Quick win: run the finished Riley before you build it</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Run the finished capstone agent locally with </a:t>
            </a:r>
            <a:r>
              <a:rPr sz="1472" b="0">
                <a:solidFill>
                  <a:srgbClr val="00D4AA"/>
                </a:solidFill>
                <a:latin typeface="JetBrains Mono"/>
              </a:rPr>
              <a:t>make console AGENT=...</a:t>
            </a:r>
            <a:r>
              <a:rPr sz="1600" b="0">
                <a:solidFill>
                  <a:srgbClr val="CBD5E1"/>
                </a:solidFill>
                <a:latin typeface="Inter"/>
              </a:rPr>
              <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just heard, and where it's built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800" b="0">
                <a:solidFill>
                  <a:srgbClr val="FFFFFF"/>
                </a:solidFill>
                <a:latin typeface="Inter"/>
              </a:rPr>
              <a:t>Greeting with AI disclosure → Section 4</a:t>
            </a:r>
          </a:p>
          <a:p>
            <a:pPr marL="292608" indent="-292608">
              <a:lnSpc>
                <a:spcPct val="120000"/>
              </a:lnSpc>
              <a:spcAft>
                <a:spcPts val="1260"/>
              </a:spcAft>
              <a:buClr>
                <a:srgbClr val="00D4AA"/>
              </a:buClr>
              <a:buFont typeface="Inter"/>
              <a:buChar char="•"/>
            </a:pPr>
            <a:r>
              <a:rPr sz="1800" b="0">
                <a:solidFill>
                  <a:srgbClr val="FFFFFF"/>
                </a:solidFill>
                <a:latin typeface="Inter"/>
              </a:rPr>
              <a:t>"One moment while I check the schedule" → Section 5 (filler speech)</a:t>
            </a:r>
          </a:p>
          <a:p>
            <a:pPr marL="292608" indent="-292608">
              <a:lnSpc>
                <a:spcPct val="120000"/>
              </a:lnSpc>
              <a:spcAft>
                <a:spcPts val="1260"/>
              </a:spcAft>
              <a:buClr>
                <a:srgbClr val="00D4AA"/>
              </a:buClr>
              <a:buFont typeface="Inter"/>
              <a:buChar char="•"/>
            </a:pPr>
            <a:r>
              <a:rPr sz="1800" b="0">
                <a:solidFill>
                  <a:srgbClr val="FFFFFF"/>
                </a:solidFill>
                <a:latin typeface="Inter"/>
              </a:rPr>
              <a:t>Only real slots, three at most → Section 5 (tools + scheduler)</a:t>
            </a:r>
          </a:p>
          <a:p>
            <a:pPr marL="292608" indent="-292608">
              <a:lnSpc>
                <a:spcPct val="120000"/>
              </a:lnSpc>
              <a:spcAft>
                <a:spcPts val="1260"/>
              </a:spcAft>
              <a:buClr>
                <a:srgbClr val="00D4AA"/>
              </a:buClr>
              <a:buFont typeface="Inter"/>
              <a:buChar char="•"/>
            </a:pPr>
            <a:r>
              <a:rPr sz="1800" b="0">
                <a:solidFill>
                  <a:srgbClr val="FFFFFF"/>
                </a:solidFill>
                <a:latin typeface="Inter"/>
              </a:rPr>
              <a:t>Read-back before booking → Section 5</a:t>
            </a:r>
          </a:p>
          <a:p>
            <a:pPr marL="292608" indent="-292608">
              <a:lnSpc>
                <a:spcPct val="120000"/>
              </a:lnSpc>
              <a:spcAft>
                <a:spcPts val="1260"/>
              </a:spcAft>
              <a:buClr>
                <a:srgbClr val="00D4AA"/>
              </a:buClr>
              <a:buFont typeface="Inter"/>
              <a:buChar char="•"/>
            </a:pPr>
            <a:r>
              <a:rPr sz="1800" b="0">
                <a:solidFill>
                  <a:srgbClr val="FFFFFF"/>
                </a:solidFill>
                <a:latin typeface="Inter"/>
              </a:rPr>
              <a:t>Cancellation policy reminder → Section 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2.6</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you just heard, and where it's built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Clinic facts from the FAQ → Section 7</a:t>
            </a:r>
          </a:p>
          <a:p>
            <a:pPr marL="292608" indent="-292608">
              <a:lnSpc>
                <a:spcPct val="120000"/>
              </a:lnSpc>
              <a:spcAft>
                <a:spcPts val="1539"/>
              </a:spcAft>
              <a:buClr>
                <a:srgbClr val="00D4AA"/>
              </a:buClr>
              <a:buFont typeface="Inter"/>
              <a:buChar char="•"/>
            </a:pPr>
            <a:r>
              <a:rPr sz="2200" b="0">
                <a:solidFill>
                  <a:srgbClr val="FFFFFF"/>
                </a:solidFill>
                <a:latin typeface="Inter"/>
              </a:rPr>
              <a:t>Transfer request handled safely → Section 8</a:t>
            </a:r>
          </a:p>
          <a:p>
            <a:pPr marL="292608" indent="-292608">
              <a:lnSpc>
                <a:spcPct val="120000"/>
              </a:lnSpc>
              <a:spcAft>
                <a:spcPts val="1539"/>
              </a:spcAft>
              <a:buClr>
                <a:srgbClr val="00D4AA"/>
              </a:buClr>
              <a:buFont typeface="Inter"/>
              <a:buChar char="•"/>
            </a:pPr>
            <a:r>
              <a:rPr sz="2200" b="0">
                <a:solidFill>
                  <a:srgbClr val="FFFFFF"/>
                </a:solidFill>
                <a:latin typeface="Inter"/>
              </a:rPr>
              <a:t>Refuses tricks and medical advice → Section 11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2.6</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command runs the finished Riley</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Every behaviour maps to a section ahead</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MAPLE_TODAY</a:t>
            </a:r>
            <a:r>
              <a:rPr sz="1800" b="1">
                <a:solidFill>
                  <a:srgbClr val="FFFFFF"/>
                </a:solidFill>
                <a:latin typeface="Inter"/>
              </a:rPr>
              <a:t> makes every demo reproducible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2.6</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Spending caps, free tiers and offline mock mode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Before you start building, one more setup lecture: how to cap your spending and practice for free with…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2 · SETUP: ACCOUNTS, KEYS AND YOUR DEV ENVIRONMENT</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2.7</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Spending caps, free tiers and offline mock mode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Set hard spending limits on OpenAI and check usage on LiveKit Cloud and optional providers.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400" b="1">
                <a:solidFill>
                  <a:srgbClr val="FFFFFF"/>
                </a:solidFill>
                <a:latin typeface="Inter"/>
              </a:rPr>
              <a:t>Where your money goes (placeholder prices, check current pricing)</a:t>
            </a:r>
          </a:p>
        </p:txBody>
      </p:sp>
      <p:sp>
        <p:nvSpPr>
          <p:cNvPr id="4" name="Rectangle 3"/>
          <p:cNvSpPr/>
          <p:nvPr/>
        </p:nvSpPr>
        <p:spPr>
          <a:xfrm>
            <a:off x="502920" y="1365269"/>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758461"/>
            <a:ext cx="10881360" cy="4550898"/>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Cascaded call: roughly seven cents per minute in our example price table</a:t>
            </a:r>
          </a:p>
          <a:p>
            <a:pPr marL="292608" indent="-292608">
              <a:lnSpc>
                <a:spcPct val="120000"/>
              </a:lnSpc>
              <a:spcAft>
                <a:spcPts val="1539"/>
              </a:spcAft>
              <a:buClr>
                <a:srgbClr val="00D4AA"/>
              </a:buClr>
              <a:buFont typeface="Inter"/>
              <a:buChar char="•"/>
            </a:pPr>
            <a:r>
              <a:rPr sz="2200" b="0">
                <a:solidFill>
                  <a:srgbClr val="FFFFFF"/>
                </a:solidFill>
                <a:latin typeface="Inter"/>
              </a:rPr>
              <a:t>Biggest slice: text-to-speech, then platform minutes</a:t>
            </a:r>
          </a:p>
          <a:p>
            <a:pPr marL="292608" indent="-292608">
              <a:lnSpc>
                <a:spcPct val="120000"/>
              </a:lnSpc>
              <a:spcAft>
                <a:spcPts val="1539"/>
              </a:spcAft>
              <a:buClr>
                <a:srgbClr val="00D4AA"/>
              </a:buClr>
              <a:buFont typeface="Inter"/>
              <a:buChar char="•"/>
            </a:pPr>
            <a:r>
              <a:rPr sz="2200" b="0">
                <a:solidFill>
                  <a:srgbClr val="FFFFFF"/>
                </a:solidFill>
                <a:latin typeface="Inter"/>
              </a:rPr>
              <a:t>Speech-to-speech: several times more per minute</a:t>
            </a:r>
          </a:p>
          <a:p>
            <a:pPr marL="292608" indent="-292608">
              <a:lnSpc>
                <a:spcPct val="120000"/>
              </a:lnSpc>
              <a:spcAft>
                <a:spcPts val="1539"/>
              </a:spcAft>
              <a:buClr>
                <a:srgbClr val="00D4AA"/>
              </a:buClr>
              <a:buFont typeface="Inter"/>
              <a:buChar char="•"/>
            </a:pPr>
            <a:r>
              <a:rPr sz="2200" b="0">
                <a:solidFill>
                  <a:srgbClr val="FFFFFF"/>
                </a:solidFill>
                <a:latin typeface="Inter"/>
              </a:rPr>
              <a:t>Unit tests, text mode and mock mode: zero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spending checklist (1/2)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OpenAI monthly budget set, alert at 50%</a:t>
            </a:r>
          </a:p>
          <a:p>
            <a:pPr marL="292608" indent="-292608">
              <a:lnSpc>
                <a:spcPct val="120000"/>
              </a:lnSpc>
              <a:spcAft>
                <a:spcPts val="1539"/>
              </a:spcAft>
              <a:buClr>
                <a:srgbClr val="00D4AA"/>
              </a:buClr>
              <a:buFont typeface="Inter"/>
              <a:buChar char="•"/>
            </a:pPr>
            <a:r>
              <a:rPr sz="2200" b="0">
                <a:solidFill>
                  <a:srgbClr val="FFFFFF"/>
                </a:solidFill>
                <a:latin typeface="Inter"/>
              </a:rPr>
              <a:t>LiveKit usage page bookmarked</a:t>
            </a:r>
          </a:p>
          <a:p>
            <a:pPr marL="292608" indent="-292608">
              <a:lnSpc>
                <a:spcPct val="120000"/>
              </a:lnSpc>
              <a:spcAft>
                <a:spcPts val="1539"/>
              </a:spcAft>
              <a:buClr>
                <a:srgbClr val="00D4AA"/>
              </a:buClr>
              <a:buFont typeface="Inter"/>
              <a:buChar char="•"/>
            </a:pPr>
            <a:r>
              <a:rPr sz="2024" b="0">
                <a:solidFill>
                  <a:srgbClr val="00D4AA"/>
                </a:solidFill>
                <a:latin typeface="JetBrains Mono"/>
              </a:rPr>
              <a:t>MOCK_MODE=1</a:t>
            </a:r>
            <a:r>
              <a:rPr sz="2200" b="0">
                <a:solidFill>
                  <a:srgbClr val="FFFFFF"/>
                </a:solidFill>
                <a:latin typeface="Inter"/>
              </a:rPr>
              <a:t> for tool and prompt work</a:t>
            </a:r>
          </a:p>
          <a:p>
            <a:pPr marL="292608" indent="-292608">
              <a:lnSpc>
                <a:spcPct val="120000"/>
              </a:lnSpc>
              <a:spcAft>
                <a:spcPts val="1539"/>
              </a:spcAft>
              <a:buClr>
                <a:srgbClr val="00D4AA"/>
              </a:buClr>
              <a:buFont typeface="Inter"/>
              <a:buChar char="•"/>
            </a:pPr>
            <a:r>
              <a:rPr sz="2024" b="0">
                <a:solidFill>
                  <a:srgbClr val="00D4AA"/>
                </a:solidFill>
                <a:latin typeface="JetBrains Mono"/>
              </a:rPr>
              <a:t>console --text</a:t>
            </a:r>
            <a:r>
              <a:rPr sz="2200" b="0">
                <a:solidFill>
                  <a:srgbClr val="FFFFFF"/>
                </a:solidFill>
                <a:latin typeface="Inter"/>
              </a:rPr>
              <a:t> when you don't need to hear it</a:t>
            </a:r>
          </a:p>
          <a:p>
            <a:pPr marL="292608" indent="-292608">
              <a:lnSpc>
                <a:spcPct val="120000"/>
              </a:lnSpc>
              <a:spcAft>
                <a:spcPts val="1539"/>
              </a:spcAft>
              <a:buClr>
                <a:srgbClr val="00D4AA"/>
              </a:buClr>
              <a:buFont typeface="Inter"/>
              <a:buChar char="•"/>
            </a:pPr>
            <a:r>
              <a:rPr sz="2200" b="0">
                <a:solidFill>
                  <a:srgbClr val="FFFFFF"/>
                </a:solidFill>
                <a:latin typeface="Inter"/>
              </a:rPr>
              <a:t>Estimate minutes × cost per minute before voice labs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Your spending checklist (2/2)</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Stop </a:t>
            </a:r>
            <a:r>
              <a:rPr sz="2024" b="0">
                <a:solidFill>
                  <a:srgbClr val="00D4AA"/>
                </a:solidFill>
                <a:latin typeface="JetBrains Mono"/>
              </a:rPr>
              <a:t>dev</a:t>
            </a:r>
            <a:r>
              <a:rPr sz="2200" b="0">
                <a:solidFill>
                  <a:srgbClr val="FFFFFF"/>
                </a:solidFill>
                <a:latin typeface="Inter"/>
              </a:rPr>
              <a:t> servers and release unused phone numbers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Hard caps stop runaway bills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656" b="0">
                <a:solidFill>
                  <a:srgbClr val="00D4AA"/>
                </a:solidFill>
                <a:latin typeface="JetBrains Mono"/>
              </a:rPr>
              <a:t>MOCK_MODE=1</a:t>
            </a:r>
            <a:r>
              <a:rPr sz="1800" b="1">
                <a:solidFill>
                  <a:srgbClr val="FFFFFF"/>
                </a:solidFill>
                <a:latin typeface="Inter"/>
              </a:rPr>
              <a:t> with </a:t>
            </a:r>
            <a:r>
              <a:rPr sz="1656" b="0">
                <a:solidFill>
                  <a:srgbClr val="00D4AA"/>
                </a:solidFill>
                <a:latin typeface="JetBrains Mono"/>
              </a:rPr>
              <a:t>--text</a:t>
            </a:r>
            <a:r>
              <a:rPr sz="1800" b="1">
                <a:solidFill>
                  <a:srgbClr val="FFFFFF"/>
                </a:solidFill>
                <a:latin typeface="Inter"/>
              </a:rPr>
              <a:t> costs nothing</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Estimate a lab's minutes in dollars first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Run any course agent with one command</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Prove keys, tests and audio work in minutes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Practise flows at zero cost in mock mode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Production Voice AI Agents · Section 02 · Lecture 2.7</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LiveKit mental model: rooms, participants, tracks, dispatch</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Your environment is ready and your budget is safe, so Section 3 starts with the LiveKit mental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