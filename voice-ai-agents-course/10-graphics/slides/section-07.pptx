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RAG for voice: short, speakable, grounded.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chatbot, you retrieve five chunks, write three paragraphs and paste a link to the policy page. Nobody minds waiting two seconds, because there's a spinner. On a phone call, there's no spinner. There's silence. And after about a second of silence, callers start saying "Hello?" So voice RAG has three rules. Short. Speakable. Grounded.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first. Retrieve one or two small chunks. Answer in one or two sentences. If there's more, offer it. "We accept most PPO plans. Would you like me to check yours specifically?" Long answers aren't just boring on the phone. They cost you. More output tokens, more TTS characters, and more chances for the caller to interrupt halfway through.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Speakable. Your knowledge base was probably written for a website. It has tables, bullet points and links. None of that survives text-to-speech. Riley's prompt already says "no markdown, spell out numbers." That's the `OUTPUT_RULES` block in `prompts.py`. But the cleaner the source, the less the model has to rewrite on the fly. For Maple Street Dental, I wrote `faq.md` in short, plain paragraphs, one topic per heading.</a:t>
            </a:r>
          </a:p>
          <a:p/>
          <a:p>
            <a:r>
              <a:t>[SCREEN: `src/maple/data/faq.md`, scroll through headings: Opening hours, Parking, Insurance accepted, Cancellation policy, Dental emerge...]</a:t>
            </a:r>
          </a:p>
          <a:p/>
          <a:p>
            <a:r>
              <a:t>Here it is. Hours. Parking. Insurance. Cancellation policy. Each section is a few sentences a receptionist could read out loud.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Grounded. This is the one that would have saved our Medicaid caller. Riley must answer only from what retrieval returns. If retrieval returns nothing useful, Riley says, "I'm not sure about that one. Would you like me to take a message for the front desk?" "I don't know" is a feature. On a clinic phone line, a confident wrong answer about insurance is worse than no answer at all. And in Section 9, we'll write tests that fail if Riley ever invents a price.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architecture question. There are two ways to wire retrieval into a LiveKit agent.</a:t>
            </a:r>
          </a:p>
          <a:p/>
          <a:p>
            <a:r>
              <a:t>Option one: retrieval as a tool. You give Riley a `lookup_clinic_info` function tool. When the caller asks a clinic question, the model decides to call it, reads the result, and answers. The cost is an extra model round trip, maybe three to five hundred milliseconds. The upside is that on "I'd like to book a cleaning," nothing gets retrieved at all.</a:t>
            </a:r>
          </a:p>
          <a:p/>
          <a:p>
            <a:r>
              <a:t>Option two: pre-turn injection. LiveKit agents have a hook called `on_user_turn_completed`. It runs after the caller finishes speaking and before the model generates a reply. You retrieve right there and add the results to the context for this turn.</a:t>
            </a:r>
          </a:p>
          <a:p/>
          <a:p>
            <a:r>
              <a:t>[CODE: slide-size snippet, pre-turn injection (from `KnowledgeRiley` in `agents/s07_knowledge_agent.py`)]</a:t>
            </a:r>
          </a:p>
          <a:p/>
          <a:p>
            <a:r>
              <a:t>No extra round trip. But you pay the retrieval time and the extra tokens on every single turn, including "yes," "no," and "Tuesday."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which one should Riley use? Most of Riley's turns are about booking. Clinic questions come up maybe one turn in five. So we'll use the tool approach, and the prompt will say exactly when to call it. If you're building an agent where almost every turn is a question, like a product support line, injection often wins. And you'll know for sure when you measure it against the latency budget in lecture 9.8.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slide. What should Riley actually say when the FAQ has nothing? This is the moment where voice agents feel either trustworthy or robotic. Silence is the worst answer. A canned "I cannot assist with that request" is the second worst. It sounds like a phone tree. The best answer admits the gap in plain words and offers a next step: a message for the front desk, or a transfer. That keeps the caller moving.</a:t>
            </a:r>
          </a:p>
          <a:p/>
          <a:p>
            <a:r>
              <a:t>[B-ROLL: Two timer bars side by side: a sixty-word answer filling 24 seconds, and a two-sentence answer filling about 8 seconds, with a c...]</a:t>
            </a:r>
          </a:p>
          <a:p/>
          <a:p>
            <a:r>
              <a:t>And keep the numbers in mind. People speak at roughly a hundred and fifty words a minute, and TTS voices are similar. A sixty-word answer takes about twenty-four seconds to say. On a phone, twenty-four seconds of one-way talking feels like forever, and it gives the caller plenty of time to interrupt. One or two sentences is about eight seconds. That's the target.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question I get a lot: "Can't the model just remember the FAQ from its training?" No, and it's the core reason for this whole section. The model has never seen Maple Street Dental's parking garage or its list of insurance plans. When it answers without retrieval, it's pattern-matching from thousands of other clinics. Sometimes it's right. That's the dangerous part. Grounding turns "sometimes right" into "right, or honestly unsure."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FAQ lookup tool.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Scaling knowledge: vector stores and latency.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signs. You have hundreds of documents, not two pages. Callers use different words from your docs. A caller says "numbing shot," and your document says "local anesthetic." Keyword search misses that. Embeddings catch it, because they match meaning, not spelling. And the best signal of all: your "faq miss" log from the last lecture is full of questions your documents actually answer. That's the data that justifies the upgrade.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cost. A hosted embedding API call takes somewhere between fifty and two hundred milliseconds. The vector search itself is usually fast, five to fifty. If you add a reranker, that's another hundred to three hundred. So a fancy retrieval stack can eat four hundred milliseconds. Remember lecture 1.4. Our whole turn budget is about a second. Retrieval can't take half of it.</a:t>
            </a:r>
          </a:p>
          <a:p/>
          <a:p>
            <a:r>
              <a:t>[SCREEN: Terminal in the course repo. Time the course's keyword retriever on one question.]</a:t>
            </a:r>
          </a:p>
          <a:p/>
          <a:p>
            <a:r>
              <a:t>[DEMO: Output, for example `5000 loops, best of 5: 70.6 usec per loop`. Your number will differ.]</a:t>
            </a:r>
          </a:p>
          <a:p/>
          <a:p>
            <a:r>
              <a:t>Now compare our own retriever. About seventy microseconds per search on my laptop. That's under a tenth of a millisecond. So what does an upgrade really cost? Every number on that slide, on every single lookup.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ways to hide it. First, cache. On a clinic line, maybe twenty questions make up eighty percent of calls. Hours. Parking. Insurance. Cache those answers and skip retrieval entirely.</a:t>
            </a:r>
          </a:p>
          <a:p/>
          <a:p>
            <a:r>
              <a:t>Second, pre-fetch. Start retrieval in `on_user_turn_completed`, the hook from lecture 7.1, as soon as the caller stops talking. The LLM hasn't even started yet, so the search runs in parallel with thinking time you'd spend anyway.</a:t>
            </a:r>
          </a:p>
          <a:p/>
          <a:p>
            <a:r>
              <a:t>Third, filler speech. You already know this one from lecture 5.5. If a lookup takes more than half a second, Riley says "Let me check that for you," and the silence disappears.</a:t>
            </a:r>
          </a:p>
          <a:p/>
          <a:p>
            <a:r>
              <a:t>Fourth, prewarm. Load your index and any local embedding model once, when the agent process starts, using the `setup_fnc` on `AgentServer`. Never load them inside a call.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don't lose the voice rules as you scale. Chunk by topic, not by fixed character count. A great trick is to store a short spoken summary alongside each chunk, written for the ear. The tool returns the summary first. Use metadata filters so the Downtown location's hours never leak into the Northside answer. And keep the "no match" path and the miss log. They matter even more when the knowledge base is too big to read yourself.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Riley, the keyword retriever stays. So what would change my mind? I've written down when we'd revisit it: more than fifty documents, or FAQ misses above ten percent of lookups. And here's the nice part of the design. If we swap in a vector store later, the tool's name and signature don't change. The agent doesn't know. The tests from Section 9 keep passing, or they tell us exactly what broke.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it concrete. Imagine Maple Street Dental grows to five locations. The knowledge base goes from two pages to three hundred documents: different hours, different dentists, different parking. And our miss log shows eighteen percent of lookups finding nothing, even though the answers exist. That's our signal.</a:t>
            </a:r>
          </a:p>
          <a:p/>
          <a:p>
            <a:r>
              <a:t>[B-ROLL: Diagram builds left to right: caller question → local embedding model (prewarmed) → in-memory vector index → "location = Northsi...]</a:t>
            </a:r>
          </a:p>
          <a:p/>
          <a:p>
            <a:r>
              <a:t>So we'd upgrade, carefully. A small local embedding model, loaded once in `prewarm`, so there's no network hop. An in-memory vector index, because three hundred documents fit easily in memory. A metadata filter on location, so the Northside caller never hears Downtown's hours. And no reranker, because we measured and didn't need one. About twenty milliseconds per lookup, measured, not guessed. The tool keeps its name, `lookup_clinic_info`, and its tests from Section 9 tell us whether answers got better or worse. That's what "upgrade when the data says so"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one caution about vector search specifically: it always returns something. A keyword search for "Botox" in our FAQ returns nothing, which is exactly what we want. A vector search returns the closest section, maybe "Services offered," with a low similarity score. So when you upgrade, keep a similarity threshold and keep the no-match path. Otherwise the upgrade quietly brings back the hallucinations that retrieval was supposed to remove.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Why split one agent into several.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Signal one: prompt size. Every turn sends the whole system prompt to the model. More tokens means a slower first token and a higher bill. When your instructions pass about fifteen hundred to two thousand tokens, you'll usually see it in the metrics.</a:t>
            </a:r>
          </a:p>
          <a:p/>
          <a:p>
            <a:r>
              <a:t>[SCREEN: Terminal in the course repo. Measure Riley's biggest prompt so far, with every block switched on.]</a:t>
            </a:r>
          </a:p>
          <a:p/>
          <a:p>
            <a:r>
              <a:t>[DEMO: Output]</a:t>
            </a:r>
          </a:p>
          <a:p/>
          <a:p>
            <a:r>
              <a:t>So where's Riley today? With every block on, including the security rules from Section eleven, about six hundred and seventy words. That's well under fifteen hundred tokens. By prompt size alone, Riley doesn't need to split yet.</a:t>
            </a:r>
          </a:p>
          <a:p/>
          <a:p>
            <a:r>
              <a:t>Signal two: tool confusion. With ten tools that sound alike, models pick the wrong one more often. A caller says "I need to sort out my appointment payment," and the model reaches for `reschedule_appointment`. Fewer tools per agent means fewer wrong picks.</a:t>
            </a:r>
          </a:p>
          <a:p/>
          <a:p>
            <a:r>
              <a:t>Signal three: persona conflict. The greeter should be quick and warm. The billing specialist should be careful and precise about money. Asking one prompt to be both makes it mediocre at each.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costs, because splitting isn't free. A handoff is a tool call, followed by the new agent starting up and speaking. That can add three to eight hundred milliseconds of silence. If you don't pass the conversation history, the new agent asks "How can I help you?" and the caller has to repeat themselves. That's the fastest way to make a caller hate your system. Anything the next agent needs, like the caller's name, must live in shared state. And every handoff is a new path you have to test.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[B-ROLL: animated graph. Greeter in the center, arrows to Booking and Billing, and arrows back to Greeter. A "CallState" box underneath a...]</a:t>
            </a:r>
          </a:p>
          <a:p/>
          <a:p>
            <a:r>
              <a:t>Here's the team we'll build. The Greeter says hello, answers quick FAQ questions, and routes. The Booking agent owns the four appointment tools. The Billing agent handles insurance, payments and prices. Each agent can hand back to the Greeter. And all three share one `CallState` object, so a name collected by the Greeter is already known to Booking.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simple checklist. Fewer than about six tools and one persona? Keep one agent. Distinct domains with their own tools? Split. Need a different model or voice for one step, like a cheaper model for the greeter? Split, because each LiveKit `Agent` can override the session's `llm` and `tts`. And for a short, latency-critical call that does one thing, keep one agent.</a:t>
            </a:r>
          </a:p>
          <a:p/>
          <a:p>
            <a:r>
              <a:t>To be honest, Riley doesn't need to split for prompt size; you just measured that. We're splitting it partly because it's a pattern you'll need on bigger projects, and partly because the billing domain is growing. And in Section 9, the tests will tell us whether it was worth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split, know that there are lighter options. A LiveKit `Agent` can change its own tools during a call with `update_tools`, and its own instructions with `update_instructions`. So one agent can start with just the FAQ tool and gain the booking tools once the caller says "appointment." And our `build_instructions` function already builds Riley's prompt from blocks, so an agent that doesn't book doesn't pay for the booking rules.</a:t>
            </a:r>
          </a:p>
          <a:p/>
          <a:p>
            <a:r>
              <a:t>Those techniques keep one agent small without the cost of handoffs. Split when the personas really differ, when you want different models or voices per step, or when the prompt is still too big after trimming. Splitting is a choice, not a default, and in Section 9 we'll write tests that tell us whether it paid off.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quick way to decide for your own agent. Write down every tool, and next to each one, the persona that should use it. If one persona owns all the tools, you have one agent. If the list splits cleanly into two or three groups, with different tones and different rules, you have a team. If it splits messily, with tools that everyone needs, keep one agent and use modular prompts. Messy splits create more handoffs than they save.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Greeter → Booking → Billing.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slow down and replay one handoff step by step, because it's easy to wave hands here. The Greeter's model decides the caller wants an appointment, and calls `transfer_to_booking`. The tool runs: it writes a note into `CallState`, builds a `BookingAgent` with the recent conversation, and returns it with a short message. LiveKit sees an agent in the return value and swaps the active agent. The message becomes the tool's result in the history. Then `BookingAgent.on_enter` runs, and its `generate_reply` produces the first thing the caller hears from the specialist.</a:t>
            </a:r>
          </a:p>
          <a:p/>
          <a:p>
            <a:r>
              <a:t>[B-ROLL: The handoff as an animation. The "Greeter" card slides out and the "Booking" card slides in; the room, the audio line and the `C...]</a:t>
            </a:r>
          </a:p>
          <a:p/>
          <a:p>
            <a:r>
              <a:t>What doesn't change is just as important. It's the same session, the same room, the same audio connection, and the same `CallState` object. The caller never hears a click or a hold tone. From their side, Riley just got more specific. That's why one voice for every specialist is usually right for a small clinic: the team is an implementation detail, not something the caller should notice.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question from students every time: "Could the specialists use a different LLM?" Yes. Each `Agent` can take its own `llm=`, `tts=` or `stt=`, overriding the session's. A common pattern is a small, fast model for the Greeter, which mostly routes, and a stronger model for Billing, where mistakes about money are expensive. Measure before you do it, though. Two models means two sets of prompts to tune and two sets of tests to keep green.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5: Add an Insurance agent.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Knowledge and handoffs.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tip: for the handoff questions, picture the tool's return value. If a tool returns an agent, the session switches. Everything else follows from that one rule.</a:t>
            </a:r>
          </a:p>
          <a:p/>
          <a:p>
            <a:r>
              <a:t>Each answer links back to its lecture. It'll take about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Multilingual Riley: Spanish and Hindi callers.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they are. The speech-to-text model has to know the language, or it transcribes Spanish as garbled English. The turn detector has to know when a Spanish or Hindi speaker has finished a sentence. The text-to-speech model needs the language, and ideally a voice that sounds native. And the prompt has to tell the LLM which language to answer in, including when the FAQ tool hands back English text. Miss any one of the four, and the call falls apart.</a:t>
            </a:r>
          </a:p>
          <a:p/>
          <a:p>
            <a:r>
              <a:t>[SCREEN: `src/maple/config.py`, highlight `SUPPORTED_LANGUAGES` and the `language` field.]</a:t>
            </a:r>
          </a:p>
          <a:p/>
          <a:p>
            <a:r>
              <a:t>In our repo, all four come from one environment variable, `LANGUAGE`. Open `src/maple/config.py`. `SUPPORTED_LANGUAGES` lists English, Spanish and Hindi. `load_settings` validates `LANGUAGE` against it, so a typo like "sp" fails at startup instead of mid-call.</a:t>
            </a:r>
          </a:p>
          <a:p/>
          <a:p>
            <a:r>
              <a:t>[CODE: `src/maple/config.py` (excerpt, highlight)]</a:t>
            </a:r>
          </a:p>
          <a:p/>
          <a:p>
            <a:r>
              <a:t>(`...` marks lines left out. `load_settings` reads it from `LANGUAGE`.)</a:t>
            </a:r>
          </a:p>
          <a:p/>
          <a:p>
            <a:r>
              <a:t>[SCREEN: `agents/common.py`, `build_stt` and `build_tts`.]</a:t>
            </a:r>
          </a:p>
          <a:p/>
          <a:p>
            <a:r>
              <a:t>Now the speech models. Both builders in `agents/common.py` read the language.</a:t>
            </a:r>
          </a:p>
          <a:p/>
          <a:p>
            <a:r>
              <a:t>[CODE: `agents/common.py` (excerpts, highlight)]</a:t>
            </a:r>
          </a:p>
          <a:p/>
          <a:p>
            <a:r>
              <a:t>Speech-to-text is Deepgram Nova-3 through LiveKit Inference, with `language` set to `es` or `hi`. Text-to-speech is Cartesia Sonic-3, which is multilingual, with the language set too. One practical note: Sonic-3 can speak Spanish and Hindi with Riley's English voice, but a voice designed for the language sounds far more natural. So for a Spanish line, set `TTS_VOICE` to a Spanish voice ID from the Cartesia library.</a:t>
            </a:r>
          </a:p>
          <a:p/>
          <a:p>
            <a:r>
              <a:t>What about turn detection? Nothing to change. LiveKit's `inference.TurnDetector` is multilingual. It keeps separate thresholds per language, including Spanish and Hindi, and it uses the language the STT reports. That's why the STT language matters twice.</a:t>
            </a:r>
          </a:p>
          <a:p/>
          <a:p>
            <a:r>
              <a:t>[SCREEN: `src/maple/prompts.py`, scroll to `GREETINGS` and `language_block`.]</a:t>
            </a:r>
          </a:p>
          <a:p/>
          <a:p>
            <a:r>
              <a:t>Now the prompt. `prompts.py` has a `GREETINGS` dictionary, with the AI-disclosure greeting in each language. And `language_block`, which `build_instructions` appends for non-English calls. For Spanish, it tells Riley to speak Spanish for the whole call, translate tool results, which come back in English, into natural spoken Spanish, and never translate names, phone numbers or the clinic name. For Hindi it adds one practical line: use simple conversational Hindi, and common English words like "appointment" and "insurance" are fine. That's how many people in India actually talk about dental visits, and it keeps the TTS from stumbling over formal vocabulary.</a:t>
            </a:r>
          </a:p>
          <a:p/>
          <a:p>
            <a:r>
              <a:t>[SCREEN: `src/maple/data/faq.md`: one English file, scrolled past a few sections.]</a:t>
            </a:r>
          </a:p>
          <a:p/>
          <a:p>
            <a:r>
              <a:t>That's our FAQ strategy, too. We don't maintain three FAQ files. The retriever searches the English FAQ, and the LLM translates the one or two sentences it speaks. For a two-page FAQ, that's accurate enough. For medical or legal wording, you'd review translations by hand and store them.</a:t>
            </a:r>
          </a:p>
          <a:p/>
          <a:p>
            <a:r>
              <a:t>[CODE: `agents/s07_knowledge_agent.py` (the language lines, highlight)]</a:t>
            </a:r>
          </a:p>
          <a:p/>
          <a:p>
            <a:r>
              <a:t>And the agent from lecture 7.2 already passes `language` into `build_instructions` and greets from `GREETINGS`. So one environment variable changes all four places. Run the Spanish line.</a:t>
            </a:r>
          </a:p>
          <a:p/>
          <a:p>
            <a:r>
              <a:t>[SCREEN: terminal]</a:t>
            </a:r>
          </a:p>
          <a:p/>
          <a:p>
            <a:r>
              <a:t>[DEMO: Riley greets in Spanish. Speak Spanish: "Hola, ¿a qué hora cierran los viernes?" Riley calls `lookup_clinic_info` and answers in S...]</a:t>
            </a:r>
          </a:p>
          <a:p/>
          <a:p>
            <a:r>
              <a:t>Riley greets in Spanish, with the AI disclosure. "¿A qué hora cierran los viernes?" Riley looks it up and answers in Spanish: open until two on Fridays.</a:t>
            </a:r>
          </a:p>
          <a:p/>
          <a:p>
            <a:r>
              <a:t>Now watch the tool call for the parking question. On this run, the model passed the question to `lookup_clinic_info` in English: "where can I park." That's lucky, not guaranteed. Our FAQ index is a keyword index over English text. If the model passes "¿dónde puedo estacionar?" as is, no English words match, and Riley honestly says it isn't sure. The fix is one line in the prompt: "pass FAQ questions to the tool in English." The follow-the-caller setup you'll see in a minute already has that line. Keep it in mind any time your knowledge base has only one language.</a:t>
            </a:r>
          </a:p>
          <a:p/>
          <a:p>
            <a:r>
              <a:t>Hindi works the same way.</a:t>
            </a:r>
          </a:p>
          <a:p/>
          <a:p>
            <a:r>
              <a:t>[DEMO: Hindi greeting from `GREETINGS["hi"]`. Ask in Hindi about Saturday hours; Riley answers in simple Hindi.]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default the repo runs one language per line, which is what I'd deploy for a dedicated Spanish number. But what about a caller on the English line who says, "Perdón, ¿podemos hablar en español?" The reference file already handles that, behind one switch.</a:t>
            </a:r>
          </a:p>
          <a:p/>
          <a:p>
            <a:r>
              <a:t>[SCREEN: VS Code, `agents/s07_knowledge_agent.py`, scrolled to `follow_caller_language`.]</a:t>
            </a:r>
          </a:p>
          <a:p/>
          <a:p>
            <a:r>
              <a:t>[CODE: `agents/s07_knowledge_agent.py`, the mid-call language switch]</a:t>
            </a:r>
          </a:p>
          <a:p/>
          <a:p>
            <a:r>
              <a:t>Every final transcript event carries a language code, like "es-419" for Latin American Spanish. The code is a plain string, so we keep the part before the dash. When it changes, we log it and update the TTS language with `update_options`.</a:t>
            </a:r>
          </a:p>
          <a:p/>
          <a:p>
            <a:r>
              <a:t>[SCREEN: Scroll to the end of `entrypoint`, the `FOLLOW_CALLER_LANGUAGE` branch, then up to `FOLLOW_CALLER_RULES` near the top of the file.]</a:t>
            </a:r>
          </a:p>
          <a:p/>
          <a:p>
            <a:r>
              <a:t>[CODE: the entrypoint's `FOLLOW_CALLER_LANGUAGE=1` branch (excerpt)]</a:t>
            </a:r>
          </a:p>
          <a:p/>
          <a:p>
            <a:r>
              <a:t>Here's the branch that uses it. The STT runs in Deepgram's `multi` mode, which handles callers who switch languages, even mid-sentence. The TTS starts in English. And the agent gets one extra prompt block, `FOLLOW_CALLER_RULES`: start in English, switch with the caller, translate tool results, and pass FAQ questions to the tool in English. That last line fixes the parking problem you just saw.</a:t>
            </a:r>
          </a:p>
          <a:p/>
          <a:p>
            <a:r>
              <a:t>[SCREEN: terminal]</a:t>
            </a:r>
          </a:p>
          <a:p/>
          <a:p>
            <a:r>
              <a:t>[DEMO: Start in English: "Hi, what time do you close on Friday?" Riley answers in English. Then: "Perdón, ¿podemos hablar en español?" Th...]</a:t>
            </a:r>
          </a:p>
          <a:p/>
          <a:p>
            <a:r>
              <a:t>There's the log line: caller switched language, English to Spanish. One warning. Check that your STT actually reports a language before relying on this. Some models and modes don't.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testing. Everything in Section 9 applies, once per language. Word error rate, with reference transcripts from native speakers, because English speakers reading Spanish scripts give you optimistic numbers. Behavior tests with judge intents like "responds in Spanish and states the Friday hours." Dates and numbers, which is where multilingual agents break most often. Keyterm support, which differs by language. And latency per language, because not every model is equally fast in every language. There's already one Spanish-caller conversation in the Section 9 golden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KNOWLEDGE AND MULTI-AGENT HANDOFFS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RAG for voice: short, speakable, grounded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Retrieval for a voice agent must be fast, return a spoken-length answer, and say "I don't know" instead of guessing.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Chat RAG vs voice RAG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Chat: retrieve 5 chunks, write 3 paragraphs, add links</a:t>
            </a:r>
          </a:p>
          <a:p>
            <a:pPr marL="292608" indent="-292608">
              <a:lnSpc>
                <a:spcPct val="120000"/>
              </a:lnSpc>
              <a:spcAft>
                <a:spcPts val="1539"/>
              </a:spcAft>
              <a:buClr>
                <a:srgbClr val="00D4AA"/>
              </a:buClr>
              <a:buFont typeface="Inter"/>
              <a:buChar char="•"/>
            </a:pPr>
            <a:r>
              <a:rPr sz="2200" b="0">
                <a:solidFill>
                  <a:srgbClr val="FFFFFF"/>
                </a:solidFill>
                <a:latin typeface="Inter"/>
              </a:rPr>
              <a:t>Voice: retrieve 1 or 2 chunks, speak 1 or 2 sentences, no links</a:t>
            </a:r>
          </a:p>
          <a:p>
            <a:pPr marL="292608" indent="-292608">
              <a:lnSpc>
                <a:spcPct val="120000"/>
              </a:lnSpc>
              <a:spcAft>
                <a:spcPts val="1539"/>
              </a:spcAft>
              <a:buClr>
                <a:srgbClr val="00D4AA"/>
              </a:buClr>
              <a:buFont typeface="Inter"/>
              <a:buChar char="•"/>
            </a:pPr>
            <a:r>
              <a:rPr sz="2200" b="0">
                <a:solidFill>
                  <a:srgbClr val="FFFFFF"/>
                </a:solidFill>
                <a:latin typeface="Inter"/>
              </a:rPr>
              <a:t>Chat: a 2-second retrieval is fine</a:t>
            </a:r>
          </a:p>
          <a:p>
            <a:pPr marL="292608" indent="-292608">
              <a:lnSpc>
                <a:spcPct val="120000"/>
              </a:lnSpc>
              <a:spcAft>
                <a:spcPts val="1539"/>
              </a:spcAft>
              <a:buClr>
                <a:srgbClr val="00D4AA"/>
              </a:buClr>
              <a:buFont typeface="Inter"/>
              <a:buChar char="•"/>
            </a:pPr>
            <a:r>
              <a:rPr sz="2200" b="0">
                <a:solidFill>
                  <a:srgbClr val="FFFFFF"/>
                </a:solidFill>
                <a:latin typeface="Inter"/>
              </a:rPr>
              <a:t>Voice: every 100 ms of retrieval is dead air on the phone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Rule 1: Short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Retrieve 1 or 2 small chunks, not 5 big ones</a:t>
            </a:r>
          </a:p>
          <a:p>
            <a:pPr marL="292608" indent="-292608">
              <a:lnSpc>
                <a:spcPct val="120000"/>
              </a:lnSpc>
              <a:spcAft>
                <a:spcPts val="1539"/>
              </a:spcAft>
              <a:buClr>
                <a:srgbClr val="00D4AA"/>
              </a:buClr>
              <a:buFont typeface="Inter"/>
              <a:buChar char="•"/>
            </a:pPr>
            <a:r>
              <a:rPr sz="2200" b="0">
                <a:solidFill>
                  <a:srgbClr val="FFFFFF"/>
                </a:solidFill>
                <a:latin typeface="Inter"/>
              </a:rPr>
              <a:t>Answer in 1 or 2 sentences</a:t>
            </a:r>
          </a:p>
          <a:p>
            <a:pPr marL="292608" indent="-292608">
              <a:lnSpc>
                <a:spcPct val="120000"/>
              </a:lnSpc>
              <a:spcAft>
                <a:spcPts val="1539"/>
              </a:spcAft>
              <a:buClr>
                <a:srgbClr val="00D4AA"/>
              </a:buClr>
              <a:buFont typeface="Inter"/>
              <a:buChar char="•"/>
            </a:pPr>
            <a:r>
              <a:rPr sz="2200" b="0">
                <a:solidFill>
                  <a:srgbClr val="FFFFFF"/>
                </a:solidFill>
                <a:latin typeface="Inter"/>
              </a:rPr>
              <a:t>Offer more: "Would you like the details on payment plans?"</a:t>
            </a:r>
          </a:p>
          <a:p>
            <a:pPr marL="292608" indent="-292608">
              <a:lnSpc>
                <a:spcPct val="120000"/>
              </a:lnSpc>
              <a:spcAft>
                <a:spcPts val="1539"/>
              </a:spcAft>
              <a:buClr>
                <a:srgbClr val="00D4AA"/>
              </a:buClr>
              <a:buFont typeface="Inter"/>
              <a:buChar char="•"/>
            </a:pPr>
            <a:r>
              <a:rPr sz="2200" b="0">
                <a:solidFill>
                  <a:srgbClr val="FFFFFF"/>
                </a:solidFill>
                <a:latin typeface="Inter"/>
              </a:rPr>
              <a:t>Long answers mean long TTS time and more interruptions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Rule 2: Speakable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Store FAQ content the way a person would say it</a:t>
            </a:r>
          </a:p>
          <a:p>
            <a:pPr marL="292608" indent="-292608">
              <a:lnSpc>
                <a:spcPct val="120000"/>
              </a:lnSpc>
              <a:spcAft>
                <a:spcPts val="1260"/>
              </a:spcAft>
              <a:buClr>
                <a:srgbClr val="00D4AA"/>
              </a:buClr>
              <a:buFont typeface="Inter"/>
              <a:buChar char="•"/>
            </a:pPr>
            <a:r>
              <a:rPr sz="1800" b="0">
                <a:solidFill>
                  <a:srgbClr val="FFFFFF"/>
                </a:solidFill>
                <a:latin typeface="Inter"/>
              </a:rPr>
              <a:t>No tables, no bullet lists, no URLs in answers</a:t>
            </a:r>
          </a:p>
          <a:p>
            <a:pPr marL="292608" indent="-292608">
              <a:lnSpc>
                <a:spcPct val="120000"/>
              </a:lnSpc>
              <a:spcAft>
                <a:spcPts val="1260"/>
              </a:spcAft>
              <a:buClr>
                <a:srgbClr val="00D4AA"/>
              </a:buClr>
              <a:buFont typeface="Inter"/>
              <a:buChar char="•"/>
            </a:pPr>
            <a:r>
              <a:rPr sz="1800" b="0">
                <a:solidFill>
                  <a:srgbClr val="FFFFFF"/>
                </a:solidFill>
                <a:latin typeface="Inter"/>
              </a:rPr>
              <a:t>"$120 to $180" → "between a hundred twenty and a hundred eighty dollars"</a:t>
            </a:r>
          </a:p>
          <a:p>
            <a:pPr marL="292608" indent="-292608">
              <a:lnSpc>
                <a:spcPct val="120000"/>
              </a:lnSpc>
              <a:spcAft>
                <a:spcPts val="1260"/>
              </a:spcAft>
              <a:buClr>
                <a:srgbClr val="00D4AA"/>
              </a:buClr>
              <a:buFont typeface="Inter"/>
              <a:buChar char="•"/>
            </a:pPr>
            <a:r>
              <a:rPr sz="1800" b="0">
                <a:solidFill>
                  <a:srgbClr val="FFFFFF"/>
                </a:solidFill>
                <a:latin typeface="Inter"/>
              </a:rPr>
              <a:t>The prompt still converts, but clean sources convert better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Rule 3: Grounded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Answer only from retrieved text</a:t>
            </a:r>
          </a:p>
          <a:p>
            <a:pPr marL="292608" indent="-292608">
              <a:lnSpc>
                <a:spcPct val="120000"/>
              </a:lnSpc>
              <a:spcAft>
                <a:spcPts val="1539"/>
              </a:spcAft>
              <a:buClr>
                <a:srgbClr val="00D4AA"/>
              </a:buClr>
              <a:buFont typeface="Inter"/>
              <a:buChar char="•"/>
            </a:pPr>
            <a:r>
              <a:rPr sz="2200" b="0">
                <a:solidFill>
                  <a:srgbClr val="FFFFFF"/>
                </a:solidFill>
                <a:latin typeface="Inter"/>
              </a:rPr>
              <a:t>Nothing relevant found → say so, then offer a message or a transfer</a:t>
            </a:r>
          </a:p>
          <a:p>
            <a:pPr marL="292608" indent="-292608">
              <a:lnSpc>
                <a:spcPct val="120000"/>
              </a:lnSpc>
              <a:spcAft>
                <a:spcPts val="1539"/>
              </a:spcAft>
              <a:buClr>
                <a:srgbClr val="00D4AA"/>
              </a:buClr>
              <a:buFont typeface="Inter"/>
              <a:buChar char="•"/>
            </a:pPr>
            <a:r>
              <a:rPr sz="2200" b="0">
                <a:solidFill>
                  <a:srgbClr val="FFFFFF"/>
                </a:solidFill>
                <a:latin typeface="Inter"/>
              </a:rPr>
              <a:t>Never guess prices, insurance coverage or clinical facts</a:t>
            </a:r>
          </a:p>
          <a:p>
            <a:pPr marL="292608" indent="-292608">
              <a:lnSpc>
                <a:spcPct val="120000"/>
              </a:lnSpc>
              <a:spcAft>
                <a:spcPts val="1539"/>
              </a:spcAft>
              <a:buClr>
                <a:srgbClr val="00D4AA"/>
              </a:buClr>
              <a:buFont typeface="Inter"/>
              <a:buChar char="•"/>
            </a:pPr>
            <a:r>
              <a:rPr sz="2200" b="0">
                <a:solidFill>
                  <a:srgbClr val="FFFFFF"/>
                </a:solidFill>
                <a:latin typeface="Inter"/>
              </a:rPr>
              <a:t>Grounding is a test target in Section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ways to wire retrieval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Retrieval as a tool: the LLM decides when to call </a:t>
            </a:r>
            <a:r>
              <a:rPr sz="1656" b="0">
                <a:solidFill>
                  <a:srgbClr val="00D4AA"/>
                </a:solidFill>
                <a:latin typeface="JetBrains Mono"/>
              </a:rPr>
              <a:t>lookup_clinic_info</a:t>
            </a:r>
          </a:p>
          <a:p>
            <a:pPr marL="292608" indent="-292608">
              <a:lnSpc>
                <a:spcPct val="120000"/>
              </a:lnSpc>
              <a:spcAft>
                <a:spcPts val="1260"/>
              </a:spcAft>
              <a:buClr>
                <a:srgbClr val="00D4AA"/>
              </a:buClr>
              <a:buFont typeface="Inter"/>
              <a:buChar char="•"/>
            </a:pPr>
            <a:r>
              <a:rPr sz="1800" b="0">
                <a:solidFill>
                  <a:srgbClr val="FFFFFF"/>
                </a:solidFill>
                <a:latin typeface="Inter"/>
              </a:rPr>
              <a:t>Pre-turn injection: </a:t>
            </a:r>
            <a:r>
              <a:rPr sz="1656" b="0">
                <a:solidFill>
                  <a:srgbClr val="00D4AA"/>
                </a:solidFill>
                <a:latin typeface="JetBrains Mono"/>
              </a:rPr>
              <a:t>on_user_turn_completed</a:t>
            </a:r>
            <a:r>
              <a:rPr sz="1800" b="0">
                <a:solidFill>
                  <a:srgbClr val="FFFFFF"/>
                </a:solidFill>
                <a:latin typeface="Inter"/>
              </a:rPr>
              <a:t> retrieves on every turn, adds context before the LLM runs</a:t>
            </a:r>
          </a:p>
          <a:p>
            <a:pPr marL="292608" indent="-292608">
              <a:lnSpc>
                <a:spcPct val="120000"/>
              </a:lnSpc>
              <a:spcAft>
                <a:spcPts val="1260"/>
              </a:spcAft>
              <a:buClr>
                <a:srgbClr val="00D4AA"/>
              </a:buClr>
              <a:buFont typeface="Inter"/>
              <a:buChar char="•"/>
            </a:pPr>
            <a:r>
              <a:rPr sz="1800" b="0">
                <a:solidFill>
                  <a:srgbClr val="FFFFFF"/>
                </a:solidFill>
                <a:latin typeface="Inter"/>
              </a:rPr>
              <a:t>Tool: no cost on turns that don't need it, but an extra LLM round trip when it does</a:t>
            </a:r>
          </a:p>
          <a:p>
            <a:pPr marL="292608" indent="-292608">
              <a:lnSpc>
                <a:spcPct val="120000"/>
              </a:lnSpc>
              <a:spcAft>
                <a:spcPts val="1260"/>
              </a:spcAft>
              <a:buClr>
                <a:srgbClr val="00D4AA"/>
              </a:buClr>
              <a:buFont typeface="Inter"/>
              <a:buChar char="•"/>
            </a:pPr>
            <a:r>
              <a:rPr sz="1800" b="0">
                <a:solidFill>
                  <a:srgbClr val="FFFFFF"/>
                </a:solidFill>
                <a:latin typeface="Inter"/>
              </a:rPr>
              <a:t>Injection: no extra round trip, but adds latency and tokens to every turn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Which one for Riley?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Small FAQ, fast keyword retriever, most turns are about booking → tool</a:t>
            </a:r>
          </a:p>
          <a:p>
            <a:pPr marL="292608" indent="-292608">
              <a:lnSpc>
                <a:spcPct val="120000"/>
              </a:lnSpc>
              <a:spcAft>
                <a:spcPts val="1260"/>
              </a:spcAft>
              <a:buClr>
                <a:srgbClr val="00D4AA"/>
              </a:buClr>
              <a:buFont typeface="Inter"/>
              <a:buChar char="•"/>
            </a:pPr>
            <a:r>
              <a:rPr sz="1800" b="0">
                <a:solidFill>
                  <a:srgbClr val="FFFFFF"/>
                </a:solidFill>
                <a:latin typeface="Inter"/>
              </a:rPr>
              <a:t>Large knowledge base, most turns are questions → injection (with a fast retriever)</a:t>
            </a:r>
          </a:p>
          <a:p>
            <a:pPr marL="292608" indent="-292608">
              <a:lnSpc>
                <a:spcPct val="120000"/>
              </a:lnSpc>
              <a:spcAft>
                <a:spcPts val="1260"/>
              </a:spcAft>
              <a:buClr>
                <a:srgbClr val="00D4AA"/>
              </a:buClr>
              <a:buFont typeface="Inter"/>
              <a:buChar char="•"/>
            </a:pPr>
            <a:r>
              <a:rPr sz="1800" b="0">
                <a:solidFill>
                  <a:srgbClr val="FFFFFF"/>
                </a:solidFill>
                <a:latin typeface="Inter"/>
              </a:rPr>
              <a:t>You can do both: inject cheap context, keep a tool for deep lookups</a:t>
            </a:r>
          </a:p>
          <a:p>
            <a:pPr marL="292608" indent="-292608">
              <a:lnSpc>
                <a:spcPct val="120000"/>
              </a:lnSpc>
              <a:spcAft>
                <a:spcPts val="1260"/>
              </a:spcAft>
              <a:buClr>
                <a:srgbClr val="00D4AA"/>
              </a:buClr>
              <a:buFont typeface="Inter"/>
              <a:buChar char="•"/>
            </a:pPr>
            <a:r>
              <a:rPr sz="1800" b="0">
                <a:solidFill>
                  <a:srgbClr val="FFFFFF"/>
                </a:solidFill>
                <a:latin typeface="Inter"/>
              </a:rPr>
              <a:t>Measure it: lecture 9.8 latency budget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"I don't know" should sound like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Bad: silence, or "I'm sorry, I cannot assist with that request."</a:t>
            </a:r>
          </a:p>
          <a:p>
            <a:pPr marL="292608" indent="-292608">
              <a:lnSpc>
                <a:spcPct val="120000"/>
              </a:lnSpc>
              <a:spcAft>
                <a:spcPts val="1260"/>
              </a:spcAft>
              <a:buClr>
                <a:srgbClr val="00D4AA"/>
              </a:buClr>
              <a:buFont typeface="Inter"/>
              <a:buChar char="•"/>
            </a:pPr>
            <a:r>
              <a:rPr sz="1800" b="0">
                <a:solidFill>
                  <a:srgbClr val="FFFFFF"/>
                </a:solidFill>
                <a:latin typeface="Inter"/>
              </a:rPr>
              <a:t>Bad: a confident guess ("Yes, we take all plans.")</a:t>
            </a:r>
          </a:p>
          <a:p>
            <a:pPr marL="292608" indent="-292608">
              <a:lnSpc>
                <a:spcPct val="120000"/>
              </a:lnSpc>
              <a:spcAft>
                <a:spcPts val="1260"/>
              </a:spcAft>
              <a:buClr>
                <a:srgbClr val="00D4AA"/>
              </a:buClr>
              <a:buFont typeface="Inter"/>
              <a:buChar char="•"/>
            </a:pPr>
            <a:r>
              <a:rPr sz="1800" b="0">
                <a:solidFill>
                  <a:srgbClr val="FFFFFF"/>
                </a:solidFill>
                <a:latin typeface="Inter"/>
              </a:rPr>
              <a:t>Good: "I'm not sure about that one. I can take a message for the front desk, or transfer you."</a:t>
            </a:r>
          </a:p>
          <a:p>
            <a:pPr marL="292608" indent="-292608">
              <a:lnSpc>
                <a:spcPct val="120000"/>
              </a:lnSpc>
              <a:spcAft>
                <a:spcPts val="1260"/>
              </a:spcAft>
              <a:buClr>
                <a:srgbClr val="00D4AA"/>
              </a:buClr>
              <a:buFont typeface="Inter"/>
              <a:buChar char="•"/>
            </a:pPr>
            <a:r>
              <a:rPr sz="1800" b="0">
                <a:solidFill>
                  <a:srgbClr val="FFFFFF"/>
                </a:solidFill>
                <a:latin typeface="Inter"/>
              </a:rPr>
              <a:t>Good answers are short: at about 150 spoken words a minute, a 60-word answer is 24 seconds of talking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"Can't the model just remember the FAQ?"</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It has never seen this clinic's FAQ</a:t>
            </a:r>
          </a:p>
          <a:p>
            <a:pPr marL="292608" indent="-292608">
              <a:lnSpc>
                <a:spcPct val="120000"/>
              </a:lnSpc>
              <a:spcAft>
                <a:spcPts val="1539"/>
              </a:spcAft>
              <a:buClr>
                <a:srgbClr val="00D4AA"/>
              </a:buClr>
              <a:buFont typeface="Inter"/>
              <a:buChar char="•"/>
            </a:pPr>
            <a:r>
              <a:rPr sz="2200" b="0">
                <a:solidFill>
                  <a:srgbClr val="FFFFFF"/>
                </a:solidFill>
                <a:latin typeface="Inter"/>
              </a:rPr>
              <a:t>Without retrieval it copies what other clinics do</a:t>
            </a:r>
          </a:p>
          <a:p>
            <a:pPr marL="292608" indent="-292608">
              <a:lnSpc>
                <a:spcPct val="120000"/>
              </a:lnSpc>
              <a:spcAft>
                <a:spcPts val="1539"/>
              </a:spcAft>
              <a:buClr>
                <a:srgbClr val="00D4AA"/>
              </a:buClr>
              <a:buFont typeface="Inter"/>
              <a:buChar char="•"/>
            </a:pPr>
            <a:r>
              <a:rPr sz="2200" b="0">
                <a:solidFill>
                  <a:srgbClr val="FFFFFF"/>
                </a:solidFill>
                <a:latin typeface="Inter"/>
              </a:rPr>
              <a:t>Grounding: "right, or honestly unsure"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FAQ lookup tool</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build Riley's retriever and its </a:t>
            </a:r>
            <a:r>
              <a:rPr sz="1288" b="0">
                <a:solidFill>
                  <a:srgbClr val="00D4AA"/>
                </a:solidFill>
                <a:latin typeface="JetBrains Mono"/>
              </a:rPr>
              <a:t>lookup_clinic_info</a:t>
            </a:r>
            <a:r>
              <a:rPr sz="1400" b="0">
                <a:solidFill>
                  <a:srgbClr val="94A3B8"/>
                </a:solidFill>
                <a:latin typeface="Inter"/>
              </a:rPr>
              <a:t> tool, and make it admit when it doesn't know.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KNOWLEDGE AND MULTI-AGENT HANDOFFS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FAQ lookup tool</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 tiny, dependency-free retriever plus one well-described tool gives Riley grounded, speakable answers.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Scaling knowledge: vector stores and latency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Two pages of FAQ is easy.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KNOWLEDGE AND MULTI-AGENT HANDOFFS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Scaling knowledge: vector stores and latency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Upgrade to embeddings and a vector store only when the knowledge base demands it, and hide the added latency with caching and…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Signs you've outgrown keyword search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Hundreds of documents, not a two-page FAQ</a:t>
            </a:r>
          </a:p>
          <a:p>
            <a:pPr marL="292608" indent="-292608">
              <a:lnSpc>
                <a:spcPct val="120000"/>
              </a:lnSpc>
              <a:spcAft>
                <a:spcPts val="1260"/>
              </a:spcAft>
              <a:buClr>
                <a:srgbClr val="00D4AA"/>
              </a:buClr>
              <a:buFont typeface="Inter"/>
              <a:buChar char="•"/>
            </a:pPr>
            <a:r>
              <a:rPr sz="1800" b="0">
                <a:solidFill>
                  <a:srgbClr val="FFFFFF"/>
                </a:solidFill>
                <a:latin typeface="Inter"/>
              </a:rPr>
              <a:t>Callers use different words from your docs: "cleaning" vs "prophylaxis", "numbing" vs "local anesthetic"</a:t>
            </a:r>
          </a:p>
          <a:p>
            <a:pPr marL="292608" indent="-292608">
              <a:lnSpc>
                <a:spcPct val="120000"/>
              </a:lnSpc>
              <a:spcAft>
                <a:spcPts val="1260"/>
              </a:spcAft>
              <a:buClr>
                <a:srgbClr val="00D4AA"/>
              </a:buClr>
              <a:buFont typeface="Inter"/>
              <a:buChar char="•"/>
            </a:pPr>
            <a:r>
              <a:rPr sz="1800" b="0">
                <a:solidFill>
                  <a:srgbClr val="FFFFFF"/>
                </a:solidFill>
                <a:latin typeface="Inter"/>
              </a:rPr>
              <a:t>Multiple locations, providers or insurance plans with overlapping text</a:t>
            </a:r>
          </a:p>
          <a:p>
            <a:pPr marL="292608" indent="-292608">
              <a:lnSpc>
                <a:spcPct val="120000"/>
              </a:lnSpc>
              <a:spcAft>
                <a:spcPts val="1260"/>
              </a:spcAft>
              <a:buClr>
                <a:srgbClr val="00D4AA"/>
              </a:buClr>
              <a:buFont typeface="Inter"/>
              <a:buChar char="•"/>
            </a:pPr>
            <a:r>
              <a:rPr sz="1800" b="0">
                <a:solidFill>
                  <a:srgbClr val="FFFFFF"/>
                </a:solidFill>
                <a:latin typeface="Inter"/>
              </a:rPr>
              <a:t>Your FAQ-miss log is full of questions the docs actually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retrieval time goes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Embed the question: 50 to 200 ms (hosted API), 5 to 20 ms (local model)</a:t>
            </a:r>
          </a:p>
          <a:p>
            <a:pPr marL="292608" indent="-292608">
              <a:lnSpc>
                <a:spcPct val="120000"/>
              </a:lnSpc>
              <a:spcAft>
                <a:spcPts val="1539"/>
              </a:spcAft>
              <a:buClr>
                <a:srgbClr val="00D4AA"/>
              </a:buClr>
              <a:buFont typeface="Inter"/>
              <a:buChar char="•"/>
            </a:pPr>
            <a:r>
              <a:rPr sz="2200" b="0">
                <a:solidFill>
                  <a:srgbClr val="FFFFFF"/>
                </a:solidFill>
                <a:latin typeface="Inter"/>
              </a:rPr>
              <a:t>Vector search: 5 to 50 ms (in-memory or managed)</a:t>
            </a:r>
          </a:p>
          <a:p>
            <a:pPr marL="292608" indent="-292608">
              <a:lnSpc>
                <a:spcPct val="120000"/>
              </a:lnSpc>
              <a:spcAft>
                <a:spcPts val="1539"/>
              </a:spcAft>
              <a:buClr>
                <a:srgbClr val="00D4AA"/>
              </a:buClr>
              <a:buFont typeface="Inter"/>
              <a:buChar char="•"/>
            </a:pPr>
            <a:r>
              <a:rPr sz="2200" b="0">
                <a:solidFill>
                  <a:srgbClr val="FFFFFF"/>
                </a:solidFill>
                <a:latin typeface="Inter"/>
              </a:rPr>
              <a:t>Optional rerank: 100 to 300 ms</a:t>
            </a:r>
          </a:p>
          <a:p>
            <a:pPr marL="292608" indent="-292608">
              <a:lnSpc>
                <a:spcPct val="120000"/>
              </a:lnSpc>
              <a:spcAft>
                <a:spcPts val="1539"/>
              </a:spcAft>
              <a:buClr>
                <a:srgbClr val="00D4AA"/>
              </a:buClr>
              <a:buFont typeface="Inter"/>
              <a:buChar char="•"/>
            </a:pPr>
            <a:r>
              <a:rPr sz="2200" b="0">
                <a:solidFill>
                  <a:srgbClr val="FFFFFF"/>
                </a:solidFill>
                <a:latin typeface="Inter"/>
              </a:rPr>
              <a:t>Budget reminder: whole turn should be under about 1,000 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Hiding retrieval latency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Cache: frequent questions (hours, parking) answered from a warm cache</a:t>
            </a:r>
          </a:p>
          <a:p>
            <a:pPr marL="292608" indent="-292608">
              <a:lnSpc>
                <a:spcPct val="120000"/>
              </a:lnSpc>
              <a:spcAft>
                <a:spcPts val="1260"/>
              </a:spcAft>
              <a:buClr>
                <a:srgbClr val="00D4AA"/>
              </a:buClr>
              <a:buFont typeface="Inter"/>
              <a:buChar char="•"/>
            </a:pPr>
            <a:r>
              <a:rPr sz="1800" b="0">
                <a:solidFill>
                  <a:srgbClr val="FFFFFF"/>
                </a:solidFill>
                <a:latin typeface="Inter"/>
              </a:rPr>
              <a:t>Pre-fetch: start retrieval in </a:t>
            </a:r>
            <a:r>
              <a:rPr sz="1656" b="0">
                <a:solidFill>
                  <a:srgbClr val="00D4AA"/>
                </a:solidFill>
                <a:latin typeface="JetBrains Mono"/>
              </a:rPr>
              <a:t>on_user_turn_completed</a:t>
            </a:r>
            <a:r>
              <a:rPr sz="1800" b="0">
                <a:solidFill>
                  <a:srgbClr val="FFFFFF"/>
                </a:solidFill>
                <a:latin typeface="Inter"/>
              </a:rPr>
              <a:t>, before the LLM runs</a:t>
            </a:r>
          </a:p>
          <a:p>
            <a:pPr marL="292608" indent="-292608">
              <a:lnSpc>
                <a:spcPct val="120000"/>
              </a:lnSpc>
              <a:spcAft>
                <a:spcPts val="1260"/>
              </a:spcAft>
              <a:buClr>
                <a:srgbClr val="00D4AA"/>
              </a:buClr>
              <a:buFont typeface="Inter"/>
              <a:buChar char="•"/>
            </a:pPr>
            <a:r>
              <a:rPr sz="1800" b="0">
                <a:solidFill>
                  <a:srgbClr val="FFFFFF"/>
                </a:solidFill>
                <a:latin typeface="Inter"/>
              </a:rPr>
              <a:t>Filler: </a:t>
            </a:r>
            <a:r>
              <a:rPr sz="1656" b="0">
                <a:solidFill>
                  <a:srgbClr val="00D4AA"/>
                </a:solidFill>
                <a:latin typeface="JetBrains Mono"/>
              </a:rPr>
              <a:t>context.with_filler("Let me check that for you.", delay=0.5)</a:t>
            </a:r>
          </a:p>
          <a:p>
            <a:pPr marL="292608" indent="-292608">
              <a:lnSpc>
                <a:spcPct val="120000"/>
              </a:lnSpc>
              <a:spcAft>
                <a:spcPts val="1260"/>
              </a:spcAft>
              <a:buClr>
                <a:srgbClr val="00D4AA"/>
              </a:buClr>
              <a:buFont typeface="Inter"/>
              <a:buChar char="•"/>
            </a:pPr>
            <a:r>
              <a:rPr sz="1800" b="0">
                <a:solidFill>
                  <a:srgbClr val="FFFFFF"/>
                </a:solidFill>
                <a:latin typeface="Inter"/>
              </a:rPr>
              <a:t>Prewarm: load indexes and models once per process with </a:t>
            </a:r>
            <a:r>
              <a:rPr sz="1656" b="0">
                <a:solidFill>
                  <a:srgbClr val="00D4AA"/>
                </a:solidFill>
                <a:latin typeface="JetBrains Mono"/>
              </a:rPr>
              <a:t>setup_fnc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Keeping answers speakable at scale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Chunk by topic, 100 to 300 words, not by fixed character count</a:t>
            </a:r>
          </a:p>
          <a:p>
            <a:pPr marL="292608" indent="-292608">
              <a:lnSpc>
                <a:spcPct val="120000"/>
              </a:lnSpc>
              <a:spcAft>
                <a:spcPts val="1539"/>
              </a:spcAft>
              <a:buClr>
                <a:srgbClr val="00D4AA"/>
              </a:buClr>
              <a:buFont typeface="Inter"/>
              <a:buChar char="•"/>
            </a:pPr>
            <a:r>
              <a:rPr sz="2200" b="0">
                <a:solidFill>
                  <a:srgbClr val="FFFFFF"/>
                </a:solidFill>
                <a:latin typeface="Inter"/>
              </a:rPr>
              <a:t>Store a "spoken summary" field per chunk</a:t>
            </a:r>
          </a:p>
          <a:p>
            <a:pPr marL="292608" indent="-292608">
              <a:lnSpc>
                <a:spcPct val="120000"/>
              </a:lnSpc>
              <a:spcAft>
                <a:spcPts val="1539"/>
              </a:spcAft>
              <a:buClr>
                <a:srgbClr val="00D4AA"/>
              </a:buClr>
              <a:buFont typeface="Inter"/>
              <a:buChar char="•"/>
            </a:pPr>
            <a:r>
              <a:rPr sz="2200" b="0">
                <a:solidFill>
                  <a:srgbClr val="FFFFFF"/>
                </a:solidFill>
                <a:latin typeface="Inter"/>
              </a:rPr>
              <a:t>Include metadata filters: location, provider, plan</a:t>
            </a:r>
          </a:p>
          <a:p>
            <a:pPr marL="292608" indent="-292608">
              <a:lnSpc>
                <a:spcPct val="120000"/>
              </a:lnSpc>
              <a:spcAft>
                <a:spcPts val="1539"/>
              </a:spcAft>
              <a:buClr>
                <a:srgbClr val="00D4AA"/>
              </a:buClr>
              <a:buFont typeface="Inter"/>
              <a:buChar char="•"/>
            </a:pPr>
            <a:r>
              <a:rPr sz="2200" b="0">
                <a:solidFill>
                  <a:srgbClr val="FFFFFF"/>
                </a:solidFill>
                <a:latin typeface="Inter"/>
              </a:rPr>
              <a:t>Always keep the NO_MATCH path and the miss log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Decision for Riley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Two-page FAQ → keyword retriever stays</a:t>
            </a:r>
          </a:p>
          <a:p>
            <a:pPr marL="292608" indent="-292608">
              <a:lnSpc>
                <a:spcPct val="120000"/>
              </a:lnSpc>
              <a:spcAft>
                <a:spcPts val="1539"/>
              </a:spcAft>
              <a:buClr>
                <a:srgbClr val="00D4AA"/>
              </a:buClr>
              <a:buFont typeface="Inter"/>
              <a:buChar char="•"/>
            </a:pPr>
            <a:r>
              <a:rPr sz="2200" b="0">
                <a:solidFill>
                  <a:srgbClr val="FFFFFF"/>
                </a:solidFill>
                <a:latin typeface="Inter"/>
              </a:rPr>
              <a:t>Re-evaluate when: more than 50 documents, or FAQ misses above 10% of lookups</a:t>
            </a:r>
          </a:p>
          <a:p>
            <a:pPr marL="292608" indent="-292608">
              <a:lnSpc>
                <a:spcPct val="120000"/>
              </a:lnSpc>
              <a:spcAft>
                <a:spcPts val="1539"/>
              </a:spcAft>
              <a:buClr>
                <a:srgbClr val="00D4AA"/>
              </a:buClr>
              <a:buFont typeface="Inter"/>
              <a:buChar char="•"/>
            </a:pPr>
            <a:r>
              <a:rPr sz="2200" b="0">
                <a:solidFill>
                  <a:srgbClr val="FFFFFF"/>
                </a:solidFill>
                <a:latin typeface="Inter"/>
              </a:rPr>
              <a:t>Swap is invisible to the agent: same </a:t>
            </a:r>
            <a:r>
              <a:rPr sz="2024" b="0">
                <a:solidFill>
                  <a:srgbClr val="00D4AA"/>
                </a:solidFill>
                <a:latin typeface="JetBrains Mono"/>
              </a:rPr>
              <a:t>lookup_clinic_info</a:t>
            </a:r>
            <a:r>
              <a:rPr sz="2200" b="0">
                <a:solidFill>
                  <a:srgbClr val="FFFFFF"/>
                </a:solidFill>
                <a:latin typeface="Inter"/>
              </a:rPr>
              <a:t> signature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worked example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Maple Street Dental opens 4 more locations: 300 documents, per-location hours and dentists</a:t>
            </a:r>
          </a:p>
          <a:p>
            <a:pPr marL="292608" indent="-292608">
              <a:lnSpc>
                <a:spcPct val="120000"/>
              </a:lnSpc>
              <a:spcAft>
                <a:spcPts val="1260"/>
              </a:spcAft>
              <a:buClr>
                <a:srgbClr val="00D4AA"/>
              </a:buClr>
              <a:buFont typeface="Inter"/>
              <a:buChar char="•"/>
            </a:pPr>
            <a:r>
              <a:rPr sz="1800" b="0">
                <a:solidFill>
                  <a:srgbClr val="FFFFFF"/>
                </a:solidFill>
                <a:latin typeface="Inter"/>
              </a:rPr>
              <a:t>Keyword FAQ misses rise to 18 percent of lookups</a:t>
            </a:r>
          </a:p>
          <a:p>
            <a:pPr marL="292608" indent="-292608">
              <a:lnSpc>
                <a:spcPct val="120000"/>
              </a:lnSpc>
              <a:spcAft>
                <a:spcPts val="1260"/>
              </a:spcAft>
              <a:buClr>
                <a:srgbClr val="00D4AA"/>
              </a:buClr>
              <a:buFont typeface="Inter"/>
              <a:buChar char="•"/>
            </a:pPr>
            <a:r>
              <a:rPr sz="1800" b="0">
                <a:solidFill>
                  <a:srgbClr val="FFFFFF"/>
                </a:solidFill>
                <a:latin typeface="Inter"/>
              </a:rPr>
              <a:t>Option: local embedding model (prewarmed) + in-memory vector index + metadata filter by location</a:t>
            </a:r>
          </a:p>
          <a:p>
            <a:pPr marL="292608" indent="-292608">
              <a:lnSpc>
                <a:spcPct val="120000"/>
              </a:lnSpc>
              <a:spcAft>
                <a:spcPts val="1260"/>
              </a:spcAft>
              <a:buClr>
                <a:srgbClr val="00D4AA"/>
              </a:buClr>
              <a:buFont typeface="Inter"/>
              <a:buChar char="•"/>
            </a:pPr>
            <a:r>
              <a:rPr sz="1800" b="0">
                <a:solidFill>
                  <a:srgbClr val="FFFFFF"/>
                </a:solidFill>
                <a:latin typeface="Inter"/>
              </a:rPr>
              <a:t>Measured budget: embed 12 ms + search 6 ms + no rerank = about 20 ms per lookup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Vector search always returns something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Keyword search for "Botox": no match (good)</a:t>
            </a:r>
          </a:p>
          <a:p>
            <a:pPr marL="292608" indent="-292608">
              <a:lnSpc>
                <a:spcPct val="120000"/>
              </a:lnSpc>
              <a:spcAft>
                <a:spcPts val="1539"/>
              </a:spcAft>
              <a:buClr>
                <a:srgbClr val="00D4AA"/>
              </a:buClr>
              <a:buFont typeface="Inter"/>
              <a:buChar char="•"/>
            </a:pPr>
            <a:r>
              <a:rPr sz="2200" b="0">
                <a:solidFill>
                  <a:srgbClr val="FFFFFF"/>
                </a:solidFill>
                <a:latin typeface="Inter"/>
              </a:rPr>
              <a:t>Vector search: the nearest section, with a low score</a:t>
            </a:r>
          </a:p>
          <a:p>
            <a:pPr marL="292608" indent="-292608">
              <a:lnSpc>
                <a:spcPct val="120000"/>
              </a:lnSpc>
              <a:spcAft>
                <a:spcPts val="1539"/>
              </a:spcAft>
              <a:buClr>
                <a:srgbClr val="00D4AA"/>
              </a:buClr>
              <a:buFont typeface="Inter"/>
              <a:buChar char="•"/>
            </a:pPr>
            <a:r>
              <a:rPr sz="2200" b="0">
                <a:solidFill>
                  <a:srgbClr val="FFFFFF"/>
                </a:solidFill>
                <a:latin typeface="Inter"/>
              </a:rPr>
              <a:t>Keep a similarity threshold and the no-match path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Why split one agent into several</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So far, one agent does everything.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KNOWLEDGE AND MULTI-AGENT HANDOFFS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Why split one agent into several</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Split an agent when prompt size, tool confusion or distinct personas hurt quality, and accept the cost of handoff latency and shared…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signals it's time to split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Prompt size: instructions over roughly 1,500 to 2,000 tokens, slower first token</a:t>
            </a:r>
          </a:p>
          <a:p>
            <a:pPr marL="292608" indent="-292608">
              <a:lnSpc>
                <a:spcPct val="120000"/>
              </a:lnSpc>
              <a:spcAft>
                <a:spcPts val="1260"/>
              </a:spcAft>
              <a:buClr>
                <a:srgbClr val="00D4AA"/>
              </a:buClr>
              <a:buFont typeface="Inter"/>
              <a:buChar char="•"/>
            </a:pPr>
            <a:r>
              <a:rPr sz="1800" b="0">
                <a:solidFill>
                  <a:srgbClr val="FFFFFF"/>
                </a:solidFill>
                <a:latin typeface="Inter"/>
              </a:rPr>
              <a:t>Tool confusion: wrong tool picked when tools overlap (for example "reschedule" vs "cancel" vs "billing dispute")</a:t>
            </a:r>
          </a:p>
          <a:p>
            <a:pPr marL="292608" indent="-292608">
              <a:lnSpc>
                <a:spcPct val="120000"/>
              </a:lnSpc>
              <a:spcAft>
                <a:spcPts val="1260"/>
              </a:spcAft>
              <a:buClr>
                <a:srgbClr val="00D4AA"/>
              </a:buClr>
              <a:buFont typeface="Inter"/>
              <a:buChar char="•"/>
            </a:pPr>
            <a:r>
              <a:rPr sz="1800" b="0">
                <a:solidFill>
                  <a:srgbClr val="FFFFFF"/>
                </a:solidFill>
                <a:latin typeface="Inter"/>
              </a:rPr>
              <a:t>Persona conflict: one agent asked to be both quick and chatty, strict and flexible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 handoff costs you</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A tool call and a new agent's </a:t>
            </a:r>
            <a:r>
              <a:rPr sz="1472" b="0">
                <a:solidFill>
                  <a:srgbClr val="00D4AA"/>
                </a:solidFill>
                <a:latin typeface="JetBrains Mono"/>
              </a:rPr>
              <a:t>on_enter</a:t>
            </a:r>
            <a:r>
              <a:rPr sz="1600" b="0">
                <a:solidFill>
                  <a:srgbClr val="FFFFFF"/>
                </a:solidFill>
                <a:latin typeface="Inter"/>
              </a:rPr>
              <a:t>: often 300 to 800 ms of extra silence</a:t>
            </a:r>
          </a:p>
          <a:p>
            <a:pPr marL="292608" indent="-292608">
              <a:lnSpc>
                <a:spcPct val="120000"/>
              </a:lnSpc>
              <a:spcAft>
                <a:spcPts val="1120"/>
              </a:spcAft>
              <a:buClr>
                <a:srgbClr val="00D4AA"/>
              </a:buClr>
              <a:buFont typeface="Inter"/>
              <a:buChar char="•"/>
            </a:pPr>
            <a:r>
              <a:rPr sz="1600" b="0">
                <a:solidFill>
                  <a:srgbClr val="FFFFFF"/>
                </a:solidFill>
                <a:latin typeface="Inter"/>
              </a:rPr>
              <a:t>Context loss unless you pass chat history</a:t>
            </a:r>
          </a:p>
          <a:p>
            <a:pPr marL="292608" indent="-292608">
              <a:lnSpc>
                <a:spcPct val="120000"/>
              </a:lnSpc>
              <a:spcAft>
                <a:spcPts val="1120"/>
              </a:spcAft>
              <a:buClr>
                <a:srgbClr val="00D4AA"/>
              </a:buClr>
              <a:buFont typeface="Inter"/>
              <a:buChar char="•"/>
            </a:pPr>
            <a:r>
              <a:rPr sz="1600" b="0">
                <a:solidFill>
                  <a:srgbClr val="FFFFFF"/>
                </a:solidFill>
                <a:latin typeface="Inter"/>
              </a:rPr>
              <a:t>State must live somewhere shared: </a:t>
            </a:r>
            <a:r>
              <a:rPr sz="1472" b="0">
                <a:solidFill>
                  <a:srgbClr val="00D4AA"/>
                </a:solidFill>
                <a:latin typeface="JetBrains Mono"/>
              </a:rPr>
              <a:t>userdata</a:t>
            </a:r>
          </a:p>
          <a:p>
            <a:pPr marL="292608" indent="-292608">
              <a:lnSpc>
                <a:spcPct val="120000"/>
              </a:lnSpc>
              <a:spcAft>
                <a:spcPts val="1120"/>
              </a:spcAft>
              <a:buClr>
                <a:srgbClr val="00D4AA"/>
              </a:buClr>
              <a:buFont typeface="Inter"/>
              <a:buChar char="•"/>
            </a:pPr>
            <a:r>
              <a:rPr sz="1600" b="0">
                <a:solidFill>
                  <a:srgbClr val="FFFFFF"/>
                </a:solidFill>
                <a:latin typeface="Inter"/>
              </a:rPr>
              <a:t>More paths to test (Section 9: </a:t>
            </a:r>
            <a:r>
              <a:rPr sz="1472" b="0">
                <a:solidFill>
                  <a:srgbClr val="00D4AA"/>
                </a:solidFill>
                <a:latin typeface="JetBrains Mono"/>
              </a:rPr>
              <a:t>is_agent_handoff</a:t>
            </a:r>
            <a:r>
              <a:rPr sz="1600" b="0">
                <a:solidFill>
                  <a:srgbClr val="FFFFFF"/>
                </a:solidFill>
                <a:latin typeface="Inter"/>
              </a:rPr>
              <a:t>)</a:t>
            </a:r>
          </a:p>
        </p:txBody>
      </p:sp>
      <p:pic>
        <p:nvPicPr>
          <p:cNvPr id="6" name="Picture 5" descr="D7-handoff-graph-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Riley's team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GreeterAgent: greets, answers FAQ, routes (tools: </a:t>
            </a:r>
            <a:r>
              <a:rPr sz="1472" b="0">
                <a:solidFill>
                  <a:srgbClr val="00D4AA"/>
                </a:solidFill>
                <a:latin typeface="JetBrains Mono"/>
              </a:rPr>
              <a:t>lookup_clinic_info</a:t>
            </a:r>
            <a:r>
              <a:rPr sz="1600" b="0">
                <a:solidFill>
                  <a:srgbClr val="FFFFFF"/>
                </a:solidFill>
                <a:latin typeface="Inter"/>
              </a:rPr>
              <a:t>, hand-offs)</a:t>
            </a:r>
          </a:p>
          <a:p>
            <a:pPr marL="292608" indent="-292608">
              <a:lnSpc>
                <a:spcPct val="120000"/>
              </a:lnSpc>
              <a:spcAft>
                <a:spcPts val="1120"/>
              </a:spcAft>
              <a:buClr>
                <a:srgbClr val="00D4AA"/>
              </a:buClr>
              <a:buFont typeface="Inter"/>
              <a:buChar char="•"/>
            </a:pPr>
            <a:r>
              <a:rPr sz="1600" b="0">
                <a:solidFill>
                  <a:srgbClr val="FFFFFF"/>
                </a:solidFill>
                <a:latin typeface="Inter"/>
              </a:rPr>
              <a:t>BookingAgent: book, reschedule, cancel (4 booking tools)</a:t>
            </a:r>
          </a:p>
          <a:p>
            <a:pPr marL="292608" indent="-292608">
              <a:lnSpc>
                <a:spcPct val="120000"/>
              </a:lnSpc>
              <a:spcAft>
                <a:spcPts val="1120"/>
              </a:spcAft>
              <a:buClr>
                <a:srgbClr val="00D4AA"/>
              </a:buClr>
              <a:buFont typeface="Inter"/>
              <a:buChar char="•"/>
            </a:pPr>
            <a:r>
              <a:rPr sz="1600" b="0">
                <a:solidFill>
                  <a:srgbClr val="FFFFFF"/>
                </a:solidFill>
                <a:latin typeface="Inter"/>
              </a:rPr>
              <a:t>BillingAgent: insurance, payments, prices (FAQ tool, transfer for balances)</a:t>
            </a:r>
          </a:p>
          <a:p>
            <a:pPr marL="292608" indent="-292608">
              <a:lnSpc>
                <a:spcPct val="120000"/>
              </a:lnSpc>
              <a:spcAft>
                <a:spcPts val="1120"/>
              </a:spcAft>
              <a:buClr>
                <a:srgbClr val="00D4AA"/>
              </a:buClr>
              <a:buFont typeface="Inter"/>
              <a:buChar char="•"/>
            </a:pPr>
            <a:r>
              <a:rPr sz="1600" b="0">
                <a:solidFill>
                  <a:srgbClr val="FFFFFF"/>
                </a:solidFill>
                <a:latin typeface="Inter"/>
              </a:rPr>
              <a:t>Shared: </a:t>
            </a:r>
            <a:r>
              <a:rPr sz="1472" b="0">
                <a:solidFill>
                  <a:srgbClr val="00D4AA"/>
                </a:solidFill>
                <a:latin typeface="JetBrains Mono"/>
              </a:rPr>
              <a:t>CallState</a:t>
            </a:r>
            <a:r>
              <a:rPr sz="1600" b="0">
                <a:solidFill>
                  <a:srgbClr val="FFFFFF"/>
                </a:solidFill>
                <a:latin typeface="Inter"/>
              </a:rPr>
              <a:t> userdata: name, phone, appointment, handoff history</a:t>
            </a:r>
          </a:p>
        </p:txBody>
      </p:sp>
      <p:pic>
        <p:nvPicPr>
          <p:cNvPr id="6" name="Picture 5" descr="D7-handoff-graph-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Handoff vs one agent: decision checklist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Under 6 tools and one persona → keep one agent</a:t>
            </a:r>
          </a:p>
          <a:p>
            <a:pPr marL="292608" indent="-292608">
              <a:lnSpc>
                <a:spcPct val="120000"/>
              </a:lnSpc>
              <a:spcAft>
                <a:spcPts val="1120"/>
              </a:spcAft>
              <a:buClr>
                <a:srgbClr val="00D4AA"/>
              </a:buClr>
              <a:buFont typeface="Inter"/>
              <a:buChar char="•"/>
            </a:pPr>
            <a:r>
              <a:rPr sz="1600" b="0">
                <a:solidFill>
                  <a:srgbClr val="FFFFFF"/>
                </a:solidFill>
                <a:latin typeface="Inter"/>
              </a:rPr>
              <a:t>Distinct domains with separate tools → split</a:t>
            </a:r>
          </a:p>
          <a:p>
            <a:pPr marL="292608" indent="-292608">
              <a:lnSpc>
                <a:spcPct val="120000"/>
              </a:lnSpc>
              <a:spcAft>
                <a:spcPts val="1120"/>
              </a:spcAft>
              <a:buClr>
                <a:srgbClr val="00D4AA"/>
              </a:buClr>
              <a:buFont typeface="Inter"/>
              <a:buChar char="•"/>
            </a:pPr>
            <a:r>
              <a:rPr sz="1600" b="0">
                <a:solidFill>
                  <a:srgbClr val="FFFFFF"/>
                </a:solidFill>
                <a:latin typeface="Inter"/>
              </a:rPr>
              <a:t>Need different models or voices per step → split (per-agent </a:t>
            </a:r>
            <a:r>
              <a:rPr sz="1472" b="0">
                <a:solidFill>
                  <a:srgbClr val="00D4AA"/>
                </a:solidFill>
                <a:latin typeface="JetBrains Mono"/>
              </a:rPr>
              <a:t>llm</a:t>
            </a:r>
            <a:r>
              <a:rPr sz="1600" b="0">
                <a:solidFill>
                  <a:srgbClr val="FFFFFF"/>
                </a:solidFill>
                <a:latin typeface="Inter"/>
              </a:rPr>
              <a:t>, </a:t>
            </a:r>
            <a:r>
              <a:rPr sz="1472" b="0">
                <a:solidFill>
                  <a:srgbClr val="00D4AA"/>
                </a:solidFill>
                <a:latin typeface="JetBrains Mono"/>
              </a:rPr>
              <a:t>tts</a:t>
            </a:r>
            <a:r>
              <a:rPr sz="1600" b="0">
                <a:solidFill>
                  <a:srgbClr val="FFFFFF"/>
                </a:solidFill>
                <a:latin typeface="Inter"/>
              </a:rPr>
              <a:t> overrides)</a:t>
            </a:r>
          </a:p>
          <a:p>
            <a:pPr marL="292608" indent="-292608">
              <a:lnSpc>
                <a:spcPct val="120000"/>
              </a:lnSpc>
              <a:spcAft>
                <a:spcPts val="1120"/>
              </a:spcAft>
              <a:buClr>
                <a:srgbClr val="00D4AA"/>
              </a:buClr>
              <a:buFont typeface="Inter"/>
              <a:buChar char="•"/>
            </a:pPr>
            <a:r>
              <a:rPr sz="1600" b="0">
                <a:solidFill>
                  <a:srgbClr val="FFFFFF"/>
                </a:solidFill>
                <a:latin typeface="Inter"/>
              </a:rPr>
              <a:t>Latency-critical, single-purpose call → keep one agent</a:t>
            </a:r>
          </a:p>
        </p:txBody>
      </p:sp>
      <p:pic>
        <p:nvPicPr>
          <p:cNvPr id="6" name="Picture 5" descr="D7-handoff-graph-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Alternatives to splitting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Update the tool list mid-call: </a:t>
            </a:r>
            <a:r>
              <a:rPr sz="1656" b="0">
                <a:solidFill>
                  <a:srgbClr val="00D4AA"/>
                </a:solidFill>
                <a:latin typeface="JetBrains Mono"/>
              </a:rPr>
              <a:t>Agent.update_tools(...)</a:t>
            </a:r>
          </a:p>
          <a:p>
            <a:pPr marL="292608" indent="-292608">
              <a:lnSpc>
                <a:spcPct val="120000"/>
              </a:lnSpc>
              <a:spcAft>
                <a:spcPts val="1260"/>
              </a:spcAft>
              <a:buClr>
                <a:srgbClr val="00D4AA"/>
              </a:buClr>
              <a:buFont typeface="Inter"/>
              <a:buChar char="•"/>
            </a:pPr>
            <a:r>
              <a:rPr sz="1800" b="0">
                <a:solidFill>
                  <a:srgbClr val="FFFFFF"/>
                </a:solidFill>
                <a:latin typeface="Inter"/>
              </a:rPr>
              <a:t>Update the instructions mid-call: </a:t>
            </a:r>
            <a:r>
              <a:rPr sz="1656" b="0">
                <a:solidFill>
                  <a:srgbClr val="00D4AA"/>
                </a:solidFill>
                <a:latin typeface="JetBrains Mono"/>
              </a:rPr>
              <a:t>Agent.update_instructions(...)</a:t>
            </a:r>
          </a:p>
          <a:p>
            <a:pPr marL="292608" indent="-292608">
              <a:lnSpc>
                <a:spcPct val="120000"/>
              </a:lnSpc>
              <a:spcAft>
                <a:spcPts val="1260"/>
              </a:spcAft>
              <a:buClr>
                <a:srgbClr val="00D4AA"/>
              </a:buClr>
              <a:buFont typeface="Inter"/>
              <a:buChar char="•"/>
            </a:pPr>
            <a:r>
              <a:rPr sz="1800" b="0">
                <a:solidFill>
                  <a:srgbClr val="FFFFFF"/>
                </a:solidFill>
                <a:latin typeface="Inter"/>
              </a:rPr>
              <a:t>Modular prompts: </a:t>
            </a:r>
            <a:r>
              <a:rPr sz="1656" b="0">
                <a:solidFill>
                  <a:srgbClr val="00D4AA"/>
                </a:solidFill>
                <a:latin typeface="JetBrains Mono"/>
              </a:rPr>
              <a:t>build_instructions(booking=..., knowledge=...)</a:t>
            </a:r>
            <a:r>
              <a:rPr sz="1800" b="0">
                <a:solidFill>
                  <a:srgbClr val="FFFFFF"/>
                </a:solidFill>
                <a:latin typeface="Inter"/>
              </a:rPr>
              <a:t> only includes what's needed</a:t>
            </a:r>
          </a:p>
          <a:p>
            <a:pPr marL="292608" indent="-292608">
              <a:lnSpc>
                <a:spcPct val="120000"/>
              </a:lnSpc>
              <a:spcAft>
                <a:spcPts val="1260"/>
              </a:spcAft>
              <a:buClr>
                <a:srgbClr val="00D4AA"/>
              </a:buClr>
              <a:buFont typeface="Inter"/>
              <a:buChar char="•"/>
            </a:pPr>
            <a:r>
              <a:rPr sz="1800" b="0">
                <a:solidFill>
                  <a:srgbClr val="FFFFFF"/>
                </a:solidFill>
                <a:latin typeface="Inter"/>
              </a:rPr>
              <a:t>Split only when these stop being enough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Tools by persona: a quick test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List every tool and the persona that uses it</a:t>
            </a:r>
          </a:p>
          <a:p>
            <a:pPr marL="292608" indent="-292608">
              <a:lnSpc>
                <a:spcPct val="120000"/>
              </a:lnSpc>
              <a:spcAft>
                <a:spcPts val="1539"/>
              </a:spcAft>
              <a:buClr>
                <a:srgbClr val="00D4AA"/>
              </a:buClr>
              <a:buFont typeface="Inter"/>
              <a:buChar char="•"/>
            </a:pPr>
            <a:r>
              <a:rPr sz="2200" b="0">
                <a:solidFill>
                  <a:srgbClr val="FFFFFF"/>
                </a:solidFill>
                <a:latin typeface="Inter"/>
              </a:rPr>
              <a:t>One persona owns them all: one agent</a:t>
            </a:r>
          </a:p>
          <a:p>
            <a:pPr marL="292608" indent="-292608">
              <a:lnSpc>
                <a:spcPct val="120000"/>
              </a:lnSpc>
              <a:spcAft>
                <a:spcPts val="1539"/>
              </a:spcAft>
              <a:buClr>
                <a:srgbClr val="00D4AA"/>
              </a:buClr>
              <a:buFont typeface="Inter"/>
              <a:buChar char="•"/>
            </a:pPr>
            <a:r>
              <a:rPr sz="2200" b="0">
                <a:solidFill>
                  <a:srgbClr val="FFFFFF"/>
                </a:solidFill>
                <a:latin typeface="Inter"/>
              </a:rPr>
              <a:t>Clean groups: a team; a messy split: modular prompts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Greeter → Booking → Billing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let's build Riley's team: Greeter, Booking and Billing, with handoffs that don't make callers repeat themselves.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KNOWLEDGE AND MULTI-AGENT HANDOFFS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Greeter → Booking → Billing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 tool that returns another </a:t>
            </a:r>
            <a:r>
              <a:rPr sz="1472" b="0">
                <a:solidFill>
                  <a:srgbClr val="00D4AA"/>
                </a:solidFill>
                <a:latin typeface="JetBrains Mono"/>
              </a:rPr>
              <a:t>Agent</a:t>
            </a:r>
            <a:r>
              <a:rPr sz="1600" b="0">
                <a:solidFill>
                  <a:srgbClr val="CBD5E1"/>
                </a:solidFill>
                <a:latin typeface="Inter"/>
              </a:rPr>
              <a:t> performs a handoff; shared userdata and a copied chat context keep the caller from repeating themselves.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happens during a handoff</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Greeter's LLM calls </a:t>
            </a:r>
            <a:r>
              <a:rPr sz="1472" b="0">
                <a:solidFill>
                  <a:srgbClr val="00D4AA"/>
                </a:solidFill>
                <a:latin typeface="JetBrains Mono"/>
              </a:rPr>
              <a:t>transfer_to_booking</a:t>
            </a:r>
          </a:p>
          <a:p>
            <a:pPr marL="292608" indent="-292608">
              <a:lnSpc>
                <a:spcPct val="120000"/>
              </a:lnSpc>
              <a:spcAft>
                <a:spcPts val="1120"/>
              </a:spcAft>
              <a:buClr>
                <a:srgbClr val="00D4AA"/>
              </a:buClr>
              <a:buFont typeface="Inter"/>
              <a:buChar char="•"/>
            </a:pPr>
            <a:r>
              <a:rPr sz="1600" b="0">
                <a:solidFill>
                  <a:srgbClr val="FFFFFF"/>
                </a:solidFill>
                <a:latin typeface="Inter"/>
              </a:rPr>
              <a:t>The tool appends a note to </a:t>
            </a:r>
            <a:r>
              <a:rPr sz="1472" b="0">
                <a:solidFill>
                  <a:srgbClr val="00D4AA"/>
                </a:solidFill>
                <a:latin typeface="JetBrains Mono"/>
              </a:rPr>
              <a:t>CallState</a:t>
            </a:r>
            <a:r>
              <a:rPr sz="1600" b="0">
                <a:solidFill>
                  <a:srgbClr val="FFFFFF"/>
                </a:solidFill>
                <a:latin typeface="Inter"/>
              </a:rPr>
              <a:t> and returns </a:t>
            </a:r>
            <a:r>
              <a:rPr sz="1472" b="0">
                <a:solidFill>
                  <a:srgbClr val="00D4AA"/>
                </a:solidFill>
                <a:latin typeface="JetBrains Mono"/>
              </a:rPr>
              <a:t>(BookingAgent(...), "Transferring to the booking specialist.")</a:t>
            </a:r>
          </a:p>
          <a:p>
            <a:pPr marL="292608" indent="-292608">
              <a:lnSpc>
                <a:spcPct val="120000"/>
              </a:lnSpc>
              <a:spcAft>
                <a:spcPts val="1120"/>
              </a:spcAft>
              <a:buClr>
                <a:srgbClr val="00D4AA"/>
              </a:buClr>
              <a:buFont typeface="Inter"/>
              <a:buChar char="•"/>
            </a:pPr>
            <a:r>
              <a:rPr sz="1600" b="0">
                <a:solidFill>
                  <a:srgbClr val="FFFFFF"/>
                </a:solidFill>
                <a:latin typeface="Inter"/>
              </a:rPr>
              <a:t>LiveKit makes </a:t>
            </a:r>
            <a:r>
              <a:rPr sz="1472" b="0">
                <a:solidFill>
                  <a:srgbClr val="00D4AA"/>
                </a:solidFill>
                <a:latin typeface="JetBrains Mono"/>
              </a:rPr>
              <a:t>BookingAgent</a:t>
            </a:r>
            <a:r>
              <a:rPr sz="1600" b="0">
                <a:solidFill>
                  <a:srgbClr val="FFFFFF"/>
                </a:solidFill>
                <a:latin typeface="Inter"/>
              </a:rPr>
              <a:t> the active agent; the message is recorded as the tool result</a:t>
            </a:r>
          </a:p>
          <a:p>
            <a:pPr marL="292608" indent="-292608">
              <a:lnSpc>
                <a:spcPct val="120000"/>
              </a:lnSpc>
              <a:spcAft>
                <a:spcPts val="1120"/>
              </a:spcAft>
              <a:buClr>
                <a:srgbClr val="00D4AA"/>
              </a:buClr>
              <a:buFont typeface="Inter"/>
              <a:buChar char="•"/>
            </a:pPr>
            <a:r>
              <a:rPr sz="1472" b="0">
                <a:solidFill>
                  <a:srgbClr val="00D4AA"/>
                </a:solidFill>
                <a:latin typeface="JetBrains Mono"/>
              </a:rPr>
              <a:t>BookingAgent.on_enter</a:t>
            </a:r>
            <a:r>
              <a:rPr sz="1600" b="0">
                <a:solidFill>
                  <a:srgbClr val="FFFFFF"/>
                </a:solidFill>
                <a:latin typeface="Inter"/>
              </a:rPr>
              <a:t> runs and generates the first specialist reply</a:t>
            </a:r>
          </a:p>
          <a:p>
            <a:pPr marL="292608" indent="-292608">
              <a:lnSpc>
                <a:spcPct val="120000"/>
              </a:lnSpc>
              <a:spcAft>
                <a:spcPts val="1120"/>
              </a:spcAft>
              <a:buClr>
                <a:srgbClr val="00D4AA"/>
              </a:buClr>
              <a:buFont typeface="Inter"/>
              <a:buChar char="•"/>
            </a:pPr>
            <a:r>
              <a:rPr sz="1600" b="0">
                <a:solidFill>
                  <a:srgbClr val="FFFFFF"/>
                </a:solidFill>
                <a:latin typeface="Inter"/>
              </a:rPr>
              <a:t>Same session, same room, same </a:t>
            </a:r>
            <a:r>
              <a:rPr sz="1472" b="0">
                <a:solidFill>
                  <a:srgbClr val="00D4AA"/>
                </a:solidFill>
                <a:latin typeface="JetBrains Mono"/>
              </a:rPr>
              <a:t>CallState</a:t>
            </a:r>
            <a:r>
              <a:rPr sz="1600" b="0">
                <a:solidFill>
                  <a:srgbClr val="FFFFFF"/>
                </a:solidFill>
                <a:latin typeface="Inter"/>
              </a:rPr>
              <a:t>: the caller hears one continuous call</a:t>
            </a:r>
          </a:p>
        </p:txBody>
      </p:sp>
      <p:pic>
        <p:nvPicPr>
          <p:cNvPr id="6" name="Picture 5" descr="D7-handoff-graph-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different model per specialist?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Each </a:t>
            </a:r>
            <a:r>
              <a:rPr sz="2024" b="0">
                <a:solidFill>
                  <a:srgbClr val="00D4AA"/>
                </a:solidFill>
                <a:latin typeface="JetBrains Mono"/>
              </a:rPr>
              <a:t>Agent</a:t>
            </a:r>
            <a:r>
              <a:rPr sz="2200" b="0">
                <a:solidFill>
                  <a:srgbClr val="FFFFFF"/>
                </a:solidFill>
                <a:latin typeface="Inter"/>
              </a:rPr>
              <a:t> can take its own </a:t>
            </a:r>
            <a:r>
              <a:rPr sz="2024" b="0">
                <a:solidFill>
                  <a:srgbClr val="00D4AA"/>
                </a:solidFill>
                <a:latin typeface="JetBrains Mono"/>
              </a:rPr>
              <a:t>llm=</a:t>
            </a:r>
            <a:r>
              <a:rPr sz="2200" b="0">
                <a:solidFill>
                  <a:srgbClr val="FFFFFF"/>
                </a:solidFill>
                <a:latin typeface="Inter"/>
              </a:rPr>
              <a:t>, </a:t>
            </a:r>
            <a:r>
              <a:rPr sz="2024" b="0">
                <a:solidFill>
                  <a:srgbClr val="00D4AA"/>
                </a:solidFill>
                <a:latin typeface="JetBrains Mono"/>
              </a:rPr>
              <a:t>tts=</a:t>
            </a:r>
            <a:r>
              <a:rPr sz="2200" b="0">
                <a:solidFill>
                  <a:srgbClr val="FFFFFF"/>
                </a:solidFill>
                <a:latin typeface="Inter"/>
              </a:rPr>
              <a:t> or </a:t>
            </a:r>
            <a:r>
              <a:rPr sz="2024" b="0">
                <a:solidFill>
                  <a:srgbClr val="00D4AA"/>
                </a:solidFill>
                <a:latin typeface="JetBrains Mono"/>
              </a:rPr>
              <a:t>stt=</a:t>
            </a:r>
          </a:p>
          <a:p>
            <a:pPr marL="292608" indent="-292608">
              <a:lnSpc>
                <a:spcPct val="120000"/>
              </a:lnSpc>
              <a:spcAft>
                <a:spcPts val="1539"/>
              </a:spcAft>
              <a:buClr>
                <a:srgbClr val="00D4AA"/>
              </a:buClr>
              <a:buFont typeface="Inter"/>
              <a:buChar char="•"/>
            </a:pPr>
            <a:r>
              <a:rPr sz="2200" b="0">
                <a:solidFill>
                  <a:srgbClr val="FFFFFF"/>
                </a:solidFill>
                <a:latin typeface="Inter"/>
              </a:rPr>
              <a:t>Small, fast model to route; stronger model for money</a:t>
            </a:r>
          </a:p>
          <a:p>
            <a:pPr marL="292608" indent="-292608">
              <a:lnSpc>
                <a:spcPct val="120000"/>
              </a:lnSpc>
              <a:spcAft>
                <a:spcPts val="1539"/>
              </a:spcAft>
              <a:buClr>
                <a:srgbClr val="00D4AA"/>
              </a:buClr>
              <a:buFont typeface="Inter"/>
              <a:buChar char="•"/>
            </a:pPr>
            <a:r>
              <a:rPr sz="2200" b="0">
                <a:solidFill>
                  <a:srgbClr val="FFFFFF"/>
                </a:solidFill>
                <a:latin typeface="Inter"/>
              </a:rPr>
              <a:t>Two models means two prompts and two test suites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5: Add an Insurance agent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In the lab, you'll add a fourth specialist, an Insurance agent, to the team.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KNOWLEDGE AND MULTI-AGENT HANDOFFS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5: Add an Insurance agent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Extend the handoff graph with a new specialist, backed by tested pure-Python rules, without breaking existing routes.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Knowledge and handoffs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When your Insurance agent is working, take the short quiz on knowledge and handoffs.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KNOWLEDGE AND MULTI-AGENT HANDOFFS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Knowledge and handoffs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you can design grounded voice retrieval and safe handoffs.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6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Voice RAG patterns and "no match"</a:t>
            </a:r>
          </a:p>
          <a:p>
            <a:pPr marL="292608" indent="-292608">
              <a:lnSpc>
                <a:spcPct val="120000"/>
              </a:lnSpc>
              <a:spcAft>
                <a:spcPts val="1539"/>
              </a:spcAft>
              <a:buClr>
                <a:srgbClr val="00D4AA"/>
              </a:buClr>
              <a:buFont typeface="Inter"/>
              <a:buChar char="•"/>
            </a:pPr>
            <a:r>
              <a:rPr sz="2200" b="0">
                <a:solidFill>
                  <a:srgbClr val="FFFFFF"/>
                </a:solidFill>
                <a:latin typeface="Inter"/>
              </a:rPr>
              <a:t>Scaling and when to split</a:t>
            </a:r>
          </a:p>
          <a:p>
            <a:pPr marL="292608" indent="-292608">
              <a:lnSpc>
                <a:spcPct val="120000"/>
              </a:lnSpc>
              <a:spcAft>
                <a:spcPts val="1539"/>
              </a:spcAft>
              <a:buClr>
                <a:srgbClr val="00D4AA"/>
              </a:buClr>
              <a:buFont typeface="Inter"/>
              <a:buChar char="•"/>
            </a:pPr>
            <a:r>
              <a:rPr sz="2200" b="0">
                <a:solidFill>
                  <a:srgbClr val="FFFFFF"/>
                </a:solidFill>
                <a:latin typeface="Inter"/>
              </a:rPr>
              <a:t>Handoff mechanics and shared state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Multilingual Riley: Spanish and Hindi callers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One more lecture in this section: Riley learns to speak Spanish and Hindi.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KNOWLEDGE AND MULTI-AGENT HANDOFFS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Multilingual Riley: Spanish and Hindi callers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 multilingual voice agent needs the language set in four places (STT, turn detection, TTS, prompt), plus a plan for callers who…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places a language lives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STT: which language to transcribe (</a:t>
            </a:r>
            <a:r>
              <a:rPr sz="1656" b="0">
                <a:solidFill>
                  <a:srgbClr val="00D4AA"/>
                </a:solidFill>
                <a:latin typeface="JetBrains Mono"/>
              </a:rPr>
              <a:t>es</a:t>
            </a:r>
            <a:r>
              <a:rPr sz="1800" b="0">
                <a:solidFill>
                  <a:srgbClr val="FFFFFF"/>
                </a:solidFill>
                <a:latin typeface="Inter"/>
              </a:rPr>
              <a:t>, </a:t>
            </a:r>
            <a:r>
              <a:rPr sz="1656" b="0">
                <a:solidFill>
                  <a:srgbClr val="00D4AA"/>
                </a:solidFill>
                <a:latin typeface="JetBrains Mono"/>
              </a:rPr>
              <a:t>hi</a:t>
            </a:r>
            <a:r>
              <a:rPr sz="1800" b="0">
                <a:solidFill>
                  <a:srgbClr val="FFFFFF"/>
                </a:solidFill>
                <a:latin typeface="Inter"/>
              </a:rPr>
              <a:t>, or </a:t>
            </a:r>
            <a:r>
              <a:rPr sz="1656" b="0">
                <a:solidFill>
                  <a:srgbClr val="00D4AA"/>
                </a:solidFill>
                <a:latin typeface="JetBrains Mono"/>
              </a:rPr>
              <a:t>multi</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Turn detection: when a Spanish or Hindi speaker has finished</a:t>
            </a:r>
          </a:p>
          <a:p>
            <a:pPr marL="292608" indent="-292608">
              <a:lnSpc>
                <a:spcPct val="120000"/>
              </a:lnSpc>
              <a:spcAft>
                <a:spcPts val="1260"/>
              </a:spcAft>
              <a:buClr>
                <a:srgbClr val="00D4AA"/>
              </a:buClr>
              <a:buFont typeface="Inter"/>
              <a:buChar char="•"/>
            </a:pPr>
            <a:r>
              <a:rPr sz="1800" b="0">
                <a:solidFill>
                  <a:srgbClr val="FFFFFF"/>
                </a:solidFill>
                <a:latin typeface="Inter"/>
              </a:rPr>
              <a:t>TTS: language and a voice that sounds native</a:t>
            </a:r>
          </a:p>
          <a:p>
            <a:pPr marL="292608" indent="-292608">
              <a:lnSpc>
                <a:spcPct val="120000"/>
              </a:lnSpc>
              <a:spcAft>
                <a:spcPts val="1260"/>
              </a:spcAft>
              <a:buClr>
                <a:srgbClr val="00D4AA"/>
              </a:buClr>
              <a:buFont typeface="Inter"/>
              <a:buChar char="•"/>
            </a:pPr>
            <a:r>
              <a:rPr sz="1800" b="0">
                <a:solidFill>
                  <a:srgbClr val="FFFFFF"/>
                </a:solidFill>
                <a:latin typeface="Inter"/>
              </a:rPr>
              <a:t>Prompt: reply language, greeting, and translating English tool results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Callers who switch languages mid-call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Fixed-language lines (</a:t>
            </a:r>
            <a:r>
              <a:rPr sz="1656" b="0">
                <a:solidFill>
                  <a:srgbClr val="00D4AA"/>
                </a:solidFill>
                <a:latin typeface="JetBrains Mono"/>
              </a:rPr>
              <a:t>LANGUAGE=es</a:t>
            </a:r>
            <a:r>
              <a:rPr sz="1800" b="0">
                <a:solidFill>
                  <a:srgbClr val="FFFFFF"/>
                </a:solidFill>
                <a:latin typeface="Inter"/>
              </a:rPr>
              <a:t> or </a:t>
            </a:r>
            <a:r>
              <a:rPr sz="1656" b="0">
                <a:solidFill>
                  <a:srgbClr val="00D4AA"/>
                </a:solidFill>
                <a:latin typeface="JetBrains Mono"/>
              </a:rPr>
              <a:t>hi</a:t>
            </a:r>
            <a:r>
              <a:rPr sz="1800" b="0">
                <a:solidFill>
                  <a:srgbClr val="FFFFFF"/>
                </a:solidFill>
                <a:latin typeface="Inter"/>
              </a:rPr>
              <a:t>) are simplest and most robust</a:t>
            </a:r>
          </a:p>
          <a:p>
            <a:pPr marL="292608" indent="-292608">
              <a:lnSpc>
                <a:spcPct val="120000"/>
              </a:lnSpc>
              <a:spcAft>
                <a:spcPts val="1260"/>
              </a:spcAft>
              <a:buClr>
                <a:srgbClr val="00D4AA"/>
              </a:buClr>
              <a:buFont typeface="Inter"/>
              <a:buChar char="•"/>
            </a:pPr>
            <a:r>
              <a:rPr sz="1800" b="0">
                <a:solidFill>
                  <a:srgbClr val="FFFFFF"/>
                </a:solidFill>
                <a:latin typeface="Inter"/>
              </a:rPr>
              <a:t>For an English line that should follow the caller: STT in </a:t>
            </a:r>
            <a:r>
              <a:rPr sz="1656" b="0">
                <a:solidFill>
                  <a:srgbClr val="00D4AA"/>
                </a:solidFill>
                <a:latin typeface="JetBrains Mono"/>
              </a:rPr>
              <a:t>multi</a:t>
            </a:r>
            <a:r>
              <a:rPr sz="1800" b="0">
                <a:solidFill>
                  <a:srgbClr val="FFFFFF"/>
                </a:solidFill>
                <a:latin typeface="Inter"/>
              </a:rPr>
              <a:t> mode</a:t>
            </a:r>
          </a:p>
          <a:p>
            <a:pPr marL="292608" indent="-292608">
              <a:lnSpc>
                <a:spcPct val="120000"/>
              </a:lnSpc>
              <a:spcAft>
                <a:spcPts val="1260"/>
              </a:spcAft>
              <a:buClr>
                <a:srgbClr val="00D4AA"/>
              </a:buClr>
              <a:buFont typeface="Inter"/>
              <a:buChar char="•"/>
            </a:pPr>
            <a:r>
              <a:rPr sz="1800" b="0">
                <a:solidFill>
                  <a:srgbClr val="FFFFFF"/>
                </a:solidFill>
                <a:latin typeface="Inter"/>
              </a:rPr>
              <a:t>Each final transcript carries a language code (</a:t>
            </a:r>
            <a:r>
              <a:rPr sz="1656" b="0">
                <a:solidFill>
                  <a:srgbClr val="00D4AA"/>
                </a:solidFill>
                <a:latin typeface="JetBrains Mono"/>
              </a:rPr>
              <a:t>ev.language</a:t>
            </a:r>
            <a:r>
              <a:rPr sz="1800" b="0">
                <a:solidFill>
                  <a:srgbClr val="FFFFFF"/>
                </a:solidFill>
                <a:latin typeface="Inter"/>
              </a:rPr>
              <a:t>, e.g. "es-419")</a:t>
            </a:r>
          </a:p>
          <a:p>
            <a:pPr marL="292608" indent="-292608">
              <a:lnSpc>
                <a:spcPct val="120000"/>
              </a:lnSpc>
              <a:spcAft>
                <a:spcPts val="1260"/>
              </a:spcAft>
              <a:buClr>
                <a:srgbClr val="00D4AA"/>
              </a:buClr>
              <a:buFont typeface="Inter"/>
              <a:buChar char="•"/>
            </a:pPr>
            <a:r>
              <a:rPr sz="1800" b="0">
                <a:solidFill>
                  <a:srgbClr val="FFFFFF"/>
                </a:solidFill>
                <a:latin typeface="Inter"/>
              </a:rPr>
              <a:t>On a change, update the TTS language; </a:t>
            </a:r>
            <a:r>
              <a:rPr sz="1656" b="0">
                <a:solidFill>
                  <a:srgbClr val="00D4AA"/>
                </a:solidFill>
                <a:latin typeface="JetBrains Mono"/>
              </a:rPr>
              <a:t>FOLLOW_CALLER_RULES</a:t>
            </a:r>
            <a:r>
              <a:rPr sz="1800" b="0">
                <a:solidFill>
                  <a:srgbClr val="FFFFFF"/>
                </a:solidFill>
                <a:latin typeface="Inter"/>
              </a:rPr>
              <a:t> tells the LLM to switch</a:t>
            </a:r>
          </a:p>
          <a:p>
            <a:pPr marL="292608" indent="-292608">
              <a:lnSpc>
                <a:spcPct val="120000"/>
              </a:lnSpc>
              <a:spcAft>
                <a:spcPts val="1260"/>
              </a:spcAft>
              <a:buClr>
                <a:srgbClr val="00D4AA"/>
              </a:buClr>
              <a:buFont typeface="Inter"/>
              <a:buChar char="•"/>
            </a:pPr>
            <a:r>
              <a:rPr sz="1800" b="0">
                <a:solidFill>
                  <a:srgbClr val="FFFFFF"/>
                </a:solidFill>
                <a:latin typeface="Inter"/>
              </a:rPr>
              <a:t>In the repo: </a:t>
            </a:r>
            <a:r>
              <a:rPr sz="1656" b="0">
                <a:solidFill>
                  <a:srgbClr val="00D4AA"/>
                </a:solidFill>
                <a:latin typeface="JetBrains Mono"/>
              </a:rPr>
              <a:t>FOLLOW_CALLER_LANGUAGE=1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to test differently per language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WER per language, with native-speaker reference transcripts (9.7)</a:t>
            </a:r>
          </a:p>
          <a:p>
            <a:pPr marL="292608" indent="-292608">
              <a:lnSpc>
                <a:spcPct val="120000"/>
              </a:lnSpc>
              <a:spcAft>
                <a:spcPts val="1260"/>
              </a:spcAft>
              <a:buClr>
                <a:srgbClr val="00D4AA"/>
              </a:buClr>
              <a:buFont typeface="Inter"/>
              <a:buChar char="•"/>
            </a:pPr>
            <a:r>
              <a:rPr sz="1800" b="0">
                <a:solidFill>
                  <a:srgbClr val="FFFFFF"/>
                </a:solidFill>
                <a:latin typeface="Inter"/>
              </a:rPr>
              <a:t>Behavior tests per language: judge intent "responds in Spanish and states Friday hours" (9.3)</a:t>
            </a:r>
          </a:p>
          <a:p>
            <a:pPr marL="292608" indent="-292608">
              <a:lnSpc>
                <a:spcPct val="120000"/>
              </a:lnSpc>
              <a:spcAft>
                <a:spcPts val="1260"/>
              </a:spcAft>
              <a:buClr>
                <a:srgbClr val="00D4AA"/>
              </a:buClr>
              <a:buFont typeface="Inter"/>
              <a:buChar char="•"/>
            </a:pPr>
            <a:r>
              <a:rPr sz="1800" b="0">
                <a:solidFill>
                  <a:srgbClr val="FFFFFF"/>
                </a:solidFill>
                <a:latin typeface="Inter"/>
              </a:rPr>
              <a:t>Numbers and dates: "el jueves quince a las diez" must become the right ISO date</a:t>
            </a:r>
          </a:p>
          <a:p>
            <a:pPr marL="292608" indent="-292608">
              <a:lnSpc>
                <a:spcPct val="120000"/>
              </a:lnSpc>
              <a:spcAft>
                <a:spcPts val="1260"/>
              </a:spcAft>
              <a:buClr>
                <a:srgbClr val="00D4AA"/>
              </a:buClr>
              <a:buFont typeface="Inter"/>
              <a:buChar char="•"/>
            </a:pPr>
            <a:r>
              <a:rPr sz="1800" b="0">
                <a:solidFill>
                  <a:srgbClr val="FFFFFF"/>
                </a:solidFill>
                <a:latin typeface="Inter"/>
              </a:rPr>
              <a:t>Keyterms and names: keyterm support differs by language and provider</a:t>
            </a:r>
          </a:p>
          <a:p>
            <a:pPr marL="292608" indent="-292608">
              <a:lnSpc>
                <a:spcPct val="120000"/>
              </a:lnSpc>
              <a:spcAft>
                <a:spcPts val="1260"/>
              </a:spcAft>
              <a:buClr>
                <a:srgbClr val="00D4AA"/>
              </a:buClr>
              <a:buFont typeface="Inter"/>
              <a:buChar char="•"/>
            </a:pPr>
            <a:r>
              <a:rPr sz="1800" b="0">
                <a:solidFill>
                  <a:srgbClr val="FFFFFF"/>
                </a:solidFill>
                <a:latin typeface="Inter"/>
              </a:rPr>
              <a:t>Latency per language: measure p95 separately (9.8)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7.8</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Ground answers in a FAQ, or say "not sure"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Hand callers between specialist agents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Serve Spanish and Hindi callers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07 · Lecture 7.8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PSTN, SIP and trunks in plain English</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up is Section 8, where Riley gets a real phone number, takes inbound calls, makes reminder calls…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