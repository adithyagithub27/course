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Meet Riley: one call that works, one that fails, one that's fixed.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What a voice agent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IVR is a decision tree. It only understands what it was built to expect. Say "I chipped my tooth" and it has no idea what to do.</a:t>
            </a:r>
          </a:p>
          <a:p/>
          <a:p>
            <a:r>
              <a:t>A chatbot understands language. But it lives in text. You type, you wait, you read a full paragraph. Nobody minds a two second pause in a chat window.</a:t>
            </a:r>
          </a:p>
          <a:p/>
          <a:p>
            <a:r>
              <a:t>A voice agent understands language like a chatbot. But it has to behave like a person on the phone. It listens while you talk. It decides when you're finished. It answers in under a second. And when you interrupt, it stops talking. That last part sounds small. It's actually one of the hardest problems in this whole course.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mindset shift. A chatbot is request and response. A voice agent is a real-time system. Audio arrives in tiny frames, about fifty of them every second. The agent has to make decisions on a live stream, with a clock running.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the pipeline one box at a time. I'll tell you what each part does, and the way it usually breaks.</a:t>
            </a:r>
          </a:p>
          <a:p/>
          <a:p>
            <a:r>
              <a:t>Slide text (drawn on the diagram): Transport: moves audio in and out · VAD: is someone speaking right now? · STT: speech to text · Turn detection: are they done? · LLM: decide what to say or do · Tools: act on the world · TTS: text to speech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one is transport. It moves audio between the caller and your agent. In a browser or mobile app, that's WebRTC, the same technology behind video calls. On a phone, it's SIP, the protocol that connects the phone network to the internet.</a:t>
            </a:r>
          </a:p>
          <a:p/>
          <a:p>
            <a:r>
              <a:t>In this course, LiveKit handles transport for you. That's a big deal. You never touch a raw audio socket.</a:t>
            </a:r>
          </a:p>
          <a:p/>
          <a:p>
            <a:r>
              <a:t>How does it fail? Bad networks. Packets arrive late or not at all. And phone audio is sampled at eight kilohertz, half the quality of a browser. That will matter when we pick a speech-to-text model in Section 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two is VAD, voice activity detection. It answers one question, many times a second. Is someone speaking right now? We'll use Silero, a tiny model that runs on your CPU in a few milliseconds.</a:t>
            </a:r>
          </a:p>
          <a:p/>
          <a:p>
            <a:r>
              <a:t>VAD fails in noisy rooms. A TV in the background, a dog barking, a car on the road. Suddenly the agent thinks the caller is talking and stops mid-sentence.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three is STT, speech-to-text. It streams words as the caller speaks, then settles on a final transcript. Our default is Deepgram Nova-3.</a:t>
            </a:r>
          </a:p>
          <a:p/>
          <a:p>
            <a:r>
              <a:t>STT fails on exactly the words that matter most. Surnames. Medication names. Phone numbers. If the caller says "Ortiz" and STT hears "or tease," your booking is wrong before the LLM even sees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four is turn detection. This one surprises people. How does the agent know you've finished your turn? The obvious answer is silence. But think about how you give a phone number. "Five five five... two zero one..." You pause. You haven't finished.</a:t>
            </a:r>
          </a:p>
          <a:p/>
          <a:p>
            <a:r>
              <a:t>So we combine silence with a small model that reads the transcript and predicts whether the sentence is complete. Get this wrong in one direction and Riley interrupts people. Get it wrong the other way and there's a painful gap before every reply. Section 3 is where you'll tune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Boxes five and six are the LLM and its tools. The LLM reads the conversation and decides what happens next. Sometimes that's a reply. Sometimes it's a tool call, like checking the schedule or booking a slot.</a:t>
            </a:r>
          </a:p>
          <a:p/>
          <a:p>
            <a:r>
              <a:t>Here's the scariest failure in voice. Remember call two from the first lecture? The LLM invented six Friday times without ever calling a tool. The caller hangs up happy, and shows up to a full waiting room. That's why tools, and tests for tools, get two full sections.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seven is TTS, text-to-speech. It turns the LLM's words into audio and streams it back, starting before the full reply is written. Our default is Cartesia Sonic-3.</a:t>
            </a:r>
          </a:p>
          <a:p/>
          <a:p>
            <a:r>
              <a:t>TTS fails in funny ways that aren't funny in production. It reads "asterisk asterisk" out loud because the LLM wrote markdown. It says a phone number as "five hundred fifty-five million." Section 4 exists to fix this.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VS Code, `03-code/agents/common.py`, scrolled to `create_session`. Highlight the `stt=`, `llm=`, `tts=`, `vad=` and `turn_handli...]</a:t>
            </a:r>
          </a:p>
          <a:p/>
          <a:p>
            <a:r>
              <a:t>And here's that same pipeline in the code you'll use from Section four on. One function in `agents/common.py` builds Riley's session. Speech-to-text, one line. The LLM, one line. Text-to-speech, one line. VAD, one line. Turn detection, one line. Transport is LiveKit itself, so it isn't a line at all, and tools live on the agent, which you'll meet in Section five. Seven boxes on a slide, five lines of Python.</a:t>
            </a:r>
          </a:p>
          <a:p/>
          <a:p>
            <a:r>
              <a:t>Here's the key idea. Every box adds time. And every box adds a way to fail. A voice agent isn't one model. It's a relay race of seven runners, and the caller only hears the final time.</a:t>
            </a:r>
          </a:p>
          <a:p/>
          <a:p>
            <a:r>
              <a:t>That's also why testing voice agents is different. A wrong answer might be the LLM's fault. Or the STT misheard. Or turn detection cut the caller off halfway through. You'll learn to test each box on its own, and the whole relay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Cascaded vs speech-to-speech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design is called cascaded. Audio comes in. A speech-to-text model turns it into words. A text LLM decides what to say. A text-to-speech model turns that into audio. Three specialists in a row, passing text like a baton.</a:t>
            </a:r>
          </a:p>
          <a:p/>
          <a:p>
            <a:r>
              <a:t>This is the pipeline you saw in the last lecture. It's also the default for Riley in Sections 3, 4 and 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design is speech-to-speech, sometimes called realtime. One model takes audio in and produces audio out. There's no separate transcription step and no separate voice. OpenAI's gpt-realtime is the model we'll use, in Section 6.</a:t>
            </a:r>
          </a:p>
          <a:p/>
          <a:p>
            <a:r>
              <a:t>It still gives you text transcripts. But they're a side channel for your logs, not the thing the model reasons over.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would you want that? Because the model hears more than words. It hears hesitation. It hears that the caller sounds stressed. A cascaded pipeline throws all of that away the moment STT turns audio into text. "I'm fine" and "I'm... fine" look identical in a transcript.</a:t>
            </a:r>
          </a:p>
          <a:p/>
          <a:p>
            <a:r>
              <a:t>It's also simpler on the wire. One model call instead of three. That can mean lower latency, especially on the first word of a reply.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doesn't everyone use speech-to-speech? Four reasons.</a:t>
            </a:r>
          </a:p>
          <a:p/>
          <a:p>
            <a:r>
              <a:t>First, control. In a cascaded pipeline, you pick the best model for each job. A speech-to-text model tuned for phone audio. The cheapest LLM that passes your tests. A voice that matches your brand. With speech-to-speech, you get one vendor's bundle.</a:t>
            </a:r>
          </a:p>
          <a:p/>
          <a:p>
            <a:r>
              <a:t>[SCREEN: Terminal log from a console session of `03-code/agents/s03_hello_agent.py` (the agent you'll run in Lecture 2.4). Highlight the...]</a:t>
            </a:r>
          </a:p>
          <a:p/>
          <a:p>
            <a:r>
              <a:t>Second, visibility. Every stage produces text. You can log it, redact it, test it and diff it. When Riley books the wrong day, you can see whether STT misheard "Thursday" or the LLM misread it.</a:t>
            </a:r>
          </a:p>
          <a:p/>
          <a:p>
            <a:r>
              <a:t>Third, tool reliability. Text LLMs have had tool calling for years. Realtime models are catching up fast, but for a system that writes to a real calendar, you want the most predictable tool calls you can get.</a:t>
            </a:r>
          </a:p>
          <a:p/>
          <a:p>
            <a:r>
              <a:t>Fourth, cost. Audio tokens are more expensive than text tokens. For long calls, cascaded is usually cheaper per minute. We'll measure the exact difference in Section 10, with your own numbers, not mine.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fair, cascaded has costs too. It's flat. It can't hear sarcasm. And three hops means three chances for a slow response. The good news is that streaming hides most of that. Each stage starts working before the previous one finishes.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comparison on one slide. Pause the video and screenshot this one.</a:t>
            </a:r>
          </a:p>
          <a:p/>
          <a:p>
            <a:r>
              <a:t>Read it as a trade. Cascaded wins on control, debuggability and cost. Speech-to-speech wins on naturalness and emotion. Latency is closer than people think, and it depends more on your configuration than on the architecture.</a:t>
            </a:r>
          </a:p>
          <a:p/>
          <a:p>
            <a:r>
              <a:t>Think about Riley for a second. Riley books appointments. Riley reads back phone numbers. Riley has to get a date exactly right. Does Riley need to hear emotion? A little. Does Riley need perfectly reliable tool calls? Absolutely. That's why cascaded is our default.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third option, and it's quietly very popular. The half-cascade. You send audio into the realtime model, so it hears tone and hesitation. But you ask it for text output only, and you speak that text with your own TTS voice.</a:t>
            </a:r>
          </a:p>
          <a:p/>
          <a:p>
            <a:r>
              <a:t>You get better listening, and you keep your brand voice and your text logs. You'll build exactly this in Section 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latency a bit more carefully, because it's where the marketing claims live. In a cascaded pipeline, time goes to four places: deciding the caller has finished, the final transcript, the LLM's first token and the voice's first audio. In speech-to-speech, the middle steps collapse into one: time to the first audio from the model.</a:t>
            </a:r>
          </a:p>
          <a:p/>
          <a:p>
            <a:r>
              <a:t>[B-ROLL: Slide 8's two bars animate. The middle segments of the cascaded bar merge into one "time to first audio" block, then the "Endpoi...]</a:t>
            </a:r>
          </a:p>
          <a:p/>
          <a:p>
            <a:r>
              <a:t>So speech-to-speech removes a hop or two. But look at what's in both bars. Endpointing. Deciding the caller is done is the same problem in both designs, and it's usually the biggest single slice. And when the agent calls a tool, like checking the calendar, both designs wait for it the same way. We'll put real numbers on every slice in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Terminal in the course repo. Run the cost calculator for a ten-minute call, cascaded first, then realtime. Zoom on the two "per...]</a:t>
            </a:r>
          </a:p>
          <a:p/>
          <a:p>
            <a:r>
              <a:t>[CODE: the course's cost calculator, `src/maple/costs.py` (you'll run it yourself in Lecture 2.7)]</a:t>
            </a:r>
          </a:p>
          <a:p/>
          <a:p>
            <a:r>
              <a:t>[DEMO: Output (excerpt: the last two lines of each report)]</a:t>
            </a:r>
          </a:p>
          <a:p/>
          <a:p>
            <a:r>
              <a:t>And cost. The course repo includes a small cost calculator. With its placeholder list prices, a typical ten-minute receptionist call costs around seven cents a minute cascaded, and around twenty-eight cents a minute speech-to-speech. That's roughly four times more.</a:t>
            </a:r>
          </a:p>
          <a:p/>
          <a:p>
            <a:r>
              <a:t>Those are placeholder numbers, and prices move every few months. But the shape is common: audio tokens cost more than text, and a realtime model re-reads the growing conversation as audio on every turn. For a clinic taking a thousand calls a month, that difference is real money.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my rule of thumb. If a mistake costs money or trust, like a wrong booking or a wrong dose, start cascaded. If the conversation itself is the product, like language practice or coaching, try speech-to-speech. If you're torn, try the hybrid.</a:t>
            </a:r>
          </a:p>
          <a:p/>
          <a:p>
            <a:r>
              <a:t>And here's the most important part. Don't take anyone's word for it. Not a vendor's. Not mine. In Section 6, you'll run the same five test calls through both architectures and measure latency, cost per minute and tool accuracy yourself.</a:t>
            </a:r>
          </a:p>
          <a:p/>
          <a:p>
            <a:r>
              <a:t>The best part? In LiveKit Agents, switching is mostly one line. The `Agent` class, the tools and the prompt stay the same. Only the model you hand to the session changes. That's a big reason we're using this framework.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latency budget: why 800 ms is the magic number.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Researchers who study conversation have timed this across many languages. The typical gap between one person finishing and the next person starting is around two hundred to three hundred milliseconds. That's faster than you can consciously react. We start planning our answer while the other person is still talking.</a:t>
            </a:r>
          </a:p>
          <a:p/>
          <a:p>
            <a:r>
              <a:t>Machines can't quite hit that yet. But there's a threshold where it stops feeling broken. Somewhere around one second, silence goes from "thinking" to "is anyone there?"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metric that matters. Voice-to-voice latency. The clock starts when the caller stops speaking. It stops when the caller hears the first sound of the reply. Not when the reply is finished. The first sound.</a:t>
            </a:r>
          </a:p>
          <a:p/>
          <a:p>
            <a:r>
              <a:t>Our target is under one second. We'll aim for about eight hundred milliseconds, to leave headroom for the bad days.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split that second into line items. Think of it like a household budget. You have one thousand milliseconds to spend. Each stage in the pipeline takes a slice.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item one is network. Audio has to travel from the caller to your agent, and the reply has to travel back. Over WebRTC to a nearby data center, that's tens of milliseconds each way. Put your agent on another continent and it's a lot more. Phone calls add carrier hops on top.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item two is endpointing. This is the decision "the caller is done." Remember the phone number example? Five five five, pause, two zero one. If Riley answered after every short pause, it would talk over people constantly. So we wait a little, and we ask a turn-detection model whether the sentence sounds finished.</a:t>
            </a:r>
          </a:p>
          <a:p/>
          <a:p>
            <a:r>
              <a:t>Here's the uncomfortable truth. That waiting is usually the biggest line item in the budget. And it's the one you have the most control over. It's a setting, not a model.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item three is the STT final transcript. Because STT streams, it already has most of the words while the caller is still speaking. After the turn ends, we just wait for it to confirm the last few words. With a good streaming model, that's typically under a hundred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item four is LLM time-to-first-token. People shorten this to TTFT. It's how long the model takes to produce its very first word. Not the whole answer. Just the first token.</a:t>
            </a:r>
          </a:p>
          <a:p/>
          <a:p>
            <a:r>
              <a:t>Bigger models are slower to start. Longer prompts are slower to start. A giant system prompt with forty pages of FAQ pasted in? That costs you on every single turn. This is why Riley uses a small, fast model, and why Section 7 retrieves knowledge on demand instead of stuffing it into the prompt.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item five is TTS time-to-first-byte, or TTFB. How long until the voice model hands back the first chunk of audio. Streaming TTS doesn't wait for the full reply. It starts speaking the first sentence while the LLM is still writing the second.</a:t>
            </a:r>
          </a:p>
          <a:p/>
          <a:p>
            <a:r>
              <a:t>And that gives you a sneaky trick. Short first sentences. "Sure, let me check." Four words. The caller hears something almost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complete example budget. Let's add it up together.</a:t>
            </a:r>
          </a:p>
          <a:p/>
          <a:p>
            <a:r>
              <a:t>Network in, forty milliseconds. Endpointing, two hundred and fifty. STT final, eighty. LLM time-to-first-token, two hundred and eighty. TTS time-to-first-byte, one hundred and ten. Network out, forty.</a:t>
            </a:r>
          </a:p>
          <a:p/>
          <a:p>
            <a:r>
              <a:t>Forty plus two fifty is two ninety. Plus eighty is three seventy. Plus two eighty is six fifty. Plus one ten is seven sixty. Plus forty. Eight hundred milliseconds. Under one second, with two hundred to spare.</a:t>
            </a:r>
          </a:p>
          <a:p/>
          <a:p>
            <a:r>
              <a:t>These are illustrative numbers, not a promise. Your region, your models and your prompt will change every line. But notice where the big items are. Endpointing and the LLM together are more than half the budget. That's where you tune first.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what blows the budget? Tool calls are the big one. When Riley checks the calendar, that's an extra network call before it can answer. That could be three hundred milliseconds or a full second and a half. We can't make that disappear. But we can hide it, with a short filler like "One moment while I check the schedule." That's Section 5.</a:t>
            </a:r>
          </a:p>
          <a:p/>
          <a:p>
            <a:r>
              <a:t>The other budget killers are long prompts, cautious endpointing and servers far from your callers.</a:t>
            </a:r>
          </a:p>
          <a:p/>
          <a:p>
            <a:r>
              <a:t>And one more warning. Don't trust averages. If your median is seven hundred milliseconds but one call in twenty takes three seconds, that's a lot of confused callers. We'll track the ninety-fifth percentile, p ninety-five, not just the median.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Terminal in the course repo. Run the latency report on the sample call metrics that ship with the repo, with the voice-to-voice...]</a:t>
            </a:r>
          </a:p>
          <a:p/>
          <a:p>
            <a:r>
              <a:t>[DEMO: Output]</a:t>
            </a:r>
          </a:p>
          <a:p/>
          <a:p>
            <a:r>
              <a:t>Here's a preview of where this goes. This report reads per-turn metrics from a set of sample calls in the repo and checks each line item against a budget. Every stage on its own looks fine. But voice to voice, at the ninety-fifth percentile, is fourteen hundred and seventy-four milliseconds. Six hundred and seventy-four over our target. So what does the command do? It fails, on purpose. That's the check you'll put in your build in Section nine.</a:t>
            </a:r>
          </a:p>
          <a:p/>
          <a:p>
            <a:r>
              <a:t>Here's the good news. You won't need a stopwatch. LiveKit Agents reports these numbers on every turn: end-of-utterance delay, transcription delay, LLM time-to-first-token and TTS time-to-first-byte. In Section 9, you'll write a test that fails the build if p ninety-five goes over budget. In Section 10, you'll put it on a dashboard.</a:t>
            </a:r>
          </a:p>
          <a:p/>
          <a:p>
            <a:r>
              <a:t>Grab the latency budget worksheet in the resources folder. Fill in the example column now. You'll fill in your real numbers later, and it's very satisfying to compare.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Course roadmap, repo tour and how to get help.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has three phases. Build, test and operate.</a:t>
            </a:r>
          </a:p>
          <a:p/>
          <a:p>
            <a:r>
              <a:t>The build phase is Sections one to eight. You'll set up your environment, get Riley talking in about thirty lines, teach it to speak like a receptionist instead of a chatbot, give it tools to book appointments, try the speech-to-speech version, add a knowledge base and specialist agents, and put it on a phone number.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The course has three phases. Build, test and operate.</a:t>
            </a:r>
          </a:p>
          <a:p/>
          <a:p>
            <a:r>
              <a:t>The build phase is Sections one to eight. You'll set up your environment, get Riley talking in about thirty lines, teach it to speak like a recep</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part most courses skip. Section nine is the heart of this course: behavior tests, tool-call assertions, LLM judges, word error rate, latency budgets and simulated callers. Section ten measures latency and cost. Section eleven defends Riley against prompt injection and social engineering. Section twelve deploys it.</a:t>
            </a:r>
          </a:p>
          <a:p/>
          <a:p>
            <a:r>
              <a:t>Section thirteen is the capstone, where everything comes together. Section fourteen rebuilds Riley in Pipecat, so you can compare frameworks with real code. And Section fifteen points you to what's next.</a:t>
            </a:r>
          </a:p>
          <a:p/>
          <a:p>
            <a:r>
              <a:t>[SCREEN: Browser on the course GitHub repo `voice-agents-course`, then switch to VS Code with the repo open. Font size 18, dark theme, fi...]</a:t>
            </a:r>
          </a:p>
          <a:p/>
          <a:p>
            <a:r>
              <a:t>Now let's look at the code. This is the repo you'll work in for the whole course. You'll clone it in the next section. For now, just get oriented.</a:t>
            </a:r>
          </a:p>
          <a:p/>
          <a:p>
            <a:r>
              <a:t>[SCREEN: Expand `src/maple/` in the explorer. Hover over each file.]</a:t>
            </a:r>
          </a:p>
          <a:p/>
          <a:p>
            <a:r>
              <a:t>The first folder is `src/maple`. This is plain Python business logic. No network calls, no API keys. The scheduler that holds the clinic calendar. The prompts. The FAQ retriever. PII redaction. The cost and latency math. Word error rate.</a:t>
            </a:r>
          </a:p>
          <a:p/>
          <a:p>
            <a:r>
              <a:t>Why keep this separate from the agent? Because you can test it in milliseconds, for free, offline. When something is pure logic, it belongs here. You'll see this pattern pay off in Section five.</a:t>
            </a:r>
          </a:p>
          <a:p/>
          <a:p>
            <a:r>
              <a:t>[SCREEN: Open `src/maple/config.py` briefly. Highlight the environment variable names.]</a:t>
            </a:r>
          </a:p>
          <a:p/>
          <a:p>
            <a:r>
              <a:t>One file to know now: `config.py`. Every model name comes from an environment variable with a sensible default. Speech-to-text model, LLM, voice. When a provider renames a model, and they will, you change one line in your `.env` file. Not your code.</a:t>
            </a:r>
          </a:p>
          <a:p/>
          <a:p>
            <a:r>
              <a:t>[SCREEN: Expand `agents/`.]</a:t>
            </a:r>
          </a:p>
          <a:p/>
          <a:p>
            <a:r>
              <a:t>Next, the `agents` folder. One file per section, numbered by section. `s03_hello_agent.py` is your first agent. `s05_booking_agent.py` adds tools. `s08_telephony_agent.py` goes on the phone. `s13_capstone_receptionist.py` is the finished Riley you heard in lecture one.</a:t>
            </a:r>
          </a:p>
          <a:p/>
          <a:p>
            <a:r>
              <a:t>Each file is runnable on its own. If you fall behind, or something breaks, you can always open the file for the section you're on and compare.</a:t>
            </a:r>
          </a:p>
          <a:p/>
          <a:p>
            <a:r>
              <a:t>[SCREEN: Expand `tests/`: `unit/`, `agent/`, `evals/`, `data/`.]</a:t>
            </a:r>
          </a:p>
          <a:p/>
          <a:p>
            <a:r>
              <a:t>Then `tests`. Three layers. `unit` runs offline with no keys, and it should always be green. `agent` holds behavior tests that talk to a real LLM, so they skip automatically if you don't have an OpenAI key. And `evals` holds the heavier evaluations: conversation quality, word error rate, latency reports and simulated callers.</a:t>
            </a:r>
          </a:p>
          <a:p/>
          <a:p>
            <a:r>
              <a:t>[SCREEN: Terminal in the repo folder. Run `make test`. Let the dots scroll, then zoom on the final "passed" line and its time.]</a:t>
            </a:r>
          </a:p>
          <a:p/>
          <a:p>
            <a:r>
              <a:t>Want proof that the first layer is free? Watch. Make test runs every unit test, a couple of hundred of them, in about a second, with no keys and no network. You'll see that green line more than anything else in this course.</a:t>
            </a:r>
          </a:p>
          <a:p/>
          <a:p>
            <a:r>
              <a:t>[SCREEN: Show `deploy/`, `pipecat/`, `frontend/README.md`, `.github/workflows/ci.yml`.]</a:t>
            </a:r>
          </a:p>
          <a:p/>
          <a:p>
            <a:r>
              <a:t>The rest you'll meet later. `deploy` has the Dockerfile. `pipecat` has the comparison build. `frontend` explains how to put a web page in front of Riley. And the CI workflow runs your tests on every push.</a:t>
            </a:r>
          </a:p>
          <a:p/>
          <a:p>
            <a:r>
              <a:t>[SCREEN: Terminal. Run `make help`, then open `Makefile` beside it.]</a:t>
            </a:r>
          </a:p>
          <a:p/>
          <a:p>
            <a:r>
              <a:t>[CODE: `make help` output (excerpt: seven of the twenty targets)]</a:t>
            </a:r>
          </a:p>
          <a:p/>
          <a:p>
            <a:r>
              <a:t>Last stop, the Makefile. `make help` lists every shortcut with a one-line description. These seven are the ones to know first, and `make install`, `make test`, `make console` and `make dev` are the ones you'll use every day. Under the hood they're ordinary `uv run` commands, and I'll always show you the full command the first time.</a:t>
            </a:r>
          </a:p>
          <a:p/>
          <a:p>
            <a:r>
              <a:t>[SCREEN: Open `README.md`, scroll to the "Lecture → file map" table.]</a:t>
            </a:r>
          </a:p>
          <a:p/>
          <a:p>
            <a:r>
              <a:t>And if you ever wonder "which file goes with this lecture?", the README has a lecture-to-file map.</a:t>
            </a:r>
          </a:p>
          <a:p/>
          <a:p>
            <a:r>
              <a:t>Now, how to get help. Voice agents have a lot of moving parts, so you will get stuck at some point. That's normal. Here's how to get unstuck fast.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Then the part most courses skip. Section nine is the heart of this course: behavior tests, tool-call assertions, LLM judges, word error rate, latency budgets and simulated callers. Section ten measure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post in Q&amp;A, include five things. The lecture number. The exact command. The full error text. Your operating system, Python version and livekit-agents version. And what you already tried. A question like that usually gets answered in one reply instead of five.</a:t>
            </a:r>
          </a:p>
          <a:p/>
          <a:p>
            <a:r>
              <a:t>And please, never paste your API keys. If you see a key in a screenshot, rotate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practice. Labs are short and guided, and they come right after the lectures they practice. Projects are bigger and open-ended. Quizzes check the ideas before you build on them. Do the labs. The students who finish this course are the ones who ran the code, not just watched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Voice agent fundamentals.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see questions on the seven pipeline components, the difference between VAD and turn detection, the three architectures, and the latency budget.</a:t>
            </a:r>
          </a:p>
          <a:p/>
          <a:p>
            <a:r>
              <a:t>Here's a tip for the latency questions. When a question asks where to tune first, think about which line items were biggest in our example budget. Endpointing and the LLM.</a:t>
            </a:r>
          </a:p>
          <a:p/>
          <a:p>
            <a:r>
              <a:t>Every question has an explanation. If you miss one, read the explanation before you move on, and rewatch the lecture it points to. Section 3 builds directly on these ideas, especially turn detection.</a:t>
            </a:r>
          </a:p>
          <a:p/>
          <a:p>
            <a:r>
              <a:t>No pressure. Nobody sees your score. It's there to help you, not to grade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AND HOW VOICE AGENTS WORK</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Meet Riley: one call that works, one that fails, one that's fixed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Hear the difference between a production voice agent and a naive one on the same request.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Naive agents talk over, mishear and invent slots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fix is engineering, not a smarter model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Your Riley will pass call three's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What a voice agent actually is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open the hood and name every component inside those calls, starting with what a voice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AND HOW VOICE AGENTS WORK</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What a voice agent actually is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Distinguish a voice agent from an IVR and from a text chatbot.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IVR vs chatbot vs voice agent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IVR: fixed menu tree, keypad or keywords, no understanding</a:t>
            </a:r>
          </a:p>
          <a:p>
            <a:pPr marL="292608" indent="-292608">
              <a:lnSpc>
                <a:spcPct val="120000"/>
              </a:lnSpc>
              <a:spcAft>
                <a:spcPts val="1260"/>
              </a:spcAft>
              <a:buClr>
                <a:srgbClr val="00D4AA"/>
              </a:buClr>
              <a:buFont typeface="Inter"/>
              <a:buChar char="•"/>
            </a:pPr>
            <a:r>
              <a:rPr sz="1800" b="0">
                <a:solidFill>
                  <a:srgbClr val="FFFFFF"/>
                </a:solidFill>
                <a:latin typeface="Inter"/>
              </a:rPr>
              <a:t>Chatbot: understands language, but text in, text out, and you wait for full replies</a:t>
            </a:r>
          </a:p>
          <a:p>
            <a:pPr marL="292608" indent="-292608">
              <a:lnSpc>
                <a:spcPct val="120000"/>
              </a:lnSpc>
              <a:spcAft>
                <a:spcPts val="1260"/>
              </a:spcAft>
              <a:buClr>
                <a:srgbClr val="00D4AA"/>
              </a:buClr>
              <a:buFont typeface="Inter"/>
              <a:buChar char="•"/>
            </a:pPr>
            <a:r>
              <a:rPr sz="1800" b="0">
                <a:solidFill>
                  <a:srgbClr val="FFFFFF"/>
                </a:solidFill>
                <a:latin typeface="Inter"/>
              </a:rPr>
              <a:t>Voice agent: understands language, speaks in real time, takes actions, handles interruptions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A voice agent is a real-time system, not a chatbot with a speaker</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758461"/>
            <a:ext cx="10881360" cy="4550898"/>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Audio arrives as a continuous stream, twenty milliseconds at a time</a:t>
            </a:r>
          </a:p>
          <a:p>
            <a:pPr marL="292608" indent="-292608">
              <a:lnSpc>
                <a:spcPct val="120000"/>
              </a:lnSpc>
              <a:spcAft>
                <a:spcPts val="1539"/>
              </a:spcAft>
              <a:buClr>
                <a:srgbClr val="00D4AA"/>
              </a:buClr>
              <a:buFont typeface="Inter"/>
              <a:buChar char="•"/>
            </a:pPr>
            <a:r>
              <a:rPr sz="2200" b="0">
                <a:solidFill>
                  <a:srgbClr val="FFFFFF"/>
                </a:solidFill>
                <a:latin typeface="Inter"/>
              </a:rPr>
              <a:t>The agent must decide when the caller has finished</a:t>
            </a:r>
          </a:p>
          <a:p>
            <a:pPr marL="292608" indent="-292608">
              <a:lnSpc>
                <a:spcPct val="120000"/>
              </a:lnSpc>
              <a:spcAft>
                <a:spcPts val="1539"/>
              </a:spcAft>
              <a:buClr>
                <a:srgbClr val="00D4AA"/>
              </a:buClr>
              <a:buFont typeface="Inter"/>
              <a:buChar char="•"/>
            </a:pPr>
            <a:r>
              <a:rPr sz="2200" b="0">
                <a:solidFill>
                  <a:srgbClr val="FFFFFF"/>
                </a:solidFill>
                <a:latin typeface="Inter"/>
              </a:rPr>
              <a:t>Every reply is a race against silence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step1.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1.2 · The voice pipeline, seven components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Transport: WebRTC and SIP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WebRTC: browsers and apps, low latency, built for real-time media</a:t>
            </a:r>
          </a:p>
          <a:p>
            <a:pPr marL="292608" indent="-292608">
              <a:lnSpc>
                <a:spcPct val="120000"/>
              </a:lnSpc>
              <a:spcAft>
                <a:spcPts val="1539"/>
              </a:spcAft>
              <a:buClr>
                <a:srgbClr val="00D4AA"/>
              </a:buClr>
              <a:buFont typeface="Inter"/>
              <a:buChar char="•"/>
            </a:pPr>
            <a:r>
              <a:rPr sz="2200" b="0">
                <a:solidFill>
                  <a:srgbClr val="FFFFFF"/>
                </a:solidFill>
                <a:latin typeface="Inter"/>
              </a:rPr>
              <a:t>SIP: the telephone network, via a SIP trunk</a:t>
            </a:r>
          </a:p>
          <a:p>
            <a:pPr marL="292608" indent="-292608">
              <a:lnSpc>
                <a:spcPct val="120000"/>
              </a:lnSpc>
              <a:spcAft>
                <a:spcPts val="1539"/>
              </a:spcAft>
              <a:buClr>
                <a:srgbClr val="00D4AA"/>
              </a:buClr>
              <a:buFont typeface="Inter"/>
              <a:buChar char="•"/>
            </a:pPr>
            <a:r>
              <a:rPr sz="2200" b="0">
                <a:solidFill>
                  <a:srgbClr val="FFFFFF"/>
                </a:solidFill>
                <a:latin typeface="Inter"/>
              </a:rPr>
              <a:t>Failure: packet loss, jitter, eight kilohertz phone audio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VAD: voice activity detection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Small, fast model: speech or not speech, every frame</a:t>
            </a:r>
          </a:p>
          <a:p>
            <a:pPr marL="292608" indent="-292608">
              <a:lnSpc>
                <a:spcPct val="120000"/>
              </a:lnSpc>
              <a:spcAft>
                <a:spcPts val="1539"/>
              </a:spcAft>
              <a:buClr>
                <a:srgbClr val="00D4AA"/>
              </a:buClr>
              <a:buFont typeface="Inter"/>
              <a:buChar char="•"/>
            </a:pPr>
            <a:r>
              <a:rPr sz="2200" b="0">
                <a:solidFill>
                  <a:srgbClr val="FFFFFF"/>
                </a:solidFill>
                <a:latin typeface="Inter"/>
              </a:rPr>
              <a:t>Runs locally (Silero), in a few milliseconds</a:t>
            </a:r>
          </a:p>
          <a:p>
            <a:pPr marL="292608" indent="-292608">
              <a:lnSpc>
                <a:spcPct val="120000"/>
              </a:lnSpc>
              <a:spcAft>
                <a:spcPts val="1539"/>
              </a:spcAft>
              <a:buClr>
                <a:srgbClr val="00D4AA"/>
              </a:buClr>
              <a:buFont typeface="Inter"/>
              <a:buChar char="•"/>
            </a:pPr>
            <a:r>
              <a:rPr sz="2200" b="0">
                <a:solidFill>
                  <a:srgbClr val="FFFFFF"/>
                </a:solidFill>
                <a:latin typeface="Inter"/>
              </a:rPr>
              <a:t>Failure: background noise triggers it, or soft speakers get missed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STT: speech-to-text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Streams partial transcripts while the caller speaks, then a final transcript</a:t>
            </a:r>
          </a:p>
          <a:p>
            <a:pPr marL="292608" indent="-292608">
              <a:lnSpc>
                <a:spcPct val="120000"/>
              </a:lnSpc>
              <a:spcAft>
                <a:spcPts val="1539"/>
              </a:spcAft>
              <a:buClr>
                <a:srgbClr val="00D4AA"/>
              </a:buClr>
              <a:buFont typeface="Inter"/>
              <a:buChar char="•"/>
            </a:pPr>
            <a:r>
              <a:rPr sz="2200" b="0">
                <a:solidFill>
                  <a:srgbClr val="FFFFFF"/>
                </a:solidFill>
                <a:latin typeface="Inter"/>
              </a:rPr>
              <a:t>Default in this course: Deepgram Nova-3</a:t>
            </a:r>
          </a:p>
          <a:p>
            <a:pPr marL="292608" indent="-292608">
              <a:lnSpc>
                <a:spcPct val="120000"/>
              </a:lnSpc>
              <a:spcAft>
                <a:spcPts val="1539"/>
              </a:spcAft>
              <a:buClr>
                <a:srgbClr val="00D4AA"/>
              </a:buClr>
              <a:buFont typeface="Inter"/>
              <a:buChar char="•"/>
            </a:pPr>
            <a:r>
              <a:rPr sz="2200" b="0">
                <a:solidFill>
                  <a:srgbClr val="FFFFFF"/>
                </a:solidFill>
                <a:latin typeface="Inter"/>
              </a:rPr>
              <a:t>Failure: names, drug names, numbers, accents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Turn detection: are they done?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Silence alone is a bad signal: people pause mid-thought</a:t>
            </a:r>
          </a:p>
          <a:p>
            <a:pPr marL="292608" indent="-292608">
              <a:lnSpc>
                <a:spcPct val="120000"/>
              </a:lnSpc>
              <a:spcAft>
                <a:spcPts val="1539"/>
              </a:spcAft>
              <a:buClr>
                <a:srgbClr val="00D4AA"/>
              </a:buClr>
              <a:buFont typeface="Inter"/>
              <a:buChar char="•"/>
            </a:pPr>
            <a:r>
              <a:rPr sz="2200" b="0">
                <a:solidFill>
                  <a:srgbClr val="FFFFFF"/>
                </a:solidFill>
                <a:latin typeface="Inter"/>
              </a:rPr>
              <a:t>Semantic turn detector reads the words, not just the silence</a:t>
            </a:r>
          </a:p>
          <a:p>
            <a:pPr marL="292608" indent="-292608">
              <a:lnSpc>
                <a:spcPct val="120000"/>
              </a:lnSpc>
              <a:spcAft>
                <a:spcPts val="1539"/>
              </a:spcAft>
              <a:buClr>
                <a:srgbClr val="00D4AA"/>
              </a:buClr>
              <a:buFont typeface="Inter"/>
              <a:buChar char="•"/>
            </a:pPr>
            <a:r>
              <a:rPr sz="2200" b="0">
                <a:solidFill>
                  <a:srgbClr val="FFFFFF"/>
                </a:solidFill>
                <a:latin typeface="Inter"/>
              </a:rPr>
              <a:t>Failure: cutting people off, or awkward long waits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LLM and tools: the brain and the hands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LLM decides: reply, ask a question, or call a tool</a:t>
            </a:r>
          </a:p>
          <a:p>
            <a:pPr marL="292608" indent="-292608">
              <a:lnSpc>
                <a:spcPct val="120000"/>
              </a:lnSpc>
              <a:spcAft>
                <a:spcPts val="1539"/>
              </a:spcAft>
              <a:buClr>
                <a:srgbClr val="00D4AA"/>
              </a:buClr>
              <a:buFont typeface="Inter"/>
              <a:buChar char="•"/>
            </a:pPr>
            <a:r>
              <a:rPr sz="2200" b="0">
                <a:solidFill>
                  <a:srgbClr val="FFFFFF"/>
                </a:solidFill>
                <a:latin typeface="Inter"/>
              </a:rPr>
              <a:t>Tools: find slots, book, reschedule, cancel, look up clinic info, transfer</a:t>
            </a:r>
          </a:p>
          <a:p>
            <a:pPr marL="292608" indent="-292608">
              <a:lnSpc>
                <a:spcPct val="120000"/>
              </a:lnSpc>
              <a:spcAft>
                <a:spcPts val="1539"/>
              </a:spcAft>
              <a:buClr>
                <a:srgbClr val="00D4AA"/>
              </a:buClr>
              <a:buFont typeface="Inter"/>
              <a:buChar char="•"/>
            </a:pPr>
            <a:r>
              <a:rPr sz="2200" b="0">
                <a:solidFill>
                  <a:srgbClr val="FFFFFF"/>
                </a:solidFill>
                <a:latin typeface="Inter"/>
              </a:rPr>
              <a:t>Failure: hallucinated availability, wrong arguments, long rambling answers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TTS: text-to-speech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Streams audio back sentence by sentence</a:t>
            </a:r>
          </a:p>
          <a:p>
            <a:pPr marL="292608" indent="-292608">
              <a:lnSpc>
                <a:spcPct val="120000"/>
              </a:lnSpc>
              <a:spcAft>
                <a:spcPts val="1539"/>
              </a:spcAft>
              <a:buClr>
                <a:srgbClr val="00D4AA"/>
              </a:buClr>
              <a:buFont typeface="Inter"/>
              <a:buChar char="•"/>
            </a:pPr>
            <a:r>
              <a:rPr sz="2200" b="0">
                <a:solidFill>
                  <a:srgbClr val="FFFFFF"/>
                </a:solidFill>
                <a:latin typeface="Inter"/>
              </a:rPr>
              <a:t>Default in this course: Cartesia Sonic-3</a:t>
            </a:r>
          </a:p>
          <a:p>
            <a:pPr marL="292608" indent="-292608">
              <a:lnSpc>
                <a:spcPct val="120000"/>
              </a:lnSpc>
              <a:spcAft>
                <a:spcPts val="1539"/>
              </a:spcAft>
              <a:buClr>
                <a:srgbClr val="00D4AA"/>
              </a:buClr>
              <a:buFont typeface="Inter"/>
              <a:buChar char="•"/>
            </a:pPr>
            <a:r>
              <a:rPr sz="2200" b="0">
                <a:solidFill>
                  <a:srgbClr val="FFFFFF"/>
                </a:solidFill>
                <a:latin typeface="Inter"/>
              </a:rPr>
              <a:t>Failure: reads markdown aloud, mangles numbers, mispronounces names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Every box adds latency and a failure mode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3072384"/>
        </p:xfrm>
        <a:graphic>
          <a:graphicData uri="http://schemas.openxmlformats.org/drawingml/2006/table">
            <a:tbl>
              <a:tblPr firstRow="1" bandRow="1">
                <a:tableStyleId>{5C22544A-7EE6-4342-B048-85BDC9FD1C3A}</a:tableStyleId>
              </a:tblPr>
              <a:tblGrid>
                <a:gridCol w="2725857"/>
                <a:gridCol w="5646420"/>
                <a:gridCol w="2920562"/>
              </a:tblGrid>
              <a:tr h="384048">
                <a:tc>
                  <a:txBody>
                    <a:bodyPr wrap="square"/>
                    <a:lstStyle/>
                    <a:p>
                      <a:r>
                        <a:rPr sz="1200" b="1">
                          <a:solidFill>
                            <a:srgbClr val="0A1628"/>
                          </a:solidFill>
                          <a:latin typeface="Inter"/>
                        </a:rPr>
                        <a:t>Component</a:t>
                      </a:r>
                    </a:p>
                  </a:txBody>
                  <a:tcPr marL="91440" marR="91440" marT="45720" marB="45720" anchor="ctr">
                    <a:solidFill>
                      <a:srgbClr val="00D4AA"/>
                    </a:solidFill>
                  </a:tcPr>
                </a:tc>
                <a:tc>
                  <a:txBody>
                    <a:bodyPr wrap="square"/>
                    <a:lstStyle/>
                    <a:p>
                      <a:r>
                        <a:rPr sz="1200" b="1">
                          <a:solidFill>
                            <a:srgbClr val="0A1628"/>
                          </a:solidFill>
                          <a:latin typeface="Inter"/>
                        </a:rPr>
                        <a:t>Typical failure</a:t>
                      </a:r>
                    </a:p>
                  </a:txBody>
                  <a:tcPr marL="91440" marR="91440" marT="45720" marB="45720" anchor="ctr">
                    <a:solidFill>
                      <a:srgbClr val="00D4AA"/>
                    </a:solidFill>
                  </a:tcPr>
                </a:tc>
                <a:tc>
                  <a:txBody>
                    <a:bodyPr wrap="square"/>
                    <a:lstStyle/>
                    <a:p>
                      <a:r>
                        <a:rPr sz="1200" b="1">
                          <a:solidFill>
                            <a:srgbClr val="0A1628"/>
                          </a:solidFill>
                          <a:latin typeface="Inter"/>
                        </a:rPr>
                        <a:t>Where we fix it</a:t>
                      </a:r>
                    </a:p>
                  </a:txBody>
                  <a:tcPr marL="91440" marR="91440" marT="45720" marB="45720" anchor="ctr">
                    <a:solidFill>
                      <a:srgbClr val="00D4AA"/>
                    </a:solidFill>
                  </a:tcPr>
                </a:tc>
              </a:tr>
              <a:tr h="384048">
                <a:tc>
                  <a:txBody>
                    <a:bodyPr wrap="square"/>
                    <a:lstStyle/>
                    <a:p>
                      <a:r>
                        <a:rPr sz="1200" b="1">
                          <a:solidFill>
                            <a:srgbClr val="FFFFFF"/>
                          </a:solidFill>
                          <a:latin typeface="Inter"/>
                        </a:rPr>
                        <a:t>Transport</a:t>
                      </a:r>
                    </a:p>
                  </a:txBody>
                  <a:tcPr marL="91440" marR="91440" marT="45720" marB="45720" anchor="ctr">
                    <a:solidFill>
                      <a:srgbClr val="1A2742"/>
                    </a:solidFill>
                  </a:tcPr>
                </a:tc>
                <a:tc>
                  <a:txBody>
                    <a:bodyPr wrap="square"/>
                    <a:lstStyle/>
                    <a:p>
                      <a:r>
                        <a:rPr sz="1200" b="0">
                          <a:solidFill>
                            <a:srgbClr val="FFFFFF"/>
                          </a:solidFill>
                          <a:latin typeface="Inter"/>
                        </a:rPr>
                        <a:t>packet loss, 8 kHz audio</a:t>
                      </a:r>
                    </a:p>
                  </a:txBody>
                  <a:tcPr marL="91440" marR="91440" marT="45720" marB="45720" anchor="ctr">
                    <a:solidFill>
                      <a:srgbClr val="1A2742"/>
                    </a:solidFill>
                  </a:tcPr>
                </a:tc>
                <a:tc>
                  <a:txBody>
                    <a:bodyPr wrap="square"/>
                    <a:lstStyle/>
                    <a:p>
                      <a:r>
                        <a:rPr sz="1200" b="0">
                          <a:solidFill>
                            <a:srgbClr val="FFFFFF"/>
                          </a:solidFill>
                          <a:latin typeface="Inter"/>
                        </a:rPr>
                        <a:t>S8</a:t>
                      </a:r>
                    </a:p>
                  </a:txBody>
                  <a:tcPr marL="91440" marR="91440" marT="45720" marB="45720" anchor="ctr">
                    <a:solidFill>
                      <a:srgbClr val="1A2742"/>
                    </a:solidFill>
                  </a:tcPr>
                </a:tc>
              </a:tr>
              <a:tr h="384048">
                <a:tc>
                  <a:txBody>
                    <a:bodyPr wrap="square"/>
                    <a:lstStyle/>
                    <a:p>
                      <a:r>
                        <a:rPr sz="1200" b="1">
                          <a:solidFill>
                            <a:srgbClr val="FFFFFF"/>
                          </a:solidFill>
                          <a:latin typeface="Inter"/>
                        </a:rPr>
                        <a:t>VAD</a:t>
                      </a:r>
                    </a:p>
                  </a:txBody>
                  <a:tcPr marL="91440" marR="91440" marT="45720" marB="45720" anchor="ctr">
                    <a:solidFill>
                      <a:srgbClr val="0F1E35"/>
                    </a:solidFill>
                  </a:tcPr>
                </a:tc>
                <a:tc>
                  <a:txBody>
                    <a:bodyPr wrap="square"/>
                    <a:lstStyle/>
                    <a:p>
                      <a:r>
                        <a:rPr sz="1200" b="0">
                          <a:solidFill>
                            <a:srgbClr val="FFFFFF"/>
                          </a:solidFill>
                          <a:latin typeface="Inter"/>
                        </a:rPr>
                        <a:t>noise triggers</a:t>
                      </a:r>
                    </a:p>
                  </a:txBody>
                  <a:tcPr marL="91440" marR="91440" marT="45720" marB="45720" anchor="ctr">
                    <a:solidFill>
                      <a:srgbClr val="0F1E35"/>
                    </a:solidFill>
                  </a:tcPr>
                </a:tc>
                <a:tc>
                  <a:txBody>
                    <a:bodyPr wrap="square"/>
                    <a:lstStyle/>
                    <a:p>
                      <a:r>
                        <a:rPr sz="1200" b="0">
                          <a:solidFill>
                            <a:srgbClr val="FFFFFF"/>
                          </a:solidFill>
                          <a:latin typeface="Inter"/>
                        </a:rPr>
                        <a:t>S3</a:t>
                      </a:r>
                    </a:p>
                  </a:txBody>
                  <a:tcPr marL="91440" marR="91440" marT="45720" marB="45720" anchor="ctr">
                    <a:solidFill>
                      <a:srgbClr val="0F1E35"/>
                    </a:solidFill>
                  </a:tcPr>
                </a:tc>
              </a:tr>
              <a:tr h="384048">
                <a:tc>
                  <a:txBody>
                    <a:bodyPr wrap="square"/>
                    <a:lstStyle/>
                    <a:p>
                      <a:r>
                        <a:rPr sz="1200" b="1">
                          <a:solidFill>
                            <a:srgbClr val="FFFFFF"/>
                          </a:solidFill>
                          <a:latin typeface="Inter"/>
                        </a:rPr>
                        <a:t>STT</a:t>
                      </a:r>
                    </a:p>
                  </a:txBody>
                  <a:tcPr marL="91440" marR="91440" marT="45720" marB="45720" anchor="ctr">
                    <a:solidFill>
                      <a:srgbClr val="1A2742"/>
                    </a:solidFill>
                  </a:tcPr>
                </a:tc>
                <a:tc>
                  <a:txBody>
                    <a:bodyPr wrap="square"/>
                    <a:lstStyle/>
                    <a:p>
                      <a:r>
                        <a:rPr sz="1200" b="0">
                          <a:solidFill>
                            <a:srgbClr val="FFFFFF"/>
                          </a:solidFill>
                          <a:latin typeface="Inter"/>
                        </a:rPr>
                        <a:t>names and numbers</a:t>
                      </a:r>
                    </a:p>
                  </a:txBody>
                  <a:tcPr marL="91440" marR="91440" marT="45720" marB="45720" anchor="ctr">
                    <a:solidFill>
                      <a:srgbClr val="1A2742"/>
                    </a:solidFill>
                  </a:tcPr>
                </a:tc>
                <a:tc>
                  <a:txBody>
                    <a:bodyPr wrap="square"/>
                    <a:lstStyle/>
                    <a:p>
                      <a:r>
                        <a:rPr sz="1200" b="0">
                          <a:solidFill>
                            <a:srgbClr val="FFFFFF"/>
                          </a:solidFill>
                          <a:latin typeface="Inter"/>
                        </a:rPr>
                        <a:t>S3, S9</a:t>
                      </a:r>
                    </a:p>
                  </a:txBody>
                  <a:tcPr marL="91440" marR="91440" marT="45720" marB="45720" anchor="ctr">
                    <a:solidFill>
                      <a:srgbClr val="1A2742"/>
                    </a:solidFill>
                  </a:tcPr>
                </a:tc>
              </a:tr>
              <a:tr h="384048">
                <a:tc>
                  <a:txBody>
                    <a:bodyPr wrap="square"/>
                    <a:lstStyle/>
                    <a:p>
                      <a:r>
                        <a:rPr sz="1200" b="1">
                          <a:solidFill>
                            <a:srgbClr val="FFFFFF"/>
                          </a:solidFill>
                          <a:latin typeface="Inter"/>
                        </a:rPr>
                        <a:t>Turn detection</a:t>
                      </a:r>
                    </a:p>
                  </a:txBody>
                  <a:tcPr marL="91440" marR="91440" marT="45720" marB="45720" anchor="ctr">
                    <a:solidFill>
                      <a:srgbClr val="0F1E35"/>
                    </a:solidFill>
                  </a:tcPr>
                </a:tc>
                <a:tc>
                  <a:txBody>
                    <a:bodyPr wrap="square"/>
                    <a:lstStyle/>
                    <a:p>
                      <a:r>
                        <a:rPr sz="1200" b="0">
                          <a:solidFill>
                            <a:srgbClr val="FFFFFF"/>
                          </a:solidFill>
                          <a:latin typeface="Inter"/>
                        </a:rPr>
                        <a:t>interrupts or long gaps</a:t>
                      </a:r>
                    </a:p>
                  </a:txBody>
                  <a:tcPr marL="91440" marR="91440" marT="45720" marB="45720" anchor="ctr">
                    <a:solidFill>
                      <a:srgbClr val="0F1E35"/>
                    </a:solidFill>
                  </a:tcPr>
                </a:tc>
                <a:tc>
                  <a:txBody>
                    <a:bodyPr wrap="square"/>
                    <a:lstStyle/>
                    <a:p>
                      <a:r>
                        <a:rPr sz="1200" b="0">
                          <a:solidFill>
                            <a:srgbClr val="FFFFFF"/>
                          </a:solidFill>
                          <a:latin typeface="Inter"/>
                        </a:rPr>
                        <a:t>S3</a:t>
                      </a:r>
                    </a:p>
                  </a:txBody>
                  <a:tcPr marL="91440" marR="91440" marT="45720" marB="45720" anchor="ctr">
                    <a:solidFill>
                      <a:srgbClr val="0F1E35"/>
                    </a:solidFill>
                  </a:tcPr>
                </a:tc>
              </a:tr>
              <a:tr h="384048">
                <a:tc>
                  <a:txBody>
                    <a:bodyPr wrap="square"/>
                    <a:lstStyle/>
                    <a:p>
                      <a:r>
                        <a:rPr sz="1200" b="1">
                          <a:solidFill>
                            <a:srgbClr val="FFFFFF"/>
                          </a:solidFill>
                          <a:latin typeface="Inter"/>
                        </a:rPr>
                        <a:t>LLM</a:t>
                      </a:r>
                    </a:p>
                  </a:txBody>
                  <a:tcPr marL="91440" marR="91440" marT="45720" marB="45720" anchor="ctr">
                    <a:solidFill>
                      <a:srgbClr val="1A2742"/>
                    </a:solidFill>
                  </a:tcPr>
                </a:tc>
                <a:tc>
                  <a:txBody>
                    <a:bodyPr wrap="square"/>
                    <a:lstStyle/>
                    <a:p>
                      <a:r>
                        <a:rPr sz="1200" b="0">
                          <a:solidFill>
                            <a:srgbClr val="FFFFFF"/>
                          </a:solidFill>
                          <a:latin typeface="Inter"/>
                        </a:rPr>
                        <a:t>rambling, hallucination</a:t>
                      </a:r>
                    </a:p>
                  </a:txBody>
                  <a:tcPr marL="91440" marR="91440" marT="45720" marB="45720" anchor="ctr">
                    <a:solidFill>
                      <a:srgbClr val="1A2742"/>
                    </a:solidFill>
                  </a:tcPr>
                </a:tc>
                <a:tc>
                  <a:txBody>
                    <a:bodyPr wrap="square"/>
                    <a:lstStyle/>
                    <a:p>
                      <a:r>
                        <a:rPr sz="1200" b="0">
                          <a:solidFill>
                            <a:srgbClr val="FFFFFF"/>
                          </a:solidFill>
                          <a:latin typeface="Inter"/>
                        </a:rPr>
                        <a:t>S4, S9</a:t>
                      </a:r>
                    </a:p>
                  </a:txBody>
                  <a:tcPr marL="91440" marR="91440" marT="45720" marB="45720" anchor="ctr">
                    <a:solidFill>
                      <a:srgbClr val="1A2742"/>
                    </a:solidFill>
                  </a:tcPr>
                </a:tc>
              </a:tr>
              <a:tr h="384048">
                <a:tc>
                  <a:txBody>
                    <a:bodyPr wrap="square"/>
                    <a:lstStyle/>
                    <a:p>
                      <a:r>
                        <a:rPr sz="1200" b="1">
                          <a:solidFill>
                            <a:srgbClr val="FFFFFF"/>
                          </a:solidFill>
                          <a:latin typeface="Inter"/>
                        </a:rPr>
                        <a:t>Tools</a:t>
                      </a:r>
                    </a:p>
                  </a:txBody>
                  <a:tcPr marL="91440" marR="91440" marT="45720" marB="45720" anchor="ctr">
                    <a:solidFill>
                      <a:srgbClr val="0F1E35"/>
                    </a:solidFill>
                  </a:tcPr>
                </a:tc>
                <a:tc>
                  <a:txBody>
                    <a:bodyPr wrap="square"/>
                    <a:lstStyle/>
                    <a:p>
                      <a:r>
                        <a:rPr sz="1200" b="0">
                          <a:solidFill>
                            <a:srgbClr val="FFFFFF"/>
                          </a:solidFill>
                          <a:latin typeface="Inter"/>
                        </a:rPr>
                        <a:t>wrong args, fake availability</a:t>
                      </a:r>
                    </a:p>
                  </a:txBody>
                  <a:tcPr marL="91440" marR="91440" marT="45720" marB="45720" anchor="ctr">
                    <a:solidFill>
                      <a:srgbClr val="0F1E35"/>
                    </a:solidFill>
                  </a:tcPr>
                </a:tc>
                <a:tc>
                  <a:txBody>
                    <a:bodyPr wrap="square"/>
                    <a:lstStyle/>
                    <a:p>
                      <a:r>
                        <a:rPr sz="1200" b="0">
                          <a:solidFill>
                            <a:srgbClr val="FFFFFF"/>
                          </a:solidFill>
                          <a:latin typeface="Inter"/>
                        </a:rPr>
                        <a:t>S5, S9</a:t>
                      </a:r>
                    </a:p>
                  </a:txBody>
                  <a:tcPr marL="91440" marR="91440" marT="45720" marB="45720" anchor="ctr">
                    <a:solidFill>
                      <a:srgbClr val="0F1E35"/>
                    </a:solidFill>
                  </a:tcPr>
                </a:tc>
              </a:tr>
              <a:tr h="384048">
                <a:tc>
                  <a:txBody>
                    <a:bodyPr wrap="square"/>
                    <a:lstStyle/>
                    <a:p>
                      <a:r>
                        <a:rPr sz="1200" b="1">
                          <a:solidFill>
                            <a:srgbClr val="FFFFFF"/>
                          </a:solidFill>
                          <a:latin typeface="Inter"/>
                        </a:rPr>
                        <a:t>TTS</a:t>
                      </a:r>
                    </a:p>
                  </a:txBody>
                  <a:tcPr marL="91440" marR="91440" marT="45720" marB="45720" anchor="ctr">
                    <a:solidFill>
                      <a:srgbClr val="1A2742"/>
                    </a:solidFill>
                  </a:tcPr>
                </a:tc>
                <a:tc>
                  <a:txBody>
                    <a:bodyPr wrap="square"/>
                    <a:lstStyle/>
                    <a:p>
                      <a:r>
                        <a:rPr sz="1200" b="0">
                          <a:solidFill>
                            <a:srgbClr val="FFFFFF"/>
                          </a:solidFill>
                          <a:latin typeface="Inter"/>
                        </a:rPr>
                        <a:t>reads symbols, bad numbers</a:t>
                      </a:r>
                    </a:p>
                  </a:txBody>
                  <a:tcPr marL="91440" marR="91440" marT="45720" marB="45720" anchor="ctr">
                    <a:solidFill>
                      <a:srgbClr val="1A2742"/>
                    </a:solidFill>
                  </a:tcPr>
                </a:tc>
                <a:tc>
                  <a:txBody>
                    <a:bodyPr wrap="square"/>
                    <a:lstStyle/>
                    <a:p>
                      <a:r>
                        <a:rPr sz="1200" b="0">
                          <a:solidFill>
                            <a:srgbClr val="FFFFFF"/>
                          </a:solidFill>
                          <a:latin typeface="Inter"/>
                        </a:rPr>
                        <a:t>S4</a:t>
                      </a:r>
                    </a:p>
                  </a:txBody>
                  <a:tcPr marL="91440" marR="91440" marT="45720" marB="45720" anchor="ctr">
                    <a:solidFill>
                      <a:srgbClr val="1A274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Seven boxes, from transport to TTS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box adds latency and a failure mode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each box, then the whole relay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Cascaded vs speech-to-speech architectures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you'll see there are two very different ways to wire that pipeline together: cascaded and speech-to-speech.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AND HOW VOICE AGENTS WORK</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Cascaded vs speech-to-speech architectures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the cascaded STT → LLM → TTS pipeline and the realtime speech-to-speech approach.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Architecture 1: cascaded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Three specialist models</a:t>
            </a:r>
          </a:p>
          <a:p>
            <a:pPr marL="292608" indent="-292608">
              <a:lnSpc>
                <a:spcPct val="120000"/>
              </a:lnSpc>
              <a:spcAft>
                <a:spcPts val="1120"/>
              </a:spcAft>
              <a:buClr>
                <a:srgbClr val="00D4AA"/>
              </a:buClr>
              <a:buFont typeface="Inter"/>
              <a:buChar char="•"/>
            </a:pPr>
            <a:r>
              <a:rPr sz="1600" b="0">
                <a:solidFill>
                  <a:srgbClr val="FFFFFF"/>
                </a:solidFill>
                <a:latin typeface="Inter"/>
              </a:rPr>
              <a:t>Text is the handoff format between them</a:t>
            </a:r>
          </a:p>
        </p:txBody>
      </p:sp>
      <p:pic>
        <p:nvPicPr>
          <p:cNvPr id="6" name="Picture 5" descr="D2-step1-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Architecture 2: speech-to-speech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One model, audio in and audio out</a:t>
            </a:r>
          </a:p>
          <a:p>
            <a:pPr marL="292608" indent="-292608">
              <a:lnSpc>
                <a:spcPct val="120000"/>
              </a:lnSpc>
              <a:spcAft>
                <a:spcPts val="1120"/>
              </a:spcAft>
              <a:buClr>
                <a:srgbClr val="00D4AA"/>
              </a:buClr>
              <a:buFont typeface="Inter"/>
              <a:buChar char="•"/>
            </a:pPr>
            <a:r>
              <a:rPr sz="1600" b="0">
                <a:solidFill>
                  <a:srgbClr val="FFFFFF"/>
                </a:solidFill>
                <a:latin typeface="Inter"/>
              </a:rPr>
              <a:t>Example: OpenAI </a:t>
            </a:r>
            <a:r>
              <a:rPr sz="1472" b="0">
                <a:solidFill>
                  <a:srgbClr val="00D4AA"/>
                </a:solidFill>
                <a:latin typeface="JetBrains Mono"/>
              </a:rPr>
              <a:t>gpt-realtime</a:t>
            </a:r>
          </a:p>
          <a:p>
            <a:pPr marL="292608" indent="-292608">
              <a:lnSpc>
                <a:spcPct val="120000"/>
              </a:lnSpc>
              <a:spcAft>
                <a:spcPts val="1120"/>
              </a:spcAft>
              <a:buClr>
                <a:srgbClr val="00D4AA"/>
              </a:buClr>
              <a:buFont typeface="Inter"/>
              <a:buChar char="•"/>
            </a:pPr>
            <a:r>
              <a:rPr sz="1600" b="0">
                <a:solidFill>
                  <a:srgbClr val="FFFFFF"/>
                </a:solidFill>
                <a:latin typeface="Inter"/>
              </a:rPr>
              <a:t>Transcripts produced on a side channel</a:t>
            </a:r>
          </a:p>
        </p:txBody>
      </p:sp>
      <p:pic>
        <p:nvPicPr>
          <p:cNvPr id="6" name="Picture 5" descr="D2-step2-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speech-to-speech sounds more human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Hears tone, hesitation, emphasis</a:t>
            </a:r>
          </a:p>
          <a:p>
            <a:pPr marL="292608" indent="-292608">
              <a:lnSpc>
                <a:spcPct val="120000"/>
              </a:lnSpc>
              <a:spcAft>
                <a:spcPts val="1120"/>
              </a:spcAft>
              <a:buClr>
                <a:srgbClr val="00D4AA"/>
              </a:buClr>
              <a:buFont typeface="Inter"/>
              <a:buChar char="•"/>
            </a:pPr>
            <a:r>
              <a:rPr sz="1600" b="0">
                <a:solidFill>
                  <a:srgbClr val="FFFFFF"/>
                </a:solidFill>
                <a:latin typeface="Inter"/>
              </a:rPr>
              <a:t>Can respond with matching emotion</a:t>
            </a:r>
          </a:p>
          <a:p>
            <a:pPr marL="292608" indent="-292608">
              <a:lnSpc>
                <a:spcPct val="120000"/>
              </a:lnSpc>
              <a:spcAft>
                <a:spcPts val="1120"/>
              </a:spcAft>
              <a:buClr>
                <a:srgbClr val="00D4AA"/>
              </a:buClr>
              <a:buFont typeface="Inter"/>
              <a:buChar char="•"/>
            </a:pPr>
            <a:r>
              <a:rPr sz="1600" b="0">
                <a:solidFill>
                  <a:srgbClr val="FFFFFF"/>
                </a:solidFill>
                <a:latin typeface="Inter"/>
              </a:rPr>
              <a:t>One network hop instead of three</a:t>
            </a:r>
          </a:p>
        </p:txBody>
      </p:sp>
      <p:pic>
        <p:nvPicPr>
          <p:cNvPr id="6" name="Picture 5" descr="D2-step2-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cascaded is still the production default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Swap any component: best STT, cheapest LLM, brand voice</a:t>
            </a:r>
          </a:p>
          <a:p>
            <a:pPr marL="292608" indent="-292608">
              <a:lnSpc>
                <a:spcPct val="120000"/>
              </a:lnSpc>
              <a:spcAft>
                <a:spcPts val="1120"/>
              </a:spcAft>
              <a:buClr>
                <a:srgbClr val="00D4AA"/>
              </a:buClr>
              <a:buFont typeface="Inter"/>
              <a:buChar char="•"/>
            </a:pPr>
            <a:r>
              <a:rPr sz="1600" b="0">
                <a:solidFill>
                  <a:srgbClr val="FFFFFF"/>
                </a:solidFill>
                <a:latin typeface="Inter"/>
              </a:rPr>
              <a:t>Inspect and test the text at every step</a:t>
            </a:r>
          </a:p>
          <a:p>
            <a:pPr marL="292608" indent="-292608">
              <a:lnSpc>
                <a:spcPct val="120000"/>
              </a:lnSpc>
              <a:spcAft>
                <a:spcPts val="1120"/>
              </a:spcAft>
              <a:buClr>
                <a:srgbClr val="00D4AA"/>
              </a:buClr>
              <a:buFont typeface="Inter"/>
              <a:buChar char="•"/>
            </a:pPr>
            <a:r>
              <a:rPr sz="1600" b="0">
                <a:solidFill>
                  <a:srgbClr val="FFFFFF"/>
                </a:solidFill>
                <a:latin typeface="Inter"/>
              </a:rPr>
              <a:t>Mature tool calling in text LLMs</a:t>
            </a:r>
          </a:p>
          <a:p>
            <a:pPr marL="292608" indent="-292608">
              <a:lnSpc>
                <a:spcPct val="120000"/>
              </a:lnSpc>
              <a:spcAft>
                <a:spcPts val="1120"/>
              </a:spcAft>
              <a:buClr>
                <a:srgbClr val="00D4AA"/>
              </a:buClr>
              <a:buFont typeface="Inter"/>
              <a:buChar char="•"/>
            </a:pPr>
            <a:r>
              <a:rPr sz="1600" b="0">
                <a:solidFill>
                  <a:srgbClr val="FFFFFF"/>
                </a:solidFill>
                <a:latin typeface="Inter"/>
              </a:rPr>
              <a:t>Usually cheaper per minute</a:t>
            </a:r>
          </a:p>
        </p:txBody>
      </p:sp>
      <p:pic>
        <p:nvPicPr>
          <p:cNvPr id="6" name="Picture 5" descr="D2-step1-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cascaded hurts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Loses tone and emotion at the STT step</a:t>
            </a:r>
          </a:p>
          <a:p>
            <a:pPr marL="292608" indent="-292608">
              <a:lnSpc>
                <a:spcPct val="120000"/>
              </a:lnSpc>
              <a:spcAft>
                <a:spcPts val="1120"/>
              </a:spcAft>
              <a:buClr>
                <a:srgbClr val="00D4AA"/>
              </a:buClr>
              <a:buFont typeface="Inter"/>
              <a:buChar char="•"/>
            </a:pPr>
            <a:r>
              <a:rPr sz="1600" b="0">
                <a:solidFill>
                  <a:srgbClr val="FFFFFF"/>
                </a:solidFill>
                <a:latin typeface="Inter"/>
              </a:rPr>
              <a:t>Three network hops can add latency</a:t>
            </a:r>
          </a:p>
          <a:p>
            <a:pPr marL="292608" indent="-292608">
              <a:lnSpc>
                <a:spcPct val="120000"/>
              </a:lnSpc>
              <a:spcAft>
                <a:spcPts val="1120"/>
              </a:spcAft>
              <a:buClr>
                <a:srgbClr val="00D4AA"/>
              </a:buClr>
              <a:buFont typeface="Inter"/>
              <a:buChar char="•"/>
            </a:pPr>
            <a:r>
              <a:rPr sz="1600" b="0">
                <a:solidFill>
                  <a:srgbClr val="FFFFFF"/>
                </a:solidFill>
                <a:latin typeface="Inter"/>
              </a:rPr>
              <a:t>More moving parts to configure</a:t>
            </a:r>
          </a:p>
        </p:txBody>
      </p:sp>
      <p:pic>
        <p:nvPicPr>
          <p:cNvPr id="6" name="Picture 5" descr="D2-step1-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Head-to-head comparison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3456432"/>
        </p:xfrm>
        <a:graphic>
          <a:graphicData uri="http://schemas.openxmlformats.org/drawingml/2006/table">
            <a:tbl>
              <a:tblPr firstRow="1" bandRow="1">
                <a:tableStyleId>{5C22544A-7EE6-4342-B048-85BDC9FD1C3A}</a:tableStyleId>
              </a:tblPr>
              <a:tblGrid>
                <a:gridCol w="2623589"/>
                <a:gridCol w="3536141"/>
                <a:gridCol w="5133109"/>
              </a:tblGrid>
              <a:tr h="384048">
                <a:tc>
                  <a:txBody>
                    <a:bodyPr wrap="square"/>
                    <a:lstStyle/>
                    <a:p>
                      <a:r>
                        <a:rPr sz="1100" b="1">
                          <a:solidFill>
                            <a:srgbClr val="0A1628"/>
                          </a:solidFill>
                          <a:latin typeface="Inter"/>
                        </a:rPr>
                        <a:t>Dimension</a:t>
                      </a:r>
                    </a:p>
                  </a:txBody>
                  <a:tcPr marL="91440" marR="91440" marT="45720" marB="45720" anchor="ctr">
                    <a:solidFill>
                      <a:srgbClr val="00D4AA"/>
                    </a:solidFill>
                  </a:tcPr>
                </a:tc>
                <a:tc>
                  <a:txBody>
                    <a:bodyPr wrap="square"/>
                    <a:lstStyle/>
                    <a:p>
                      <a:r>
                        <a:rPr sz="1100" b="1">
                          <a:solidFill>
                            <a:srgbClr val="0A1628"/>
                          </a:solidFill>
                          <a:latin typeface="Inter"/>
                        </a:rPr>
                        <a:t>Cascaded</a:t>
                      </a:r>
                    </a:p>
                  </a:txBody>
                  <a:tcPr marL="91440" marR="91440" marT="45720" marB="45720" anchor="ctr">
                    <a:solidFill>
                      <a:srgbClr val="00D4AA"/>
                    </a:solidFill>
                  </a:tcPr>
                </a:tc>
                <a:tc>
                  <a:txBody>
                    <a:bodyPr wrap="square"/>
                    <a:lstStyle/>
                    <a:p>
                      <a:r>
                        <a:rPr sz="1100" b="1">
                          <a:solidFill>
                            <a:srgbClr val="0A1628"/>
                          </a:solidFill>
                          <a:latin typeface="Inter"/>
                        </a:rPr>
                        <a:t>Speech-to-speech</a:t>
                      </a:r>
                    </a:p>
                  </a:txBody>
                  <a:tcPr marL="91440" marR="91440" marT="45720" marB="45720" anchor="ctr">
                    <a:solidFill>
                      <a:srgbClr val="00D4AA"/>
                    </a:solidFill>
                  </a:tcPr>
                </a:tc>
              </a:tr>
              <a:tr h="384048">
                <a:tc>
                  <a:txBody>
                    <a:bodyPr wrap="square"/>
                    <a:lstStyle/>
                    <a:p>
                      <a:r>
                        <a:rPr sz="1100" b="1">
                          <a:solidFill>
                            <a:srgbClr val="FFFFFF"/>
                          </a:solidFill>
                          <a:latin typeface="Inter"/>
                        </a:rPr>
                        <a:t>Control over each model</a:t>
                      </a:r>
                    </a:p>
                  </a:txBody>
                  <a:tcPr marL="91440" marR="91440" marT="45720" marB="45720" anchor="ctr">
                    <a:solidFill>
                      <a:srgbClr val="1A2742"/>
                    </a:solidFill>
                  </a:tcPr>
                </a:tc>
                <a:tc>
                  <a:txBody>
                    <a:bodyPr wrap="square"/>
                    <a:lstStyle/>
                    <a:p>
                      <a:r>
                        <a:rPr sz="1100" b="0">
                          <a:solidFill>
                            <a:srgbClr val="FFFFFF"/>
                          </a:solidFill>
                          <a:latin typeface="Inter"/>
                        </a:rPr>
                        <a:t>High</a:t>
                      </a:r>
                    </a:p>
                  </a:txBody>
                  <a:tcPr marL="91440" marR="91440" marT="45720" marB="45720" anchor="ctr">
                    <a:solidFill>
                      <a:srgbClr val="1A2742"/>
                    </a:solidFill>
                  </a:tcPr>
                </a:tc>
                <a:tc>
                  <a:txBody>
                    <a:bodyPr wrap="square"/>
                    <a:lstStyle/>
                    <a:p>
                      <a:r>
                        <a:rPr sz="1100" b="0">
                          <a:solidFill>
                            <a:srgbClr val="FFFFFF"/>
                          </a:solidFill>
                          <a:latin typeface="Inter"/>
                        </a:rPr>
                        <a:t>Low</a:t>
                      </a:r>
                    </a:p>
                  </a:txBody>
                  <a:tcPr marL="91440" marR="91440" marT="45720" marB="45720" anchor="ctr">
                    <a:solidFill>
                      <a:srgbClr val="1A2742"/>
                    </a:solidFill>
                  </a:tcPr>
                </a:tc>
              </a:tr>
              <a:tr h="384048">
                <a:tc>
                  <a:txBody>
                    <a:bodyPr wrap="square"/>
                    <a:lstStyle/>
                    <a:p>
                      <a:r>
                        <a:rPr sz="1100" b="1">
                          <a:solidFill>
                            <a:srgbClr val="FFFFFF"/>
                          </a:solidFill>
                          <a:latin typeface="Inter"/>
                        </a:rPr>
                        <a:t>Voice and brand choice</a:t>
                      </a:r>
                    </a:p>
                  </a:txBody>
                  <a:tcPr marL="91440" marR="91440" marT="45720" marB="45720" anchor="ctr">
                    <a:solidFill>
                      <a:srgbClr val="0F1E35"/>
                    </a:solidFill>
                  </a:tcPr>
                </a:tc>
                <a:tc>
                  <a:txBody>
                    <a:bodyPr wrap="square"/>
                    <a:lstStyle/>
                    <a:p>
                      <a:r>
                        <a:rPr sz="1100" b="0">
                          <a:solidFill>
                            <a:srgbClr val="FFFFFF"/>
                          </a:solidFill>
                          <a:latin typeface="Inter"/>
                        </a:rPr>
                        <a:t>Any TTS voice</a:t>
                      </a:r>
                    </a:p>
                  </a:txBody>
                  <a:tcPr marL="91440" marR="91440" marT="45720" marB="45720" anchor="ctr">
                    <a:solidFill>
                      <a:srgbClr val="0F1E35"/>
                    </a:solidFill>
                  </a:tcPr>
                </a:tc>
                <a:tc>
                  <a:txBody>
                    <a:bodyPr wrap="square"/>
                    <a:lstStyle/>
                    <a:p>
                      <a:r>
                        <a:rPr sz="1100" b="0">
                          <a:solidFill>
                            <a:srgbClr val="FFFFFF"/>
                          </a:solidFill>
                          <a:latin typeface="Inter"/>
                        </a:rPr>
                        <a:t>Vendor voices only</a:t>
                      </a:r>
                    </a:p>
                  </a:txBody>
                  <a:tcPr marL="91440" marR="91440" marT="45720" marB="45720" anchor="ctr">
                    <a:solidFill>
                      <a:srgbClr val="0F1E35"/>
                    </a:solidFill>
                  </a:tcPr>
                </a:tc>
              </a:tr>
              <a:tr h="384048">
                <a:tc>
                  <a:txBody>
                    <a:bodyPr wrap="square"/>
                    <a:lstStyle/>
                    <a:p>
                      <a:r>
                        <a:rPr sz="1100" b="1">
                          <a:solidFill>
                            <a:srgbClr val="FFFFFF"/>
                          </a:solidFill>
                          <a:latin typeface="Inter"/>
                        </a:rPr>
                        <a:t>Emotion and prosody</a:t>
                      </a:r>
                    </a:p>
                  </a:txBody>
                  <a:tcPr marL="91440" marR="91440" marT="45720" marB="45720" anchor="ctr">
                    <a:solidFill>
                      <a:srgbClr val="1A2742"/>
                    </a:solidFill>
                  </a:tcPr>
                </a:tc>
                <a:tc>
                  <a:txBody>
                    <a:bodyPr wrap="square"/>
                    <a:lstStyle/>
                    <a:p>
                      <a:r>
                        <a:rPr sz="1100" b="0">
                          <a:solidFill>
                            <a:srgbClr val="FFFFFF"/>
                          </a:solidFill>
                          <a:latin typeface="Inter"/>
                        </a:rPr>
                        <a:t>Lost at STT</a:t>
                      </a:r>
                    </a:p>
                  </a:txBody>
                  <a:tcPr marL="91440" marR="91440" marT="45720" marB="45720" anchor="ctr">
                    <a:solidFill>
                      <a:srgbClr val="1A2742"/>
                    </a:solidFill>
                  </a:tcPr>
                </a:tc>
                <a:tc>
                  <a:txBody>
                    <a:bodyPr wrap="square"/>
                    <a:lstStyle/>
                    <a:p>
                      <a:r>
                        <a:rPr sz="1100" b="0">
                          <a:solidFill>
                            <a:srgbClr val="FFFFFF"/>
                          </a:solidFill>
                          <a:latin typeface="Inter"/>
                        </a:rPr>
                        <a:t>Preserved</a:t>
                      </a:r>
                    </a:p>
                  </a:txBody>
                  <a:tcPr marL="91440" marR="91440" marT="45720" marB="45720" anchor="ctr">
                    <a:solidFill>
                      <a:srgbClr val="1A2742"/>
                    </a:solidFill>
                  </a:tcPr>
                </a:tc>
              </a:tr>
              <a:tr h="384048">
                <a:tc>
                  <a:txBody>
                    <a:bodyPr wrap="square"/>
                    <a:lstStyle/>
                    <a:p>
                      <a:r>
                        <a:rPr sz="1100" b="1">
                          <a:solidFill>
                            <a:srgbClr val="FFFFFF"/>
                          </a:solidFill>
                          <a:latin typeface="Inter"/>
                        </a:rPr>
                        <a:t>Latency to first word</a:t>
                      </a:r>
                    </a:p>
                  </a:txBody>
                  <a:tcPr marL="91440" marR="91440" marT="45720" marB="45720" anchor="ctr">
                    <a:solidFill>
                      <a:srgbClr val="0F1E35"/>
                    </a:solidFill>
                  </a:tcPr>
                </a:tc>
                <a:tc>
                  <a:txBody>
                    <a:bodyPr wrap="square"/>
                    <a:lstStyle/>
                    <a:p>
                      <a:r>
                        <a:rPr sz="1100" b="0">
                          <a:solidFill>
                            <a:srgbClr val="FFFFFF"/>
                          </a:solidFill>
                          <a:latin typeface="Inter"/>
                        </a:rPr>
                        <a:t>Good with streaming</a:t>
                      </a:r>
                    </a:p>
                  </a:txBody>
                  <a:tcPr marL="91440" marR="91440" marT="45720" marB="45720" anchor="ctr">
                    <a:solidFill>
                      <a:srgbClr val="0F1E35"/>
                    </a:solidFill>
                  </a:tcPr>
                </a:tc>
                <a:tc>
                  <a:txBody>
                    <a:bodyPr wrap="square"/>
                    <a:lstStyle/>
                    <a:p>
                      <a:r>
                        <a:rPr sz="1100" b="0">
                          <a:solidFill>
                            <a:srgbClr val="FFFFFF"/>
                          </a:solidFill>
                          <a:latin typeface="Inter"/>
                        </a:rPr>
                        <a:t>Often better</a:t>
                      </a:r>
                    </a:p>
                  </a:txBody>
                  <a:tcPr marL="91440" marR="91440" marT="45720" marB="45720" anchor="ctr">
                    <a:solidFill>
                      <a:srgbClr val="0F1E35"/>
                    </a:solidFill>
                  </a:tcPr>
                </a:tc>
              </a:tr>
              <a:tr h="384048">
                <a:tc>
                  <a:txBody>
                    <a:bodyPr wrap="square"/>
                    <a:lstStyle/>
                    <a:p>
                      <a:r>
                        <a:rPr sz="1100" b="1">
                          <a:solidFill>
                            <a:srgbClr val="FFFFFF"/>
                          </a:solidFill>
                          <a:latin typeface="Inter"/>
                        </a:rPr>
                        <a:t>Tool-call reliability</a:t>
                      </a:r>
                    </a:p>
                  </a:txBody>
                  <a:tcPr marL="91440" marR="91440" marT="45720" marB="45720" anchor="ctr">
                    <a:solidFill>
                      <a:srgbClr val="1A2742"/>
                    </a:solidFill>
                  </a:tcPr>
                </a:tc>
                <a:tc>
                  <a:txBody>
                    <a:bodyPr wrap="square"/>
                    <a:lstStyle/>
                    <a:p>
                      <a:r>
                        <a:rPr sz="1100" b="0">
                          <a:solidFill>
                            <a:srgbClr val="FFFFFF"/>
                          </a:solidFill>
                          <a:latin typeface="Inter"/>
                        </a:rPr>
                        <a:t>Mature</a:t>
                      </a:r>
                    </a:p>
                  </a:txBody>
                  <a:tcPr marL="91440" marR="91440" marT="45720" marB="45720" anchor="ctr">
                    <a:solidFill>
                      <a:srgbClr val="1A2742"/>
                    </a:solidFill>
                  </a:tcPr>
                </a:tc>
                <a:tc>
                  <a:txBody>
                    <a:bodyPr wrap="square"/>
                    <a:lstStyle/>
                    <a:p>
                      <a:r>
                        <a:rPr sz="1100" b="0">
                          <a:solidFill>
                            <a:srgbClr val="FFFFFF"/>
                          </a:solidFill>
                          <a:latin typeface="Inter"/>
                        </a:rPr>
                        <a:t>Improving</a:t>
                      </a:r>
                    </a:p>
                  </a:txBody>
                  <a:tcPr marL="91440" marR="91440" marT="45720" marB="45720" anchor="ctr">
                    <a:solidFill>
                      <a:srgbClr val="1A2742"/>
                    </a:solidFill>
                  </a:tcPr>
                </a:tc>
              </a:tr>
              <a:tr h="384048">
                <a:tc>
                  <a:txBody>
                    <a:bodyPr wrap="square"/>
                    <a:lstStyle/>
                    <a:p>
                      <a:r>
                        <a:rPr sz="1100" b="1">
                          <a:solidFill>
                            <a:srgbClr val="FFFFFF"/>
                          </a:solidFill>
                          <a:latin typeface="Inter"/>
                        </a:rPr>
                        <a:t>Debuggability</a:t>
                      </a:r>
                    </a:p>
                  </a:txBody>
                  <a:tcPr marL="91440" marR="91440" marT="45720" marB="45720" anchor="ctr">
                    <a:solidFill>
                      <a:srgbClr val="0F1E35"/>
                    </a:solidFill>
                  </a:tcPr>
                </a:tc>
                <a:tc>
                  <a:txBody>
                    <a:bodyPr wrap="square"/>
                    <a:lstStyle/>
                    <a:p>
                      <a:r>
                        <a:rPr sz="1100" b="0">
                          <a:solidFill>
                            <a:srgbClr val="FFFFFF"/>
                          </a:solidFill>
                          <a:latin typeface="Inter"/>
                        </a:rPr>
                        <a:t>Text at every step</a:t>
                      </a:r>
                    </a:p>
                  </a:txBody>
                  <a:tcPr marL="91440" marR="91440" marT="45720" marB="45720" anchor="ctr">
                    <a:solidFill>
                      <a:srgbClr val="0F1E35"/>
                    </a:solidFill>
                  </a:tcPr>
                </a:tc>
                <a:tc>
                  <a:txBody>
                    <a:bodyPr wrap="square"/>
                    <a:lstStyle/>
                    <a:p>
                      <a:r>
                        <a:rPr sz="1100" b="0">
                          <a:solidFill>
                            <a:srgbClr val="FFFFFF"/>
                          </a:solidFill>
                          <a:latin typeface="Inter"/>
                        </a:rPr>
                        <a:t>Transcripts on side channel</a:t>
                      </a:r>
                    </a:p>
                  </a:txBody>
                  <a:tcPr marL="91440" marR="91440" marT="45720" marB="45720" anchor="ctr">
                    <a:solidFill>
                      <a:srgbClr val="0F1E35"/>
                    </a:solidFill>
                  </a:tcPr>
                </a:tc>
              </a:tr>
              <a:tr h="384048">
                <a:tc>
                  <a:txBody>
                    <a:bodyPr wrap="square"/>
                    <a:lstStyle/>
                    <a:p>
                      <a:r>
                        <a:rPr sz="1100" b="1">
                          <a:solidFill>
                            <a:srgbClr val="FFFFFF"/>
                          </a:solidFill>
                          <a:latin typeface="Inter"/>
                        </a:rPr>
                        <a:t>Cost per minute</a:t>
                      </a:r>
                    </a:p>
                  </a:txBody>
                  <a:tcPr marL="91440" marR="91440" marT="45720" marB="45720" anchor="ctr">
                    <a:solidFill>
                      <a:srgbClr val="1A2742"/>
                    </a:solidFill>
                  </a:tcPr>
                </a:tc>
                <a:tc>
                  <a:txBody>
                    <a:bodyPr wrap="square"/>
                    <a:lstStyle/>
                    <a:p>
                      <a:r>
                        <a:rPr sz="1100" b="0">
                          <a:solidFill>
                            <a:srgbClr val="FFFFFF"/>
                          </a:solidFill>
                          <a:latin typeface="Inter"/>
                        </a:rPr>
                        <a:t>Usually lower</a:t>
                      </a:r>
                    </a:p>
                  </a:txBody>
                  <a:tcPr marL="91440" marR="91440" marT="45720" marB="45720" anchor="ctr">
                    <a:solidFill>
                      <a:srgbClr val="1A2742"/>
                    </a:solidFill>
                  </a:tcPr>
                </a:tc>
                <a:tc>
                  <a:txBody>
                    <a:bodyPr wrap="square"/>
                    <a:lstStyle/>
                    <a:p>
                      <a:r>
                        <a:rPr sz="1100" b="0">
                          <a:solidFill>
                            <a:srgbClr val="FFFFFF"/>
                          </a:solidFill>
                          <a:latin typeface="Inter"/>
                        </a:rPr>
                        <a:t>Usually higher</a:t>
                      </a:r>
                    </a:p>
                  </a:txBody>
                  <a:tcPr marL="91440" marR="91440" marT="45720" marB="45720" anchor="ctr">
                    <a:solidFill>
                      <a:srgbClr val="1A2742"/>
                    </a:solidFill>
                  </a:tcPr>
                </a:tc>
              </a:tr>
              <a:tr h="384048">
                <a:tc>
                  <a:txBody>
                    <a:bodyPr wrap="square"/>
                    <a:lstStyle/>
                    <a:p>
                      <a:r>
                        <a:rPr sz="1100" b="1">
                          <a:solidFill>
                            <a:srgbClr val="FFFFFF"/>
                          </a:solidFill>
                          <a:latin typeface="Inter"/>
                        </a:rPr>
                        <a:t>Best for</a:t>
                      </a:r>
                    </a:p>
                  </a:txBody>
                  <a:tcPr marL="91440" marR="91440" marT="45720" marB="45720" anchor="ctr">
                    <a:solidFill>
                      <a:srgbClr val="0F1E35"/>
                    </a:solidFill>
                  </a:tcPr>
                </a:tc>
                <a:tc>
                  <a:txBody>
                    <a:bodyPr wrap="square"/>
                    <a:lstStyle/>
                    <a:p>
                      <a:r>
                        <a:rPr sz="1100" b="0">
                          <a:solidFill>
                            <a:srgbClr val="FFFFFF"/>
                          </a:solidFill>
                          <a:latin typeface="Inter"/>
                        </a:rPr>
                        <a:t>Transactions, compliance, scale</a:t>
                      </a:r>
                    </a:p>
                  </a:txBody>
                  <a:tcPr marL="91440" marR="91440" marT="45720" marB="45720" anchor="ctr">
                    <a:solidFill>
                      <a:srgbClr val="0F1E35"/>
                    </a:solidFill>
                  </a:tcPr>
                </a:tc>
                <a:tc>
                  <a:txBody>
                    <a:bodyPr wrap="square"/>
                    <a:lstStyle/>
                    <a:p>
                      <a:r>
                        <a:rPr sz="1100" b="0">
                          <a:solidFill>
                            <a:srgbClr val="FFFFFF"/>
                          </a:solidFill>
                          <a:latin typeface="Inter"/>
                        </a:rPr>
                        <a:t>Natural conversation, coaching, companionship</a:t>
                      </a:r>
                    </a:p>
                  </a:txBody>
                  <a:tcPr marL="91440" marR="91440" marT="45720" marB="45720" anchor="ctr">
                    <a:solidFill>
                      <a:srgbClr val="0F1E35"/>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hybrid: half-cascade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Realtime model understands audio directly</a:t>
            </a:r>
          </a:p>
          <a:p>
            <a:pPr marL="292608" indent="-292608">
              <a:lnSpc>
                <a:spcPct val="120000"/>
              </a:lnSpc>
              <a:spcAft>
                <a:spcPts val="1120"/>
              </a:spcAft>
              <a:buClr>
                <a:srgbClr val="00D4AA"/>
              </a:buClr>
              <a:buFont typeface="Inter"/>
              <a:buChar char="•"/>
            </a:pPr>
            <a:r>
              <a:rPr sz="1600" b="0">
                <a:solidFill>
                  <a:srgbClr val="FFFFFF"/>
                </a:solidFill>
                <a:latin typeface="Inter"/>
              </a:rPr>
              <a:t>You keep your own brand voice</a:t>
            </a:r>
          </a:p>
          <a:p>
            <a:pPr marL="292608" indent="-292608">
              <a:lnSpc>
                <a:spcPct val="120000"/>
              </a:lnSpc>
              <a:spcAft>
                <a:spcPts val="1120"/>
              </a:spcAft>
              <a:buClr>
                <a:srgbClr val="00D4AA"/>
              </a:buClr>
              <a:buFont typeface="Inter"/>
              <a:buChar char="•"/>
            </a:pPr>
            <a:r>
              <a:rPr sz="1600" b="0">
                <a:solidFill>
                  <a:srgbClr val="FFFFFF"/>
                </a:solidFill>
                <a:latin typeface="Inter"/>
              </a:rPr>
              <a:t>Code: </a:t>
            </a:r>
            <a:r>
              <a:rPr sz="1472" b="0">
                <a:solidFill>
                  <a:srgbClr val="00D4AA"/>
                </a:solidFill>
                <a:latin typeface="JetBrains Mono"/>
              </a:rPr>
              <a:t>modalities=["text"]</a:t>
            </a:r>
            <a:r>
              <a:rPr sz="1600" b="0">
                <a:solidFill>
                  <a:srgbClr val="FFFFFF"/>
                </a:solidFill>
                <a:latin typeface="Inter"/>
              </a:rPr>
              <a:t> plus a separate TTS</a:t>
            </a:r>
          </a:p>
        </p:txBody>
      </p:sp>
      <p:pic>
        <p:nvPicPr>
          <p:cNvPr id="6" name="Picture 5" descr="D2-step3-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each design spends its time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Cascaded: endpointing → STT final → LLM time-to-first-token → TTS time-to-first-byte</a:t>
            </a:r>
          </a:p>
          <a:p>
            <a:pPr marL="292608" indent="-292608">
              <a:lnSpc>
                <a:spcPct val="120000"/>
              </a:lnSpc>
              <a:spcAft>
                <a:spcPts val="1120"/>
              </a:spcAft>
              <a:buClr>
                <a:srgbClr val="00D4AA"/>
              </a:buClr>
              <a:buFont typeface="Inter"/>
              <a:buChar char="•"/>
            </a:pPr>
            <a:r>
              <a:rPr sz="1600" b="0">
                <a:solidFill>
                  <a:srgbClr val="FFFFFF"/>
                </a:solidFill>
                <a:latin typeface="Inter"/>
              </a:rPr>
              <a:t>Speech-to-speech: endpointing (server VAD) → model time-to-first-audio</a:t>
            </a:r>
          </a:p>
          <a:p>
            <a:pPr marL="292608" indent="-292608">
              <a:lnSpc>
                <a:spcPct val="120000"/>
              </a:lnSpc>
              <a:spcAft>
                <a:spcPts val="1120"/>
              </a:spcAft>
              <a:buClr>
                <a:srgbClr val="00D4AA"/>
              </a:buClr>
              <a:buFont typeface="Inter"/>
              <a:buChar char="•"/>
            </a:pPr>
            <a:r>
              <a:rPr sz="1600" b="0">
                <a:solidFill>
                  <a:srgbClr val="FFFFFF"/>
                </a:solidFill>
                <a:latin typeface="Inter"/>
              </a:rPr>
              <a:t>Label: "Endpointing is in both bars. Tool calls add time to both."</a:t>
            </a:r>
          </a:p>
        </p:txBody>
      </p:sp>
      <p:sp>
        <p:nvSpPr>
          <p:cNvPr id="6" name="Rounded Rectangle 5"/>
          <p:cNvSpPr/>
          <p:nvPr/>
        </p:nvSpPr>
        <p:spPr>
          <a:xfrm>
            <a:off x="4983480" y="1325880"/>
            <a:ext cx="676656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257800" y="1508760"/>
            <a:ext cx="621792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8" name="TextBox 7"/>
          <p:cNvSpPr txBox="1"/>
          <p:nvPr/>
        </p:nvSpPr>
        <p:spPr>
          <a:xfrm>
            <a:off x="5257800" y="1920240"/>
            <a:ext cx="621792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Two stacked bars.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Cost per minute, a first look (placeholder prices)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Cascaded, typical receptionist call: roughly 7 cents per minute</a:t>
            </a:r>
          </a:p>
          <a:p>
            <a:pPr marL="292608" indent="-292608">
              <a:lnSpc>
                <a:spcPct val="120000"/>
              </a:lnSpc>
              <a:spcAft>
                <a:spcPts val="1260"/>
              </a:spcAft>
              <a:buClr>
                <a:srgbClr val="00D4AA"/>
              </a:buClr>
              <a:buFont typeface="Inter"/>
              <a:buChar char="•"/>
            </a:pPr>
            <a:r>
              <a:rPr sz="1800" b="0">
                <a:solidFill>
                  <a:srgbClr val="FFFFFF"/>
                </a:solidFill>
                <a:latin typeface="Inter"/>
              </a:rPr>
              <a:t>Speech-to-speech, same call: roughly 28 cents per minute</a:t>
            </a:r>
          </a:p>
          <a:p>
            <a:pPr marL="292608" indent="-292608">
              <a:lnSpc>
                <a:spcPct val="120000"/>
              </a:lnSpc>
              <a:spcAft>
                <a:spcPts val="1260"/>
              </a:spcAft>
              <a:buClr>
                <a:srgbClr val="00D4AA"/>
              </a:buClr>
              <a:buFont typeface="Inter"/>
              <a:buChar char="•"/>
            </a:pPr>
            <a:r>
              <a:rPr sz="1800" b="0">
                <a:solidFill>
                  <a:srgbClr val="FFFFFF"/>
                </a:solidFill>
                <a:latin typeface="Inter"/>
              </a:rPr>
              <a:t>Source: the course's cost calculator, </a:t>
            </a:r>
            <a:r>
              <a:rPr sz="1656" b="0">
                <a:solidFill>
                  <a:srgbClr val="00D4AA"/>
                </a:solidFill>
                <a:latin typeface="JetBrains Mono"/>
              </a:rPr>
              <a:t>src/maple/costs.py</a:t>
            </a:r>
            <a:r>
              <a:rPr sz="1800" b="0">
                <a:solidFill>
                  <a:srgbClr val="FFFFFF"/>
                </a:solidFill>
                <a:latin typeface="Inter"/>
              </a:rPr>
              <a:t>, with placeholder list prices</a:t>
            </a:r>
          </a:p>
          <a:p>
            <a:pPr marL="292608" indent="-292608">
              <a:lnSpc>
                <a:spcPct val="120000"/>
              </a:lnSpc>
              <a:spcAft>
                <a:spcPts val="1260"/>
              </a:spcAft>
              <a:buClr>
                <a:srgbClr val="00D4AA"/>
              </a:buClr>
              <a:buFont typeface="Inter"/>
              <a:buChar char="•"/>
            </a:pPr>
            <a:r>
              <a:rPr sz="1800" b="0">
                <a:solidFill>
                  <a:srgbClr val="FFFFFF"/>
                </a:solidFill>
                <a:latin typeface="Inter"/>
              </a:rPr>
              <a:t>Check current pricing; you'll recompute with real usage in Section 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to decide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Transactions with strict data: cascaded</a:t>
            </a:r>
          </a:p>
          <a:p>
            <a:pPr marL="292608" indent="-292608">
              <a:lnSpc>
                <a:spcPct val="120000"/>
              </a:lnSpc>
              <a:spcAft>
                <a:spcPts val="1539"/>
              </a:spcAft>
              <a:buClr>
                <a:srgbClr val="00D4AA"/>
              </a:buClr>
              <a:buFont typeface="Inter"/>
              <a:buChar char="•"/>
            </a:pPr>
            <a:r>
              <a:rPr sz="2200" b="0">
                <a:solidFill>
                  <a:srgbClr val="FFFFFF"/>
                </a:solidFill>
                <a:latin typeface="Inter"/>
              </a:rPr>
              <a:t>Emotion-heavy conversation: speech-to-speech</a:t>
            </a:r>
          </a:p>
          <a:p>
            <a:pPr marL="292608" indent="-292608">
              <a:lnSpc>
                <a:spcPct val="120000"/>
              </a:lnSpc>
              <a:spcAft>
                <a:spcPts val="1539"/>
              </a:spcAft>
              <a:buClr>
                <a:srgbClr val="00D4AA"/>
              </a:buClr>
              <a:buFont typeface="Inter"/>
              <a:buChar char="•"/>
            </a:pPr>
            <a:r>
              <a:rPr sz="2200" b="0">
                <a:solidFill>
                  <a:srgbClr val="FFFFFF"/>
                </a:solidFill>
                <a:latin typeface="Inter"/>
              </a:rPr>
              <a:t>Want both: half-cascade</a:t>
            </a:r>
          </a:p>
          <a:p>
            <a:pPr marL="292608" indent="-292608">
              <a:lnSpc>
                <a:spcPct val="120000"/>
              </a:lnSpc>
              <a:spcAft>
                <a:spcPts val="1539"/>
              </a:spcAft>
              <a:buClr>
                <a:srgbClr val="00D4AA"/>
              </a:buClr>
              <a:buFont typeface="Inter"/>
              <a:buChar char="•"/>
            </a:pPr>
            <a:r>
              <a:rPr sz="2200" b="0">
                <a:solidFill>
                  <a:srgbClr val="FFFFFF"/>
                </a:solidFill>
                <a:latin typeface="Inter"/>
              </a:rPr>
              <a:t>Always: measure latency, cost and tool accuracy on your own calls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Cascaded: control, visibility, lower cost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Speech-to-speech: hears tone, fewer hops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Half-cascade: realtime ears, your own voice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latency budget: why 800 ms is the magic number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Both architectures live or die by one number, and in the next lecture you'll learn exactly where every…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AND HOW VOICE AGENTS WORK</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latency budget: why 800 ms is the magic number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Define voice-to-voice latency and explain why the human turn gap sets the target.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fast do humans take turns?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Typical gap between speakers: about 200 to 300 milliseconds</a:t>
            </a:r>
          </a:p>
          <a:p>
            <a:pPr marL="292608" indent="-292608">
              <a:lnSpc>
                <a:spcPct val="120000"/>
              </a:lnSpc>
              <a:spcAft>
                <a:spcPts val="1539"/>
              </a:spcAft>
              <a:buClr>
                <a:srgbClr val="00D4AA"/>
              </a:buClr>
              <a:buFont typeface="Inter"/>
              <a:buChar char="•"/>
            </a:pPr>
            <a:r>
              <a:rPr sz="2200" b="0">
                <a:solidFill>
                  <a:srgbClr val="FFFFFF"/>
                </a:solidFill>
                <a:latin typeface="Inter"/>
              </a:rPr>
              <a:t>Measured across many languages</a:t>
            </a:r>
          </a:p>
          <a:p>
            <a:pPr marL="292608" indent="-292608">
              <a:lnSpc>
                <a:spcPct val="120000"/>
              </a:lnSpc>
              <a:spcAft>
                <a:spcPts val="1539"/>
              </a:spcAft>
              <a:buClr>
                <a:srgbClr val="00D4AA"/>
              </a:buClr>
              <a:buFont typeface="Inter"/>
              <a:buChar char="•"/>
            </a:pPr>
            <a:r>
              <a:rPr sz="2200" b="0">
                <a:solidFill>
                  <a:srgbClr val="FFFFFF"/>
                </a:solidFill>
                <a:latin typeface="Inter"/>
              </a:rPr>
              <a:t>Past about one second, the silence feels awkward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Voice-to-voice latency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Measured from the end of the caller's speech</a:t>
            </a:r>
          </a:p>
          <a:p>
            <a:pPr marL="292608" indent="-292608">
              <a:lnSpc>
                <a:spcPct val="120000"/>
              </a:lnSpc>
              <a:spcAft>
                <a:spcPts val="1120"/>
              </a:spcAft>
              <a:buClr>
                <a:srgbClr val="00D4AA"/>
              </a:buClr>
              <a:buFont typeface="Inter"/>
              <a:buChar char="•"/>
            </a:pPr>
            <a:r>
              <a:rPr sz="1600" b="0">
                <a:solidFill>
                  <a:srgbClr val="FFFFFF"/>
                </a:solidFill>
                <a:latin typeface="Inter"/>
              </a:rPr>
              <a:t>To the first sound the caller hears</a:t>
            </a:r>
          </a:p>
          <a:p>
            <a:pPr marL="292608" indent="-292608">
              <a:lnSpc>
                <a:spcPct val="120000"/>
              </a:lnSpc>
              <a:spcAft>
                <a:spcPts val="1120"/>
              </a:spcAft>
              <a:buClr>
                <a:srgbClr val="00D4AA"/>
              </a:buClr>
              <a:buFont typeface="Inter"/>
              <a:buChar char="•"/>
            </a:pPr>
            <a:r>
              <a:rPr sz="1600" b="0">
                <a:solidFill>
                  <a:srgbClr val="FFFFFF"/>
                </a:solidFill>
                <a:latin typeface="Inter"/>
              </a:rPr>
              <a:t>Target: under one second, aim for about 800 ms</a:t>
            </a:r>
          </a:p>
        </p:txBody>
      </p:sp>
      <p:pic>
        <p:nvPicPr>
          <p:cNvPr id="6" name="Picture 5" descr="D3-latency-budget-waterfall-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3-latency-budget-waterfall.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1.4 · Where the time goes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Line item 1: network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Audio from the caller's device to your agent, and back</a:t>
            </a:r>
          </a:p>
          <a:p>
            <a:pPr marL="292608" indent="-292608">
              <a:lnSpc>
                <a:spcPct val="120000"/>
              </a:lnSpc>
              <a:spcAft>
                <a:spcPts val="1539"/>
              </a:spcAft>
              <a:buClr>
                <a:srgbClr val="00D4AA"/>
              </a:buClr>
              <a:buFont typeface="Inter"/>
              <a:buChar char="•"/>
            </a:pPr>
            <a:r>
              <a:rPr sz="2200" b="0">
                <a:solidFill>
                  <a:srgbClr val="FFFFFF"/>
                </a:solidFill>
                <a:latin typeface="Inter"/>
              </a:rPr>
              <a:t>WebRTC to a nearby region: tens of milliseconds each way</a:t>
            </a:r>
          </a:p>
          <a:p>
            <a:pPr marL="292608" indent="-292608">
              <a:lnSpc>
                <a:spcPct val="120000"/>
              </a:lnSpc>
              <a:spcAft>
                <a:spcPts val="1539"/>
              </a:spcAft>
              <a:buClr>
                <a:srgbClr val="00D4AA"/>
              </a:buClr>
              <a:buFont typeface="Inter"/>
              <a:buChar char="•"/>
            </a:pPr>
            <a:r>
              <a:rPr sz="2200" b="0">
                <a:solidFill>
                  <a:srgbClr val="FFFFFF"/>
                </a:solidFill>
                <a:latin typeface="Inter"/>
              </a:rPr>
              <a:t>Phone calls add carrier and SIP hops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Line item 2: endpointing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Deciding the caller has finished their turn</a:t>
            </a:r>
          </a:p>
          <a:p>
            <a:pPr marL="292608" indent="-292608">
              <a:lnSpc>
                <a:spcPct val="120000"/>
              </a:lnSpc>
              <a:spcAft>
                <a:spcPts val="1539"/>
              </a:spcAft>
              <a:buClr>
                <a:srgbClr val="00D4AA"/>
              </a:buClr>
              <a:buFont typeface="Inter"/>
              <a:buChar char="•"/>
            </a:pPr>
            <a:r>
              <a:rPr sz="2200" b="0">
                <a:solidFill>
                  <a:srgbClr val="FFFFFF"/>
                </a:solidFill>
                <a:latin typeface="Inter"/>
              </a:rPr>
              <a:t>Silence threshold plus the turn-detector model</a:t>
            </a:r>
          </a:p>
          <a:p>
            <a:pPr marL="292608" indent="-292608">
              <a:lnSpc>
                <a:spcPct val="120000"/>
              </a:lnSpc>
              <a:spcAft>
                <a:spcPts val="1539"/>
              </a:spcAft>
              <a:buClr>
                <a:srgbClr val="00D4AA"/>
              </a:buClr>
              <a:buFont typeface="Inter"/>
              <a:buChar char="•"/>
            </a:pPr>
            <a:r>
              <a:rPr sz="2200" b="0">
                <a:solidFill>
                  <a:srgbClr val="FFFFFF"/>
                </a:solidFill>
                <a:latin typeface="Inter"/>
              </a:rPr>
              <a:t>Usually the biggest single line item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Line item 3: STT final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Streaming STT has most of the words before the caller stops</a:t>
            </a:r>
          </a:p>
          <a:p>
            <a:pPr marL="292608" indent="-292608">
              <a:lnSpc>
                <a:spcPct val="120000"/>
              </a:lnSpc>
              <a:spcAft>
                <a:spcPts val="1539"/>
              </a:spcAft>
              <a:buClr>
                <a:srgbClr val="00D4AA"/>
              </a:buClr>
              <a:buFont typeface="Inter"/>
              <a:buChar char="•"/>
            </a:pPr>
            <a:r>
              <a:rPr sz="2200" b="0">
                <a:solidFill>
                  <a:srgbClr val="FFFFFF"/>
                </a:solidFill>
                <a:latin typeface="Inter"/>
              </a:rPr>
              <a:t>After endpointing, we wait for the final transcript</a:t>
            </a:r>
          </a:p>
          <a:p>
            <a:pPr marL="292608" indent="-292608">
              <a:lnSpc>
                <a:spcPct val="120000"/>
              </a:lnSpc>
              <a:spcAft>
                <a:spcPts val="1539"/>
              </a:spcAft>
              <a:buClr>
                <a:srgbClr val="00D4AA"/>
              </a:buClr>
              <a:buFont typeface="Inter"/>
              <a:buChar char="•"/>
            </a:pPr>
            <a:r>
              <a:rPr sz="2200" b="0">
                <a:solidFill>
                  <a:srgbClr val="FFFFFF"/>
                </a:solidFill>
                <a:latin typeface="Inter"/>
              </a:rPr>
              <a:t>Usually under about 100 ms with streaming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Line item 4: LLM time-to-first-token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TTFT: time until the model emits its first token</a:t>
            </a:r>
          </a:p>
          <a:p>
            <a:pPr marL="292608" indent="-292608">
              <a:lnSpc>
                <a:spcPct val="120000"/>
              </a:lnSpc>
              <a:spcAft>
                <a:spcPts val="1539"/>
              </a:spcAft>
              <a:buClr>
                <a:srgbClr val="00D4AA"/>
              </a:buClr>
              <a:buFont typeface="Inter"/>
              <a:buChar char="•"/>
            </a:pPr>
            <a:r>
              <a:rPr sz="2200" b="0">
                <a:solidFill>
                  <a:srgbClr val="FFFFFF"/>
                </a:solidFill>
                <a:latin typeface="Inter"/>
              </a:rPr>
              <a:t>Grows with prompt size and model size</a:t>
            </a:r>
          </a:p>
          <a:p>
            <a:pPr marL="292608" indent="-292608">
              <a:lnSpc>
                <a:spcPct val="120000"/>
              </a:lnSpc>
              <a:spcAft>
                <a:spcPts val="1539"/>
              </a:spcAft>
              <a:buClr>
                <a:srgbClr val="00D4AA"/>
              </a:buClr>
              <a:buFont typeface="Inter"/>
              <a:buChar char="•"/>
            </a:pPr>
            <a:r>
              <a:rPr sz="2200" b="0">
                <a:solidFill>
                  <a:srgbClr val="FFFFFF"/>
                </a:solidFill>
                <a:latin typeface="Inter"/>
              </a:rPr>
              <a:t>Small, fast models are your friend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Line item 5: TTS time-to-first-byte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TTFB: time until the first chunk of audio is ready</a:t>
            </a:r>
          </a:p>
          <a:p>
            <a:pPr marL="292608" indent="-292608">
              <a:lnSpc>
                <a:spcPct val="120000"/>
              </a:lnSpc>
              <a:spcAft>
                <a:spcPts val="1539"/>
              </a:spcAft>
              <a:buClr>
                <a:srgbClr val="00D4AA"/>
              </a:buClr>
              <a:buFont typeface="Inter"/>
              <a:buChar char="•"/>
            </a:pPr>
            <a:r>
              <a:rPr sz="2200" b="0">
                <a:solidFill>
                  <a:srgbClr val="FFFFFF"/>
                </a:solidFill>
                <a:latin typeface="Inter"/>
              </a:rPr>
              <a:t>Streaming TTS starts on the first sentence, not the whole reply</a:t>
            </a:r>
          </a:p>
          <a:p>
            <a:pPr marL="292608" indent="-292608">
              <a:lnSpc>
                <a:spcPct val="120000"/>
              </a:lnSpc>
              <a:spcAft>
                <a:spcPts val="1539"/>
              </a:spcAft>
              <a:buClr>
                <a:srgbClr val="00D4AA"/>
              </a:buClr>
              <a:buFont typeface="Inter"/>
              <a:buChar char="•"/>
            </a:pPr>
            <a:r>
              <a:rPr sz="2200" b="0">
                <a:solidFill>
                  <a:srgbClr val="FFFFFF"/>
                </a:solidFill>
                <a:latin typeface="Inter"/>
              </a:rPr>
              <a:t>Short first sentences start speaking sooner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 example budget under one second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40" cy="3072384"/>
        </p:xfrm>
        <a:graphic>
          <a:graphicData uri="http://schemas.openxmlformats.org/drawingml/2006/table">
            <a:tbl>
              <a:tblPr firstRow="1" bandRow="1">
                <a:tableStyleId>{5C22544A-7EE6-4342-B048-85BDC9FD1C3A}</a:tableStyleId>
              </a:tblPr>
              <a:tblGrid>
                <a:gridCol w="7528560"/>
                <a:gridCol w="3764280"/>
              </a:tblGrid>
              <a:tr h="384048">
                <a:tc>
                  <a:txBody>
                    <a:bodyPr wrap="square"/>
                    <a:lstStyle/>
                    <a:p>
                      <a:r>
                        <a:rPr sz="1200" b="1">
                          <a:solidFill>
                            <a:srgbClr val="0A1628"/>
                          </a:solidFill>
                          <a:latin typeface="Inter"/>
                        </a:rPr>
                        <a:t>Stage</a:t>
                      </a:r>
                    </a:p>
                  </a:txBody>
                  <a:tcPr marL="91440" marR="91440" marT="45720" marB="45720" anchor="ctr">
                    <a:solidFill>
                      <a:srgbClr val="00D4AA"/>
                    </a:solidFill>
                  </a:tcPr>
                </a:tc>
                <a:tc>
                  <a:txBody>
                    <a:bodyPr wrap="square"/>
                    <a:lstStyle/>
                    <a:p>
                      <a:r>
                        <a:rPr sz="1200" b="1">
                          <a:solidFill>
                            <a:srgbClr val="0A1628"/>
                          </a:solidFill>
                          <a:latin typeface="Inter"/>
                        </a:rPr>
                        <a:t>Example budget</a:t>
                      </a:r>
                    </a:p>
                  </a:txBody>
                  <a:tcPr marL="91440" marR="91440" marT="45720" marB="45720" anchor="ctr">
                    <a:solidFill>
                      <a:srgbClr val="00D4AA"/>
                    </a:solidFill>
                  </a:tcPr>
                </a:tc>
              </a:tr>
              <a:tr h="384048">
                <a:tc>
                  <a:txBody>
                    <a:bodyPr wrap="square"/>
                    <a:lstStyle/>
                    <a:p>
                      <a:r>
                        <a:rPr sz="1200" b="1">
                          <a:solidFill>
                            <a:srgbClr val="FFFFFF"/>
                          </a:solidFill>
                          <a:latin typeface="Inter"/>
                        </a:rPr>
                        <a:t>Network in (caller → agent)</a:t>
                      </a:r>
                    </a:p>
                  </a:txBody>
                  <a:tcPr marL="91440" marR="91440" marT="45720" marB="45720" anchor="ctr">
                    <a:solidFill>
                      <a:srgbClr val="1A2742"/>
                    </a:solidFill>
                  </a:tcPr>
                </a:tc>
                <a:tc>
                  <a:txBody>
                    <a:bodyPr wrap="square"/>
                    <a:lstStyle/>
                    <a:p>
                      <a:r>
                        <a:rPr sz="1200" b="0">
                          <a:solidFill>
                            <a:srgbClr val="FFFFFF"/>
                          </a:solidFill>
                          <a:latin typeface="Inter"/>
                        </a:rPr>
                        <a:t>40 ms</a:t>
                      </a:r>
                    </a:p>
                  </a:txBody>
                  <a:tcPr marL="91440" marR="91440" marT="45720" marB="45720" anchor="ctr">
                    <a:solidFill>
                      <a:srgbClr val="1A2742"/>
                    </a:solidFill>
                  </a:tcPr>
                </a:tc>
              </a:tr>
              <a:tr h="384048">
                <a:tc>
                  <a:txBody>
                    <a:bodyPr wrap="square"/>
                    <a:lstStyle/>
                    <a:p>
                      <a:r>
                        <a:rPr sz="1200" b="1">
                          <a:solidFill>
                            <a:srgbClr val="FFFFFF"/>
                          </a:solidFill>
                          <a:latin typeface="Inter"/>
                        </a:rPr>
                        <a:t>Endpointing (turn detection)</a:t>
                      </a:r>
                    </a:p>
                  </a:txBody>
                  <a:tcPr marL="91440" marR="91440" marT="45720" marB="45720" anchor="ctr">
                    <a:solidFill>
                      <a:srgbClr val="0F1E35"/>
                    </a:solidFill>
                  </a:tcPr>
                </a:tc>
                <a:tc>
                  <a:txBody>
                    <a:bodyPr wrap="square"/>
                    <a:lstStyle/>
                    <a:p>
                      <a:r>
                        <a:rPr sz="1200" b="0">
                          <a:solidFill>
                            <a:srgbClr val="FFFFFF"/>
                          </a:solidFill>
                          <a:latin typeface="Inter"/>
                        </a:rPr>
                        <a:t>250 ms</a:t>
                      </a:r>
                    </a:p>
                  </a:txBody>
                  <a:tcPr marL="91440" marR="91440" marT="45720" marB="45720" anchor="ctr">
                    <a:solidFill>
                      <a:srgbClr val="0F1E35"/>
                    </a:solidFill>
                  </a:tcPr>
                </a:tc>
              </a:tr>
              <a:tr h="384048">
                <a:tc>
                  <a:txBody>
                    <a:bodyPr wrap="square"/>
                    <a:lstStyle/>
                    <a:p>
                      <a:r>
                        <a:rPr sz="1200" b="1">
                          <a:solidFill>
                            <a:srgbClr val="FFFFFF"/>
                          </a:solidFill>
                          <a:latin typeface="Inter"/>
                        </a:rPr>
                        <a:t>STT final transcript</a:t>
                      </a:r>
                    </a:p>
                  </a:txBody>
                  <a:tcPr marL="91440" marR="91440" marT="45720" marB="45720" anchor="ctr">
                    <a:solidFill>
                      <a:srgbClr val="1A2742"/>
                    </a:solidFill>
                  </a:tcPr>
                </a:tc>
                <a:tc>
                  <a:txBody>
                    <a:bodyPr wrap="square"/>
                    <a:lstStyle/>
                    <a:p>
                      <a:r>
                        <a:rPr sz="1200" b="0">
                          <a:solidFill>
                            <a:srgbClr val="FFFFFF"/>
                          </a:solidFill>
                          <a:latin typeface="Inter"/>
                        </a:rPr>
                        <a:t>80 ms</a:t>
                      </a:r>
                    </a:p>
                  </a:txBody>
                  <a:tcPr marL="91440" marR="91440" marT="45720" marB="45720" anchor="ctr">
                    <a:solidFill>
                      <a:srgbClr val="1A2742"/>
                    </a:solidFill>
                  </a:tcPr>
                </a:tc>
              </a:tr>
              <a:tr h="384048">
                <a:tc>
                  <a:txBody>
                    <a:bodyPr wrap="square"/>
                    <a:lstStyle/>
                    <a:p>
                      <a:r>
                        <a:rPr sz="1200" b="1">
                          <a:solidFill>
                            <a:srgbClr val="FFFFFF"/>
                          </a:solidFill>
                          <a:latin typeface="Inter"/>
                        </a:rPr>
                        <a:t>LLM time-to-first-token</a:t>
                      </a:r>
                    </a:p>
                  </a:txBody>
                  <a:tcPr marL="91440" marR="91440" marT="45720" marB="45720" anchor="ctr">
                    <a:solidFill>
                      <a:srgbClr val="0F1E35"/>
                    </a:solidFill>
                  </a:tcPr>
                </a:tc>
                <a:tc>
                  <a:txBody>
                    <a:bodyPr wrap="square"/>
                    <a:lstStyle/>
                    <a:p>
                      <a:r>
                        <a:rPr sz="1200" b="0">
                          <a:solidFill>
                            <a:srgbClr val="FFFFFF"/>
                          </a:solidFill>
                          <a:latin typeface="Inter"/>
                        </a:rPr>
                        <a:t>280 ms</a:t>
                      </a:r>
                    </a:p>
                  </a:txBody>
                  <a:tcPr marL="91440" marR="91440" marT="45720" marB="45720" anchor="ctr">
                    <a:solidFill>
                      <a:srgbClr val="0F1E35"/>
                    </a:solidFill>
                  </a:tcPr>
                </a:tc>
              </a:tr>
              <a:tr h="384048">
                <a:tc>
                  <a:txBody>
                    <a:bodyPr wrap="square"/>
                    <a:lstStyle/>
                    <a:p>
                      <a:r>
                        <a:rPr sz="1200" b="1">
                          <a:solidFill>
                            <a:srgbClr val="FFFFFF"/>
                          </a:solidFill>
                          <a:latin typeface="Inter"/>
                        </a:rPr>
                        <a:t>TTS time-to-first-byte</a:t>
                      </a:r>
                    </a:p>
                  </a:txBody>
                  <a:tcPr marL="91440" marR="91440" marT="45720" marB="45720" anchor="ctr">
                    <a:solidFill>
                      <a:srgbClr val="1A2742"/>
                    </a:solidFill>
                  </a:tcPr>
                </a:tc>
                <a:tc>
                  <a:txBody>
                    <a:bodyPr wrap="square"/>
                    <a:lstStyle/>
                    <a:p>
                      <a:r>
                        <a:rPr sz="1200" b="0">
                          <a:solidFill>
                            <a:srgbClr val="FFFFFF"/>
                          </a:solidFill>
                          <a:latin typeface="Inter"/>
                        </a:rPr>
                        <a:t>110 ms</a:t>
                      </a:r>
                    </a:p>
                  </a:txBody>
                  <a:tcPr marL="91440" marR="91440" marT="45720" marB="45720" anchor="ctr">
                    <a:solidFill>
                      <a:srgbClr val="1A2742"/>
                    </a:solidFill>
                  </a:tcPr>
                </a:tc>
              </a:tr>
              <a:tr h="384048">
                <a:tc>
                  <a:txBody>
                    <a:bodyPr wrap="square"/>
                    <a:lstStyle/>
                    <a:p>
                      <a:r>
                        <a:rPr sz="1200" b="1">
                          <a:solidFill>
                            <a:srgbClr val="FFFFFF"/>
                          </a:solidFill>
                          <a:latin typeface="Inter"/>
                        </a:rPr>
                        <a:t>Network out (agent → caller)</a:t>
                      </a:r>
                    </a:p>
                  </a:txBody>
                  <a:tcPr marL="91440" marR="91440" marT="45720" marB="45720" anchor="ctr">
                    <a:solidFill>
                      <a:srgbClr val="0F1E35"/>
                    </a:solidFill>
                  </a:tcPr>
                </a:tc>
                <a:tc>
                  <a:txBody>
                    <a:bodyPr wrap="square"/>
                    <a:lstStyle/>
                    <a:p>
                      <a:r>
                        <a:rPr sz="1200" b="0">
                          <a:solidFill>
                            <a:srgbClr val="FFFFFF"/>
                          </a:solidFill>
                          <a:latin typeface="Inter"/>
                        </a:rPr>
                        <a:t>40 ms</a:t>
                      </a:r>
                    </a:p>
                  </a:txBody>
                  <a:tcPr marL="91440" marR="91440" marT="45720" marB="45720" anchor="ctr">
                    <a:solidFill>
                      <a:srgbClr val="0F1E35"/>
                    </a:solidFill>
                  </a:tcPr>
                </a:tc>
              </a:tr>
              <a:tr h="384048">
                <a:tc>
                  <a:txBody>
                    <a:bodyPr wrap="square"/>
                    <a:lstStyle/>
                    <a:p>
                      <a:r>
                        <a:rPr sz="1200" b="1">
                          <a:solidFill>
                            <a:srgbClr val="FFFFFF"/>
                          </a:solidFill>
                          <a:latin typeface="Inter"/>
                        </a:rPr>
                        <a:t>Total voice-to-voice</a:t>
                      </a:r>
                    </a:p>
                  </a:txBody>
                  <a:tcPr marL="91440" marR="91440" marT="45720" marB="45720" anchor="ctr">
                    <a:solidFill>
                      <a:srgbClr val="1A2742"/>
                    </a:solidFill>
                  </a:tcPr>
                </a:tc>
                <a:tc>
                  <a:txBody>
                    <a:bodyPr wrap="square"/>
                    <a:lstStyle/>
                    <a:p>
                      <a:r>
                        <a:rPr sz="1200" b="0">
                          <a:solidFill>
                            <a:srgbClr val="FFFFFF"/>
                          </a:solidFill>
                          <a:latin typeface="Inter"/>
                        </a:rPr>
                        <a:t>800 ms</a:t>
                      </a:r>
                    </a:p>
                  </a:txBody>
                  <a:tcPr marL="91440" marR="91440" marT="45720" marB="45720" anchor="ctr">
                    <a:solidFill>
                      <a:srgbClr val="1A2742"/>
                    </a:solidFill>
                  </a:tcPr>
                </a:tc>
              </a:tr>
            </a:tbl>
          </a:graphicData>
        </a:graphic>
      </p:graphicFrame>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Example numbers for illustration. You'll measure your own in Sections 9 and 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blows the budget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Tool calls: +300 to +1,500 ms (fix: filler speech, Section 5)</a:t>
            </a:r>
          </a:p>
          <a:p>
            <a:pPr marL="292608" indent="-292608">
              <a:lnSpc>
                <a:spcPct val="120000"/>
              </a:lnSpc>
              <a:spcAft>
                <a:spcPts val="1260"/>
              </a:spcAft>
              <a:buClr>
                <a:srgbClr val="00D4AA"/>
              </a:buClr>
              <a:buFont typeface="Inter"/>
              <a:buChar char="•"/>
            </a:pPr>
            <a:r>
              <a:rPr sz="1800" b="0">
                <a:solidFill>
                  <a:srgbClr val="FFFFFF"/>
                </a:solidFill>
                <a:latin typeface="Inter"/>
              </a:rPr>
              <a:t>Long prompts and big models: slower TTFT (fix: smaller model, retrieval)</a:t>
            </a:r>
          </a:p>
          <a:p>
            <a:pPr marL="292608" indent="-292608">
              <a:lnSpc>
                <a:spcPct val="120000"/>
              </a:lnSpc>
              <a:spcAft>
                <a:spcPts val="1260"/>
              </a:spcAft>
              <a:buClr>
                <a:srgbClr val="00D4AA"/>
              </a:buClr>
              <a:buFont typeface="Inter"/>
              <a:buChar char="•"/>
            </a:pPr>
            <a:r>
              <a:rPr sz="1800" b="0">
                <a:solidFill>
                  <a:srgbClr val="FFFFFF"/>
                </a:solidFill>
                <a:latin typeface="Inter"/>
              </a:rPr>
              <a:t>Cautious endpointing: +500 ms per turn (fix: tuning, Section 3)</a:t>
            </a:r>
          </a:p>
          <a:p>
            <a:pPr marL="292608" indent="-292608">
              <a:lnSpc>
                <a:spcPct val="120000"/>
              </a:lnSpc>
              <a:spcAft>
                <a:spcPts val="1260"/>
              </a:spcAft>
              <a:buClr>
                <a:srgbClr val="00D4AA"/>
              </a:buClr>
              <a:buFont typeface="Inter"/>
              <a:buChar char="•"/>
            </a:pPr>
            <a:r>
              <a:rPr sz="1800" b="0">
                <a:solidFill>
                  <a:srgbClr val="FFFFFF"/>
                </a:solidFill>
                <a:latin typeface="Inter"/>
              </a:rPr>
              <a:t>Far-away regions: +100 to +300 ms (fix: deploy near callers, Section 12)</a:t>
            </a:r>
          </a:p>
          <a:p>
            <a:pPr marL="292608" indent="-292608">
              <a:lnSpc>
                <a:spcPct val="120000"/>
              </a:lnSpc>
              <a:spcAft>
                <a:spcPts val="1260"/>
              </a:spcAft>
              <a:buClr>
                <a:srgbClr val="00D4AA"/>
              </a:buClr>
              <a:buFont typeface="Inter"/>
              <a:buChar char="•"/>
            </a:pPr>
            <a:r>
              <a:rPr sz="1800" b="0">
                <a:solidFill>
                  <a:srgbClr val="FFFFFF"/>
                </a:solidFill>
                <a:latin typeface="Inter"/>
              </a:rPr>
              <a:t>Averages hide pain: watch p95, not just p50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we'll measure it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LiveKit emits metrics every turn: </a:t>
            </a:r>
            <a:r>
              <a:rPr sz="2024" b="0">
                <a:solidFill>
                  <a:srgbClr val="00D4AA"/>
                </a:solidFill>
                <a:latin typeface="JetBrains Mono"/>
              </a:rPr>
              <a:t>end_of_utterance_delay</a:t>
            </a:r>
            <a:r>
              <a:rPr sz="2200" b="0">
                <a:solidFill>
                  <a:srgbClr val="FFFFFF"/>
                </a:solidFill>
                <a:latin typeface="Inter"/>
              </a:rPr>
              <a:t>, </a:t>
            </a:r>
            <a:r>
              <a:rPr sz="2024" b="0">
                <a:solidFill>
                  <a:srgbClr val="00D4AA"/>
                </a:solidFill>
                <a:latin typeface="JetBrains Mono"/>
              </a:rPr>
              <a:t>transcription_delay</a:t>
            </a:r>
            <a:r>
              <a:rPr sz="2200" b="0">
                <a:solidFill>
                  <a:srgbClr val="FFFFFF"/>
                </a:solidFill>
                <a:latin typeface="Inter"/>
              </a:rPr>
              <a:t>, LLM </a:t>
            </a:r>
            <a:r>
              <a:rPr sz="2024" b="0">
                <a:solidFill>
                  <a:srgbClr val="00D4AA"/>
                </a:solidFill>
                <a:latin typeface="JetBrains Mono"/>
              </a:rPr>
              <a:t>ttft</a:t>
            </a:r>
            <a:r>
              <a:rPr sz="2200" b="0">
                <a:solidFill>
                  <a:srgbClr val="FFFFFF"/>
                </a:solidFill>
                <a:latin typeface="Inter"/>
              </a:rPr>
              <a:t>, TTS </a:t>
            </a:r>
            <a:r>
              <a:rPr sz="2024" b="0">
                <a:solidFill>
                  <a:srgbClr val="00D4AA"/>
                </a:solidFill>
                <a:latin typeface="JetBrains Mono"/>
              </a:rPr>
              <a:t>ttfb</a:t>
            </a:r>
          </a:p>
          <a:p>
            <a:pPr marL="292608" indent="-292608">
              <a:lnSpc>
                <a:spcPct val="120000"/>
              </a:lnSpc>
              <a:spcAft>
                <a:spcPts val="1539"/>
              </a:spcAft>
              <a:buClr>
                <a:srgbClr val="00D4AA"/>
              </a:buClr>
              <a:buFont typeface="Inter"/>
              <a:buChar char="•"/>
            </a:pPr>
            <a:r>
              <a:rPr sz="2200" b="0">
                <a:solidFill>
                  <a:srgbClr val="FFFFFF"/>
                </a:solidFill>
                <a:latin typeface="Inter"/>
              </a:rPr>
              <a:t>Section 9: fail a test if p95 exceeds the budget</a:t>
            </a:r>
          </a:p>
          <a:p>
            <a:pPr marL="292608" indent="-292608">
              <a:lnSpc>
                <a:spcPct val="120000"/>
              </a:lnSpc>
              <a:spcAft>
                <a:spcPts val="1539"/>
              </a:spcAft>
              <a:buClr>
                <a:srgbClr val="00D4AA"/>
              </a:buClr>
              <a:buFont typeface="Inter"/>
              <a:buChar char="•"/>
            </a:pPr>
            <a:r>
              <a:rPr sz="2200" b="0">
                <a:solidFill>
                  <a:srgbClr val="FFFFFF"/>
                </a:solidFill>
                <a:latin typeface="Inter"/>
              </a:rPr>
              <a:t>Section 10: dashboards and alerts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Clock runs from caller silence to first sound</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Five line items; endpointing is usually biggest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Aim for about 800 ms, and watch p95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Course roadmap, repo tour and how to get help</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now know what you're building and the number it has to hit, so next let's tour the…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AND HOW VOICE AGENTS WORK</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Course roadmap, repo tour and how to get help</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Describe the course path from first agent to production deployment.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roadmap: Build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S1 Welcome and how voice agents work</a:t>
            </a:r>
          </a:p>
          <a:p>
            <a:pPr marL="292608" indent="-292608">
              <a:lnSpc>
                <a:spcPct val="120000"/>
              </a:lnSpc>
              <a:spcAft>
                <a:spcPts val="1539"/>
              </a:spcAft>
              <a:buClr>
                <a:srgbClr val="00D4AA"/>
              </a:buClr>
              <a:buFont typeface="Inter"/>
              <a:buChar char="•"/>
            </a:pPr>
            <a:r>
              <a:rPr sz="2200" b="0">
                <a:solidFill>
                  <a:srgbClr val="FFFFFF"/>
                </a:solidFill>
                <a:latin typeface="Inter"/>
              </a:rPr>
              <a:t>S2 Setup: accounts, keys, dev environment</a:t>
            </a:r>
          </a:p>
          <a:p>
            <a:pPr marL="292608" indent="-292608">
              <a:lnSpc>
                <a:spcPct val="120000"/>
              </a:lnSpc>
              <a:spcAft>
                <a:spcPts val="1539"/>
              </a:spcAft>
              <a:buClr>
                <a:srgbClr val="00D4AA"/>
              </a:buClr>
              <a:buFont typeface="Inter"/>
              <a:buChar char="•"/>
            </a:pPr>
            <a:r>
              <a:rPr sz="2200" b="0">
                <a:solidFill>
                  <a:srgbClr val="FFFFFF"/>
                </a:solidFill>
                <a:latin typeface="Inter"/>
              </a:rPr>
              <a:t>S3 Your first voice agent</a:t>
            </a:r>
          </a:p>
          <a:p>
            <a:pPr marL="292608" indent="-292608">
              <a:lnSpc>
                <a:spcPct val="120000"/>
              </a:lnSpc>
              <a:spcAft>
                <a:spcPts val="1539"/>
              </a:spcAft>
              <a:buClr>
                <a:srgbClr val="00D4AA"/>
              </a:buClr>
              <a:buFont typeface="Inter"/>
              <a:buChar char="•"/>
            </a:pPr>
            <a:r>
              <a:rPr sz="2200" b="0">
                <a:solidFill>
                  <a:srgbClr val="FFFFFF"/>
                </a:solidFill>
                <a:latin typeface="Inter"/>
              </a:rPr>
              <a:t>S4 Prompting for the ear</a:t>
            </a:r>
          </a:p>
          <a:p>
            <a:pPr marL="292608" indent="-292608">
              <a:lnSpc>
                <a:spcPct val="120000"/>
              </a:lnSpc>
              <a:spcAft>
                <a:spcPts val="1539"/>
              </a:spcAft>
              <a:buClr>
                <a:srgbClr val="00D4AA"/>
              </a:buClr>
              <a:buFont typeface="Inter"/>
              <a:buChar char="•"/>
            </a:pPr>
            <a:r>
              <a:rPr sz="2200" b="0">
                <a:solidFill>
                  <a:srgbClr val="FFFFFF"/>
                </a:solidFill>
                <a:latin typeface="Inter"/>
              </a:rPr>
              <a:t>S5 Tools: booking, rescheduling, cancelling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roadmap: Build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S6 Speech-to-speech with OpenAI Realtime</a:t>
            </a:r>
          </a:p>
          <a:p>
            <a:pPr marL="292608" indent="-292608">
              <a:lnSpc>
                <a:spcPct val="120000"/>
              </a:lnSpc>
              <a:spcAft>
                <a:spcPts val="1539"/>
              </a:spcAft>
              <a:buClr>
                <a:srgbClr val="00D4AA"/>
              </a:buClr>
              <a:buFont typeface="Inter"/>
              <a:buChar char="•"/>
            </a:pPr>
            <a:r>
              <a:rPr sz="2200" b="0">
                <a:solidFill>
                  <a:srgbClr val="FFFFFF"/>
                </a:solidFill>
                <a:latin typeface="Inter"/>
              </a:rPr>
              <a:t>S7 Knowledge and multi-agent handoffs</a:t>
            </a:r>
          </a:p>
          <a:p>
            <a:pPr marL="292608" indent="-292608">
              <a:lnSpc>
                <a:spcPct val="120000"/>
              </a:lnSpc>
              <a:spcAft>
                <a:spcPts val="1539"/>
              </a:spcAft>
              <a:buClr>
                <a:srgbClr val="00D4AA"/>
              </a:buClr>
              <a:buFont typeface="Inter"/>
              <a:buChar char="•"/>
            </a:pPr>
            <a:r>
              <a:rPr sz="2200" b="0">
                <a:solidFill>
                  <a:srgbClr val="FFFFFF"/>
                </a:solidFill>
                <a:latin typeface="Inter"/>
              </a:rPr>
              <a:t>S8 Telephony: a real phone number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roadmap: Test and Operate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S9 Testing and evaluating voice agents (signature section)</a:t>
            </a:r>
          </a:p>
          <a:p>
            <a:pPr marL="292608" indent="-292608">
              <a:lnSpc>
                <a:spcPct val="120000"/>
              </a:lnSpc>
              <a:spcAft>
                <a:spcPts val="1539"/>
              </a:spcAft>
              <a:buClr>
                <a:srgbClr val="00D4AA"/>
              </a:buClr>
              <a:buFont typeface="Inter"/>
              <a:buChar char="•"/>
            </a:pPr>
            <a:r>
              <a:rPr sz="2200" b="0">
                <a:solidFill>
                  <a:srgbClr val="FFFFFF"/>
                </a:solidFill>
                <a:latin typeface="Inter"/>
              </a:rPr>
              <a:t>S10 Observability, latency and cost</a:t>
            </a:r>
          </a:p>
          <a:p>
            <a:pPr marL="292608" indent="-292608">
              <a:lnSpc>
                <a:spcPct val="120000"/>
              </a:lnSpc>
              <a:spcAft>
                <a:spcPts val="1539"/>
              </a:spcAft>
              <a:buClr>
                <a:srgbClr val="00D4AA"/>
              </a:buClr>
              <a:buFont typeface="Inter"/>
              <a:buChar char="•"/>
            </a:pPr>
            <a:r>
              <a:rPr sz="2200" b="0">
                <a:solidFill>
                  <a:srgbClr val="FFFFFF"/>
                </a:solidFill>
                <a:latin typeface="Inter"/>
              </a:rPr>
              <a:t>S11 Security, safety and guardrails</a:t>
            </a:r>
          </a:p>
          <a:p>
            <a:pPr marL="292608" indent="-292608">
              <a:lnSpc>
                <a:spcPct val="120000"/>
              </a:lnSpc>
              <a:spcAft>
                <a:spcPts val="1539"/>
              </a:spcAft>
              <a:buClr>
                <a:srgbClr val="00D4AA"/>
              </a:buClr>
              <a:buFont typeface="Inter"/>
              <a:buChar char="•"/>
            </a:pPr>
            <a:r>
              <a:rPr sz="2200" b="0">
                <a:solidFill>
                  <a:srgbClr val="FFFFFF"/>
                </a:solidFill>
                <a:latin typeface="Inter"/>
              </a:rPr>
              <a:t>S12 Deploying to production</a:t>
            </a:r>
          </a:p>
          <a:p>
            <a:pPr marL="292608" indent="-292608">
              <a:lnSpc>
                <a:spcPct val="120000"/>
              </a:lnSpc>
              <a:spcAft>
                <a:spcPts val="1539"/>
              </a:spcAft>
              <a:buClr>
                <a:srgbClr val="00D4AA"/>
              </a:buClr>
              <a:buFont typeface="Inter"/>
              <a:buChar char="•"/>
            </a:pPr>
            <a:r>
              <a:rPr sz="2200" b="0">
                <a:solidFill>
                  <a:srgbClr val="FFFFFF"/>
                </a:solidFill>
                <a:latin typeface="Inter"/>
              </a:rPr>
              <a:t>S13 Capstone: Riley, production receptionist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roadmap: Test and Operate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S14 Pipecat and choosing your stack</a:t>
            </a:r>
          </a:p>
          <a:p>
            <a:pPr marL="292608" indent="-292608">
              <a:lnSpc>
                <a:spcPct val="120000"/>
              </a:lnSpc>
              <a:spcAft>
                <a:spcPts val="1539"/>
              </a:spcAft>
              <a:buClr>
                <a:srgbClr val="00D4AA"/>
              </a:buClr>
              <a:buFont typeface="Inter"/>
              <a:buChar char="•"/>
            </a:pPr>
            <a:r>
              <a:rPr sz="2200" b="0">
                <a:solidFill>
                  <a:srgbClr val="FFFFFF"/>
                </a:solidFill>
                <a:latin typeface="Inter"/>
              </a:rPr>
              <a:t>S15 Wrap-up and next steps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to ask a question that gets answered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Lecture number, for example "3.3"</a:t>
            </a:r>
          </a:p>
          <a:p>
            <a:pPr marL="292608" indent="-292608">
              <a:lnSpc>
                <a:spcPct val="120000"/>
              </a:lnSpc>
              <a:spcAft>
                <a:spcPts val="1539"/>
              </a:spcAft>
              <a:buClr>
                <a:srgbClr val="00D4AA"/>
              </a:buClr>
              <a:buFont typeface="Inter"/>
              <a:buChar char="•"/>
            </a:pPr>
            <a:r>
              <a:rPr sz="2200" b="0">
                <a:solidFill>
                  <a:srgbClr val="FFFFFF"/>
                </a:solidFill>
                <a:latin typeface="Inter"/>
              </a:rPr>
              <a:t>The exact command you ran</a:t>
            </a:r>
          </a:p>
          <a:p>
            <a:pPr marL="292608" indent="-292608">
              <a:lnSpc>
                <a:spcPct val="120000"/>
              </a:lnSpc>
              <a:spcAft>
                <a:spcPts val="1539"/>
              </a:spcAft>
              <a:buClr>
                <a:srgbClr val="00D4AA"/>
              </a:buClr>
              <a:buFont typeface="Inter"/>
              <a:buChar char="•"/>
            </a:pPr>
            <a:r>
              <a:rPr sz="2200" b="0">
                <a:solidFill>
                  <a:srgbClr val="FFFFFF"/>
                </a:solidFill>
                <a:latin typeface="Inter"/>
              </a:rPr>
              <a:t>The full error text, not a screenshot of half of it</a:t>
            </a:r>
          </a:p>
          <a:p>
            <a:pPr marL="292608" indent="-292608">
              <a:lnSpc>
                <a:spcPct val="120000"/>
              </a:lnSpc>
              <a:spcAft>
                <a:spcPts val="1539"/>
              </a:spcAft>
              <a:buClr>
                <a:srgbClr val="00D4AA"/>
              </a:buClr>
              <a:buFont typeface="Inter"/>
              <a:buChar char="•"/>
            </a:pPr>
            <a:r>
              <a:rPr sz="2200" b="0">
                <a:solidFill>
                  <a:srgbClr val="FFFFFF"/>
                </a:solidFill>
                <a:latin typeface="Inter"/>
              </a:rPr>
              <a:t>Your OS, Python version and </a:t>
            </a:r>
            <a:r>
              <a:rPr sz="2024" b="0">
                <a:solidFill>
                  <a:srgbClr val="00D4AA"/>
                </a:solidFill>
                <a:latin typeface="JetBrains Mono"/>
              </a:rPr>
              <a:t>livekit-agents</a:t>
            </a:r>
            <a:r>
              <a:rPr sz="2200" b="0">
                <a:solidFill>
                  <a:srgbClr val="FFFFFF"/>
                </a:solidFill>
                <a:latin typeface="Inter"/>
              </a:rPr>
              <a:t> version (</a:t>
            </a:r>
            <a:r>
              <a:rPr sz="2024" b="0">
                <a:solidFill>
                  <a:srgbClr val="00D4AA"/>
                </a:solidFill>
                <a:latin typeface="JetBrains Mono"/>
              </a:rPr>
              <a:t>uv pip show livekit-agents</a:t>
            </a:r>
            <a:r>
              <a:rPr sz="2200" b="0">
                <a:solidFill>
                  <a:srgbClr val="FFFFFF"/>
                </a:solidFill>
                <a:latin typeface="Inter"/>
              </a:rPr>
              <a:t>)</a:t>
            </a:r>
          </a:p>
          <a:p>
            <a:pPr marL="292608" indent="-292608">
              <a:lnSpc>
                <a:spcPct val="120000"/>
              </a:lnSpc>
              <a:spcAft>
                <a:spcPts val="1539"/>
              </a:spcAft>
              <a:buClr>
                <a:srgbClr val="00D4AA"/>
              </a:buClr>
              <a:buFont typeface="Inter"/>
              <a:buChar char="•"/>
            </a:pPr>
            <a:r>
              <a:rPr sz="2200" b="0">
                <a:solidFill>
                  <a:srgbClr val="FFFFFF"/>
                </a:solidFill>
                <a:latin typeface="Inter"/>
              </a:rPr>
              <a:t>What you already tried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to use labs, projects and quizzes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Labs: short, guided, checklist style. Do them right after the lecture.</a:t>
            </a:r>
          </a:p>
          <a:p>
            <a:pPr marL="292608" indent="-292608">
              <a:lnSpc>
                <a:spcPct val="120000"/>
              </a:lnSpc>
              <a:spcAft>
                <a:spcPts val="1539"/>
              </a:spcAft>
              <a:buClr>
                <a:srgbClr val="00D4AA"/>
              </a:buClr>
              <a:buFont typeface="Inter"/>
              <a:buChar char="•"/>
            </a:pPr>
            <a:r>
              <a:rPr sz="2200" b="0">
                <a:solidFill>
                  <a:srgbClr val="FFFFFF"/>
                </a:solidFill>
                <a:latin typeface="Inter"/>
              </a:rPr>
              <a:t>Projects: open-ended. Build, record a demo, share it.</a:t>
            </a:r>
          </a:p>
          <a:p>
            <a:pPr marL="292608" indent="-292608">
              <a:lnSpc>
                <a:spcPct val="120000"/>
              </a:lnSpc>
              <a:spcAft>
                <a:spcPts val="1539"/>
              </a:spcAft>
              <a:buClr>
                <a:srgbClr val="00D4AA"/>
              </a:buClr>
              <a:buFont typeface="Inter"/>
              <a:buChar char="•"/>
            </a:pPr>
            <a:r>
              <a:rPr sz="2200" b="0">
                <a:solidFill>
                  <a:srgbClr val="FFFFFF"/>
                </a:solidFill>
                <a:latin typeface="Inter"/>
              </a:rPr>
              <a:t>Quizzes: check understanding before moving 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Fifteen sections: build, test, operate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Repo layers: </a:t>
            </a:r>
            <a:r>
              <a:rPr sz="1656" b="0">
                <a:solidFill>
                  <a:srgbClr val="00D4AA"/>
                </a:solidFill>
                <a:latin typeface="JetBrains Mono"/>
              </a:rPr>
              <a:t>src/maple</a:t>
            </a:r>
            <a:r>
              <a:rPr sz="1800" b="1">
                <a:solidFill>
                  <a:srgbClr val="FFFFFF"/>
                </a:solidFill>
                <a:latin typeface="Inter"/>
              </a:rPr>
              <a:t>, </a:t>
            </a:r>
            <a:r>
              <a:rPr sz="1656" b="0">
                <a:solidFill>
                  <a:srgbClr val="00D4AA"/>
                </a:solidFill>
                <a:latin typeface="JetBrains Mono"/>
              </a:rPr>
              <a:t>agents</a:t>
            </a:r>
            <a:r>
              <a:rPr sz="1800" b="1">
                <a:solidFill>
                  <a:srgbClr val="FFFFFF"/>
                </a:solidFill>
                <a:latin typeface="Inter"/>
              </a:rPr>
              <a:t>, </a:t>
            </a:r>
            <a:r>
              <a:rPr sz="1656" b="0">
                <a:solidFill>
                  <a:srgbClr val="00D4AA"/>
                </a:solidFill>
                <a:latin typeface="JetBrains Mono"/>
              </a:rPr>
              <a:t>tests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Good questions: lecture, command, full error, versions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Name the seven parts of a voice pipeline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Choose cascaded, speech-to-speech or half-cascade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a latency budget and find the biggest lever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Voice agent fundamentals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we set anything up, a quick quiz to lock in how voice agents work.</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AND HOW VOICE AGENTS WORK</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Voice agent fundamentals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pipeline components, architectures and the latency budget.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1 quiz: what's covered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seven components of a voice pipeline</a:t>
            </a:r>
          </a:p>
          <a:p>
            <a:pPr marL="292608" indent="-292608">
              <a:lnSpc>
                <a:spcPct val="120000"/>
              </a:lnSpc>
              <a:spcAft>
                <a:spcPts val="1539"/>
              </a:spcAft>
              <a:buClr>
                <a:srgbClr val="00D4AA"/>
              </a:buClr>
              <a:buFont typeface="Inter"/>
              <a:buChar char="•"/>
            </a:pPr>
            <a:r>
              <a:rPr sz="2200" b="0">
                <a:solidFill>
                  <a:srgbClr val="FFFFFF"/>
                </a:solidFill>
                <a:latin typeface="Inter"/>
              </a:rPr>
              <a:t>VAD vs turn detection</a:t>
            </a:r>
          </a:p>
          <a:p>
            <a:pPr marL="292608" indent="-292608">
              <a:lnSpc>
                <a:spcPct val="120000"/>
              </a:lnSpc>
              <a:spcAft>
                <a:spcPts val="1539"/>
              </a:spcAft>
              <a:buClr>
                <a:srgbClr val="00D4AA"/>
              </a:buClr>
              <a:buFont typeface="Inter"/>
              <a:buChar char="•"/>
            </a:pPr>
            <a:r>
              <a:rPr sz="2200" b="0">
                <a:solidFill>
                  <a:srgbClr val="FFFFFF"/>
                </a:solidFill>
                <a:latin typeface="Inter"/>
              </a:rPr>
              <a:t>Cascaded vs speech-to-speech vs half-cascade</a:t>
            </a:r>
          </a:p>
          <a:p>
            <a:pPr marL="292608" indent="-292608">
              <a:lnSpc>
                <a:spcPct val="120000"/>
              </a:lnSpc>
              <a:spcAft>
                <a:spcPts val="1539"/>
              </a:spcAft>
              <a:buClr>
                <a:srgbClr val="00D4AA"/>
              </a:buClr>
              <a:buFont typeface="Inter"/>
              <a:buChar char="•"/>
            </a:pPr>
            <a:r>
              <a:rPr sz="2200" b="0">
                <a:solidFill>
                  <a:srgbClr val="FFFFFF"/>
                </a:solidFill>
                <a:latin typeface="Inter"/>
              </a:rPr>
              <a:t>The five latency line items and the 800 ms target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01 · Lecture 1.6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Accounts you need and what they cost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up, Section 2: you'll create your accounts, get your keys and set up your development environment.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