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Agent server architecture and scaling.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go back to the picture from Section 3. When you run `python agent.py start`, you start an agent server. The server opens a WebSocket out to LiveKit and registers. "I'm here. I can run the agent called riley-receptionist."</a:t>
            </a:r>
          </a:p>
          <a:p/>
          <a:p>
            <a:r>
              <a:t>When a caller joins a room that needs Riley, LiveKit sends a job request to one of the registered servers. The server accepts it and runs your entrypoint function for that one call.</a:t>
            </a:r>
          </a:p>
          <a:p/>
          <a:p>
            <a:r>
              <a:t>And here's the key detail. Each job runs in its own process. If one call crashes, or leaks memory, or gets stuck in a slow tool, the other calls on that server are unaffected. That isolation is a big reason agent servers are reliable.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starting a process isn't free. Python has to import your code, and the VAD model has to load into memory. If that happens after the caller connects, the caller hears silence. A second of dead air at the start of a call feels broken.</a:t>
            </a:r>
          </a:p>
          <a:p/>
          <a:p>
            <a:r>
              <a:t>So we do two things. First, prewarming. `setup_fnc` is a function that runs once per process, before any call arrives. We use it to load Silero VAD.</a:t>
            </a:r>
          </a:p>
          <a:p/>
          <a:p>
            <a:r>
              <a:t>[CODE: prewarm in `agents/common.py`]</a:t>
            </a:r>
          </a:p>
          <a:p/>
          <a:p>
            <a:r>
              <a:t>The loaded model goes into `proc.userdata`, a dictionary that lives as long as the process. Then in the entrypoint, `load_vad(ctx.proc)` picks it up instantly. And there's a fallback, so the same code works in console mode where nothing was prewarmed.</a:t>
            </a:r>
          </a:p>
          <a:p/>
          <a:p>
            <a:r>
              <a:t>Second, idle processes. `num_idle_processes` is how many warm processes the server keeps ready. When a call arrives, it gets one that's already prewarmed. In production mode, the default is the number of CPU cores. In dev mode, it's zero, so your laptop stays quiet.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LiveKit decide which server gets the next call? Load. Each server reports a load number between zero and one. By default, that's CPU usage.</a:t>
            </a:r>
          </a:p>
          <a:p/>
          <a:p>
            <a:r>
              <a:t>`load_threshold` is the line. Above it, the server marks itself unavailable, and new calls go to other servers. The production default is point seven. That leaves thirty percent headroom, so calls already running don't stutter when a new one starts. Voice is real-time. A CPU at a hundred percent means choppy audio for everyone on that machine.</a:t>
            </a:r>
          </a:p>
          <a:p/>
          <a:p>
            <a:r>
              <a:t>If CPU isn't the right signal for your agent, you can pass your own `load_fnc`. For example, a count of active calls divided by a maximum you measured.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next. `job_memory_warn_mb` logs a warning when one call's process gets big. The default is a thousand megabytes. `job_memory_limit_mb` is the hard stop. Above it, that call's process is killed. The default is zero, meaning off.</a:t>
            </a:r>
          </a:p>
          <a:p/>
          <a:p>
            <a:r>
              <a:t>Should you turn it on? In production, yes. A killed call is bad. A whole container running out of memory and taking twenty calls with it is much worse. Measure a normal call first, then set the limit comfortably above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now the setting that makes deploys boring. Draining.</a:t>
            </a:r>
          </a:p>
          <a:p/>
          <a:p>
            <a:r>
              <a:t>When you deploy, the old container gets a SIGTERM signal. A LiveKit agent server doesn't just die. It stops accepting new calls, and waits for active calls to finish. New calls go to the new version. Old calls finish on the old one. Nobody gets hung up on.</a:t>
            </a:r>
          </a:p>
          <a:p/>
          <a:p>
            <a:r>
              <a:t>`drain_timeout` is how long it waits. The default is one hour. After that, remaining calls are closed. For a dental receptionist, calls rarely pass ten minutes, so thirty minutes is plenty.</a:t>
            </a:r>
          </a:p>
          <a:p/>
          <a:p>
            <a:r>
              <a:t>There's one catch, and it bites everyone once. Your container platform also has a timeout. Kubernetes, for example, force-kills a pod after its grace period. If that's thirty seconds, your nice one-hour drain becomes a thirty-second drain. We'll fix that in Lecture 12.4.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production server options]</a:t>
            </a:r>
          </a:p>
          <a:p/>
          <a:p>
            <a:r>
              <a:t>In the repo, every agent uses `AgentServer(setup_fnc=prewarm)` and relies on the production defaults. Here's how it looks when you set them explicitly, which I recommend once you've measured real calls. Prewarm with our function. Two idle processes. Load threshold point seven. Warn at seven hundred megabytes, kill at a thousand. Drain for thirty minutes. And the health check on port eighty eighty-one, which is also the production default.</a:t>
            </a:r>
          </a:p>
          <a:p/>
          <a:p>
            <a:r>
              <a:t>These numbers are starting points, not rules. You'll tune them with real traffic. Watch two things in your first week. The memory warning in your logs, which tells you if the limit is too tight. And how often a server reports itself full, which tells you whether to add replicas or lower the idle process count.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slide. All those defaults depend on how you launch. `dev` is for your laptop. Hot reload, no idle processes, no load limit, debug logs. `start` is for production. No reload, warm processes, a load limit, the health check on eighty eighty-one, and info-level logs.</a:t>
            </a:r>
          </a:p>
          <a:p/>
          <a:p>
            <a:r>
              <a:t>So in your Dockerfile, the command is always `start`. We'll write that Dockerfile next.</a:t>
            </a:r>
          </a:p>
          <a:p/>
          <a:p>
            <a:r>
              <a:t>So, back to two hundred callers at nine A M. Each call gets its own process. Warm processes absorb the first burst. The load threshold spreads the rest across servers. Memory limits contain any runaway call. And when you deploy at nine fifteen, draining lets every conversation finish. That's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Dockerising the agent.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Deploy to LiveKit Cloud.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you get. LiveKit Cloud builds your Dockerfile. It runs your agent servers close to your LiveKit project. It injects the LiveKit URL and keys automatically. So you don't put those in your secrets. And it does rolling deploys with draining, plus logs, version history and rollback.</a:t>
            </a:r>
          </a:p>
          <a:p/>
          <a:p>
            <a:r>
              <a:t>[SCREEN: Terminal, repo root. Footer: "APIs verified on livekit-agents 1.8 / pipecat-ai 1.12; check the repo README for updates." and "lk...]</a:t>
            </a:r>
          </a:p>
          <a:p/>
          <a:p>
            <a:r>
              <a:t>First, make sure the CLI is logged in to the right project. We set this up in Lecture 2.3.</a:t>
            </a:r>
          </a:p>
          <a:p/>
          <a:p>
            <a:r>
              <a:t>Pick the Maple Street Dental project if you have several.</a:t>
            </a:r>
          </a:p>
          <a:p/>
          <a:p>
            <a:r>
              <a:t>Step two. The config file. Copy the example.</a:t>
            </a:r>
          </a:p>
          <a:p/>
          <a:p>
            <a:r>
              <a:t>[CODE: `livekit.toml` (from `livekit.toml.example`)]</a:t>
            </a:r>
          </a:p>
          <a:p/>
          <a:p>
            <a:r>
              <a:t>Two sections. The project subdomain is the first part of your LiveKit URL. And the agent name. That's the name telephony dispatch rules and the web front end will ask for. When you create the agent, the CLI fills in the agent ID line. Commit `livekit.toml` after that, so every deploy targets the same agent.</a:t>
            </a:r>
          </a:p>
          <a:p/>
          <a:p>
            <a:r>
              <a:t>Read the notes at the top, because they explain a gotcha. `start` reads the agent name from this file only when `LIVEKIT_AGENT_NAME` isn't set. `dev` never reads it. And our Dockerfile never copies `livekit.toml` into the image. So inside the container, the name must come from an environment variable. We'll set it as a secret.</a:t>
            </a:r>
          </a:p>
          <a:p/>
          <a:p>
            <a:r>
              <a:t>Step three. Secrets. Create a production env file, and keep it out of git.</a:t>
            </a:r>
          </a:p>
          <a:p/>
          <a:p>
            <a:r>
              <a:t>[CODE: `.env.production` (never committed)]</a:t>
            </a:r>
          </a:p>
          <a:p/>
          <a:p>
            <a:r>
              <a:t>Only what the agent needs. The agent name, because `livekit.toml` isn't in the image. Provider keys, if you're using plugins mode. Model settings. The transfer number, which is the front desk, never the number Riley answers. Notice what's missing. No LiveKit URL or keys. LiveKit Cloud injects those. If you use LiveKit Inference for the models, you may not need the provider keys at all.</a:t>
            </a:r>
          </a:p>
          <a:p/>
          <a:p>
            <a:r>
              <a:t>Step four. The Dockerfile. The cloud build looks for a Dockerfile at the root of the directory you deploy from. Ours lives in `deploy/`, so copy it up.</a:t>
            </a:r>
          </a:p>
          <a:p/>
          <a:p>
            <a:r>
              <a:t>Step five. Create the agent. This registers it, uploads your code, builds and deploys the first version.</a:t>
            </a:r>
          </a:p>
          <a:p/>
          <a:p>
            <a:r>
              <a:t>[SCREEN: CLI output: build logs streaming, then "deployed" with an agent ID. Show `livekit.toml` now containing an `id` line.]</a:t>
            </a:r>
          </a:p>
          <a:p/>
          <a:p>
            <a:r>
              <a:t>It uploads the code, builds the image in the cloud, and deploys. You'll see the same build steps you saw locally, including `download-files`. When it finishes, look at `livekit.toml`. There's now an agent ID in it.</a:t>
            </a:r>
          </a:p>
          <a:p/>
          <a:p>
            <a:r>
              <a:t>The first build is usually the slowest. When the cloud builder can reuse cached layers, like your local Docker does, a code-only change ships faster. That's one more reason the Dockerfile copies dependencies before code.</a:t>
            </a:r>
          </a:p>
          <a:p/>
          <a:p>
            <a:r>
              <a:t>Step six. Check it's running.</a:t>
            </a:r>
          </a:p>
          <a:p/>
          <a:p>
            <a:r>
              <a:t>[SCREEN: Status output showing the agent, its version, region and running state.]</a:t>
            </a:r>
          </a:p>
          <a:p/>
          <a:p>
            <a:r>
              <a:t>Running, one version, and the region it's in.</a:t>
            </a:r>
          </a:p>
          <a:p/>
          <a:p>
            <a:r>
              <a:t>[SCREEN: Browser: LiveKit Agents Playground connected to the project, with the agent name set to `riley-receptionist`. Click Connect.]</a:t>
            </a:r>
          </a:p>
          <a:p/>
          <a:p>
            <a:r>
              <a:t>Now a real session. Open the Agents Playground for your project, set the agent name, and connect.</a:t>
            </a:r>
          </a:p>
          <a:p/>
          <a:p>
            <a:r>
              <a:t>[DEMO: Playground session with the deployed agent.]</a:t>
            </a:r>
          </a:p>
          <a:p/>
          <a:p>
            <a:r>
              <a:t>**Riley:** Thanks for calling Maple Street Dental. This is Riley, the clinic's AI assistant. How can I help you today?</a:t>
            </a:r>
          </a:p>
          <a:p/>
          <a:p>
            <a:r>
              <a:t>**You:** What time do you open on Saturday?</a:t>
            </a:r>
          </a:p>
          <a:p/>
          <a:p>
            <a:r>
              <a:t>**Riley:** We're open Saturdays from nine in the morning until one in the afternoon. Would you like to book a visit?</a:t>
            </a:r>
          </a:p>
          <a:p/>
          <a:p>
            <a:r>
              <a:t>That's Riley, running in the cloud. My laptop isn't involved anymore.</a:t>
            </a:r>
          </a:p>
          <a:p/>
          <a:p>
            <a:r>
              <a:t>Step seven. Logs.</a:t>
            </a:r>
          </a:p>
          <a:p/>
          <a:p>
            <a:r>
              <a:t>[SCREEN: Runtime logs from the call just made: job received, session started, tool calls, redacted transcript lines.]</a:t>
            </a:r>
          </a:p>
          <a:p/>
          <a:p>
            <a:r>
              <a:t>These are the runtime logs from the call I just made. Job received. Session started. The `lookup_clinic_info` tool call. And notice the transcript lines are redacted, thanks to Section 11. These logs now live on someone else's infrastructure, which is exactly why we redacted them.</a:t>
            </a:r>
          </a:p>
          <a:p/>
          <a:p>
            <a:r>
              <a:t>If a build fails, the build logs are separate. There's a flag for that, so check `lk agent logs --help`.</a:t>
            </a:r>
          </a:p>
          <a:p/>
          <a:p>
            <a:r>
              <a:t>Step eight. Ship a change. Let's make a small, visible one.</a:t>
            </a:r>
          </a:p>
          <a:p/>
          <a:p>
            <a:r>
              <a:t>[CODE: shortened greeting in `src/maple/prompts.py` (demo change)]</a:t>
            </a:r>
          </a:p>
          <a:p/>
          <a:p>
            <a:r>
              <a:t>Shorten the greeting in `prompts.py`. Then deploy.</a:t>
            </a:r>
          </a:p>
          <a:p/>
          <a:p>
            <a:r>
              <a:t>[SCREEN: Build and rollout output. Then `lk agent status` showing the new version active.]</a:t>
            </a:r>
          </a:p>
          <a:p/>
          <a:p>
            <a:r>
              <a:t>That builds a new version and rolls it out. Old servers drain. New calls go to the new version. Nobody on an active call gets dropped.</a:t>
            </a:r>
          </a:p>
          <a:p/>
          <a:p>
            <a:r>
              <a:t>Step nine. Rollback. Say the new version has a bug. Maybe the clinic manager says the short greeting sounds abrupt.</a:t>
            </a:r>
          </a:p>
          <a:p/>
          <a:p>
            <a:r>
              <a:t>[SCREEN: Version list, then rollback confirmation, then status showing the previous version active.]</a:t>
            </a:r>
          </a:p>
          <a:p/>
          <a:p>
            <a:r>
              <a:t>List the versions. Roll back. The previous version is live again in about the time it takes to start a container, because the image is already built. No rebuild. No panic.</a:t>
            </a:r>
          </a:p>
          <a:p/>
          <a:p>
            <a:r>
              <a:t>Step ten. Secrets change. When you rotate a key, update the secrets without changing code.</a:t>
            </a:r>
          </a:p>
          <a:p/>
          <a:p>
            <a:r>
              <a:t>That restarts the agent with the new values, with the same draining behavior.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loop to make a habit. Tests pass. Deploy. Check status and make one real call. Watch logs and your Section 10 dashboards for fifteen minutes. And if anything looks off, roll back first and debug second. Rolling back is cheap. Debugging in production while callers wait is not.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Self-hosting option.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they are. Outbound network. Secrets. Health checks. Graceful shutdown. And autoscaling. Let's take them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Networking is simpler than people expect. The agent server connects out to LiveKit. It doesn't need a public IP or an open inbound port for calls. The audio comes through LiveKit's infrastructure.</a:t>
            </a:r>
          </a:p>
          <a:p/>
          <a:p>
            <a:r>
              <a:t>So the only inbound port is the health check, and only your platform needs to reach it. Outbound, you need LiveKit, plus your model providers. If your company locks down egress, give the network team that list.</a:t>
            </a:r>
          </a:p>
          <a:p/>
          <a:p>
            <a:r>
              <a:t>One more networking detail. If you use LiveKit Inference, the model traffic goes to LiveKit too, so the egress list gets shorter. If you use provider plugins with your own keys, every provider's API host goes on the list. Either way, test from inside the real network before launch day, not from your laptop.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self-host, *you* set the LiveKit URL and keys, unlike LiveKit Cloud. The server reads them from environment variables. Put everything in your platform's secret store. Every platform has one. Kubernetes has secrets. ECS reads from a secrets manager. Render and Fly.io have their own secret settings.</a:t>
            </a:r>
          </a:p>
          <a:p/>
          <a:p>
            <a:r>
              <a:t>And plan rotation now. When a key rotates, you update the secret and restart the containers. Because the servers drain, a rolling restart is safe during business hours.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checks. In production mode, the agent server listens on port eighty eighty-one. `GET` slash returns "OK" when things are healthy, and a 503 if the server can't reach LiveKit or its inference process died. That's exactly what a liveness probe wants.</a:t>
            </a:r>
          </a:p>
          <a:p/>
          <a:p>
            <a:r>
              <a:t>`GET` slash worker returns JSON with active jobs and load. That's great for dashboards.</a:t>
            </a:r>
          </a:p>
          <a:p/>
          <a:p>
            <a:r>
              <a:t>If you already run Prometheus, `AgentServer` also has a `prometheus_port` option that exposes metrics for scraping. Combine that with the call-level metrics from Section 10, and your on-call engineer sees both the servers and the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Kubernetes pod spec excerpt]</a:t>
            </a:r>
          </a:p>
          <a:p/>
          <a:p>
            <a:r>
              <a:t>Here's the one that bites everyone. Remember draining from Lecture 12.1? We set `drain_timeout` to eighteen hundred seconds. But Kubernetes, by default, gives a pod thirty seconds after SIGTERM, then kills it. So in a default setup, every deploy drops every call that's longer than thirty seconds.</a:t>
            </a:r>
          </a:p>
          <a:p/>
          <a:p>
            <a:r>
              <a:t>The fix is one line. `terminationGracePeriodSeconds`, set to at least your drain timeout. Every platform has an equivalent. On ECS it's the stop timeout. On other hosts, look for "shutdown grace period" or "kill timeout." Check the maximum each platform allows. Some cap it much lower than thirty minutes, and that might decide which platform you use.</a:t>
            </a:r>
          </a:p>
          <a:p/>
          <a:p>
            <a:r>
              <a:t>And the resource numbers in this example? Placeholders. Measure a real call, then size.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Autoscaling. The simplest good setup is to scale on CPU. That's the same signal the agent server uses for its load threshold. Set your autoscaler's target a bit below point seven, say point five or point six. That way, new containers start before existing servers begin refusing calls.</a:t>
            </a:r>
          </a:p>
          <a:p/>
          <a:p>
            <a:r>
              <a:t>Keep at least two replicas. One crashed container shouldn't mean nobody answers the phone. And if your callers are spread out, run replicas in the region closest to your LiveKit project and your model providers. Every network hop is latency the caller hears.</a:t>
            </a:r>
          </a:p>
          <a:p/>
          <a:p>
            <a:r>
              <a:t>[B-ROLL: an autoscaling graph. CPU crosses 0.6 and a third replica starts; later CPU falls, one replica receives SIGTERM, finishes its la...]</a:t>
            </a:r>
          </a:p>
          <a:p/>
          <a:p>
            <a:r>
              <a:t>Remember the idle processes from Lecture 12.1, too. Each replica keeps warm processes, and each one holds a VAD model in memory. More replicas with fewer idle processes each is usually cheaper than a few huge machines.</a:t>
            </a:r>
          </a:p>
          <a:p/>
          <a:p>
            <a:r>
              <a:t>And when the autoscaler scales in, it sends SIGTERM. That triggers draining, which is exactly what you want, as long as your grace period is right.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which should you choose? Self-host when compliance needs it, when you already run a platform well, or when you need custom networking. Otherwise, managed hosting is less work, and the work it saves is the boring, risky kind. Either way, it's the same image and the same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 web front end for Riley.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pieces. The browser app. A token server. And the agent you already deployed.</a:t>
            </a:r>
          </a:p>
          <a:p/>
          <a:p>
            <a:r>
              <a:t>The browser can't join a LiveKit room without an access token. A token is signed with your API secret, and your secret must never reach the browser. So a small backend mints tokens. The browser asks the backend, "can I have a token?", and the backend decides.</a:t>
            </a:r>
          </a:p>
          <a:p/>
          <a:p>
            <a:r>
              <a:t>And here's the detail that matters for us. Riley has an agent name, which means explicit dispatch. LiveKit won't send Riley into a room unless someone asks. The token can do that asking.</a:t>
            </a:r>
          </a:p>
          <a:p/>
          <a:p>
            <a:r>
              <a:t>[SCREEN: Terminal. Footer: "front-end starter commands: verify in current docs".]</a:t>
            </a:r>
          </a:p>
          <a:p/>
          <a:p>
            <a:r>
              <a:t>We'll use LiveKit's React agent starter. It's a Next.js app with a voice UI, captions and a built-in token route. Create it from the template.</a:t>
            </a:r>
          </a:p>
          <a:p/>
          <a:p>
            <a:r>
              <a:t>If that command has changed, the starter is also on GitHub, at `livekit-examples/agent-starter-react`, and you can clone it directly. Our `frontend/README.md` has both options.</a:t>
            </a:r>
          </a:p>
          <a:p/>
          <a:p>
            <a:r>
              <a:t>[SCREEN: `.env.local` in the editor.]</a:t>
            </a:r>
          </a:p>
          <a:p/>
          <a:p>
            <a:r>
              <a:t>The app needs your project URL and keys in `.env.local`. `lk app env -w` writes that file for you. These stay on the server side of the Next.js app, in the starter's `/api/connection-details` route. Never put the secret in a variable that starts with `NEXT_PUBLIC`, because those are sent to the browser.</a:t>
            </a:r>
          </a:p>
          <a:p/>
          <a:p>
            <a:r>
              <a:t>[CODE: `.env.local`]</a:t>
            </a:r>
          </a:p>
          <a:p/>
          <a:p>
            <a:r>
              <a:t>Now, the agent name. The starter has an app config file, `app-config.ts` at the time of writing, with an `agentName` setting. Set it to `riley-receptionist`. Check the starter's README if the field has moved in your version.</a:t>
            </a:r>
          </a:p>
          <a:p/>
          <a:p>
            <a:r>
              <a:t>[SCREEN: `app-config.ts`, `agentName` set to `"riley-receptionist"`. Also show the title, accent color and start button text ("Call Maple...]</a:t>
            </a:r>
          </a:p>
          <a:p/>
          <a:p>
            <a:r>
              <a:t>While we're here, change the title, the accent color and the start button text. Thirty seconds of branding makes a demo feel real.</a:t>
            </a:r>
          </a:p>
          <a:p/>
          <a:p>
            <a:r>
              <a:t>So what does the token route actually do? Let me show you the same logic in Python, because it's short, and you'll need it if your backend isn't Next.js.</a:t>
            </a:r>
          </a:p>
          <a:p/>
          <a:p>
            <a:r>
              <a:t>[CODE: equivalent token minting in Python with `livekit-api` (illustration; not a file in the repo)]</a:t>
            </a:r>
          </a:p>
          <a:p/>
          <a:p>
            <a:r>
              <a:t>Walk through it. A fresh room name for each visitor, so every conversation is private. A random identity. A grant that lets this person join only that one room. And the key line: a room configuration that dispatches `riley-receptionist` when the room is created. That's how Riley knows to join.</a:t>
            </a:r>
          </a:p>
          <a:p/>
          <a:p>
            <a:r>
              <a:t>The token is signed with your secret, and it expires by default. The browser gets a token, never the secret.</a:t>
            </a:r>
          </a:p>
          <a:p/>
          <a:p>
            <a:r>
              <a:t>[SCREEN: Terminal.]</a:t>
            </a:r>
          </a:p>
          <a:p/>
          <a:p>
            <a:r>
              <a:t>Install and run.</a:t>
            </a:r>
          </a:p>
          <a:p/>
          <a:p>
            <a:r>
              <a:t>[SCREEN: Browser at `http://localhost:3000`. Click "Start call". Allow the microphone.]</a:t>
            </a:r>
          </a:p>
          <a:p/>
          <a:p>
            <a:r>
              <a:t>Open localhost three thousand, and start a call.</a:t>
            </a:r>
          </a:p>
          <a:p/>
          <a:p>
            <a:r>
              <a:t>[DEMO: Browser session with the deployed agent. Captions visible.]</a:t>
            </a:r>
          </a:p>
          <a:p/>
          <a:p>
            <a:r>
              <a:t>**Riley:** Thanks for calling Maple Street Dental. This is Riley, the clinic's AI assistant. How can I help you today?</a:t>
            </a:r>
          </a:p>
          <a:p/>
          <a:p>
            <a:r>
              <a:t>**You:** Do you take Delta Dental?</a:t>
            </a:r>
          </a:p>
          <a:p/>
          <a:p>
            <a:r>
              <a:t>**Riley:** Yes, we're in network with Delta Dental. Would you like to book an appointment?</a:t>
            </a:r>
          </a:p>
          <a:p/>
          <a:p>
            <a:r>
              <a:t>**You:** Not today, thanks.</a:t>
            </a:r>
          </a:p>
          <a:p/>
          <a:p>
            <a:r>
              <a:t>**Riley:** No problem. Thanks for calling Maple Street Dental. Have a great day.</a:t>
            </a:r>
          </a:p>
          <a:p/>
          <a:p>
            <a:r>
              <a:t>[SCREEN: Point at the live captions, then at `lk agent logs` in a second terminal showing the new job.]</a:t>
            </a:r>
          </a:p>
          <a:p/>
          <a:p>
            <a:r>
              <a:t>Captions show both sides. They come from the transcription stream. And in the agent logs, there's the new job from a web room, served by the deployed agent.</a:t>
            </a:r>
          </a:p>
          <a:p/>
          <a:p>
            <a:r>
              <a:t>Notice one difference from the phone. On the web, there's no SIP participant, so there's no caller ID, and `transfer_to_human` can't transfer. It tells Riley to apologise and offer to take a message instead. That's the graceful fallback from Section 8, and it's exactly what a web caller should hear.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this goes on a real clinic website, a few guardrails. Anyone who can load the page can start a call, and every call costs money. So rate-limit the token route. Add bot protection if it's public. Keep a maximum call length in the agent. And deploy the Next.js app to any host that supports it, with the secrets in the host's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Production readiness checklist.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checklist is in `10-resources/production-checklist.md`. It has five areas. Let's walk through the items that matter most in each.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first. Every provider fails eventually. So each of the three models needs a fallback. A second LLM. A second STT. A second TTS. We'll wire those up in the capstone, Lecture 13.3.</a:t>
            </a:r>
          </a:p>
          <a:p/>
          <a:p>
            <a:r>
              <a:t>Every provider call needs a timeout. The defaults in LiveKit are three retries, two seconds apart, with a ten-second timeout. That's reasonable for a web app. On a phone call, three retries two seconds apart is six seconds of silence. Choose them on purpose, against your latency budget.</a:t>
            </a:r>
          </a:p>
          <a:p/>
          <a:p>
            <a:r>
              <a:t>[SCREEN: terminal in `03-code`: `grep -n -A2 "ERROR_SPEECH =\|ERROR_GOODBYE =" src/maple/prompts.py`. Two fixed lines: the apology that p...]</a:t>
            </a:r>
          </a:p>
          <a:p/>
          <a:p>
            <a:r>
              <a:t>When something breaks mid-call, Riley needs a line to say. It's already in our prompts module. "Sorry, I'm having a technical problem on my end. Let me connect you with someone at the front desk." Pre-written, tested, and it ends in a transfer, or a clean goodbye with the clinic's number when no transfer is possible. Never a dead end.</a:t>
            </a:r>
          </a:p>
          <a:p/>
          <a:p>
            <a:r>
              <a:t>And graceful degradation. If the booking system is down, Riley shouldn't pretend. It should take a message and promise a callback. A limited Riley is much better than a silent 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You built all of this in Section 10. The checklist question is simply: is it turned on in production? Metrics exported. Traces flowing. PII redacted. And alerts on p95 latency, error rate, transfer rate and spend. An alert nobody receives doesn't count, so check it routes to a person.</a:t>
            </a:r>
          </a:p>
          <a:p/>
          <a:p>
            <a:r>
              <a:t>And record every call's outcome: booked, rescheduled, transferred, abandoned, error. The capstone stores this in `CallState` as `call_outcome`. Outcomes are how you'll answer the clinic's real question, which isn't "how fast is it?" but "is it actually handling our calls?"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privacy. This is Section 11 as a checklist. Secrets in a secret store, with a plan to rotate them. Verification before any appointment is revealed or changed. A fixed transfer target, and international dialing disabled on the trunk. Safety tests passing in CI. And retention settings applied at every provider, not just in your own logs.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Pin versions, and keep the lock file.</a:t>
            </a:r>
          </a:p>
          <a:p/>
          <a:p>
            <a:r>
              <a:t>[SCREEN: terminal in `03-code`: `uv lock --check`, then `Resolved 154 packages`; the file tree shows `uv.lock` committed next to `pyproje...]</a:t>
            </a:r>
          </a:p>
          <a:p/>
          <a:p>
            <a:r>
              <a:t>Voice libraries release often, and an unplanned upgrade on a Friday is how outages start. The repo commits `uv.lock`, and the Dockerfile installs from it with `--locked`. Rollback: tested, meaning you've actually run it, not just read about it. Draining: verified with a real call during a deploy. Load: tested at twice your expected peak, with simulated callers in parallel, while you watch the load number on `/worker`. And a runbook.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page one of Riley's runbook. Five symptoms. For each, the first thing to check, and the first thing to do.</a:t>
            </a:r>
          </a:p>
          <a:p/>
          <a:p>
            <a:r>
              <a:t>Notice every first action is fast and reversible. Roll back. Switch to a fallback. Disable a tool. The runbook is for three A M, when nobody should be debugging. Stabilise first. Investigate in the morning.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compliance, from Lecture 8.6. AI disclosure in the greeting. Riley does this. Recording consent where your jurisdiction requires it. Outbound rules if you make reminder calls. And agreements with your providers covering the data they process. This is engineering guidance, not legal advice. Every real deployment needs someone who owns compliance.</a:t>
            </a:r>
          </a:p>
          <a:p/>
          <a:p>
            <a:r>
              <a:t>Back to Tuesday at ten. With this checklist done, here's what happens instead. The TTS provider fails. The fallback TTS takes over within a turn or two. The error rate alert fires. You check the runbook, see the provider status page, and do nothing, because the system already handled it. That's what production-ready means. Not that nothing breaks. That breaking is boring.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7: Deploy and call your agent.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Step one is the safety net, so do it first.</a:t>
            </a:r>
          </a:p>
          <a:p/>
          <a:p>
            <a:r>
              <a:t>[SCREEN: terminal in `03-code`: `make docker-build`, then `docker run --rm --env-file .env -p 8081:8081 riley-agent`; in a second pane, `...]</a:t>
            </a:r>
          </a:p>
          <a:p/>
          <a:p>
            <a:r>
              <a:t>If the image doesn't answer `OK` on your laptop, it won't answer in the cloud either. Now the two steps that trip people up.</a:t>
            </a:r>
          </a:p>
          <a:p/>
          <a:p>
            <a:r>
              <a:t>[SCREEN: Terminal. Local dev agent running in one pane, deployed agent in the cloud.]</a:t>
            </a:r>
          </a:p>
          <a:p/>
          <a:p>
            <a:r>
              <a:t>The first one is step four, the phone number. In Section 8, your dispatch rule sent calls to the agent name. If your laptop is still running `dev` with the same agent name, calls might go to your laptop instead of the cloud. Both are registered, and LiveKit picks one.</a:t>
            </a:r>
          </a:p>
          <a:p/>
          <a:p>
            <a:r>
              <a:t>So stop your local agent before testing the phone, or give it a different name in your local `.env`, like `riley-dev`. Remember, `LIVEKIT_AGENT_NAME` is read in every mode, while `livekit.toml` is only read by `start`. Then check the logs.</a:t>
            </a:r>
          </a:p>
          <a:p/>
          <a:p>
            <a:r>
              <a:t>[SCREEN: Logs show a job from a SIP participant, with the caller number redacted.]</a:t>
            </a:r>
          </a:p>
          <a:p/>
          <a:p>
            <a:r>
              <a:t>There's the phone call, handled in the cloud, with the caller's number redacted.</a:t>
            </a:r>
          </a:p>
          <a:p/>
          <a:p>
            <a:r>
              <a:t>The second tricky step is six, draining. With LiveKit Cloud, a new deploy is the easiest way to see it. Start a call, run `lk agent deploy`, and keep talking. Your call should continue on the old version while the new one rolls out. Then make a new call, and you should hear the new greeting.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Six steps. Step one is the safety net, so do it first.</a:t>
            </a:r>
          </a:p>
          <a:p/>
          <a:p>
            <a:r>
              <a:t>[SCREEN: terminal in `03-code`: `make docker-build`, then `docker run --rm --env-file .env -p 8081:8081 riley-agent`; in a second pane, `...]</a:t>
            </a:r>
          </a:p>
          <a:p/>
          <a:p>
            <a:r>
              <a:t>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evidence, collect four things. Status output. A screenshot of a web call. The log line from a phone call. And one sentence describing what happened to your call during the deploy.</a:t>
            </a:r>
          </a:p>
          <a:p/>
          <a:p>
            <a:r>
              <a:t>If you don't have a phone number, because a Twilio trial isn't available where you live, do steps one to three and five to six, and note it in your submission. The web path proves the deployment. The phone path proves the dispatch rule.</a:t>
            </a:r>
          </a:p>
          <a:p/>
          <a:p>
            <a:r>
              <a:t>If you get stuck, the lab file has a troubleshooting table. The most common fix is the agent name. Check it in `livekit.toml`, the secrets file, the front end config and the dispatch rule. All four have to match.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Chaos demo: kill a provider mid-call.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drill on your own agent before every major release. It takes five minutes, and it's the only way to know your fallbacks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see questions on the agent server settings, the Dockerfile's start command, draining, and what you saw in the chaos demo.</a:t>
            </a:r>
          </a:p>
          <a:p/>
          <a:p>
            <a:r>
              <a:t>One tip. If a question asks why calls dropped during a deploy, there are two usual suspects. The signal never reached Python, or the platform killed the container before the drain finished.</a:t>
            </a:r>
          </a:p>
          <a:p/>
          <a:p>
            <a:r>
              <a:t>[SCREEN: `03-code/deploy/Dockerfile`, the last line: `CMD ["sh", "-c", "exec python \"$AGENT_FILE\" start"]`, with `exec` highlighted.]</a:t>
            </a:r>
          </a:p>
          <a:p/>
          <a:p>
            <a:r>
              <a:t>That one word, `exec`, is the difference between the first suspect and a clean drain.</a:t>
            </a:r>
          </a:p>
          <a:p/>
          <a:p>
            <a:r>
              <a:t>Read the explanations for anything you miss.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Agent server architecture and scaling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how an </a:t>
            </a:r>
            <a:r>
              <a:rPr sz="1472" b="0">
                <a:solidFill>
                  <a:srgbClr val="00D4AA"/>
                </a:solidFill>
                <a:latin typeface="JetBrains Mono"/>
              </a:rPr>
              <a:t>AgentServer</a:t>
            </a:r>
            <a:r>
              <a:rPr sz="1600" b="0">
                <a:solidFill>
                  <a:srgbClr val="CBD5E1"/>
                </a:solidFill>
                <a:latin typeface="Inter"/>
              </a:rPr>
              <a:t> registers with LiveKit, receives jobs and runs each call in its own process.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agent server, one diagram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The server connects out to LiveKit over a WebSocket</a:t>
            </a:r>
          </a:p>
          <a:p>
            <a:pPr marL="292608" indent="-292608">
              <a:lnSpc>
                <a:spcPct val="120000"/>
              </a:lnSpc>
              <a:spcAft>
                <a:spcPts val="1120"/>
              </a:spcAft>
              <a:buClr>
                <a:srgbClr val="00D4AA"/>
              </a:buClr>
              <a:buFont typeface="Inter"/>
              <a:buChar char="•"/>
            </a:pPr>
            <a:r>
              <a:rPr sz="1600" b="0">
                <a:solidFill>
                  <a:srgbClr val="FFFFFF"/>
                </a:solidFill>
                <a:latin typeface="Inter"/>
              </a:rPr>
              <a:t>LiveKit sends a job request when a room needs an agent</a:t>
            </a:r>
          </a:p>
          <a:p>
            <a:pPr marL="292608" indent="-292608">
              <a:lnSpc>
                <a:spcPct val="120000"/>
              </a:lnSpc>
              <a:spcAft>
                <a:spcPts val="1120"/>
              </a:spcAft>
              <a:buClr>
                <a:srgbClr val="00D4AA"/>
              </a:buClr>
              <a:buFont typeface="Inter"/>
              <a:buChar char="•"/>
            </a:pPr>
            <a:r>
              <a:rPr sz="1600" b="0">
                <a:solidFill>
                  <a:srgbClr val="FFFFFF"/>
                </a:solidFill>
                <a:latin typeface="Inter"/>
              </a:rPr>
              <a:t>Each accepted job runs in its own process</a:t>
            </a:r>
          </a:p>
        </p:txBody>
      </p:sp>
      <p:pic>
        <p:nvPicPr>
          <p:cNvPr id="6" name="Picture 5" descr="D13-agent-server-scaling-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Cold starts and prewarming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Starting a process and loading models takes time</a:t>
            </a:r>
          </a:p>
          <a:p>
            <a:pPr marL="292608" indent="-292608">
              <a:lnSpc>
                <a:spcPct val="120000"/>
              </a:lnSpc>
              <a:spcAft>
                <a:spcPts val="1120"/>
              </a:spcAft>
              <a:buClr>
                <a:srgbClr val="00D4AA"/>
              </a:buClr>
              <a:buFont typeface="Inter"/>
              <a:buChar char="•"/>
            </a:pPr>
            <a:r>
              <a:rPr sz="1600" b="0">
                <a:solidFill>
                  <a:srgbClr val="FFFFFF"/>
                </a:solidFill>
                <a:latin typeface="Inter"/>
              </a:rPr>
              <a:t>The caller hears silence while that happens</a:t>
            </a:r>
          </a:p>
          <a:p>
            <a:pPr marL="292608" indent="-292608">
              <a:lnSpc>
                <a:spcPct val="120000"/>
              </a:lnSpc>
              <a:spcAft>
                <a:spcPts val="1120"/>
              </a:spcAft>
              <a:buClr>
                <a:srgbClr val="00D4AA"/>
              </a:buClr>
              <a:buFont typeface="Inter"/>
              <a:buChar char="•"/>
            </a:pPr>
            <a:r>
              <a:rPr sz="1472" b="0">
                <a:solidFill>
                  <a:srgbClr val="00D4AA"/>
                </a:solidFill>
                <a:latin typeface="JetBrains Mono"/>
              </a:rPr>
              <a:t>setup_fnc</a:t>
            </a:r>
            <a:r>
              <a:rPr sz="1600" b="0">
                <a:solidFill>
                  <a:srgbClr val="FFFFFF"/>
                </a:solidFill>
                <a:latin typeface="Inter"/>
              </a:rPr>
              <a:t> runs once per process, before any call arrives</a:t>
            </a:r>
          </a:p>
          <a:p>
            <a:pPr marL="292608" indent="-292608">
              <a:lnSpc>
                <a:spcPct val="120000"/>
              </a:lnSpc>
              <a:spcAft>
                <a:spcPts val="1120"/>
              </a:spcAft>
              <a:buClr>
                <a:srgbClr val="00D4AA"/>
              </a:buClr>
              <a:buFont typeface="Inter"/>
              <a:buChar char="•"/>
            </a:pPr>
            <a:r>
              <a:rPr sz="1472" b="0">
                <a:solidFill>
                  <a:srgbClr val="00D4AA"/>
                </a:solidFill>
                <a:latin typeface="JetBrains Mono"/>
              </a:rPr>
              <a:t>num_idle_processes</a:t>
            </a:r>
            <a:r>
              <a:rPr sz="1600" b="0">
                <a:solidFill>
                  <a:srgbClr val="FFFFFF"/>
                </a:solidFill>
                <a:latin typeface="Inter"/>
              </a:rPr>
              <a:t> keeps warm processes ready</a:t>
            </a:r>
          </a:p>
        </p:txBody>
      </p:sp>
      <p:pic>
        <p:nvPicPr>
          <p:cNvPr id="6" name="Picture 5" descr="D13-agent-server-scaling-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Load and the load threshold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The server reports its load to LiveKit continuously</a:t>
            </a:r>
          </a:p>
          <a:p>
            <a:pPr marL="292608" indent="-292608">
              <a:lnSpc>
                <a:spcPct val="120000"/>
              </a:lnSpc>
              <a:spcAft>
                <a:spcPts val="1120"/>
              </a:spcAft>
              <a:buClr>
                <a:srgbClr val="00D4AA"/>
              </a:buClr>
              <a:buFont typeface="Inter"/>
              <a:buChar char="•"/>
            </a:pPr>
            <a:r>
              <a:rPr sz="1600" b="0">
                <a:solidFill>
                  <a:srgbClr val="FFFFFF"/>
                </a:solidFill>
                <a:latin typeface="Inter"/>
              </a:rPr>
              <a:t>Default load = CPU usage of the machine</a:t>
            </a:r>
          </a:p>
          <a:p>
            <a:pPr marL="292608" indent="-292608">
              <a:lnSpc>
                <a:spcPct val="120000"/>
              </a:lnSpc>
              <a:spcAft>
                <a:spcPts val="1120"/>
              </a:spcAft>
              <a:buClr>
                <a:srgbClr val="00D4AA"/>
              </a:buClr>
              <a:buFont typeface="Inter"/>
              <a:buChar char="•"/>
            </a:pPr>
            <a:r>
              <a:rPr sz="1600" b="0">
                <a:solidFill>
                  <a:srgbClr val="FFFFFF"/>
                </a:solidFill>
                <a:latin typeface="Inter"/>
              </a:rPr>
              <a:t>Above </a:t>
            </a:r>
            <a:r>
              <a:rPr sz="1472" b="0">
                <a:solidFill>
                  <a:srgbClr val="00D4AA"/>
                </a:solidFill>
                <a:latin typeface="JetBrains Mono"/>
              </a:rPr>
              <a:t>load_threshold</a:t>
            </a:r>
            <a:r>
              <a:rPr sz="1600" b="0">
                <a:solidFill>
                  <a:srgbClr val="FFFFFF"/>
                </a:solidFill>
                <a:latin typeface="Inter"/>
              </a:rPr>
              <a:t>, the server stops accepting new jobs</a:t>
            </a:r>
          </a:p>
          <a:p>
            <a:pPr marL="292608" indent="-292608">
              <a:lnSpc>
                <a:spcPct val="120000"/>
              </a:lnSpc>
              <a:spcAft>
                <a:spcPts val="1120"/>
              </a:spcAft>
              <a:buClr>
                <a:srgbClr val="00D4AA"/>
              </a:buClr>
              <a:buFont typeface="Inter"/>
              <a:buChar char="•"/>
            </a:pPr>
            <a:r>
              <a:rPr sz="1600" b="0">
                <a:solidFill>
                  <a:srgbClr val="FFFFFF"/>
                </a:solidFill>
                <a:latin typeface="Inter"/>
              </a:rPr>
              <a:t>Production default: 0.7 (70%). Dev: disabled</a:t>
            </a:r>
          </a:p>
        </p:txBody>
      </p:sp>
      <p:pic>
        <p:nvPicPr>
          <p:cNvPr id="6" name="Picture 5" descr="D13-step2-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Memory limits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job_memory_warn_mb</a:t>
            </a:r>
            <a:r>
              <a:rPr sz="2200" b="0">
                <a:solidFill>
                  <a:srgbClr val="FFFFFF"/>
                </a:solidFill>
                <a:latin typeface="Inter"/>
              </a:rPr>
              <a:t>: log a warning above this (default 1000 MB)</a:t>
            </a:r>
          </a:p>
          <a:p>
            <a:pPr marL="292608" indent="-292608">
              <a:lnSpc>
                <a:spcPct val="120000"/>
              </a:lnSpc>
              <a:spcAft>
                <a:spcPts val="1539"/>
              </a:spcAft>
              <a:buClr>
                <a:srgbClr val="00D4AA"/>
              </a:buClr>
              <a:buFont typeface="Inter"/>
              <a:buChar char="•"/>
            </a:pPr>
            <a:r>
              <a:rPr sz="2024" b="0">
                <a:solidFill>
                  <a:srgbClr val="00D4AA"/>
                </a:solidFill>
                <a:latin typeface="JetBrains Mono"/>
              </a:rPr>
              <a:t>job_memory_limit_mb</a:t>
            </a:r>
            <a:r>
              <a:rPr sz="2200" b="0">
                <a:solidFill>
                  <a:srgbClr val="FFFFFF"/>
                </a:solidFill>
                <a:latin typeface="Inter"/>
              </a:rPr>
              <a:t>: kill the job above this (default 0, off)</a:t>
            </a:r>
          </a:p>
          <a:p>
            <a:pPr marL="292608" indent="-292608">
              <a:lnSpc>
                <a:spcPct val="120000"/>
              </a:lnSpc>
              <a:spcAft>
                <a:spcPts val="1539"/>
              </a:spcAft>
              <a:buClr>
                <a:srgbClr val="00D4AA"/>
              </a:buClr>
              <a:buFont typeface="Inter"/>
              <a:buChar char="•"/>
            </a:pPr>
            <a:r>
              <a:rPr sz="2200" b="0">
                <a:solidFill>
                  <a:srgbClr val="FFFFFF"/>
                </a:solidFill>
                <a:latin typeface="Inter"/>
              </a:rPr>
              <a:t>One runaway call shouldn't take down the container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Draining: deploys without dropped calls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On SIGTERM, the server stops taking new jobs</a:t>
            </a:r>
          </a:p>
          <a:p>
            <a:pPr marL="292608" indent="-292608">
              <a:lnSpc>
                <a:spcPct val="120000"/>
              </a:lnSpc>
              <a:spcAft>
                <a:spcPts val="1120"/>
              </a:spcAft>
              <a:buClr>
                <a:srgbClr val="00D4AA"/>
              </a:buClr>
              <a:buFont typeface="Inter"/>
              <a:buChar char="•"/>
            </a:pPr>
            <a:r>
              <a:rPr sz="1600" b="0">
                <a:solidFill>
                  <a:srgbClr val="FFFFFF"/>
                </a:solidFill>
                <a:latin typeface="Inter"/>
              </a:rPr>
              <a:t>Active calls continue until they end, or </a:t>
            </a:r>
            <a:r>
              <a:rPr sz="1472" b="0">
                <a:solidFill>
                  <a:srgbClr val="00D4AA"/>
                </a:solidFill>
                <a:latin typeface="JetBrains Mono"/>
              </a:rPr>
              <a:t>drain_timeout</a:t>
            </a:r>
            <a:r>
              <a:rPr sz="1600" b="0">
                <a:solidFill>
                  <a:srgbClr val="FFFFFF"/>
                </a:solidFill>
                <a:latin typeface="Inter"/>
              </a:rPr>
              <a:t> passes</a:t>
            </a:r>
          </a:p>
          <a:p>
            <a:pPr marL="292608" indent="-292608">
              <a:lnSpc>
                <a:spcPct val="120000"/>
              </a:lnSpc>
              <a:spcAft>
                <a:spcPts val="1120"/>
              </a:spcAft>
              <a:buClr>
                <a:srgbClr val="00D4AA"/>
              </a:buClr>
              <a:buFont typeface="Inter"/>
              <a:buChar char="•"/>
            </a:pPr>
            <a:r>
              <a:rPr sz="1600" b="0">
                <a:solidFill>
                  <a:srgbClr val="FFFFFF"/>
                </a:solidFill>
                <a:latin typeface="Inter"/>
              </a:rPr>
              <a:t>Default </a:t>
            </a:r>
            <a:r>
              <a:rPr sz="1472" b="0">
                <a:solidFill>
                  <a:srgbClr val="00D4AA"/>
                </a:solidFill>
                <a:latin typeface="JetBrains Mono"/>
              </a:rPr>
              <a:t>drain_timeout</a:t>
            </a:r>
            <a:r>
              <a:rPr sz="1600" b="0">
                <a:solidFill>
                  <a:srgbClr val="FFFFFF"/>
                </a:solidFill>
                <a:latin typeface="Inter"/>
              </a:rPr>
              <a:t>: 3600 seconds (one hour)</a:t>
            </a:r>
          </a:p>
          <a:p>
            <a:pPr marL="292608" indent="-292608">
              <a:lnSpc>
                <a:spcPct val="120000"/>
              </a:lnSpc>
              <a:spcAft>
                <a:spcPts val="1120"/>
              </a:spcAft>
              <a:buClr>
                <a:srgbClr val="00D4AA"/>
              </a:buClr>
              <a:buFont typeface="Inter"/>
              <a:buChar char="•"/>
            </a:pPr>
            <a:r>
              <a:rPr sz="1600" b="0">
                <a:solidFill>
                  <a:srgbClr val="FFFFFF"/>
                </a:solidFill>
                <a:latin typeface="Inter"/>
              </a:rPr>
              <a:t>Your platform must wait at least that long before force-killing</a:t>
            </a:r>
          </a:p>
        </p:txBody>
      </p:sp>
      <p:pic>
        <p:nvPicPr>
          <p:cNvPr id="6" name="Picture 5" descr="D13-agent-server-scaling-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Putting it together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dev vs start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33472"/>
        </p:xfrm>
        <a:graphic>
          <a:graphicData uri="http://schemas.openxmlformats.org/drawingml/2006/table">
            <a:tbl>
              <a:tblPr firstRow="1" bandRow="1">
                <a:tableStyleId>{5C22544A-7EE6-4342-B048-85BDC9FD1C3A}</a:tableStyleId>
              </a:tblPr>
              <a:tblGrid>
                <a:gridCol w="5451715"/>
                <a:gridCol w="2336449"/>
                <a:gridCol w="3504674"/>
              </a:tblGrid>
              <a:tr h="438912">
                <a:tc>
                  <a:txBody>
                    <a:bodyPr wrap="square"/>
                    <a:lstStyle/>
                    <a:p/>
                  </a:txBody>
                  <a:tcPr marL="91440" marR="91440" marT="45720" marB="45720" anchor="ctr">
                    <a:solidFill>
                      <a:srgbClr val="00D4AA"/>
                    </a:solidFill>
                  </a:tcPr>
                </a:tc>
                <a:tc>
                  <a:txBody>
                    <a:bodyPr wrap="square"/>
                    <a:lstStyle/>
                    <a:p>
                      <a:r>
                        <a:rPr sz="1288" b="0">
                          <a:solidFill>
                            <a:srgbClr val="0A1628"/>
                          </a:solidFill>
                          <a:latin typeface="JetBrains Mono"/>
                        </a:rPr>
                        <a:t>dev</a:t>
                      </a:r>
                    </a:p>
                  </a:txBody>
                  <a:tcPr marL="91440" marR="91440" marT="45720" marB="45720" anchor="ctr">
                    <a:solidFill>
                      <a:srgbClr val="00D4AA"/>
                    </a:solidFill>
                  </a:tcPr>
                </a:tc>
                <a:tc>
                  <a:txBody>
                    <a:bodyPr wrap="square"/>
                    <a:lstStyle/>
                    <a:p>
                      <a:r>
                        <a:rPr sz="1288" b="0">
                          <a:solidFill>
                            <a:srgbClr val="0A1628"/>
                          </a:solidFill>
                          <a:latin typeface="JetBrains Mono"/>
                        </a:rPr>
                        <a:t>start</a:t>
                      </a:r>
                    </a:p>
                  </a:txBody>
                  <a:tcPr marL="91440" marR="91440" marT="45720" marB="45720" anchor="ctr">
                    <a:solidFill>
                      <a:srgbClr val="00D4AA"/>
                    </a:solidFill>
                  </a:tcPr>
                </a:tc>
              </a:tr>
              <a:tr h="438912">
                <a:tc>
                  <a:txBody>
                    <a:bodyPr wrap="square"/>
                    <a:lstStyle/>
                    <a:p>
                      <a:r>
                        <a:rPr sz="1400" b="1">
                          <a:solidFill>
                            <a:srgbClr val="FFFFFF"/>
                          </a:solidFill>
                          <a:latin typeface="Inter"/>
                        </a:rPr>
                        <a:t>Hot reload</a:t>
                      </a:r>
                    </a:p>
                  </a:txBody>
                  <a:tcPr marL="91440" marR="91440" marT="45720" marB="45720" anchor="ctr">
                    <a:solidFill>
                      <a:srgbClr val="1A2742"/>
                    </a:solidFill>
                  </a:tcPr>
                </a:tc>
                <a:tc>
                  <a:txBody>
                    <a:bodyPr wrap="square"/>
                    <a:lstStyle/>
                    <a:p>
                      <a:r>
                        <a:rPr sz="1400" b="0">
                          <a:solidFill>
                            <a:srgbClr val="FFFFFF"/>
                          </a:solidFill>
                          <a:latin typeface="Inter"/>
                        </a:rPr>
                        <a:t>Yes</a:t>
                      </a:r>
                    </a:p>
                  </a:txBody>
                  <a:tcPr marL="91440" marR="91440" marT="45720" marB="45720" anchor="ctr">
                    <a:solidFill>
                      <a:srgbClr val="1A2742"/>
                    </a:solidFill>
                  </a:tcPr>
                </a:tc>
                <a:tc>
                  <a:txBody>
                    <a:bodyPr wrap="square"/>
                    <a:lstStyle/>
                    <a:p>
                      <a:r>
                        <a:rPr sz="1400" b="0">
                          <a:solidFill>
                            <a:srgbClr val="FFFFFF"/>
                          </a:solidFill>
                          <a:latin typeface="Inter"/>
                        </a:rPr>
                        <a:t>No</a:t>
                      </a:r>
                    </a:p>
                  </a:txBody>
                  <a:tcPr marL="91440" marR="91440" marT="45720" marB="45720" anchor="ctr">
                    <a:solidFill>
                      <a:srgbClr val="1A2742"/>
                    </a:solidFill>
                  </a:tcPr>
                </a:tc>
              </a:tr>
              <a:tr h="438912">
                <a:tc>
                  <a:txBody>
                    <a:bodyPr wrap="square"/>
                    <a:lstStyle/>
                    <a:p>
                      <a:r>
                        <a:rPr sz="1400" b="1">
                          <a:solidFill>
                            <a:srgbClr val="FFFFFF"/>
                          </a:solidFill>
                          <a:latin typeface="Inter"/>
                        </a:rPr>
                        <a:t>Idle processes</a:t>
                      </a:r>
                    </a:p>
                  </a:txBody>
                  <a:tcPr marL="91440" marR="91440" marT="45720" marB="45720" anchor="ctr">
                    <a:solidFill>
                      <a:srgbClr val="0F1E35"/>
                    </a:solidFill>
                  </a:tcPr>
                </a:tc>
                <a:tc>
                  <a:txBody>
                    <a:bodyPr wrap="square"/>
                    <a:lstStyle/>
                    <a:p>
                      <a:r>
                        <a:rPr sz="1400" b="0">
                          <a:solidFill>
                            <a:srgbClr val="FFFFFF"/>
                          </a:solidFill>
                          <a:latin typeface="Inter"/>
                        </a:rPr>
                        <a:t>0</a:t>
                      </a:r>
                    </a:p>
                  </a:txBody>
                  <a:tcPr marL="91440" marR="91440" marT="45720" marB="45720" anchor="ctr">
                    <a:solidFill>
                      <a:srgbClr val="0F1E35"/>
                    </a:solidFill>
                  </a:tcPr>
                </a:tc>
                <a:tc>
                  <a:txBody>
                    <a:bodyPr wrap="square"/>
                    <a:lstStyle/>
                    <a:p>
                      <a:r>
                        <a:rPr sz="1400" b="0">
                          <a:solidFill>
                            <a:srgbClr val="FFFFFF"/>
                          </a:solidFill>
                          <a:latin typeface="Inter"/>
                        </a:rPr>
                        <a:t>CPU count</a:t>
                      </a:r>
                    </a:p>
                  </a:txBody>
                  <a:tcPr marL="91440" marR="91440" marT="45720" marB="45720" anchor="ctr">
                    <a:solidFill>
                      <a:srgbClr val="0F1E35"/>
                    </a:solidFill>
                  </a:tcPr>
                </a:tc>
              </a:tr>
              <a:tr h="438912">
                <a:tc>
                  <a:txBody>
                    <a:bodyPr wrap="square"/>
                    <a:lstStyle/>
                    <a:p>
                      <a:r>
                        <a:rPr sz="1400" b="1">
                          <a:solidFill>
                            <a:srgbClr val="FFFFFF"/>
                          </a:solidFill>
                          <a:latin typeface="Inter"/>
                        </a:rPr>
                        <a:t>Load threshold</a:t>
                      </a:r>
                    </a:p>
                  </a:txBody>
                  <a:tcPr marL="91440" marR="91440" marT="45720" marB="45720" anchor="ctr">
                    <a:solidFill>
                      <a:srgbClr val="1A2742"/>
                    </a:solidFill>
                  </a:tcPr>
                </a:tc>
                <a:tc>
                  <a:txBody>
                    <a:bodyPr wrap="square"/>
                    <a:lstStyle/>
                    <a:p>
                      <a:r>
                        <a:rPr sz="1400" b="0">
                          <a:solidFill>
                            <a:srgbClr val="FFFFFF"/>
                          </a:solidFill>
                          <a:latin typeface="Inter"/>
                        </a:rPr>
                        <a:t>Off</a:t>
                      </a:r>
                    </a:p>
                  </a:txBody>
                  <a:tcPr marL="91440" marR="91440" marT="45720" marB="45720" anchor="ctr">
                    <a:solidFill>
                      <a:srgbClr val="1A2742"/>
                    </a:solidFill>
                  </a:tcPr>
                </a:tc>
                <a:tc>
                  <a:txBody>
                    <a:bodyPr wrap="square"/>
                    <a:lstStyle/>
                    <a:p>
                      <a:r>
                        <a:rPr sz="1400" b="0">
                          <a:solidFill>
                            <a:srgbClr val="FFFFFF"/>
                          </a:solidFill>
                          <a:latin typeface="Inter"/>
                        </a:rPr>
                        <a:t>0.7</a:t>
                      </a:r>
                    </a:p>
                  </a:txBody>
                  <a:tcPr marL="91440" marR="91440" marT="45720" marB="45720" anchor="ctr">
                    <a:solidFill>
                      <a:srgbClr val="1A2742"/>
                    </a:solidFill>
                  </a:tcPr>
                </a:tc>
              </a:tr>
              <a:tr h="438912">
                <a:tc>
                  <a:txBody>
                    <a:bodyPr wrap="square"/>
                    <a:lstStyle/>
                    <a:p>
                      <a:r>
                        <a:rPr sz="1400" b="1">
                          <a:solidFill>
                            <a:srgbClr val="FFFFFF"/>
                          </a:solidFill>
                          <a:latin typeface="Inter"/>
                        </a:rPr>
                        <a:t>Health port</a:t>
                      </a:r>
                    </a:p>
                  </a:txBody>
                  <a:tcPr marL="91440" marR="91440" marT="45720" marB="45720" anchor="ctr">
                    <a:solidFill>
                      <a:srgbClr val="0F1E35"/>
                    </a:solidFill>
                  </a:tcPr>
                </a:tc>
                <a:tc>
                  <a:txBody>
                    <a:bodyPr wrap="square"/>
                    <a:lstStyle/>
                    <a:p>
                      <a:r>
                        <a:rPr sz="1400" b="0">
                          <a:solidFill>
                            <a:srgbClr val="FFFFFF"/>
                          </a:solidFill>
                          <a:latin typeface="Inter"/>
                        </a:rPr>
                        <a:t>Random</a:t>
                      </a:r>
                    </a:p>
                  </a:txBody>
                  <a:tcPr marL="91440" marR="91440" marT="45720" marB="45720" anchor="ctr">
                    <a:solidFill>
                      <a:srgbClr val="0F1E35"/>
                    </a:solidFill>
                  </a:tcPr>
                </a:tc>
                <a:tc>
                  <a:txBody>
                    <a:bodyPr wrap="square"/>
                    <a:lstStyle/>
                    <a:p>
                      <a:r>
                        <a:rPr sz="1400" b="0">
                          <a:solidFill>
                            <a:srgbClr val="FFFFFF"/>
                          </a:solidFill>
                          <a:latin typeface="Inter"/>
                        </a:rPr>
                        <a:t>8081</a:t>
                      </a:r>
                    </a:p>
                  </a:txBody>
                  <a:tcPr marL="91440" marR="91440" marT="45720" marB="45720" anchor="ctr">
                    <a:solidFill>
                      <a:srgbClr val="0F1E35"/>
                    </a:solidFill>
                  </a:tcPr>
                </a:tc>
              </a:tr>
              <a:tr h="438912">
                <a:tc>
                  <a:txBody>
                    <a:bodyPr wrap="square"/>
                    <a:lstStyle/>
                    <a:p>
                      <a:r>
                        <a:rPr sz="1400" b="1">
                          <a:solidFill>
                            <a:srgbClr val="FFFFFF"/>
                          </a:solidFill>
                          <a:latin typeface="Inter"/>
                        </a:rPr>
                        <a:t>Log level</a:t>
                      </a:r>
                    </a:p>
                  </a:txBody>
                  <a:tcPr marL="91440" marR="91440" marT="45720" marB="45720" anchor="ctr">
                    <a:solidFill>
                      <a:srgbClr val="1A2742"/>
                    </a:solidFill>
                  </a:tcPr>
                </a:tc>
                <a:tc>
                  <a:txBody>
                    <a:bodyPr wrap="square"/>
                    <a:lstStyle/>
                    <a:p>
                      <a:r>
                        <a:rPr sz="1400" b="0">
                          <a:solidFill>
                            <a:srgbClr val="FFFFFF"/>
                          </a:solidFill>
                          <a:latin typeface="Inter"/>
                        </a:rPr>
                        <a:t>DEBUG</a:t>
                      </a:r>
                    </a:p>
                  </a:txBody>
                  <a:tcPr marL="91440" marR="91440" marT="45720" marB="45720" anchor="ctr">
                    <a:solidFill>
                      <a:srgbClr val="1A2742"/>
                    </a:solidFill>
                  </a:tcPr>
                </a:tc>
                <a:tc>
                  <a:txBody>
                    <a:bodyPr wrap="square"/>
                    <a:lstStyle/>
                    <a:p>
                      <a:r>
                        <a:rPr sz="1400" b="0">
                          <a:solidFill>
                            <a:srgbClr val="FFFFFF"/>
                          </a:solidFill>
                          <a:latin typeface="Inter"/>
                        </a:rPr>
                        <a:t>INFO</a:t>
                      </a:r>
                    </a:p>
                  </a:txBody>
                  <a:tcPr marL="91440" marR="91440" marT="45720" marB="45720" anchor="ctr">
                    <a:solidFill>
                      <a:srgbClr val="1A2742"/>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process per call, prewarmed before it rings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Load threshold and memory limits protect live calls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Draining lets deploys finish every conversation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Dockerising the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package Riley into a production Docker image that runs </a:t>
            </a:r>
            <a:r>
              <a:rPr sz="1288" b="0">
                <a:solidFill>
                  <a:srgbClr val="00D4AA"/>
                </a:solidFill>
                <a:latin typeface="JetBrains Mono"/>
              </a:rPr>
              <a:t>start</a:t>
            </a:r>
            <a:r>
              <a:rPr sz="1400" b="0">
                <a:solidFill>
                  <a:srgbClr val="94A3B8"/>
                </a:solidFill>
                <a:latin typeface="Inter"/>
              </a:rPr>
              <a:t> as a non-root user.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Dockerising the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Read and build a multi-stage Dockerfile that uses uv in the builder and ships a slim runtime image.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Builder installs locked deps; runtime ships slim</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Models downloaded at build time, as non-root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exec</a:t>
            </a:r>
            <a:r>
              <a:rPr sz="1800" b="1">
                <a:solidFill>
                  <a:srgbClr val="FFFFFF"/>
                </a:solidFill>
                <a:latin typeface="Inter"/>
              </a:rPr>
              <a:t>'d </a:t>
            </a:r>
            <a:r>
              <a:rPr sz="1656" b="0">
                <a:solidFill>
                  <a:srgbClr val="00D4AA"/>
                </a:solidFill>
                <a:latin typeface="JetBrains Mono"/>
              </a:rPr>
              <a:t>start</a:t>
            </a:r>
            <a:r>
              <a:rPr sz="1800" b="1">
                <a:solidFill>
                  <a:srgbClr val="FFFFFF"/>
                </a:solidFill>
                <a:latin typeface="Inter"/>
              </a:rPr>
              <a:t> lets SIGTERM reach Python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Deploy to LiveKit Cloud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deploy that image to LiveKit Cloud and manage secrets, logs and rollbacks.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Deploy to LiveKit Cloud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Create and deploy an agent on LiveKit Cloud with the </a:t>
            </a:r>
            <a:r>
              <a:rPr sz="1472" b="0">
                <a:solidFill>
                  <a:srgbClr val="00D4AA"/>
                </a:solidFill>
                <a:latin typeface="JetBrains Mono"/>
              </a:rPr>
              <a:t>lk agent</a:t>
            </a:r>
            <a:r>
              <a:rPr sz="1600" b="0">
                <a:solidFill>
                  <a:srgbClr val="CBD5E1"/>
                </a:solidFill>
                <a:latin typeface="Inter"/>
              </a:rPr>
              <a:t> CLI.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LiveKit Cloud does for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Builds your Dockerfile in the cloud</a:t>
            </a:r>
          </a:p>
          <a:p>
            <a:pPr marL="292608" indent="-292608">
              <a:lnSpc>
                <a:spcPct val="120000"/>
              </a:lnSpc>
              <a:spcAft>
                <a:spcPts val="1539"/>
              </a:spcAft>
              <a:buClr>
                <a:srgbClr val="00D4AA"/>
              </a:buClr>
              <a:buFont typeface="Inter"/>
              <a:buChar char="•"/>
            </a:pPr>
            <a:r>
              <a:rPr sz="2200" b="0">
                <a:solidFill>
                  <a:srgbClr val="FFFFFF"/>
                </a:solidFill>
                <a:latin typeface="Inter"/>
              </a:rPr>
              <a:t>Runs and scales agent servers near your LiveKit project</a:t>
            </a:r>
          </a:p>
          <a:p>
            <a:pPr marL="292608" indent="-292608">
              <a:lnSpc>
                <a:spcPct val="120000"/>
              </a:lnSpc>
              <a:spcAft>
                <a:spcPts val="1539"/>
              </a:spcAft>
              <a:buClr>
                <a:srgbClr val="00D4AA"/>
              </a:buClr>
              <a:buFont typeface="Inter"/>
              <a:buChar char="•"/>
            </a:pPr>
            <a:r>
              <a:rPr sz="2200" b="0">
                <a:solidFill>
                  <a:srgbClr val="FFFFFF"/>
                </a:solidFill>
                <a:latin typeface="Inter"/>
              </a:rPr>
              <a:t>Injects </a:t>
            </a:r>
            <a:r>
              <a:rPr sz="2024" b="0">
                <a:solidFill>
                  <a:srgbClr val="00D4AA"/>
                </a:solidFill>
                <a:latin typeface="JetBrains Mono"/>
              </a:rPr>
              <a:t>LIVEKIT_URL</a:t>
            </a:r>
            <a:r>
              <a:rPr sz="2200" b="0">
                <a:solidFill>
                  <a:srgbClr val="FFFFFF"/>
                </a:solidFill>
                <a:latin typeface="Inter"/>
              </a:rPr>
              <a:t>, </a:t>
            </a:r>
            <a:r>
              <a:rPr sz="2024" b="0">
                <a:solidFill>
                  <a:srgbClr val="00D4AA"/>
                </a:solidFill>
                <a:latin typeface="JetBrains Mono"/>
              </a:rPr>
              <a:t>LIVEKIT_API_KEY</a:t>
            </a:r>
            <a:r>
              <a:rPr sz="2200" b="0">
                <a:solidFill>
                  <a:srgbClr val="FFFFFF"/>
                </a:solidFill>
                <a:latin typeface="Inter"/>
              </a:rPr>
              <a:t>, </a:t>
            </a:r>
            <a:r>
              <a:rPr sz="2024" b="0">
                <a:solidFill>
                  <a:srgbClr val="00D4AA"/>
                </a:solidFill>
                <a:latin typeface="JetBrains Mono"/>
              </a:rPr>
              <a:t>LIVEKIT_API_SECRET</a:t>
            </a:r>
          </a:p>
          <a:p>
            <a:pPr marL="292608" indent="-292608">
              <a:lnSpc>
                <a:spcPct val="120000"/>
              </a:lnSpc>
              <a:spcAft>
                <a:spcPts val="1539"/>
              </a:spcAft>
              <a:buClr>
                <a:srgbClr val="00D4AA"/>
              </a:buClr>
              <a:buFont typeface="Inter"/>
              <a:buChar char="•"/>
            </a:pPr>
            <a:r>
              <a:rPr sz="2200" b="0">
                <a:solidFill>
                  <a:srgbClr val="FFFFFF"/>
                </a:solidFill>
                <a:latin typeface="Inter"/>
              </a:rPr>
              <a:t>Rolling deploys with draining, logs, versions and rollback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deploy loop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uv run pytest</a:t>
            </a:r>
            <a:r>
              <a:rPr sz="2200" b="0">
                <a:solidFill>
                  <a:srgbClr val="FFFFFF"/>
                </a:solidFill>
                <a:latin typeface="Inter"/>
              </a:rPr>
              <a:t> passes locally (and in CI)</a:t>
            </a:r>
          </a:p>
          <a:p>
            <a:pPr marL="292608" indent="-292608">
              <a:lnSpc>
                <a:spcPct val="120000"/>
              </a:lnSpc>
              <a:spcAft>
                <a:spcPts val="1539"/>
              </a:spcAft>
              <a:buClr>
                <a:srgbClr val="00D4AA"/>
              </a:buClr>
              <a:buFont typeface="Inter"/>
              <a:buChar char="•"/>
            </a:pPr>
            <a:r>
              <a:rPr sz="2024" b="0">
                <a:solidFill>
                  <a:srgbClr val="00D4AA"/>
                </a:solidFill>
                <a:latin typeface="JetBrains Mono"/>
              </a:rPr>
              <a:t>lk agent deploy</a:t>
            </a:r>
          </a:p>
          <a:p>
            <a:pPr marL="292608" indent="-292608">
              <a:lnSpc>
                <a:spcPct val="120000"/>
              </a:lnSpc>
              <a:spcAft>
                <a:spcPts val="1539"/>
              </a:spcAft>
              <a:buClr>
                <a:srgbClr val="00D4AA"/>
              </a:buClr>
              <a:buFont typeface="Inter"/>
              <a:buChar char="•"/>
            </a:pPr>
            <a:r>
              <a:rPr sz="2024" b="0">
                <a:solidFill>
                  <a:srgbClr val="00D4AA"/>
                </a:solidFill>
                <a:latin typeface="JetBrains Mono"/>
              </a:rPr>
              <a:t>lk agent status</a:t>
            </a:r>
            <a:r>
              <a:rPr sz="2200" b="0">
                <a:solidFill>
                  <a:srgbClr val="FFFFFF"/>
                </a:solidFill>
                <a:latin typeface="Inter"/>
              </a:rPr>
              <a:t> and one test call</a:t>
            </a:r>
          </a:p>
          <a:p>
            <a:pPr marL="292608" indent="-292608">
              <a:lnSpc>
                <a:spcPct val="120000"/>
              </a:lnSpc>
              <a:spcAft>
                <a:spcPts val="1539"/>
              </a:spcAft>
              <a:buClr>
                <a:srgbClr val="00D4AA"/>
              </a:buClr>
              <a:buFont typeface="Inter"/>
              <a:buChar char="•"/>
            </a:pPr>
            <a:r>
              <a:rPr sz="2200" b="0">
                <a:solidFill>
                  <a:srgbClr val="FFFFFF"/>
                </a:solidFill>
                <a:latin typeface="Inter"/>
              </a:rPr>
              <a:t>Watch logs and metrics for 15 minutes</a:t>
            </a:r>
          </a:p>
          <a:p>
            <a:pPr marL="292608" indent="-292608">
              <a:lnSpc>
                <a:spcPct val="120000"/>
              </a:lnSpc>
              <a:spcAft>
                <a:spcPts val="1539"/>
              </a:spcAft>
              <a:buClr>
                <a:srgbClr val="00D4AA"/>
              </a:buClr>
              <a:buFont typeface="Inter"/>
              <a:buChar char="•"/>
            </a:pPr>
            <a:r>
              <a:rPr sz="2024" b="0">
                <a:solidFill>
                  <a:srgbClr val="00D4AA"/>
                </a:solidFill>
                <a:latin typeface="JetBrains Mono"/>
              </a:rPr>
              <a:t>lk agent rollback</a:t>
            </a:r>
            <a:r>
              <a:rPr sz="2200" b="0">
                <a:solidFill>
                  <a:srgbClr val="FFFFFF"/>
                </a:solidFill>
                <a:latin typeface="Inter"/>
              </a:rPr>
              <a:t> if anything looks wrong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lk agent create</a:t>
            </a:r>
            <a:r>
              <a:rPr sz="1800" b="1">
                <a:solidFill>
                  <a:srgbClr val="FFFFFF"/>
                </a:solidFill>
                <a:latin typeface="Inter"/>
              </a:rPr>
              <a:t>, then </a:t>
            </a:r>
            <a:r>
              <a:rPr sz="1656" b="0">
                <a:solidFill>
                  <a:srgbClr val="00D4AA"/>
                </a:solidFill>
                <a:latin typeface="JetBrains Mono"/>
              </a:rPr>
              <a:t>deploy</a:t>
            </a:r>
            <a:r>
              <a:rPr sz="1800" b="1">
                <a:solidFill>
                  <a:srgbClr val="FFFFFF"/>
                </a:solidFill>
                <a:latin typeface="Inter"/>
              </a:rPr>
              <a:t> for each new version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Secrets in a file the image never sees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Logs, versions, rollback: practise them before you need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Self-hosting option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look at running the same container on your own infrastructure, for teams that need to self-host.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Self-hosting option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List the requirements for self-hosting an agent server on any container platform.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requirements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Outbound network access to LiveKit and your model providers</a:t>
            </a:r>
          </a:p>
          <a:p>
            <a:pPr marL="292608" indent="-292608">
              <a:lnSpc>
                <a:spcPct val="120000"/>
              </a:lnSpc>
              <a:spcAft>
                <a:spcPts val="1539"/>
              </a:spcAft>
              <a:buClr>
                <a:srgbClr val="00D4AA"/>
              </a:buClr>
              <a:buFont typeface="Inter"/>
              <a:buChar char="•"/>
            </a:pPr>
            <a:r>
              <a:rPr sz="2200" b="0">
                <a:solidFill>
                  <a:srgbClr val="FFFFFF"/>
                </a:solidFill>
                <a:latin typeface="Inter"/>
              </a:rPr>
              <a:t>Secrets as environment variables</a:t>
            </a:r>
          </a:p>
          <a:p>
            <a:pPr marL="292608" indent="-292608">
              <a:lnSpc>
                <a:spcPct val="120000"/>
              </a:lnSpc>
              <a:spcAft>
                <a:spcPts val="1539"/>
              </a:spcAft>
              <a:buClr>
                <a:srgbClr val="00D4AA"/>
              </a:buClr>
              <a:buFont typeface="Inter"/>
              <a:buChar char="•"/>
            </a:pPr>
            <a:r>
              <a:rPr sz="2200" b="0">
                <a:solidFill>
                  <a:srgbClr val="FFFFFF"/>
                </a:solidFill>
                <a:latin typeface="Inter"/>
              </a:rPr>
              <a:t>A health check on port 8081</a:t>
            </a:r>
          </a:p>
          <a:p>
            <a:pPr marL="292608" indent="-292608">
              <a:lnSpc>
                <a:spcPct val="120000"/>
              </a:lnSpc>
              <a:spcAft>
                <a:spcPts val="1539"/>
              </a:spcAft>
              <a:buClr>
                <a:srgbClr val="00D4AA"/>
              </a:buClr>
              <a:buFont typeface="Inter"/>
              <a:buChar char="•"/>
            </a:pPr>
            <a:r>
              <a:rPr sz="2200" b="0">
                <a:solidFill>
                  <a:srgbClr val="FFFFFF"/>
                </a:solidFill>
                <a:latin typeface="Inter"/>
              </a:rPr>
              <a:t>A shutdown grace period at least as long as </a:t>
            </a:r>
            <a:r>
              <a:rPr sz="2024" b="0">
                <a:solidFill>
                  <a:srgbClr val="00D4AA"/>
                </a:solidFill>
                <a:latin typeface="JetBrains Mono"/>
              </a:rPr>
              <a:t>drain_timeout</a:t>
            </a:r>
          </a:p>
          <a:p>
            <a:pPr marL="292608" indent="-292608">
              <a:lnSpc>
                <a:spcPct val="120000"/>
              </a:lnSpc>
              <a:spcAft>
                <a:spcPts val="1539"/>
              </a:spcAft>
              <a:buClr>
                <a:srgbClr val="00D4AA"/>
              </a:buClr>
              <a:buFont typeface="Inter"/>
              <a:buChar char="•"/>
            </a:pPr>
            <a:r>
              <a:rPr sz="2200" b="0">
                <a:solidFill>
                  <a:srgbClr val="FFFFFF"/>
                </a:solidFill>
                <a:latin typeface="Inter"/>
              </a:rPr>
              <a:t>Autoscaling on CPU, with headroom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Networking: outbound only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The agent server dials out to LiveKit over a secure WebSocket</a:t>
            </a:r>
          </a:p>
          <a:p>
            <a:pPr marL="292608" indent="-292608">
              <a:lnSpc>
                <a:spcPct val="120000"/>
              </a:lnSpc>
              <a:spcAft>
                <a:spcPts val="1260"/>
              </a:spcAft>
              <a:buClr>
                <a:srgbClr val="00D4AA"/>
              </a:buClr>
              <a:buFont typeface="Inter"/>
              <a:buChar char="•"/>
            </a:pPr>
            <a:r>
              <a:rPr sz="1800" b="0">
                <a:solidFill>
                  <a:srgbClr val="FFFFFF"/>
                </a:solidFill>
                <a:latin typeface="Inter"/>
              </a:rPr>
              <a:t>Media flows through LiveKit, not through a public port on your container</a:t>
            </a:r>
          </a:p>
          <a:p>
            <a:pPr marL="292608" indent="-292608">
              <a:lnSpc>
                <a:spcPct val="120000"/>
              </a:lnSpc>
              <a:spcAft>
                <a:spcPts val="1260"/>
              </a:spcAft>
              <a:buClr>
                <a:srgbClr val="00D4AA"/>
              </a:buClr>
              <a:buFont typeface="Inter"/>
              <a:buChar char="•"/>
            </a:pPr>
            <a:r>
              <a:rPr sz="1800" b="0">
                <a:solidFill>
                  <a:srgbClr val="FFFFFF"/>
                </a:solidFill>
                <a:latin typeface="Inter"/>
              </a:rPr>
              <a:t>No inbound ports needed, except the health check for your platform</a:t>
            </a:r>
          </a:p>
          <a:p>
            <a:pPr marL="292608" indent="-292608">
              <a:lnSpc>
                <a:spcPct val="120000"/>
              </a:lnSpc>
              <a:spcAft>
                <a:spcPts val="1260"/>
              </a:spcAft>
              <a:buClr>
                <a:srgbClr val="00D4AA"/>
              </a:buClr>
              <a:buFont typeface="Inter"/>
              <a:buChar char="•"/>
            </a:pPr>
            <a:r>
              <a:rPr sz="1800" b="0">
                <a:solidFill>
                  <a:srgbClr val="FFFFFF"/>
                </a:solidFill>
                <a:latin typeface="Inter"/>
              </a:rPr>
              <a:t>Allow outbound HTTPS to STT, LLM and TTS providers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Secrets and config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LIVEKIT_URL</a:t>
            </a:r>
            <a:r>
              <a:rPr sz="2200" b="0">
                <a:solidFill>
                  <a:srgbClr val="FFFFFF"/>
                </a:solidFill>
                <a:latin typeface="Inter"/>
              </a:rPr>
              <a:t>, </a:t>
            </a:r>
            <a:r>
              <a:rPr sz="2024" b="0">
                <a:solidFill>
                  <a:srgbClr val="00D4AA"/>
                </a:solidFill>
                <a:latin typeface="JetBrains Mono"/>
              </a:rPr>
              <a:t>LIVEKIT_API_KEY</a:t>
            </a:r>
            <a:r>
              <a:rPr sz="2200" b="0">
                <a:solidFill>
                  <a:srgbClr val="FFFFFF"/>
                </a:solidFill>
                <a:latin typeface="Inter"/>
              </a:rPr>
              <a:t>, </a:t>
            </a:r>
            <a:r>
              <a:rPr sz="2024" b="0">
                <a:solidFill>
                  <a:srgbClr val="00D4AA"/>
                </a:solidFill>
                <a:latin typeface="JetBrains Mono"/>
              </a:rPr>
              <a:t>LIVEKIT_API_SECRET</a:t>
            </a:r>
            <a:r>
              <a:rPr sz="2200" b="0">
                <a:solidFill>
                  <a:srgbClr val="FFFFFF"/>
                </a:solidFill>
                <a:latin typeface="Inter"/>
              </a:rPr>
              <a:t> (you set these when self-hosting)</a:t>
            </a:r>
          </a:p>
          <a:p>
            <a:pPr marL="292608" indent="-292608">
              <a:lnSpc>
                <a:spcPct val="120000"/>
              </a:lnSpc>
              <a:spcAft>
                <a:spcPts val="1539"/>
              </a:spcAft>
              <a:buClr>
                <a:srgbClr val="00D4AA"/>
              </a:buClr>
              <a:buFont typeface="Inter"/>
              <a:buChar char="•"/>
            </a:pPr>
            <a:r>
              <a:rPr sz="2200" b="0">
                <a:solidFill>
                  <a:srgbClr val="FFFFFF"/>
                </a:solidFill>
                <a:latin typeface="Inter"/>
              </a:rPr>
              <a:t>Provider keys and model settings from </a:t>
            </a:r>
            <a:r>
              <a:rPr sz="2024" b="0">
                <a:solidFill>
                  <a:srgbClr val="00D4AA"/>
                </a:solidFill>
                <a:latin typeface="JetBrains Mono"/>
              </a:rPr>
              <a:t>.env.production</a:t>
            </a:r>
          </a:p>
          <a:p>
            <a:pPr marL="292608" indent="-292608">
              <a:lnSpc>
                <a:spcPct val="120000"/>
              </a:lnSpc>
              <a:spcAft>
                <a:spcPts val="1539"/>
              </a:spcAft>
              <a:buClr>
                <a:srgbClr val="00D4AA"/>
              </a:buClr>
              <a:buFont typeface="Inter"/>
              <a:buChar char="•"/>
            </a:pPr>
            <a:r>
              <a:rPr sz="2200" b="0">
                <a:solidFill>
                  <a:srgbClr val="FFFFFF"/>
                </a:solidFill>
                <a:latin typeface="Inter"/>
              </a:rPr>
              <a:t>Use your platform's secret store, never the image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Health checks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GET /</a:t>
            </a:r>
            <a:r>
              <a:rPr sz="2200" b="0">
                <a:solidFill>
                  <a:srgbClr val="FFFFFF"/>
                </a:solidFill>
                <a:latin typeface="Inter"/>
              </a:rPr>
              <a:t> on port 8081 → </a:t>
            </a:r>
            <a:r>
              <a:rPr sz="2024" b="0">
                <a:solidFill>
                  <a:srgbClr val="00D4AA"/>
                </a:solidFill>
                <a:latin typeface="JetBrains Mono"/>
              </a:rPr>
              <a:t>200 OK</a:t>
            </a:r>
            <a:r>
              <a:rPr sz="2200" b="0">
                <a:solidFill>
                  <a:srgbClr val="FFFFFF"/>
                </a:solidFill>
                <a:latin typeface="Inter"/>
              </a:rPr>
              <a:t> when connected, </a:t>
            </a:r>
            <a:r>
              <a:rPr sz="2024" b="0">
                <a:solidFill>
                  <a:srgbClr val="00D4AA"/>
                </a:solidFill>
                <a:latin typeface="JetBrains Mono"/>
              </a:rPr>
              <a:t>503</a:t>
            </a:r>
            <a:r>
              <a:rPr sz="2200" b="0">
                <a:solidFill>
                  <a:srgbClr val="FFFFFF"/>
                </a:solidFill>
                <a:latin typeface="Inter"/>
              </a:rPr>
              <a:t> when not</a:t>
            </a:r>
          </a:p>
          <a:p>
            <a:pPr marL="292608" indent="-292608">
              <a:lnSpc>
                <a:spcPct val="120000"/>
              </a:lnSpc>
              <a:spcAft>
                <a:spcPts val="1539"/>
              </a:spcAft>
              <a:buClr>
                <a:srgbClr val="00D4AA"/>
              </a:buClr>
              <a:buFont typeface="Inter"/>
              <a:buChar char="•"/>
            </a:pPr>
            <a:r>
              <a:rPr sz="2024" b="0">
                <a:solidFill>
                  <a:srgbClr val="00D4AA"/>
                </a:solidFill>
                <a:latin typeface="JetBrains Mono"/>
              </a:rPr>
              <a:t>GET /worker</a:t>
            </a:r>
            <a:r>
              <a:rPr sz="2200" b="0">
                <a:solidFill>
                  <a:srgbClr val="FFFFFF"/>
                </a:solidFill>
                <a:latin typeface="Inter"/>
              </a:rPr>
              <a:t> → JSON with agent name, active jobs and load</a:t>
            </a:r>
          </a:p>
          <a:p>
            <a:pPr marL="292608" indent="-292608">
              <a:lnSpc>
                <a:spcPct val="120000"/>
              </a:lnSpc>
              <a:spcAft>
                <a:spcPts val="1539"/>
              </a:spcAft>
              <a:buClr>
                <a:srgbClr val="00D4AA"/>
              </a:buClr>
              <a:buFont typeface="Inter"/>
              <a:buChar char="•"/>
            </a:pPr>
            <a:r>
              <a:rPr sz="2200" b="0">
                <a:solidFill>
                  <a:srgbClr val="FFFFFF"/>
                </a:solidFill>
                <a:latin typeface="Inter"/>
              </a:rPr>
              <a:t>Use </a:t>
            </a:r>
            <a:r>
              <a:rPr sz="2024" b="0">
                <a:solidFill>
                  <a:srgbClr val="00D4AA"/>
                </a:solidFill>
                <a:latin typeface="JetBrains Mono"/>
              </a:rPr>
              <a:t>/</a:t>
            </a:r>
            <a:r>
              <a:rPr sz="2200" b="0">
                <a:solidFill>
                  <a:srgbClr val="FFFFFF"/>
                </a:solidFill>
                <a:latin typeface="Inter"/>
              </a:rPr>
              <a:t> for liveness; alert on repeated failures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Graceful shutdown: the setting that bites everyone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Autoscaling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Scale on CPU: it's what </a:t>
            </a:r>
            <a:r>
              <a:rPr sz="1656" b="0">
                <a:solidFill>
                  <a:srgbClr val="00D4AA"/>
                </a:solidFill>
                <a:latin typeface="JetBrains Mono"/>
              </a:rPr>
              <a:t>load_threshold</a:t>
            </a:r>
            <a:r>
              <a:rPr sz="1800" b="0">
                <a:solidFill>
                  <a:srgbClr val="FFFFFF"/>
                </a:solidFill>
                <a:latin typeface="Inter"/>
              </a:rPr>
              <a:t> uses</a:t>
            </a:r>
          </a:p>
          <a:p>
            <a:pPr marL="292608" indent="-292608">
              <a:lnSpc>
                <a:spcPct val="120000"/>
              </a:lnSpc>
              <a:spcAft>
                <a:spcPts val="1260"/>
              </a:spcAft>
              <a:buClr>
                <a:srgbClr val="00D4AA"/>
              </a:buClr>
              <a:buFont typeface="Inter"/>
              <a:buChar char="•"/>
            </a:pPr>
            <a:r>
              <a:rPr sz="1800" b="0">
                <a:solidFill>
                  <a:srgbClr val="FFFFFF"/>
                </a:solidFill>
                <a:latin typeface="Inter"/>
              </a:rPr>
              <a:t>Target below 0.7 so new containers start before servers refuse jobs</a:t>
            </a:r>
          </a:p>
          <a:p>
            <a:pPr marL="292608" indent="-292608">
              <a:lnSpc>
                <a:spcPct val="120000"/>
              </a:lnSpc>
              <a:spcAft>
                <a:spcPts val="1260"/>
              </a:spcAft>
              <a:buClr>
                <a:srgbClr val="00D4AA"/>
              </a:buClr>
              <a:buFont typeface="Inter"/>
              <a:buChar char="•"/>
            </a:pPr>
            <a:r>
              <a:rPr sz="1800" b="0">
                <a:solidFill>
                  <a:srgbClr val="FFFFFF"/>
                </a:solidFill>
                <a:latin typeface="Inter"/>
              </a:rPr>
              <a:t>Keep a minimum of 2 replicas for redundancy</a:t>
            </a:r>
          </a:p>
          <a:p>
            <a:pPr marL="292608" indent="-292608">
              <a:lnSpc>
                <a:spcPct val="120000"/>
              </a:lnSpc>
              <a:spcAft>
                <a:spcPts val="1260"/>
              </a:spcAft>
              <a:buClr>
                <a:srgbClr val="00D4AA"/>
              </a:buClr>
              <a:buFont typeface="Inter"/>
              <a:buChar char="•"/>
            </a:pPr>
            <a:r>
              <a:rPr sz="1800" b="0">
                <a:solidFill>
                  <a:srgbClr val="FFFFFF"/>
                </a:solidFill>
                <a:latin typeface="Inter"/>
              </a:rPr>
              <a:t>Scale-in triggers draining: that's fine, if the grace period is right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Self-host or managed?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536192"/>
        </p:xfrm>
        <a:graphic>
          <a:graphicData uri="http://schemas.openxmlformats.org/drawingml/2006/table">
            <a:tbl>
              <a:tblPr firstRow="1" bandRow="1">
                <a:tableStyleId>{5C22544A-7EE6-4342-B048-85BDC9FD1C3A}</a:tableStyleId>
              </a:tblPr>
              <a:tblGrid>
                <a:gridCol w="5836748"/>
                <a:gridCol w="5456091"/>
              </a:tblGrid>
              <a:tr h="384048">
                <a:tc>
                  <a:txBody>
                    <a:bodyPr wrap="square"/>
                    <a:lstStyle/>
                    <a:p>
                      <a:r>
                        <a:rPr sz="1200" b="1">
                          <a:solidFill>
                            <a:srgbClr val="0A1628"/>
                          </a:solidFill>
                          <a:latin typeface="Inter"/>
                        </a:rPr>
                        <a:t>Self-host when...</a:t>
                      </a:r>
                    </a:p>
                  </a:txBody>
                  <a:tcPr marL="91440" marR="91440" marT="45720" marB="45720" anchor="ctr">
                    <a:solidFill>
                      <a:srgbClr val="00D4AA"/>
                    </a:solidFill>
                  </a:tcPr>
                </a:tc>
                <a:tc>
                  <a:txBody>
                    <a:bodyPr wrap="square"/>
                    <a:lstStyle/>
                    <a:p>
                      <a:r>
                        <a:rPr sz="1200" b="1">
                          <a:solidFill>
                            <a:srgbClr val="0A1628"/>
                          </a:solidFill>
                          <a:latin typeface="Inter"/>
                        </a:rPr>
                        <a:t>Use LiveKit Cloud agents when...</a:t>
                      </a:r>
                    </a:p>
                  </a:txBody>
                  <a:tcPr marL="91440" marR="91440" marT="45720" marB="45720" anchor="ctr">
                    <a:solidFill>
                      <a:srgbClr val="00D4AA"/>
                    </a:solidFill>
                  </a:tcPr>
                </a:tc>
              </a:tr>
              <a:tr h="384048">
                <a:tc>
                  <a:txBody>
                    <a:bodyPr wrap="square"/>
                    <a:lstStyle/>
                    <a:p>
                      <a:r>
                        <a:rPr sz="1200" b="1">
                          <a:solidFill>
                            <a:srgbClr val="FFFFFF"/>
                          </a:solidFill>
                          <a:latin typeface="Inter"/>
                        </a:rPr>
                        <a:t>Compliance requires your own account or region</a:t>
                      </a:r>
                    </a:p>
                  </a:txBody>
                  <a:tcPr marL="91440" marR="91440" marT="45720" marB="45720" anchor="ctr">
                    <a:solidFill>
                      <a:srgbClr val="1A2742"/>
                    </a:solidFill>
                  </a:tcPr>
                </a:tc>
                <a:tc>
                  <a:txBody>
                    <a:bodyPr wrap="square"/>
                    <a:lstStyle/>
                    <a:p>
                      <a:r>
                        <a:rPr sz="1200" b="0">
                          <a:solidFill>
                            <a:srgbClr val="FFFFFF"/>
                          </a:solidFill>
                          <a:latin typeface="Inter"/>
                        </a:rPr>
                        <a:t>You want the fastest path to production</a:t>
                      </a:r>
                    </a:p>
                  </a:txBody>
                  <a:tcPr marL="91440" marR="91440" marT="45720" marB="45720" anchor="ctr">
                    <a:solidFill>
                      <a:srgbClr val="1A2742"/>
                    </a:solidFill>
                  </a:tcPr>
                </a:tc>
              </a:tr>
              <a:tr h="384048">
                <a:tc>
                  <a:txBody>
                    <a:bodyPr wrap="square"/>
                    <a:lstStyle/>
                    <a:p>
                      <a:r>
                        <a:rPr sz="1200" b="1">
                          <a:solidFill>
                            <a:srgbClr val="FFFFFF"/>
                          </a:solidFill>
                          <a:latin typeface="Inter"/>
                        </a:rPr>
                        <a:t>You already run a container platform well</a:t>
                      </a:r>
                    </a:p>
                  </a:txBody>
                  <a:tcPr marL="91440" marR="91440" marT="45720" marB="45720" anchor="ctr">
                    <a:solidFill>
                      <a:srgbClr val="0F1E35"/>
                    </a:solidFill>
                  </a:tcPr>
                </a:tc>
                <a:tc>
                  <a:txBody>
                    <a:bodyPr wrap="square"/>
                    <a:lstStyle/>
                    <a:p>
                      <a:r>
                        <a:rPr sz="1200" b="0">
                          <a:solidFill>
                            <a:srgbClr val="FFFFFF"/>
                          </a:solidFill>
                          <a:latin typeface="Inter"/>
                        </a:rPr>
                        <a:t>You don't have a platform team</a:t>
                      </a:r>
                    </a:p>
                  </a:txBody>
                  <a:tcPr marL="91440" marR="91440" marT="45720" marB="45720" anchor="ctr">
                    <a:solidFill>
                      <a:srgbClr val="0F1E35"/>
                    </a:solidFill>
                  </a:tcPr>
                </a:tc>
              </a:tr>
              <a:tr h="384048">
                <a:tc>
                  <a:txBody>
                    <a:bodyPr wrap="square"/>
                    <a:lstStyle/>
                    <a:p>
                      <a:r>
                        <a:rPr sz="1200" b="1">
                          <a:solidFill>
                            <a:srgbClr val="FFFFFF"/>
                          </a:solidFill>
                          <a:latin typeface="Inter"/>
                        </a:rPr>
                        <a:t>You need custom networking or sidecars</a:t>
                      </a:r>
                    </a:p>
                  </a:txBody>
                  <a:tcPr marL="91440" marR="91440" marT="45720" marB="45720" anchor="ctr">
                    <a:solidFill>
                      <a:srgbClr val="1A2742"/>
                    </a:solidFill>
                  </a:tcPr>
                </a:tc>
                <a:tc>
                  <a:txBody>
                    <a:bodyPr wrap="square"/>
                    <a:lstStyle/>
                    <a:p>
                      <a:r>
                        <a:rPr sz="1200" b="0">
                          <a:solidFill>
                            <a:srgbClr val="FFFFFF"/>
                          </a:solidFill>
                          <a:latin typeface="Inter"/>
                        </a:rPr>
                        <a:t>Rollbacks and scaling should be one command</a:t>
                      </a:r>
                    </a:p>
                  </a:txBody>
                  <a:tcPr marL="91440" marR="91440" marT="45720" marB="45720" anchor="ctr">
                    <a:solidFill>
                      <a:srgbClr val="1A274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Outbound-only networking plus a health check on 8081</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Grace period at least as long as </a:t>
            </a:r>
            <a:r>
              <a:rPr sz="1656" b="0">
                <a:solidFill>
                  <a:srgbClr val="00D4AA"/>
                </a:solidFill>
                <a:latin typeface="JetBrains Mono"/>
              </a:rPr>
              <a:t>drain_timeout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Scale on CPU below 0.7, two replicas minimum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 web front end for Riley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give Riley a web front end so people can talk to it from a browser.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 web front end for Riley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LiveKit React agent starter against your LiveKit project.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pieces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The browser needs a short-lived access token to join a room</a:t>
            </a:r>
          </a:p>
          <a:p>
            <a:pPr marL="292608" indent="-292608">
              <a:lnSpc>
                <a:spcPct val="120000"/>
              </a:lnSpc>
              <a:spcAft>
                <a:spcPts val="1120"/>
              </a:spcAft>
              <a:buClr>
                <a:srgbClr val="00D4AA"/>
              </a:buClr>
              <a:buFont typeface="Inter"/>
              <a:buChar char="•"/>
            </a:pPr>
            <a:r>
              <a:rPr sz="1600" b="0">
                <a:solidFill>
                  <a:srgbClr val="FFFFFF"/>
                </a:solidFill>
                <a:latin typeface="Inter"/>
              </a:rPr>
              <a:t>Only a server may mint tokens, because it needs your API secret</a:t>
            </a:r>
          </a:p>
          <a:p>
            <a:pPr marL="292608" indent="-292608">
              <a:lnSpc>
                <a:spcPct val="120000"/>
              </a:lnSpc>
              <a:spcAft>
                <a:spcPts val="1120"/>
              </a:spcAft>
              <a:buClr>
                <a:srgbClr val="00D4AA"/>
              </a:buClr>
              <a:buFont typeface="Inter"/>
              <a:buChar char="•"/>
            </a:pPr>
            <a:r>
              <a:rPr sz="1600" b="0">
                <a:solidFill>
                  <a:srgbClr val="FFFFFF"/>
                </a:solidFill>
                <a:latin typeface="Inter"/>
              </a:rPr>
              <a:t>The token can ask LiveKit to dispatch a named agent into the room</a:t>
            </a:r>
          </a:p>
        </p:txBody>
      </p:sp>
      <p:sp>
        <p:nvSpPr>
          <p:cNvPr id="6" name="Rounded Rectangle 5"/>
          <p:cNvSpPr/>
          <p:nvPr/>
        </p:nvSpPr>
        <p:spPr>
          <a:xfrm>
            <a:off x="4983480" y="1325880"/>
            <a:ext cx="676656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257800" y="1508760"/>
            <a:ext cx="621792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8" name="TextBox 7"/>
          <p:cNvSpPr txBox="1"/>
          <p:nvPr/>
        </p:nvSpPr>
        <p:spPr>
          <a:xfrm>
            <a:off x="5257800" y="1920240"/>
            <a:ext cx="621792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Browser (React app) → Token server (your backend) → LiveKit room ← Riley (deployed agent)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Before you put this on a real website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Rate-limit the token route (per IP and per day)</a:t>
            </a:r>
          </a:p>
          <a:p>
            <a:pPr marL="292608" indent="-292608">
              <a:lnSpc>
                <a:spcPct val="120000"/>
              </a:lnSpc>
              <a:spcAft>
                <a:spcPts val="1539"/>
              </a:spcAft>
              <a:buClr>
                <a:srgbClr val="00D4AA"/>
              </a:buClr>
              <a:buFont typeface="Inter"/>
              <a:buChar char="•"/>
            </a:pPr>
            <a:r>
              <a:rPr sz="2200" b="0">
                <a:solidFill>
                  <a:srgbClr val="FFFFFF"/>
                </a:solidFill>
                <a:latin typeface="Inter"/>
              </a:rPr>
              <a:t>Add bot protection if the page is public</a:t>
            </a:r>
          </a:p>
          <a:p>
            <a:pPr marL="292608" indent="-292608">
              <a:lnSpc>
                <a:spcPct val="120000"/>
              </a:lnSpc>
              <a:spcAft>
                <a:spcPts val="1539"/>
              </a:spcAft>
              <a:buClr>
                <a:srgbClr val="00D4AA"/>
              </a:buClr>
              <a:buFont typeface="Inter"/>
              <a:buChar char="•"/>
            </a:pPr>
            <a:r>
              <a:rPr sz="2200" b="0">
                <a:solidFill>
                  <a:srgbClr val="FFFFFF"/>
                </a:solidFill>
                <a:latin typeface="Inter"/>
              </a:rPr>
              <a:t>Set a maximum call length in the agent</a:t>
            </a:r>
          </a:p>
          <a:p>
            <a:pPr marL="292608" indent="-292608">
              <a:lnSpc>
                <a:spcPct val="120000"/>
              </a:lnSpc>
              <a:spcAft>
                <a:spcPts val="1539"/>
              </a:spcAft>
              <a:buClr>
                <a:srgbClr val="00D4AA"/>
              </a:buClr>
              <a:buFont typeface="Inter"/>
              <a:buChar char="•"/>
            </a:pPr>
            <a:r>
              <a:rPr sz="2200" b="0">
                <a:solidFill>
                  <a:srgbClr val="FFFFFF"/>
                </a:solidFill>
                <a:latin typeface="Inter"/>
              </a:rPr>
              <a:t>Deploy the front end (any Next.js host) with secrets in its environment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React starter plus a server-side token route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Tokens dispatch </a:t>
            </a:r>
            <a:r>
              <a:rPr sz="1656" b="0">
                <a:solidFill>
                  <a:srgbClr val="00D4AA"/>
                </a:solidFill>
                <a:latin typeface="JetBrains Mono"/>
              </a:rPr>
              <a:t>riley-receptionist</a:t>
            </a:r>
            <a:r>
              <a:rPr sz="1800" b="1">
                <a:solidFill>
                  <a:srgbClr val="FFFFFF"/>
                </a:solidFill>
                <a:latin typeface="Inter"/>
              </a:rPr>
              <a:t> into a fresh room</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API secret never reaches the browser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Production readiness checklist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production readiness checklist, so you know Riley is ready before real callers arrive.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Production readiness checklist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Apply a production readiness checklist covering resilience, observability, security, operations and compliance.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areas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Resilience</a:t>
            </a:r>
          </a:p>
          <a:p>
            <a:pPr marL="292608" indent="-292608">
              <a:lnSpc>
                <a:spcPct val="120000"/>
              </a:lnSpc>
              <a:spcAft>
                <a:spcPts val="1539"/>
              </a:spcAft>
              <a:buClr>
                <a:srgbClr val="00D4AA"/>
              </a:buClr>
              <a:buFont typeface="Inter"/>
              <a:buChar char="•"/>
            </a:pPr>
            <a:r>
              <a:rPr sz="2200" b="0">
                <a:solidFill>
                  <a:srgbClr val="FFFFFF"/>
                </a:solidFill>
                <a:latin typeface="Inter"/>
              </a:rPr>
              <a:t>Observability</a:t>
            </a:r>
          </a:p>
          <a:p>
            <a:pPr marL="292608" indent="-292608">
              <a:lnSpc>
                <a:spcPct val="120000"/>
              </a:lnSpc>
              <a:spcAft>
                <a:spcPts val="1539"/>
              </a:spcAft>
              <a:buClr>
                <a:srgbClr val="00D4AA"/>
              </a:buClr>
              <a:buFont typeface="Inter"/>
              <a:buChar char="•"/>
            </a:pPr>
            <a:r>
              <a:rPr sz="2200" b="0">
                <a:solidFill>
                  <a:srgbClr val="FFFFFF"/>
                </a:solidFill>
                <a:latin typeface="Inter"/>
              </a:rPr>
              <a:t>Security and privacy</a:t>
            </a:r>
          </a:p>
          <a:p>
            <a:pPr marL="292608" indent="-292608">
              <a:lnSpc>
                <a:spcPct val="120000"/>
              </a:lnSpc>
              <a:spcAft>
                <a:spcPts val="1539"/>
              </a:spcAft>
              <a:buClr>
                <a:srgbClr val="00D4AA"/>
              </a:buClr>
              <a:buFont typeface="Inter"/>
              <a:buChar char="•"/>
            </a:pPr>
            <a:r>
              <a:rPr sz="2200" b="0">
                <a:solidFill>
                  <a:srgbClr val="FFFFFF"/>
                </a:solidFill>
                <a:latin typeface="Inter"/>
              </a:rPr>
              <a:t>Operations</a:t>
            </a:r>
          </a:p>
          <a:p>
            <a:pPr marL="292608" indent="-292608">
              <a:lnSpc>
                <a:spcPct val="120000"/>
              </a:lnSpc>
              <a:spcAft>
                <a:spcPts val="1539"/>
              </a:spcAft>
              <a:buClr>
                <a:srgbClr val="00D4AA"/>
              </a:buClr>
              <a:buFont typeface="Inter"/>
              <a:buChar char="•"/>
            </a:pPr>
            <a:r>
              <a:rPr sz="2200" b="0">
                <a:solidFill>
                  <a:srgbClr val="FFFFFF"/>
                </a:solidFill>
                <a:latin typeface="Inter"/>
              </a:rPr>
              <a:t>Compliance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Resilience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Fallback models for STT, LLM and TTS</a:t>
            </a:r>
          </a:p>
          <a:p>
            <a:pPr marL="292608" indent="-292608">
              <a:lnSpc>
                <a:spcPct val="120000"/>
              </a:lnSpc>
              <a:spcAft>
                <a:spcPts val="1260"/>
              </a:spcAft>
              <a:buClr>
                <a:srgbClr val="00D4AA"/>
              </a:buClr>
              <a:buFont typeface="Inter"/>
              <a:buChar char="•"/>
            </a:pPr>
            <a:r>
              <a:rPr sz="1800" b="0">
                <a:solidFill>
                  <a:srgbClr val="FFFFFF"/>
                </a:solidFill>
                <a:latin typeface="Inter"/>
              </a:rPr>
              <a:t>Timeouts and retries on every provider (</a:t>
            </a:r>
            <a:r>
              <a:rPr sz="1656" b="0">
                <a:solidFill>
                  <a:srgbClr val="00D4AA"/>
                </a:solidFill>
                <a:latin typeface="JetBrains Mono"/>
              </a:rPr>
              <a:t>conn_options</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Spoken error recovery: a pre-written line and a transfer</a:t>
            </a:r>
          </a:p>
          <a:p>
            <a:pPr marL="292608" indent="-292608">
              <a:lnSpc>
                <a:spcPct val="120000"/>
              </a:lnSpc>
              <a:spcAft>
                <a:spcPts val="1260"/>
              </a:spcAft>
              <a:buClr>
                <a:srgbClr val="00D4AA"/>
              </a:buClr>
              <a:buFont typeface="Inter"/>
              <a:buChar char="•"/>
            </a:pPr>
            <a:r>
              <a:rPr sz="1800" b="0">
                <a:solidFill>
                  <a:srgbClr val="FFFFFF"/>
                </a:solidFill>
                <a:latin typeface="Inter"/>
              </a:rPr>
              <a:t>Graceful degradation: if booking is down, take a message</a:t>
            </a:r>
          </a:p>
          <a:p>
            <a:pPr marL="292608" indent="-292608">
              <a:lnSpc>
                <a:spcPct val="120000"/>
              </a:lnSpc>
              <a:spcAft>
                <a:spcPts val="1260"/>
              </a:spcAft>
              <a:buClr>
                <a:srgbClr val="00D4AA"/>
              </a:buClr>
              <a:buFont typeface="Inter"/>
              <a:buChar char="•"/>
            </a:pPr>
            <a:r>
              <a:rPr sz="1800" b="0">
                <a:solidFill>
                  <a:srgbClr val="FFFFFF"/>
                </a:solidFill>
                <a:latin typeface="Inter"/>
              </a:rPr>
              <a:t>Maximum call length and silence handling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Observability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Metrics exported: latency (p50/p95), cost per minute, tool errors</a:t>
            </a:r>
          </a:p>
          <a:p>
            <a:pPr marL="292608" indent="-292608">
              <a:lnSpc>
                <a:spcPct val="120000"/>
              </a:lnSpc>
              <a:spcAft>
                <a:spcPts val="1539"/>
              </a:spcAft>
              <a:buClr>
                <a:srgbClr val="00D4AA"/>
              </a:buClr>
              <a:buFont typeface="Inter"/>
              <a:buChar char="•"/>
            </a:pPr>
            <a:r>
              <a:rPr sz="2200" b="0">
                <a:solidFill>
                  <a:srgbClr val="FFFFFF"/>
                </a:solidFill>
                <a:latin typeface="Inter"/>
              </a:rPr>
              <a:t>Traces for every call, with PII redaction</a:t>
            </a:r>
          </a:p>
          <a:p>
            <a:pPr marL="292608" indent="-292608">
              <a:lnSpc>
                <a:spcPct val="120000"/>
              </a:lnSpc>
              <a:spcAft>
                <a:spcPts val="1539"/>
              </a:spcAft>
              <a:buClr>
                <a:srgbClr val="00D4AA"/>
              </a:buClr>
              <a:buFont typeface="Inter"/>
              <a:buChar char="•"/>
            </a:pPr>
            <a:r>
              <a:rPr sz="2200" b="0">
                <a:solidFill>
                  <a:srgbClr val="FFFFFF"/>
                </a:solidFill>
                <a:latin typeface="Inter"/>
              </a:rPr>
              <a:t>Alerts: p95 latency, error rate, transfer rate, spend</a:t>
            </a:r>
          </a:p>
          <a:p>
            <a:pPr marL="292608" indent="-292608">
              <a:lnSpc>
                <a:spcPct val="120000"/>
              </a:lnSpc>
              <a:spcAft>
                <a:spcPts val="1539"/>
              </a:spcAft>
              <a:buClr>
                <a:srgbClr val="00D4AA"/>
              </a:buClr>
              <a:buFont typeface="Inter"/>
              <a:buChar char="•"/>
            </a:pPr>
            <a:r>
              <a:rPr sz="2200" b="0">
                <a:solidFill>
                  <a:srgbClr val="FFFFFF"/>
                </a:solidFill>
                <a:latin typeface="Inter"/>
              </a:rPr>
              <a:t>Call outcomes recorded: booked, transferred, abandoned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Security and privacy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Secrets only in the platform's secret store; rotation plan</a:t>
            </a:r>
          </a:p>
          <a:p>
            <a:pPr marL="292608" indent="-292608">
              <a:lnSpc>
                <a:spcPct val="120000"/>
              </a:lnSpc>
              <a:spcAft>
                <a:spcPts val="1260"/>
              </a:spcAft>
              <a:buClr>
                <a:srgbClr val="00D4AA"/>
              </a:buClr>
              <a:buFont typeface="Inter"/>
              <a:buChar char="•"/>
            </a:pPr>
            <a:r>
              <a:rPr sz="1656" b="0">
                <a:solidFill>
                  <a:srgbClr val="00D4AA"/>
                </a:solidFill>
                <a:latin typeface="JetBrains Mono"/>
              </a:rPr>
              <a:t>verify_caller</a:t>
            </a:r>
            <a:r>
              <a:rPr sz="1800" b="0">
                <a:solidFill>
                  <a:srgbClr val="FFFFFF"/>
                </a:solidFill>
                <a:latin typeface="Inter"/>
              </a:rPr>
              <a:t> required before revealing or changing appointments</a:t>
            </a:r>
          </a:p>
          <a:p>
            <a:pPr marL="292608" indent="-292608">
              <a:lnSpc>
                <a:spcPct val="120000"/>
              </a:lnSpc>
              <a:spcAft>
                <a:spcPts val="1260"/>
              </a:spcAft>
              <a:buClr>
                <a:srgbClr val="00D4AA"/>
              </a:buClr>
              <a:buFont typeface="Inter"/>
              <a:buChar char="•"/>
            </a:pPr>
            <a:r>
              <a:rPr sz="1800" b="0">
                <a:solidFill>
                  <a:srgbClr val="FFFFFF"/>
                </a:solidFill>
                <a:latin typeface="Inter"/>
              </a:rPr>
              <a:t>Transfer target fixed in config; international dialing off on the trunk</a:t>
            </a:r>
          </a:p>
          <a:p>
            <a:pPr marL="292608" indent="-292608">
              <a:lnSpc>
                <a:spcPct val="120000"/>
              </a:lnSpc>
              <a:spcAft>
                <a:spcPts val="1260"/>
              </a:spcAft>
              <a:buClr>
                <a:srgbClr val="00D4AA"/>
              </a:buClr>
              <a:buFont typeface="Inter"/>
              <a:buChar char="•"/>
            </a:pPr>
            <a:r>
              <a:rPr sz="1800" b="0">
                <a:solidFill>
                  <a:srgbClr val="FFFFFF"/>
                </a:solidFill>
                <a:latin typeface="Inter"/>
              </a:rPr>
              <a:t>Safety tests (Section 11) passing in CI</a:t>
            </a:r>
          </a:p>
          <a:p>
            <a:pPr marL="292608" indent="-292608">
              <a:lnSpc>
                <a:spcPct val="120000"/>
              </a:lnSpc>
              <a:spcAft>
                <a:spcPts val="1260"/>
              </a:spcAft>
              <a:buClr>
                <a:srgbClr val="00D4AA"/>
              </a:buClr>
              <a:buFont typeface="Inter"/>
              <a:buChar char="•"/>
            </a:pPr>
            <a:r>
              <a:rPr sz="1800" b="0">
                <a:solidFill>
                  <a:srgbClr val="FFFFFF"/>
                </a:solidFill>
                <a:latin typeface="Inter"/>
              </a:rPr>
              <a:t>Retention settings applied at every provider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Operations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Pinned dependency versions and a lock file</a:t>
            </a:r>
          </a:p>
          <a:p>
            <a:pPr marL="292608" indent="-292608">
              <a:lnSpc>
                <a:spcPct val="120000"/>
              </a:lnSpc>
              <a:spcAft>
                <a:spcPts val="1539"/>
              </a:spcAft>
              <a:buClr>
                <a:srgbClr val="00D4AA"/>
              </a:buClr>
              <a:buFont typeface="Inter"/>
              <a:buChar char="•"/>
            </a:pPr>
            <a:r>
              <a:rPr sz="2200" b="0">
                <a:solidFill>
                  <a:srgbClr val="FFFFFF"/>
                </a:solidFill>
                <a:latin typeface="Inter"/>
              </a:rPr>
              <a:t>Tested rollback (you've actually run it)</a:t>
            </a:r>
          </a:p>
          <a:p>
            <a:pPr marL="292608" indent="-292608">
              <a:lnSpc>
                <a:spcPct val="120000"/>
              </a:lnSpc>
              <a:spcAft>
                <a:spcPts val="1539"/>
              </a:spcAft>
              <a:buClr>
                <a:srgbClr val="00D4AA"/>
              </a:buClr>
              <a:buFont typeface="Inter"/>
              <a:buChar char="•"/>
            </a:pPr>
            <a:r>
              <a:rPr sz="2200" b="0">
                <a:solidFill>
                  <a:srgbClr val="FFFFFF"/>
                </a:solidFill>
                <a:latin typeface="Inter"/>
              </a:rPr>
              <a:t>Draining verified (grace period ≥ </a:t>
            </a:r>
            <a:r>
              <a:rPr sz="2024" b="0">
                <a:solidFill>
                  <a:srgbClr val="00D4AA"/>
                </a:solidFill>
                <a:latin typeface="JetBrains Mono"/>
              </a:rPr>
              <a:t>drain_timeout</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Load tested at 2× expected peak</a:t>
            </a:r>
          </a:p>
          <a:p>
            <a:pPr marL="292608" indent="-292608">
              <a:lnSpc>
                <a:spcPct val="120000"/>
              </a:lnSpc>
              <a:spcAft>
                <a:spcPts val="1539"/>
              </a:spcAft>
              <a:buClr>
                <a:srgbClr val="00D4AA"/>
              </a:buClr>
              <a:buFont typeface="Inter"/>
              <a:buChar char="•"/>
            </a:pPr>
            <a:r>
              <a:rPr sz="2200" b="0">
                <a:solidFill>
                  <a:srgbClr val="FFFFFF"/>
                </a:solidFill>
                <a:latin typeface="Inter"/>
              </a:rPr>
              <a:t>An on-call runbook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Runbook, page one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33472"/>
        </p:xfrm>
        <a:graphic>
          <a:graphicData uri="http://schemas.openxmlformats.org/drawingml/2006/table">
            <a:tbl>
              <a:tblPr firstRow="1" bandRow="1">
                <a:tableStyleId>{5C22544A-7EE6-4342-B048-85BDC9FD1C3A}</a:tableStyleId>
              </a:tblPr>
              <a:tblGrid>
                <a:gridCol w="2189428"/>
                <a:gridCol w="4955021"/>
                <a:gridCol w="4148390"/>
              </a:tblGrid>
              <a:tr h="438912">
                <a:tc>
                  <a:txBody>
                    <a:bodyPr wrap="square"/>
                    <a:lstStyle/>
                    <a:p>
                      <a:r>
                        <a:rPr sz="1400" b="1">
                          <a:solidFill>
                            <a:srgbClr val="0A1628"/>
                          </a:solidFill>
                          <a:latin typeface="Inter"/>
                        </a:rPr>
                        <a:t>Symptom</a:t>
                      </a:r>
                    </a:p>
                  </a:txBody>
                  <a:tcPr marL="91440" marR="91440" marT="45720" marB="45720" anchor="ctr">
                    <a:solidFill>
                      <a:srgbClr val="00D4AA"/>
                    </a:solidFill>
                  </a:tcPr>
                </a:tc>
                <a:tc>
                  <a:txBody>
                    <a:bodyPr wrap="square"/>
                    <a:lstStyle/>
                    <a:p>
                      <a:r>
                        <a:rPr sz="1400" b="1">
                          <a:solidFill>
                            <a:srgbClr val="0A1628"/>
                          </a:solidFill>
                          <a:latin typeface="Inter"/>
                        </a:rPr>
                        <a:t>First check</a:t>
                      </a:r>
                    </a:p>
                  </a:txBody>
                  <a:tcPr marL="91440" marR="91440" marT="45720" marB="45720" anchor="ctr">
                    <a:solidFill>
                      <a:srgbClr val="00D4AA"/>
                    </a:solidFill>
                  </a:tcPr>
                </a:tc>
                <a:tc>
                  <a:txBody>
                    <a:bodyPr wrap="square"/>
                    <a:lstStyle/>
                    <a:p>
                      <a:r>
                        <a:rPr sz="1400" b="1">
                          <a:solidFill>
                            <a:srgbClr val="0A1628"/>
                          </a:solidFill>
                          <a:latin typeface="Inter"/>
                        </a:rPr>
                        <a:t>First action</a:t>
                      </a:r>
                    </a:p>
                  </a:txBody>
                  <a:tcPr marL="91440" marR="91440" marT="45720" marB="45720" anchor="ctr">
                    <a:solidFill>
                      <a:srgbClr val="00D4AA"/>
                    </a:solidFill>
                  </a:tcPr>
                </a:tc>
              </a:tr>
              <a:tr h="438912">
                <a:tc>
                  <a:txBody>
                    <a:bodyPr wrap="square"/>
                    <a:lstStyle/>
                    <a:p>
                      <a:r>
                        <a:rPr sz="1400" b="1">
                          <a:solidFill>
                            <a:srgbClr val="FFFFFF"/>
                          </a:solidFill>
                          <a:latin typeface="Inter"/>
                        </a:rPr>
                        <a:t>Riley silent</a:t>
                      </a:r>
                    </a:p>
                  </a:txBody>
                  <a:tcPr marL="91440" marR="91440" marT="45720" marB="45720" anchor="ctr">
                    <a:solidFill>
                      <a:srgbClr val="1A2742"/>
                    </a:solidFill>
                  </a:tcPr>
                </a:tc>
                <a:tc>
                  <a:txBody>
                    <a:bodyPr wrap="square"/>
                    <a:lstStyle/>
                    <a:p>
                      <a:r>
                        <a:rPr sz="1400" b="0">
                          <a:solidFill>
                            <a:srgbClr val="FFFFFF"/>
                          </a:solidFill>
                          <a:latin typeface="Inter"/>
                        </a:rPr>
                        <a:t>TTS provider status, error logs</a:t>
                      </a:r>
                    </a:p>
                  </a:txBody>
                  <a:tcPr marL="91440" marR="91440" marT="45720" marB="45720" anchor="ctr">
                    <a:solidFill>
                      <a:srgbClr val="1A2742"/>
                    </a:solidFill>
                  </a:tcPr>
                </a:tc>
                <a:tc>
                  <a:txBody>
                    <a:bodyPr wrap="square"/>
                    <a:lstStyle/>
                    <a:p>
                      <a:r>
                        <a:rPr sz="1400" b="0">
                          <a:solidFill>
                            <a:srgbClr val="FFFFFF"/>
                          </a:solidFill>
                          <a:latin typeface="Inter"/>
                        </a:rPr>
                        <a:t>Roll back or switch TTS fallback</a:t>
                      </a:r>
                    </a:p>
                  </a:txBody>
                  <a:tcPr marL="91440" marR="91440" marT="45720" marB="45720" anchor="ctr">
                    <a:solidFill>
                      <a:srgbClr val="1A2742"/>
                    </a:solidFill>
                  </a:tcPr>
                </a:tc>
              </a:tr>
              <a:tr h="438912">
                <a:tc>
                  <a:txBody>
                    <a:bodyPr wrap="square"/>
                    <a:lstStyle/>
                    <a:p>
                      <a:r>
                        <a:rPr sz="1400" b="1">
                          <a:solidFill>
                            <a:srgbClr val="FFFFFF"/>
                          </a:solidFill>
                          <a:latin typeface="Inter"/>
                        </a:rPr>
                        <a:t>Slow replies</a:t>
                      </a:r>
                    </a:p>
                  </a:txBody>
                  <a:tcPr marL="91440" marR="91440" marT="45720" marB="45720" anchor="ctr">
                    <a:solidFill>
                      <a:srgbClr val="0F1E35"/>
                    </a:solidFill>
                  </a:tcPr>
                </a:tc>
                <a:tc>
                  <a:txBody>
                    <a:bodyPr wrap="square"/>
                    <a:lstStyle/>
                    <a:p>
                      <a:r>
                        <a:rPr sz="1400" b="0">
                          <a:solidFill>
                            <a:srgbClr val="FFFFFF"/>
                          </a:solidFill>
                          <a:latin typeface="Inter"/>
                        </a:rPr>
                        <a:t>p95 by stage (EOU, LLM TTFT, TTS TTFB)</a:t>
                      </a:r>
                    </a:p>
                  </a:txBody>
                  <a:tcPr marL="91440" marR="91440" marT="45720" marB="45720" anchor="ctr">
                    <a:solidFill>
                      <a:srgbClr val="0F1E35"/>
                    </a:solidFill>
                  </a:tcPr>
                </a:tc>
                <a:tc>
                  <a:txBody>
                    <a:bodyPr wrap="square"/>
                    <a:lstStyle/>
                    <a:p>
                      <a:r>
                        <a:rPr sz="1400" b="0">
                          <a:solidFill>
                            <a:srgbClr val="FFFFFF"/>
                          </a:solidFill>
                          <a:latin typeface="Inter"/>
                        </a:rPr>
                        <a:t>Switch LLM to fallback, check region</a:t>
                      </a:r>
                    </a:p>
                  </a:txBody>
                  <a:tcPr marL="91440" marR="91440" marT="45720" marB="45720" anchor="ctr">
                    <a:solidFill>
                      <a:srgbClr val="0F1E35"/>
                    </a:solidFill>
                  </a:tcPr>
                </a:tc>
              </a:tr>
              <a:tr h="438912">
                <a:tc>
                  <a:txBody>
                    <a:bodyPr wrap="square"/>
                    <a:lstStyle/>
                    <a:p>
                      <a:r>
                        <a:rPr sz="1400" b="1">
                          <a:solidFill>
                            <a:srgbClr val="FFFFFF"/>
                          </a:solidFill>
                          <a:latin typeface="Inter"/>
                        </a:rPr>
                        <a:t>Not answering calls</a:t>
                      </a:r>
                    </a:p>
                  </a:txBody>
                  <a:tcPr marL="91440" marR="91440" marT="45720" marB="45720" anchor="ctr">
                    <a:solidFill>
                      <a:srgbClr val="1A2742"/>
                    </a:solidFill>
                  </a:tcPr>
                </a:tc>
                <a:tc>
                  <a:txBody>
                    <a:bodyPr wrap="square"/>
                    <a:lstStyle/>
                    <a:p>
                      <a:r>
                        <a:rPr sz="1288" b="0">
                          <a:solidFill>
                            <a:srgbClr val="00D4AA"/>
                          </a:solidFill>
                          <a:latin typeface="JetBrains Mono"/>
                        </a:rPr>
                        <a:t>lk agent status</a:t>
                      </a:r>
                      <a:r>
                        <a:rPr sz="1400" b="0">
                          <a:solidFill>
                            <a:srgbClr val="FFFFFF"/>
                          </a:solidFill>
                          <a:latin typeface="Inter"/>
                        </a:rPr>
                        <a:t>, </a:t>
                      </a:r>
                      <a:r>
                        <a:rPr sz="1288" b="0">
                          <a:solidFill>
                            <a:srgbClr val="00D4AA"/>
                          </a:solidFill>
                          <a:latin typeface="JetBrains Mono"/>
                        </a:rPr>
                        <a:t>/worker</a:t>
                      </a:r>
                      <a:r>
                        <a:rPr sz="1400" b="0">
                          <a:solidFill>
                            <a:srgbClr val="FFFFFF"/>
                          </a:solidFill>
                          <a:latin typeface="Inter"/>
                        </a:rPr>
                        <a:t>, dispatch rule</a:t>
                      </a:r>
                    </a:p>
                  </a:txBody>
                  <a:tcPr marL="91440" marR="91440" marT="45720" marB="45720" anchor="ctr">
                    <a:solidFill>
                      <a:srgbClr val="1A2742"/>
                    </a:solidFill>
                  </a:tcPr>
                </a:tc>
                <a:tc>
                  <a:txBody>
                    <a:bodyPr wrap="square"/>
                    <a:lstStyle/>
                    <a:p>
                      <a:r>
                        <a:rPr sz="1400" b="0">
                          <a:solidFill>
                            <a:srgbClr val="FFFFFF"/>
                          </a:solidFill>
                          <a:latin typeface="Inter"/>
                        </a:rPr>
                        <a:t>Roll back last deploy</a:t>
                      </a:r>
                    </a:p>
                  </a:txBody>
                  <a:tcPr marL="91440" marR="91440" marT="45720" marB="45720" anchor="ctr">
                    <a:solidFill>
                      <a:srgbClr val="1A2742"/>
                    </a:solidFill>
                  </a:tcPr>
                </a:tc>
              </a:tr>
              <a:tr h="438912">
                <a:tc>
                  <a:txBody>
                    <a:bodyPr wrap="square"/>
                    <a:lstStyle/>
                    <a:p>
                      <a:r>
                        <a:rPr sz="1400" b="1">
                          <a:solidFill>
                            <a:srgbClr val="FFFFFF"/>
                          </a:solidFill>
                          <a:latin typeface="Inter"/>
                        </a:rPr>
                        <a:t>Wrong bookings</a:t>
                      </a:r>
                    </a:p>
                  </a:txBody>
                  <a:tcPr marL="91440" marR="91440" marT="45720" marB="45720" anchor="ctr">
                    <a:solidFill>
                      <a:srgbClr val="0F1E35"/>
                    </a:solidFill>
                  </a:tcPr>
                </a:tc>
                <a:tc>
                  <a:txBody>
                    <a:bodyPr wrap="square"/>
                    <a:lstStyle/>
                    <a:p>
                      <a:r>
                        <a:rPr sz="1400" b="0">
                          <a:solidFill>
                            <a:srgbClr val="FFFFFF"/>
                          </a:solidFill>
                          <a:latin typeface="Inter"/>
                        </a:rPr>
                        <a:t>Tool-call traces, scheduler logs</a:t>
                      </a:r>
                    </a:p>
                  </a:txBody>
                  <a:tcPr marL="91440" marR="91440" marT="45720" marB="45720" anchor="ctr">
                    <a:solidFill>
                      <a:srgbClr val="0F1E35"/>
                    </a:solidFill>
                  </a:tcPr>
                </a:tc>
                <a:tc>
                  <a:txBody>
                    <a:bodyPr wrap="square"/>
                    <a:lstStyle/>
                    <a:p>
                      <a:r>
                        <a:rPr sz="1400" b="0">
                          <a:solidFill>
                            <a:srgbClr val="FFFFFF"/>
                          </a:solidFill>
                          <a:latin typeface="Inter"/>
                        </a:rPr>
                        <a:t>Disable booking tool, take messages</a:t>
                      </a:r>
                    </a:p>
                  </a:txBody>
                  <a:tcPr marL="91440" marR="91440" marT="45720" marB="45720" anchor="ctr">
                    <a:solidFill>
                      <a:srgbClr val="0F1E35"/>
                    </a:solidFill>
                  </a:tcPr>
                </a:tc>
              </a:tr>
              <a:tr h="438912">
                <a:tc>
                  <a:txBody>
                    <a:bodyPr wrap="square"/>
                    <a:lstStyle/>
                    <a:p>
                      <a:r>
                        <a:rPr sz="1400" b="1">
                          <a:solidFill>
                            <a:srgbClr val="FFFFFF"/>
                          </a:solidFill>
                          <a:latin typeface="Inter"/>
                        </a:rPr>
                        <a:t>Cost spike</a:t>
                      </a:r>
                    </a:p>
                  </a:txBody>
                  <a:tcPr marL="91440" marR="91440" marT="45720" marB="45720" anchor="ctr">
                    <a:solidFill>
                      <a:srgbClr val="1A2742"/>
                    </a:solidFill>
                  </a:tcPr>
                </a:tc>
                <a:tc>
                  <a:txBody>
                    <a:bodyPr wrap="square"/>
                    <a:lstStyle/>
                    <a:p>
                      <a:r>
                        <a:rPr sz="1400" b="0">
                          <a:solidFill>
                            <a:srgbClr val="FFFFFF"/>
                          </a:solidFill>
                          <a:latin typeface="Inter"/>
                        </a:rPr>
                        <a:t>Cost per minute, call counts, call length</a:t>
                      </a:r>
                    </a:p>
                  </a:txBody>
                  <a:tcPr marL="91440" marR="91440" marT="45720" marB="45720" anchor="ctr">
                    <a:solidFill>
                      <a:srgbClr val="1A2742"/>
                    </a:solidFill>
                  </a:tcPr>
                </a:tc>
                <a:tc>
                  <a:txBody>
                    <a:bodyPr wrap="square"/>
                    <a:lstStyle/>
                    <a:p>
                      <a:r>
                        <a:rPr sz="1400" b="0">
                          <a:solidFill>
                            <a:srgbClr val="FFFFFF"/>
                          </a:solidFill>
                          <a:latin typeface="Inter"/>
                        </a:rPr>
                        <a:t>Check for loops or abuse, rate-limit</a:t>
                      </a:r>
                    </a:p>
                  </a:txBody>
                  <a:tcPr marL="91440" marR="91440" marT="45720" marB="45720" anchor="ctr">
                    <a:solidFill>
                      <a:srgbClr val="1A2742"/>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Compliance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AI disclosure in the greeting</a:t>
            </a:r>
          </a:p>
          <a:p>
            <a:pPr marL="292608" indent="-292608">
              <a:lnSpc>
                <a:spcPct val="120000"/>
              </a:lnSpc>
              <a:spcAft>
                <a:spcPts val="1539"/>
              </a:spcAft>
              <a:buClr>
                <a:srgbClr val="00D4AA"/>
              </a:buClr>
              <a:buFont typeface="Inter"/>
              <a:buChar char="•"/>
            </a:pPr>
            <a:r>
              <a:rPr sz="2200" b="0">
                <a:solidFill>
                  <a:srgbClr val="FFFFFF"/>
                </a:solidFill>
                <a:latin typeface="Inter"/>
              </a:rPr>
              <a:t>Recording consent where required</a:t>
            </a:r>
          </a:p>
          <a:p>
            <a:pPr marL="292608" indent="-292608">
              <a:lnSpc>
                <a:spcPct val="120000"/>
              </a:lnSpc>
              <a:spcAft>
                <a:spcPts val="1539"/>
              </a:spcAft>
              <a:buClr>
                <a:srgbClr val="00D4AA"/>
              </a:buClr>
              <a:buFont typeface="Inter"/>
              <a:buChar char="•"/>
            </a:pPr>
            <a:r>
              <a:rPr sz="2200" b="0">
                <a:solidFill>
                  <a:srgbClr val="FFFFFF"/>
                </a:solidFill>
                <a:latin typeface="Inter"/>
              </a:rPr>
              <a:t>Outbound calling rules (consent, calling hours, do-not-call)</a:t>
            </a:r>
          </a:p>
          <a:p>
            <a:pPr marL="292608" indent="-292608">
              <a:lnSpc>
                <a:spcPct val="120000"/>
              </a:lnSpc>
              <a:spcAft>
                <a:spcPts val="1539"/>
              </a:spcAft>
              <a:buClr>
                <a:srgbClr val="00D4AA"/>
              </a:buClr>
              <a:buFont typeface="Inter"/>
              <a:buChar char="•"/>
            </a:pPr>
            <a:r>
              <a:rPr sz="2200" b="0">
                <a:solidFill>
                  <a:srgbClr val="FFFFFF"/>
                </a:solidFill>
                <a:latin typeface="Inter"/>
              </a:rPr>
              <a:t>Data processing agreements with providers</a:t>
            </a:r>
          </a:p>
          <a:p>
            <a:pPr marL="292608" indent="-292608">
              <a:lnSpc>
                <a:spcPct val="120000"/>
              </a:lnSpc>
              <a:spcAft>
                <a:spcPts val="1539"/>
              </a:spcAft>
              <a:buClr>
                <a:srgbClr val="00D4AA"/>
              </a:buClr>
              <a:buFont typeface="Inter"/>
              <a:buChar char="•"/>
            </a:pPr>
            <a:r>
              <a:rPr sz="2200" b="0">
                <a:solidFill>
                  <a:srgbClr val="FFFFFF"/>
                </a:solidFill>
                <a:latin typeface="Inter"/>
              </a:rPr>
              <a:t>Not legal advice: involve your compliance owner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provider has a fallback and a timeout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failure ends in words, never silence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Rollback, draining and the runbook are tested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7: Deploy and call your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it's your turn: in Lab 7, you'll deploy Riley and call it from the web and 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7: Deploy and call your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Deploy your own agent to LiveKit Cloud and reach it from the web front end.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7 steps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Build and run the image locally; </a:t>
            </a:r>
            <a:r>
              <a:rPr sz="1656" b="0">
                <a:solidFill>
                  <a:srgbClr val="00D4AA"/>
                </a:solidFill>
                <a:latin typeface="JetBrains Mono"/>
              </a:rPr>
              <a:t>curl :8081/</a:t>
            </a:r>
            <a:r>
              <a:rPr sz="1800" b="0">
                <a:solidFill>
                  <a:srgbClr val="FFFFFF"/>
                </a:solidFill>
                <a:latin typeface="Inter"/>
              </a:rPr>
              <a:t> returns OK</a:t>
            </a:r>
          </a:p>
          <a:p>
            <a:pPr marL="292608" indent="-292608">
              <a:lnSpc>
                <a:spcPct val="120000"/>
              </a:lnSpc>
              <a:spcAft>
                <a:spcPts val="1260"/>
              </a:spcAft>
              <a:buClr>
                <a:srgbClr val="00D4AA"/>
              </a:buClr>
              <a:buFont typeface="Inter"/>
              <a:buChar char="•"/>
            </a:pPr>
            <a:r>
              <a:rPr sz="1656" b="0">
                <a:solidFill>
                  <a:srgbClr val="00D4AA"/>
                </a:solidFill>
                <a:latin typeface="JetBrains Mono"/>
              </a:rPr>
              <a:t>lk agent create</a:t>
            </a:r>
            <a:r>
              <a:rPr sz="1800" b="0">
                <a:solidFill>
                  <a:srgbClr val="FFFFFF"/>
                </a:solidFill>
                <a:latin typeface="Inter"/>
              </a:rPr>
              <a:t>, then one test call in the playground</a:t>
            </a:r>
          </a:p>
          <a:p>
            <a:pPr marL="292608" indent="-292608">
              <a:lnSpc>
                <a:spcPct val="120000"/>
              </a:lnSpc>
              <a:spcAft>
                <a:spcPts val="1260"/>
              </a:spcAft>
              <a:buClr>
                <a:srgbClr val="00D4AA"/>
              </a:buClr>
              <a:buFont typeface="Inter"/>
              <a:buChar char="•"/>
            </a:pPr>
            <a:r>
              <a:rPr sz="1800" b="0">
                <a:solidFill>
                  <a:srgbClr val="FFFFFF"/>
                </a:solidFill>
                <a:latin typeface="Inter"/>
              </a:rPr>
              <a:t>Run the web starter with agent name </a:t>
            </a:r>
            <a:r>
              <a:rPr sz="1656" b="0">
                <a:solidFill>
                  <a:srgbClr val="00D4AA"/>
                </a:solidFill>
                <a:latin typeface="JetBrains Mono"/>
              </a:rPr>
              <a:t>riley-receptionist</a:t>
            </a:r>
          </a:p>
          <a:p>
            <a:pPr marL="292608" indent="-292608">
              <a:lnSpc>
                <a:spcPct val="120000"/>
              </a:lnSpc>
              <a:spcAft>
                <a:spcPts val="1260"/>
              </a:spcAft>
              <a:buClr>
                <a:srgbClr val="00D4AA"/>
              </a:buClr>
              <a:buFont typeface="Inter"/>
              <a:buChar char="•"/>
            </a:pPr>
            <a:r>
              <a:rPr sz="1800" b="0">
                <a:solidFill>
                  <a:srgbClr val="FFFFFF"/>
                </a:solidFill>
                <a:latin typeface="Inter"/>
              </a:rPr>
              <a:t>Call your Section 8 number: the dispatch rule reaches the deployed agent</a:t>
            </a:r>
          </a:p>
          <a:p>
            <a:pPr marL="292608" indent="-292608">
              <a:lnSpc>
                <a:spcPct val="120000"/>
              </a:lnSpc>
              <a:spcAft>
                <a:spcPts val="1260"/>
              </a:spcAft>
              <a:buClr>
                <a:srgbClr val="00D4AA"/>
              </a:buClr>
              <a:buFont typeface="Inter"/>
              <a:buChar char="•"/>
            </a:pPr>
            <a:r>
              <a:rPr sz="1800" b="0">
                <a:solidFill>
                  <a:srgbClr val="FFFFFF"/>
                </a:solidFill>
                <a:latin typeface="Inter"/>
              </a:rPr>
              <a:t>Change the greeting, </a:t>
            </a:r>
            <a:r>
              <a:rPr sz="1656" b="0">
                <a:solidFill>
                  <a:srgbClr val="00D4AA"/>
                </a:solidFill>
                <a:latin typeface="JetBrains Mono"/>
              </a:rPr>
              <a:t>lk agent deploy</a:t>
            </a:r>
            <a:r>
              <a:rPr sz="1800" b="0">
                <a:solidFill>
                  <a:srgbClr val="FFFFFF"/>
                </a:solidFill>
                <a:latin typeface="Inter"/>
              </a:rPr>
              <a:t>, then </a:t>
            </a:r>
            <a:r>
              <a:rPr sz="1656" b="0">
                <a:solidFill>
                  <a:srgbClr val="00D4AA"/>
                </a:solidFill>
                <a:latin typeface="JetBrains Mono"/>
              </a:rPr>
              <a:t>lk agent rollback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7 steps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Stop a container mid-call and confirm the call continues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to submit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lk agent status</a:t>
            </a:r>
            <a:r>
              <a:rPr sz="2200" b="0">
                <a:solidFill>
                  <a:srgbClr val="FFFFFF"/>
                </a:solidFill>
                <a:latin typeface="Inter"/>
              </a:rPr>
              <a:t> output showing your agent running</a:t>
            </a:r>
          </a:p>
          <a:p>
            <a:pPr marL="292608" indent="-292608">
              <a:lnSpc>
                <a:spcPct val="120000"/>
              </a:lnSpc>
              <a:spcAft>
                <a:spcPts val="1539"/>
              </a:spcAft>
              <a:buClr>
                <a:srgbClr val="00D4AA"/>
              </a:buClr>
              <a:buFont typeface="Inter"/>
              <a:buChar char="•"/>
            </a:pPr>
            <a:r>
              <a:rPr sz="2200" b="0">
                <a:solidFill>
                  <a:srgbClr val="FFFFFF"/>
                </a:solidFill>
                <a:latin typeface="Inter"/>
              </a:rPr>
              <a:t>A screenshot of a web call with captions</a:t>
            </a:r>
          </a:p>
          <a:p>
            <a:pPr marL="292608" indent="-292608">
              <a:lnSpc>
                <a:spcPct val="120000"/>
              </a:lnSpc>
              <a:spcAft>
                <a:spcPts val="1539"/>
              </a:spcAft>
              <a:buClr>
                <a:srgbClr val="00D4AA"/>
              </a:buClr>
              <a:buFont typeface="Inter"/>
              <a:buChar char="•"/>
            </a:pPr>
            <a:r>
              <a:rPr sz="2200" b="0">
                <a:solidFill>
                  <a:srgbClr val="FFFFFF"/>
                </a:solidFill>
                <a:latin typeface="Inter"/>
              </a:rPr>
              <a:t>The log line of a phone call handled by the deployed agent</a:t>
            </a:r>
          </a:p>
          <a:p>
            <a:pPr marL="292608" indent="-292608">
              <a:lnSpc>
                <a:spcPct val="120000"/>
              </a:lnSpc>
              <a:spcAft>
                <a:spcPts val="1539"/>
              </a:spcAft>
              <a:buClr>
                <a:srgbClr val="00D4AA"/>
              </a:buClr>
              <a:buFont typeface="Inter"/>
              <a:buChar char="•"/>
            </a:pPr>
            <a:r>
              <a:rPr sz="2200" b="0">
                <a:solidFill>
                  <a:srgbClr val="FFFFFF"/>
                </a:solidFill>
                <a:latin typeface="Inter"/>
              </a:rPr>
              <a:t>One sentence: what happened to your call during the deploy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Chaos demo: kill a provider mid-call</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chaos demo: we'll take down a provider in the middle of a live call and watch…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Chaos demo: kill a provider mid-call</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Watch the capstone's LLM </a:t>
            </a:r>
            <a:r>
              <a:rPr sz="1472" b="0">
                <a:solidFill>
                  <a:srgbClr val="00D4AA"/>
                </a:solidFill>
                <a:latin typeface="JetBrains Mono"/>
              </a:rPr>
              <a:t>FallbackAdapter</a:t>
            </a:r>
            <a:r>
              <a:rPr sz="1600" b="0">
                <a:solidFill>
                  <a:srgbClr val="CBD5E1"/>
                </a:solidFill>
                <a:latin typeface="Inter"/>
              </a:rPr>
              <a:t> take over when the primary provider fails mid-call.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chaos demo proves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755648"/>
        </p:xfrm>
        <a:graphic>
          <a:graphicData uri="http://schemas.openxmlformats.org/drawingml/2006/table">
            <a:tbl>
              <a:tblPr firstRow="1" bandRow="1">
                <a:tableStyleId>{5C22544A-7EE6-4342-B048-85BDC9FD1C3A}</a:tableStyleId>
              </a:tblPr>
              <a:tblGrid>
                <a:gridCol w="1143578"/>
                <a:gridCol w="5003156"/>
                <a:gridCol w="5146104"/>
              </a:tblGrid>
              <a:tr h="438912">
                <a:tc>
                  <a:txBody>
                    <a:bodyPr wrap="square"/>
                    <a:lstStyle/>
                    <a:p>
                      <a:r>
                        <a:rPr sz="1400" b="1">
                          <a:solidFill>
                            <a:srgbClr val="0A1628"/>
                          </a:solidFill>
                          <a:latin typeface="Inter"/>
                        </a:rPr>
                        <a:t>Failure</a:t>
                      </a:r>
                    </a:p>
                  </a:txBody>
                  <a:tcPr marL="91440" marR="91440" marT="45720" marB="45720" anchor="ctr">
                    <a:solidFill>
                      <a:srgbClr val="00D4AA"/>
                    </a:solidFill>
                  </a:tcPr>
                </a:tc>
                <a:tc>
                  <a:txBody>
                    <a:bodyPr wrap="square"/>
                    <a:lstStyle/>
                    <a:p>
                      <a:r>
                        <a:rPr sz="1400" b="1">
                          <a:solidFill>
                            <a:srgbClr val="0A1628"/>
                          </a:solidFill>
                          <a:latin typeface="Inter"/>
                        </a:rPr>
                        <a:t>With fallbacks</a:t>
                      </a:r>
                    </a:p>
                  </a:txBody>
                  <a:tcPr marL="91440" marR="91440" marT="45720" marB="45720" anchor="ctr">
                    <a:solidFill>
                      <a:srgbClr val="00D4AA"/>
                    </a:solidFill>
                  </a:tcPr>
                </a:tc>
                <a:tc>
                  <a:txBody>
                    <a:bodyPr wrap="square"/>
                    <a:lstStyle/>
                    <a:p>
                      <a:r>
                        <a:rPr sz="1400" b="1">
                          <a:solidFill>
                            <a:srgbClr val="0A1628"/>
                          </a:solidFill>
                          <a:latin typeface="Inter"/>
                        </a:rPr>
                        <a:t>Without</a:t>
                      </a:r>
                    </a:p>
                  </a:txBody>
                  <a:tcPr marL="91440" marR="91440" marT="45720" marB="45720" anchor="ctr">
                    <a:solidFill>
                      <a:srgbClr val="00D4AA"/>
                    </a:solidFill>
                  </a:tcPr>
                </a:tc>
              </a:tr>
              <a:tr h="438912">
                <a:tc>
                  <a:txBody>
                    <a:bodyPr wrap="square"/>
                    <a:lstStyle/>
                    <a:p>
                      <a:r>
                        <a:rPr sz="1400" b="1">
                          <a:solidFill>
                            <a:srgbClr val="FFFFFF"/>
                          </a:solidFill>
                          <a:latin typeface="Inter"/>
                        </a:rPr>
                        <a:t>LLM down</a:t>
                      </a:r>
                    </a:p>
                  </a:txBody>
                  <a:tcPr marL="91440" marR="91440" marT="45720" marB="45720" anchor="ctr">
                    <a:solidFill>
                      <a:srgbClr val="1A2742"/>
                    </a:solidFill>
                  </a:tcPr>
                </a:tc>
                <a:tc>
                  <a:txBody>
                    <a:bodyPr wrap="square"/>
                    <a:lstStyle/>
                    <a:p>
                      <a:r>
                        <a:rPr sz="1400" b="0">
                          <a:solidFill>
                            <a:srgbClr val="FFFFFF"/>
                          </a:solidFill>
                          <a:latin typeface="Inter"/>
                        </a:rPr>
                        <a:t>Fallback model answers; brief pause</a:t>
                      </a:r>
                    </a:p>
                  </a:txBody>
                  <a:tcPr marL="91440" marR="91440" marT="45720" marB="45720" anchor="ctr">
                    <a:solidFill>
                      <a:srgbClr val="1A2742"/>
                    </a:solidFill>
                  </a:tcPr>
                </a:tc>
                <a:tc>
                  <a:txBody>
                    <a:bodyPr wrap="square"/>
                    <a:lstStyle/>
                    <a:p>
                      <a:r>
                        <a:rPr sz="1400" b="0">
                          <a:solidFill>
                            <a:srgbClr val="FFFFFF"/>
                          </a:solidFill>
                          <a:latin typeface="Inter"/>
                        </a:rPr>
                        <a:t>Error line, then transfer or goodbye</a:t>
                      </a:r>
                    </a:p>
                  </a:txBody>
                  <a:tcPr marL="91440" marR="91440" marT="45720" marB="45720" anchor="ctr">
                    <a:solidFill>
                      <a:srgbClr val="1A2742"/>
                    </a:solidFill>
                  </a:tcPr>
                </a:tc>
              </a:tr>
              <a:tr h="438912">
                <a:tc>
                  <a:txBody>
                    <a:bodyPr wrap="square"/>
                    <a:lstStyle/>
                    <a:p>
                      <a:r>
                        <a:rPr sz="1400" b="1">
                          <a:solidFill>
                            <a:srgbClr val="FFFFFF"/>
                          </a:solidFill>
                          <a:latin typeface="Inter"/>
                        </a:rPr>
                        <a:t>TTS down</a:t>
                      </a:r>
                    </a:p>
                  </a:txBody>
                  <a:tcPr marL="91440" marR="91440" marT="45720" marB="45720" anchor="ctr">
                    <a:solidFill>
                      <a:srgbClr val="0F1E35"/>
                    </a:solidFill>
                  </a:tcPr>
                </a:tc>
                <a:tc>
                  <a:txBody>
                    <a:bodyPr wrap="square"/>
                    <a:lstStyle/>
                    <a:p>
                      <a:r>
                        <a:rPr sz="1400" b="0">
                          <a:solidFill>
                            <a:srgbClr val="FFFFFF"/>
                          </a:solidFill>
                          <a:latin typeface="Inter"/>
                        </a:rPr>
                        <a:t>Backup voice speaks</a:t>
                      </a:r>
                    </a:p>
                  </a:txBody>
                  <a:tcPr marL="91440" marR="91440" marT="45720" marB="45720" anchor="ctr">
                    <a:solidFill>
                      <a:srgbClr val="0F1E35"/>
                    </a:solidFill>
                  </a:tcPr>
                </a:tc>
                <a:tc>
                  <a:txBody>
                    <a:bodyPr wrap="square"/>
                    <a:lstStyle/>
                    <a:p>
                      <a:r>
                        <a:rPr sz="1400" b="0">
                          <a:solidFill>
                            <a:srgbClr val="FFFFFF"/>
                          </a:solidFill>
                          <a:latin typeface="Inter"/>
                        </a:rPr>
                        <a:t>Silence</a:t>
                      </a:r>
                    </a:p>
                  </a:txBody>
                  <a:tcPr marL="91440" marR="91440" marT="45720" marB="45720" anchor="ctr">
                    <a:solidFill>
                      <a:srgbClr val="0F1E35"/>
                    </a:solidFill>
                  </a:tcPr>
                </a:tc>
              </a:tr>
              <a:tr h="438912">
                <a:tc>
                  <a:txBody>
                    <a:bodyPr wrap="square"/>
                    <a:lstStyle/>
                    <a:p>
                      <a:r>
                        <a:rPr sz="1400" b="1">
                          <a:solidFill>
                            <a:srgbClr val="FFFFFF"/>
                          </a:solidFill>
                          <a:latin typeface="Inter"/>
                        </a:rPr>
                        <a:t>Recovery</a:t>
                      </a:r>
                    </a:p>
                  </a:txBody>
                  <a:tcPr marL="91440" marR="91440" marT="45720" marB="45720" anchor="ctr">
                    <a:solidFill>
                      <a:srgbClr val="1A2742"/>
                    </a:solidFill>
                  </a:tcPr>
                </a:tc>
                <a:tc>
                  <a:txBody>
                    <a:bodyPr wrap="square"/>
                    <a:lstStyle/>
                    <a:p>
                      <a:r>
                        <a:rPr sz="1400" b="0">
                          <a:solidFill>
                            <a:srgbClr val="FFFFFF"/>
                          </a:solidFill>
                          <a:latin typeface="Inter"/>
                        </a:rPr>
                        <a:t>Automatic, no redeploy</a:t>
                      </a:r>
                    </a:p>
                  </a:txBody>
                  <a:tcPr marL="91440" marR="91440" marT="45720" marB="45720" anchor="ctr">
                    <a:solidFill>
                      <a:srgbClr val="1A2742"/>
                    </a:solidFill>
                  </a:tcPr>
                </a:tc>
                <a:tc>
                  <a:txBody>
                    <a:bodyPr wrap="square"/>
                    <a:lstStyle/>
                    <a:p>
                      <a:r>
                        <a:rPr sz="1400" b="0">
                          <a:solidFill>
                            <a:srgbClr val="FFFFFF"/>
                          </a:solidFill>
                          <a:latin typeface="Inter"/>
                        </a:rPr>
                        <a:t>Restart needed</a:t>
                      </a:r>
                    </a:p>
                  </a:txBody>
                  <a:tcPr marL="91440" marR="91440" marT="45720" marB="45720" anchor="ctr">
                    <a:solidFill>
                      <a:srgbClr val="1A2742"/>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12.8</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With fallbacks, an LLM outage costs one slow turn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Without them: error line, then transfer or goodbye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TTS outage without a fallback is silence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12.8</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Package an agent as a slim, locked, non-root image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Deploy, roll back and drain without dropping calls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your fallbacks by killing a provider mid-call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Deployment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Lock in the deployment section with a five-question quiz.</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12.9</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12 · DEPLOYING TO PRODUCTION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12.9</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Deployment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agent server scaling, Docker packaging, draining and fallbacks.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12.9</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12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Idle processes, load threshold and memory limits</a:t>
            </a:r>
          </a:p>
          <a:p>
            <a:pPr marL="292608" indent="-292608">
              <a:lnSpc>
                <a:spcPct val="120000"/>
              </a:lnSpc>
              <a:spcAft>
                <a:spcPts val="1539"/>
              </a:spcAft>
              <a:buClr>
                <a:srgbClr val="00D4AA"/>
              </a:buClr>
              <a:buFont typeface="Inter"/>
              <a:buChar char="•"/>
            </a:pPr>
            <a:r>
              <a:rPr sz="2200" b="0">
                <a:solidFill>
                  <a:srgbClr val="FFFFFF"/>
                </a:solidFill>
                <a:latin typeface="Inter"/>
              </a:rPr>
              <a:t>Why </a:t>
            </a:r>
            <a:r>
              <a:rPr sz="2024" b="0">
                <a:solidFill>
                  <a:srgbClr val="00D4AA"/>
                </a:solidFill>
                <a:latin typeface="JetBrains Mono"/>
              </a:rPr>
              <a:t>exec</a:t>
            </a:r>
            <a:r>
              <a:rPr sz="2200" b="0">
                <a:solidFill>
                  <a:srgbClr val="FFFFFF"/>
                </a:solidFill>
                <a:latin typeface="Inter"/>
              </a:rPr>
              <a:t> and </a:t>
            </a:r>
            <a:r>
              <a:rPr sz="2024" b="0">
                <a:solidFill>
                  <a:srgbClr val="00D4AA"/>
                </a:solidFill>
                <a:latin typeface="JetBrains Mono"/>
              </a:rPr>
              <a:t>start</a:t>
            </a:r>
            <a:r>
              <a:rPr sz="2200" b="0">
                <a:solidFill>
                  <a:srgbClr val="FFFFFF"/>
                </a:solidFill>
                <a:latin typeface="Inter"/>
              </a:rPr>
              <a:t> matter in the Dockerfile</a:t>
            </a:r>
          </a:p>
          <a:p>
            <a:pPr marL="292608" indent="-292608">
              <a:lnSpc>
                <a:spcPct val="120000"/>
              </a:lnSpc>
              <a:spcAft>
                <a:spcPts val="1539"/>
              </a:spcAft>
              <a:buClr>
                <a:srgbClr val="00D4AA"/>
              </a:buClr>
              <a:buFont typeface="Inter"/>
              <a:buChar char="•"/>
            </a:pPr>
            <a:r>
              <a:rPr sz="2200" b="0">
                <a:solidFill>
                  <a:srgbClr val="FFFFFF"/>
                </a:solidFill>
                <a:latin typeface="Inter"/>
              </a:rPr>
              <a:t>Draining and the platform grace period</a:t>
            </a:r>
          </a:p>
          <a:p>
            <a:pPr marL="292608" indent="-292608">
              <a:lnSpc>
                <a:spcPct val="120000"/>
              </a:lnSpc>
              <a:spcAft>
                <a:spcPts val="1539"/>
              </a:spcAft>
              <a:buClr>
                <a:srgbClr val="00D4AA"/>
              </a:buClr>
              <a:buFont typeface="Inter"/>
              <a:buChar char="•"/>
            </a:pPr>
            <a:r>
              <a:rPr sz="2200" b="0">
                <a:solidFill>
                  <a:srgbClr val="FFFFFF"/>
                </a:solidFill>
                <a:latin typeface="Inter"/>
              </a:rPr>
              <a:t>Fallbacks and spoken error recovery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12 · Lecture 12.9</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Capstone brief and architecture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up, Section 13: the capstone, starting with the brief and the 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