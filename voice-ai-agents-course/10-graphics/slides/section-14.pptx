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Pipecat's frame pipeline model.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thing first. This section is optional. Nothing in Section 15 depends on it, and your capstone is complete without it. If you're short on time, you can skip to Lecture 14.3, the comparison, which is useful even if you never write a line of Pipecat. But if you're choosing a stack for a real project, the full section is worth your thirty minutes.</a:t>
            </a:r>
          </a:p>
          <a:p/>
          <a:p>
            <a:r>
              <a:t>So in this lecture, the mental model. Next lecture, Riley's booking flow in Pipecat. Then we compare everything, including the managed platforms.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Pipecat is an open-source Python framework for real-time voice and multimodal agents. It started at Daily, the WebRTC company, and it has a big community around it.</a:t>
            </a:r>
          </a:p>
          <a:p/>
          <a:p>
            <a:r>
              <a:t>And its core idea fits in one sentence. Everything is a frame, flowing through a pipeline of processors.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unpack that. A frame is a small, typed message. Some frames carry data. An audio frame carries twenty milliseconds or so of sound. A transcription frame carries text from the speech-to-text service. An LLM text frame carries a few tokens.</a:t>
            </a:r>
          </a:p>
          <a:p/>
          <a:p>
            <a:r>
              <a:t>Other frames carry signals. "The user started speaking." "The user stopped speaking." "Interrupt now." "End of the pipeline." Those control frames are how Pipecat does turn-taking and barge-in.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frame processor is a box that receives frames, does something, and pushes frames on. The speech-to-text service is a processor. It eats audio frames and emits transcription frames. The LLM service is a processor. It eats a context and emits text frames. The TTS service eats text and emits audio.</a:t>
            </a:r>
          </a:p>
          <a:p/>
          <a:p>
            <a:r>
              <a:t>[SCREEN: `pipecat/s14_pipecat_bot.py`, scrolled to `pipeline = Pipeline([...])`: the seven boxes from the slide, as real code.]</a:t>
            </a:r>
          </a:p>
          <a:p/>
          <a:p>
            <a:r>
              <a:t>Chain those boxes in a list, and you have a pipeline. Here's Riley's pipeline. Transport input, STT, user aggregator, LLM, TTS, transport output, assistant aggregator.</a:t>
            </a:r>
          </a:p>
          <a:p/>
          <a:p>
            <a:r>
              <a:t>Frames flow both ways. Most go downstream, left to right. Some go upstream. For example, when the caller interrupts, a signal travels back so the TTS stops talking.</a:t>
            </a:r>
          </a:p>
          <a:p/>
          <a:p>
            <a:r>
              <a:t>And each processor only handles the frames it cares about. Everything else passes straight through. That's what makes it easy to drop a custom processor anywhere in the chain.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and last boxes are the transport. The transport is how audio gets in and out. Pipecat supports several. Peer-to-peer WebRTC for local development. Daily rooms. LiveKit rooms. And telephony providers over WebSockets, like Twilio.</a:t>
            </a:r>
          </a:p>
          <a:p/>
          <a:p>
            <a:r>
              <a:t>That's one big design difference from LiveKit Agents. In LiveKit, the transport is LiveKit. In Pipecat, the transport is a plug-in.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conversation memory. Pipecat keeps it in an `LLMContext` object. It holds the messages and the tools.</a:t>
            </a:r>
          </a:p>
          <a:p/>
          <a:p>
            <a:r>
              <a:t>Two processors keep that context up to date. The user aggregator sits after STT. It collects transcription frames until the caller finishes their turn, then adds one user message and triggers the LLM. The assistant aggregator sits at the very end. It collects what Riley actually said and adds that as the assistant message.</a:t>
            </a:r>
          </a:p>
          <a:p/>
          <a:p>
            <a:r>
              <a:t>[B-ROLL: an interrupted reply. Riley's sentence is cut at "nine thirty or"; only the spoken words drop into the assistant aggregator's bo...]</a:t>
            </a:r>
          </a:p>
          <a:p/>
          <a:p>
            <a:r>
              <a:t>Why at the very end? Because if the caller interrupts, only the words that were actually spoken should go into history. Same idea as LiveKit truncating an interrupted reply.</a:t>
            </a:r>
          </a:p>
          <a:p/>
          <a:p>
            <a:r>
              <a:t>And there's one more benefit of frames that's easy to miss. Because everything flows as frames, you can observe everything. Pipecat has observers that watch frames go by without changing them. That's how its metrics and tracing work: time to first byte, token usage, turn timing. The same numbers we collected in Section 10, from a different angle.</a:t>
            </a:r>
          </a:p>
          <a:p/>
          <a:p>
            <a:r>
              <a:t>[CODE: from `pipecat/s14_pipecat_bot.py`]</a:t>
            </a:r>
          </a:p>
          <a:p/>
          <a:p>
            <a:r>
              <a:t>You create both with one line. `LLMContextAggregatorPair`, passing in the context. In Pipecat 1.12, these live in `pipecat.processors.aggregators.llm_response_universal`. They're called universal because they work with any LLM service.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objects run the show. `Pipeline` is the list of processors. `PipelineWorker` runs one conversation through that pipeline. It takes `PipelineParams` for things like metrics. And `WorkerRunner` manages the lifecycle, like stopping cleanly on Control-C.</a:t>
            </a:r>
          </a:p>
          <a:p/>
          <a:p>
            <a:r>
              <a:t>A quick warning, because you will hit this. Almost every Pipecat tutorial online says `PipelineTask` and `PipelineRunner`. Those were the names before version 1.3. In 1.12 they still work, but you get deprecation warnings. We'll use the new names.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translation table you'll want next to you in the code-along.</a:t>
            </a:r>
          </a:p>
          <a:p/>
          <a:p>
            <a:r>
              <a:t>An `AgentSession` becomes a pipeline plus services. An `Agent`'s instructions become the LLM's system instruction. A `@function_tool` becomes a `FunctionSchema` plus a registered handler function. `RunContext` becomes `FunctionCallParams`. Generating a reply becomes queuing an `LLMRunFrame`. And the agent server becomes a `bot` function, started by Pipecat's development runner.</a:t>
            </a:r>
          </a:p>
          <a:p/>
          <a:p>
            <a:r>
              <a:t>Notice the last row. In LiveKit, we overrode `llm_node` in Section 11 to guard Riley's output. In Pipecat, you'd write a small frame processor and put it between the LLM and TTS. Different shape, same idea.</a:t>
            </a:r>
          </a:p>
          <a:p/>
          <a:p>
            <a:r>
              <a:t>So here's the mental model to take into the next lecture. LiveKit gives you an agent and a session, and you customize through hooks. Pipecat gives you the pipeline itself, and you customize by adding boxes. Neither is better. They're different levels of abstraction. Let's feel the difference by typing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Code-along: Riley booking flow in Pipecat.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LiveKit Agents vs Pipecat vs managed platforms.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really three ways to ship a voice agent.</a:t>
            </a:r>
          </a:p>
          <a:p/>
          <a:p>
            <a:r>
              <a:t>One. An open-source framework on your own infrastructure. LiveKit Agents or Pipecat, running in your containers.</a:t>
            </a:r>
          </a:p>
          <a:p/>
          <a:p>
            <a:r>
              <a:t>Two. The same frameworks, with managed hosting from the framework vendor. That's what we did with LiveKit Cloud in Section 12. Pipecat has a similar hosted option.</a:t>
            </a:r>
          </a:p>
          <a:p/>
          <a:p>
            <a:r>
              <a:t>Three. A managed voice platform. Vapi, Retell, ElevenLabs Agents, Bland, and others. You configure an agent through a dashboard or an API, and they run the whole pipeline.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the two frameworks. You've now built Riley in both.</a:t>
            </a:r>
          </a:p>
          <a:p/>
          <a:p>
            <a:r>
              <a:t>Abstraction. LiveKit gives you an agent and a session. You customize through hooks, like `on_user_turn_completed` and `llm_node`. Pipecat gives you the pipeline itself. You customize by adding processors.</a:t>
            </a:r>
          </a:p>
          <a:p/>
          <a:p>
            <a:r>
              <a:t>Transport. LiveKit is built on LiveKit's own WebRTC infrastructure, with SIP for phones. Pipecat treats transport as a plug-in. That matters if you're already on a specific telephony or WebRTC provider.</a:t>
            </a:r>
          </a:p>
          <a:p/>
          <a:p>
            <a:r>
              <a:t>Tools. LiveKit builds schemas from your Python signatures. Pipecat has you write them explicitly.</a:t>
            </a:r>
          </a:p>
          <a:p/>
          <a:p>
            <a:r>
              <a:t>[SCREEN: `tests/agent/test_greeting.py`, the `session.run(user_input=...)` line and the `.judge(...)` call: the built-in harness this who...]</a:t>
            </a:r>
          </a:p>
          <a:p/>
          <a:p>
            <a:r>
              <a:t>Testing. This one mattered a lot in this course. LiveKit's built-in test framework gave us `session.run`, `expect` and judges in Section 9. With Pipecat, you'll build more of that harness yourself.</a:t>
            </a:r>
          </a:p>
          <a:p/>
          <a:p>
            <a:r>
              <a:t>And scaling. LiveKit's agent server handles dispatch and load balancing across workers, which we used in Section 12. With Pipecat, you design the process model, or use their hosted service.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managed platforms. Here's what they do really well. Speed. You can have a working phone agent in an afternoon. They handle hosting, scaling, phone numbers and provider integrations. Many have dashboards where a non-engineer can edit the prompt. For a small business validating an idea, that's powerful.</a:t>
            </a:r>
          </a:p>
          <a:p/>
          <a:p>
            <a:r>
              <a:t>They're not all the same, either. Some started as developer APIs, and expect you to call them from code. Some lean toward no-code builders for business users. Some grew out of a speech company, so their own voices and speech models are the centre of the product. Before you compare prices, figure out which kind you need.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here's what you trade. Four things.</a:t>
            </a:r>
          </a:p>
          <a:p/>
          <a:p>
            <a:r>
              <a:t>Control. You get the knobs they expose. If you need a custom guardrail in the middle of the pipeline, like our streaming output check from Section 11, you may not be able to add it.</a:t>
            </a:r>
          </a:p>
          <a:p/>
          <a:p>
            <a:r>
              <a:t>[SCREEN: terminal in `03-code`, the 10.4 snippet: `print(cost_breakdown(typical_cascaded_usage(3)).format())` ends in `per minute $0.0646...]</a:t>
            </a:r>
          </a:p>
          <a:p/>
          <a:p>
            <a:r>
              <a:t>Cost. Most platforms charge a platform fee per minute, on top of the model and telephony costs. At low volume, that's usually worth it for the time saved. At high volume, it can become the biggest line on your bill. Run the numbers with your own call volumes. Our `costs.py` from Section 10 is a good starting point for the build side.</a:t>
            </a:r>
          </a:p>
          <a:p/>
          <a:p>
            <a:r>
              <a:t>Compliance. If you handle health or payment data, you need to know where audio and transcripts go, how long they're kept, and what contracts the vendor will sign, like a HIPAA business associate agreement in the US. Some vendors offer this. Check the current terms. With a framework, you control that answer yourself, but you also own the work.</a:t>
            </a:r>
          </a:p>
          <a:p/>
          <a:p>
            <a:r>
              <a:t>[B-ROLL: the `src/maple/` folder icon slides from a "LiveKit Agents" box into a "Pipecat" box, unchanged; a third "Platform" box shows th...]</a:t>
            </a:r>
          </a:p>
          <a:p/>
          <a:p>
            <a:r>
              <a:t>Lock-in. On a platform, your prompts, tools and flows live in their format. Moving means rebuilding. With a framework, they live in your repo, and our `src/maple` logic moved from LiveKit to Pipecat without a single change.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you're evaluating a platform, here are five questions to ask. Can I bring my own models? Can I call my own APIs as tools, with my own timeouts? Where is audio stored, and for how long? Can I export everything, including transcripts and metrics? And can I test changes automatically before they go live?</a:t>
            </a:r>
          </a:p>
          <a:p/>
          <a:p>
            <a:r>
              <a:t>The last one matters most for this course. If a platform can't run your tests, you're back to "click around and hope."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whole thing as a matrix. It's in the resources folder as `architecture-decision-matrix.md`, so you can fill it in for your own project.</a:t>
            </a:r>
          </a:p>
          <a:p/>
          <a:p>
            <a:r>
              <a:t>Read it row by row. Time to first call favors platforms. Control favors frameworks. Cost flips with volume. Low volume, platforms usually win, because engineering time is expensive. High volume, frameworks usually win, because there's no platform fee. Compliance and lock-in both favor owning the code.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try three scenarios.</a:t>
            </a:r>
          </a:p>
          <a:p/>
          <a:p>
            <a:r>
              <a:t>A single dental clinic, twenty calls a day. Start with a managed platform. Validate that callers actually like it. Measure containment and cost. Revisit in six months.</a:t>
            </a:r>
          </a:p>
          <a:p/>
          <a:p>
            <a:r>
              <a:t>A dental group with forty clinics and a compliance team. A framework with managed hosting. They need control over data, custom integrations with their practice management system, and predictable costs at volume.</a:t>
            </a:r>
          </a:p>
          <a:p/>
          <a:p>
            <a:r>
              <a:t>A startup selling voice receptionists to many clinics. A framework, no question. Their product *is* the pipeline. And their testing suite is their moat. Everything you built in Section 9 becomes a competitive advantage.</a:t>
            </a:r>
          </a:p>
          <a:p/>
          <a:p>
            <a:r>
              <a:t>And here's the most important point in this lecture. Whatever you choose, the skills from this course transfer. Voice prompting transfers. Read-backs and confirmation gates transfer. Latency budgets, WER, LLM judges, simulated callers, cost per minute. All of it. Even on a managed platform, you can run simulated callers against its phone number and judge the transcripts.</a:t>
            </a:r>
          </a:p>
          <a:p/>
          <a:p>
            <a:r>
              <a:t>The framework is a choice. The discipline is what makes it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Quiz: Choosing a stack.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questions are about Pipecat's model: what a frame is, and where the aggregators go in the pipeline. Two are translations from LiveKit to Pipecat. And two are short scenarios where you pick a stack.</a:t>
            </a:r>
          </a:p>
          <a:p/>
          <a:p>
            <a:r>
              <a:t>A tip for the scenarios. Look for the one detail that decides it. Call volume. A compliance requirement. Or how much the team needs to customize the pipeline.</a:t>
            </a:r>
          </a:p>
          <a:p/>
          <a:p>
            <a:r>
              <a:t>[SCREEN: `pipecat/s14_pipecat_bot.py`, the `Pipeline([...])` list, with `assistant_aggregator` last, after `transport.output()`.]</a:t>
            </a:r>
          </a:p>
          <a:p/>
          <a:p>
            <a:r>
              <a:t>And for the aggregator question, here's the real pipeline. Note which box comes last.</a:t>
            </a:r>
          </a:p>
          <a:p/>
          <a:p>
            <a:r>
              <a:t>Read the explanations. They're short, and they point back to the right lecture.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14 · Lecture 14.1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14 · </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14.1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Pipecat's frame pipeline model</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Explain frames, frame processors, transports and the direction frames flow.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14 · Lecture 14.1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This section is optional</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Nothing in Section 15 depends on it</a:t>
            </a:r>
          </a:p>
          <a:p>
            <a:pPr marL="292608" indent="-292608">
              <a:lnSpc>
                <a:spcPct val="120000"/>
              </a:lnSpc>
              <a:spcAft>
                <a:spcPts val="1539"/>
              </a:spcAft>
              <a:buClr>
                <a:srgbClr val="00D4AA"/>
              </a:buClr>
              <a:buFont typeface="Inter"/>
              <a:buChar char="•"/>
            </a:pPr>
            <a:r>
              <a:rPr sz="2200" b="0">
                <a:solidFill>
                  <a:srgbClr val="FFFFFF"/>
                </a:solidFill>
                <a:latin typeface="Inter"/>
              </a:rPr>
              <a:t>Short on time? Jump to 14.3, the comparison</a:t>
            </a:r>
          </a:p>
          <a:p>
            <a:pPr marL="292608" indent="-292608">
              <a:lnSpc>
                <a:spcPct val="120000"/>
              </a:lnSpc>
              <a:spcAft>
                <a:spcPts val="1539"/>
              </a:spcAft>
              <a:buClr>
                <a:srgbClr val="00D4AA"/>
              </a:buClr>
              <a:buFont typeface="Inter"/>
              <a:buChar char="•"/>
            </a:pPr>
            <a:r>
              <a:rPr sz="2200" b="0">
                <a:solidFill>
                  <a:srgbClr val="FFFFFF"/>
                </a:solidFill>
                <a:latin typeface="Inter"/>
              </a:rPr>
              <a:t>Choosing a stack for a real project? Watch all three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14 · Lecture 14.1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Pipecat in one sentence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An open-source Python framework for real-time voice and multimodal agents</a:t>
            </a:r>
          </a:p>
          <a:p>
            <a:pPr marL="292608" indent="-292608">
              <a:lnSpc>
                <a:spcPct val="120000"/>
              </a:lnSpc>
              <a:spcAft>
                <a:spcPts val="1120"/>
              </a:spcAft>
              <a:buClr>
                <a:srgbClr val="00D4AA"/>
              </a:buClr>
              <a:buFont typeface="Inter"/>
              <a:buChar char="•"/>
            </a:pPr>
            <a:r>
              <a:rPr sz="1600" b="0">
                <a:solidFill>
                  <a:srgbClr val="FFFFFF"/>
                </a:solidFill>
                <a:latin typeface="Inter"/>
              </a:rPr>
              <a:t>Created by Daily, BSD-licensed, large contributor community</a:t>
            </a:r>
          </a:p>
          <a:p>
            <a:pPr marL="292608" indent="-292608">
              <a:lnSpc>
                <a:spcPct val="120000"/>
              </a:lnSpc>
              <a:spcAft>
                <a:spcPts val="1120"/>
              </a:spcAft>
              <a:buClr>
                <a:srgbClr val="00D4AA"/>
              </a:buClr>
              <a:buFont typeface="Inter"/>
              <a:buChar char="•"/>
            </a:pPr>
            <a:r>
              <a:rPr sz="1600" b="0">
                <a:solidFill>
                  <a:srgbClr val="FFFFFF"/>
                </a:solidFill>
                <a:latin typeface="Inter"/>
              </a:rPr>
              <a:t>Everything is a frame, flowing through a pipeline of processors</a:t>
            </a:r>
          </a:p>
        </p:txBody>
      </p:sp>
      <p:pic>
        <p:nvPicPr>
          <p:cNvPr id="6" name="Picture 5" descr="D15-pipecat-frame-pipeline-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14 · Lecture 14.1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Frames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A frame is a small typed message</a:t>
            </a:r>
          </a:p>
          <a:p>
            <a:pPr marL="292608" indent="-292608">
              <a:lnSpc>
                <a:spcPct val="120000"/>
              </a:lnSpc>
              <a:spcAft>
                <a:spcPts val="1120"/>
              </a:spcAft>
              <a:buClr>
                <a:srgbClr val="00D4AA"/>
              </a:buClr>
              <a:buFont typeface="Inter"/>
              <a:buChar char="•"/>
            </a:pPr>
            <a:r>
              <a:rPr sz="1600" b="0">
                <a:solidFill>
                  <a:srgbClr val="FFFFFF"/>
                </a:solidFill>
                <a:latin typeface="Inter"/>
              </a:rPr>
              <a:t>Audio frames: raw caller audio, synthesized speech</a:t>
            </a:r>
          </a:p>
          <a:p>
            <a:pPr marL="292608" indent="-292608">
              <a:lnSpc>
                <a:spcPct val="120000"/>
              </a:lnSpc>
              <a:spcAft>
                <a:spcPts val="1120"/>
              </a:spcAft>
              <a:buClr>
                <a:srgbClr val="00D4AA"/>
              </a:buClr>
              <a:buFont typeface="Inter"/>
              <a:buChar char="•"/>
            </a:pPr>
            <a:r>
              <a:rPr sz="1600" b="0">
                <a:solidFill>
                  <a:srgbClr val="FFFFFF"/>
                </a:solidFill>
                <a:latin typeface="Inter"/>
              </a:rPr>
              <a:t>Text frames: transcriptions, LLM tokens</a:t>
            </a:r>
          </a:p>
          <a:p>
            <a:pPr marL="292608" indent="-292608">
              <a:lnSpc>
                <a:spcPct val="120000"/>
              </a:lnSpc>
              <a:spcAft>
                <a:spcPts val="1120"/>
              </a:spcAft>
              <a:buClr>
                <a:srgbClr val="00D4AA"/>
              </a:buClr>
              <a:buFont typeface="Inter"/>
              <a:buChar char="•"/>
            </a:pPr>
            <a:r>
              <a:rPr sz="1600" b="0">
                <a:solidFill>
                  <a:srgbClr val="FFFFFF"/>
                </a:solidFill>
                <a:latin typeface="Inter"/>
              </a:rPr>
              <a:t>Control frames: start, end, interruptions, "user started speaking"</a:t>
            </a:r>
          </a:p>
        </p:txBody>
      </p:sp>
      <p:pic>
        <p:nvPicPr>
          <p:cNvPr id="6" name="Picture 5" descr="D15-step2-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14 · Lecture 14.1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Processors and the pipeline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Each box is a frame processor</a:t>
            </a:r>
          </a:p>
          <a:p>
            <a:pPr marL="292608" indent="-292608">
              <a:lnSpc>
                <a:spcPct val="120000"/>
              </a:lnSpc>
              <a:spcAft>
                <a:spcPts val="1120"/>
              </a:spcAft>
              <a:buClr>
                <a:srgbClr val="00D4AA"/>
              </a:buClr>
              <a:buFont typeface="Inter"/>
              <a:buChar char="•"/>
            </a:pPr>
            <a:r>
              <a:rPr sz="1600" b="0">
                <a:solidFill>
                  <a:srgbClr val="FFFFFF"/>
                </a:solidFill>
                <a:latin typeface="Inter"/>
              </a:rPr>
              <a:t>Frames flow downstream (left to right) and upstream (right to left)</a:t>
            </a:r>
          </a:p>
          <a:p>
            <a:pPr marL="292608" indent="-292608">
              <a:lnSpc>
                <a:spcPct val="120000"/>
              </a:lnSpc>
              <a:spcAft>
                <a:spcPts val="1120"/>
              </a:spcAft>
              <a:buClr>
                <a:srgbClr val="00D4AA"/>
              </a:buClr>
              <a:buFont typeface="Inter"/>
              <a:buChar char="•"/>
            </a:pPr>
            <a:r>
              <a:rPr sz="1600" b="0">
                <a:solidFill>
                  <a:srgbClr val="FFFFFF"/>
                </a:solidFill>
                <a:latin typeface="Inter"/>
              </a:rPr>
              <a:t>A processor handles frames it knows and passes the rest along</a:t>
            </a:r>
          </a:p>
        </p:txBody>
      </p:sp>
      <p:pic>
        <p:nvPicPr>
          <p:cNvPr id="6" name="Picture 5" descr="D15-pipecat-frame-pipeline-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14 · Lecture 14.1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Transports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Transport = how audio gets in and out</a:t>
            </a:r>
          </a:p>
          <a:p>
            <a:pPr marL="292608" indent="-292608">
              <a:lnSpc>
                <a:spcPct val="120000"/>
              </a:lnSpc>
              <a:spcAft>
                <a:spcPts val="1539"/>
              </a:spcAft>
              <a:buClr>
                <a:srgbClr val="00D4AA"/>
              </a:buClr>
              <a:buFont typeface="Inter"/>
              <a:buChar char="•"/>
            </a:pPr>
            <a:r>
              <a:rPr sz="2200" b="0">
                <a:solidFill>
                  <a:srgbClr val="FFFFFF"/>
                </a:solidFill>
                <a:latin typeface="Inter"/>
              </a:rPr>
              <a:t>WebRTC in the browser (SmallWebRTC, Daily), LiveKit rooms, telephony WebSockets (Twilio, Telnyx, Plivo, Exotel)</a:t>
            </a:r>
          </a:p>
          <a:p>
            <a:pPr marL="292608" indent="-292608">
              <a:lnSpc>
                <a:spcPct val="120000"/>
              </a:lnSpc>
              <a:spcAft>
                <a:spcPts val="1539"/>
              </a:spcAft>
              <a:buClr>
                <a:srgbClr val="00D4AA"/>
              </a:buClr>
              <a:buFont typeface="Inter"/>
              <a:buChar char="•"/>
            </a:pPr>
            <a:r>
              <a:rPr sz="2024" b="0">
                <a:solidFill>
                  <a:srgbClr val="00D4AA"/>
                </a:solidFill>
                <a:latin typeface="JetBrains Mono"/>
              </a:rPr>
              <a:t>transport.input()</a:t>
            </a:r>
            <a:r>
              <a:rPr sz="2200" b="0">
                <a:solidFill>
                  <a:srgbClr val="FFFFFF"/>
                </a:solidFill>
                <a:latin typeface="Inter"/>
              </a:rPr>
              <a:t> starts the pipeline, </a:t>
            </a:r>
            <a:r>
              <a:rPr sz="2024" b="0">
                <a:solidFill>
                  <a:srgbClr val="00D4AA"/>
                </a:solidFill>
                <a:latin typeface="JetBrains Mono"/>
              </a:rPr>
              <a:t>transport.output()</a:t>
            </a:r>
            <a:r>
              <a:rPr sz="2200" b="0">
                <a:solidFill>
                  <a:srgbClr val="FFFFFF"/>
                </a:solidFill>
                <a:latin typeface="Inter"/>
              </a:rPr>
              <a:t> ends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14 · Lecture 14.1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Context and aggregators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LLMContext</a:t>
            </a:r>
            <a:r>
              <a:rPr sz="1800" b="0">
                <a:solidFill>
                  <a:srgbClr val="FFFFFF"/>
                </a:solidFill>
                <a:latin typeface="Inter"/>
              </a:rPr>
              <a:t>: the conversation history and the tools</a:t>
            </a:r>
          </a:p>
          <a:p>
            <a:pPr marL="292608" indent="-292608">
              <a:lnSpc>
                <a:spcPct val="120000"/>
              </a:lnSpc>
              <a:spcAft>
                <a:spcPts val="1260"/>
              </a:spcAft>
              <a:buClr>
                <a:srgbClr val="00D4AA"/>
              </a:buClr>
              <a:buFont typeface="Inter"/>
              <a:buChar char="•"/>
            </a:pPr>
            <a:r>
              <a:rPr sz="1800" b="0">
                <a:solidFill>
                  <a:srgbClr val="FFFFFF"/>
                </a:solidFill>
                <a:latin typeface="Inter"/>
              </a:rPr>
              <a:t>User aggregator: collects transcription frames into a user message</a:t>
            </a:r>
          </a:p>
          <a:p>
            <a:pPr marL="292608" indent="-292608">
              <a:lnSpc>
                <a:spcPct val="120000"/>
              </a:lnSpc>
              <a:spcAft>
                <a:spcPts val="1260"/>
              </a:spcAft>
              <a:buClr>
                <a:srgbClr val="00D4AA"/>
              </a:buClr>
              <a:buFont typeface="Inter"/>
              <a:buChar char="•"/>
            </a:pPr>
            <a:r>
              <a:rPr sz="1800" b="0">
                <a:solidFill>
                  <a:srgbClr val="FFFFFF"/>
                </a:solidFill>
                <a:latin typeface="Inter"/>
              </a:rPr>
              <a:t>Assistant aggregator: collects spoken text into an assistant message</a:t>
            </a:r>
          </a:p>
          <a:p>
            <a:pPr marL="292608" indent="-292608">
              <a:lnSpc>
                <a:spcPct val="120000"/>
              </a:lnSpc>
              <a:spcAft>
                <a:spcPts val="1260"/>
              </a:spcAft>
              <a:buClr>
                <a:srgbClr val="00D4AA"/>
              </a:buClr>
              <a:buFont typeface="Inter"/>
              <a:buChar char="•"/>
            </a:pPr>
            <a:r>
              <a:rPr sz="1656" b="0">
                <a:solidFill>
                  <a:srgbClr val="00D4AA"/>
                </a:solidFill>
                <a:latin typeface="JetBrains Mono"/>
              </a:rPr>
              <a:t>LLMContextAggregatorPair(context)</a:t>
            </a:r>
            <a:r>
              <a:rPr sz="1800" b="0">
                <a:solidFill>
                  <a:srgbClr val="FFFFFF"/>
                </a:solidFill>
                <a:latin typeface="Inter"/>
              </a:rPr>
              <a:t> gives you both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14 · Lecture 14.1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Worker and runner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Pipeline([...])</a:t>
            </a:r>
            <a:r>
              <a:rPr sz="1800" b="0">
                <a:solidFill>
                  <a:srgbClr val="FFFFFF"/>
                </a:solidFill>
                <a:latin typeface="Inter"/>
              </a:rPr>
              <a:t>: the list of processors</a:t>
            </a:r>
          </a:p>
          <a:p>
            <a:pPr marL="292608" indent="-292608">
              <a:lnSpc>
                <a:spcPct val="120000"/>
              </a:lnSpc>
              <a:spcAft>
                <a:spcPts val="1260"/>
              </a:spcAft>
              <a:buClr>
                <a:srgbClr val="00D4AA"/>
              </a:buClr>
              <a:buFont typeface="Inter"/>
              <a:buChar char="•"/>
            </a:pPr>
            <a:r>
              <a:rPr sz="1656" b="0">
                <a:solidFill>
                  <a:srgbClr val="00D4AA"/>
                </a:solidFill>
                <a:latin typeface="JetBrains Mono"/>
              </a:rPr>
              <a:t>PipelineWorker(pipeline, params=PipelineParams(...))</a:t>
            </a:r>
            <a:r>
              <a:rPr sz="1800" b="0">
                <a:solidFill>
                  <a:srgbClr val="FFFFFF"/>
                </a:solidFill>
                <a:latin typeface="Inter"/>
              </a:rPr>
              <a:t>: runs one conversation</a:t>
            </a:r>
          </a:p>
          <a:p>
            <a:pPr marL="292608" indent="-292608">
              <a:lnSpc>
                <a:spcPct val="120000"/>
              </a:lnSpc>
              <a:spcAft>
                <a:spcPts val="1260"/>
              </a:spcAft>
              <a:buClr>
                <a:srgbClr val="00D4AA"/>
              </a:buClr>
              <a:buFont typeface="Inter"/>
              <a:buChar char="•"/>
            </a:pPr>
            <a:r>
              <a:rPr sz="1656" b="0">
                <a:solidFill>
                  <a:srgbClr val="00D4AA"/>
                </a:solidFill>
                <a:latin typeface="JetBrains Mono"/>
              </a:rPr>
              <a:t>WorkerRunner()</a:t>
            </a:r>
            <a:r>
              <a:rPr sz="1800" b="0">
                <a:solidFill>
                  <a:srgbClr val="FFFFFF"/>
                </a:solidFill>
                <a:latin typeface="Inter"/>
              </a:rPr>
              <a:t>: add the worker, </a:t>
            </a:r>
            <a:r>
              <a:rPr sz="1656" b="0">
                <a:solidFill>
                  <a:srgbClr val="00D4AA"/>
                </a:solidFill>
                <a:latin typeface="JetBrains Mono"/>
              </a:rPr>
              <a:t>run()</a:t>
            </a:r>
            <a:r>
              <a:rPr sz="1800" b="0">
                <a:solidFill>
                  <a:srgbClr val="FFFFFF"/>
                </a:solidFill>
                <a:latin typeface="Inter"/>
              </a:rPr>
              <a:t> it, handles signals and shutdown</a:t>
            </a:r>
          </a:p>
          <a:p>
            <a:pPr marL="292608" indent="-292608">
              <a:lnSpc>
                <a:spcPct val="120000"/>
              </a:lnSpc>
              <a:spcAft>
                <a:spcPts val="1260"/>
              </a:spcAft>
              <a:buClr>
                <a:srgbClr val="00D4AA"/>
              </a:buClr>
              <a:buFont typeface="Inter"/>
              <a:buChar char="•"/>
            </a:pPr>
            <a:r>
              <a:rPr sz="1800" b="0">
                <a:solidFill>
                  <a:srgbClr val="FFFFFF"/>
                </a:solidFill>
                <a:latin typeface="Inter"/>
              </a:rPr>
              <a:t>Older names (pre-1.3): </a:t>
            </a:r>
            <a:r>
              <a:rPr sz="1656" b="0">
                <a:solidFill>
                  <a:srgbClr val="00D4AA"/>
                </a:solidFill>
                <a:latin typeface="JetBrains Mono"/>
              </a:rPr>
              <a:t>PipelineTask</a:t>
            </a:r>
            <a:r>
              <a:rPr sz="1800" b="0">
                <a:solidFill>
                  <a:srgbClr val="FFFFFF"/>
                </a:solidFill>
                <a:latin typeface="Inter"/>
              </a:rPr>
              <a:t> and </a:t>
            </a:r>
            <a:r>
              <a:rPr sz="1656" b="0">
                <a:solidFill>
                  <a:srgbClr val="00D4AA"/>
                </a:solidFill>
                <a:latin typeface="JetBrains Mono"/>
              </a:rPr>
              <a:t>PipelineRunner</a:t>
            </a:r>
            <a:r>
              <a:rPr sz="1800" b="0">
                <a:solidFill>
                  <a:srgbClr val="FFFFFF"/>
                </a:solidFill>
                <a:latin typeface="Inter"/>
              </a:rPr>
              <a:t>. They still work in 1.12, with deprecation warnings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14 · Lecture 14.1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LiveKit to Pipecat translation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3072384"/>
        </p:xfrm>
        <a:graphic>
          <a:graphicData uri="http://schemas.openxmlformats.org/drawingml/2006/table">
            <a:tbl>
              <a:tblPr firstRow="1" bandRow="1">
                <a:tableStyleId>{5C22544A-7EE6-4342-B048-85BDC9FD1C3A}</a:tableStyleId>
              </a:tblPr>
              <a:tblGrid>
                <a:gridCol w="4413293"/>
                <a:gridCol w="6879546"/>
              </a:tblGrid>
              <a:tr h="384048">
                <a:tc>
                  <a:txBody>
                    <a:bodyPr wrap="square"/>
                    <a:lstStyle/>
                    <a:p>
                      <a:r>
                        <a:rPr sz="1200" b="1">
                          <a:solidFill>
                            <a:srgbClr val="0A1628"/>
                          </a:solidFill>
                          <a:latin typeface="Inter"/>
                        </a:rPr>
                        <a:t>LiveKit Agents</a:t>
                      </a:r>
                    </a:p>
                  </a:txBody>
                  <a:tcPr marL="91440" marR="91440" marT="45720" marB="45720" anchor="ctr">
                    <a:solidFill>
                      <a:srgbClr val="00D4AA"/>
                    </a:solidFill>
                  </a:tcPr>
                </a:tc>
                <a:tc>
                  <a:txBody>
                    <a:bodyPr wrap="square"/>
                    <a:lstStyle/>
                    <a:p>
                      <a:r>
                        <a:rPr sz="1200" b="1">
                          <a:solidFill>
                            <a:srgbClr val="0A1628"/>
                          </a:solidFill>
                          <a:latin typeface="Inter"/>
                        </a:rPr>
                        <a:t>Pipecat</a:t>
                      </a:r>
                    </a:p>
                  </a:txBody>
                  <a:tcPr marL="91440" marR="91440" marT="45720" marB="45720" anchor="ctr">
                    <a:solidFill>
                      <a:srgbClr val="00D4AA"/>
                    </a:solidFill>
                  </a:tcPr>
                </a:tc>
              </a:tr>
              <a:tr h="384048">
                <a:tc>
                  <a:txBody>
                    <a:bodyPr wrap="square"/>
                    <a:lstStyle/>
                    <a:p>
                      <a:r>
                        <a:rPr sz="1104" b="0">
                          <a:solidFill>
                            <a:srgbClr val="00D4AA"/>
                          </a:solidFill>
                          <a:latin typeface="JetBrains Mono"/>
                        </a:rPr>
                        <a:t>AgentSession(stt, llm, tts, vad)</a:t>
                      </a:r>
                    </a:p>
                  </a:txBody>
                  <a:tcPr marL="91440" marR="91440" marT="45720" marB="45720" anchor="ctr">
                    <a:solidFill>
                      <a:srgbClr val="1A2742"/>
                    </a:solidFill>
                  </a:tcPr>
                </a:tc>
                <a:tc>
                  <a:txBody>
                    <a:bodyPr wrap="square"/>
                    <a:lstStyle/>
                    <a:p>
                      <a:r>
                        <a:rPr sz="1104" b="0">
                          <a:solidFill>
                            <a:srgbClr val="00D4AA"/>
                          </a:solidFill>
                          <a:latin typeface="JetBrains Mono"/>
                        </a:rPr>
                        <a:t>Pipeline([...])</a:t>
                      </a:r>
                      <a:r>
                        <a:rPr sz="1200" b="0">
                          <a:solidFill>
                            <a:srgbClr val="FFFFFF"/>
                          </a:solidFill>
                          <a:latin typeface="Inter"/>
                        </a:rPr>
                        <a:t> + services</a:t>
                      </a:r>
                    </a:p>
                  </a:txBody>
                  <a:tcPr marL="91440" marR="91440" marT="45720" marB="45720" anchor="ctr">
                    <a:solidFill>
                      <a:srgbClr val="1A2742"/>
                    </a:solidFill>
                  </a:tcPr>
                </a:tc>
              </a:tr>
              <a:tr h="384048">
                <a:tc>
                  <a:txBody>
                    <a:bodyPr wrap="square"/>
                    <a:lstStyle/>
                    <a:p>
                      <a:r>
                        <a:rPr sz="1104" b="0">
                          <a:solidFill>
                            <a:srgbClr val="00D4AA"/>
                          </a:solidFill>
                          <a:latin typeface="JetBrains Mono"/>
                        </a:rPr>
                        <a:t>Agent(instructions=...)</a:t>
                      </a:r>
                    </a:p>
                  </a:txBody>
                  <a:tcPr marL="91440" marR="91440" marT="45720" marB="45720" anchor="ctr">
                    <a:solidFill>
                      <a:srgbClr val="0F1E35"/>
                    </a:solidFill>
                  </a:tcPr>
                </a:tc>
                <a:tc>
                  <a:txBody>
                    <a:bodyPr wrap="square"/>
                    <a:lstStyle/>
                    <a:p>
                      <a:r>
                        <a:rPr sz="1104" b="0">
                          <a:solidFill>
                            <a:srgbClr val="00D4AA"/>
                          </a:solidFill>
                          <a:latin typeface="JetBrains Mono"/>
                        </a:rPr>
                        <a:t>system_instruction</a:t>
                      </a:r>
                      <a:r>
                        <a:rPr sz="1200" b="0">
                          <a:solidFill>
                            <a:srgbClr val="FFFFFF"/>
                          </a:solidFill>
                          <a:latin typeface="Inter"/>
                        </a:rPr>
                        <a:t> in LLM settings + </a:t>
                      </a:r>
                      <a:r>
                        <a:rPr sz="1104" b="0">
                          <a:solidFill>
                            <a:srgbClr val="00D4AA"/>
                          </a:solidFill>
                          <a:latin typeface="JetBrains Mono"/>
                        </a:rPr>
                        <a:t>LLMContext</a:t>
                      </a:r>
                    </a:p>
                  </a:txBody>
                  <a:tcPr marL="91440" marR="91440" marT="45720" marB="45720" anchor="ctr">
                    <a:solidFill>
                      <a:srgbClr val="0F1E35"/>
                    </a:solidFill>
                  </a:tcPr>
                </a:tc>
              </a:tr>
              <a:tr h="384048">
                <a:tc>
                  <a:txBody>
                    <a:bodyPr wrap="square"/>
                    <a:lstStyle/>
                    <a:p>
                      <a:r>
                        <a:rPr sz="1104" b="0">
                          <a:solidFill>
                            <a:srgbClr val="00D4AA"/>
                          </a:solidFill>
                          <a:latin typeface="JetBrains Mono"/>
                        </a:rPr>
                        <a:t>@function_tool</a:t>
                      </a:r>
                    </a:p>
                  </a:txBody>
                  <a:tcPr marL="91440" marR="91440" marT="45720" marB="45720" anchor="ctr">
                    <a:solidFill>
                      <a:srgbClr val="1A2742"/>
                    </a:solidFill>
                  </a:tcPr>
                </a:tc>
                <a:tc>
                  <a:txBody>
                    <a:bodyPr wrap="square"/>
                    <a:lstStyle/>
                    <a:p>
                      <a:r>
                        <a:rPr sz="1104" b="0">
                          <a:solidFill>
                            <a:srgbClr val="00D4AA"/>
                          </a:solidFill>
                          <a:latin typeface="JetBrains Mono"/>
                        </a:rPr>
                        <a:t>FunctionSchema</a:t>
                      </a:r>
                      <a:r>
                        <a:rPr sz="1200" b="0">
                          <a:solidFill>
                            <a:srgbClr val="FFFFFF"/>
                          </a:solidFill>
                          <a:latin typeface="Inter"/>
                        </a:rPr>
                        <a:t> + </a:t>
                      </a:r>
                      <a:r>
                        <a:rPr sz="1104" b="0">
                          <a:solidFill>
                            <a:srgbClr val="00D4AA"/>
                          </a:solidFill>
                          <a:latin typeface="JetBrains Mono"/>
                        </a:rPr>
                        <a:t>llm.register_function(...)</a:t>
                      </a:r>
                    </a:p>
                  </a:txBody>
                  <a:tcPr marL="91440" marR="91440" marT="45720" marB="45720" anchor="ctr">
                    <a:solidFill>
                      <a:srgbClr val="1A2742"/>
                    </a:solidFill>
                  </a:tcPr>
                </a:tc>
              </a:tr>
              <a:tr h="384048">
                <a:tc>
                  <a:txBody>
                    <a:bodyPr wrap="square"/>
                    <a:lstStyle/>
                    <a:p>
                      <a:r>
                        <a:rPr sz="1104" b="0">
                          <a:solidFill>
                            <a:srgbClr val="00D4AA"/>
                          </a:solidFill>
                          <a:latin typeface="JetBrains Mono"/>
                        </a:rPr>
                        <a:t>RunContext</a:t>
                      </a:r>
                    </a:p>
                  </a:txBody>
                  <a:tcPr marL="91440" marR="91440" marT="45720" marB="45720" anchor="ctr">
                    <a:solidFill>
                      <a:srgbClr val="0F1E35"/>
                    </a:solidFill>
                  </a:tcPr>
                </a:tc>
                <a:tc>
                  <a:txBody>
                    <a:bodyPr wrap="square"/>
                    <a:lstStyle/>
                    <a:p>
                      <a:r>
                        <a:rPr sz="1104" b="0">
                          <a:solidFill>
                            <a:srgbClr val="00D4AA"/>
                          </a:solidFill>
                          <a:latin typeface="JetBrains Mono"/>
                        </a:rPr>
                        <a:t>FunctionCallParams</a:t>
                      </a:r>
                    </a:p>
                  </a:txBody>
                  <a:tcPr marL="91440" marR="91440" marT="45720" marB="45720" anchor="ctr">
                    <a:solidFill>
                      <a:srgbClr val="0F1E35"/>
                    </a:solidFill>
                  </a:tcPr>
                </a:tc>
              </a:tr>
              <a:tr h="384048">
                <a:tc>
                  <a:txBody>
                    <a:bodyPr wrap="square"/>
                    <a:lstStyle/>
                    <a:p>
                      <a:r>
                        <a:rPr sz="1104" b="0">
                          <a:solidFill>
                            <a:srgbClr val="00D4AA"/>
                          </a:solidFill>
                          <a:latin typeface="JetBrains Mono"/>
                        </a:rPr>
                        <a:t>session.generate_reply()</a:t>
                      </a:r>
                    </a:p>
                  </a:txBody>
                  <a:tcPr marL="91440" marR="91440" marT="45720" marB="45720" anchor="ctr">
                    <a:solidFill>
                      <a:srgbClr val="1A2742"/>
                    </a:solidFill>
                  </a:tcPr>
                </a:tc>
                <a:tc>
                  <a:txBody>
                    <a:bodyPr wrap="square"/>
                    <a:lstStyle/>
                    <a:p>
                      <a:r>
                        <a:rPr sz="1200" b="0">
                          <a:solidFill>
                            <a:srgbClr val="FFFFFF"/>
                          </a:solidFill>
                          <a:latin typeface="Inter"/>
                        </a:rPr>
                        <a:t>queue an </a:t>
                      </a:r>
                      <a:r>
                        <a:rPr sz="1104" b="0">
                          <a:solidFill>
                            <a:srgbClr val="00D4AA"/>
                          </a:solidFill>
                          <a:latin typeface="JetBrains Mono"/>
                        </a:rPr>
                        <a:t>LLMRunFrame</a:t>
                      </a:r>
                    </a:p>
                  </a:txBody>
                  <a:tcPr marL="91440" marR="91440" marT="45720" marB="45720" anchor="ctr">
                    <a:solidFill>
                      <a:srgbClr val="1A2742"/>
                    </a:solidFill>
                  </a:tcPr>
                </a:tc>
              </a:tr>
              <a:tr h="384048">
                <a:tc>
                  <a:txBody>
                    <a:bodyPr wrap="square"/>
                    <a:lstStyle/>
                    <a:p>
                      <a:r>
                        <a:rPr sz="1104" b="0">
                          <a:solidFill>
                            <a:srgbClr val="00D4AA"/>
                          </a:solidFill>
                          <a:latin typeface="JetBrains Mono"/>
                        </a:rPr>
                        <a:t>AgentServer</a:t>
                      </a:r>
                      <a:r>
                        <a:rPr sz="1200" b="1">
                          <a:solidFill>
                            <a:srgbClr val="FFFFFF"/>
                          </a:solidFill>
                          <a:latin typeface="Inter"/>
                        </a:rPr>
                        <a:t> + </a:t>
                      </a:r>
                      <a:r>
                        <a:rPr sz="1104" b="0">
                          <a:solidFill>
                            <a:srgbClr val="00D4AA"/>
                          </a:solidFill>
                          <a:latin typeface="JetBrains Mono"/>
                        </a:rPr>
                        <a:t>cli.run_app</a:t>
                      </a:r>
                    </a:p>
                  </a:txBody>
                  <a:tcPr marL="91440" marR="91440" marT="45720" marB="45720" anchor="ctr">
                    <a:solidFill>
                      <a:srgbClr val="0F1E35"/>
                    </a:solidFill>
                  </a:tcPr>
                </a:tc>
                <a:tc>
                  <a:txBody>
                    <a:bodyPr wrap="square"/>
                    <a:lstStyle/>
                    <a:p>
                      <a:r>
                        <a:rPr sz="1104" b="0">
                          <a:solidFill>
                            <a:srgbClr val="00D4AA"/>
                          </a:solidFill>
                          <a:latin typeface="JetBrains Mono"/>
                        </a:rPr>
                        <a:t>bot()</a:t>
                      </a:r>
                      <a:r>
                        <a:rPr sz="1200" b="0">
                          <a:solidFill>
                            <a:srgbClr val="FFFFFF"/>
                          </a:solidFill>
                          <a:latin typeface="Inter"/>
                        </a:rPr>
                        <a:t> + </a:t>
                      </a:r>
                      <a:r>
                        <a:rPr sz="1104" b="0">
                          <a:solidFill>
                            <a:srgbClr val="00D4AA"/>
                          </a:solidFill>
                          <a:latin typeface="JetBrains Mono"/>
                        </a:rPr>
                        <a:t>pipecat.runner.run.main()</a:t>
                      </a:r>
                      <a:r>
                        <a:rPr sz="1200" b="0">
                          <a:solidFill>
                            <a:srgbClr val="FFFFFF"/>
                          </a:solidFill>
                          <a:latin typeface="Inter"/>
                        </a:rPr>
                        <a:t>, </a:t>
                      </a:r>
                      <a:r>
                        <a:rPr sz="1104" b="0">
                          <a:solidFill>
                            <a:srgbClr val="00D4AA"/>
                          </a:solidFill>
                          <a:latin typeface="JetBrains Mono"/>
                        </a:rPr>
                        <a:t>WorkerRunner</a:t>
                      </a:r>
                    </a:p>
                  </a:txBody>
                  <a:tcPr marL="91440" marR="91440" marT="45720" marB="45720" anchor="ctr">
                    <a:solidFill>
                      <a:srgbClr val="0F1E35"/>
                    </a:solidFill>
                  </a:tcPr>
                </a:tc>
              </a:tr>
              <a:tr h="384048">
                <a:tc>
                  <a:txBody>
                    <a:bodyPr wrap="square"/>
                    <a:lstStyle/>
                    <a:p>
                      <a:r>
                        <a:rPr sz="1104" b="0">
                          <a:solidFill>
                            <a:srgbClr val="00D4AA"/>
                          </a:solidFill>
                          <a:latin typeface="JetBrains Mono"/>
                        </a:rPr>
                        <a:t>llm_node</a:t>
                      </a:r>
                      <a:r>
                        <a:rPr sz="1200" b="1">
                          <a:solidFill>
                            <a:srgbClr val="FFFFFF"/>
                          </a:solidFill>
                          <a:latin typeface="Inter"/>
                        </a:rPr>
                        <a:t> / </a:t>
                      </a:r>
                      <a:r>
                        <a:rPr sz="1104" b="0">
                          <a:solidFill>
                            <a:srgbClr val="00D4AA"/>
                          </a:solidFill>
                          <a:latin typeface="JetBrains Mono"/>
                        </a:rPr>
                        <a:t>tts_node</a:t>
                      </a:r>
                      <a:r>
                        <a:rPr sz="1200" b="1">
                          <a:solidFill>
                            <a:srgbClr val="FFFFFF"/>
                          </a:solidFill>
                          <a:latin typeface="Inter"/>
                        </a:rPr>
                        <a:t> override</a:t>
                      </a:r>
                    </a:p>
                  </a:txBody>
                  <a:tcPr marL="91440" marR="91440" marT="45720" marB="45720" anchor="ctr">
                    <a:solidFill>
                      <a:srgbClr val="1A2742"/>
                    </a:solidFill>
                  </a:tcPr>
                </a:tc>
                <a:tc>
                  <a:txBody>
                    <a:bodyPr wrap="square"/>
                    <a:lstStyle/>
                    <a:p>
                      <a:r>
                        <a:rPr sz="1200" b="0">
                          <a:solidFill>
                            <a:srgbClr val="FFFFFF"/>
                          </a:solidFill>
                          <a:latin typeface="Inter"/>
                        </a:rPr>
                        <a:t>a custom frame processor</a:t>
                      </a:r>
                    </a:p>
                  </a:txBody>
                  <a:tcPr marL="91440" marR="91440" marT="45720" marB="45720" anchor="ctr">
                    <a:solidFill>
                      <a:srgbClr val="1A2742"/>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14 · Lecture 14.1</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Everything is a frame, flowing through processors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Transports are plug-ins at both ends of the pipeline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PipelineWorker</a:t>
            </a:r>
            <a:r>
              <a:rPr sz="1800" b="1">
                <a:solidFill>
                  <a:srgbClr val="FFFFFF"/>
                </a:solidFill>
                <a:latin typeface="Inter"/>
              </a:rPr>
              <a:t> and </a:t>
            </a:r>
            <a:r>
              <a:rPr sz="1656" b="0">
                <a:solidFill>
                  <a:srgbClr val="00D4AA"/>
                </a:solidFill>
                <a:latin typeface="JetBrains Mono"/>
              </a:rPr>
              <a:t>WorkerRunner</a:t>
            </a:r>
            <a:r>
              <a:rPr sz="1800" b="1">
                <a:solidFill>
                  <a:srgbClr val="FFFFFF"/>
                </a:solidFill>
                <a:latin typeface="Inter"/>
              </a:rPr>
              <a:t> replace Task and Runner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14 · Lecture 14.1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Code-along: Riley booking flow in Pipecat</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we'll rebuild Riley's booking flow in Pipecat 1.12, line by line.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14 · Lecture 14.2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14 · </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14.2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Code-along: Riley booking flow in Pipecat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Build a Pipecat 1.12 bot with Deepgram STT, OpenAI LLM, Cartesia TTS and Silero VAD.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14 · Lecture 14.2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Explicit </a:t>
            </a:r>
            <a:r>
              <a:rPr sz="1656" b="0">
                <a:solidFill>
                  <a:srgbClr val="00D4AA"/>
                </a:solidFill>
                <a:latin typeface="JetBrains Mono"/>
              </a:rPr>
              <a:t>FunctionSchema</a:t>
            </a:r>
            <a:r>
              <a:rPr sz="1800" b="1">
                <a:solidFill>
                  <a:srgbClr val="FFFFFF"/>
                </a:solidFill>
                <a:latin typeface="Inter"/>
              </a:rPr>
              <a:t>s plus handlers that call back</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Seven processors in one visible pipeline list</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Same </a:t>
            </a:r>
            <a:r>
              <a:rPr sz="1656" b="0">
                <a:solidFill>
                  <a:srgbClr val="00D4AA"/>
                </a:solidFill>
                <a:latin typeface="JetBrains Mono"/>
              </a:rPr>
              <a:t>src/maple</a:t>
            </a:r>
            <a:r>
              <a:rPr sz="1800" b="1">
                <a:solidFill>
                  <a:srgbClr val="FFFFFF"/>
                </a:solidFill>
                <a:latin typeface="Inter"/>
              </a:rPr>
              <a:t> business logic, unchanged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14 · Lecture 14.2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LiveKit Agents vs Pipecat vs managed platforms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we'll put LiveKit Agents, Pipecat and the managed platforms side by side, and build a decision matrix.</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14 · Lecture 14.3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14 · </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14.3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LiveKit Agents vs Pipecat vs managed platforms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Compare LiveKit Agents, Pipecat and managed platforms (Vapi, Retell, ElevenLabs Agents, Bland) on control, cost, compliance and lock-in.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14 · Lecture 14.3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Three ways to ship a voice agent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Framework on your infrastructure: LiveKit Agents or Pipecat, self-hosted</a:t>
            </a:r>
          </a:p>
          <a:p>
            <a:pPr marL="292608" indent="-292608">
              <a:lnSpc>
                <a:spcPct val="120000"/>
              </a:lnSpc>
              <a:spcAft>
                <a:spcPts val="1539"/>
              </a:spcAft>
              <a:buClr>
                <a:srgbClr val="00D4AA"/>
              </a:buClr>
              <a:buFont typeface="Inter"/>
              <a:buChar char="•"/>
            </a:pPr>
            <a:r>
              <a:rPr sz="2200" b="0">
                <a:solidFill>
                  <a:srgbClr val="FFFFFF"/>
                </a:solidFill>
                <a:latin typeface="Inter"/>
              </a:rPr>
              <a:t>Framework with managed hosting: LiveKit Cloud, Pipecat Cloud</a:t>
            </a:r>
          </a:p>
          <a:p>
            <a:pPr marL="292608" indent="-292608">
              <a:lnSpc>
                <a:spcPct val="120000"/>
              </a:lnSpc>
              <a:spcAft>
                <a:spcPts val="1539"/>
              </a:spcAft>
              <a:buClr>
                <a:srgbClr val="00D4AA"/>
              </a:buClr>
              <a:buFont typeface="Inter"/>
              <a:buChar char="•"/>
            </a:pPr>
            <a:r>
              <a:rPr sz="2200" b="0">
                <a:solidFill>
                  <a:srgbClr val="FFFFFF"/>
                </a:solidFill>
                <a:latin typeface="Inter"/>
              </a:rPr>
              <a:t>Managed voice platform: Vapi, Retell, ElevenLabs Agents, Bland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14 · Lecture 14.3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LiveKit Agents vs Pipecat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2688336"/>
        </p:xfrm>
        <a:graphic>
          <a:graphicData uri="http://schemas.openxmlformats.org/drawingml/2006/table">
            <a:tbl>
              <a:tblPr firstRow="1" bandRow="1">
                <a:tableStyleId>{5C22544A-7EE6-4342-B048-85BDC9FD1C3A}</a:tableStyleId>
              </a:tblPr>
              <a:tblGrid>
                <a:gridCol w="1109118"/>
                <a:gridCol w="4638130"/>
                <a:gridCol w="5545591"/>
              </a:tblGrid>
              <a:tr h="384048">
                <a:tc>
                  <a:txBody>
                    <a:bodyPr wrap="square"/>
                    <a:lstStyle/>
                    <a:p/>
                  </a:txBody>
                  <a:tcPr marL="91440" marR="91440" marT="45720" marB="45720" anchor="ctr">
                    <a:solidFill>
                      <a:srgbClr val="00D4AA"/>
                    </a:solidFill>
                  </a:tcPr>
                </a:tc>
                <a:tc>
                  <a:txBody>
                    <a:bodyPr wrap="square"/>
                    <a:lstStyle/>
                    <a:p>
                      <a:r>
                        <a:rPr sz="1200" b="1">
                          <a:solidFill>
                            <a:srgbClr val="0A1628"/>
                          </a:solidFill>
                          <a:latin typeface="Inter"/>
                        </a:rPr>
                        <a:t>LiveKit Agents</a:t>
                      </a:r>
                    </a:p>
                  </a:txBody>
                  <a:tcPr marL="91440" marR="91440" marT="45720" marB="45720" anchor="ctr">
                    <a:solidFill>
                      <a:srgbClr val="00D4AA"/>
                    </a:solidFill>
                  </a:tcPr>
                </a:tc>
                <a:tc>
                  <a:txBody>
                    <a:bodyPr wrap="square"/>
                    <a:lstStyle/>
                    <a:p>
                      <a:r>
                        <a:rPr sz="1200" b="1">
                          <a:solidFill>
                            <a:srgbClr val="0A1628"/>
                          </a:solidFill>
                          <a:latin typeface="Inter"/>
                        </a:rPr>
                        <a:t>Pipecat</a:t>
                      </a:r>
                    </a:p>
                  </a:txBody>
                  <a:tcPr marL="91440" marR="91440" marT="45720" marB="45720" anchor="ctr">
                    <a:solidFill>
                      <a:srgbClr val="00D4AA"/>
                    </a:solidFill>
                  </a:tcPr>
                </a:tc>
              </a:tr>
              <a:tr h="384048">
                <a:tc>
                  <a:txBody>
                    <a:bodyPr wrap="square"/>
                    <a:lstStyle/>
                    <a:p>
                      <a:r>
                        <a:rPr sz="1200" b="1">
                          <a:solidFill>
                            <a:srgbClr val="FFFFFF"/>
                          </a:solidFill>
                          <a:latin typeface="Inter"/>
                        </a:rPr>
                        <a:t>Abstraction</a:t>
                      </a:r>
                    </a:p>
                  </a:txBody>
                  <a:tcPr marL="91440" marR="91440" marT="45720" marB="45720" anchor="ctr">
                    <a:solidFill>
                      <a:srgbClr val="1A2742"/>
                    </a:solidFill>
                  </a:tcPr>
                </a:tc>
                <a:tc>
                  <a:txBody>
                    <a:bodyPr wrap="square"/>
                    <a:lstStyle/>
                    <a:p>
                      <a:r>
                        <a:rPr sz="1200" b="0">
                          <a:solidFill>
                            <a:srgbClr val="FFFFFF"/>
                          </a:solidFill>
                          <a:latin typeface="Inter"/>
                        </a:rPr>
                        <a:t>Agent + session; customize via hooks and nodes</a:t>
                      </a:r>
                    </a:p>
                  </a:txBody>
                  <a:tcPr marL="91440" marR="91440" marT="45720" marB="45720" anchor="ctr">
                    <a:solidFill>
                      <a:srgbClr val="1A2742"/>
                    </a:solidFill>
                  </a:tcPr>
                </a:tc>
                <a:tc>
                  <a:txBody>
                    <a:bodyPr wrap="square"/>
                    <a:lstStyle/>
                    <a:p>
                      <a:r>
                        <a:rPr sz="1200" b="0">
                          <a:solidFill>
                            <a:srgbClr val="FFFFFF"/>
                          </a:solidFill>
                          <a:latin typeface="Inter"/>
                        </a:rPr>
                        <a:t>Explicit pipeline; customize by adding processors</a:t>
                      </a:r>
                    </a:p>
                  </a:txBody>
                  <a:tcPr marL="91440" marR="91440" marT="45720" marB="45720" anchor="ctr">
                    <a:solidFill>
                      <a:srgbClr val="1A2742"/>
                    </a:solidFill>
                  </a:tcPr>
                </a:tc>
              </a:tr>
              <a:tr h="384048">
                <a:tc>
                  <a:txBody>
                    <a:bodyPr wrap="square"/>
                    <a:lstStyle/>
                    <a:p>
                      <a:r>
                        <a:rPr sz="1200" b="1">
                          <a:solidFill>
                            <a:srgbClr val="FFFFFF"/>
                          </a:solidFill>
                          <a:latin typeface="Inter"/>
                        </a:rPr>
                        <a:t>Transport</a:t>
                      </a:r>
                    </a:p>
                  </a:txBody>
                  <a:tcPr marL="91440" marR="91440" marT="45720" marB="45720" anchor="ctr">
                    <a:solidFill>
                      <a:srgbClr val="0F1E35"/>
                    </a:solidFill>
                  </a:tcPr>
                </a:tc>
                <a:tc>
                  <a:txBody>
                    <a:bodyPr wrap="square"/>
                    <a:lstStyle/>
                    <a:p>
                      <a:r>
                        <a:rPr sz="1200" b="0">
                          <a:solidFill>
                            <a:srgbClr val="FFFFFF"/>
                          </a:solidFill>
                          <a:latin typeface="Inter"/>
                        </a:rPr>
                        <a:t>LiveKit rooms (WebRTC) and LiveKit SIP</a:t>
                      </a:r>
                    </a:p>
                  </a:txBody>
                  <a:tcPr marL="91440" marR="91440" marT="45720" marB="45720" anchor="ctr">
                    <a:solidFill>
                      <a:srgbClr val="0F1E35"/>
                    </a:solidFill>
                  </a:tcPr>
                </a:tc>
                <a:tc>
                  <a:txBody>
                    <a:bodyPr wrap="square"/>
                    <a:lstStyle/>
                    <a:p>
                      <a:r>
                        <a:rPr sz="1200" b="0">
                          <a:solidFill>
                            <a:srgbClr val="FFFFFF"/>
                          </a:solidFill>
                          <a:latin typeface="Inter"/>
                        </a:rPr>
                        <a:t>Pluggable: WebRTC, Daily, LiveKit, telephony WebSockets</a:t>
                      </a:r>
                    </a:p>
                  </a:txBody>
                  <a:tcPr marL="91440" marR="91440" marT="45720" marB="45720" anchor="ctr">
                    <a:solidFill>
                      <a:srgbClr val="0F1E35"/>
                    </a:solidFill>
                  </a:tcPr>
                </a:tc>
              </a:tr>
              <a:tr h="384048">
                <a:tc>
                  <a:txBody>
                    <a:bodyPr wrap="square"/>
                    <a:lstStyle/>
                    <a:p>
                      <a:r>
                        <a:rPr sz="1200" b="1">
                          <a:solidFill>
                            <a:srgbClr val="FFFFFF"/>
                          </a:solidFill>
                          <a:latin typeface="Inter"/>
                        </a:rPr>
                        <a:t>Tools</a:t>
                      </a:r>
                    </a:p>
                  </a:txBody>
                  <a:tcPr marL="91440" marR="91440" marT="45720" marB="45720" anchor="ctr">
                    <a:solidFill>
                      <a:srgbClr val="1A2742"/>
                    </a:solidFill>
                  </a:tcPr>
                </a:tc>
                <a:tc>
                  <a:txBody>
                    <a:bodyPr wrap="square"/>
                    <a:lstStyle/>
                    <a:p>
                      <a:r>
                        <a:rPr sz="1104" b="0">
                          <a:solidFill>
                            <a:srgbClr val="00D4AA"/>
                          </a:solidFill>
                          <a:latin typeface="JetBrains Mono"/>
                        </a:rPr>
                        <a:t>@function_tool</a:t>
                      </a:r>
                      <a:r>
                        <a:rPr sz="1200" b="0">
                          <a:solidFill>
                            <a:srgbClr val="FFFFFF"/>
                          </a:solidFill>
                          <a:latin typeface="Inter"/>
                        </a:rPr>
                        <a:t> from signatures</a:t>
                      </a:r>
                    </a:p>
                  </a:txBody>
                  <a:tcPr marL="91440" marR="91440" marT="45720" marB="45720" anchor="ctr">
                    <a:solidFill>
                      <a:srgbClr val="1A2742"/>
                    </a:solidFill>
                  </a:tcPr>
                </a:tc>
                <a:tc>
                  <a:txBody>
                    <a:bodyPr wrap="square"/>
                    <a:lstStyle/>
                    <a:p>
                      <a:r>
                        <a:rPr sz="1200" b="0">
                          <a:solidFill>
                            <a:srgbClr val="FFFFFF"/>
                          </a:solidFill>
                          <a:latin typeface="Inter"/>
                        </a:rPr>
                        <a:t>Explicit </a:t>
                      </a:r>
                      <a:r>
                        <a:rPr sz="1104" b="0">
                          <a:solidFill>
                            <a:srgbClr val="00D4AA"/>
                          </a:solidFill>
                          <a:latin typeface="JetBrains Mono"/>
                        </a:rPr>
                        <a:t>FunctionSchema</a:t>
                      </a:r>
                      <a:r>
                        <a:rPr sz="1200" b="0">
                          <a:solidFill>
                            <a:srgbClr val="FFFFFF"/>
                          </a:solidFill>
                          <a:latin typeface="Inter"/>
                        </a:rPr>
                        <a:t> + handlers</a:t>
                      </a:r>
                    </a:p>
                  </a:txBody>
                  <a:tcPr marL="91440" marR="91440" marT="45720" marB="45720" anchor="ctr">
                    <a:solidFill>
                      <a:srgbClr val="1A2742"/>
                    </a:solidFill>
                  </a:tcPr>
                </a:tc>
              </a:tr>
              <a:tr h="384048">
                <a:tc>
                  <a:txBody>
                    <a:bodyPr wrap="square"/>
                    <a:lstStyle/>
                    <a:p>
                      <a:r>
                        <a:rPr sz="1200" b="1">
                          <a:solidFill>
                            <a:srgbClr val="FFFFFF"/>
                          </a:solidFill>
                          <a:latin typeface="Inter"/>
                        </a:rPr>
                        <a:t>Testing</a:t>
                      </a:r>
                    </a:p>
                  </a:txBody>
                  <a:tcPr marL="91440" marR="91440" marT="45720" marB="45720" anchor="ctr">
                    <a:solidFill>
                      <a:srgbClr val="0F1E35"/>
                    </a:solidFill>
                  </a:tcPr>
                </a:tc>
                <a:tc>
                  <a:txBody>
                    <a:bodyPr wrap="square"/>
                    <a:lstStyle/>
                    <a:p>
                      <a:r>
                        <a:rPr sz="1200" b="0">
                          <a:solidFill>
                            <a:srgbClr val="FFFFFF"/>
                          </a:solidFill>
                          <a:latin typeface="Inter"/>
                        </a:rPr>
                        <a:t>Built-in text-session test framework</a:t>
                      </a:r>
                    </a:p>
                  </a:txBody>
                  <a:tcPr marL="91440" marR="91440" marT="45720" marB="45720" anchor="ctr">
                    <a:solidFill>
                      <a:srgbClr val="0F1E35"/>
                    </a:solidFill>
                  </a:tcPr>
                </a:tc>
                <a:tc>
                  <a:txBody>
                    <a:bodyPr wrap="square"/>
                    <a:lstStyle/>
                    <a:p>
                      <a:r>
                        <a:rPr sz="1200" b="0">
                          <a:solidFill>
                            <a:srgbClr val="FFFFFF"/>
                          </a:solidFill>
                          <a:latin typeface="Inter"/>
                        </a:rPr>
                        <a:t>Bring more of your own harness</a:t>
                      </a:r>
                    </a:p>
                  </a:txBody>
                  <a:tcPr marL="91440" marR="91440" marT="45720" marB="45720" anchor="ctr">
                    <a:solidFill>
                      <a:srgbClr val="0F1E35"/>
                    </a:solidFill>
                  </a:tcPr>
                </a:tc>
              </a:tr>
              <a:tr h="384048">
                <a:tc>
                  <a:txBody>
                    <a:bodyPr wrap="square"/>
                    <a:lstStyle/>
                    <a:p>
                      <a:r>
                        <a:rPr sz="1200" b="1">
                          <a:solidFill>
                            <a:srgbClr val="FFFFFF"/>
                          </a:solidFill>
                          <a:latin typeface="Inter"/>
                        </a:rPr>
                        <a:t>Scaling</a:t>
                      </a:r>
                    </a:p>
                  </a:txBody>
                  <a:tcPr marL="91440" marR="91440" marT="45720" marB="45720" anchor="ctr">
                    <a:solidFill>
                      <a:srgbClr val="1A2742"/>
                    </a:solidFill>
                  </a:tcPr>
                </a:tc>
                <a:tc>
                  <a:txBody>
                    <a:bodyPr wrap="square"/>
                    <a:lstStyle/>
                    <a:p>
                      <a:r>
                        <a:rPr sz="1200" b="0">
                          <a:solidFill>
                            <a:srgbClr val="FFFFFF"/>
                          </a:solidFill>
                          <a:latin typeface="Inter"/>
                        </a:rPr>
                        <a:t>Agent server with dispatch and load balancing</a:t>
                      </a:r>
                    </a:p>
                  </a:txBody>
                  <a:tcPr marL="91440" marR="91440" marT="45720" marB="45720" anchor="ctr">
                    <a:solidFill>
                      <a:srgbClr val="1A2742"/>
                    </a:solidFill>
                  </a:tcPr>
                </a:tc>
                <a:tc>
                  <a:txBody>
                    <a:bodyPr wrap="square"/>
                    <a:lstStyle/>
                    <a:p>
                      <a:r>
                        <a:rPr sz="1200" b="0">
                          <a:solidFill>
                            <a:srgbClr val="FFFFFF"/>
                          </a:solidFill>
                          <a:latin typeface="Inter"/>
                        </a:rPr>
                        <a:t>Your process model or Pipecat Cloud</a:t>
                      </a:r>
                    </a:p>
                  </a:txBody>
                  <a:tcPr marL="91440" marR="91440" marT="45720" marB="45720" anchor="ctr">
                    <a:solidFill>
                      <a:srgbClr val="1A2742"/>
                    </a:solidFill>
                  </a:tcPr>
                </a:tc>
              </a:tr>
              <a:tr h="384048">
                <a:tc>
                  <a:txBody>
                    <a:bodyPr wrap="square"/>
                    <a:lstStyle/>
                    <a:p>
                      <a:r>
                        <a:rPr sz="1200" b="1">
                          <a:solidFill>
                            <a:srgbClr val="FFFFFF"/>
                          </a:solidFill>
                          <a:latin typeface="Inter"/>
                        </a:rPr>
                        <a:t>Languages</a:t>
                      </a:r>
                    </a:p>
                  </a:txBody>
                  <a:tcPr marL="91440" marR="91440" marT="45720" marB="45720" anchor="ctr">
                    <a:solidFill>
                      <a:srgbClr val="0F1E35"/>
                    </a:solidFill>
                  </a:tcPr>
                </a:tc>
                <a:tc>
                  <a:txBody>
                    <a:bodyPr wrap="square"/>
                    <a:lstStyle/>
                    <a:p>
                      <a:r>
                        <a:rPr sz="1200" b="0">
                          <a:solidFill>
                            <a:srgbClr val="FFFFFF"/>
                          </a:solidFill>
                          <a:latin typeface="Inter"/>
                        </a:rPr>
                        <a:t>Python and Node.js</a:t>
                      </a:r>
                    </a:p>
                  </a:txBody>
                  <a:tcPr marL="91440" marR="91440" marT="45720" marB="45720" anchor="ctr">
                    <a:solidFill>
                      <a:srgbClr val="0F1E35"/>
                    </a:solidFill>
                  </a:tcPr>
                </a:tc>
                <a:tc>
                  <a:txBody>
                    <a:bodyPr wrap="square"/>
                    <a:lstStyle/>
                    <a:p>
                      <a:r>
                        <a:rPr sz="1200" b="0">
                          <a:solidFill>
                            <a:srgbClr val="FFFFFF"/>
                          </a:solidFill>
                          <a:latin typeface="Inter"/>
                        </a:rPr>
                        <a:t>Python</a:t>
                      </a:r>
                    </a:p>
                  </a:txBody>
                  <a:tcPr marL="91440" marR="91440" marT="45720" marB="45720" anchor="ctr">
                    <a:solidFill>
                      <a:srgbClr val="0F1E35"/>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14 · Lecture 14.3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Managed platforms: what you get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Fastest path to a first working call</a:t>
            </a:r>
          </a:p>
          <a:p>
            <a:pPr marL="292608" indent="-292608">
              <a:lnSpc>
                <a:spcPct val="120000"/>
              </a:lnSpc>
              <a:spcAft>
                <a:spcPts val="1539"/>
              </a:spcAft>
              <a:buClr>
                <a:srgbClr val="00D4AA"/>
              </a:buClr>
              <a:buFont typeface="Inter"/>
              <a:buChar char="•"/>
            </a:pPr>
            <a:r>
              <a:rPr sz="2200" b="0">
                <a:solidFill>
                  <a:srgbClr val="FFFFFF"/>
                </a:solidFill>
                <a:latin typeface="Inter"/>
              </a:rPr>
              <a:t>Dashboard configuration, built-in phone numbers and analytics</a:t>
            </a:r>
          </a:p>
          <a:p>
            <a:pPr marL="292608" indent="-292608">
              <a:lnSpc>
                <a:spcPct val="120000"/>
              </a:lnSpc>
              <a:spcAft>
                <a:spcPts val="1539"/>
              </a:spcAft>
              <a:buClr>
                <a:srgbClr val="00D4AA"/>
              </a:buClr>
              <a:buFont typeface="Inter"/>
              <a:buChar char="•"/>
            </a:pPr>
            <a:r>
              <a:rPr sz="2200" b="0">
                <a:solidFill>
                  <a:srgbClr val="FFFFFF"/>
                </a:solidFill>
                <a:latin typeface="Inter"/>
              </a:rPr>
              <a:t>Hosting, scaling and provider integrations handled for you</a:t>
            </a:r>
          </a:p>
          <a:p>
            <a:pPr marL="292608" indent="-292608">
              <a:lnSpc>
                <a:spcPct val="120000"/>
              </a:lnSpc>
              <a:spcAft>
                <a:spcPts val="1539"/>
              </a:spcAft>
              <a:buClr>
                <a:srgbClr val="00D4AA"/>
              </a:buClr>
              <a:buFont typeface="Inter"/>
              <a:buChar char="•"/>
            </a:pPr>
            <a:r>
              <a:rPr sz="2200" b="0">
                <a:solidFill>
                  <a:srgbClr val="FFFFFF"/>
                </a:solidFill>
                <a:latin typeface="Inter"/>
              </a:rPr>
              <a:t>Often a no-code or low-code editor for non-engineers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14 · Lecture 14.3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Managed platforms: what you give up</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Control: less access to the pipeline internals and turn-taking</a:t>
            </a:r>
          </a:p>
          <a:p>
            <a:pPr marL="292608" indent="-292608">
              <a:lnSpc>
                <a:spcPct val="120000"/>
              </a:lnSpc>
              <a:spcAft>
                <a:spcPts val="1260"/>
              </a:spcAft>
              <a:buClr>
                <a:srgbClr val="00D4AA"/>
              </a:buClr>
              <a:buFont typeface="Inter"/>
              <a:buChar char="•"/>
            </a:pPr>
            <a:r>
              <a:rPr sz="1800" b="0">
                <a:solidFill>
                  <a:srgbClr val="FFFFFF"/>
                </a:solidFill>
                <a:latin typeface="Inter"/>
              </a:rPr>
              <a:t>Cost: usually a platform fee on top of model and telephony costs</a:t>
            </a:r>
          </a:p>
          <a:p>
            <a:pPr marL="292608" indent="-292608">
              <a:lnSpc>
                <a:spcPct val="120000"/>
              </a:lnSpc>
              <a:spcAft>
                <a:spcPts val="1260"/>
              </a:spcAft>
              <a:buClr>
                <a:srgbClr val="00D4AA"/>
              </a:buClr>
              <a:buFont typeface="Inter"/>
              <a:buChar char="•"/>
            </a:pPr>
            <a:r>
              <a:rPr sz="1800" b="0">
                <a:solidFill>
                  <a:srgbClr val="FFFFFF"/>
                </a:solidFill>
                <a:latin typeface="Inter"/>
              </a:rPr>
              <a:t>Compliance: depends on the vendor's certifications, contracts and data handling</a:t>
            </a:r>
          </a:p>
          <a:p>
            <a:pPr marL="292608" indent="-292608">
              <a:lnSpc>
                <a:spcPct val="120000"/>
              </a:lnSpc>
              <a:spcAft>
                <a:spcPts val="1260"/>
              </a:spcAft>
              <a:buClr>
                <a:srgbClr val="00D4AA"/>
              </a:buClr>
              <a:buFont typeface="Inter"/>
              <a:buChar char="•"/>
            </a:pPr>
            <a:r>
              <a:rPr sz="1800" b="0">
                <a:solidFill>
                  <a:srgbClr val="FFFFFF"/>
                </a:solidFill>
                <a:latin typeface="Inter"/>
              </a:rPr>
              <a:t>Lock-in: prompts, tools and call flows live in their format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14 · Lecture 14.3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Questions to ask any vendor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Can I bring my own STT, LLM and TTS providers?</a:t>
            </a:r>
          </a:p>
          <a:p>
            <a:pPr marL="292608" indent="-292608">
              <a:lnSpc>
                <a:spcPct val="120000"/>
              </a:lnSpc>
              <a:spcAft>
                <a:spcPts val="1260"/>
              </a:spcAft>
              <a:buClr>
                <a:srgbClr val="00D4AA"/>
              </a:buClr>
              <a:buFont typeface="Inter"/>
              <a:buChar char="•"/>
            </a:pPr>
            <a:r>
              <a:rPr sz="1800" b="0">
                <a:solidFill>
                  <a:srgbClr val="FFFFFF"/>
                </a:solidFill>
                <a:latin typeface="Inter"/>
              </a:rPr>
              <a:t>Can I call my own APIs as tools, with timeouts I control?</a:t>
            </a:r>
          </a:p>
          <a:p>
            <a:pPr marL="292608" indent="-292608">
              <a:lnSpc>
                <a:spcPct val="120000"/>
              </a:lnSpc>
              <a:spcAft>
                <a:spcPts val="1260"/>
              </a:spcAft>
              <a:buClr>
                <a:srgbClr val="00D4AA"/>
              </a:buClr>
              <a:buFont typeface="Inter"/>
              <a:buChar char="•"/>
            </a:pPr>
            <a:r>
              <a:rPr sz="1800" b="0">
                <a:solidFill>
                  <a:srgbClr val="FFFFFF"/>
                </a:solidFill>
                <a:latin typeface="Inter"/>
              </a:rPr>
              <a:t>Where are audio and transcripts stored, and for how long?</a:t>
            </a:r>
          </a:p>
          <a:p>
            <a:pPr marL="292608" indent="-292608">
              <a:lnSpc>
                <a:spcPct val="120000"/>
              </a:lnSpc>
              <a:spcAft>
                <a:spcPts val="1260"/>
              </a:spcAft>
              <a:buClr>
                <a:srgbClr val="00D4AA"/>
              </a:buClr>
              <a:buFont typeface="Inter"/>
              <a:buChar char="•"/>
            </a:pPr>
            <a:r>
              <a:rPr sz="1800" b="0">
                <a:solidFill>
                  <a:srgbClr val="FFFFFF"/>
                </a:solidFill>
                <a:latin typeface="Inter"/>
              </a:rPr>
              <a:t>Can I export prompts, tools, transcripts and metrics?</a:t>
            </a:r>
          </a:p>
          <a:p>
            <a:pPr marL="292608" indent="-292608">
              <a:lnSpc>
                <a:spcPct val="120000"/>
              </a:lnSpc>
              <a:spcAft>
                <a:spcPts val="1260"/>
              </a:spcAft>
              <a:buClr>
                <a:srgbClr val="00D4AA"/>
              </a:buClr>
              <a:buFont typeface="Inter"/>
              <a:buChar char="•"/>
            </a:pPr>
            <a:r>
              <a:rPr sz="1800" b="0">
                <a:solidFill>
                  <a:srgbClr val="FFFFFF"/>
                </a:solidFill>
                <a:latin typeface="Inter"/>
              </a:rPr>
              <a:t>Can I test it automatically, before changes go live?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14 · Lecture 14.3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Build vs buy decision matrix</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8" cy="3072384"/>
        </p:xfrm>
        <a:graphic>
          <a:graphicData uri="http://schemas.openxmlformats.org/drawingml/2006/table">
            <a:tbl>
              <a:tblPr firstRow="1" bandRow="1">
                <a:tableStyleId>{5C22544A-7EE6-4342-B048-85BDC9FD1C3A}</a:tableStyleId>
              </a:tblPr>
              <a:tblGrid>
                <a:gridCol w="2005270"/>
                <a:gridCol w="2744054"/>
                <a:gridCol w="2744054"/>
                <a:gridCol w="3799460"/>
              </a:tblGrid>
              <a:tr h="384048">
                <a:tc>
                  <a:txBody>
                    <a:bodyPr wrap="square"/>
                    <a:lstStyle/>
                    <a:p>
                      <a:r>
                        <a:rPr sz="1200" b="1">
                          <a:solidFill>
                            <a:srgbClr val="0A1628"/>
                          </a:solidFill>
                          <a:latin typeface="Inter"/>
                        </a:rPr>
                        <a:t>Criterion</a:t>
                      </a:r>
                    </a:p>
                  </a:txBody>
                  <a:tcPr marL="91440" marR="91440" marT="45720" marB="45720" anchor="ctr">
                    <a:solidFill>
                      <a:srgbClr val="00D4AA"/>
                    </a:solidFill>
                  </a:tcPr>
                </a:tc>
                <a:tc>
                  <a:txBody>
                    <a:bodyPr wrap="square"/>
                    <a:lstStyle/>
                    <a:p>
                      <a:r>
                        <a:rPr sz="1200" b="1">
                          <a:solidFill>
                            <a:srgbClr val="0A1628"/>
                          </a:solidFill>
                          <a:latin typeface="Inter"/>
                        </a:rPr>
                        <a:t>Framework, self-hosted</a:t>
                      </a:r>
                    </a:p>
                  </a:txBody>
                  <a:tcPr marL="91440" marR="91440" marT="45720" marB="45720" anchor="ctr">
                    <a:solidFill>
                      <a:srgbClr val="00D4AA"/>
                    </a:solidFill>
                  </a:tcPr>
                </a:tc>
                <a:tc>
                  <a:txBody>
                    <a:bodyPr wrap="square"/>
                    <a:lstStyle/>
                    <a:p>
                      <a:r>
                        <a:rPr sz="1200" b="1">
                          <a:solidFill>
                            <a:srgbClr val="0A1628"/>
                          </a:solidFill>
                          <a:latin typeface="Inter"/>
                        </a:rPr>
                        <a:t>Framework, managed hosting</a:t>
                      </a:r>
                    </a:p>
                  </a:txBody>
                  <a:tcPr marL="91440" marR="91440" marT="45720" marB="45720" anchor="ctr">
                    <a:solidFill>
                      <a:srgbClr val="00D4AA"/>
                    </a:solidFill>
                  </a:tcPr>
                </a:tc>
                <a:tc>
                  <a:txBody>
                    <a:bodyPr wrap="square"/>
                    <a:lstStyle/>
                    <a:p>
                      <a:r>
                        <a:rPr sz="1200" b="1">
                          <a:solidFill>
                            <a:srgbClr val="0A1628"/>
                          </a:solidFill>
                          <a:latin typeface="Inter"/>
                        </a:rPr>
                        <a:t>Managed platform</a:t>
                      </a:r>
                    </a:p>
                  </a:txBody>
                  <a:tcPr marL="91440" marR="91440" marT="45720" marB="45720" anchor="ctr">
                    <a:solidFill>
                      <a:srgbClr val="00D4AA"/>
                    </a:solidFill>
                  </a:tcPr>
                </a:tc>
              </a:tr>
              <a:tr h="384048">
                <a:tc>
                  <a:txBody>
                    <a:bodyPr wrap="square"/>
                    <a:lstStyle/>
                    <a:p>
                      <a:r>
                        <a:rPr sz="1200" b="1">
                          <a:solidFill>
                            <a:srgbClr val="FFFFFF"/>
                          </a:solidFill>
                          <a:latin typeface="Inter"/>
                        </a:rPr>
                        <a:t>Time to first call</a:t>
                      </a:r>
                    </a:p>
                  </a:txBody>
                  <a:tcPr marL="91440" marR="91440" marT="45720" marB="45720" anchor="ctr">
                    <a:solidFill>
                      <a:srgbClr val="1A2742"/>
                    </a:solidFill>
                  </a:tcPr>
                </a:tc>
                <a:tc>
                  <a:txBody>
                    <a:bodyPr wrap="square"/>
                    <a:lstStyle/>
                    <a:p>
                      <a:r>
                        <a:rPr sz="1200" b="0">
                          <a:solidFill>
                            <a:srgbClr val="FFFFFF"/>
                          </a:solidFill>
                          <a:latin typeface="Inter"/>
                        </a:rPr>
                        <a:t>Slowest</a:t>
                      </a:r>
                    </a:p>
                  </a:txBody>
                  <a:tcPr marL="91440" marR="91440" marT="45720" marB="45720" anchor="ctr">
                    <a:solidFill>
                      <a:srgbClr val="1A2742"/>
                    </a:solidFill>
                  </a:tcPr>
                </a:tc>
                <a:tc>
                  <a:txBody>
                    <a:bodyPr wrap="square"/>
                    <a:lstStyle/>
                    <a:p>
                      <a:r>
                        <a:rPr sz="1200" b="0">
                          <a:solidFill>
                            <a:srgbClr val="FFFFFF"/>
                          </a:solidFill>
                          <a:latin typeface="Inter"/>
                        </a:rPr>
                        <a:t>Medium</a:t>
                      </a:r>
                    </a:p>
                  </a:txBody>
                  <a:tcPr marL="91440" marR="91440" marT="45720" marB="45720" anchor="ctr">
                    <a:solidFill>
                      <a:srgbClr val="1A2742"/>
                    </a:solidFill>
                  </a:tcPr>
                </a:tc>
                <a:tc>
                  <a:txBody>
                    <a:bodyPr wrap="square"/>
                    <a:lstStyle/>
                    <a:p>
                      <a:r>
                        <a:rPr sz="1200" b="0">
                          <a:solidFill>
                            <a:srgbClr val="FFFFFF"/>
                          </a:solidFill>
                          <a:latin typeface="Inter"/>
                        </a:rPr>
                        <a:t>Fastest</a:t>
                      </a:r>
                    </a:p>
                  </a:txBody>
                  <a:tcPr marL="91440" marR="91440" marT="45720" marB="45720" anchor="ctr">
                    <a:solidFill>
                      <a:srgbClr val="1A2742"/>
                    </a:solidFill>
                  </a:tcPr>
                </a:tc>
              </a:tr>
              <a:tr h="384048">
                <a:tc>
                  <a:txBody>
                    <a:bodyPr wrap="square"/>
                    <a:lstStyle/>
                    <a:p>
                      <a:r>
                        <a:rPr sz="1200" b="1">
                          <a:solidFill>
                            <a:srgbClr val="FFFFFF"/>
                          </a:solidFill>
                          <a:latin typeface="Inter"/>
                        </a:rPr>
                        <a:t>Pipeline control</a:t>
                      </a:r>
                    </a:p>
                  </a:txBody>
                  <a:tcPr marL="91440" marR="91440" marT="45720" marB="45720" anchor="ctr">
                    <a:solidFill>
                      <a:srgbClr val="0F1E35"/>
                    </a:solidFill>
                  </a:tcPr>
                </a:tc>
                <a:tc>
                  <a:txBody>
                    <a:bodyPr wrap="square"/>
                    <a:lstStyle/>
                    <a:p>
                      <a:r>
                        <a:rPr sz="1200" b="0">
                          <a:solidFill>
                            <a:srgbClr val="FFFFFF"/>
                          </a:solidFill>
                          <a:latin typeface="Inter"/>
                        </a:rPr>
                        <a:t>Full</a:t>
                      </a:r>
                    </a:p>
                  </a:txBody>
                  <a:tcPr marL="91440" marR="91440" marT="45720" marB="45720" anchor="ctr">
                    <a:solidFill>
                      <a:srgbClr val="0F1E35"/>
                    </a:solidFill>
                  </a:tcPr>
                </a:tc>
                <a:tc>
                  <a:txBody>
                    <a:bodyPr wrap="square"/>
                    <a:lstStyle/>
                    <a:p>
                      <a:r>
                        <a:rPr sz="1200" b="0">
                          <a:solidFill>
                            <a:srgbClr val="FFFFFF"/>
                          </a:solidFill>
                          <a:latin typeface="Inter"/>
                        </a:rPr>
                        <a:t>Full</a:t>
                      </a:r>
                    </a:p>
                  </a:txBody>
                  <a:tcPr marL="91440" marR="91440" marT="45720" marB="45720" anchor="ctr">
                    <a:solidFill>
                      <a:srgbClr val="0F1E35"/>
                    </a:solidFill>
                  </a:tcPr>
                </a:tc>
                <a:tc>
                  <a:txBody>
                    <a:bodyPr wrap="square"/>
                    <a:lstStyle/>
                    <a:p>
                      <a:r>
                        <a:rPr sz="1200" b="0">
                          <a:solidFill>
                            <a:srgbClr val="FFFFFF"/>
                          </a:solidFill>
                          <a:latin typeface="Inter"/>
                        </a:rPr>
                        <a:t>Limited to exposed options</a:t>
                      </a:r>
                    </a:p>
                  </a:txBody>
                  <a:tcPr marL="91440" marR="91440" marT="45720" marB="45720" anchor="ctr">
                    <a:solidFill>
                      <a:srgbClr val="0F1E35"/>
                    </a:solidFill>
                  </a:tcPr>
                </a:tc>
              </a:tr>
              <a:tr h="384048">
                <a:tc>
                  <a:txBody>
                    <a:bodyPr wrap="square"/>
                    <a:lstStyle/>
                    <a:p>
                      <a:r>
                        <a:rPr sz="1200" b="1">
                          <a:solidFill>
                            <a:srgbClr val="FFFFFF"/>
                          </a:solidFill>
                          <a:latin typeface="Inter"/>
                        </a:rPr>
                        <a:t>Cost at low volume</a:t>
                      </a:r>
                    </a:p>
                  </a:txBody>
                  <a:tcPr marL="91440" marR="91440" marT="45720" marB="45720" anchor="ctr">
                    <a:solidFill>
                      <a:srgbClr val="1A2742"/>
                    </a:solidFill>
                  </a:tcPr>
                </a:tc>
                <a:tc>
                  <a:txBody>
                    <a:bodyPr wrap="square"/>
                    <a:lstStyle/>
                    <a:p>
                      <a:r>
                        <a:rPr sz="1200" b="0">
                          <a:solidFill>
                            <a:srgbClr val="FFFFFF"/>
                          </a:solidFill>
                          <a:latin typeface="Inter"/>
                        </a:rPr>
                        <a:t>Engineering time dominates</a:t>
                      </a:r>
                    </a:p>
                  </a:txBody>
                  <a:tcPr marL="91440" marR="91440" marT="45720" marB="45720" anchor="ctr">
                    <a:solidFill>
                      <a:srgbClr val="1A2742"/>
                    </a:solidFill>
                  </a:tcPr>
                </a:tc>
                <a:tc>
                  <a:txBody>
                    <a:bodyPr wrap="square"/>
                    <a:lstStyle/>
                    <a:p>
                      <a:r>
                        <a:rPr sz="1200" b="0">
                          <a:solidFill>
                            <a:srgbClr val="FFFFFF"/>
                          </a:solidFill>
                          <a:latin typeface="Inter"/>
                        </a:rPr>
                        <a:t>Engineering time dominates</a:t>
                      </a:r>
                    </a:p>
                  </a:txBody>
                  <a:tcPr marL="91440" marR="91440" marT="45720" marB="45720" anchor="ctr">
                    <a:solidFill>
                      <a:srgbClr val="1A2742"/>
                    </a:solidFill>
                  </a:tcPr>
                </a:tc>
                <a:tc>
                  <a:txBody>
                    <a:bodyPr wrap="square"/>
                    <a:lstStyle/>
                    <a:p>
                      <a:r>
                        <a:rPr sz="1200" b="0">
                          <a:solidFill>
                            <a:srgbClr val="FFFFFF"/>
                          </a:solidFill>
                          <a:latin typeface="Inter"/>
                        </a:rPr>
                        <a:t>Usually lowest total</a:t>
                      </a:r>
                    </a:p>
                  </a:txBody>
                  <a:tcPr marL="91440" marR="91440" marT="45720" marB="45720" anchor="ctr">
                    <a:solidFill>
                      <a:srgbClr val="1A2742"/>
                    </a:solidFill>
                  </a:tcPr>
                </a:tc>
              </a:tr>
              <a:tr h="384048">
                <a:tc>
                  <a:txBody>
                    <a:bodyPr wrap="square"/>
                    <a:lstStyle/>
                    <a:p>
                      <a:r>
                        <a:rPr sz="1200" b="1">
                          <a:solidFill>
                            <a:srgbClr val="FFFFFF"/>
                          </a:solidFill>
                          <a:latin typeface="Inter"/>
                        </a:rPr>
                        <a:t>Cost at high volume</a:t>
                      </a:r>
                    </a:p>
                  </a:txBody>
                  <a:tcPr marL="91440" marR="91440" marT="45720" marB="45720" anchor="ctr">
                    <a:solidFill>
                      <a:srgbClr val="0F1E35"/>
                    </a:solidFill>
                  </a:tcPr>
                </a:tc>
                <a:tc>
                  <a:txBody>
                    <a:bodyPr wrap="square"/>
                    <a:lstStyle/>
                    <a:p>
                      <a:r>
                        <a:rPr sz="1200" b="0">
                          <a:solidFill>
                            <a:srgbClr val="FFFFFF"/>
                          </a:solidFill>
                          <a:latin typeface="Inter"/>
                        </a:rPr>
                        <a:t>Usually lowest per minute</a:t>
                      </a:r>
                    </a:p>
                  </a:txBody>
                  <a:tcPr marL="91440" marR="91440" marT="45720" marB="45720" anchor="ctr">
                    <a:solidFill>
                      <a:srgbClr val="0F1E35"/>
                    </a:solidFill>
                  </a:tcPr>
                </a:tc>
                <a:tc>
                  <a:txBody>
                    <a:bodyPr wrap="square"/>
                    <a:lstStyle/>
                    <a:p>
                      <a:r>
                        <a:rPr sz="1200" b="0">
                          <a:solidFill>
                            <a:srgbClr val="FFFFFF"/>
                          </a:solidFill>
                          <a:latin typeface="Inter"/>
                        </a:rPr>
                        <a:t>Low to medium</a:t>
                      </a:r>
                    </a:p>
                  </a:txBody>
                  <a:tcPr marL="91440" marR="91440" marT="45720" marB="45720" anchor="ctr">
                    <a:solidFill>
                      <a:srgbClr val="0F1E35"/>
                    </a:solidFill>
                  </a:tcPr>
                </a:tc>
                <a:tc>
                  <a:txBody>
                    <a:bodyPr wrap="square"/>
                    <a:lstStyle/>
                    <a:p>
                      <a:r>
                        <a:rPr sz="1200" b="0">
                          <a:solidFill>
                            <a:srgbClr val="FFFFFF"/>
                          </a:solidFill>
                          <a:latin typeface="Inter"/>
                        </a:rPr>
                        <a:t>Platform fee adds up</a:t>
                      </a:r>
                    </a:p>
                  </a:txBody>
                  <a:tcPr marL="91440" marR="91440" marT="45720" marB="45720" anchor="ctr">
                    <a:solidFill>
                      <a:srgbClr val="0F1E35"/>
                    </a:solidFill>
                  </a:tcPr>
                </a:tc>
              </a:tr>
              <a:tr h="384048">
                <a:tc>
                  <a:txBody>
                    <a:bodyPr wrap="square"/>
                    <a:lstStyle/>
                    <a:p>
                      <a:r>
                        <a:rPr sz="1200" b="1">
                          <a:solidFill>
                            <a:srgbClr val="FFFFFF"/>
                          </a:solidFill>
                          <a:latin typeface="Inter"/>
                        </a:rPr>
                        <a:t>Compliance control</a:t>
                      </a:r>
                    </a:p>
                  </a:txBody>
                  <a:tcPr marL="91440" marR="91440" marT="45720" marB="45720" anchor="ctr">
                    <a:solidFill>
                      <a:srgbClr val="1A2742"/>
                    </a:solidFill>
                  </a:tcPr>
                </a:tc>
                <a:tc>
                  <a:txBody>
                    <a:bodyPr wrap="square"/>
                    <a:lstStyle/>
                    <a:p>
                      <a:r>
                        <a:rPr sz="1200" b="0">
                          <a:solidFill>
                            <a:srgbClr val="FFFFFF"/>
                          </a:solidFill>
                          <a:latin typeface="Inter"/>
                        </a:rPr>
                        <a:t>You own it all</a:t>
                      </a:r>
                    </a:p>
                  </a:txBody>
                  <a:tcPr marL="91440" marR="91440" marT="45720" marB="45720" anchor="ctr">
                    <a:solidFill>
                      <a:srgbClr val="1A2742"/>
                    </a:solidFill>
                  </a:tcPr>
                </a:tc>
                <a:tc>
                  <a:txBody>
                    <a:bodyPr wrap="square"/>
                    <a:lstStyle/>
                    <a:p>
                      <a:r>
                        <a:rPr sz="1200" b="0">
                          <a:solidFill>
                            <a:srgbClr val="FFFFFF"/>
                          </a:solidFill>
                          <a:latin typeface="Inter"/>
                        </a:rPr>
                        <a:t>Shared with the host</a:t>
                      </a:r>
                    </a:p>
                  </a:txBody>
                  <a:tcPr marL="91440" marR="91440" marT="45720" marB="45720" anchor="ctr">
                    <a:solidFill>
                      <a:srgbClr val="1A2742"/>
                    </a:solidFill>
                  </a:tcPr>
                </a:tc>
                <a:tc>
                  <a:txBody>
                    <a:bodyPr wrap="square"/>
                    <a:lstStyle/>
                    <a:p>
                      <a:r>
                        <a:rPr sz="1200" b="0">
                          <a:solidFill>
                            <a:srgbClr val="FFFFFF"/>
                          </a:solidFill>
                          <a:latin typeface="Inter"/>
                        </a:rPr>
                        <a:t>Depends on the vendor</a:t>
                      </a:r>
                    </a:p>
                  </a:txBody>
                  <a:tcPr marL="91440" marR="91440" marT="45720" marB="45720" anchor="ctr">
                    <a:solidFill>
                      <a:srgbClr val="1A2742"/>
                    </a:solidFill>
                  </a:tcPr>
                </a:tc>
              </a:tr>
              <a:tr h="384048">
                <a:tc>
                  <a:txBody>
                    <a:bodyPr wrap="square"/>
                    <a:lstStyle/>
                    <a:p>
                      <a:r>
                        <a:rPr sz="1200" b="1">
                          <a:solidFill>
                            <a:srgbClr val="FFFFFF"/>
                          </a:solidFill>
                          <a:latin typeface="Inter"/>
                        </a:rPr>
                        <a:t>Lock-in</a:t>
                      </a:r>
                    </a:p>
                  </a:txBody>
                  <a:tcPr marL="91440" marR="91440" marT="45720" marB="45720" anchor="ctr">
                    <a:solidFill>
                      <a:srgbClr val="0F1E35"/>
                    </a:solidFill>
                  </a:tcPr>
                </a:tc>
                <a:tc>
                  <a:txBody>
                    <a:bodyPr wrap="square"/>
                    <a:lstStyle/>
                    <a:p>
                      <a:r>
                        <a:rPr sz="1200" b="0">
                          <a:solidFill>
                            <a:srgbClr val="FFFFFF"/>
                          </a:solidFill>
                          <a:latin typeface="Inter"/>
                        </a:rPr>
                        <a:t>Lowest</a:t>
                      </a:r>
                    </a:p>
                  </a:txBody>
                  <a:tcPr marL="91440" marR="91440" marT="45720" marB="45720" anchor="ctr">
                    <a:solidFill>
                      <a:srgbClr val="0F1E35"/>
                    </a:solidFill>
                  </a:tcPr>
                </a:tc>
                <a:tc>
                  <a:txBody>
                    <a:bodyPr wrap="square"/>
                    <a:lstStyle/>
                    <a:p>
                      <a:r>
                        <a:rPr sz="1200" b="0">
                          <a:solidFill>
                            <a:srgbClr val="FFFFFF"/>
                          </a:solidFill>
                          <a:latin typeface="Inter"/>
                        </a:rPr>
                        <a:t>Low</a:t>
                      </a:r>
                    </a:p>
                  </a:txBody>
                  <a:tcPr marL="91440" marR="91440" marT="45720" marB="45720" anchor="ctr">
                    <a:solidFill>
                      <a:srgbClr val="0F1E35"/>
                    </a:solidFill>
                  </a:tcPr>
                </a:tc>
                <a:tc>
                  <a:txBody>
                    <a:bodyPr wrap="square"/>
                    <a:lstStyle/>
                    <a:p>
                      <a:r>
                        <a:rPr sz="1200" b="0">
                          <a:solidFill>
                            <a:srgbClr val="FFFFFF"/>
                          </a:solidFill>
                          <a:latin typeface="Inter"/>
                        </a:rPr>
                        <a:t>Highest</a:t>
                      </a:r>
                    </a:p>
                  </a:txBody>
                  <a:tcPr marL="91440" marR="91440" marT="45720" marB="45720" anchor="ctr">
                    <a:solidFill>
                      <a:srgbClr val="0F1E35"/>
                    </a:solidFill>
                  </a:tcPr>
                </a:tc>
              </a:tr>
              <a:tr h="384048">
                <a:tc>
                  <a:txBody>
                    <a:bodyPr wrap="square"/>
                    <a:lstStyle/>
                    <a:p>
                      <a:r>
                        <a:rPr sz="1200" b="1">
                          <a:solidFill>
                            <a:srgbClr val="FFFFFF"/>
                          </a:solidFill>
                          <a:latin typeface="Inter"/>
                        </a:rPr>
                        <a:t>Testing depth</a:t>
                      </a:r>
                    </a:p>
                  </a:txBody>
                  <a:tcPr marL="91440" marR="91440" marT="45720" marB="45720" anchor="ctr">
                    <a:solidFill>
                      <a:srgbClr val="1A2742"/>
                    </a:solidFill>
                  </a:tcPr>
                </a:tc>
                <a:tc>
                  <a:txBody>
                    <a:bodyPr wrap="square"/>
                    <a:lstStyle/>
                    <a:p>
                      <a:r>
                        <a:rPr sz="1200" b="0">
                          <a:solidFill>
                            <a:srgbClr val="FFFFFF"/>
                          </a:solidFill>
                          <a:latin typeface="Inter"/>
                        </a:rPr>
                        <a:t>Anything you build</a:t>
                      </a:r>
                    </a:p>
                  </a:txBody>
                  <a:tcPr marL="91440" marR="91440" marT="45720" marB="45720" anchor="ctr">
                    <a:solidFill>
                      <a:srgbClr val="1A2742"/>
                    </a:solidFill>
                  </a:tcPr>
                </a:tc>
                <a:tc>
                  <a:txBody>
                    <a:bodyPr wrap="square"/>
                    <a:lstStyle/>
                    <a:p>
                      <a:r>
                        <a:rPr sz="1200" b="0">
                          <a:solidFill>
                            <a:srgbClr val="FFFFFF"/>
                          </a:solidFill>
                          <a:latin typeface="Inter"/>
                        </a:rPr>
                        <a:t>Anything you build</a:t>
                      </a:r>
                    </a:p>
                  </a:txBody>
                  <a:tcPr marL="91440" marR="91440" marT="45720" marB="45720" anchor="ctr">
                    <a:solidFill>
                      <a:srgbClr val="1A2742"/>
                    </a:solidFill>
                  </a:tcPr>
                </a:tc>
                <a:tc>
                  <a:txBody>
                    <a:bodyPr wrap="square"/>
                    <a:lstStyle/>
                    <a:p>
                      <a:r>
                        <a:rPr sz="1200" b="0">
                          <a:solidFill>
                            <a:srgbClr val="FFFFFF"/>
                          </a:solidFill>
                          <a:latin typeface="Inter"/>
                        </a:rPr>
                        <a:t>Limited to what the platform exposes</a:t>
                      </a:r>
                    </a:p>
                  </a:txBody>
                  <a:tcPr marL="91440" marR="91440" marT="45720" marB="45720" anchor="ctr">
                    <a:solidFill>
                      <a:srgbClr val="1A2742"/>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14 · Lecture 14.3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Three quick scenarios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Solo dental clinic, 20 calls a day: start with a managed platform, measure, revisit</a:t>
            </a:r>
          </a:p>
          <a:p>
            <a:pPr marL="292608" indent="-292608">
              <a:lnSpc>
                <a:spcPct val="120000"/>
              </a:lnSpc>
              <a:spcAft>
                <a:spcPts val="1260"/>
              </a:spcAft>
              <a:buClr>
                <a:srgbClr val="00D4AA"/>
              </a:buClr>
              <a:buFont typeface="Inter"/>
              <a:buChar char="•"/>
            </a:pPr>
            <a:r>
              <a:rPr sz="1800" b="0">
                <a:solidFill>
                  <a:srgbClr val="FFFFFF"/>
                </a:solidFill>
                <a:latin typeface="Inter"/>
              </a:rPr>
              <a:t>Dental group with 40 clinics and a compliance team: framework + managed hosting</a:t>
            </a:r>
          </a:p>
          <a:p>
            <a:pPr marL="292608" indent="-292608">
              <a:lnSpc>
                <a:spcPct val="120000"/>
              </a:lnSpc>
              <a:spcAft>
                <a:spcPts val="1260"/>
              </a:spcAft>
              <a:buClr>
                <a:srgbClr val="00D4AA"/>
              </a:buClr>
              <a:buFont typeface="Inter"/>
              <a:buChar char="•"/>
            </a:pPr>
            <a:r>
              <a:rPr sz="1800" b="0">
                <a:solidFill>
                  <a:srgbClr val="FFFFFF"/>
                </a:solidFill>
                <a:latin typeface="Inter"/>
              </a:rPr>
              <a:t>Voice AI startup selling to many clinics: framework, with deep testing as your moat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14 · Lecture 14.3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Frameworks: control, low lock-in, your compliance</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Platforms: fastest start, platform fee, less control</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Decide with a matrix and your real volumes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14 · Lecture 14.3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Explain Pipecat's frames, processors and transports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Port a LiveKit agent's tools and pipeline to Pipecat</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Choose build or buy with a decision matrix</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14 · Lecture 14.3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Quiz: Choosing a stack</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Lock in these trade-offs with the Section 14 quiz.</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14 · Lecture 14.4</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14 · </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14.4</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Quiz: Choosing a stack</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Check understanding of Pipecat's pipeline model and its LiveKit equivalents.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14 · Lecture 14.4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Section 14 quiz: what's covered</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Frames, processors, transports and aggregators</a:t>
            </a:r>
          </a:p>
          <a:p>
            <a:pPr marL="292608" indent="-292608">
              <a:lnSpc>
                <a:spcPct val="120000"/>
              </a:lnSpc>
              <a:spcAft>
                <a:spcPts val="1539"/>
              </a:spcAft>
              <a:buClr>
                <a:srgbClr val="00D4AA"/>
              </a:buClr>
              <a:buFont typeface="Inter"/>
              <a:buChar char="•"/>
            </a:pPr>
            <a:r>
              <a:rPr sz="2200" b="0">
                <a:solidFill>
                  <a:srgbClr val="FFFFFF"/>
                </a:solidFill>
                <a:latin typeface="Inter"/>
              </a:rPr>
              <a:t>LiveKit to Pipecat translation</a:t>
            </a:r>
          </a:p>
          <a:p>
            <a:pPr marL="292608" indent="-292608">
              <a:lnSpc>
                <a:spcPct val="120000"/>
              </a:lnSpc>
              <a:spcAft>
                <a:spcPts val="1539"/>
              </a:spcAft>
              <a:buClr>
                <a:srgbClr val="00D4AA"/>
              </a:buClr>
              <a:buFont typeface="Inter"/>
              <a:buChar char="•"/>
            </a:pPr>
            <a:r>
              <a:rPr sz="2200" b="0">
                <a:solidFill>
                  <a:srgbClr val="FFFFFF"/>
                </a:solidFill>
                <a:latin typeface="Inter"/>
              </a:rPr>
              <a:t>Control, cost, compliance and lock-in trade-offs</a:t>
            </a:r>
          </a:p>
          <a:p>
            <a:pPr marL="292608" indent="-292608">
              <a:lnSpc>
                <a:spcPct val="120000"/>
              </a:lnSpc>
              <a:spcAft>
                <a:spcPts val="1539"/>
              </a:spcAft>
              <a:buClr>
                <a:srgbClr val="00D4AA"/>
              </a:buClr>
              <a:buFont typeface="Inter"/>
              <a:buChar char="•"/>
            </a:pPr>
            <a:r>
              <a:rPr sz="2200" b="0">
                <a:solidFill>
                  <a:srgbClr val="FFFFFF"/>
                </a:solidFill>
                <a:latin typeface="Inter"/>
              </a:rPr>
              <a:t>Build-vs-buy scenarios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14 · Lecture 14.4</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What you built and where to go next</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Section 15: what you built, and where to go from here.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