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How function tools work in LiveKit.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loop. The caller asks about Thursday morning. The LLM doesn't answer yet. It says, "I want to call find available slots, with day equals Thursday and part of day equals morning."</a:t>
            </a:r>
          </a:p>
          <a:p/>
          <a:p>
            <a:r>
              <a:t>[SCREEN: Terminal. Run the reference booking agent in mock mode (Lecture 2.7) and type the same question. Highlight the `find_available_s...]</a:t>
            </a:r>
          </a:p>
          <a:p/>
          <a:p>
            <a:r>
              <a:t>[DEMO: Type "Is anything available Thursday morning?" The log shows `find_available_slots` called with `day` "thursday" and `part_of_day`...]</a:t>
            </a:r>
          </a:p>
          <a:p/>
          <a:p>
            <a:r>
              <a:t>Here's that loop for real, at zero cost. Mock mode swaps the LLM for a scripted fake, but the tool and the scheduler are real. LiveKit sees the request and runs your Python method. The result goes back into the conversation. Then the LLM is called again, now with real data, and it writes the reply that Riley speaks.</a:t>
            </a:r>
          </a:p>
          <a:p/>
          <a:p>
            <a:r>
              <a:t>Notice the LLM never touches your calendar. It only asks. Your code decides what actually happens. That's an important safety property, and we'll lean on it in Section eleven.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Here's the loop. The caller asks about Thursday morning. The LLM doesn't answer yet. It says, "I want to call find available slots, with day equals Thursday and part of day equals morning."</a:t>
            </a:r>
          </a:p>
          <a:p/>
          <a:p>
            <a:r>
              <a:t>[SCREEN: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 tool looks like. It's an async method on your agent class, with the function tool decorator on top.</a:t>
            </a:r>
          </a:p>
          <a:p/>
          <a:p>
            <a:r>
              <a:t>Three parts of this method become the tool's description for the LLM. Let's look at each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schema LiveKit generates and sends to the LLM.</a:t>
            </a:r>
          </a:p>
          <a:p/>
          <a:p>
            <a:r>
              <a:t>The method name becomes the tool name. So name tools like verbs a receptionist would use. The first line of the docstring becomes the description. The Args section becomes a description for each parameter. And the type hints become types.</a:t>
            </a:r>
          </a:p>
          <a:p/>
          <a:p>
            <a:r>
              <a:t>Look at part of day. Because I typed it as a Literal with three values, the LLM gets an enum. It can only choose morning, afternoon or any. That's a free guardrail. Every value you can restrict with a type is one less thing the LLM can get wrong.</a:t>
            </a:r>
          </a:p>
          <a:p/>
          <a:p>
            <a:r>
              <a:t>And look at the examples in the day description. An ISO date, "tomorrow," or "Thursday." Examples in parameter descriptions work just like examples in prompts. The model copies them.</a:t>
            </a:r>
          </a:p>
          <a:p/>
          <a:p>
            <a:r>
              <a:t>Don't take my word for it, though.</a:t>
            </a:r>
          </a:p>
          <a:p/>
          <a:p>
            <a:r>
              <a:t>[SCREEN: Terminal. Print the schema LiveKit builds from the real tool in the repo. Scroll the JSON next to the slide.]</a:t>
            </a:r>
          </a:p>
          <a:p/>
          <a:p>
            <a:r>
              <a:t>This one-liner asks the framework for the schema it builds from the real tool. Same name, same description, same enum as the slide, which only trims the title fields.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parameter after self is special. RunContext. The LLM never sees it. LiveKit fills it in when it calls your tool.</a:t>
            </a:r>
          </a:p>
          <a:p/>
          <a:p>
            <a:r>
              <a:t>It gives your tool a view of the live call. Context dot userdata is your own per-call state, like the caller's name. Context dot session is the session. And there are two helpers you'll use this section. With filler, which speaks a short line while slow work runs. And disallow interruptions, which protects the moment you commit a booking.</a:t>
            </a:r>
          </a:p>
          <a:p/>
          <a:p>
            <a:r>
              <a:t>The square brackets, RunContext of CallState, are a type hint. They tell your editor what userdata holds, so you get autocomplete.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 first parameter after self is special. RunContext. The LLM never sees it. LiveKit fills it in when it calls your tool.</a:t>
            </a:r>
          </a:p>
          <a:p/>
          <a:p>
            <a:r>
              <a:t>It gives your tool a view of the live call. Context dot userdata is your 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should a tool return? Something the LLM can speak from. Usually a short string, sometimes a small dictionary.</a:t>
            </a:r>
          </a:p>
          <a:p/>
          <a:p>
            <a:r>
              <a:t>Two tips. First, keep it small. Tool results become part of the conversation history, so a giant JSON blob makes every later turn slower and more expensive. Second, pre-format for speech when you can. We have helpers that turn a datetime into "Tuesday, October sixth at nine thirty in the morning." If the tool returns that, the LLM tends to repeat it exactly.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fail. The slot got taken. The date was a Sunday. The phone number was nine digits. For expected failures like these, raise ToolError with a message.</a:t>
            </a:r>
          </a:p>
          <a:p/>
          <a:p>
            <a:r>
              <a:t>The LLM sees that the call failed, reads your message, and usually relays it naturally. So write the message to be spoken. "Sorry, that time was just taken. Would you like the next available times?" Our scheduler already writes its error messages this way, which you'll see next lecture.</a:t>
            </a:r>
          </a:p>
          <a:p/>
          <a:p>
            <a:r>
              <a:t>Any other exception is treated as an unexpected crash. It's logged, and the LLM only learns that something went wrong. That's deliberate, so stack traces never get read to a caller.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setting. Max tool steps. It limits how many rounds of tool calls the LLM can chain before it must speak. The default is three.</a:t>
            </a:r>
          </a:p>
          <a:p/>
          <a:p>
            <a:r>
              <a:t>Riley's booking agent raises it to five, because one turn can chain a lookup, a retry after an error, and a booking. But it's still a hard ceiling. If the model gets stuck calling the same tool again and again, this limit stops it. In voice, a loop isn't just expensive. It's silence on the phone.</a:t>
            </a:r>
          </a:p>
          <a:p/>
          <a:p>
            <a:r>
              <a:t>So a tool is a method, a docstring and good type hints. The docstring is a prompt. The types are guardrails. And the return value is something the LLM will say out loud. Keep all three in mind and your tools will be called correctly far more often.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clinic scheduler: pure Python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layers. On top, Riley's tools. They translate between the conversation and the calendar. Underneath, the clinic scheduler. That's where every rule lives, and that's where most of the tests live.</a:t>
            </a:r>
          </a:p>
          <a:p/>
          <a:p>
            <a:r>
              <a:t>[SCREEN: VS Code, open `src/maple/scheduler.py`. Scroll to `DEFAULT_HOURS`.]</a:t>
            </a:r>
          </a:p>
          <a:p/>
          <a:p>
            <a:r>
              <a:t>Let's open the scheduler. It starts with the clinic's hours. Monday to Thursday, eight to five, with a lunch break from twelve to one. Friday, eight to two. Saturday, nine to one. Sunday, closed. Appointments are thirty-minute slots.</a:t>
            </a:r>
          </a:p>
          <a:p/>
          <a:p>
            <a:r>
              <a:t>[SCREEN: Scroll to the exception classes.]</a:t>
            </a:r>
          </a:p>
          <a:p/>
          <a:p>
            <a:r>
              <a:t>Next, the exceptions. There's a base class called SchedulerError, and one subclass for each problem. Clinic closed. Slot unavailable. Invalid phone. Past date. And so on.</a:t>
            </a:r>
          </a:p>
          <a:p/>
          <a:p>
            <a:r>
              <a:t>Now look at the messages. "We're closed on Sundays. Would another day work?" Every message is a sentence you could say to a caller. That's deliberate. In the tools, we'll turn these into ToolErrors, and the LLM can relay them almost word for word.</a:t>
            </a:r>
          </a:p>
          <a:p/>
          <a:p>
            <a:r>
              <a:t>[SCREEN: Scroll to `class ClinicScheduler`, `__init__`.]</a:t>
            </a:r>
          </a:p>
          <a:p/>
          <a:p>
            <a:r>
              <a:t>Here's the scheduler class. The constructor takes `today`. Why pass in today instead of reading the clock? Because tests need a fixed date. If a test says "book tomorrow morning," tomorrow has to be the same day every time you run it.</a:t>
            </a:r>
          </a:p>
          <a:p/>
          <a:p>
            <a:r>
              <a:t>[SCREEN: Terminal. Start a Python shell in the project environment.]</a:t>
            </a:r>
          </a:p>
          <a:p/>
          <a:p>
            <a:r>
              <a:t>Let's try it in a Python shell.</a:t>
            </a:r>
          </a:p>
          <a:p/>
          <a:p>
            <a:r>
              <a:t>[CODE: start a shell with the project installed]</a:t>
            </a:r>
          </a:p>
          <a:p/>
          <a:p>
            <a:r>
              <a:t>[CODE: type into the Python shell, one line at a time]</a:t>
            </a:r>
          </a:p>
          <a:p/>
          <a:p>
            <a:r>
              <a:t>`with_demo_data` gives us a scheduler with three fictional patients already booked. Today is Monday, October fifth, twenty twenty-six.</a:t>
            </a:r>
          </a:p>
          <a:p/>
          <a:p>
            <a:r>
              <a:t>[CODE: find slots]</a:t>
            </a:r>
          </a:p>
          <a:p/>
          <a:p>
            <a:r>
              <a:t>Find slots understands "tomorrow," weekday names and ISO dates. Part of day filters to morning or afternoon. And limit keeps it to three, because Riley should never read out a whole day of times.</a:t>
            </a:r>
          </a:p>
          <a:p/>
          <a:p>
            <a:r>
              <a:t>[CODE: make it speakable]</a:t>
            </a:r>
          </a:p>
          <a:p/>
          <a:p>
            <a:r>
              <a:t>And here's the speech helper from Section four. The ISO string is for tools. The spoken version is for callers.</a:t>
            </a:r>
          </a:p>
          <a:p/>
          <a:p>
            <a:r>
              <a:t>[CODE: book, then try to double-book]</a:t>
            </a:r>
          </a:p>
          <a:p/>
          <a:p>
            <a:r>
              <a:t>Booking returns an appointment with an ID, and the phone number normalized to ten digits. Now watch. I try to book the same slot for someone else. Slot unavailable, with a sentence Riley can say.</a:t>
            </a:r>
          </a:p>
          <a:p/>
          <a:p>
            <a:r>
              <a:t>[CODE: closed day]</a:t>
            </a:r>
          </a:p>
          <a:p/>
          <a:p>
            <a:r>
              <a:t>And asking for Sunday raises clinic closed. Every rule, visible and testable, with no LLM involved.</a:t>
            </a:r>
          </a:p>
          <a:p/>
          <a:p>
            <a:r>
              <a:t>[SCREEN: Scroll through `reschedule`, `cancel`, `find_by_phone`, `upcoming_for_phone` in the editor.]</a:t>
            </a:r>
          </a:p>
          <a:p/>
          <a:p>
            <a:r>
              <a:t>The rest of the class follows the same pattern. Reschedule moves an appointment and checks the new slot. Cancel frees the slot. Find by phone and upcoming for phone let Riley look up a caller's existing appointment, which we need for rescheduling.</a:t>
            </a:r>
          </a:p>
          <a:p/>
          <a:p>
            <a:r>
              <a:t>[SCREEN: Open `tests/unit/test_scheduler.py`. Scroll to the `sched` fixture, then to `test_double_booking_raises`.]</a:t>
            </a:r>
          </a:p>
          <a:p/>
          <a:p>
            <a:r>
              <a:t>Now the tests. At the top of the file, a fixture builds a fresh scheduler with today fixed to Monday, October fifth. Every test gets its own empty calendar.</a:t>
            </a:r>
          </a:p>
          <a:p/>
          <a:p>
            <a:r>
              <a:t>[CODE: from `tests/unit/test_scheduler.py` (shown, not typed; excerpt, `...` marks tests left out)]</a:t>
            </a:r>
          </a:p>
          <a:p/>
          <a:p>
            <a:r>
              <a:t>Here's the double-booking test. Book a slot. Try to book it again. Expect the error. No network, no keys, no randomness.</a:t>
            </a:r>
          </a:p>
          <a:p/>
          <a:p>
            <a:r>
              <a:t>And look at the second one. It checks that error messages are speakable: they end like a sentence, and they don't contain the word "Error." That's a voice-specific unit test. It protects the messages Riley will read to callers.</a:t>
            </a:r>
          </a:p>
          <a:p/>
          <a:p>
            <a:r>
              <a:t>[CODE: run just the scheduler tests]</a:t>
            </a:r>
          </a:p>
          <a:p/>
          <a:p>
            <a:r>
              <a:t>[DEMO: All scheduler tests pass in well under a second.]</a:t>
            </a:r>
          </a:p>
          <a:p/>
          <a:p>
            <a:r>
              <a:t>All green in a fraction of a second.</a:t>
            </a:r>
          </a:p>
          <a:p/>
          <a:p>
            <a:r>
              <a:t>Here's why this matters so much for voice. When a booking goes wrong on a call, there are two suspects. The LLM misunderstood, or the calendar logic is wrong. With the logic pinned down by unit tests, you can rule out the second suspect instantly. And in Section nine, you'll test the first suspect with behavior tests.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check availability and book.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both? The LLM needs the spoken version to talk to the caller. And it needs the exact ISO value to pass back into the booking tool. If we only gave it words, it would have to convert "Tuesday at nine" back into a timestamp, and that's where mistakes creep in. Then the last sentence tells it how to use each part: offer the words, book with the slot start, and never read the brackets aloud.</a:t>
            </a:r>
          </a:p>
          <a:p/>
          <a:p>
            <a:r>
              <a:t>[CODE: step 3, the booking tool]</a:t>
            </a:r>
          </a:p>
          <a:p/>
          <a:p>
            <a:r>
              <a:t>The second tool, book appointment. Four arguments, and none of them have defaults. That's deliberate, and it's how slot filling 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every argument is required, the model can't call this tool until it has a name, a phone number, a slot and a reason. So it asks for them. And because the prompt says "one at a time," it asks for them one question per turn. You don't write a state machine. The schema and the prompt create the conversation flow.</a:t>
            </a:r>
          </a:p>
          <a:p/>
          <a:p>
            <a:r>
              <a:t>Notice the slot start description: the exact slot start returned by find available slots. That links the two tools together.</a:t>
            </a:r>
          </a:p>
          <a:p/>
          <a:p>
            <a:r>
              <a:t>The body is one line: book it in the scheduler. The return tells Riley what to say next: confirm the day and time once, and mention the twenty-four hour cancellation policy.</a:t>
            </a:r>
          </a:p>
          <a:p/>
          <a:p>
            <a:r>
              <a:t>[CODE: step 4, the server and entrypoint]</a:t>
            </a:r>
          </a:p>
          <a:p/>
          <a:p>
            <a:r>
              <a:t>And the entrypoint, the same pattern as Section four. One new argument: max tool steps equals five. The default is three, and a single turn can chain a lookup, a retry and a booking, so we give it some room.</a:t>
            </a:r>
          </a:p>
          <a:p/>
          <a:p>
            <a:r>
              <a:t>[SCREEN: Terminal.]</a:t>
            </a:r>
          </a:p>
          <a:p/>
          <a:p>
            <a:r>
              <a:t>[CODE: run it]</a:t>
            </a:r>
          </a:p>
          <a:p/>
          <a:p>
            <a:r>
              <a:t>[DEMO: Full booking by voice.]</a:t>
            </a:r>
          </a:p>
          <a:p/>
          <a:p>
            <a:r>
              <a:t>**Riley:** Thanks for calling Maple Street Dental. This is Riley, the clinic's AI assistant. How can I help you today?</a:t>
            </a:r>
          </a:p>
          <a:p/>
          <a:p>
            <a:r>
              <a:t>**You:** I'd like to book a cleaning. Do you have anything Thursday afternoon?</a:t>
            </a:r>
          </a:p>
          <a:p/>
          <a:p>
            <a:r>
              <a:t>**Riley:** I have Thursday, October eighth at one, one thirty or two in the afternoon. Which works best?</a:t>
            </a:r>
          </a:p>
          <a:p/>
          <a:p>
            <a:r>
              <a:t>**You:** Two o'clock.</a:t>
            </a:r>
          </a:p>
          <a:p/>
          <a:p>
            <a:r>
              <a:t>**Riley:** Great. Can I get your full name?</a:t>
            </a:r>
          </a:p>
          <a:p/>
          <a:p>
            <a:r>
              <a:t>**You:** Alex Kim.</a:t>
            </a:r>
          </a:p>
          <a:p/>
          <a:p>
            <a:r>
              <a:t>**Riley:** Thanks. What's the best phone number to reach you?</a:t>
            </a:r>
          </a:p>
          <a:p/>
          <a:p>
            <a:r>
              <a:t>**You:** Five one two, five five five, zero one six six.</a:t>
            </a:r>
          </a:p>
          <a:p/>
          <a:p>
            <a:r>
              <a:t>**Riley:** Just to confirm: Alex Kim, Thursday, October eighth at two in the afternoon, for a cleaning. Shall I go ahead?</a:t>
            </a:r>
          </a:p>
          <a:p/>
          <a:p>
            <a:r>
              <a:t>**You:** Yes.</a:t>
            </a:r>
          </a:p>
          <a:p/>
          <a:p>
            <a:r>
              <a:t>**Riley:** You're booked for Thursday at two. Please give us twenty-four hours' notice if you need to cancel.</a:t>
            </a:r>
          </a:p>
          <a:p/>
          <a:p>
            <a:r>
              <a:t>[SCREEN: Scroll up in the terminal log. Highlight the function call lines.]</a:t>
            </a:r>
          </a:p>
          <a:p/>
          <a:p>
            <a:r>
              <a:t>Now the logs. Here's the first tool call: find available slots, with day equals Thursday and part of day equals afternoon. Here's the result, with the slot start values in brackets. And Riley never read them out loud.</a:t>
            </a:r>
          </a:p>
          <a:p/>
          <a:p>
            <a:r>
              <a:t>And here's book appointment, with the name, the phone number, slot start equals October eighth at fourteen hundred, and reason equals cleaning. The model copied the exact slot start from the first tool. That's the design working.</a:t>
            </a:r>
          </a:p>
          <a:p/>
          <a:p>
            <a:r>
              <a:t>Here's what you just built. The model decides what to do. The tools do it, with real rules and real data. And the prompt shapes the conversation around them. Notice Riley also read everything back before booking. That's not luck, and it's not quite guaranteed yet either. That's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Confirmation and read-back patterns.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reasons. Speech-to-text mishears exactly the things that matter. "Fifteen" and "fifty." "Tuesday" and "Thursday." Callers change their minds halfway through. And a wrong booking costs a real person a wasted trip. So the rule is: read back, ask, wait for a clear yes, then act.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good read-back. One sentence. Every critical field. The weekday and the date, which catches the "Tuesday versus Thursday" mistake, because the caller hears both. And it ends with a yes-or-no question, so the next turn is simple.</a:t>
            </a:r>
          </a:p>
          <a:p/>
          <a:p>
            <a:r>
              <a:t>[SCREEN: VS Code, `src/maple/prompts.py`, `BOOKING_RULES`. Highlight the read-back and correction lines.]</a:t>
            </a:r>
          </a:p>
          <a:p/>
          <a:p>
            <a:r>
              <a:t>[CODE: the read-back rules in `BOOKING_RULES` (shown, not typed)]</a:t>
            </a:r>
          </a:p>
          <a:p/>
          <a:p>
            <a:r>
              <a:t>Riley's read-back is built from three layers, and you already have all of them. Layer one, the prompt. These two rules in the booking block. Read back in one sentence, ask "Shall I go ahead?", and only call the tool after a clear yes. And if the caller corrects you, update the detail and read it back again.</a:t>
            </a:r>
          </a:p>
          <a:p/>
          <a:p>
            <a:r>
              <a:t>[CODE: layer two, the tool description (already in your file)]</a:t>
            </a:r>
          </a:p>
          <a:p/>
          <a:p>
            <a:r>
              <a:t>Layer two, the tool description. The word "after" is in capitals on purpose. This text is in front of the model at the exact moment it considers calling the tool.</a:t>
            </a:r>
          </a:p>
          <a:p/>
          <a:p>
            <a:r>
              <a:t>Layer three is the data. Because find available slots returns "Thursday, October eighth at two in the afternoon," the read-back uses the exact same words. The caller hears a consistent date every time.</a:t>
            </a:r>
          </a:p>
          <a:p/>
          <a:p>
            <a:r>
              <a:t>[SCREEN: Terminal. Run `uv run python agents/my_booking_agent.py console`.]</a:t>
            </a:r>
          </a:p>
          <a:p/>
          <a:p>
            <a:r>
              <a:t>Now let's test the hard case. A caller who changes their mind right at the end.</a:t>
            </a:r>
          </a:p>
          <a:p/>
          <a:p>
            <a:r>
              <a:t>[DEMO: Correction flow.]</a:t>
            </a:r>
          </a:p>
          <a:p/>
          <a:p>
            <a:r>
              <a:t>**You:** I need a checkup on Tuesday morning.</a:t>
            </a:r>
          </a:p>
          <a:p/>
          <a:p>
            <a:r>
              <a:t>**Riley:** I have Tuesday, October sixth at eight, eight thirty or nine in the morning. Which works?</a:t>
            </a:r>
          </a:p>
          <a:p/>
          <a:p>
            <a:r>
              <a:t>**You:** Eight thirty.</a:t>
            </a:r>
          </a:p>
          <a:p/>
          <a:p>
            <a:r>
              <a:t>*(name and phone collected, as in 5.3)*</a:t>
            </a:r>
          </a:p>
          <a:p/>
          <a:p>
            <a:r>
              <a:t>**Riley:** Just to confirm: Maria Santos, Tuesday, October sixth at eight thirty in the morning, for a checkup. Shall I go ahead?</a:t>
            </a:r>
          </a:p>
          <a:p/>
          <a:p>
            <a:r>
              <a:t>**You:** Oh, no, sorry. Thursday. Can we do Thursday instead?</a:t>
            </a:r>
          </a:p>
          <a:p/>
          <a:p>
            <a:r>
              <a:t>**Riley:** No problem. Let me check Thursday. I have Thursday, October eighth at eight, eight thirty or nine in the morning. Which works?</a:t>
            </a:r>
          </a:p>
          <a:p/>
          <a:p>
            <a:r>
              <a:t>**You:** Eight thirty again.</a:t>
            </a:r>
          </a:p>
          <a:p/>
          <a:p>
            <a:r>
              <a:t>**Riley:** Just to confirm: Maria Santos, Thursday, October eighth at eight thirty in the morning, for a checkup. Shall I go ahead?</a:t>
            </a:r>
          </a:p>
          <a:p/>
          <a:p>
            <a:r>
              <a:t>**You:** Yes.</a:t>
            </a:r>
          </a:p>
          <a:p/>
          <a:p>
            <a:r>
              <a:t>**Riley:** You're booked for Thursday at eight thirty.</a:t>
            </a:r>
          </a:p>
          <a:p/>
          <a:p>
            <a:r>
              <a:t>[SCREEN: Terminal log. Highlight: two `find_available_slots` calls (Tuesday, then Thursday), and exactly one `book_appointment` call with...]</a:t>
            </a:r>
          </a:p>
          <a:p/>
          <a:p>
            <a:r>
              <a:t>Let's check the log, because the log is the truth. Two calls to find available slots. Tuesday, then Thursday. And exactly one call to book appointment, with the Thursday slot. Nothing was booked for Tuesday. The correction happened before the commit, which is exactly why the read-back comes before the tool call.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read-back checklist for every action. Booking: name, weekday and date, time and reason. Rescheduling: the old time and the new time, so there's no confusion about which one is moving. Cancelling: which appointment, and any fee. Phone numbers: in three groups. Last names: spelled 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an honest warning. Everything we did here is instructions. The model follows them most of the time. Most of the time isn't good enough for a calendar. So we'll add two more safety nets later. In Section nine, you'll write a test that fails if book appointment ever runs before the caller says yes. And in Section eleven, you'll add confirmation gates in code for irreversible actions. Prompt first, then tests, then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Hiding latency while tools run.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the delay is the clever part. If the tool finishes quickly, the filler never plays, and the answer just arrives. The filler only plays when you actually need it. If Riley said "one moment" before every single answer, even the instant ones, it would sound robotic, and it would add time to every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could do this manually, by calling `session.say` at the top of the tool. That always speaks, fast or slow. Use `session.say` for lines that must always be said, and `with_filler` for lines that cover latency.</a:t>
            </a:r>
          </a:p>
          <a:p/>
          <a:p>
            <a:r>
              <a:t>[CODE: step 5, protect the commit]</a:t>
            </a:r>
          </a:p>
          <a:p/>
          <a:p>
            <a:r>
              <a:t>Now booking. Two changes. A filler, "Booking that for you now." And one important line at the top: `context.disallow_interruptions`.</a:t>
            </a:r>
          </a:p>
          <a:p/>
          <a:p>
            <a:r>
              <a:t>Why? If the caller says something while the booking is being written, the default behavior is to interrupt the current reply. For a lookup, that's fine. For a booking, an interruption mid-commit leaves everyone unsure whether the appointment exists. So for commits, we finish the action and confirm it, then listen. A half-finished booking is worse than a short wait.</a:t>
            </a:r>
          </a:p>
          <a:p/>
          <a:p>
            <a:r>
              <a:t>[DEMO: Book, and talk over Riley during "Booking that for you now." Riley finishes and confirms.]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rules for good filler lines. Keep them short. Make them specific to the tool. Use a different line per tool, so it doesn't sound like a loop. And never promise a result you don't have yet.</a:t>
            </a:r>
          </a:p>
          <a:p/>
          <a:p>
            <a:r>
              <a:t>When you're done experimenting, set the simulated latency back to zero, or leave it at one to keep hearing the fillers.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Reschedule, cancel and tool errors.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pattern. Expected failures become ToolErrors with a message for the ear. Unexpected ones stay as crashes: logged, generic to the caller, and something you fix. Don't catch every exception and turn it into a ToolError. That hides real bugs.</a:t>
            </a:r>
          </a:p>
          <a:p/>
          <a:p>
            <a:r>
              <a:t>[CODE: step 3, the reschedule tool]</a:t>
            </a:r>
          </a:p>
          <a:p/>
          <a:p>
            <a:r>
              <a:t>Now rescheduling. The tool takes the phone number the appointment was booked under, and the new slot start. The docstring spells out the flow: find slots first, read back the new time, and only then call this.</a:t>
            </a:r>
          </a:p>
          <a:p/>
          <a:p>
            <a:r>
              <a:t>Inside, we look up the caller's next upcoming appointment by phone. If there isn't one, we raise a ToolError ourselves. And look at the second sentence of that message: "Ask the caller to confirm the phone number." That's a retry prompt. It tells the model how to recover, not just what went wrong. Without it, the model often apologizes and gives up.</a:t>
            </a:r>
          </a:p>
          <a:p/>
          <a:p>
            <a:r>
              <a:t>Then we move the appointment, and return a speakable confirmation. Disallow interruptions and a filler, same as booking, because this is also a commit.</a:t>
            </a:r>
          </a:p>
          <a:p/>
          <a:p>
            <a:r>
              <a:t>[CODE: step 4, the cancel tool]</a:t>
            </a:r>
          </a:p>
          <a:p/>
          <a:p>
            <a:r>
              <a:t>Cancel follows the same shape. One extra piece of business logic: is this a late cancellation, less than twenty-four hours ahead? The scheduler answers that, not the LLM. If it's late, the result tells Riley to mention the fee. And every cancellation ends with an offer to book a new time. That's good for the clinic, and it's in the tool result, so it happens consistently.</a:t>
            </a:r>
          </a:p>
          <a:p/>
          <a:p>
            <a:r>
              <a:t>[SCREEN: Terminal. Run the agent.]</a:t>
            </a:r>
          </a:p>
          <a:p/>
          <a:p>
            <a:r>
              <a:t>[DEMO: Reschedule, using the demo patient Jordan Lee, (512) 555-0142, booked Tuesday, October sixth at ten.]</a:t>
            </a:r>
          </a:p>
          <a:p/>
          <a:p>
            <a:r>
              <a:t>**You:** Hi, I need to move my appointment. My number is five one two, five five five, zero one four two.</a:t>
            </a:r>
          </a:p>
          <a:p/>
          <a:p>
            <a:r>
              <a:t>**Riley:** Sure. What day would you like to move it to?</a:t>
            </a:r>
          </a:p>
          <a:p/>
          <a:p>
            <a:r>
              <a:t>**You:** Wednesday afternoon.</a:t>
            </a:r>
          </a:p>
          <a:p/>
          <a:p>
            <a:r>
              <a:t>**Riley:** One moment while I check the schedule. I have Wednesday, October seventh at one, one thirty or two in the afternoon. Which works?</a:t>
            </a:r>
          </a:p>
          <a:p/>
          <a:p>
            <a:r>
              <a:t>**You:** One thirty.</a:t>
            </a:r>
          </a:p>
          <a:p/>
          <a:p>
            <a:r>
              <a:t>**Riley:** Just to confirm: I'll move your appointment from Tuesday, October sixth at ten in the morning to Wednesday, October seventh at one thirty in the afternoon. Shall I go ahead?</a:t>
            </a:r>
          </a:p>
          <a:p/>
          <a:p>
            <a:r>
              <a:t>**You:** Yes.</a:t>
            </a:r>
          </a:p>
          <a:p/>
          <a:p>
            <a:r>
              <a:t>**Riley:** Done. You're now booked for Wednesday at one thirty.</a:t>
            </a:r>
          </a:p>
          <a:p/>
          <a:p>
            <a:r>
              <a:t>[DEMO: Error path. Caller gives a number with no appointment: "five one two, five five five, zero one nine one". Riley: "I couldn't find...]</a:t>
            </a:r>
          </a:p>
          <a:p/>
          <a:p>
            <a:r>
              <a:t>And the error path. A number with no appointment. Riley doesn't crash and doesn't invent one. It asks the caller to check the number, which is exactly what the retry prompt told it to do.</a:t>
            </a:r>
          </a:p>
          <a:p/>
          <a:p>
            <a:r>
              <a:t>Three rules for tool errors. Catch the errors you expect, and let the rest crash loudly. Write every message for the ear. And add a next step, so the model knows how to recover.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Session state with userdata.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on the session and not the agent? Because in Section seven, the call moves from a greeter agent to a booking specialist. The agent changes. The notebook must not. And note that userdata is invisible to the LLM. It only knows what tools return. That's a feature: you can store things the model shouldn't see.</a:t>
            </a:r>
          </a:p>
          <a:p/>
          <a:p>
            <a:r>
              <a:t>[SCREEN: VS Code, `agents/s05_booking_agent.py`. Then `agents/common.py`, scroll to `class BookingToolsMixin`.]</a:t>
            </a:r>
          </a:p>
          <a:p/>
          <a:p>
            <a:r>
              <a:t>Now the refactor I promised. Open the reference file, `s05_booking_agent.py`. The agent class looks like this.</a:t>
            </a:r>
          </a:p>
          <a:p/>
          <a:p>
            <a:r>
              <a:t>[CODE: the reference agent in `agents/s05_booking_agent.py` (shown, not typed)]</a:t>
            </a:r>
          </a:p>
          <a:p/>
          <a:p>
            <a:r>
              <a:t>It inherits from BookingToolsMixin and Agent. BookingToolsMixin, in `common.py`, holds the same four tools you just wrote, with the same names, arguments and docstrings. Moving them into a mixin means the realtime agent in Section six, the booking specialist in Section seven and the capstone can all reuse them without copying. The constructor also accepts a scheduler, so tests in Section nine can pass in a calendar with a fixed date.</a:t>
            </a:r>
          </a:p>
          <a:p/>
          <a:p>
            <a:r>
              <a:t>[SCREEN: VS Code, `agents/common.py`, `BookingToolsMixin`. Highlight in turn: the `_filler` helper and the `can_say` check it calls; the...]</a:t>
            </a:r>
          </a:p>
          <a:p/>
          <a:p>
            <a:r>
              <a:t>Now diff your file against the mixin. It isn't identical, and the differences are worth knowing. One: fillers go through a small helper, `_filler`, which skips string fillers on a pure speech-to-speech session. Lecture 6.2 explains why. Two: when a day is full, find available slots falls back to the next available times instead of just saying no. Three: reschedule and cancel call a verification check, which does nothing until Section eleven switches it on. And the userdata writes you just added are all there, including the slots Riley last offered.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1: Booking agent.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Challenge: add a waitlist tool (pause, then solution).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spec. A tool called join waitlist, taking the patient name, phone and preferred day. The scheduler already has `add_to_waitlist`, and `waitlist_position`, which tells you where the caller is in line for that day. `add_to_waitlist` also takes an optional part of day. Leave it at its default; the reference solution does. You write the tool, and the prompt rule that tells Riley when to offer it.</a:t>
            </a:r>
          </a:p>
          <a:p/>
          <a:p>
            <a:r>
              <a:t>Requirements: offer it only when nothing works. Read back before calling it. Speakable errors. A result that says the day in words and the position. And record the outcome in call state.</a:t>
            </a:r>
          </a:p>
          <a:p/>
          <a:p>
            <a:r>
              <a:t>[SCREEN: VS Code, `src/maple/scheduler.py`, scroll to `add_to_waitlist` so students can read its docstring and exceptions.]</a:t>
            </a:r>
          </a:p>
          <a:p/>
          <a:p>
            <a:r>
              <a:t>Before you pause, have a look at `add_to_waitlist` in the scheduler. Read which errors it can raise. You'll need that.</a:t>
            </a:r>
          </a:p>
          <a:p/>
          <a:p>
            <a:r>
              <a:t>Pause the video now. Give yourself about fifteen minutes. Build it in your `my_booking_agent.py`, run it in text mode, and try to make Thursday morning full so you can test it. Come back when you've got something working, or when you're stuck.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version I'd ship, and the three places most first attempts go wrong.</a:t>
            </a:r>
          </a:p>
          <a:p/>
          <a:p>
            <a:r>
              <a:t>[SCREEN: VS Code, `agents/s05_booking_agent.py`, scroll to `join_waitlist`.]</a:t>
            </a:r>
          </a:p>
          <a:p/>
          <a:p>
            <a:r>
              <a:t>[CODE: the solution tool, from `agents/s05_booking_agent.py`]</a:t>
            </a:r>
          </a:p>
          <a:p/>
          <a:p>
            <a:r>
              <a:t>[SCREEN: Highlight the docstring's first line: "Put the caller on the waitlist for a day with no suitable openings."]</a:t>
            </a:r>
          </a:p>
          <a:p/>
          <a:p>
            <a:r>
              <a:t>Mistake one: a vague description. The most common first attempt is a docstring like "Adds to waitlist." So why does the model never call it? Because it doesn't know when. Look at this one. "Put the caller on the waitlist for a day with no suitable openings." That tells the model the situation it's for. And the args have examples, like an ISO date or a weekday name.</a:t>
            </a:r>
          </a:p>
          <a:p/>
          <a:p>
            <a:r>
              <a:t>[SCREEN: Highlight the docstring's second sentence: "Only call this after reading back the name, phone number and day and the caller said...]</a:t>
            </a:r>
          </a:p>
          <a:p/>
          <a:p>
            <a:r>
              <a:t>Mistake two: no read-back. The docstring says "only call this after reading back the name, phone number and day and the caller said yes." Without that, what happens to a misheard phone number? Riley stores it, and the clinic texts a stranger. Same rule as booking. Anything that stores the caller's details gets a read-back.</a:t>
            </a:r>
          </a:p>
          <a:p/>
          <a:p>
            <a:r>
              <a:t>[DEMO: Console text mode with the `try` block temporarily removed from your `join_waitlist`. Ask to join the waitlist for Sunday: Riley g...]</a:t>
            </a:r>
          </a:p>
          <a:p/>
          <a:p>
            <a:r>
              <a:t>Mistake three: forgetting ToolError. Try a Sunday, or a nine-digit phone number, without the try block. The scheduler raises, the tool crashes, and the caller hears a vague apology. With it, they hear "We're closed on Sundays. Would another day work?"</a:t>
            </a:r>
          </a:p>
          <a:p/>
          <a:p>
            <a:r>
              <a:t>The rest should look familiar. Record the outcome in call state. Return the day in words and the position. And tell Riley what to say next.</a:t>
            </a:r>
          </a:p>
          <a:p/>
          <a:p>
            <a:r>
              <a:t>[CODE: the prompt rule, `WAITLIST_RULES`, passed with `extra=`]</a:t>
            </a:r>
          </a:p>
          <a:p/>
          <a:p>
            <a:r>
              <a:t>And the prompt side. A small waitlist block, passed in with `extra`. When to offer it, and the read-back rule again. Notice that the rule lives in both places, the prompt and the tool description, like we did for booking.</a:t>
            </a:r>
          </a:p>
          <a:p/>
          <a:p>
            <a:r>
              <a:t>[DEMO: Console text mode. Book out Thursday morning first (or pick a fully booked day), then: "Can I get Thursday morning?" Riley offers...]</a:t>
            </a:r>
          </a:p>
          <a:p/>
          <a:p>
            <a:r>
              <a:t>Here it is working. Nothing suits the caller, Riley offers the waitlist, reads back the details, and confirms the position.</a:t>
            </a:r>
          </a:p>
          <a:p/>
          <a:p>
            <a:r>
              <a:t>If your version differs, that's fine. Compare the three things that matter: a description that says when, a read-back before storing details, and ToolError for expected failures. If you got all three, you've got the pattern for every tool you'll ever write.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Tools.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 for the tool that never gets called, read its docstring the way the model does. Tool errors, fillers and userdata come back in the Section six quiz.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How function tools work in LiveKit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the tool-calling loop: the LLM requests a tool, the framework runs it, the result goes back to the LLM, and the…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tool-calling loop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Caller: "Do you have anything Thursday morning?"</a:t>
            </a:r>
          </a:p>
          <a:p>
            <a:pPr marL="292608" indent="-292608">
              <a:lnSpc>
                <a:spcPct val="120000"/>
              </a:lnSpc>
              <a:spcAft>
                <a:spcPts val="1120"/>
              </a:spcAft>
              <a:buClr>
                <a:srgbClr val="00D4AA"/>
              </a:buClr>
              <a:buFont typeface="Inter"/>
              <a:buChar char="•"/>
            </a:pPr>
            <a:r>
              <a:rPr sz="1600" b="0">
                <a:solidFill>
                  <a:srgbClr val="FFFFFF"/>
                </a:solidFill>
                <a:latin typeface="Inter"/>
              </a:rPr>
              <a:t>LLM decides: call </a:t>
            </a:r>
            <a:r>
              <a:rPr sz="1472" b="0">
                <a:solidFill>
                  <a:srgbClr val="00D4AA"/>
                </a:solidFill>
                <a:latin typeface="JetBrains Mono"/>
              </a:rPr>
              <a:t>find_available_slots(day="Thursday", part_of_day="morning")</a:t>
            </a:r>
          </a:p>
          <a:p>
            <a:pPr marL="292608" indent="-292608">
              <a:lnSpc>
                <a:spcPct val="120000"/>
              </a:lnSpc>
              <a:spcAft>
                <a:spcPts val="1120"/>
              </a:spcAft>
              <a:buClr>
                <a:srgbClr val="00D4AA"/>
              </a:buClr>
              <a:buFont typeface="Inter"/>
              <a:buChar char="•"/>
            </a:pPr>
            <a:r>
              <a:rPr sz="1600" b="0">
                <a:solidFill>
                  <a:srgbClr val="FFFFFF"/>
                </a:solidFill>
                <a:latin typeface="Inter"/>
              </a:rPr>
              <a:t>Framework runs your Python method</a:t>
            </a:r>
          </a:p>
          <a:p>
            <a:pPr marL="292608" indent="-292608">
              <a:lnSpc>
                <a:spcPct val="120000"/>
              </a:lnSpc>
              <a:spcAft>
                <a:spcPts val="1120"/>
              </a:spcAft>
              <a:buClr>
                <a:srgbClr val="00D4AA"/>
              </a:buClr>
              <a:buFont typeface="Inter"/>
              <a:buChar char="•"/>
            </a:pPr>
            <a:r>
              <a:rPr sz="1600" b="0">
                <a:solidFill>
                  <a:srgbClr val="FFFFFF"/>
                </a:solidFill>
                <a:latin typeface="Inter"/>
              </a:rPr>
              <a:t>Result goes back to the LLM: "Open times: Thursday, October eighth at eight o'clock in the morning; ..."</a:t>
            </a:r>
          </a:p>
          <a:p>
            <a:pPr marL="292608" indent="-292608">
              <a:lnSpc>
                <a:spcPct val="120000"/>
              </a:lnSpc>
              <a:spcAft>
                <a:spcPts val="1120"/>
              </a:spcAft>
              <a:buClr>
                <a:srgbClr val="00D4AA"/>
              </a:buClr>
              <a:buFont typeface="Inter"/>
              <a:buChar char="•"/>
            </a:pPr>
            <a:r>
              <a:rPr sz="1600" b="0">
                <a:solidFill>
                  <a:srgbClr val="FFFFFF"/>
                </a:solidFill>
                <a:latin typeface="Inter"/>
              </a:rPr>
              <a:t>LLM writes the reply: "I have eight, eight thirty or nine on Thursday. Which works?"</a:t>
            </a:r>
          </a:p>
        </p:txBody>
      </p:sp>
      <p:sp>
        <p:nvSpPr>
          <p:cNvPr id="6" name="Rounded Rectangle 5"/>
          <p:cNvSpPr/>
          <p:nvPr/>
        </p:nvSpPr>
        <p:spPr>
          <a:xfrm>
            <a:off x="4983480" y="1325880"/>
            <a:ext cx="676656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257800" y="1508760"/>
            <a:ext cx="621792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8" name="TextBox 7"/>
          <p:cNvSpPr txBox="1"/>
          <p:nvPr/>
        </p:nvSpPr>
        <p:spPr>
          <a:xfrm>
            <a:off x="5257800" y="1920240"/>
            <a:ext cx="621792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circular: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tool-calling loop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TTS speaks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tool is a decorated method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000">
                <a:solidFill>
                  <a:srgbClr val="FFFFFF"/>
                </a:solidFill>
                <a:latin typeface="JetBrains Mono"/>
              </a:rPr>
              <a:t>from livekit.agents import Agent, RunContext, function_tool</a:t>
            </a:r>
          </a:p>
          <a:p>
            <a:r>
              <a:rPr sz="1000">
                <a:solidFill>
                  <a:srgbClr val="FFFFFF"/>
                </a:solidFill>
                <a:latin typeface="JetBrains Mono"/>
              </a:rPr>
              <a:t> </a:t>
            </a:r>
          </a:p>
          <a:p>
            <a:r>
              <a:rPr sz="1000">
                <a:solidFill>
                  <a:srgbClr val="FFFFFF"/>
                </a:solidFill>
                <a:latin typeface="JetBrains Mono"/>
              </a:rPr>
              <a:t>class RileyBookingAgent(Agent):   # simplified: in the repo this method lives on BookingToolsMixin</a:t>
            </a:r>
          </a:p>
          <a:p>
            <a:r>
              <a:rPr sz="1000">
                <a:solidFill>
                  <a:srgbClr val="FFFFFF"/>
                </a:solidFill>
                <a:latin typeface="JetBrains Mono"/>
              </a:rPr>
              <a:t>    @function_tool</a:t>
            </a:r>
          </a:p>
          <a:p>
            <a:r>
              <a:rPr sz="1000">
                <a:solidFill>
                  <a:srgbClr val="FFFFFF"/>
                </a:solidFill>
                <a:latin typeface="JetBrains Mono"/>
              </a:rPr>
              <a:t>    async def find_available_slots(</a:t>
            </a:r>
          </a:p>
          <a:p>
            <a:r>
              <a:rPr sz="1000">
                <a:solidFill>
                  <a:srgbClr val="FFFFFF"/>
                </a:solidFill>
                <a:latin typeface="JetBrains Mono"/>
              </a:rPr>
              <a:t>        self,</a:t>
            </a:r>
          </a:p>
          <a:p>
            <a:r>
              <a:rPr sz="1000">
                <a:solidFill>
                  <a:srgbClr val="FFFFFF"/>
                </a:solidFill>
                <a:latin typeface="JetBrains Mono"/>
              </a:rPr>
              <a:t>        context: RunContext[CallState],</a:t>
            </a:r>
          </a:p>
          <a:p>
            <a:r>
              <a:rPr sz="1000">
                <a:solidFill>
                  <a:srgbClr val="FFFFFF"/>
                </a:solidFill>
                <a:latin typeface="JetBrains Mono"/>
              </a:rPr>
              <a:t>        day: str,</a:t>
            </a:r>
          </a:p>
          <a:p>
            <a:r>
              <a:rPr sz="1000">
                <a:solidFill>
                  <a:srgbClr val="FFFFFF"/>
                </a:solidFill>
                <a:latin typeface="JetBrains Mono"/>
              </a:rPr>
              <a:t>        part_of_day: Literal["morning", "afternoon", "any"] = "any",</a:t>
            </a:r>
          </a:p>
          <a:p>
            <a:r>
              <a:rPr sz="1000">
                <a:solidFill>
                  <a:srgbClr val="FFFFFF"/>
                </a:solidFill>
                <a:latin typeface="JetBrains Mono"/>
              </a:rPr>
              <a:t>    ) -&gt; str:</a:t>
            </a:r>
          </a:p>
          <a:p>
            <a:r>
              <a:rPr sz="1000">
                <a:solidFill>
                  <a:srgbClr val="FFFFFF"/>
                </a:solidFill>
                <a:latin typeface="JetBrains Mono"/>
              </a:rPr>
              <a:t>        """Look up free appointment times. Always call this before offering times.</a:t>
            </a:r>
          </a:p>
          <a:p>
            <a:r>
              <a:rPr sz="1000">
                <a:solidFill>
                  <a:srgbClr val="FFFFFF"/>
                </a:solidFill>
                <a:latin typeface="JetBrains Mono"/>
              </a:rPr>
              <a:t> </a:t>
            </a:r>
          </a:p>
          <a:p>
            <a:r>
              <a:rPr sz="1000">
                <a:solidFill>
                  <a:srgbClr val="FFFFFF"/>
                </a:solidFill>
                <a:latin typeface="JetBrains Mono"/>
              </a:rPr>
              <a:t>        Args:</a:t>
            </a:r>
          </a:p>
          <a:p>
            <a:r>
              <a:rPr sz="1000">
                <a:solidFill>
                  <a:srgbClr val="FFFFFF"/>
                </a:solidFill>
                <a:latin typeface="JetBrains Mono"/>
              </a:rPr>
              <a:t>            day: The day the caller wants: an ISO date such as 2026-10-06, or words such as</a:t>
            </a:r>
          </a:p>
          <a:p>
            <a:r>
              <a:rPr sz="1000">
                <a:solidFill>
                  <a:srgbClr val="94A3B8"/>
                </a:solidFill>
                <a:latin typeface="JetBrains Mono"/>
              </a:rPr>
              <a:t># ... 4 more lines in the script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LLM actually sees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66344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Method name → tool name</a:t>
            </a:r>
          </a:p>
          <a:p>
            <a:pPr marL="292608" indent="-292608">
              <a:lnSpc>
                <a:spcPct val="120000"/>
              </a:lnSpc>
              <a:spcAft>
                <a:spcPts val="1120"/>
              </a:spcAft>
              <a:buClr>
                <a:srgbClr val="00D4AA"/>
              </a:buClr>
              <a:buFont typeface="Inter"/>
              <a:buChar char="•"/>
            </a:pPr>
            <a:r>
              <a:rPr sz="1600" b="0">
                <a:solidFill>
                  <a:srgbClr val="FFFFFF"/>
                </a:solidFill>
                <a:latin typeface="Inter"/>
              </a:rPr>
              <a:t>Docstring first line → tool description</a:t>
            </a:r>
          </a:p>
          <a:p>
            <a:pPr marL="292608" indent="-292608">
              <a:lnSpc>
                <a:spcPct val="120000"/>
              </a:lnSpc>
              <a:spcAft>
                <a:spcPts val="1120"/>
              </a:spcAft>
              <a:buClr>
                <a:srgbClr val="00D4AA"/>
              </a:buClr>
              <a:buFont typeface="Inter"/>
              <a:buChar char="•"/>
            </a:pPr>
            <a:r>
              <a:rPr sz="1472" b="0">
                <a:solidFill>
                  <a:srgbClr val="00D4AA"/>
                </a:solidFill>
                <a:latin typeface="JetBrains Mono"/>
              </a:rPr>
              <a:t>Args:</a:t>
            </a:r>
            <a:r>
              <a:rPr sz="1600" b="0">
                <a:solidFill>
                  <a:srgbClr val="FFFFFF"/>
                </a:solidFill>
                <a:latin typeface="Inter"/>
              </a:rPr>
              <a:t> section → parameter descriptions</a:t>
            </a:r>
          </a:p>
          <a:p>
            <a:pPr marL="292608" indent="-292608">
              <a:lnSpc>
                <a:spcPct val="120000"/>
              </a:lnSpc>
              <a:spcAft>
                <a:spcPts val="1120"/>
              </a:spcAft>
              <a:buClr>
                <a:srgbClr val="00D4AA"/>
              </a:buClr>
              <a:buFont typeface="Inter"/>
              <a:buChar char="•"/>
            </a:pPr>
            <a:r>
              <a:rPr sz="1600" b="0">
                <a:solidFill>
                  <a:srgbClr val="FFFFFF"/>
                </a:solidFill>
                <a:latin typeface="Inter"/>
              </a:rPr>
              <a:t>Type hints → types; </a:t>
            </a:r>
            <a:r>
              <a:rPr sz="1472" b="0">
                <a:solidFill>
                  <a:srgbClr val="00D4AA"/>
                </a:solidFill>
                <a:latin typeface="JetBrains Mono"/>
              </a:rPr>
              <a:t>Literal</a:t>
            </a:r>
            <a:r>
              <a:rPr sz="1600" b="0">
                <a:solidFill>
                  <a:srgbClr val="FFFFFF"/>
                </a:solidFill>
                <a:latin typeface="Inter"/>
              </a:rPr>
              <a:t> → allowed values; defaults → optional</a:t>
            </a:r>
          </a:p>
        </p:txBody>
      </p:sp>
      <p:sp>
        <p:nvSpPr>
          <p:cNvPr id="6" name="Rounded Rectangle 5"/>
          <p:cNvSpPr/>
          <p:nvPr/>
        </p:nvSpPr>
        <p:spPr>
          <a:xfrm>
            <a:off x="4663440" y="1325880"/>
            <a:ext cx="7086600" cy="4663440"/>
          </a:xfrm>
          <a:prstGeom prst="roundRect">
            <a:avLst>
              <a:gd name="adj" fmla="val 1098"/>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66344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json</a:t>
            </a:r>
          </a:p>
        </p:txBody>
      </p:sp>
      <p:sp>
        <p:nvSpPr>
          <p:cNvPr id="9" name="TextBox 8"/>
          <p:cNvSpPr txBox="1"/>
          <p:nvPr/>
        </p:nvSpPr>
        <p:spPr>
          <a:xfrm>
            <a:off x="4892040" y="1737360"/>
            <a:ext cx="6720840" cy="4206240"/>
          </a:xfrm>
          <a:prstGeom prst="rect">
            <a:avLst/>
          </a:prstGeom>
          <a:noFill/>
        </p:spPr>
        <p:txBody>
          <a:bodyPr wrap="none" lIns="45720" rIns="45720" tIns="27432" bIns="27432" anchor="t">
            <a:spAutoFit/>
          </a:bodyPr>
          <a:lstStyle/>
          <a:p>
            <a:r>
              <a:rPr sz="1000">
                <a:solidFill>
                  <a:srgbClr val="FFFFFF"/>
                </a:solidFill>
                <a:latin typeface="JetBrains Mono"/>
              </a:rPr>
              <a:t>{</a:t>
            </a:r>
          </a:p>
          <a:p>
            <a:r>
              <a:rPr sz="1000">
                <a:solidFill>
                  <a:srgbClr val="FFFFFF"/>
                </a:solidFill>
                <a:latin typeface="JetBrains Mono"/>
              </a:rPr>
              <a:t>  "name": "find_available_slots",</a:t>
            </a:r>
          </a:p>
          <a:p>
            <a:r>
              <a:rPr sz="1000">
                <a:solidFill>
                  <a:srgbClr val="FFFFFF"/>
                </a:solidFill>
                <a:latin typeface="JetBrains Mono"/>
              </a:rPr>
              <a:t>  "description": "Look up free appointment times. Always call this before offering times.",</a:t>
            </a:r>
          </a:p>
          <a:p>
            <a:r>
              <a:rPr sz="1000">
                <a:solidFill>
                  <a:srgbClr val="FFFFFF"/>
                </a:solidFill>
                <a:latin typeface="JetBrains Mono"/>
              </a:rPr>
              <a:t>  "parameters": {</a:t>
            </a:r>
          </a:p>
          <a:p>
            <a:r>
              <a:rPr sz="1000">
                <a:solidFill>
                  <a:srgbClr val="FFFFFF"/>
                </a:solidFill>
                <a:latin typeface="JetBrains Mono"/>
              </a:rPr>
              <a:t>    "properties": {</a:t>
            </a:r>
          </a:p>
          <a:p>
            <a:r>
              <a:rPr sz="1000">
                <a:solidFill>
                  <a:srgbClr val="FFFFFF"/>
                </a:solidFill>
                <a:latin typeface="JetBrains Mono"/>
              </a:rPr>
              <a:t>      "day": {"type": "string",</a:t>
            </a:r>
          </a:p>
          <a:p>
            <a:r>
              <a:rPr sz="1000">
                <a:solidFill>
                  <a:srgbClr val="FFFFFF"/>
                </a:solidFill>
                <a:latin typeface="JetBrains Mono"/>
              </a:rPr>
              <a:t>              "description": "The day the caller wants: an ISO date such as 2026-10-06, or words such as\n\"tomorrow\" or \"Thursday\"."},</a:t>
            </a:r>
          </a:p>
          <a:p>
            <a:r>
              <a:rPr sz="1000">
                <a:solidFill>
                  <a:srgbClr val="FFFFFF"/>
                </a:solidFill>
                <a:latin typeface="JetBrains Mono"/>
              </a:rPr>
              <a:t>      "part_of_day": {"type": "string", "enum": ["morning", "afternoon", "any"], "default": "any",</a:t>
            </a:r>
          </a:p>
          <a:p>
            <a:r>
              <a:rPr sz="1000">
                <a:solidFill>
                  <a:srgbClr val="FFFFFF"/>
                </a:solidFill>
                <a:latin typeface="JetBrains Mono"/>
              </a:rPr>
              <a:t>                      "description": "\"morning\", \"afternoon\" or \"any\"."}</a:t>
            </a:r>
          </a:p>
          <a:p>
            <a:r>
              <a:rPr sz="1000">
                <a:solidFill>
                  <a:srgbClr val="FFFFFF"/>
                </a:solidFill>
                <a:latin typeface="JetBrains Mono"/>
              </a:rPr>
              <a:t>    },</a:t>
            </a:r>
          </a:p>
          <a:p>
            <a:r>
              <a:rPr sz="1000">
                <a:solidFill>
                  <a:srgbClr val="FFFFFF"/>
                </a:solidFill>
                <a:latin typeface="JetBrains Mono"/>
              </a:rPr>
              <a:t>    "required": ["day"]</a:t>
            </a:r>
          </a:p>
          <a:p>
            <a:r>
              <a:rPr sz="1000">
                <a:solidFill>
                  <a:srgbClr val="FFFFFF"/>
                </a:solidFill>
                <a:latin typeface="JetBrains Mono"/>
              </a:rPr>
              <a:t>  }</a:t>
            </a:r>
          </a:p>
          <a:p>
            <a:r>
              <a:rPr sz="1000">
                <a:solidFill>
                  <a:srgbClr val="FFFFFF"/>
                </a:solidFill>
                <a:latin typeface="JetBrains Mono"/>
              </a:rPr>
              <a:t>}</a:t>
            </a:r>
          </a:p>
        </p:txBody>
      </p:sp>
      <p:sp>
        <p:nvSpPr>
          <p:cNvPr id="10" name="TextBox 9"/>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Trimmed from the real output: </a:t>
            </a:r>
            <a:r>
              <a:rPr sz="1012" b="0">
                <a:solidFill>
                  <a:srgbClr val="00D4AA"/>
                </a:solidFill>
                <a:latin typeface="JetBrains Mono"/>
              </a:rPr>
              <a:t>title</a:t>
            </a:r>
            <a:r>
              <a:rPr sz="1100" b="0">
                <a:solidFill>
                  <a:srgbClr val="94A3B8"/>
                </a:solidFill>
                <a:latin typeface="Inter"/>
              </a:rPr>
              <a:t> fields removed.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RunContext: the tool's view of the call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context.userdata</a:t>
            </a:r>
            <a:r>
              <a:rPr sz="1800" b="0">
                <a:solidFill>
                  <a:srgbClr val="FFFFFF"/>
                </a:solidFill>
                <a:latin typeface="Inter"/>
              </a:rPr>
              <a:t>: your per-call state (</a:t>
            </a:r>
            <a:r>
              <a:rPr sz="1656" b="0">
                <a:solidFill>
                  <a:srgbClr val="00D4AA"/>
                </a:solidFill>
                <a:latin typeface="JetBrains Mono"/>
              </a:rPr>
              <a:t>CallState</a:t>
            </a:r>
            <a:r>
              <a:rPr sz="1800" b="0">
                <a:solidFill>
                  <a:srgbClr val="FFFFFF"/>
                </a:solidFill>
                <a:latin typeface="Inter"/>
              </a:rPr>
              <a:t>, lecture 5.7)</a:t>
            </a:r>
          </a:p>
          <a:p>
            <a:pPr marL="292608" indent="-292608">
              <a:lnSpc>
                <a:spcPct val="120000"/>
              </a:lnSpc>
              <a:spcAft>
                <a:spcPts val="1260"/>
              </a:spcAft>
              <a:buClr>
                <a:srgbClr val="00D4AA"/>
              </a:buClr>
              <a:buFont typeface="Inter"/>
              <a:buChar char="•"/>
            </a:pPr>
            <a:r>
              <a:rPr sz="1656" b="0">
                <a:solidFill>
                  <a:srgbClr val="00D4AA"/>
                </a:solidFill>
                <a:latin typeface="JetBrains Mono"/>
              </a:rPr>
              <a:t>context.session</a:t>
            </a:r>
            <a:r>
              <a:rPr sz="1800" b="0">
                <a:solidFill>
                  <a:srgbClr val="FFFFFF"/>
                </a:solidFill>
                <a:latin typeface="Inter"/>
              </a:rPr>
              <a:t>: the </a:t>
            </a:r>
            <a:r>
              <a:rPr sz="1656" b="0">
                <a:solidFill>
                  <a:srgbClr val="00D4AA"/>
                </a:solidFill>
                <a:latin typeface="JetBrains Mono"/>
              </a:rPr>
              <a:t>AgentSession</a:t>
            </a:r>
            <a:r>
              <a:rPr sz="1800" b="0">
                <a:solidFill>
                  <a:srgbClr val="FFFFFF"/>
                </a:solidFill>
                <a:latin typeface="Inter"/>
              </a:rPr>
              <a:t> (for </a:t>
            </a:r>
            <a:r>
              <a:rPr sz="1656" b="0">
                <a:solidFill>
                  <a:srgbClr val="00D4AA"/>
                </a:solidFill>
                <a:latin typeface="JetBrains Mono"/>
              </a:rPr>
              <a:t>say</a:t>
            </a:r>
            <a:r>
              <a:rPr sz="1800" b="0">
                <a:solidFill>
                  <a:srgbClr val="FFFFFF"/>
                </a:solidFill>
                <a:latin typeface="Inter"/>
              </a:rPr>
              <a:t>, etc.)</a:t>
            </a:r>
          </a:p>
          <a:p>
            <a:pPr marL="292608" indent="-292608">
              <a:lnSpc>
                <a:spcPct val="120000"/>
              </a:lnSpc>
              <a:spcAft>
                <a:spcPts val="1260"/>
              </a:spcAft>
              <a:buClr>
                <a:srgbClr val="00D4AA"/>
              </a:buClr>
              <a:buFont typeface="Inter"/>
              <a:buChar char="•"/>
            </a:pPr>
            <a:r>
              <a:rPr sz="1656" b="0">
                <a:solidFill>
                  <a:srgbClr val="00D4AA"/>
                </a:solidFill>
                <a:latin typeface="JetBrains Mono"/>
              </a:rPr>
              <a:t>context.speech_handle</a:t>
            </a:r>
            <a:r>
              <a:rPr sz="1800" b="0">
                <a:solidFill>
                  <a:srgbClr val="FFFFFF"/>
                </a:solidFill>
                <a:latin typeface="Inter"/>
              </a:rPr>
              <a:t>: the reply this tool call belongs to</a:t>
            </a:r>
          </a:p>
          <a:p>
            <a:pPr marL="292608" indent="-292608">
              <a:lnSpc>
                <a:spcPct val="120000"/>
              </a:lnSpc>
              <a:spcAft>
                <a:spcPts val="1260"/>
              </a:spcAft>
              <a:buClr>
                <a:srgbClr val="00D4AA"/>
              </a:buClr>
              <a:buFont typeface="Inter"/>
              <a:buChar char="•"/>
            </a:pPr>
            <a:r>
              <a:rPr sz="1656" b="0">
                <a:solidFill>
                  <a:srgbClr val="00D4AA"/>
                </a:solidFill>
                <a:latin typeface="JetBrains Mono"/>
              </a:rPr>
              <a:t>context.with_filler(...)</a:t>
            </a:r>
            <a:r>
              <a:rPr sz="1800" b="0">
                <a:solidFill>
                  <a:srgbClr val="FFFFFF"/>
                </a:solidFill>
                <a:latin typeface="Inter"/>
              </a:rPr>
              <a:t>: speak while slow work runs (lecture 5.5)</a:t>
            </a:r>
          </a:p>
          <a:p>
            <a:pPr marL="292608" indent="-292608">
              <a:lnSpc>
                <a:spcPct val="120000"/>
              </a:lnSpc>
              <a:spcAft>
                <a:spcPts val="1260"/>
              </a:spcAft>
              <a:buClr>
                <a:srgbClr val="00D4AA"/>
              </a:buClr>
              <a:buFont typeface="Inter"/>
              <a:buChar char="•"/>
            </a:pPr>
            <a:r>
              <a:rPr sz="1656" b="0">
                <a:solidFill>
                  <a:srgbClr val="00D4AA"/>
                </a:solidFill>
                <a:latin typeface="JetBrains Mono"/>
              </a:rPr>
              <a:t>context.disallow_interruptions()</a:t>
            </a:r>
            <a:r>
              <a:rPr sz="1800" b="0">
                <a:solidFill>
                  <a:srgbClr val="FFFFFF"/>
                </a:solidFill>
                <a:latin typeface="Inter"/>
              </a:rPr>
              <a:t>: protect critical moments (lecture 5.5)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RunContext: the tool's view of the call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Not shown to the LLM: it's injected by the framework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tools return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Return a short string or a small dict: it goes back to the LLM</a:t>
            </a:r>
          </a:p>
          <a:p>
            <a:pPr marL="292608" indent="-292608">
              <a:lnSpc>
                <a:spcPct val="120000"/>
              </a:lnSpc>
              <a:spcAft>
                <a:spcPts val="1260"/>
              </a:spcAft>
              <a:buClr>
                <a:srgbClr val="00D4AA"/>
              </a:buClr>
              <a:buFont typeface="Inter"/>
              <a:buChar char="•"/>
            </a:pPr>
            <a:r>
              <a:rPr sz="1800" b="0">
                <a:solidFill>
                  <a:srgbClr val="FFFFFF"/>
                </a:solidFill>
                <a:latin typeface="Inter"/>
              </a:rPr>
              <a:t>Write results for the LLM to speak from: "Open times: Thursday at 8:00, 8:30"</a:t>
            </a:r>
          </a:p>
          <a:p>
            <a:pPr marL="292608" indent="-292608">
              <a:lnSpc>
                <a:spcPct val="120000"/>
              </a:lnSpc>
              <a:spcAft>
                <a:spcPts val="1260"/>
              </a:spcAft>
              <a:buClr>
                <a:srgbClr val="00D4AA"/>
              </a:buClr>
              <a:buFont typeface="Inter"/>
              <a:buChar char="•"/>
            </a:pPr>
            <a:r>
              <a:rPr sz="1800" b="0">
                <a:solidFill>
                  <a:srgbClr val="FFFFFF"/>
                </a:solidFill>
                <a:latin typeface="Inter"/>
              </a:rPr>
              <a:t>Keep them small: every result is added to the prompt for the rest of the call</a:t>
            </a:r>
          </a:p>
          <a:p>
            <a:pPr marL="292608" indent="-292608">
              <a:lnSpc>
                <a:spcPct val="120000"/>
              </a:lnSpc>
              <a:spcAft>
                <a:spcPts val="1260"/>
              </a:spcAft>
              <a:buClr>
                <a:srgbClr val="00D4AA"/>
              </a:buClr>
              <a:buFont typeface="Inter"/>
              <a:buChar char="•"/>
            </a:pPr>
            <a:r>
              <a:rPr sz="1800" b="0">
                <a:solidFill>
                  <a:srgbClr val="FFFFFF"/>
                </a:solidFill>
                <a:latin typeface="Inter"/>
              </a:rPr>
              <a:t>Never return secrets or other patients'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things go wrong: ToolError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Tells the LLM the call failed, with a message it can relay</a:t>
            </a:r>
          </a:p>
          <a:p>
            <a:pPr marL="292608" indent="-292608">
              <a:lnSpc>
                <a:spcPct val="120000"/>
              </a:lnSpc>
              <a:spcAft>
                <a:spcPts val="1120"/>
              </a:spcAft>
              <a:buClr>
                <a:srgbClr val="00D4AA"/>
              </a:buClr>
              <a:buFont typeface="Inter"/>
              <a:buChar char="•"/>
            </a:pPr>
            <a:r>
              <a:rPr sz="1600" b="0">
                <a:solidFill>
                  <a:srgbClr val="FFFFFF"/>
                </a:solidFill>
                <a:latin typeface="Inter"/>
              </a:rPr>
              <a:t>Write the message so it's safe to say out loud</a:t>
            </a:r>
          </a:p>
          <a:p>
            <a:pPr marL="292608" indent="-292608">
              <a:lnSpc>
                <a:spcPct val="120000"/>
              </a:lnSpc>
              <a:spcAft>
                <a:spcPts val="1120"/>
              </a:spcAft>
              <a:buClr>
                <a:srgbClr val="00D4AA"/>
              </a:buClr>
              <a:buFont typeface="Inter"/>
              <a:buChar char="•"/>
            </a:pPr>
            <a:r>
              <a:rPr sz="1600" b="0">
                <a:solidFill>
                  <a:srgbClr val="FFFFFF"/>
                </a:solidFill>
                <a:latin typeface="Inter"/>
              </a:rPr>
              <a:t>Other exceptions: logged, and the LLM gets a generic failure</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000">
                <a:solidFill>
                  <a:srgbClr val="FFFFFF"/>
                </a:solidFill>
                <a:latin typeface="JetBrains Mono"/>
              </a:rPr>
              <a:t>from livekit.agents import ToolError</a:t>
            </a:r>
          </a:p>
          <a:p>
            <a:r>
              <a:rPr sz="1000">
                <a:solidFill>
                  <a:srgbClr val="FFFFFF"/>
                </a:solidFill>
                <a:latin typeface="JetBrains Mono"/>
              </a:rPr>
              <a:t> </a:t>
            </a:r>
          </a:p>
          <a:p>
            <a:r>
              <a:rPr sz="1000">
                <a:solidFill>
                  <a:srgbClr val="FFFFFF"/>
                </a:solidFill>
                <a:latin typeface="JetBrains Mono"/>
              </a:rPr>
              <a:t>raise ToolError("Sorry, that time was just taken. Would you like the next available times?")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max_tool_steps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How many rounds of tool calls the LLM may chain in one turn</a:t>
            </a:r>
          </a:p>
          <a:p>
            <a:pPr marL="292608" indent="-292608">
              <a:lnSpc>
                <a:spcPct val="120000"/>
              </a:lnSpc>
              <a:spcAft>
                <a:spcPts val="1120"/>
              </a:spcAft>
              <a:buClr>
                <a:srgbClr val="00D4AA"/>
              </a:buClr>
              <a:buFont typeface="Inter"/>
              <a:buChar char="•"/>
            </a:pPr>
            <a:r>
              <a:rPr sz="1600" b="0">
                <a:solidFill>
                  <a:srgbClr val="FFFFFF"/>
                </a:solidFill>
                <a:latin typeface="Inter"/>
              </a:rPr>
              <a:t>Example: find slots → (error, retry) → book = 3 steps</a:t>
            </a:r>
          </a:p>
          <a:p>
            <a:pPr marL="292608" indent="-292608">
              <a:lnSpc>
                <a:spcPct val="120000"/>
              </a:lnSpc>
              <a:spcAft>
                <a:spcPts val="1120"/>
              </a:spcAft>
              <a:buClr>
                <a:srgbClr val="00D4AA"/>
              </a:buClr>
              <a:buFont typeface="Inter"/>
              <a:buChar char="•"/>
            </a:pPr>
            <a:r>
              <a:rPr sz="1600" b="0">
                <a:solidFill>
                  <a:srgbClr val="FFFFFF"/>
                </a:solidFill>
                <a:latin typeface="Inter"/>
              </a:rPr>
              <a:t>Protects against loops that burn time and money</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000">
                <a:solidFill>
                  <a:srgbClr val="FFFFFF"/>
                </a:solidFill>
                <a:latin typeface="JetBrains Mono"/>
              </a:rPr>
              <a:t>session = AgentSession(..., max_tool_steps=5)   # default is 3; Riley's booking agent uses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Name, docstring and types become the schema</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RunContext</a:t>
            </a:r>
            <a:r>
              <a:rPr sz="1800" b="1">
                <a:solidFill>
                  <a:srgbClr val="FFFFFF"/>
                </a:solidFill>
                <a:latin typeface="Inter"/>
              </a:rPr>
              <a:t> gives tools the live call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Short speakable results; </a:t>
            </a:r>
            <a:r>
              <a:rPr sz="1656" b="0">
                <a:solidFill>
                  <a:srgbClr val="00D4AA"/>
                </a:solidFill>
                <a:latin typeface="JetBrains Mono"/>
              </a:rPr>
              <a:t>ToolError</a:t>
            </a:r>
            <a:r>
              <a:rPr sz="1800" b="1">
                <a:solidFill>
                  <a:srgbClr val="FFFFFF"/>
                </a:solidFill>
                <a:latin typeface="Inter"/>
              </a:rPr>
              <a:t> for expected failures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clinic scheduler: pure Python first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we write any tools, let's look at the Python they'll call: the clinic scheduler, built and tested…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clinic scheduler: pure Python first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why business logic lives in </a:t>
            </a:r>
            <a:r>
              <a:rPr sz="1472" b="0">
                <a:solidFill>
                  <a:srgbClr val="00D4AA"/>
                </a:solidFill>
                <a:latin typeface="JetBrains Mono"/>
              </a:rPr>
              <a:t>src/maple/scheduler.py</a:t>
            </a:r>
            <a:r>
              <a:rPr sz="1600" b="0">
                <a:solidFill>
                  <a:srgbClr val="CBD5E1"/>
                </a:solidFill>
                <a:latin typeface="Inter"/>
              </a:rPr>
              <a:t>, outside the agent.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layers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top box "Riley's tools (</a:t>
            </a:r>
            <a:r>
              <a:rPr sz="1380" b="0">
                <a:solidFill>
                  <a:srgbClr val="00D4AA"/>
                </a:solidFill>
                <a:latin typeface="JetBrains Mono"/>
              </a:rPr>
              <a:t>BookingToolsMixin</a:t>
            </a:r>
            <a:r>
              <a:rPr sz="1500" b="0">
                <a:solidFill>
                  <a:srgbClr val="CBD5E1"/>
                </a:solidFill>
                <a:latin typeface="Inter"/>
              </a:rPr>
              <a:t> in agents/common.py, used by agents/s05_booking_agent.py)": thin wrappers, speak results, convert errors. Arrow down to bottom box "ClinicScheduler (src/maple/scheduler.py)": hours, slots, booking rules, errors. Right side: "Unit tests: offline, milliseconds" pointing at the bottom box.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Booking rules live in plain Python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error message is a speakable sentence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Unit tests run offline in milliseconds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check availability and book</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let's give Riley its first two tools, find available slots and book appointment, and wire them 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check availability and book</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Write the </a:t>
            </a:r>
            <a:r>
              <a:rPr sz="1472" b="0">
                <a:solidFill>
                  <a:srgbClr val="00D4AA"/>
                </a:solidFill>
                <a:latin typeface="JetBrains Mono"/>
              </a:rPr>
              <a:t>find_available_slots</a:t>
            </a:r>
            <a:r>
              <a:rPr sz="1600" b="0">
                <a:solidFill>
                  <a:srgbClr val="CBD5E1"/>
                </a:solidFill>
                <a:latin typeface="Inter"/>
              </a:rPr>
              <a:t> and </a:t>
            </a:r>
            <a:r>
              <a:rPr sz="1472" b="0">
                <a:solidFill>
                  <a:srgbClr val="00D4AA"/>
                </a:solidFill>
                <a:latin typeface="JetBrains Mono"/>
              </a:rPr>
              <a:t>book_appointment</a:t>
            </a:r>
            <a:r>
              <a:rPr sz="1600" b="0">
                <a:solidFill>
                  <a:srgbClr val="CBD5E1"/>
                </a:solidFill>
                <a:latin typeface="Inter"/>
              </a:rPr>
              <a:t> tools as thin wrappers around </a:t>
            </a:r>
            <a:r>
              <a:rPr sz="1472" b="0">
                <a:solidFill>
                  <a:srgbClr val="00D4AA"/>
                </a:solidFill>
                <a:latin typeface="JetBrains Mono"/>
              </a:rPr>
              <a:t>ClinicScheduler</a:t>
            </a:r>
            <a:r>
              <a:rPr sz="1600" b="0">
                <a:solidFill>
                  <a:srgbClr val="CBD5E1"/>
                </a:solidFill>
                <a:latin typeface="Inter"/>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result, two audiences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For the caller: "Tuesday, October sixth at nine o'clock in the morning"</a:t>
            </a:r>
          </a:p>
          <a:p>
            <a:pPr marL="292608" indent="-292608">
              <a:lnSpc>
                <a:spcPct val="120000"/>
              </a:lnSpc>
              <a:spcAft>
                <a:spcPts val="1539"/>
              </a:spcAft>
              <a:buClr>
                <a:srgbClr val="00D4AA"/>
              </a:buClr>
              <a:buFont typeface="Inter"/>
              <a:buChar char="•"/>
            </a:pPr>
            <a:r>
              <a:rPr sz="2200" b="0">
                <a:solidFill>
                  <a:srgbClr val="FFFFFF"/>
                </a:solidFill>
                <a:latin typeface="Inter"/>
              </a:rPr>
              <a:t>For the booking tool: </a:t>
            </a:r>
            <a:r>
              <a:rPr sz="2024" b="0">
                <a:solidFill>
                  <a:srgbClr val="00D4AA"/>
                </a:solidFill>
                <a:latin typeface="JetBrains Mono"/>
              </a:rPr>
              <a:t>[slot_start=2026-10-06T09:00]</a:t>
            </a:r>
          </a:p>
          <a:p>
            <a:pPr marL="292608" indent="-292608">
              <a:lnSpc>
                <a:spcPct val="120000"/>
              </a:lnSpc>
              <a:spcAft>
                <a:spcPts val="1539"/>
              </a:spcAft>
              <a:buClr>
                <a:srgbClr val="00D4AA"/>
              </a:buClr>
              <a:buFont typeface="Inter"/>
              <a:buChar char="•"/>
            </a:pPr>
            <a:r>
              <a:rPr sz="2200" b="0">
                <a:solidFill>
                  <a:srgbClr val="FFFFFF"/>
                </a:solidFill>
                <a:latin typeface="Inter"/>
              </a:rPr>
              <a:t>For the model: offer the words, book with </a:t>
            </a:r>
            <a:r>
              <a:rPr sz="2024" b="0">
                <a:solidFill>
                  <a:srgbClr val="00D4AA"/>
                </a:solidFill>
                <a:latin typeface="JetBrains Mono"/>
              </a:rPr>
              <a:t>slot_start</a:t>
            </a:r>
            <a:r>
              <a:rPr sz="2200" b="0">
                <a:solidFill>
                  <a:srgbClr val="FFFFFF"/>
                </a:solidFill>
                <a:latin typeface="Inter"/>
              </a:rPr>
              <a:t>, never read the tag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Slot filling, for free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Required arguments: </a:t>
            </a:r>
            <a:r>
              <a:rPr sz="2024" b="0">
                <a:solidFill>
                  <a:srgbClr val="00D4AA"/>
                </a:solidFill>
                <a:latin typeface="JetBrains Mono"/>
              </a:rPr>
              <a:t>patient_name</a:t>
            </a:r>
            <a:r>
              <a:rPr sz="2200" b="0">
                <a:solidFill>
                  <a:srgbClr val="FFFFFF"/>
                </a:solidFill>
                <a:latin typeface="Inter"/>
              </a:rPr>
              <a:t>, </a:t>
            </a:r>
            <a:r>
              <a:rPr sz="2024" b="0">
                <a:solidFill>
                  <a:srgbClr val="00D4AA"/>
                </a:solidFill>
                <a:latin typeface="JetBrains Mono"/>
              </a:rPr>
              <a:t>phone</a:t>
            </a:r>
            <a:r>
              <a:rPr sz="2200" b="0">
                <a:solidFill>
                  <a:srgbClr val="FFFFFF"/>
                </a:solidFill>
                <a:latin typeface="Inter"/>
              </a:rPr>
              <a:t>, </a:t>
            </a:r>
            <a:r>
              <a:rPr sz="2024" b="0">
                <a:solidFill>
                  <a:srgbClr val="00D4AA"/>
                </a:solidFill>
                <a:latin typeface="JetBrains Mono"/>
              </a:rPr>
              <a:t>slot_start</a:t>
            </a:r>
            <a:r>
              <a:rPr sz="2200" b="0">
                <a:solidFill>
                  <a:srgbClr val="FFFFFF"/>
                </a:solidFill>
                <a:latin typeface="Inter"/>
              </a:rPr>
              <a:t>, </a:t>
            </a:r>
            <a:r>
              <a:rPr sz="2024" b="0">
                <a:solidFill>
                  <a:srgbClr val="00D4AA"/>
                </a:solidFill>
                <a:latin typeface="JetBrains Mono"/>
              </a:rPr>
              <a:t>reason</a:t>
            </a:r>
          </a:p>
          <a:p>
            <a:pPr marL="292608" indent="-292608">
              <a:lnSpc>
                <a:spcPct val="120000"/>
              </a:lnSpc>
              <a:spcAft>
                <a:spcPts val="1539"/>
              </a:spcAft>
              <a:buClr>
                <a:srgbClr val="00D4AA"/>
              </a:buClr>
              <a:buFont typeface="Inter"/>
              <a:buChar char="•"/>
            </a:pPr>
            <a:r>
              <a:rPr sz="2200" b="0">
                <a:solidFill>
                  <a:srgbClr val="FFFFFF"/>
                </a:solidFill>
                <a:latin typeface="Inter"/>
              </a:rPr>
              <a:t>The LLM can't call the tool until it has all four</a:t>
            </a:r>
          </a:p>
          <a:p>
            <a:pPr marL="292608" indent="-292608">
              <a:lnSpc>
                <a:spcPct val="120000"/>
              </a:lnSpc>
              <a:spcAft>
                <a:spcPts val="1539"/>
              </a:spcAft>
              <a:buClr>
                <a:srgbClr val="00D4AA"/>
              </a:buClr>
              <a:buFont typeface="Inter"/>
              <a:buChar char="•"/>
            </a:pPr>
            <a:r>
              <a:rPr sz="2200" b="0">
                <a:solidFill>
                  <a:srgbClr val="FFFFFF"/>
                </a:solidFill>
                <a:latin typeface="Inter"/>
              </a:rPr>
              <a:t>The prompt says: ask for them one at a time</a:t>
            </a:r>
          </a:p>
          <a:p>
            <a:pPr marL="292608" indent="-292608">
              <a:lnSpc>
                <a:spcPct val="120000"/>
              </a:lnSpc>
              <a:spcAft>
                <a:spcPts val="1539"/>
              </a:spcAft>
              <a:buClr>
                <a:srgbClr val="00D4AA"/>
              </a:buClr>
              <a:buFont typeface="Inter"/>
              <a:buChar char="•"/>
            </a:pPr>
            <a:r>
              <a:rPr sz="2200" b="0">
                <a:solidFill>
                  <a:srgbClr val="FFFFFF"/>
                </a:solidFill>
                <a:latin typeface="Inter"/>
              </a:rPr>
              <a:t>Result: a natural, one-question-at-a-time conversation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Tools are thin wrappers over the scheduler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Results carry spoken text plus </a:t>
            </a:r>
            <a:r>
              <a:rPr sz="1656" b="0">
                <a:solidFill>
                  <a:srgbClr val="00D4AA"/>
                </a:solidFill>
                <a:latin typeface="JetBrains Mono"/>
              </a:rPr>
              <a:t>slot_start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Required arguments drive slot filling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Confirmation and read-back patterns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make read-backs reliable and handle the caller who says "no, Thursday" at the last second.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Confirmation and read-back patterns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why irreversible actions need an explicit read-back and a clear "yes" before the tool runs.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read-backs matter on voice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STT mishears: "fifteen" vs "fifty", "Tuesday" vs "Thursday"</a:t>
            </a:r>
          </a:p>
          <a:p>
            <a:pPr marL="292608" indent="-292608">
              <a:lnSpc>
                <a:spcPct val="120000"/>
              </a:lnSpc>
              <a:spcAft>
                <a:spcPts val="1539"/>
              </a:spcAft>
              <a:buClr>
                <a:srgbClr val="00D4AA"/>
              </a:buClr>
              <a:buFont typeface="Inter"/>
              <a:buChar char="•"/>
            </a:pPr>
            <a:r>
              <a:rPr sz="2200" b="0">
                <a:solidFill>
                  <a:srgbClr val="FFFFFF"/>
                </a:solidFill>
                <a:latin typeface="Inter"/>
              </a:rPr>
              <a:t>Callers change their minds mid-flow</a:t>
            </a:r>
          </a:p>
          <a:p>
            <a:pPr marL="292608" indent="-292608">
              <a:lnSpc>
                <a:spcPct val="120000"/>
              </a:lnSpc>
              <a:spcAft>
                <a:spcPts val="1539"/>
              </a:spcAft>
              <a:buClr>
                <a:srgbClr val="00D4AA"/>
              </a:buClr>
              <a:buFont typeface="Inter"/>
              <a:buChar char="•"/>
            </a:pPr>
            <a:r>
              <a:rPr sz="2200" b="0">
                <a:solidFill>
                  <a:srgbClr val="FFFFFF"/>
                </a:solidFill>
                <a:latin typeface="Inter"/>
              </a:rPr>
              <a:t>A wrong booking costs a real person a wasted trip</a:t>
            </a:r>
          </a:p>
          <a:p>
            <a:pPr marL="292608" indent="-292608">
              <a:lnSpc>
                <a:spcPct val="120000"/>
              </a:lnSpc>
              <a:spcAft>
                <a:spcPts val="1539"/>
              </a:spcAft>
              <a:buClr>
                <a:srgbClr val="00D4AA"/>
              </a:buClr>
              <a:buFont typeface="Inter"/>
              <a:buChar char="•"/>
            </a:pPr>
            <a:r>
              <a:rPr sz="2200" b="0">
                <a:solidFill>
                  <a:srgbClr val="FFFFFF"/>
                </a:solidFill>
                <a:latin typeface="Inter"/>
              </a:rPr>
              <a:t>Rule: read back, ask, wait for a clear yes, then act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good read-back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One sentence, every critical field</a:t>
            </a:r>
          </a:p>
          <a:p>
            <a:pPr marL="292608" indent="-292608">
              <a:lnSpc>
                <a:spcPct val="120000"/>
              </a:lnSpc>
              <a:spcAft>
                <a:spcPts val="1539"/>
              </a:spcAft>
              <a:buClr>
                <a:srgbClr val="00D4AA"/>
              </a:buClr>
              <a:buFont typeface="Inter"/>
              <a:buChar char="•"/>
            </a:pPr>
            <a:r>
              <a:rPr sz="2200" b="0">
                <a:solidFill>
                  <a:srgbClr val="FFFFFF"/>
                </a:solidFill>
                <a:latin typeface="Inter"/>
              </a:rPr>
              <a:t>Weekday plus date (catches "Tuesday vs Thursday")</a:t>
            </a:r>
          </a:p>
          <a:p>
            <a:pPr marL="292608" indent="-292608">
              <a:lnSpc>
                <a:spcPct val="120000"/>
              </a:lnSpc>
              <a:spcAft>
                <a:spcPts val="1539"/>
              </a:spcAft>
              <a:buClr>
                <a:srgbClr val="00D4AA"/>
              </a:buClr>
              <a:buFont typeface="Inter"/>
              <a:buChar char="•"/>
            </a:pPr>
            <a:r>
              <a:rPr sz="2200" b="0">
                <a:solidFill>
                  <a:srgbClr val="FFFFFF"/>
                </a:solidFill>
                <a:latin typeface="Inter"/>
              </a:rPr>
              <a:t>Ends with a yes-or-no question</a:t>
            </a:r>
          </a:p>
        </p:txBody>
      </p:sp>
      <p:sp>
        <p:nvSpPr>
          <p:cNvPr id="6" name="TextBox 5"/>
          <p:cNvSpPr txBox="1"/>
          <p:nvPr/>
        </p:nvSpPr>
        <p:spPr>
          <a:xfrm>
            <a:off x="640080" y="5257800"/>
            <a:ext cx="10607040" cy="105156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"Just to confirm: Alex Kim, Thursday, October eighth at two in the afternoon, for a cleaning. Shall I go ahead?"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to read back, per action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2221542"/>
                <a:gridCol w="9071297"/>
              </a:tblGrid>
              <a:tr h="384048">
                <a:tc>
                  <a:txBody>
                    <a:bodyPr wrap="square"/>
                    <a:lstStyle/>
                    <a:p>
                      <a:r>
                        <a:rPr sz="1200" b="1">
                          <a:solidFill>
                            <a:srgbClr val="0A1628"/>
                          </a:solidFill>
                          <a:latin typeface="Inter"/>
                        </a:rPr>
                        <a:t>Action</a:t>
                      </a:r>
                    </a:p>
                  </a:txBody>
                  <a:tcPr marL="91440" marR="91440" marT="45720" marB="45720" anchor="ctr">
                    <a:solidFill>
                      <a:srgbClr val="00D4AA"/>
                    </a:solidFill>
                  </a:tcPr>
                </a:tc>
                <a:tc>
                  <a:txBody>
                    <a:bodyPr wrap="square"/>
                    <a:lstStyle/>
                    <a:p>
                      <a:r>
                        <a:rPr sz="1200" b="1">
                          <a:solidFill>
                            <a:srgbClr val="0A1628"/>
                          </a:solidFill>
                          <a:latin typeface="Inter"/>
                        </a:rPr>
                        <a:t>Read back</a:t>
                      </a:r>
                    </a:p>
                  </a:txBody>
                  <a:tcPr marL="91440" marR="91440" marT="45720" marB="45720" anchor="ctr">
                    <a:solidFill>
                      <a:srgbClr val="00D4AA"/>
                    </a:solidFill>
                  </a:tcPr>
                </a:tc>
              </a:tr>
              <a:tr h="384048">
                <a:tc>
                  <a:txBody>
                    <a:bodyPr wrap="square"/>
                    <a:lstStyle/>
                    <a:p>
                      <a:r>
                        <a:rPr sz="1200" b="1">
                          <a:solidFill>
                            <a:srgbClr val="FFFFFF"/>
                          </a:solidFill>
                          <a:latin typeface="Inter"/>
                        </a:rPr>
                        <a:t>Book</a:t>
                      </a:r>
                    </a:p>
                  </a:txBody>
                  <a:tcPr marL="91440" marR="91440" marT="45720" marB="45720" anchor="ctr">
                    <a:solidFill>
                      <a:srgbClr val="1A2742"/>
                    </a:solidFill>
                  </a:tcPr>
                </a:tc>
                <a:tc>
                  <a:txBody>
                    <a:bodyPr wrap="square"/>
                    <a:lstStyle/>
                    <a:p>
                      <a:r>
                        <a:rPr sz="1200" b="0">
                          <a:solidFill>
                            <a:srgbClr val="FFFFFF"/>
                          </a:solidFill>
                          <a:latin typeface="Inter"/>
                        </a:rPr>
                        <a:t>Name, weekday + date, time, reason</a:t>
                      </a:r>
                    </a:p>
                  </a:txBody>
                  <a:tcPr marL="91440" marR="91440" marT="45720" marB="45720" anchor="ctr">
                    <a:solidFill>
                      <a:srgbClr val="1A2742"/>
                    </a:solidFill>
                  </a:tcPr>
                </a:tc>
              </a:tr>
              <a:tr h="384048">
                <a:tc>
                  <a:txBody>
                    <a:bodyPr wrap="square"/>
                    <a:lstStyle/>
                    <a:p>
                      <a:r>
                        <a:rPr sz="1200" b="1">
                          <a:solidFill>
                            <a:srgbClr val="FFFFFF"/>
                          </a:solidFill>
                          <a:latin typeface="Inter"/>
                        </a:rPr>
                        <a:t>Reschedule</a:t>
                      </a:r>
                    </a:p>
                  </a:txBody>
                  <a:tcPr marL="91440" marR="91440" marT="45720" marB="45720" anchor="ctr">
                    <a:solidFill>
                      <a:srgbClr val="0F1E35"/>
                    </a:solidFill>
                  </a:tcPr>
                </a:tc>
                <a:tc>
                  <a:txBody>
                    <a:bodyPr wrap="square"/>
                    <a:lstStyle/>
                    <a:p>
                      <a:r>
                        <a:rPr sz="1200" b="0">
                          <a:solidFill>
                            <a:srgbClr val="FFFFFF"/>
                          </a:solidFill>
                          <a:latin typeface="Inter"/>
                        </a:rPr>
                        <a:t>Old time → new time</a:t>
                      </a:r>
                    </a:p>
                  </a:txBody>
                  <a:tcPr marL="91440" marR="91440" marT="45720" marB="45720" anchor="ctr">
                    <a:solidFill>
                      <a:srgbClr val="0F1E35"/>
                    </a:solidFill>
                  </a:tcPr>
                </a:tc>
              </a:tr>
              <a:tr h="384048">
                <a:tc>
                  <a:txBody>
                    <a:bodyPr wrap="square"/>
                    <a:lstStyle/>
                    <a:p>
                      <a:r>
                        <a:rPr sz="1200" b="1">
                          <a:solidFill>
                            <a:srgbClr val="FFFFFF"/>
                          </a:solidFill>
                          <a:latin typeface="Inter"/>
                        </a:rPr>
                        <a:t>Cancel</a:t>
                      </a:r>
                    </a:p>
                  </a:txBody>
                  <a:tcPr marL="91440" marR="91440" marT="45720" marB="45720" anchor="ctr">
                    <a:solidFill>
                      <a:srgbClr val="1A2742"/>
                    </a:solidFill>
                  </a:tcPr>
                </a:tc>
                <a:tc>
                  <a:txBody>
                    <a:bodyPr wrap="square"/>
                    <a:lstStyle/>
                    <a:p>
                      <a:r>
                        <a:rPr sz="1200" b="0">
                          <a:solidFill>
                            <a:srgbClr val="FFFFFF"/>
                          </a:solidFill>
                          <a:latin typeface="Inter"/>
                        </a:rPr>
                        <a:t>Which appointment, plus any late-cancellation fee</a:t>
                      </a:r>
                    </a:p>
                  </a:txBody>
                  <a:tcPr marL="91440" marR="91440" marT="45720" marB="45720" anchor="ctr">
                    <a:solidFill>
                      <a:srgbClr val="1A2742"/>
                    </a:solidFill>
                  </a:tcPr>
                </a:tc>
              </a:tr>
              <a:tr h="384048">
                <a:tc>
                  <a:txBody>
                    <a:bodyPr wrap="square"/>
                    <a:lstStyle/>
                    <a:p>
                      <a:r>
                        <a:rPr sz="1200" b="1">
                          <a:solidFill>
                            <a:srgbClr val="FFFFFF"/>
                          </a:solidFill>
                          <a:latin typeface="Inter"/>
                        </a:rPr>
                        <a:t>Phone number</a:t>
                      </a:r>
                    </a:p>
                  </a:txBody>
                  <a:tcPr marL="91440" marR="91440" marT="45720" marB="45720" anchor="ctr">
                    <a:solidFill>
                      <a:srgbClr val="0F1E35"/>
                    </a:solidFill>
                  </a:tcPr>
                </a:tc>
                <a:tc>
                  <a:txBody>
                    <a:bodyPr wrap="square"/>
                    <a:lstStyle/>
                    <a:p>
                      <a:r>
                        <a:rPr sz="1200" b="0">
                          <a:solidFill>
                            <a:srgbClr val="FFFFFF"/>
                          </a:solidFill>
                          <a:latin typeface="Inter"/>
                        </a:rPr>
                        <a:t>Digits in three groups</a:t>
                      </a:r>
                    </a:p>
                  </a:txBody>
                  <a:tcPr marL="91440" marR="91440" marT="45720" marB="45720" anchor="ctr">
                    <a:solidFill>
                      <a:srgbClr val="0F1E35"/>
                    </a:solidFill>
                  </a:tcPr>
                </a:tc>
              </a:tr>
              <a:tr h="384048">
                <a:tc>
                  <a:txBody>
                    <a:bodyPr wrap="square"/>
                    <a:lstStyle/>
                    <a:p>
                      <a:r>
                        <a:rPr sz="1200" b="1">
                          <a:solidFill>
                            <a:srgbClr val="FFFFFF"/>
                          </a:solidFill>
                          <a:latin typeface="Inter"/>
                        </a:rPr>
                        <a:t>Last name</a:t>
                      </a:r>
                    </a:p>
                  </a:txBody>
                  <a:tcPr marL="91440" marR="91440" marT="45720" marB="45720" anchor="ctr">
                    <a:solidFill>
                      <a:srgbClr val="1A2742"/>
                    </a:solidFill>
                  </a:tcPr>
                </a:tc>
                <a:tc>
                  <a:txBody>
                    <a:bodyPr wrap="square"/>
                    <a:lstStyle/>
                    <a:p>
                      <a:r>
                        <a:rPr sz="1200" b="0">
                          <a:solidFill>
                            <a:srgbClr val="FFFFFF"/>
                          </a:solidFill>
                          <a:latin typeface="Inter"/>
                        </a:rPr>
                        <a:t>Spelled letter by letter (Section 4)</a:t>
                      </a:r>
                    </a:p>
                  </a:txBody>
                  <a:tcPr marL="91440" marR="91440" marT="45720" marB="45720" anchor="ctr">
                    <a:solidFill>
                      <a:srgbClr val="1A2742"/>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Prompts are not guarantees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model follows the read-back rule most of the time, not always</a:t>
            </a:r>
          </a:p>
          <a:p>
            <a:pPr marL="292608" indent="-292608">
              <a:lnSpc>
                <a:spcPct val="120000"/>
              </a:lnSpc>
              <a:spcAft>
                <a:spcPts val="1539"/>
              </a:spcAft>
              <a:buClr>
                <a:srgbClr val="00D4AA"/>
              </a:buClr>
              <a:buFont typeface="Inter"/>
              <a:buChar char="•"/>
            </a:pPr>
            <a:r>
              <a:rPr sz="2200" b="0">
                <a:solidFill>
                  <a:srgbClr val="FFFFFF"/>
                </a:solidFill>
                <a:latin typeface="Inter"/>
              </a:rPr>
              <a:t>Section 9: a test fails if </a:t>
            </a:r>
            <a:r>
              <a:rPr sz="2024" b="0">
                <a:solidFill>
                  <a:srgbClr val="00D4AA"/>
                </a:solidFill>
                <a:latin typeface="JetBrains Mono"/>
              </a:rPr>
              <a:t>book_appointment</a:t>
            </a:r>
            <a:r>
              <a:rPr sz="2200" b="0">
                <a:solidFill>
                  <a:srgbClr val="FFFFFF"/>
                </a:solidFill>
                <a:latin typeface="Inter"/>
              </a:rPr>
              <a:t> runs before a "yes"</a:t>
            </a:r>
          </a:p>
          <a:p>
            <a:pPr marL="292608" indent="-292608">
              <a:lnSpc>
                <a:spcPct val="120000"/>
              </a:lnSpc>
              <a:spcAft>
                <a:spcPts val="1539"/>
              </a:spcAft>
              <a:buClr>
                <a:srgbClr val="00D4AA"/>
              </a:buClr>
              <a:buFont typeface="Inter"/>
              <a:buChar char="•"/>
            </a:pPr>
            <a:r>
              <a:rPr sz="2200" b="0">
                <a:solidFill>
                  <a:srgbClr val="FFFFFF"/>
                </a:solidFill>
                <a:latin typeface="Inter"/>
              </a:rPr>
              <a:t>Section 11: code-level confirmation gates for irreversible actions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back every critical detail in one sentence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Act only on a clear yes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Corrections trigger a fresh check and read-back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Hiding latency while tools run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may have noticed a pause while Riley checks the calendar, so next we'll hide that latency with…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Hiding latency while tools run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Use </a:t>
            </a:r>
            <a:r>
              <a:rPr sz="1472" b="0">
                <a:solidFill>
                  <a:srgbClr val="00D4AA"/>
                </a:solidFill>
                <a:latin typeface="JetBrains Mono"/>
              </a:rPr>
              <a:t>context.with_filler(..., delay=...)</a:t>
            </a:r>
            <a:r>
              <a:rPr sz="1600" b="0">
                <a:solidFill>
                  <a:srgbClr val="CBD5E1"/>
                </a:solidFill>
                <a:latin typeface="Inter"/>
              </a:rPr>
              <a:t> so Riley speaks only when a tool is actually slow.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the delay matters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Tool finishes in 300 ms: no filler, answer arrives fast</a:t>
            </a:r>
          </a:p>
          <a:p>
            <a:pPr marL="292608" indent="-292608">
              <a:lnSpc>
                <a:spcPct val="120000"/>
              </a:lnSpc>
              <a:spcAft>
                <a:spcPts val="1539"/>
              </a:spcAft>
              <a:buClr>
                <a:srgbClr val="00D4AA"/>
              </a:buClr>
              <a:buFont typeface="Inter"/>
              <a:buChar char="•"/>
            </a:pPr>
            <a:r>
              <a:rPr sz="2200" b="0">
                <a:solidFill>
                  <a:srgbClr val="FFFFFF"/>
                </a:solidFill>
                <a:latin typeface="Inter"/>
              </a:rPr>
              <a:t>Tool takes 2 s: filler at 0.8 s, answer after</a:t>
            </a:r>
          </a:p>
          <a:p>
            <a:pPr marL="292608" indent="-292608">
              <a:lnSpc>
                <a:spcPct val="120000"/>
              </a:lnSpc>
              <a:spcAft>
                <a:spcPts val="1539"/>
              </a:spcAft>
              <a:buClr>
                <a:srgbClr val="00D4AA"/>
              </a:buClr>
              <a:buFont typeface="Inter"/>
              <a:buChar char="•"/>
            </a:pPr>
            <a:r>
              <a:rPr sz="2200" b="0">
                <a:solidFill>
                  <a:srgbClr val="FFFFFF"/>
                </a:solidFill>
                <a:latin typeface="Inter"/>
              </a:rPr>
              <a:t>A filler on every fast call sounds robotic and wastes time</a:t>
            </a:r>
          </a:p>
          <a:p>
            <a:pPr marL="292608" indent="-292608">
              <a:lnSpc>
                <a:spcPct val="120000"/>
              </a:lnSpc>
              <a:spcAft>
                <a:spcPts val="1539"/>
              </a:spcAft>
              <a:buClr>
                <a:srgbClr val="00D4AA"/>
              </a:buClr>
              <a:buFont typeface="Inter"/>
              <a:buChar char="•"/>
            </a:pPr>
            <a:r>
              <a:rPr sz="2200" b="0">
                <a:solidFill>
                  <a:srgbClr val="FFFFFF"/>
                </a:solidFill>
                <a:latin typeface="Inter"/>
              </a:rPr>
              <a:t>Fillers speak only when the session is idle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Filler vs </a:t>
            </a:r>
            <a:r>
              <a:rPr sz="2392" b="0">
                <a:solidFill>
                  <a:srgbClr val="00D4AA"/>
                </a:solidFill>
                <a:latin typeface="JetBrains Mono"/>
              </a:rPr>
              <a:t>session.say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94A3B8"/>
                </a:solidFill>
                <a:latin typeface="JetBrains Mono"/>
              </a:rPr>
              <a:t># Manual: always speaks, even if the tool is fast</a:t>
            </a:r>
          </a:p>
          <a:p>
            <a:r>
              <a:rPr sz="1200">
                <a:solidFill>
                  <a:srgbClr val="FFFFFF"/>
                </a:solidFill>
                <a:latin typeface="JetBrains Mono"/>
              </a:rPr>
              <a:t>context.session.say("Let me check that for you.")</a:t>
            </a:r>
          </a:p>
          <a:p>
            <a:r>
              <a:rPr sz="1200">
                <a:solidFill>
                  <a:srgbClr val="FFFFFF"/>
                </a:solidFill>
                <a:latin typeface="JetBrains Mono"/>
              </a:rPr>
              <a:t> </a:t>
            </a:r>
          </a:p>
          <a:p>
            <a:r>
              <a:rPr sz="1200">
                <a:solidFill>
                  <a:srgbClr val="94A3B8"/>
                </a:solidFill>
                <a:latin typeface="JetBrains Mono"/>
              </a:rPr>
              <a:t># with_filler: speaks only if the work is still running after `delay`</a:t>
            </a:r>
          </a:p>
          <a:p>
            <a:r>
              <a:rPr sz="1200">
                <a:solidFill>
                  <a:srgbClr val="FFFFFF"/>
                </a:solidFill>
                <a:latin typeface="JetBrains Mono"/>
              </a:rPr>
              <a:t>async with context.with_filler("One moment while I check the schedule.", delay=0.8):</a:t>
            </a:r>
          </a:p>
          <a:p>
            <a:r>
              <a:rPr sz="1200">
                <a:solidFill>
                  <a:srgbClr val="FFFFFF"/>
                </a:solidFill>
                <a:latin typeface="JetBrains Mono"/>
              </a:rPr>
              <a:t>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Filler lines that work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Short: under about two seconds of speech</a:t>
            </a:r>
          </a:p>
          <a:p>
            <a:pPr marL="292608" indent="-292608">
              <a:lnSpc>
                <a:spcPct val="120000"/>
              </a:lnSpc>
              <a:spcAft>
                <a:spcPts val="1539"/>
              </a:spcAft>
              <a:buClr>
                <a:srgbClr val="00D4AA"/>
              </a:buClr>
              <a:buFont typeface="Inter"/>
              <a:buChar char="•"/>
            </a:pPr>
            <a:r>
              <a:rPr sz="2200" b="0">
                <a:solidFill>
                  <a:srgbClr val="FFFFFF"/>
                </a:solidFill>
                <a:latin typeface="Inter"/>
              </a:rPr>
              <a:t>Specific: "check the schedule", not "processing"</a:t>
            </a:r>
          </a:p>
          <a:p>
            <a:pPr marL="292608" indent="-292608">
              <a:lnSpc>
                <a:spcPct val="120000"/>
              </a:lnSpc>
              <a:spcAft>
                <a:spcPts val="1539"/>
              </a:spcAft>
              <a:buClr>
                <a:srgbClr val="00D4AA"/>
              </a:buClr>
              <a:buFont typeface="Inter"/>
              <a:buChar char="•"/>
            </a:pPr>
            <a:r>
              <a:rPr sz="2200" b="0">
                <a:solidFill>
                  <a:srgbClr val="FFFFFF"/>
                </a:solidFill>
                <a:latin typeface="Inter"/>
              </a:rPr>
              <a:t>Varied per tool: lookup, booking, moving, cancelling</a:t>
            </a:r>
          </a:p>
          <a:p>
            <a:pPr marL="292608" indent="-292608">
              <a:lnSpc>
                <a:spcPct val="120000"/>
              </a:lnSpc>
              <a:spcAft>
                <a:spcPts val="1539"/>
              </a:spcAft>
              <a:buClr>
                <a:srgbClr val="00D4AA"/>
              </a:buClr>
              <a:buFont typeface="Inter"/>
              <a:buChar char="•"/>
            </a:pPr>
            <a:r>
              <a:rPr sz="2200" b="0">
                <a:solidFill>
                  <a:srgbClr val="FFFFFF"/>
                </a:solidFill>
                <a:latin typeface="Inter"/>
              </a:rPr>
              <a:t>Never promise a result: "Let me check", not "I've found you a slot"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with_filler</a:t>
            </a:r>
            <a:r>
              <a:rPr sz="1800" b="1">
                <a:solidFill>
                  <a:srgbClr val="FFFFFF"/>
                </a:solidFill>
                <a:latin typeface="Inter"/>
              </a:rPr>
              <a:t> speaks only when a tool is slow</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session.say</a:t>
            </a:r>
            <a:r>
              <a:rPr sz="1800" b="1">
                <a:solidFill>
                  <a:srgbClr val="FFFFFF"/>
                </a:solidFill>
                <a:latin typeface="Inter"/>
              </a:rPr>
              <a:t> for lines that must always play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disallow_interruptions()</a:t>
            </a:r>
            <a:r>
              <a:rPr sz="1800" b="1">
                <a:solidFill>
                  <a:srgbClr val="FFFFFF"/>
                </a:solidFill>
                <a:latin typeface="Inter"/>
              </a:rPr>
              <a:t> protects commits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Reschedule, cancel and tool errors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Riley learns to reschedule and cancel, and to turn scheduling errors into speakable </a:t>
            </a:r>
            <a:r>
              <a:rPr sz="1288" b="0">
                <a:solidFill>
                  <a:srgbClr val="00D4AA"/>
                </a:solidFill>
                <a:latin typeface="JetBrains Mono"/>
              </a:rPr>
              <a:t>ToolError</a:t>
            </a:r>
            <a:r>
              <a:rPr sz="1400" b="0">
                <a:solidFill>
                  <a:srgbClr val="94A3B8"/>
                </a:solidFill>
                <a:latin typeface="Inter"/>
              </a:rPr>
              <a:t> messages.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Reschedule, cancel and tool errors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Implement </a:t>
            </a:r>
            <a:r>
              <a:rPr sz="1472" b="0">
                <a:solidFill>
                  <a:srgbClr val="00D4AA"/>
                </a:solidFill>
                <a:latin typeface="JetBrains Mono"/>
              </a:rPr>
              <a:t>reschedule_appointment</a:t>
            </a:r>
            <a:r>
              <a:rPr sz="1600" b="0">
                <a:solidFill>
                  <a:srgbClr val="CBD5E1"/>
                </a:solidFill>
                <a:latin typeface="Inter"/>
              </a:rPr>
              <a:t> and </a:t>
            </a:r>
            <a:r>
              <a:rPr sz="1472" b="0">
                <a:solidFill>
                  <a:srgbClr val="00D4AA"/>
                </a:solidFill>
                <a:latin typeface="JetBrains Mono"/>
              </a:rPr>
              <a:t>cancel_appointment</a:t>
            </a:r>
            <a:r>
              <a:rPr sz="1600" b="0">
                <a:solidFill>
                  <a:srgbClr val="CBD5E1"/>
                </a:solidFill>
                <a:latin typeface="Inter"/>
              </a:rPr>
              <a:t> as thin wrappers with read-backs.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kinds of failure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194560"/>
        </p:xfrm>
        <a:graphic>
          <a:graphicData uri="http://schemas.openxmlformats.org/drawingml/2006/table">
            <a:tbl>
              <a:tblPr firstRow="1" bandRow="1">
                <a:tableStyleId>{5C22544A-7EE6-4342-B048-85BDC9FD1C3A}</a:tableStyleId>
              </a:tblPr>
              <a:tblGrid>
                <a:gridCol w="1759923"/>
                <a:gridCol w="4839788"/>
                <a:gridCol w="4693128"/>
              </a:tblGrid>
              <a:tr h="438912">
                <a:tc>
                  <a:txBody>
                    <a:bodyPr wrap="square"/>
                    <a:lstStyle/>
                    <a:p/>
                  </a:txBody>
                  <a:tcPr marL="91440" marR="91440" marT="45720" marB="45720" anchor="ctr">
                    <a:solidFill>
                      <a:srgbClr val="00D4AA"/>
                    </a:solidFill>
                  </a:tcPr>
                </a:tc>
                <a:tc>
                  <a:txBody>
                    <a:bodyPr wrap="square"/>
                    <a:lstStyle/>
                    <a:p>
                      <a:r>
                        <a:rPr sz="1400" b="1">
                          <a:solidFill>
                            <a:srgbClr val="0A1628"/>
                          </a:solidFill>
                          <a:latin typeface="Inter"/>
                        </a:rPr>
                        <a:t>Expected (</a:t>
                      </a:r>
                      <a:r>
                        <a:rPr sz="1288" b="0">
                          <a:solidFill>
                            <a:srgbClr val="0A1628"/>
                          </a:solidFill>
                          <a:latin typeface="JetBrains Mono"/>
                        </a:rPr>
                        <a:t>ToolError</a:t>
                      </a:r>
                      <a:r>
                        <a:rPr sz="1400" b="1">
                          <a:solidFill>
                            <a:srgbClr val="0A1628"/>
                          </a:solidFill>
                          <a:latin typeface="Inter"/>
                        </a:rPr>
                        <a:t>)</a:t>
                      </a:r>
                    </a:p>
                  </a:txBody>
                  <a:tcPr marL="91440" marR="91440" marT="45720" marB="45720" anchor="ctr">
                    <a:solidFill>
                      <a:srgbClr val="00D4AA"/>
                    </a:solidFill>
                  </a:tcPr>
                </a:tc>
                <a:tc>
                  <a:txBody>
                    <a:bodyPr wrap="square"/>
                    <a:lstStyle/>
                    <a:p>
                      <a:r>
                        <a:rPr sz="1400" b="1">
                          <a:solidFill>
                            <a:srgbClr val="0A1628"/>
                          </a:solidFill>
                          <a:latin typeface="Inter"/>
                        </a:rPr>
                        <a:t>Unexpected (any other exception)</a:t>
                      </a:r>
                    </a:p>
                  </a:txBody>
                  <a:tcPr marL="91440" marR="91440" marT="45720" marB="45720" anchor="ctr">
                    <a:solidFill>
                      <a:srgbClr val="00D4AA"/>
                    </a:solidFill>
                  </a:tcPr>
                </a:tc>
              </a:tr>
              <a:tr h="438912">
                <a:tc>
                  <a:txBody>
                    <a:bodyPr wrap="square"/>
                    <a:lstStyle/>
                    <a:p>
                      <a:r>
                        <a:rPr sz="1400" b="1">
                          <a:solidFill>
                            <a:srgbClr val="FFFFFF"/>
                          </a:solidFill>
                          <a:latin typeface="Inter"/>
                        </a:rPr>
                        <a:t>Examples</a:t>
                      </a:r>
                    </a:p>
                  </a:txBody>
                  <a:tcPr marL="91440" marR="91440" marT="45720" marB="45720" anchor="ctr">
                    <a:solidFill>
                      <a:srgbClr val="1A2742"/>
                    </a:solidFill>
                  </a:tcPr>
                </a:tc>
                <a:tc>
                  <a:txBody>
                    <a:bodyPr wrap="square"/>
                    <a:lstStyle/>
                    <a:p>
                      <a:r>
                        <a:rPr sz="1400" b="0">
                          <a:solidFill>
                            <a:srgbClr val="FFFFFF"/>
                          </a:solidFill>
                          <a:latin typeface="Inter"/>
                        </a:rPr>
                        <a:t>Closed day, slot taken, bad phone</a:t>
                      </a:r>
                    </a:p>
                  </a:txBody>
                  <a:tcPr marL="91440" marR="91440" marT="45720" marB="45720" anchor="ctr">
                    <a:solidFill>
                      <a:srgbClr val="1A2742"/>
                    </a:solidFill>
                  </a:tcPr>
                </a:tc>
                <a:tc>
                  <a:txBody>
                    <a:bodyPr wrap="square"/>
                    <a:lstStyle/>
                    <a:p>
                      <a:r>
                        <a:rPr sz="1400" b="0">
                          <a:solidFill>
                            <a:srgbClr val="FFFFFF"/>
                          </a:solidFill>
                          <a:latin typeface="Inter"/>
                        </a:rPr>
                        <a:t>Bug, network outage</a:t>
                      </a:r>
                    </a:p>
                  </a:txBody>
                  <a:tcPr marL="91440" marR="91440" marT="45720" marB="45720" anchor="ctr">
                    <a:solidFill>
                      <a:srgbClr val="1A2742"/>
                    </a:solidFill>
                  </a:tcPr>
                </a:tc>
              </a:tr>
              <a:tr h="438912">
                <a:tc>
                  <a:txBody>
                    <a:bodyPr wrap="square"/>
                    <a:lstStyle/>
                    <a:p>
                      <a:r>
                        <a:rPr sz="1400" b="1">
                          <a:solidFill>
                            <a:srgbClr val="FFFFFF"/>
                          </a:solidFill>
                          <a:latin typeface="Inter"/>
                        </a:rPr>
                        <a:t>LLM sees</a:t>
                      </a:r>
                    </a:p>
                  </a:txBody>
                  <a:tcPr marL="91440" marR="91440" marT="45720" marB="45720" anchor="ctr">
                    <a:solidFill>
                      <a:srgbClr val="0F1E35"/>
                    </a:solidFill>
                  </a:tcPr>
                </a:tc>
                <a:tc>
                  <a:txBody>
                    <a:bodyPr wrap="square"/>
                    <a:lstStyle/>
                    <a:p>
                      <a:r>
                        <a:rPr sz="1400" b="0">
                          <a:solidFill>
                            <a:srgbClr val="FFFFFF"/>
                          </a:solidFill>
                          <a:latin typeface="Inter"/>
                        </a:rPr>
                        <a:t>Your message</a:t>
                      </a:r>
                    </a:p>
                  </a:txBody>
                  <a:tcPr marL="91440" marR="91440" marT="45720" marB="45720" anchor="ctr">
                    <a:solidFill>
                      <a:srgbClr val="0F1E35"/>
                    </a:solidFill>
                  </a:tcPr>
                </a:tc>
                <a:tc>
                  <a:txBody>
                    <a:bodyPr wrap="square"/>
                    <a:lstStyle/>
                    <a:p>
                      <a:r>
                        <a:rPr sz="1400" b="0">
                          <a:solidFill>
                            <a:srgbClr val="FFFFFF"/>
                          </a:solidFill>
                          <a:latin typeface="Inter"/>
                        </a:rPr>
                        <a:t>A generic failure</a:t>
                      </a:r>
                    </a:p>
                  </a:txBody>
                  <a:tcPr marL="91440" marR="91440" marT="45720" marB="45720" anchor="ctr">
                    <a:solidFill>
                      <a:srgbClr val="0F1E35"/>
                    </a:solidFill>
                  </a:tcPr>
                </a:tc>
              </a:tr>
              <a:tr h="438912">
                <a:tc>
                  <a:txBody>
                    <a:bodyPr wrap="square"/>
                    <a:lstStyle/>
                    <a:p>
                      <a:r>
                        <a:rPr sz="1400" b="1">
                          <a:solidFill>
                            <a:srgbClr val="FFFFFF"/>
                          </a:solidFill>
                          <a:latin typeface="Inter"/>
                        </a:rPr>
                        <a:t>Caller hears</a:t>
                      </a:r>
                    </a:p>
                  </a:txBody>
                  <a:tcPr marL="91440" marR="91440" marT="45720" marB="45720" anchor="ctr">
                    <a:solidFill>
                      <a:srgbClr val="1A2742"/>
                    </a:solidFill>
                  </a:tcPr>
                </a:tc>
                <a:tc>
                  <a:txBody>
                    <a:bodyPr wrap="square"/>
                    <a:lstStyle/>
                    <a:p>
                      <a:r>
                        <a:rPr sz="1400" b="0">
                          <a:solidFill>
                            <a:srgbClr val="FFFFFF"/>
                          </a:solidFill>
                          <a:latin typeface="Inter"/>
                        </a:rPr>
                        <a:t>A specific, helpful sentence</a:t>
                      </a:r>
                    </a:p>
                  </a:txBody>
                  <a:tcPr marL="91440" marR="91440" marT="45720" marB="45720" anchor="ctr">
                    <a:solidFill>
                      <a:srgbClr val="1A2742"/>
                    </a:solidFill>
                  </a:tcPr>
                </a:tc>
                <a:tc>
                  <a:txBody>
                    <a:bodyPr wrap="square"/>
                    <a:lstStyle/>
                    <a:p>
                      <a:r>
                        <a:rPr sz="1400" b="0">
                          <a:solidFill>
                            <a:srgbClr val="FFFFFF"/>
                          </a:solidFill>
                          <a:latin typeface="Inter"/>
                        </a:rPr>
                        <a:t>A vague apology</a:t>
                      </a:r>
                    </a:p>
                  </a:txBody>
                  <a:tcPr marL="91440" marR="91440" marT="45720" marB="45720" anchor="ctr">
                    <a:solidFill>
                      <a:srgbClr val="1A2742"/>
                    </a:solidFill>
                  </a:tcPr>
                </a:tc>
              </a:tr>
              <a:tr h="438912">
                <a:tc>
                  <a:txBody>
                    <a:bodyPr wrap="square"/>
                    <a:lstStyle/>
                    <a:p>
                      <a:r>
                        <a:rPr sz="1400" b="1">
                          <a:solidFill>
                            <a:srgbClr val="FFFFFF"/>
                          </a:solidFill>
                          <a:latin typeface="Inter"/>
                        </a:rPr>
                        <a:t>You should</a:t>
                      </a:r>
                    </a:p>
                  </a:txBody>
                  <a:tcPr marL="91440" marR="91440" marT="45720" marB="45720" anchor="ctr">
                    <a:solidFill>
                      <a:srgbClr val="0F1E35"/>
                    </a:solidFill>
                  </a:tcPr>
                </a:tc>
                <a:tc>
                  <a:txBody>
                    <a:bodyPr wrap="square"/>
                    <a:lstStyle/>
                    <a:p>
                      <a:r>
                        <a:rPr sz="1400" b="0">
                          <a:solidFill>
                            <a:srgbClr val="FFFFFF"/>
                          </a:solidFill>
                          <a:latin typeface="Inter"/>
                        </a:rPr>
                        <a:t>Write the message for the ear</a:t>
                      </a:r>
                    </a:p>
                  </a:txBody>
                  <a:tcPr marL="91440" marR="91440" marT="45720" marB="45720" anchor="ctr">
                    <a:solidFill>
                      <a:srgbClr val="0F1E35"/>
                    </a:solidFill>
                  </a:tcPr>
                </a:tc>
                <a:tc>
                  <a:txBody>
                    <a:bodyPr wrap="square"/>
                    <a:lstStyle/>
                    <a:p>
                      <a:r>
                        <a:rPr sz="1400" b="0">
                          <a:solidFill>
                            <a:srgbClr val="FFFFFF"/>
                          </a:solidFill>
                          <a:latin typeface="Inter"/>
                        </a:rPr>
                        <a:t>Log it, alert, fix it</a:t>
                      </a:r>
                    </a:p>
                  </a:txBody>
                  <a:tcPr marL="91440" marR="91440" marT="45720" marB="45720" anchor="ctr">
                    <a:solidFill>
                      <a:srgbClr val="0F1E35"/>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Expected failures become speakable </a:t>
            </a:r>
            <a:r>
              <a:rPr sz="1656" b="0">
                <a:solidFill>
                  <a:srgbClr val="00D4AA"/>
                </a:solidFill>
                <a:latin typeface="JetBrains Mono"/>
              </a:rPr>
              <a:t>ToolError</a:t>
            </a:r>
            <a:r>
              <a:rPr sz="1800" b="1">
                <a:solidFill>
                  <a:srgbClr val="FFFFFF"/>
                </a:solidFill>
                <a:latin typeface="Inter"/>
              </a:rPr>
              <a: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error message includes a next step</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Unexpected crashes stay loud, so you fix them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Session state with userdata</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Our tools each work alone, so next we'll give them shared memory for the call with typed userdata.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Session state with userdata</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Define typed per-call state with a </a:t>
            </a:r>
            <a:r>
              <a:rPr sz="1472" b="0">
                <a:solidFill>
                  <a:srgbClr val="00D4AA"/>
                </a:solidFill>
                <a:latin typeface="JetBrains Mono"/>
              </a:rPr>
              <a:t>@dataclass</a:t>
            </a:r>
            <a:r>
              <a:rPr sz="1600" b="0">
                <a:solidFill>
                  <a:srgbClr val="CBD5E1"/>
                </a:solidFill>
                <a:latin typeface="Inter"/>
              </a:rPr>
              <a:t> and attach it with </a:t>
            </a:r>
            <a:r>
              <a:rPr sz="1472" b="0">
                <a:solidFill>
                  <a:srgbClr val="00D4AA"/>
                </a:solidFill>
                <a:latin typeface="JetBrains Mono"/>
              </a:rPr>
              <a:t>userdata=</a:t>
            </a:r>
            <a:r>
              <a:rPr sz="1600" b="0">
                <a:solidFill>
                  <a:srgbClr val="CBD5E1"/>
                </a:solidFill>
                <a:latin typeface="Inter"/>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userdata lives on the session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One </a:t>
            </a:r>
            <a:r>
              <a:rPr sz="2024" b="0">
                <a:solidFill>
                  <a:srgbClr val="00D4AA"/>
                </a:solidFill>
                <a:latin typeface="JetBrains Mono"/>
              </a:rPr>
              <a:t>CallState</a:t>
            </a:r>
            <a:r>
              <a:rPr sz="2200" b="0">
                <a:solidFill>
                  <a:srgbClr val="FFFFFF"/>
                </a:solidFill>
                <a:latin typeface="Inter"/>
              </a:rPr>
              <a:t> per call, not per agent</a:t>
            </a:r>
          </a:p>
          <a:p>
            <a:pPr marL="292608" indent="-292608">
              <a:lnSpc>
                <a:spcPct val="120000"/>
              </a:lnSpc>
              <a:spcAft>
                <a:spcPts val="1539"/>
              </a:spcAft>
              <a:buClr>
                <a:srgbClr val="00D4AA"/>
              </a:buClr>
              <a:buFont typeface="Inter"/>
              <a:buChar char="•"/>
            </a:pPr>
            <a:r>
              <a:rPr sz="2200" b="0">
                <a:solidFill>
                  <a:srgbClr val="FFFFFF"/>
                </a:solidFill>
                <a:latin typeface="Inter"/>
              </a:rPr>
              <a:t>Survives handoffs between agents (Section 7)</a:t>
            </a:r>
          </a:p>
          <a:p>
            <a:pPr marL="292608" indent="-292608">
              <a:lnSpc>
                <a:spcPct val="120000"/>
              </a:lnSpc>
              <a:spcAft>
                <a:spcPts val="1539"/>
              </a:spcAft>
              <a:buClr>
                <a:srgbClr val="00D4AA"/>
              </a:buClr>
              <a:buFont typeface="Inter"/>
              <a:buChar char="•"/>
            </a:pPr>
            <a:r>
              <a:rPr sz="2200" b="0">
                <a:solidFill>
                  <a:srgbClr val="FFFFFF"/>
                </a:solidFill>
                <a:latin typeface="Inter"/>
              </a:rPr>
              <a:t>Readable by tools (</a:t>
            </a:r>
            <a:r>
              <a:rPr sz="2024" b="0">
                <a:solidFill>
                  <a:srgbClr val="00D4AA"/>
                </a:solidFill>
                <a:latin typeface="JetBrains Mono"/>
              </a:rPr>
              <a:t>context.userdata</a:t>
            </a:r>
            <a:r>
              <a:rPr sz="2200" b="0">
                <a:solidFill>
                  <a:srgbClr val="FFFFFF"/>
                </a:solidFill>
                <a:latin typeface="Inter"/>
              </a:rPr>
              <a:t>) and by your code (</a:t>
            </a:r>
            <a:r>
              <a:rPr sz="2024" b="0">
                <a:solidFill>
                  <a:srgbClr val="00D4AA"/>
                </a:solidFill>
                <a:latin typeface="JetBrains Mono"/>
              </a:rPr>
              <a:t>session.userdata</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Not shown to the LLM unless a tool returns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CallState</a:t>
            </a:r>
            <a:r>
              <a:rPr sz="1800" b="1">
                <a:solidFill>
                  <a:srgbClr val="FFFFFF"/>
                </a:solidFill>
                <a:latin typeface="Inter"/>
              </a:rPr>
              <a:t>: typed, per-call memory on the session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Tools read and write </a:t>
            </a:r>
            <a:r>
              <a:rPr sz="1656" b="0">
                <a:solidFill>
                  <a:srgbClr val="00D4AA"/>
                </a:solidFill>
                <a:latin typeface="JetBrains Mono"/>
              </a:rPr>
              <a:t>context.userdata</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mixin shares the tools, plus three extras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1: Booking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now have a complete booking agent, so next is Project 1, where you'll build your own version…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1: Booking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and demo a complete booking flow with your own four tools: find, book, reschedule and cancel with read-backs.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Challenge: add a waitlist tool (pause, then solution)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challenge: design a waitlist tool from a spec, then compare with the solution.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5.9</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5.9</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Challenge: add a waitlist tool (pause, then solution)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Design and implement a new tool, </a:t>
            </a:r>
            <a:r>
              <a:rPr sz="1472" b="0">
                <a:solidFill>
                  <a:srgbClr val="00D4AA"/>
                </a:solidFill>
                <a:latin typeface="JetBrains Mono"/>
              </a:rPr>
              <a:t>join_waitlist</a:t>
            </a:r>
            <a:r>
              <a:rPr sz="1600" b="0">
                <a:solidFill>
                  <a:srgbClr val="CBD5E1"/>
                </a:solidFill>
                <a:latin typeface="Inter"/>
              </a:rPr>
              <a:t>, from a spec, backed by </a:t>
            </a:r>
            <a:r>
              <a:rPr sz="1472" b="0">
                <a:solidFill>
                  <a:srgbClr val="00D4AA"/>
                </a:solidFill>
                <a:latin typeface="JetBrains Mono"/>
              </a:rPr>
              <a:t>scheduler.add_to_waitlist</a:t>
            </a:r>
            <a:r>
              <a:rPr sz="1600" b="0">
                <a:solidFill>
                  <a:srgbClr val="CBD5E1"/>
                </a:solidFill>
                <a:latin typeface="Inter"/>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5.9</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spec</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FFFFFF"/>
                </a:solidFill>
                <a:latin typeface="JetBrains Mono"/>
              </a:rPr>
              <a:t>Tool:      join_waitlist(patient_name, phone, preferred_day)</a:t>
            </a:r>
          </a:p>
          <a:p>
            <a:r>
              <a:rPr sz="1200">
                <a:solidFill>
                  <a:srgbClr val="FFFFFF"/>
                </a:solidFill>
                <a:latin typeface="JetBrains Mono"/>
              </a:rPr>
              <a:t>Backed by: self.scheduler.add_to_waitlist(patient_name, phone, preferred_day)</a:t>
            </a:r>
          </a:p>
          <a:p>
            <a:r>
              <a:rPr sz="1200">
                <a:solidFill>
                  <a:srgbClr val="FFFFFF"/>
                </a:solidFill>
                <a:latin typeface="JetBrains Mono"/>
              </a:rPr>
              <a:t>           self.scheduler.waitlist_position(entry.id)   -&gt; 1-based position for that day</a:t>
            </a:r>
          </a:p>
          <a:p>
            <a:r>
              <a:rPr sz="1200">
                <a:solidFill>
                  <a:srgbClr val="FFFFFF"/>
                </a:solidFill>
                <a:latin typeface="JetBrains Mono"/>
              </a:rPr>
              <a:t>Behavior:</a:t>
            </a:r>
          </a:p>
          <a:p>
            <a:r>
              <a:rPr sz="1200">
                <a:solidFill>
                  <a:srgbClr val="FFFFFF"/>
                </a:solidFill>
                <a:latin typeface="JetBrains Mono"/>
              </a:rPr>
              <a:t>  - Offer the waitlist only when no offered time works for the caller</a:t>
            </a:r>
          </a:p>
          <a:p>
            <a:r>
              <a:rPr sz="1200">
                <a:solidFill>
                  <a:srgbClr val="FFFFFF"/>
                </a:solidFill>
                <a:latin typeface="JetBrains Mono"/>
              </a:rPr>
              <a:t>  - Read back name, phone number and day, and wait for a clear yes</a:t>
            </a:r>
          </a:p>
          <a:p>
            <a:r>
              <a:rPr sz="1200">
                <a:solidFill>
                  <a:srgbClr val="FFFFFF"/>
                </a:solidFill>
                <a:latin typeface="JetBrains Mono"/>
              </a:rPr>
              <a:t>  - Speakable errors for bad phone numbers, closed days, past dates</a:t>
            </a:r>
          </a:p>
          <a:p>
            <a:r>
              <a:rPr sz="1200">
                <a:solidFill>
                  <a:srgbClr val="FFFFFF"/>
                </a:solidFill>
                <a:latin typeface="JetBrains Mono"/>
              </a:rPr>
              <a:t>  - Result tells Riley the day (in words) and the caller's position</a:t>
            </a:r>
          </a:p>
          <a:p>
            <a:r>
              <a:rPr sz="1200">
                <a:solidFill>
                  <a:srgbClr val="FFFFFF"/>
                </a:solidFill>
                <a:latin typeface="JetBrains Mono"/>
              </a:rPr>
              <a:t>  - Record the outcome in CallState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5.9</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"Pause the video and build it" (hold on screen for 5 seconds with a countdown graphic)</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5.9</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docstring says when to use the tool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back before storing caller details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ToolError</a:t>
            </a:r>
            <a:r>
              <a:rPr sz="1800" b="1">
                <a:solidFill>
                  <a:srgbClr val="FFFFFF"/>
                </a:solidFill>
                <a:latin typeface="Inter"/>
              </a:rPr>
              <a:t> for every expected failure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5.9</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tools the LLM calls correctly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Confirm before every irreversible action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Turn scheduler errors into speakable recoveries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5.9</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Tools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Let's finish Section 5 with a short quiz on tools.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5.10</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TOOLS: BOOKING, RESCHEDULING AND CANCELLING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5.10</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Tools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tool-step limits, scheduler design, read-back corrections, protected commits and tool descriptions.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5.10</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5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max_tool_steps</a:t>
            </a:r>
            <a:r>
              <a:rPr sz="2200" b="0">
                <a:solidFill>
                  <a:srgbClr val="FFFFFF"/>
                </a:solidFill>
                <a:latin typeface="Inter"/>
              </a:rPr>
              <a:t> and runaway tool loops</a:t>
            </a:r>
          </a:p>
          <a:p>
            <a:pPr marL="292608" indent="-292608">
              <a:lnSpc>
                <a:spcPct val="120000"/>
              </a:lnSpc>
              <a:spcAft>
                <a:spcPts val="1539"/>
              </a:spcAft>
              <a:buClr>
                <a:srgbClr val="00D4AA"/>
              </a:buClr>
              <a:buFont typeface="Inter"/>
              <a:buChar char="•"/>
            </a:pPr>
            <a:r>
              <a:rPr sz="2200" b="0">
                <a:solidFill>
                  <a:srgbClr val="FFFFFF"/>
                </a:solidFill>
                <a:latin typeface="Inter"/>
              </a:rPr>
              <a:t>Why booking rules live in the scheduler</a:t>
            </a:r>
          </a:p>
          <a:p>
            <a:pPr marL="292608" indent="-292608">
              <a:lnSpc>
                <a:spcPct val="120000"/>
              </a:lnSpc>
              <a:spcAft>
                <a:spcPts val="1539"/>
              </a:spcAft>
              <a:buClr>
                <a:srgbClr val="00D4AA"/>
              </a:buClr>
              <a:buFont typeface="Inter"/>
              <a:buChar char="•"/>
            </a:pPr>
            <a:r>
              <a:rPr sz="2200" b="0">
                <a:solidFill>
                  <a:srgbClr val="FFFFFF"/>
                </a:solidFill>
                <a:latin typeface="Inter"/>
              </a:rPr>
              <a:t>A correction during a read-back</a:t>
            </a:r>
          </a:p>
          <a:p>
            <a:pPr marL="292608" indent="-292608">
              <a:lnSpc>
                <a:spcPct val="120000"/>
              </a:lnSpc>
              <a:spcAft>
                <a:spcPts val="1539"/>
              </a:spcAft>
              <a:buClr>
                <a:srgbClr val="00D4AA"/>
              </a:buClr>
              <a:buFont typeface="Inter"/>
              <a:buChar char="•"/>
            </a:pPr>
            <a:r>
              <a:rPr sz="2200" b="0">
                <a:solidFill>
                  <a:srgbClr val="FFFFFF"/>
                </a:solidFill>
                <a:latin typeface="Inter"/>
              </a:rPr>
              <a:t>Protecting a booking while it commits</a:t>
            </a:r>
          </a:p>
          <a:p>
            <a:pPr marL="292608" indent="-292608">
              <a:lnSpc>
                <a:spcPct val="120000"/>
              </a:lnSpc>
              <a:spcAft>
                <a:spcPts val="1539"/>
              </a:spcAft>
              <a:buClr>
                <a:srgbClr val="00D4AA"/>
              </a:buClr>
              <a:buFont typeface="Inter"/>
              <a:buChar char="•"/>
            </a:pPr>
            <a:r>
              <a:rPr sz="2200" b="0">
                <a:solidFill>
                  <a:srgbClr val="FFFFFF"/>
                </a:solidFill>
                <a:latin typeface="Inter"/>
              </a:rPr>
              <a:t>A tool the model never calls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05 · Lecture 5.10</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How realtime speech models work</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6 swaps the cascaded pipeline for OpenAI's speech-to-speech model, and you'll see how much of Riley…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