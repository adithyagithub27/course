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Why chat prompts fail on voice.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root cause. Chat answers are written for eyes. Eyes skim. Eyes jump back. Eyes see headings and bullets and use them to navigate.</a:t>
            </a:r>
          </a:p>
          <a:p/>
          <a:p>
            <a:r>
              <a:t>Ears get one pass, in order, at speaking speed. About one hundred and fifty words a minute. So a normal one hundred and twenty word chat answer takes almost a minute to hear. On a phone, a minute of one-sided talking feels like forever.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one, markdown. LLMs love bold text, headings and tables. On a screen, that's helpful structure. In a voice, it's either dropped or, worse, read aloud. "Asterisk asterisk important asterisk asterisk." And even when it's dropped cleanly, the structure it carried is gone. A table becomes a jumble of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two, lists. Our first clip read out a list of seven days. Nobody holds seven items in their head from one hearing. On voice, you give the one or two things that matter, and then you ask a question to narrow it down. "Which day were you hoping for?" is better than reading the whole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three, length. And here's the part people miss. Length is a latency problem too.</a:t>
            </a:r>
          </a:p>
          <a:p/>
          <a:p>
            <a:r>
              <a:t>Remember the latency budget from Lecture 1.4? It measured time to the first sound. A long answer doesn't change that. But it changes how long until the caller gets to talk again. Twenty-five seconds of Riley is twenty-five seconds where the caller is waiting, or interrupting.</a:t>
            </a:r>
          </a:p>
          <a:p/>
          <a:p>
            <a:r>
              <a:t>Long answers also cost more tokens, and every extra sentence is another chance to state a wrong detail. So the rule for Riley is one or two sentences per turn. That's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four, things that only make sense written down. URLs. Email addresses. Dollar signs, slashes and abbreviations.</a:t>
            </a:r>
          </a:p>
          <a:p/>
          <a:p>
            <a:r>
              <a:t>Think about "ten slash six." Is that October sixth or June tenth? Depends on the country. Is "Dr." doctor or drive? "Maple St." is street, but "St. Mary's" is saint. TTS engines guess, and they guess differently.</a:t>
            </a:r>
          </a:p>
          <a:p/>
          <a:p>
            <a:r>
              <a:t>The voice pattern is simple. Say it the way a person would. "October sixth." "Doctor Nguyen." And for links, don't read them. Offer to text them instead.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five, emojis and chatbot personality. Emojis either vanish or get read as their names, like "smiling face with smiling eyes." And the chat habits come with them. "Great question!" "I'd be happy to help!" "Let me know if you have any other questions!" On a screen, you skip past them. On a call, each one costs a second or two, every single turn.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LiveKit helps a little. By default, the session runs two text filters before speech. One strips markdown symbols. One strips emojis. So you usually won't hear "asterisk asterisk."</a:t>
            </a:r>
          </a:p>
          <a:p/>
          <a:p>
            <a:r>
              <a:t>But look at what the filters can't do. They can't shorten a long answer. They can't turn a seven-item list into a question. They can't decide whether ten slash six means October or June. Only the prompt can do that.</a:t>
            </a:r>
          </a:p>
          <a:p/>
          <a:p>
            <a:r>
              <a:t>So the order of defense is: prompt first, filters second, and custom text transforms third, for the patterns you want to guarantee. You'll write one of those in Lecture 4.3.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shift in one slide. The chat prompt says "be thorough, format clearly." The voice prompt says "you're on the phone, everything becomes speech, keep it short, one question at a time, no formatting, say numbers like a person."</a:t>
            </a:r>
          </a:p>
          <a:p/>
          <a:p>
            <a:r>
              <a:t>And notice the most important sentence on the right. "Everything you write is converted to speech." The model doesn't know it's talking unless you tell it. That one sentence alone fixes a surprising amount.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Anatomy of a voice system prompt.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parts. Identity. Goal. Style. Output rules. Tools policy. Guardrails. Escalation. You won't always need all seven, but you should always decide on purpose.</a:t>
            </a:r>
          </a:p>
          <a:p/>
          <a:p>
            <a:r>
              <a:t>[SCREEN: VS Code, open `src/maple/prompts.py`. Scroll to `IDENTITY`.]</a:t>
            </a:r>
          </a:p>
          <a:p/>
          <a:p>
            <a:r>
              <a:t>[CODE: reveal `IDENTITY` from `src/maple/prompts.py`]</a:t>
            </a:r>
          </a:p>
          <a:p/>
          <a:p>
            <a:r>
              <a:t>Here's the identity block, with the goal folded in. Four jobs in five lines.</a:t>
            </a:r>
          </a:p>
          <a:p/>
          <a:p>
            <a:r>
              <a:t>It names Riley and the clinic. It tells the model it's on the phone, and that everything becomes speech. That's the sentence from the last lecture. It handles AI disclosure: if someone asks "are you a real person?", Riley says plainly that it's an AI. And it states the goal. Answer questions, and book, reschedule or cancel, quickly and accurately.</a:t>
            </a:r>
          </a:p>
          <a:p/>
          <a:p>
            <a:r>
              <a:t>Notice what's missing. No backstory. No "you have ten years of experience." Those lines cost tokens on every turn and they don't change behavior.</a:t>
            </a:r>
          </a:p>
          <a:p/>
          <a:p>
            <a:r>
              <a:t>[CODE: reveal `STYLE_RULES`]</a:t>
            </a:r>
          </a:p>
          <a:p/>
          <a:p>
            <a:r>
              <a:t>Next, style. Five rules. One or two short sentences. One question at a time, then stop. Warm but efficient. Ask again if you didn't understand. And respond to interruptions.</a:t>
            </a:r>
          </a:p>
          <a:p/>
          <a:p>
            <a:r>
              <a:t>"One question at a time" is the rule that matters most. Watch what happens without it. "What's your name, phone number and preferred day?" The caller answers the last one, and the first two are lost. Voice is a single lane. One question, one answer.</a:t>
            </a:r>
          </a:p>
          <a:p/>
          <a:p>
            <a:r>
              <a:t>Yes, you'll notice this prompt uses dashes. That's fine. Formatting inside the prompt helps the model read it. We just don't want formatting in the model's output.</a:t>
            </a:r>
          </a:p>
          <a:p/>
          <a:p>
            <a:r>
              <a:t>[CODE: reveal `OUTPUT_RULES`]</a:t>
            </a:r>
          </a:p>
          <a:p/>
          <a:p>
            <a:r>
              <a:t>Output rules. This is the block that fixes last lecture's five failures.</a:t>
            </a:r>
          </a:p>
          <a:p/>
          <a:p>
            <a:r>
              <a:t>Plain spoken sentences only. Then, and this is the trick, examples. "Tuesday, October sixth at nine thirty in the morning." "Five five five, zero one four two." Models copy examples far more reliably than they follow abstract rules. Show the exact shape you want to hear.</a:t>
            </a:r>
          </a:p>
          <a:p/>
          <a:p>
            <a:r>
              <a:t>And the last line: never read out internal IDs, JSON or tool names. Without it, you'll one day hear Riley say "Your appointment A P T dash one zero zero one is confirmed."</a:t>
            </a:r>
          </a:p>
          <a:p/>
          <a:p>
            <a:r>
              <a:t>[CODE: reveal `BOOKING_RULES` (first four lines only; the rest is covered in Section 5)]</a:t>
            </a:r>
          </a:p>
          <a:p/>
          <a:p>
            <a:r>
              <a:t>Tools policy. We'll give Riley tools in Section five, but the policy is written here. The key line: always use the find available slots tool before offering times. Never invent availability.</a:t>
            </a:r>
          </a:p>
          <a:p/>
          <a:p>
            <a:r>
              <a:t>Remember the scariest failure from Lecture 1.2? Riley offering a time that doesn't exist? This line is the first defense. Section nine's tests are the second.</a:t>
            </a:r>
          </a:p>
          <a:p/>
          <a:p>
            <a:r>
              <a:t>[CODE: reveal `SAFETY_RULES` and `ESCALATION_RULES`]</a:t>
            </a:r>
          </a:p>
          <a:p/>
          <a:p>
            <a:r>
              <a:t>Guardrails and escalation. For a dental clinic, the big guardrail is medical advice. Riley is not a dentist. It doesn't diagnose, and it doesn't recommend medication. Instead, it offers the earliest appointment. And for a real emergency, it tells the caller to call nine one one. Notice "nine one one" is spelled the way it should be spoken.</a:t>
            </a:r>
          </a:p>
          <a:p/>
          <a:p>
            <a:r>
              <a:t>Escalation says when to get a human. Upset caller, billing dispute, two failed attempts, or a direct request. And my favorite rule: if they ask for a human a second time, transfer immediately, no arguing. Nothing makes callers angrier than a bot that won't let them go. And the last line covers "please stop calling me": pass it on, and don't try to sell. Section nine tests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Seven parts. Identity. Goal. Style. Output rules. Tools policy. Guardrails. Escalation. You won't always need all seven, but you should always decide on purpose.</a:t>
            </a:r>
          </a:p>
          <a:p/>
          <a:p>
            <a:r>
              <a:t>[SCREEN: VS Code, open `src/maple/pro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blocks come together. `build_instructions` always includes identity, style and output rules. Safety and escalation are on by default. And each section of the course switches on one more block. Booking in Section five. Knowledge in Section seven. Security in Section eleven.</a:t>
            </a:r>
          </a:p>
          <a:p/>
          <a:p>
            <a:r>
              <a:t>And one line people forget. `today`. The model has no idea what day it is. If a caller says "next Tuesday" and the model doesn't know today's date, it will guess. Badly. So we pass today in, and the prompt says "Today is Monday, twenty twenty-six, October fifth."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build it from blocks instead of one big string? Four reasons. You can test each rule's effect. You can reuse blocks across the specialist agents in Section seven. You only include what an agent needs, so prompts stay short, and remember, shorter prompts mean faster time-to-first-token. And when someone changes a rule, the code review shows exactly which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anti-patterns I see in almost every first voice prompt.</a:t>
            </a:r>
          </a:p>
          <a:p/>
          <a:p>
            <a:r>
              <a:t>"Be concise." Too vague. The model's idea of concise is still a paragraph. Say "one or two short sentences" and show an example.</a:t>
            </a:r>
          </a:p>
          <a:p/>
          <a:p>
            <a:r>
              <a:t>Pasting the whole FAQ into the prompt. It works, but every turn now pays for thousands of extra tokens in time-to-first-token. Section seven retrieves answers on demand instead.</a:t>
            </a:r>
          </a:p>
          <a:p/>
          <a:p>
            <a:r>
              <a:t>Backstory and adjectives. "You are a warm, bubbly, empathetic professional with a passion for smiles." Tokens with no behavior change.</a:t>
            </a:r>
          </a:p>
          <a:p/>
          <a:p>
            <a:r>
              <a:t>[SCREEN: VS Code, `03-code/src/maple/prompts.py`, `SAFETY_RULES`. Highlight "Never diagnose, recommend medication or doses, or give treat...]</a:t>
            </a:r>
          </a:p>
          <a:p/>
          <a:p>
            <a:r>
              <a:t>"Never say X," with no alternative. The model knows what not to do, but not what to do instead, so it stalls or over-apologizes. Always pair a "never" with an "instead." Look at the safety block: never give medical advice, and instead, offer the earliest appointment.</a:t>
            </a:r>
          </a:p>
          <a:p/>
          <a:p>
            <a:r>
              <a:t>And rules that contradict each other. "Always confirm details" in one block and "keep calls under a minute" in another. Blocks help here too, because each rule has one home.</a:t>
            </a:r>
          </a:p>
          <a:p/>
          <a:p>
            <a:r>
              <a:t>One last habit. Write rules as instructions to a person, in plain language, with examples. "Keep replies to one or two short sentences" works. "Be concise" doesn't, because the model's idea of concise is three paragraphs.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Numbers, dates, names and pronunciation.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you already have. The output rules with spoken examples. Layer two is new. Don't make the LLM convert data into speech. Give it data that's already speakable. Layer three is a safety net that rewrites text right before it's spoken.</a:t>
            </a:r>
          </a:p>
          <a:p/>
          <a:p>
            <a:r>
              <a:t>[SCREEN: Terminal.]</a:t>
            </a:r>
          </a:p>
          <a:p/>
          <a:p>
            <a:r>
              <a:t>[CODE: start a Python shell]</a:t>
            </a:r>
          </a:p>
          <a:p/>
          <a:p>
            <a:r>
              <a:t>Let's start with layer two. `prompts.py` has a set of small, tested helpers. Watch.</a:t>
            </a:r>
          </a:p>
          <a:p/>
          <a:p>
            <a:r>
              <a:t>[CODE: try the speech helpers]</a:t>
            </a:r>
          </a:p>
          <a:p/>
          <a:p>
            <a:r>
              <a:t>Phone numbers come out in three groups, with commas. Those commas matter. Most TTS voices pause briefly at a comma, which gives the caller time to check each group. Dates come out with the weekday and an ordinal, "October sixth." Times say "in the morning" instead of "A M."</a:t>
            </a:r>
          </a:p>
          <a:p/>
          <a:p>
            <a:r>
              <a:t>In Section five, the booking tools use exactly these helpers. When Riley checks the schedule, the tool returns "Friday, October ninth at eight o'clock in the morning," and the LLM just repeats it. The model never has to guess how to say a date.</a:t>
            </a:r>
          </a:p>
          <a:p/>
          <a:p>
            <a:r>
              <a:t>[CODE: a quick look at why this is pure Python]</a:t>
            </a:r>
          </a:p>
          <a:p/>
          <a:p>
            <a:r>
              <a:t>And because these are plain functions, they're unit-tested. Dates of birth, prices, years, all covered, all offline.</a:t>
            </a:r>
          </a:p>
          <a:p/>
          <a:p>
            <a:r>
              <a:t>[SCREEN: Exit the shell. VS Code, new file `agents/my_voice_agent.py`.]</a:t>
            </a:r>
          </a:p>
          <a:p/>
          <a:p>
            <a:r>
              <a:t>Now names. Names are the words speech-to-text gets wrong most often, and you can't fix that with a helper, because you don't know the name yet. So we fix it with conversation design: spell it back.</a:t>
            </a:r>
          </a:p>
          <a:p/>
          <a:p>
            <a:r>
              <a:t>[CODE: step 1, start `agents/my_voice_agent.py` with the imports and a spelling rule (the reference, `agents/s04_voice_prompting.py`, has...]</a:t>
            </a:r>
          </a:p>
          <a:p/>
          <a:p>
            <a:r>
              <a:t>Start a new file, `my_voice_agent.py`. After the imports, a small extra prompt block called spelling rules, exactly as it appears in the reference file. Spell the last name back letter by letter, with an example. And if the caller spells something, use exactly those letters. We'll add it to Riley's instructions in a minute with the `extra` parameter.</a:t>
            </a:r>
          </a:p>
          <a:p/>
          <a:p>
            <a:r>
              <a:t>Why the last name only? Because spelling back a first and last name on every call gets tedious. Match the effort to the risk. For booking, the last name is what the front desk searches by.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layer three. Even with good rules, the LLM will sometimes write "Dr. Alvarez" or "Suite 200, Maple St." And some voices read "Dr." as "drive" or "D R." We want a guarantee, not a hope. That's what TTS text transforms are for.</a:t>
            </a:r>
          </a:p>
          <a:p/>
          <a:p>
            <a:r>
              <a:t>[CODE: step 2, an abbreviation table and a text transform]</a:t>
            </a:r>
          </a:p>
          <a:p/>
          <a:p>
            <a:r>
              <a:t>First, a small table of regular expressions and their spoken forms. "Dr." becomes "Doctor." "Ste." becomes "Suite." "DDS" becomes three separate letters.</a:t>
            </a:r>
          </a:p>
          <a:p/>
          <a:p>
            <a:r>
              <a:t>Then the transform itself. It's an async generator. LiveKit hands it the LLM's text as a stream of chunks, and it yields rewritten chunks, which go straight into the TTS. This runs after the LLM and before the voice, so nothing the model writes can skip it.</a:t>
            </a:r>
          </a:p>
          <a:p/>
          <a:p>
            <a:r>
              <a:t>One honest limitation. The LLM streams text in small pieces. If "Dr." happens to be split across two chunks, this simple version misses it. It's good enough for a demo, and the fix for production is to buffer up to a word boundary before rewriting.</a:t>
            </a:r>
          </a:p>
          <a:p/>
          <a:p>
            <a:r>
              <a:t>[CODE: step 3, the agent]</a:t>
            </a:r>
          </a:p>
          <a:p/>
          <a:p>
            <a:r>
              <a:t>Now the agent, VoiceFirstRiley. Its instructions come from `build_instructions`, with today's date so relative dates work, and our spelling rules as an extra block. `clinic_today` returns the real date, or the pinned demo date if you set MAPLE_TODAY.</a:t>
            </a:r>
          </a:p>
          <a:p/>
          <a:p>
            <a:r>
              <a:t>[CODE: step 4, the server and session with the transform (your file at the end of this lecture; the reference already has the silence han...]</a:t>
            </a:r>
          </a:p>
          <a:p/>
          <a:p>
            <a:r>
              <a:t>Two new things here. First, `create_session` from common. It builds the whole session from settings: models, VAD, turn handling and call state. And the server's setup function, prewarm, loads the VAD model once per process, so each call starts faster. Section twelve covers prewarming in depth.</a:t>
            </a:r>
          </a:p>
          <a:p/>
          <a:p>
            <a:r>
              <a:t>Second, and this is the important line, `tts_text_transforms`. It's a list. Notice I kept "filter markdown" and "filter emoji" in it. Those are the defaults from Lecture 4.1. If you pass your own list and leave them out, you just turned off the markdown filter. Keep them, and add yours at the end.</a:t>
            </a:r>
          </a:p>
          <a:p/>
          <a:p>
            <a:r>
              <a:t>[SCREEN: Terminal.]</a:t>
            </a:r>
          </a:p>
          <a:p/>
          <a:p>
            <a:r>
              <a:t>[CODE: run it]</a:t>
            </a:r>
          </a:p>
          <a:p/>
          <a:p>
            <a:r>
              <a:t>[DEMO: Caller: "Who are your dentists?" Riley answers with "Doctor ..." names. Caller: "My name is Sam Ortiz." Riley: "Thanks, Sam. Is th...]</a:t>
            </a:r>
          </a:p>
          <a:p/>
          <a:p>
            <a:r>
              <a:t>Listen for three things. "Doctor," not "D R." The last name spelled back. And the clinic's number in three groups.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production, three upgrades. Buffer to word boundaries. Use your TTS provider's pronunciation dictionary for names that are consistently wrong. And keep the table small and tested, because abbreviations are ambiguous. Our table turns "St." into "Street." That's right for Maple Street, and wrong for a clinic in St. Louis.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Greetings, silence and "are you still there?".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Section three, we greeted with `generate_reply`. The LLM wrote a greeting each time. That's flexible, but it costs an LLM round trip, and the wording changes from call to call. Some days it might even forget to say it's an AI.</a:t>
            </a:r>
          </a:p>
          <a:p/>
          <a:p>
            <a:r>
              <a:t>For the greeting, we want the opposite. Instant, identical and compliant. That's `session.say` with a fixed line.</a:t>
            </a:r>
          </a:p>
          <a:p/>
          <a:p>
            <a:r>
              <a:t>[SCREEN: VS Code, `src/maple/prompts.py`, scroll to `GREETING`, `SILENCE_CHECK_IN`, `SILENCE_GOODBYE`.]</a:t>
            </a:r>
          </a:p>
          <a:p/>
          <a:p>
            <a:r>
              <a:t>Our fixed lines live in `prompts.py`. The greeting: "Thanks for calling Maple Street Dental. This is Riley, the clinic's AI assistant. How can I help you today?" A silence check-in. And a polite goodbye for when a caller never comes back.</a:t>
            </a:r>
          </a:p>
          <a:p/>
          <a:p>
            <a:r>
              <a:t>[SCREEN: VS Code, `agents/my_voice_agent.py`.]</a:t>
            </a:r>
          </a:p>
          <a:p/>
          <a:p>
            <a:r>
              <a:t>[CODE: step 1, add `on_enter` to `VoiceFirstRiley`]</a:t>
            </a:r>
          </a:p>
          <a:p/>
          <a:p>
            <a:r>
              <a:t>Add an `on_enter` method to VoiceFirstRiley. It runs the moment this agent takes over the call. Inside, `session.say` with the greeting.</a:t>
            </a:r>
          </a:p>
          <a:p/>
          <a:p>
            <a:r>
              <a:t>I'm allowing interruptions here, so a caller who starts talking right away isn't ignored. If your compliance team needs the AI disclosure heard in full every time, set it to false. That's a business decision, and now it's one argument.</a:t>
            </a:r>
          </a:p>
          <a:p/>
          <a:p>
            <a:r>
              <a:t>Notice there's no `generate_reply` in the entrypoint anymore. The agent greets itself. That matters in Section seven, where each specialist agent gets its own `on_enter`.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silence. The session tracks the caller's state. Speaking, listening or away. Away means both the caller and Riley have been silent for a set number of seconds, called the user away timeout. The default is fifteen. When the state changes, the session emits an event called user state changed.</a:t>
            </a:r>
          </a:p>
          <a:p/>
          <a:p>
            <a:r>
              <a:t>[CODE: step 2, constants at the top of the file]</a:t>
            </a:r>
          </a:p>
          <a:p/>
          <a:p>
            <a:r>
              <a:t>Two constants near the top. Twelve seconds of silence counts as away. And we'll prompt at most twice: one check-in, then goodbye.</a:t>
            </a:r>
          </a:p>
          <a:p/>
          <a:p>
            <a:r>
              <a:t>[CODE: step 3, the session gets a timeout]</a:t>
            </a:r>
          </a:p>
          <a:p/>
          <a:p>
            <a:r>
              <a:t>Pass the timeout into the session. And create an empty set called background. It holds references to background tasks, so Python doesn't garbage-collect them halfway through.</a:t>
            </a:r>
          </a:p>
          <a:p/>
          <a:p>
            <a:r>
              <a:t>[CODE: step 4, the silence handler]</a:t>
            </a:r>
          </a:p>
          <a:p/>
          <a:p>
            <a:r>
              <a:t>Now the handler. We count silence prompts in the call state. `CallState` already has a field for it, called silence prompts. You'll meet the whole class in Section five.</a:t>
            </a:r>
          </a:p>
          <a:p/>
          <a:p>
            <a:r>
              <a:t>First time: say the check-in, "Are you still there? Take your time." We don't wait for it to finish. We reset the away timer straight away, and that line matters. Once a caller is marked away, the session won't mark them away again on its own. Resetting puts them back to listening, so a fresh twelve-second countdown starts. And because the countdown only runs while both of you are quiet, it really starts once the check-in has played.</a:t>
            </a:r>
          </a:p>
          <a:p/>
          <a:p>
            <a:r>
              <a:t>Second time: say goodbye, and don't allow interruptions, so the goodbye is heard in full. Wait for it to play out. Record the outcome. And shut the session down.</a:t>
            </a:r>
          </a:p>
          <a:p/>
          <a:p>
            <a:r>
              <a:t>[CODE: step 5, wire up the event]</a:t>
            </a:r>
          </a:p>
          <a:p/>
          <a:p>
            <a:r>
              <a:t>Finally, the event handler. Event handlers are regular functions, not async, so we start the async work as a task, and keep a reference in the background set. When the caller becomes away, handle the silence. When the caller speaks again, reset the counter, so a caller who comes back gets a fresh start.</a:t>
            </a:r>
          </a:p>
          <a:p/>
          <a:p>
            <a:r>
              <a:t>[SCREEN: Terminal.]</a:t>
            </a:r>
          </a:p>
          <a:p/>
          <a:p>
            <a:r>
              <a:t>[CODE: run it]</a:t>
            </a:r>
          </a:p>
          <a:p/>
          <a:p>
            <a:r>
              <a:t>[DEMO: Riley greets. Stay silent for 12 seconds. Riley: "Are you still there? Take your time, I'm here when you're ready." Stay silent 12...]</a:t>
            </a:r>
          </a:p>
          <a:p/>
          <a:p>
            <a:r>
              <a:t>Now I'll say nothing. Twelve seconds later, the check-in. I stay quiet. Twelve more seconds, and a polite goodbye. The session ends.</a:t>
            </a:r>
          </a:p>
          <a:p/>
          <a:p>
            <a:r>
              <a:t>[DEMO: Run again. After the check-in, say "Sorry, I was grabbing my card." Riley continues normally.]</a:t>
            </a:r>
          </a:p>
          <a:p/>
          <a:p>
            <a:r>
              <a:t>And if I come back after the check-in, Riley just carries on, and the counter resets.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note on hanging up. In console and dev mode, shutting down the session is enough. On a real phone call, you also want the line itself to drop, which means deleting the room. That's the end call tool in Section eight. And whatever you do, say goodbye first. An agent that just goes silent and disconnects feels broken, even when it's working as designed.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Persona and brand voice without the cringe.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think of warmth and efficiency as two dials, not one. A great human receptionist turns both up. They're friendly, and they get you booked in forty seconds. A cringe persona turns warmth all the way up and efficiency down. Jokes, exclamation marks, small talk. A cold bot does the opposite. Correct, but it feels like talking to a form. Which of those would you rather call?</a:t>
            </a:r>
          </a:p>
          <a:p/>
          <a:p>
            <a:r>
              <a:t>Look at the target line. "Oh no, sorry to hear that. Let me find you the earliest slot." Six words of empathy, then straight to action. That's the whole recipe. Acknowledge briefly, then move.</a:t>
            </a:r>
          </a:p>
          <a:p/>
          <a:p>
            <a:r>
              <a:t>Principle two. Say it's an AI. Early, clearly and without apologizing. Does Riley pass? Let's ask it.</a:t>
            </a:r>
          </a:p>
          <a:p/>
          <a:p>
            <a:r>
              <a:t>[DEMO: `uv run python agents/s04_voice_prompting.py console`. Riley's fixed greeting plays. Ask: "Wait, am I talking to a real person?" R...]</a:t>
            </a:r>
          </a:p>
          <a:p/>
          <a:p>
            <a:r>
              <a:t>[SCREEN: VS Code, `03-code/src/maple/prompts.py`. Highlight `GREETING`, then the `IDENTITY` line "If anyone asks whether you are a person...]</a:t>
            </a:r>
          </a:p>
          <a:p/>
          <a:p>
            <a:r>
              <a:t>Riley's greeting says "This is Riley, the clinic's AI assistant." It's in the first sentence. And the direct question you just heard is handled by one line in the identity block.</a:t>
            </a:r>
          </a:p>
          <a:p/>
          <a:p>
            <a:r>
              <a:t>Why disclose at all? There are three reasons.</a:t>
            </a:r>
          </a:p>
          <a:p/>
          <a:p>
            <a:r>
              <a:t>One, trust. Callers who find out later that they were talking to a bot feel tricked, even when the call went well.</a:t>
            </a:r>
          </a:p>
          <a:p/>
          <a:p>
            <a:r>
              <a:t>Two, rules. A growing number of places require AI disclosure, especially on phone calls. We'll cover compliance properly in Section eight, and none of it is legal advice. But disclosing up front costs you nothing.</a:t>
            </a:r>
          </a:p>
          <a:p/>
          <a:p>
            <a:r>
              <a:t>Three, it actually helps the conversation. When callers know it's an AI, they speak a little more clearly and they don't expect it to know their life story.</a:t>
            </a:r>
          </a:p>
          <a:p/>
          <a:p>
            <a:r>
              <a:t>So when someone asks directly, Riley says plainly that it's an AI assistant. Never let a persona lie about what it 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three. Consistency. Riley's personality shows up in three places, and they have to agree.</a:t>
            </a:r>
          </a:p>
          <a:p/>
          <a:p>
            <a:r>
              <a:t>The prompt, which sets the tone for everything the LLM writes. The voice, which is the actual sound. And the fixed lines, the greeting, the goodbye and the transfer message, which we keep as constants in prompts dot py.</a:t>
            </a:r>
          </a:p>
          <a:p/>
          <a:p>
            <a:r>
              <a:t>If the greeting is formal and the LLM is chatty, callers notice the seam. If you change the voice mid-call during a handoff, callers think they've been transferred to a different company. Keep one name, one voice and one tone across the whole call. In Section seven, when Riley hands off to specialists, we'll make a deliberate choice about whether they sound like Riley or like colleagues.</a:t>
            </a:r>
          </a:p>
          <a:p/>
          <a:p>
            <a:r>
              <a:t>Principle four. Match your brand, not your favorite movie character. A pediatric dentist can be playful. A surgical practice should be calm and precise. A bank should sound like a bank. Ask the business owner three words they'd use for their front desk. For Maple Street Dental, those words are "friendly, calm, efficient." Put those words in the prompt. Pick a voice that fits them. And test it by listening to real calls, not by reading the prompt.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checklist. Screenshot it, and use it in the lab.</a:t>
            </a:r>
          </a:p>
          <a:p/>
          <a:p>
            <a:r>
              <a:t>And a final tip. Humor and cheerfulness wear thin fast. The first "Have a sparkly day!" is cute. By the tenth call, the front desk staff who listen to recordings will hate it. So ask yourself: will this line still be pleasant on the hundredth call?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3: Rewrite a chat prompt for voice.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Challenge: Riley for your business.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Prompting for the ear.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get questions on long answers, phone numbers, a tool result that leaks a timestamp, silence handling and AI disclosure. One tip: for the timestamp question, think about the three layers from Lecture 4.3, and pick the one that fixes it for every reply.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Why chat prompts fail on voice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five ways chat-style output breaks text-to-speech: markdown, lists, length, URLs and symbols, emojis.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Reading vs listening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Readers skim, jump back and scan structure</a:t>
            </a:r>
          </a:p>
          <a:p>
            <a:pPr marL="292608" indent="-292608">
              <a:lnSpc>
                <a:spcPct val="120000"/>
              </a:lnSpc>
              <a:spcAft>
                <a:spcPts val="1539"/>
              </a:spcAft>
              <a:buClr>
                <a:srgbClr val="00D4AA"/>
              </a:buClr>
              <a:buFont typeface="Inter"/>
              <a:buChar char="•"/>
            </a:pPr>
            <a:r>
              <a:rPr sz="2200" b="0">
                <a:solidFill>
                  <a:srgbClr val="FFFFFF"/>
                </a:solidFill>
                <a:latin typeface="Inter"/>
              </a:rPr>
              <a:t>Listeners get one pass, in order, at speaking speed</a:t>
            </a:r>
          </a:p>
          <a:p>
            <a:pPr marL="292608" indent="-292608">
              <a:lnSpc>
                <a:spcPct val="120000"/>
              </a:lnSpc>
              <a:spcAft>
                <a:spcPts val="1539"/>
              </a:spcAft>
              <a:buClr>
                <a:srgbClr val="00D4AA"/>
              </a:buClr>
              <a:buFont typeface="Inter"/>
              <a:buChar char="•"/>
            </a:pPr>
            <a:r>
              <a:rPr sz="2200" b="0">
                <a:solidFill>
                  <a:srgbClr val="FFFFFF"/>
                </a:solidFill>
                <a:latin typeface="Inter"/>
              </a:rPr>
              <a:t>Around 150 spoken words per minute: a 120-word chat answer is about 50 seconds of audio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Failure 1: markdown and formatting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bold</a:t>
            </a:r>
            <a:r>
              <a:rPr sz="2200" b="0">
                <a:solidFill>
                  <a:srgbClr val="FFFFFF"/>
                </a:solidFill>
                <a:latin typeface="Inter"/>
              </a:rPr>
              <a:t>, </a:t>
            </a:r>
            <a:r>
              <a:rPr sz="2024" b="0">
                <a:solidFill>
                  <a:srgbClr val="00D4AA"/>
                </a:solidFill>
                <a:latin typeface="JetBrains Mono"/>
              </a:rPr>
              <a:t># headings</a:t>
            </a:r>
            <a:r>
              <a:rPr sz="2200" b="0">
                <a:solidFill>
                  <a:srgbClr val="FFFFFF"/>
                </a:solidFill>
                <a:latin typeface="Inter"/>
              </a:rPr>
              <a:t>, </a:t>
            </a:r>
            <a:r>
              <a:rPr sz="2024" b="0">
                <a:solidFill>
                  <a:srgbClr val="00D4AA"/>
                </a:solidFill>
                <a:latin typeface="JetBrains Mono"/>
              </a:rPr>
              <a:t>| tables |</a:t>
            </a:r>
            <a:r>
              <a:rPr sz="2200" b="0">
                <a:solidFill>
                  <a:srgbClr val="FFFFFF"/>
                </a:solidFill>
                <a:latin typeface="Inter"/>
              </a:rPr>
              <a:t>, `</a:t>
            </a:r>
            <a:r>
              <a:rPr sz="2024" b="0">
                <a:solidFill>
                  <a:srgbClr val="00D4AA"/>
                </a:solidFill>
                <a:latin typeface="JetBrains Mono"/>
              </a:rPr>
              <a:t> </a:t>
            </a:r>
            <a:r>
              <a:rPr sz="2200" b="0">
                <a:solidFill>
                  <a:srgbClr val="FFFFFF"/>
                </a:solidFill>
                <a:latin typeface="Inter"/>
              </a:rPr>
              <a:t>code</a:t>
            </a:r>
            <a:r>
              <a:rPr sz="2024" b="0">
                <a:solidFill>
                  <a:srgbClr val="00D4AA"/>
                </a:solidFill>
                <a:latin typeface="JetBrains Mono"/>
              </a:rPr>
              <a:t> </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Best case: silently dropped. Worst case: read aloud.</a:t>
            </a:r>
          </a:p>
          <a:p>
            <a:pPr marL="292608" indent="-292608">
              <a:lnSpc>
                <a:spcPct val="120000"/>
              </a:lnSpc>
              <a:spcAft>
                <a:spcPts val="1539"/>
              </a:spcAft>
              <a:buClr>
                <a:srgbClr val="00D4AA"/>
              </a:buClr>
              <a:buFont typeface="Inter"/>
              <a:buChar char="•"/>
            </a:pPr>
            <a:r>
              <a:rPr sz="2200" b="0">
                <a:solidFill>
                  <a:srgbClr val="FFFFFF"/>
                </a:solidFill>
                <a:latin typeface="Inter"/>
              </a:rPr>
              <a:t>Either way, the structure it carried is lost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Failure 2: lists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Seven items read in a row: the listener remembers one or two</a:t>
            </a:r>
          </a:p>
          <a:p>
            <a:pPr marL="292608" indent="-292608">
              <a:lnSpc>
                <a:spcPct val="120000"/>
              </a:lnSpc>
              <a:spcAft>
                <a:spcPts val="1539"/>
              </a:spcAft>
              <a:buClr>
                <a:srgbClr val="00D4AA"/>
              </a:buClr>
              <a:buFont typeface="Inter"/>
              <a:buChar char="•"/>
            </a:pPr>
            <a:r>
              <a:rPr sz="2200" b="0">
                <a:solidFill>
                  <a:srgbClr val="FFFFFF"/>
                </a:solidFill>
                <a:latin typeface="Inter"/>
              </a:rPr>
              <a:t>Lists hide the question the caller actually asked</a:t>
            </a:r>
          </a:p>
          <a:p>
            <a:pPr marL="292608" indent="-292608">
              <a:lnSpc>
                <a:spcPct val="120000"/>
              </a:lnSpc>
              <a:spcAft>
                <a:spcPts val="1539"/>
              </a:spcAft>
              <a:buClr>
                <a:srgbClr val="00D4AA"/>
              </a:buClr>
              <a:buFont typeface="Inter"/>
              <a:buChar char="•"/>
            </a:pPr>
            <a:r>
              <a:rPr sz="2200" b="0">
                <a:solidFill>
                  <a:srgbClr val="FFFFFF"/>
                </a:solidFill>
                <a:latin typeface="Inter"/>
              </a:rPr>
              <a:t>Voice pattern: give the top one or two, then ask a question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Failure 3: length, which is also latency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Longer answers take longer to hear</a:t>
            </a:r>
          </a:p>
          <a:p>
            <a:pPr marL="292608" indent="-292608">
              <a:lnSpc>
                <a:spcPct val="120000"/>
              </a:lnSpc>
              <a:spcAft>
                <a:spcPts val="1539"/>
              </a:spcAft>
              <a:buClr>
                <a:srgbClr val="00D4AA"/>
              </a:buClr>
              <a:buFont typeface="Inter"/>
              <a:buChar char="•"/>
            </a:pPr>
            <a:r>
              <a:rPr sz="2200" b="0">
                <a:solidFill>
                  <a:srgbClr val="FFFFFF"/>
                </a:solidFill>
                <a:latin typeface="Inter"/>
              </a:rPr>
              <a:t>Callers can't get a word in without interrupting</a:t>
            </a:r>
          </a:p>
          <a:p>
            <a:pPr marL="292608" indent="-292608">
              <a:lnSpc>
                <a:spcPct val="120000"/>
              </a:lnSpc>
              <a:spcAft>
                <a:spcPts val="1539"/>
              </a:spcAft>
              <a:buClr>
                <a:srgbClr val="00D4AA"/>
              </a:buClr>
              <a:buFont typeface="Inter"/>
              <a:buChar char="•"/>
            </a:pPr>
            <a:r>
              <a:rPr sz="2200" b="0">
                <a:solidFill>
                  <a:srgbClr val="FFFFFF"/>
                </a:solidFill>
                <a:latin typeface="Inter"/>
              </a:rPr>
              <a:t>More output tokens: more cost, more chance of a wrong detail</a:t>
            </a:r>
          </a:p>
          <a:p>
            <a:pPr marL="292608" indent="-292608">
              <a:lnSpc>
                <a:spcPct val="120000"/>
              </a:lnSpc>
              <a:spcAft>
                <a:spcPts val="1539"/>
              </a:spcAft>
              <a:buClr>
                <a:srgbClr val="00D4AA"/>
              </a:buClr>
              <a:buFont typeface="Inter"/>
              <a:buChar char="•"/>
            </a:pPr>
            <a:r>
              <a:rPr sz="2200" b="0">
                <a:solidFill>
                  <a:srgbClr val="FFFFFF"/>
                </a:solidFill>
                <a:latin typeface="Inter"/>
              </a:rPr>
              <a:t>Target: one or two sentences per turn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Failure 4: URLs, emails, symbols and abbreviations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www.maplestreetdental.com/hours</a:t>
            </a:r>
            <a:r>
              <a:rPr sz="2200" b="0">
                <a:solidFill>
                  <a:srgbClr val="FFFFFF"/>
                </a:solidFill>
                <a:latin typeface="Inter"/>
              </a:rPr>
              <a:t> → "w w w dot..."</a:t>
            </a:r>
          </a:p>
          <a:p>
            <a:pPr marL="292608" indent="-292608">
              <a:lnSpc>
                <a:spcPct val="120000"/>
              </a:lnSpc>
              <a:spcAft>
                <a:spcPts val="1539"/>
              </a:spcAft>
              <a:buClr>
                <a:srgbClr val="00D4AA"/>
              </a:buClr>
              <a:buFont typeface="Inter"/>
              <a:buChar char="•"/>
            </a:pPr>
            <a:r>
              <a:rPr sz="2024" b="0">
                <a:solidFill>
                  <a:srgbClr val="00D4AA"/>
                </a:solidFill>
                <a:latin typeface="JetBrains Mono"/>
              </a:rPr>
              <a:t>$1,250</a:t>
            </a:r>
            <a:r>
              <a:rPr sz="2200" b="0">
                <a:solidFill>
                  <a:srgbClr val="FFFFFF"/>
                </a:solidFill>
                <a:latin typeface="Inter"/>
              </a:rPr>
              <a:t> / </a:t>
            </a:r>
            <a:r>
              <a:rPr sz="2024" b="0">
                <a:solidFill>
                  <a:srgbClr val="00D4AA"/>
                </a:solidFill>
                <a:latin typeface="JetBrains Mono"/>
              </a:rPr>
              <a:t>10/6</a:t>
            </a:r>
            <a:r>
              <a:rPr sz="2200" b="0">
                <a:solidFill>
                  <a:srgbClr val="FFFFFF"/>
                </a:solidFill>
                <a:latin typeface="Inter"/>
              </a:rPr>
              <a:t> / </a:t>
            </a:r>
            <a:r>
              <a:rPr sz="2024" b="0">
                <a:solidFill>
                  <a:srgbClr val="00D4AA"/>
                </a:solidFill>
                <a:latin typeface="JetBrains Mono"/>
              </a:rPr>
              <a:t>Dr.</a:t>
            </a:r>
            <a:r>
              <a:rPr sz="2200" b="0">
                <a:solidFill>
                  <a:srgbClr val="FFFFFF"/>
                </a:solidFill>
                <a:latin typeface="Inter"/>
              </a:rPr>
              <a:t> / </a:t>
            </a:r>
            <a:r>
              <a:rPr sz="2024" b="0">
                <a:solidFill>
                  <a:srgbClr val="00D4AA"/>
                </a:solidFill>
                <a:latin typeface="JetBrains Mono"/>
              </a:rPr>
              <a:t>St.</a:t>
            </a:r>
            <a:r>
              <a:rPr sz="2200" b="0">
                <a:solidFill>
                  <a:srgbClr val="FFFFFF"/>
                </a:solidFill>
                <a:latin typeface="Inter"/>
              </a:rPr>
              <a:t> / </a:t>
            </a:r>
            <a:r>
              <a:rPr sz="2024" b="0">
                <a:solidFill>
                  <a:srgbClr val="00D4AA"/>
                </a:solidFill>
                <a:latin typeface="JetBrains Mono"/>
              </a:rPr>
              <a:t>#3</a:t>
            </a:r>
            <a:r>
              <a:rPr sz="2200" b="0">
                <a:solidFill>
                  <a:srgbClr val="FFFFFF"/>
                </a:solidFill>
                <a:latin typeface="Inter"/>
              </a:rPr>
              <a:t> → guessing game for TTS</a:t>
            </a:r>
          </a:p>
          <a:p>
            <a:pPr marL="292608" indent="-292608">
              <a:lnSpc>
                <a:spcPct val="120000"/>
              </a:lnSpc>
              <a:spcAft>
                <a:spcPts val="1539"/>
              </a:spcAft>
              <a:buClr>
                <a:srgbClr val="00D4AA"/>
              </a:buClr>
              <a:buFont typeface="Inter"/>
              <a:buChar char="•"/>
            </a:pPr>
            <a:r>
              <a:rPr sz="2200" b="0">
                <a:solidFill>
                  <a:srgbClr val="FFFFFF"/>
                </a:solidFill>
                <a:latin typeface="Inter"/>
              </a:rPr>
              <a:t>Voice pattern: "I can text you a link", say it the way a person would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Failure 5: emojis and "chat personality"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Emojis: silently dropped, or read as their names</a:t>
            </a:r>
          </a:p>
          <a:p>
            <a:pPr marL="292608" indent="-292608">
              <a:lnSpc>
                <a:spcPct val="120000"/>
              </a:lnSpc>
              <a:spcAft>
                <a:spcPts val="1539"/>
              </a:spcAft>
              <a:buClr>
                <a:srgbClr val="00D4AA"/>
              </a:buClr>
              <a:buFont typeface="Inter"/>
              <a:buChar char="•"/>
            </a:pPr>
            <a:r>
              <a:rPr sz="2200" b="0">
                <a:solidFill>
                  <a:srgbClr val="FFFFFF"/>
                </a:solidFill>
                <a:latin typeface="Inter"/>
              </a:rPr>
              <a:t>"Great question!", "I'd be happy to help!", "Let me know if you have any other questions!"</a:t>
            </a:r>
          </a:p>
          <a:p>
            <a:pPr marL="292608" indent="-292608">
              <a:lnSpc>
                <a:spcPct val="120000"/>
              </a:lnSpc>
              <a:spcAft>
                <a:spcPts val="1539"/>
              </a:spcAft>
              <a:buClr>
                <a:srgbClr val="00D4AA"/>
              </a:buClr>
              <a:buFont typeface="Inter"/>
              <a:buChar char="•"/>
            </a:pPr>
            <a:r>
              <a:rPr sz="2200" b="0">
                <a:solidFill>
                  <a:srgbClr val="FFFFFF"/>
                </a:solidFill>
                <a:latin typeface="Inter"/>
              </a:rPr>
              <a:t>Filler phrases cost time on every turn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safety net, and why it isn't enough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LiveKit strips markdown symbols and emojis before TTS by default</a:t>
            </a:r>
          </a:p>
          <a:p>
            <a:pPr marL="292608" indent="-292608">
              <a:lnSpc>
                <a:spcPct val="120000"/>
              </a:lnSpc>
              <a:spcAft>
                <a:spcPts val="1120"/>
              </a:spcAft>
              <a:buClr>
                <a:srgbClr val="00D4AA"/>
              </a:buClr>
              <a:buFont typeface="Inter"/>
              <a:buChar char="•"/>
            </a:pPr>
            <a:r>
              <a:rPr sz="1600" b="0">
                <a:solidFill>
                  <a:srgbClr val="FFFFFF"/>
                </a:solidFill>
                <a:latin typeface="Inter"/>
              </a:rPr>
              <a:t>It can't shorten answers, remove lists or fix "10/6"</a:t>
            </a:r>
          </a:p>
          <a:p>
            <a:pPr marL="292608" indent="-292608">
              <a:lnSpc>
                <a:spcPct val="120000"/>
              </a:lnSpc>
              <a:spcAft>
                <a:spcPts val="1120"/>
              </a:spcAft>
              <a:buClr>
                <a:srgbClr val="00D4AA"/>
              </a:buClr>
              <a:buFont typeface="Inter"/>
              <a:buChar char="•"/>
            </a:pPr>
            <a:r>
              <a:rPr sz="1600" b="0">
                <a:solidFill>
                  <a:srgbClr val="FFFFFF"/>
                </a:solidFill>
                <a:latin typeface="Inter"/>
              </a:rPr>
              <a:t>Prompt first, filters second, custom transforms third (Lecture 4.3)</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session = AgentSession(</a:t>
            </a:r>
          </a:p>
          <a:p>
            <a:r>
              <a:rPr sz="1400">
                <a:solidFill>
                  <a:srgbClr val="94A3B8"/>
                </a:solidFill>
                <a:latin typeface="JetBrains Mono"/>
              </a:rPr>
              <a:t>    # default when you don't set it:</a:t>
            </a:r>
          </a:p>
          <a:p>
            <a:r>
              <a:rPr sz="1400">
                <a:solidFill>
                  <a:srgbClr val="FFFFFF"/>
                </a:solidFill>
                <a:latin typeface="JetBrains Mono"/>
              </a:rPr>
              <a:t>    tts_text_transforms=["filter_markdown", "filter_emoji"],</a:t>
            </a:r>
          </a:p>
          <a:p>
            <a:r>
              <a:rPr sz="1400">
                <a:solidFill>
                  <a:srgbClr val="FFFFFF"/>
                </a:solidFill>
                <a:latin typeface="JetBrains Mono"/>
              </a:rPr>
              <a:t>    ...</a:t>
            </a:r>
          </a:p>
          <a:p>
            <a:r>
              <a:rPr sz="1400">
                <a:solidFill>
                  <a:srgbClr val="FFFFFF"/>
                </a:solidFill>
                <a:latin typeface="JetBrains Mono"/>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Chat prompt vs voice prompt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Two columns.</a:t>
            </a:r>
          </a:p>
          <a:p>
            <a:pPr>
              <a:spcAft>
                <a:spcPts val="600"/>
              </a:spcAft>
            </a:pPr>
            <a:r>
              <a:rPr sz="1500" b="0">
                <a:solidFill>
                  <a:srgbClr val="CBD5E1"/>
                </a:solidFill>
                <a:latin typeface="Inter"/>
              </a:rPr>
              <a:t>Left, "Chat prompt": "You are a helpful assistant for Maple Street Dental. Answer questions thoroughly and format answers clearly."</a:t>
            </a:r>
          </a:p>
          <a:p>
            <a:pPr>
              <a:spcAft>
                <a:spcPts val="600"/>
              </a:spcAft>
            </a:pPr>
            <a:r>
              <a:rPr sz="1500" b="0">
                <a:solidFill>
                  <a:srgbClr val="CBD5E1"/>
                </a:solidFill>
                <a:latin typeface="Inter"/>
              </a:rPr>
              <a:t>Right, "Voice prompt": "You are Riley... on the phone. Everything you write is converted to speech. Keep every reply to one or two short sentences. Ask one question at a time. Never use markdown, lists, emojis or URLs. Say numbers and dates the way a person says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Listeners get one pass: keep replies short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Markdown, lists, URLs and emojis break TTS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Prompt first; default filters are a safety 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Anatomy of a voice system prompt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build Riley's real voice prompt block by block, and you'll see how each block maps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Anatomy of a voice system prompt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Structure a voice system prompt into identity, goal, style, output rules, tools policy, guardrails and escalation.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Seven parts of a voice prompt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Identity: who you are, AI disclosure</a:t>
            </a:r>
          </a:p>
          <a:p>
            <a:pPr marL="292608" indent="-292608">
              <a:lnSpc>
                <a:spcPct val="120000"/>
              </a:lnSpc>
              <a:spcAft>
                <a:spcPts val="1260"/>
              </a:spcAft>
              <a:buClr>
                <a:srgbClr val="00D4AA"/>
              </a:buClr>
              <a:buFont typeface="Inter"/>
              <a:buChar char="•"/>
            </a:pPr>
            <a:r>
              <a:rPr sz="1800" b="0">
                <a:solidFill>
                  <a:srgbClr val="FFFFFF"/>
                </a:solidFill>
                <a:latin typeface="Inter"/>
              </a:rPr>
              <a:t>Goal: what a successful call looks like</a:t>
            </a:r>
          </a:p>
          <a:p>
            <a:pPr marL="292608" indent="-292608">
              <a:lnSpc>
                <a:spcPct val="120000"/>
              </a:lnSpc>
              <a:spcAft>
                <a:spcPts val="1260"/>
              </a:spcAft>
              <a:buClr>
                <a:srgbClr val="00D4AA"/>
              </a:buClr>
              <a:buFont typeface="Inter"/>
              <a:buChar char="•"/>
            </a:pPr>
            <a:r>
              <a:rPr sz="1800" b="0">
                <a:solidFill>
                  <a:srgbClr val="FFFFFF"/>
                </a:solidFill>
                <a:latin typeface="Inter"/>
              </a:rPr>
              <a:t>Style: length, one question at a time, tone</a:t>
            </a:r>
          </a:p>
          <a:p>
            <a:pPr marL="292608" indent="-292608">
              <a:lnSpc>
                <a:spcPct val="120000"/>
              </a:lnSpc>
              <a:spcAft>
                <a:spcPts val="1260"/>
              </a:spcAft>
              <a:buClr>
                <a:srgbClr val="00D4AA"/>
              </a:buClr>
              <a:buFont typeface="Inter"/>
              <a:buChar char="•"/>
            </a:pPr>
            <a:r>
              <a:rPr sz="1800" b="0">
                <a:solidFill>
                  <a:srgbClr val="FFFFFF"/>
                </a:solidFill>
                <a:latin typeface="Inter"/>
              </a:rPr>
              <a:t>Output rules: no markdown, how to say numbers and dates</a:t>
            </a:r>
          </a:p>
          <a:p>
            <a:pPr marL="292608" indent="-292608">
              <a:lnSpc>
                <a:spcPct val="120000"/>
              </a:lnSpc>
              <a:spcAft>
                <a:spcPts val="1260"/>
              </a:spcAft>
              <a:buClr>
                <a:srgbClr val="00D4AA"/>
              </a:buClr>
              <a:buFont typeface="Inter"/>
              <a:buChar char="•"/>
            </a:pPr>
            <a:r>
              <a:rPr sz="1800" b="0">
                <a:solidFill>
                  <a:srgbClr val="FFFFFF"/>
                </a:solidFill>
                <a:latin typeface="Inter"/>
              </a:rPr>
              <a:t>Tools policy: when to call which tool, never invent 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Seven parts of a voice prompt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Guardrails: medical advice, emergencies, off-topic</a:t>
            </a:r>
          </a:p>
          <a:p>
            <a:pPr marL="292608" indent="-292608">
              <a:lnSpc>
                <a:spcPct val="120000"/>
              </a:lnSpc>
              <a:spcAft>
                <a:spcPts val="1539"/>
              </a:spcAft>
              <a:buClr>
                <a:srgbClr val="00D4AA"/>
              </a:buClr>
              <a:buFont typeface="Inter"/>
              <a:buChar char="•"/>
            </a:pPr>
            <a:r>
              <a:rPr sz="2200" b="0">
                <a:solidFill>
                  <a:srgbClr val="FFFFFF"/>
                </a:solidFill>
                <a:latin typeface="Inter"/>
              </a:rPr>
              <a:t>Escalation: when to hand off to a human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Assemble with </a:t>
            </a:r>
            <a:r>
              <a:rPr sz="2392" b="0">
                <a:solidFill>
                  <a:srgbClr val="00D4AA"/>
                </a:solidFill>
                <a:latin typeface="JetBrains Mono"/>
              </a:rPr>
              <a:t>build_instructions()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Always included: identity, style, output rules</a:t>
            </a:r>
          </a:p>
          <a:p>
            <a:pPr marL="292608" indent="-292608">
              <a:lnSpc>
                <a:spcPct val="120000"/>
              </a:lnSpc>
              <a:spcAft>
                <a:spcPts val="1120"/>
              </a:spcAft>
              <a:buClr>
                <a:srgbClr val="00D4AA"/>
              </a:buClr>
              <a:buFont typeface="Inter"/>
              <a:buChar char="•"/>
            </a:pPr>
            <a:r>
              <a:rPr sz="1600" b="0">
                <a:solidFill>
                  <a:srgbClr val="FFFFFF"/>
                </a:solidFill>
                <a:latin typeface="Inter"/>
              </a:rPr>
              <a:t>Safety and escalation on by default</a:t>
            </a:r>
          </a:p>
          <a:p>
            <a:pPr marL="292608" indent="-292608">
              <a:lnSpc>
                <a:spcPct val="120000"/>
              </a:lnSpc>
              <a:spcAft>
                <a:spcPts val="1120"/>
              </a:spcAft>
              <a:buClr>
                <a:srgbClr val="00D4AA"/>
              </a:buClr>
              <a:buFont typeface="Inter"/>
              <a:buChar char="•"/>
            </a:pPr>
            <a:r>
              <a:rPr sz="1600" b="0">
                <a:solidFill>
                  <a:srgbClr val="FFFFFF"/>
                </a:solidFill>
                <a:latin typeface="Inter"/>
              </a:rPr>
              <a:t>Each section switches on one more block</a:t>
            </a:r>
          </a:p>
          <a:p>
            <a:pPr marL="292608" indent="-292608">
              <a:lnSpc>
                <a:spcPct val="120000"/>
              </a:lnSpc>
              <a:spcAft>
                <a:spcPts val="1120"/>
              </a:spcAft>
              <a:buClr>
                <a:srgbClr val="00D4AA"/>
              </a:buClr>
              <a:buFont typeface="Inter"/>
              <a:buChar char="•"/>
            </a:pPr>
            <a:r>
              <a:rPr sz="1472" b="0">
                <a:solidFill>
                  <a:srgbClr val="00D4AA"/>
                </a:solidFill>
                <a:latin typeface="JetBrains Mono"/>
              </a:rPr>
              <a:t>today=</a:t>
            </a:r>
            <a:r>
              <a:rPr sz="1600" b="0">
                <a:solidFill>
                  <a:srgbClr val="FFFFFF"/>
                </a:solidFill>
                <a:latin typeface="Inter"/>
              </a:rPr>
              <a:t> adds "Today is Monday, 2026-10-05" so "next Tuesday" resolves correctly</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from maple.prompts import build_instructions</a:t>
            </a:r>
          </a:p>
          <a:p>
            <a:r>
              <a:rPr sz="1400">
                <a:solidFill>
                  <a:srgbClr val="FFFFFF"/>
                </a:solidFill>
                <a:latin typeface="JetBrains Mono"/>
              </a:rPr>
              <a:t> </a:t>
            </a:r>
          </a:p>
          <a:p>
            <a:r>
              <a:rPr sz="1400">
                <a:solidFill>
                  <a:srgbClr val="FFFFFF"/>
                </a:solidFill>
                <a:latin typeface="JetBrains Mono"/>
              </a:rPr>
              <a:t>instructions = build_instructions(</a:t>
            </a:r>
          </a:p>
          <a:p>
            <a:r>
              <a:rPr sz="1400">
                <a:solidFill>
                  <a:srgbClr val="FFFFFF"/>
                </a:solidFill>
                <a:latin typeface="JetBrains Mono"/>
              </a:rPr>
              <a:t>    today=date(2026, 10, 5),</a:t>
            </a:r>
          </a:p>
          <a:p>
            <a:r>
              <a:rPr sz="1400">
                <a:solidFill>
                  <a:srgbClr val="FFFFFF"/>
                </a:solidFill>
                <a:latin typeface="JetBrains Mono"/>
              </a:rPr>
              <a:t>    booking=True,        # Section 5</a:t>
            </a:r>
          </a:p>
          <a:p>
            <a:r>
              <a:rPr sz="1400">
                <a:solidFill>
                  <a:srgbClr val="FFFFFF"/>
                </a:solidFill>
                <a:latin typeface="JetBrains Mono"/>
              </a:rPr>
              <a:t>    knowledge=False,     # Section 7</a:t>
            </a:r>
          </a:p>
          <a:p>
            <a:r>
              <a:rPr sz="1400">
                <a:solidFill>
                  <a:srgbClr val="FFFFFF"/>
                </a:solidFill>
                <a:latin typeface="JetBrains Mono"/>
              </a:rPr>
              <a:t>    security=False,      # Section 11</a:t>
            </a:r>
          </a:p>
          <a:p>
            <a:r>
              <a:rPr sz="1400">
                <a:solidFill>
                  <a:srgbClr val="FFFFFF"/>
                </a:solidFill>
                <a:latin typeface="JetBrains Mono"/>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blocks beat one giant string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Test each block's effect in isolation (Section 9)</a:t>
            </a:r>
          </a:p>
          <a:p>
            <a:pPr marL="292608" indent="-292608">
              <a:lnSpc>
                <a:spcPct val="120000"/>
              </a:lnSpc>
              <a:spcAft>
                <a:spcPts val="1539"/>
              </a:spcAft>
              <a:buClr>
                <a:srgbClr val="00D4AA"/>
              </a:buClr>
              <a:buFont typeface="Inter"/>
              <a:buChar char="•"/>
            </a:pPr>
            <a:r>
              <a:rPr sz="2200" b="0">
                <a:solidFill>
                  <a:srgbClr val="FFFFFF"/>
                </a:solidFill>
                <a:latin typeface="Inter"/>
              </a:rPr>
              <a:t>Reuse blocks across specialist agents (Section 7)</a:t>
            </a:r>
          </a:p>
          <a:p>
            <a:pPr marL="292608" indent="-292608">
              <a:lnSpc>
                <a:spcPct val="120000"/>
              </a:lnSpc>
              <a:spcAft>
                <a:spcPts val="1539"/>
              </a:spcAft>
              <a:buClr>
                <a:srgbClr val="00D4AA"/>
              </a:buClr>
              <a:buFont typeface="Inter"/>
              <a:buChar char="•"/>
            </a:pPr>
            <a:r>
              <a:rPr sz="2200" b="0">
                <a:solidFill>
                  <a:srgbClr val="FFFFFF"/>
                </a:solidFill>
                <a:latin typeface="Inter"/>
              </a:rPr>
              <a:t>Shorter prompts: faster time-to-first-token on every turn</a:t>
            </a:r>
          </a:p>
          <a:p>
            <a:pPr marL="292608" indent="-292608">
              <a:lnSpc>
                <a:spcPct val="120000"/>
              </a:lnSpc>
              <a:spcAft>
                <a:spcPts val="1539"/>
              </a:spcAft>
              <a:buClr>
                <a:srgbClr val="00D4AA"/>
              </a:buClr>
              <a:buFont typeface="Inter"/>
              <a:buChar char="•"/>
            </a:pPr>
            <a:r>
              <a:rPr sz="2200" b="0">
                <a:solidFill>
                  <a:srgbClr val="FFFFFF"/>
                </a:solidFill>
                <a:latin typeface="Inter"/>
              </a:rPr>
              <a:t>Code review: a diff shows exactly which rule changed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voice-prompt anti-patterns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33472"/>
        </p:xfrm>
        <a:graphic>
          <a:graphicData uri="http://schemas.openxmlformats.org/drawingml/2006/table">
            <a:tbl>
              <a:tblPr firstRow="1" bandRow="1">
                <a:tableStyleId>{5C22544A-7EE6-4342-B048-85BDC9FD1C3A}</a:tableStyleId>
              </a:tblPr>
              <a:tblGrid>
                <a:gridCol w="3240554"/>
                <a:gridCol w="3731547"/>
                <a:gridCol w="4320738"/>
              </a:tblGrid>
              <a:tr h="438912">
                <a:tc>
                  <a:txBody>
                    <a:bodyPr wrap="square"/>
                    <a:lstStyle/>
                    <a:p>
                      <a:r>
                        <a:rPr sz="1400" b="1">
                          <a:solidFill>
                            <a:srgbClr val="0A1628"/>
                          </a:solidFill>
                          <a:latin typeface="Inter"/>
                        </a:rPr>
                        <a:t>Anti-pattern</a:t>
                      </a:r>
                    </a:p>
                  </a:txBody>
                  <a:tcPr marL="91440" marR="91440" marT="45720" marB="45720" anchor="ctr">
                    <a:solidFill>
                      <a:srgbClr val="00D4AA"/>
                    </a:solidFill>
                  </a:tcPr>
                </a:tc>
                <a:tc>
                  <a:txBody>
                    <a:bodyPr wrap="square"/>
                    <a:lstStyle/>
                    <a:p>
                      <a:r>
                        <a:rPr sz="1400" b="1">
                          <a:solidFill>
                            <a:srgbClr val="0A1628"/>
                          </a:solidFill>
                          <a:latin typeface="Inter"/>
                        </a:rPr>
                        <a:t>Why it hurts</a:t>
                      </a:r>
                    </a:p>
                  </a:txBody>
                  <a:tcPr marL="91440" marR="91440" marT="45720" marB="45720" anchor="ctr">
                    <a:solidFill>
                      <a:srgbClr val="00D4AA"/>
                    </a:solidFill>
                  </a:tcPr>
                </a:tc>
                <a:tc>
                  <a:txBody>
                    <a:bodyPr wrap="square"/>
                    <a:lstStyle/>
                    <a:p>
                      <a:r>
                        <a:rPr sz="1400" b="1">
                          <a:solidFill>
                            <a:srgbClr val="0A1628"/>
                          </a:solidFill>
                          <a:latin typeface="Inter"/>
                        </a:rPr>
                        <a:t>Instead</a:t>
                      </a:r>
                    </a:p>
                  </a:txBody>
                  <a:tcPr marL="91440" marR="91440" marT="45720" marB="45720" anchor="ctr">
                    <a:solidFill>
                      <a:srgbClr val="00D4AA"/>
                    </a:solidFill>
                  </a:tcPr>
                </a:tc>
              </a:tr>
              <a:tr h="438912">
                <a:tc>
                  <a:txBody>
                    <a:bodyPr wrap="square"/>
                    <a:lstStyle/>
                    <a:p>
                      <a:r>
                        <a:rPr sz="1400" b="1">
                          <a:solidFill>
                            <a:srgbClr val="FFFFFF"/>
                          </a:solidFill>
                          <a:latin typeface="Inter"/>
                        </a:rPr>
                        <a:t>"Be concise"</a:t>
                      </a:r>
                    </a:p>
                  </a:txBody>
                  <a:tcPr marL="91440" marR="91440" marT="45720" marB="45720" anchor="ctr">
                    <a:solidFill>
                      <a:srgbClr val="1A2742"/>
                    </a:solidFill>
                  </a:tcPr>
                </a:tc>
                <a:tc>
                  <a:txBody>
                    <a:bodyPr wrap="square"/>
                    <a:lstStyle/>
                    <a:p>
                      <a:r>
                        <a:rPr sz="1400" b="0">
                          <a:solidFill>
                            <a:srgbClr val="FFFFFF"/>
                          </a:solidFill>
                          <a:latin typeface="Inter"/>
                        </a:rPr>
                        <a:t>Model's idea of concise is a paragraph</a:t>
                      </a:r>
                    </a:p>
                  </a:txBody>
                  <a:tcPr marL="91440" marR="91440" marT="45720" marB="45720" anchor="ctr">
                    <a:solidFill>
                      <a:srgbClr val="1A2742"/>
                    </a:solidFill>
                  </a:tcPr>
                </a:tc>
                <a:tc>
                  <a:txBody>
                    <a:bodyPr wrap="square"/>
                    <a:lstStyle/>
                    <a:p>
                      <a:r>
                        <a:rPr sz="1400" b="0">
                          <a:solidFill>
                            <a:srgbClr val="FFFFFF"/>
                          </a:solidFill>
                          <a:latin typeface="Inter"/>
                        </a:rPr>
                        <a:t>"One or two short sentences" plus an example</a:t>
                      </a:r>
                    </a:p>
                  </a:txBody>
                  <a:tcPr marL="91440" marR="91440" marT="45720" marB="45720" anchor="ctr">
                    <a:solidFill>
                      <a:srgbClr val="1A2742"/>
                    </a:solidFill>
                  </a:tcPr>
                </a:tc>
              </a:tr>
              <a:tr h="438912">
                <a:tc>
                  <a:txBody>
                    <a:bodyPr wrap="square"/>
                    <a:lstStyle/>
                    <a:p>
                      <a:r>
                        <a:rPr sz="1400" b="1">
                          <a:solidFill>
                            <a:srgbClr val="FFFFFF"/>
                          </a:solidFill>
                          <a:latin typeface="Inter"/>
                        </a:rPr>
                        <a:t>Pasting the whole FAQ</a:t>
                      </a:r>
                    </a:p>
                  </a:txBody>
                  <a:tcPr marL="91440" marR="91440" marT="45720" marB="45720" anchor="ctr">
                    <a:solidFill>
                      <a:srgbClr val="0F1E35"/>
                    </a:solidFill>
                  </a:tcPr>
                </a:tc>
                <a:tc>
                  <a:txBody>
                    <a:bodyPr wrap="square"/>
                    <a:lstStyle/>
                    <a:p>
                      <a:r>
                        <a:rPr sz="1400" b="0">
                          <a:solidFill>
                            <a:srgbClr val="FFFFFF"/>
                          </a:solidFill>
                          <a:latin typeface="Inter"/>
                        </a:rPr>
                        <a:t>Slower first token on every turn</a:t>
                      </a:r>
                    </a:p>
                  </a:txBody>
                  <a:tcPr marL="91440" marR="91440" marT="45720" marB="45720" anchor="ctr">
                    <a:solidFill>
                      <a:srgbClr val="0F1E35"/>
                    </a:solidFill>
                  </a:tcPr>
                </a:tc>
                <a:tc>
                  <a:txBody>
                    <a:bodyPr wrap="square"/>
                    <a:lstStyle/>
                    <a:p>
                      <a:r>
                        <a:rPr sz="1400" b="0">
                          <a:solidFill>
                            <a:srgbClr val="FFFFFF"/>
                          </a:solidFill>
                          <a:latin typeface="Inter"/>
                        </a:rPr>
                        <a:t>Retrieve on demand (Section 7)</a:t>
                      </a:r>
                    </a:p>
                  </a:txBody>
                  <a:tcPr marL="91440" marR="91440" marT="45720" marB="45720" anchor="ctr">
                    <a:solidFill>
                      <a:srgbClr val="0F1E35"/>
                    </a:solidFill>
                  </a:tcPr>
                </a:tc>
              </a:tr>
              <a:tr h="438912">
                <a:tc>
                  <a:txBody>
                    <a:bodyPr wrap="square"/>
                    <a:lstStyle/>
                    <a:p>
                      <a:r>
                        <a:rPr sz="1400" b="1">
                          <a:solidFill>
                            <a:srgbClr val="FFFFFF"/>
                          </a:solidFill>
                          <a:latin typeface="Inter"/>
                        </a:rPr>
                        <a:t>Backstory and adjectives</a:t>
                      </a:r>
                    </a:p>
                  </a:txBody>
                  <a:tcPr marL="91440" marR="91440" marT="45720" marB="45720" anchor="ctr">
                    <a:solidFill>
                      <a:srgbClr val="1A2742"/>
                    </a:solidFill>
                  </a:tcPr>
                </a:tc>
                <a:tc>
                  <a:txBody>
                    <a:bodyPr wrap="square"/>
                    <a:lstStyle/>
                    <a:p>
                      <a:r>
                        <a:rPr sz="1400" b="0">
                          <a:solidFill>
                            <a:srgbClr val="FFFFFF"/>
                          </a:solidFill>
                          <a:latin typeface="Inter"/>
                        </a:rPr>
                        <a:t>Tokens with no behavior change</a:t>
                      </a:r>
                    </a:p>
                  </a:txBody>
                  <a:tcPr marL="91440" marR="91440" marT="45720" marB="45720" anchor="ctr">
                    <a:solidFill>
                      <a:srgbClr val="1A2742"/>
                    </a:solidFill>
                  </a:tcPr>
                </a:tc>
                <a:tc>
                  <a:txBody>
                    <a:bodyPr wrap="square"/>
                    <a:lstStyle/>
                    <a:p>
                      <a:r>
                        <a:rPr sz="1400" b="0">
                          <a:solidFill>
                            <a:srgbClr val="FFFFFF"/>
                          </a:solidFill>
                          <a:latin typeface="Inter"/>
                        </a:rPr>
                        <a:t>Rules with examples</a:t>
                      </a:r>
                    </a:p>
                  </a:txBody>
                  <a:tcPr marL="91440" marR="91440" marT="45720" marB="45720" anchor="ctr">
                    <a:solidFill>
                      <a:srgbClr val="1A2742"/>
                    </a:solidFill>
                  </a:tcPr>
                </a:tc>
              </a:tr>
              <a:tr h="438912">
                <a:tc>
                  <a:txBody>
                    <a:bodyPr wrap="square"/>
                    <a:lstStyle/>
                    <a:p>
                      <a:r>
                        <a:rPr sz="1400" b="1">
                          <a:solidFill>
                            <a:srgbClr val="FFFFFF"/>
                          </a:solidFill>
                          <a:latin typeface="Inter"/>
                        </a:rPr>
                        <a:t>"Never say X" with no alternative</a:t>
                      </a:r>
                    </a:p>
                  </a:txBody>
                  <a:tcPr marL="91440" marR="91440" marT="45720" marB="45720" anchor="ctr">
                    <a:solidFill>
                      <a:srgbClr val="0F1E35"/>
                    </a:solidFill>
                  </a:tcPr>
                </a:tc>
                <a:tc>
                  <a:txBody>
                    <a:bodyPr wrap="square"/>
                    <a:lstStyle/>
                    <a:p>
                      <a:r>
                        <a:rPr sz="1400" b="0">
                          <a:solidFill>
                            <a:srgbClr val="FFFFFF"/>
                          </a:solidFill>
                          <a:latin typeface="Inter"/>
                        </a:rPr>
                        <a:t>Model stalls or apologizes</a:t>
                      </a:r>
                    </a:p>
                  </a:txBody>
                  <a:tcPr marL="91440" marR="91440" marT="45720" marB="45720" anchor="ctr">
                    <a:solidFill>
                      <a:srgbClr val="0F1E35"/>
                    </a:solidFill>
                  </a:tcPr>
                </a:tc>
                <a:tc>
                  <a:txBody>
                    <a:bodyPr wrap="square"/>
                    <a:lstStyle/>
                    <a:p>
                      <a:r>
                        <a:rPr sz="1400" b="0">
                          <a:solidFill>
                            <a:srgbClr val="FFFFFF"/>
                          </a:solidFill>
                          <a:latin typeface="Inter"/>
                        </a:rPr>
                        <a:t>"If X, say Y instead"</a:t>
                      </a:r>
                    </a:p>
                  </a:txBody>
                  <a:tcPr marL="91440" marR="91440" marT="45720" marB="45720" anchor="ctr">
                    <a:solidFill>
                      <a:srgbClr val="0F1E35"/>
                    </a:solidFill>
                  </a:tcPr>
                </a:tc>
              </a:tr>
              <a:tr h="438912">
                <a:tc>
                  <a:txBody>
                    <a:bodyPr wrap="square"/>
                    <a:lstStyle/>
                    <a:p>
                      <a:r>
                        <a:rPr sz="1400" b="1">
                          <a:solidFill>
                            <a:srgbClr val="FFFFFF"/>
                          </a:solidFill>
                          <a:latin typeface="Inter"/>
                        </a:rPr>
                        <a:t>Rules that contradict each other</a:t>
                      </a:r>
                    </a:p>
                  </a:txBody>
                  <a:tcPr marL="91440" marR="91440" marT="45720" marB="45720" anchor="ctr">
                    <a:solidFill>
                      <a:srgbClr val="1A2742"/>
                    </a:solidFill>
                  </a:tcPr>
                </a:tc>
                <a:tc>
                  <a:txBody>
                    <a:bodyPr wrap="square"/>
                    <a:lstStyle/>
                    <a:p>
                      <a:r>
                        <a:rPr sz="1400" b="0">
                          <a:solidFill>
                            <a:srgbClr val="FFFFFF"/>
                          </a:solidFill>
                          <a:latin typeface="Inter"/>
                        </a:rPr>
                        <a:t>Unpredictable behavior</a:t>
                      </a:r>
                    </a:p>
                  </a:txBody>
                  <a:tcPr marL="91440" marR="91440" marT="45720" marB="45720" anchor="ctr">
                    <a:solidFill>
                      <a:srgbClr val="1A2742"/>
                    </a:solidFill>
                  </a:tcPr>
                </a:tc>
                <a:tc>
                  <a:txBody>
                    <a:bodyPr wrap="square"/>
                    <a:lstStyle/>
                    <a:p>
                      <a:r>
                        <a:rPr sz="1400" b="0">
                          <a:solidFill>
                            <a:srgbClr val="FFFFFF"/>
                          </a:solidFill>
                          <a:latin typeface="Inter"/>
                        </a:rPr>
                        <a:t>One owner per rule; review diffs</a:t>
                      </a:r>
                    </a:p>
                  </a:txBody>
                  <a:tcPr marL="91440" marR="91440" marT="45720" marB="45720" anchor="ctr">
                    <a:solidFill>
                      <a:srgbClr val="1A2742"/>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Seven parts: a receptionist's job description</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Examples beat adjectives; pair "never" with "instead"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build_instructions()</a:t>
            </a:r>
            <a:r>
              <a:rPr sz="1800" b="1">
                <a:solidFill>
                  <a:srgbClr val="FFFFFF"/>
                </a:solidFill>
                <a:latin typeface="Inter"/>
              </a:rPr>
              <a:t> assembles tested blocks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Numbers, dates, names and pronunciation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handle the details prompts alone can't guarantee: numbers, dates, names and pronunciation, in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Numbers, dates, names and pronunciation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Turn phone numbers, dates and times into speakable words with the helpers in </a:t>
            </a:r>
            <a:r>
              <a:rPr sz="1472" b="0">
                <a:solidFill>
                  <a:srgbClr val="00D4AA"/>
                </a:solidFill>
                <a:latin typeface="JetBrains Mono"/>
              </a:rPr>
              <a:t>src/maple/prompts.py</a:t>
            </a:r>
            <a:r>
              <a:rPr sz="1600" b="0">
                <a:solidFill>
                  <a:srgbClr val="CBD5E1"/>
                </a:solidFill>
                <a:latin typeface="Inter"/>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layers of defense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Prompt: output rules with spoken examples (Lecture 4.2)</a:t>
            </a:r>
          </a:p>
          <a:p>
            <a:pPr marL="292608" indent="-292608">
              <a:lnSpc>
                <a:spcPct val="120000"/>
              </a:lnSpc>
              <a:spcAft>
                <a:spcPts val="1539"/>
              </a:spcAft>
              <a:buClr>
                <a:srgbClr val="00D4AA"/>
              </a:buClr>
              <a:buFont typeface="Inter"/>
              <a:buChar char="•"/>
            </a:pPr>
            <a:r>
              <a:rPr sz="2200" b="0">
                <a:solidFill>
                  <a:srgbClr val="FFFFFF"/>
                </a:solidFill>
                <a:latin typeface="Inter"/>
              </a:rPr>
              <a:t>Data: tools return pre-formatted, speakable text</a:t>
            </a:r>
          </a:p>
          <a:p>
            <a:pPr marL="292608" indent="-292608">
              <a:lnSpc>
                <a:spcPct val="120000"/>
              </a:lnSpc>
              <a:spcAft>
                <a:spcPts val="1539"/>
              </a:spcAft>
              <a:buClr>
                <a:srgbClr val="00D4AA"/>
              </a:buClr>
              <a:buFont typeface="Inter"/>
              <a:buChar char="•"/>
            </a:pPr>
            <a:r>
              <a:rPr sz="2200" b="0">
                <a:solidFill>
                  <a:srgbClr val="FFFFFF"/>
                </a:solidFill>
                <a:latin typeface="Inter"/>
              </a:rPr>
              <a:t>Transform: rewrite text right before TTS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Pronunciation: what the prompt can't fix</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Abbreviations: "Dr.", "St.", "Ste.", "appt", "DDS"</a:t>
            </a:r>
          </a:p>
          <a:p>
            <a:pPr marL="292608" indent="-292608">
              <a:lnSpc>
                <a:spcPct val="120000"/>
              </a:lnSpc>
              <a:spcAft>
                <a:spcPts val="1539"/>
              </a:spcAft>
              <a:buClr>
                <a:srgbClr val="00D4AA"/>
              </a:buClr>
              <a:buFont typeface="Inter"/>
              <a:buChar char="•"/>
            </a:pPr>
            <a:r>
              <a:rPr sz="2200" b="0">
                <a:solidFill>
                  <a:srgbClr val="FFFFFF"/>
                </a:solidFill>
                <a:latin typeface="Inter"/>
              </a:rPr>
              <a:t>Brand and product names, surnames</a:t>
            </a:r>
          </a:p>
          <a:p>
            <a:pPr marL="292608" indent="-292608">
              <a:lnSpc>
                <a:spcPct val="120000"/>
              </a:lnSpc>
              <a:spcAft>
                <a:spcPts val="1539"/>
              </a:spcAft>
              <a:buClr>
                <a:srgbClr val="00D4AA"/>
              </a:buClr>
              <a:buFont typeface="Inter"/>
              <a:buChar char="•"/>
            </a:pPr>
            <a:r>
              <a:rPr sz="2200" b="0">
                <a:solidFill>
                  <a:srgbClr val="FFFFFF"/>
                </a:solidFill>
                <a:latin typeface="Inter"/>
              </a:rPr>
              <a:t>The LLM might write them even when told not to</a:t>
            </a:r>
          </a:p>
          <a:p>
            <a:pPr marL="292608" indent="-292608">
              <a:lnSpc>
                <a:spcPct val="120000"/>
              </a:lnSpc>
              <a:spcAft>
                <a:spcPts val="1539"/>
              </a:spcAft>
              <a:buClr>
                <a:srgbClr val="00D4AA"/>
              </a:buClr>
              <a:buFont typeface="Inter"/>
              <a:buChar char="•"/>
            </a:pPr>
            <a:r>
              <a:rPr sz="2200" b="0">
                <a:solidFill>
                  <a:srgbClr val="FFFFFF"/>
                </a:solidFill>
                <a:latin typeface="Inter"/>
              </a:rPr>
              <a:t>Fix at the last moment: a TTS text transform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Going further (production)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Buffer the stream to word boundaries before rewriting</a:t>
            </a:r>
          </a:p>
          <a:p>
            <a:pPr marL="292608" indent="-292608">
              <a:lnSpc>
                <a:spcPct val="120000"/>
              </a:lnSpc>
              <a:spcAft>
                <a:spcPts val="1260"/>
              </a:spcAft>
              <a:buClr>
                <a:srgbClr val="00D4AA"/>
              </a:buClr>
              <a:buFont typeface="Inter"/>
              <a:buChar char="•"/>
            </a:pPr>
            <a:r>
              <a:rPr sz="1800" b="0">
                <a:solidFill>
                  <a:srgbClr val="FFFFFF"/>
                </a:solidFill>
                <a:latin typeface="Inter"/>
              </a:rPr>
              <a:t>Provider pronunciation dictionaries (for example Cartesia's </a:t>
            </a:r>
            <a:r>
              <a:rPr sz="1656" b="0">
                <a:solidFill>
                  <a:srgbClr val="00D4AA"/>
                </a:solidFill>
                <a:latin typeface="JetBrains Mono"/>
              </a:rPr>
              <a:t>pronunciation_dict_id</a:t>
            </a:r>
            <a:r>
              <a:rPr sz="1800" b="0">
                <a:solidFill>
                  <a:srgbClr val="FFFFFF"/>
                </a:solidFill>
                <a:latin typeface="Inter"/>
              </a:rPr>
              <a:t> on the plugin)</a:t>
            </a:r>
          </a:p>
          <a:p>
            <a:pPr marL="292608" indent="-292608">
              <a:lnSpc>
                <a:spcPct val="120000"/>
              </a:lnSpc>
              <a:spcAft>
                <a:spcPts val="1260"/>
              </a:spcAft>
              <a:buClr>
                <a:srgbClr val="00D4AA"/>
              </a:buClr>
              <a:buFont typeface="Inter"/>
              <a:buChar char="•"/>
            </a:pPr>
            <a:r>
              <a:rPr sz="1800" b="0">
                <a:solidFill>
                  <a:srgbClr val="FFFFFF"/>
                </a:solidFill>
                <a:latin typeface="Inter"/>
              </a:rPr>
              <a:t>Keep the table small and tested; "St." could be "Saint" in "St. Louis"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Tools hand the LLM speakable data</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Spell last names back, letter by letter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Transforms run last; keep the default filters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Greetings, silence and "are you still there?"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make Riley greet callers the same way every time, and handle the awkward moment when 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Greetings, silence and "are you still there?"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Greet every caller consistently in </a:t>
            </a:r>
            <a:r>
              <a:rPr sz="1472" b="0">
                <a:solidFill>
                  <a:srgbClr val="00D4AA"/>
                </a:solidFill>
                <a:latin typeface="JetBrains Mono"/>
              </a:rPr>
              <a:t>on_enter</a:t>
            </a:r>
            <a:r>
              <a:rPr sz="1600" b="0">
                <a:solidFill>
                  <a:srgbClr val="CBD5E1"/>
                </a:solidFill>
                <a:latin typeface="Inter"/>
              </a:rPr>
              <a:t> with </a:t>
            </a:r>
            <a:r>
              <a:rPr sz="1472" b="0">
                <a:solidFill>
                  <a:srgbClr val="00D4AA"/>
                </a:solidFill>
                <a:latin typeface="JetBrains Mono"/>
              </a:rPr>
              <a:t>session.say</a:t>
            </a:r>
            <a:r>
              <a:rPr sz="1600" b="0">
                <a:solidFill>
                  <a:srgbClr val="CBD5E1"/>
                </a:solidFill>
                <a:latin typeface="Inter"/>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Greeting: LLM or fixed line?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generate_reply(instructions="Greet...")</a:t>
            </a:r>
            <a:r>
              <a:rPr sz="2200" b="0">
                <a:solidFill>
                  <a:srgbClr val="FFFFFF"/>
                </a:solidFill>
                <a:latin typeface="Inter"/>
              </a:rPr>
              <a:t>: flexible, adds an LLM round trip, varies per call</a:t>
            </a:r>
          </a:p>
          <a:p>
            <a:pPr marL="292608" indent="-292608">
              <a:lnSpc>
                <a:spcPct val="120000"/>
              </a:lnSpc>
              <a:spcAft>
                <a:spcPts val="1539"/>
              </a:spcAft>
              <a:buClr>
                <a:srgbClr val="00D4AA"/>
              </a:buClr>
              <a:buFont typeface="Inter"/>
              <a:buChar char="•"/>
            </a:pPr>
            <a:r>
              <a:rPr sz="2024" b="0">
                <a:solidFill>
                  <a:srgbClr val="00D4AA"/>
                </a:solidFill>
                <a:latin typeface="JetBrains Mono"/>
              </a:rPr>
              <a:t>session.say(GREETING)</a:t>
            </a:r>
            <a:r>
              <a:rPr sz="2200" b="0">
                <a:solidFill>
                  <a:srgbClr val="FFFFFF"/>
                </a:solidFill>
                <a:latin typeface="Inter"/>
              </a:rPr>
              <a:t>: instant, identical every call, guaranteed AI disclosure</a:t>
            </a:r>
          </a:p>
          <a:p>
            <a:pPr marL="292608" indent="-292608">
              <a:lnSpc>
                <a:spcPct val="120000"/>
              </a:lnSpc>
              <a:spcAft>
                <a:spcPts val="1539"/>
              </a:spcAft>
              <a:buClr>
                <a:srgbClr val="00D4AA"/>
              </a:buClr>
              <a:buFont typeface="Inter"/>
              <a:buChar char="•"/>
            </a:pPr>
            <a:r>
              <a:rPr sz="2200" b="0">
                <a:solidFill>
                  <a:srgbClr val="FFFFFF"/>
                </a:solidFill>
                <a:latin typeface="Inter"/>
              </a:rPr>
              <a:t>Riley uses a fixed line, in </a:t>
            </a:r>
            <a:r>
              <a:rPr sz="2024" b="0">
                <a:solidFill>
                  <a:srgbClr val="00D4AA"/>
                </a:solidFill>
                <a:latin typeface="JetBrains Mono"/>
              </a:rPr>
              <a:t>on_enter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How LiveKit tracks silence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User state: </a:t>
            </a:r>
            <a:r>
              <a:rPr sz="2024" b="0">
                <a:solidFill>
                  <a:srgbClr val="00D4AA"/>
                </a:solidFill>
                <a:latin typeface="JetBrains Mono"/>
              </a:rPr>
              <a:t>speaking</a:t>
            </a:r>
            <a:r>
              <a:rPr sz="2200" b="0">
                <a:solidFill>
                  <a:srgbClr val="FFFFFF"/>
                </a:solidFill>
                <a:latin typeface="Inter"/>
              </a:rPr>
              <a:t>, </a:t>
            </a:r>
            <a:r>
              <a:rPr sz="2024" b="0">
                <a:solidFill>
                  <a:srgbClr val="00D4AA"/>
                </a:solidFill>
                <a:latin typeface="JetBrains Mono"/>
              </a:rPr>
              <a:t>listening</a:t>
            </a:r>
            <a:r>
              <a:rPr sz="2200" b="0">
                <a:solidFill>
                  <a:srgbClr val="FFFFFF"/>
                </a:solidFill>
                <a:latin typeface="Inter"/>
              </a:rPr>
              <a:t>, </a:t>
            </a:r>
            <a:r>
              <a:rPr sz="2024" b="0">
                <a:solidFill>
                  <a:srgbClr val="00D4AA"/>
                </a:solidFill>
                <a:latin typeface="JetBrains Mono"/>
              </a:rPr>
              <a:t>away</a:t>
            </a:r>
          </a:p>
          <a:p>
            <a:pPr marL="292608" indent="-292608">
              <a:lnSpc>
                <a:spcPct val="120000"/>
              </a:lnSpc>
              <a:spcAft>
                <a:spcPts val="1539"/>
              </a:spcAft>
              <a:buClr>
                <a:srgbClr val="00D4AA"/>
              </a:buClr>
              <a:buFont typeface="Inter"/>
              <a:buChar char="•"/>
            </a:pPr>
            <a:r>
              <a:rPr sz="2024" b="0">
                <a:solidFill>
                  <a:srgbClr val="00D4AA"/>
                </a:solidFill>
                <a:latin typeface="JetBrains Mono"/>
              </a:rPr>
              <a:t>away</a:t>
            </a:r>
            <a:r>
              <a:rPr sz="2200" b="0">
                <a:solidFill>
                  <a:srgbClr val="FFFFFF"/>
                </a:solidFill>
                <a:latin typeface="Inter"/>
              </a:rPr>
              <a:t>: both caller and agent silent for </a:t>
            </a:r>
            <a:r>
              <a:rPr sz="2024" b="0">
                <a:solidFill>
                  <a:srgbClr val="00D4AA"/>
                </a:solidFill>
                <a:latin typeface="JetBrains Mono"/>
              </a:rPr>
              <a:t>user_away_timeout</a:t>
            </a:r>
            <a:r>
              <a:rPr sz="2200" b="0">
                <a:solidFill>
                  <a:srgbClr val="FFFFFF"/>
                </a:solidFill>
                <a:latin typeface="Inter"/>
              </a:rPr>
              <a:t> seconds (default 15)</a:t>
            </a:r>
          </a:p>
          <a:p>
            <a:pPr marL="292608" indent="-292608">
              <a:lnSpc>
                <a:spcPct val="120000"/>
              </a:lnSpc>
              <a:spcAft>
                <a:spcPts val="1539"/>
              </a:spcAft>
              <a:buClr>
                <a:srgbClr val="00D4AA"/>
              </a:buClr>
              <a:buFont typeface="Inter"/>
              <a:buChar char="•"/>
            </a:pPr>
            <a:r>
              <a:rPr sz="2200" b="0">
                <a:solidFill>
                  <a:srgbClr val="FFFFFF"/>
                </a:solidFill>
                <a:latin typeface="Inter"/>
              </a:rPr>
              <a:t>Event: </a:t>
            </a:r>
            <a:r>
              <a:rPr sz="2024" b="0">
                <a:solidFill>
                  <a:srgbClr val="00D4AA"/>
                </a:solidFill>
                <a:latin typeface="JetBrains Mono"/>
              </a:rPr>
              <a:t>user_state_changed</a:t>
            </a:r>
            <a:r>
              <a:rPr sz="2200" b="0">
                <a:solidFill>
                  <a:srgbClr val="FFFFFF"/>
                </a:solidFill>
                <a:latin typeface="Inter"/>
              </a:rPr>
              <a:t> with </a:t>
            </a:r>
            <a:r>
              <a:rPr sz="2024" b="0">
                <a:solidFill>
                  <a:srgbClr val="00D4AA"/>
                </a:solidFill>
                <a:latin typeface="JetBrains Mono"/>
              </a:rPr>
              <a:t>old_state</a:t>
            </a:r>
            <a:r>
              <a:rPr sz="2200" b="0">
                <a:solidFill>
                  <a:srgbClr val="FFFFFF"/>
                </a:solidFill>
                <a:latin typeface="Inter"/>
              </a:rPr>
              <a:t> and </a:t>
            </a:r>
            <a:r>
              <a:rPr sz="2024" b="0">
                <a:solidFill>
                  <a:srgbClr val="00D4AA"/>
                </a:solidFill>
                <a:latin typeface="JetBrains Mono"/>
              </a:rPr>
              <a:t>new_state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Hanging up for real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Console and dev: </a:t>
            </a:r>
            <a:r>
              <a:rPr sz="2024" b="0">
                <a:solidFill>
                  <a:srgbClr val="00D4AA"/>
                </a:solidFill>
                <a:latin typeface="JetBrains Mono"/>
              </a:rPr>
              <a:t>session.shutdown()</a:t>
            </a:r>
            <a:r>
              <a:rPr sz="2200" b="0">
                <a:solidFill>
                  <a:srgbClr val="FFFFFF"/>
                </a:solidFill>
                <a:latin typeface="Inter"/>
              </a:rPr>
              <a:t> ends Riley's session</a:t>
            </a:r>
          </a:p>
          <a:p>
            <a:pPr marL="292608" indent="-292608">
              <a:lnSpc>
                <a:spcPct val="120000"/>
              </a:lnSpc>
              <a:spcAft>
                <a:spcPts val="1539"/>
              </a:spcAft>
              <a:buClr>
                <a:srgbClr val="00D4AA"/>
              </a:buClr>
              <a:buFont typeface="Inter"/>
              <a:buChar char="•"/>
            </a:pPr>
            <a:r>
              <a:rPr sz="2200" b="0">
                <a:solidFill>
                  <a:srgbClr val="FFFFFF"/>
                </a:solidFill>
                <a:latin typeface="Inter"/>
              </a:rPr>
              <a:t>Phone calls: delete the room so the phone line drops too (the </a:t>
            </a:r>
            <a:r>
              <a:rPr sz="2024" b="0">
                <a:solidFill>
                  <a:srgbClr val="00D4AA"/>
                </a:solidFill>
                <a:latin typeface="JetBrains Mono"/>
              </a:rPr>
              <a:t>end_call</a:t>
            </a:r>
            <a:r>
              <a:rPr sz="2200" b="0">
                <a:solidFill>
                  <a:srgbClr val="FFFFFF"/>
                </a:solidFill>
                <a:latin typeface="Inter"/>
              </a:rPr>
              <a:t> tool, Section 8)</a:t>
            </a:r>
          </a:p>
          <a:p>
            <a:pPr marL="292608" indent="-292608">
              <a:lnSpc>
                <a:spcPct val="120000"/>
              </a:lnSpc>
              <a:spcAft>
                <a:spcPts val="1539"/>
              </a:spcAft>
              <a:buClr>
                <a:srgbClr val="00D4AA"/>
              </a:buClr>
              <a:buFont typeface="Inter"/>
              <a:buChar char="•"/>
            </a:pPr>
            <a:r>
              <a:rPr sz="2200" b="0">
                <a:solidFill>
                  <a:srgbClr val="FFFFFF"/>
                </a:solidFill>
                <a:latin typeface="Inter"/>
              </a:rPr>
              <a:t>Always say goodbye before hanging up, and never mid-sentence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Fixed greeting: </a:t>
            </a:r>
            <a:r>
              <a:rPr sz="1656" b="0">
                <a:solidFill>
                  <a:srgbClr val="00D4AA"/>
                </a:solidFill>
                <a:latin typeface="JetBrains Mono"/>
              </a:rPr>
              <a:t>session.say</a:t>
            </a:r>
            <a:r>
              <a:rPr sz="1800" b="1">
                <a:solidFill>
                  <a:srgbClr val="FFFFFF"/>
                </a:solidFill>
                <a:latin typeface="Inter"/>
              </a:rPr>
              <a:t> in </a:t>
            </a:r>
            <a:r>
              <a:rPr sz="1656" b="0">
                <a:solidFill>
                  <a:srgbClr val="00D4AA"/>
                </a:solidFill>
                <a:latin typeface="JetBrains Mono"/>
              </a:rPr>
              <a:t>on_enter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user_away_timeout</a:t>
            </a:r>
            <a:r>
              <a:rPr sz="1800" b="1">
                <a:solidFill>
                  <a:srgbClr val="FFFFFF"/>
                </a:solidFill>
                <a:latin typeface="Inter"/>
              </a:rPr>
              <a:t> plus </a:t>
            </a:r>
            <a:r>
              <a:rPr sz="1656" b="0">
                <a:solidFill>
                  <a:srgbClr val="00D4AA"/>
                </a:solidFill>
                <a:latin typeface="JetBrains Mono"/>
              </a:rPr>
              <a:t>user_state_changed</a:t>
            </a:r>
            <a:r>
              <a:rPr sz="1800" b="1">
                <a:solidFill>
                  <a:srgbClr val="FFFFFF"/>
                </a:solidFill>
                <a:latin typeface="Inter"/>
              </a:rPr>
              <a:t> detect silence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Check in once, reset the timer, then goodbye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Persona and brand voice without the cringe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You've shaped what Riley says and when, so next let's talk about how it sounds: persona and brand…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Persona and brand voice without the cringe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Balance warmth and efficiency for a transactional voice agent.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Warmth and efficiency are two dials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Warm and efficient: the target ("Oh no, sorry to hear that. Let me find you the earliest slot.")</a:t>
            </a:r>
          </a:p>
          <a:p>
            <a:pPr marL="292608" indent="-292608">
              <a:lnSpc>
                <a:spcPct val="120000"/>
              </a:lnSpc>
              <a:spcAft>
                <a:spcPts val="1260"/>
              </a:spcAft>
              <a:buClr>
                <a:srgbClr val="00D4AA"/>
              </a:buClr>
              <a:buFont typeface="Inter"/>
              <a:buChar char="•"/>
            </a:pPr>
            <a:r>
              <a:rPr sz="1800" b="0">
                <a:solidFill>
                  <a:srgbClr val="FFFFFF"/>
                </a:solidFill>
                <a:latin typeface="Inter"/>
              </a:rPr>
              <a:t>Warm, not efficient: cringe ("Aww, teeth can be so tricky! Don't worry, we'll get you smiling again!")</a:t>
            </a:r>
          </a:p>
          <a:p>
            <a:pPr marL="292608" indent="-292608">
              <a:lnSpc>
                <a:spcPct val="120000"/>
              </a:lnSpc>
              <a:spcAft>
                <a:spcPts val="1260"/>
              </a:spcAft>
              <a:buClr>
                <a:srgbClr val="00D4AA"/>
              </a:buClr>
              <a:buFont typeface="Inter"/>
              <a:buChar char="•"/>
            </a:pPr>
            <a:r>
              <a:rPr sz="1800" b="0">
                <a:solidFill>
                  <a:srgbClr val="FFFFFF"/>
                </a:solidFill>
                <a:latin typeface="Inter"/>
              </a:rPr>
              <a:t>Efficient, not warm: cold ("State preferred date.")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Consistency: one Riley everywhere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Prompt: identity and style rules</a:t>
            </a:r>
          </a:p>
          <a:p>
            <a:pPr marL="292608" indent="-292608">
              <a:lnSpc>
                <a:spcPct val="120000"/>
              </a:lnSpc>
              <a:spcAft>
                <a:spcPts val="1539"/>
              </a:spcAft>
              <a:buClr>
                <a:srgbClr val="00D4AA"/>
              </a:buClr>
              <a:buFont typeface="Inter"/>
              <a:buChar char="•"/>
            </a:pPr>
            <a:r>
              <a:rPr sz="2200" b="0">
                <a:solidFill>
                  <a:srgbClr val="FFFFFF"/>
                </a:solidFill>
                <a:latin typeface="Inter"/>
              </a:rPr>
              <a:t>Voice: one TTS voice, one speed</a:t>
            </a:r>
          </a:p>
          <a:p>
            <a:pPr marL="292608" indent="-292608">
              <a:lnSpc>
                <a:spcPct val="120000"/>
              </a:lnSpc>
              <a:spcAft>
                <a:spcPts val="1539"/>
              </a:spcAft>
              <a:buClr>
                <a:srgbClr val="00D4AA"/>
              </a:buClr>
              <a:buFont typeface="Inter"/>
              <a:buChar char="•"/>
            </a:pPr>
            <a:r>
              <a:rPr sz="2200" b="0">
                <a:solidFill>
                  <a:srgbClr val="FFFFFF"/>
                </a:solidFill>
                <a:latin typeface="Inter"/>
              </a:rPr>
              <a:t>Fixed lines: </a:t>
            </a:r>
            <a:r>
              <a:rPr sz="2024" b="0">
                <a:solidFill>
                  <a:srgbClr val="00D4AA"/>
                </a:solidFill>
                <a:latin typeface="JetBrains Mono"/>
              </a:rPr>
              <a:t>GREETING</a:t>
            </a:r>
            <a:r>
              <a:rPr sz="2200" b="0">
                <a:solidFill>
                  <a:srgbClr val="FFFFFF"/>
                </a:solidFill>
                <a:latin typeface="Inter"/>
              </a:rPr>
              <a:t>, </a:t>
            </a:r>
            <a:r>
              <a:rPr sz="2024" b="0">
                <a:solidFill>
                  <a:srgbClr val="00D4AA"/>
                </a:solidFill>
                <a:latin typeface="JetBrains Mono"/>
              </a:rPr>
              <a:t>GOODBYE</a:t>
            </a:r>
            <a:r>
              <a:rPr sz="2200" b="0">
                <a:solidFill>
                  <a:srgbClr val="FFFFFF"/>
                </a:solidFill>
                <a:latin typeface="Inter"/>
              </a:rPr>
              <a:t>, </a:t>
            </a:r>
            <a:r>
              <a:rPr sz="2024" b="0">
                <a:solidFill>
                  <a:srgbClr val="00D4AA"/>
                </a:solidFill>
                <a:latin typeface="JetBrains Mono"/>
              </a:rPr>
              <a:t>TRANSFER_MESSAGE</a:t>
            </a:r>
            <a:r>
              <a:rPr sz="2200" b="0">
                <a:solidFill>
                  <a:srgbClr val="FFFFFF"/>
                </a:solidFill>
                <a:latin typeface="Inter"/>
              </a:rPr>
              <a:t> in </a:t>
            </a:r>
            <a:r>
              <a:rPr sz="2024" b="0">
                <a:solidFill>
                  <a:srgbClr val="00D4AA"/>
                </a:solidFill>
                <a:latin typeface="JetBrains Mono"/>
              </a:rPr>
              <a:t>prompts.py</a:t>
            </a:r>
          </a:p>
          <a:p>
            <a:pPr marL="292608" indent="-292608">
              <a:lnSpc>
                <a:spcPct val="120000"/>
              </a:lnSpc>
              <a:spcAft>
                <a:spcPts val="1539"/>
              </a:spcAft>
              <a:buClr>
                <a:srgbClr val="00D4AA"/>
              </a:buClr>
              <a:buFont typeface="Inter"/>
              <a:buChar char="•"/>
            </a:pPr>
            <a:r>
              <a:rPr sz="2200" b="0">
                <a:solidFill>
                  <a:srgbClr val="FFFFFF"/>
                </a:solidFill>
                <a:latin typeface="Inter"/>
              </a:rPr>
              <a:t>Same name, same tone, same sign-off, every call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Persona checklist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Discloses AI in the first sentence</a:t>
            </a:r>
          </a:p>
          <a:p>
            <a:pPr marL="292608" indent="-292608">
              <a:lnSpc>
                <a:spcPct val="120000"/>
              </a:lnSpc>
              <a:spcAft>
                <a:spcPts val="1539"/>
              </a:spcAft>
              <a:buClr>
                <a:srgbClr val="00D4AA"/>
              </a:buClr>
              <a:buFont typeface="Inter"/>
              <a:buChar char="•"/>
            </a:pPr>
            <a:r>
              <a:rPr sz="2200" b="0">
                <a:solidFill>
                  <a:srgbClr val="FFFFFF"/>
                </a:solidFill>
                <a:latin typeface="Inter"/>
              </a:rPr>
              <a:t>Acknowledges feelings in six words or fewer, then acts</a:t>
            </a:r>
          </a:p>
          <a:p>
            <a:pPr marL="292608" indent="-292608">
              <a:lnSpc>
                <a:spcPct val="120000"/>
              </a:lnSpc>
              <a:spcAft>
                <a:spcPts val="1539"/>
              </a:spcAft>
              <a:buClr>
                <a:srgbClr val="00D4AA"/>
              </a:buClr>
              <a:buFont typeface="Inter"/>
              <a:buChar char="•"/>
            </a:pPr>
            <a:r>
              <a:rPr sz="2200" b="0">
                <a:solidFill>
                  <a:srgbClr val="FFFFFF"/>
                </a:solidFill>
                <a:latin typeface="Inter"/>
              </a:rPr>
              <a:t>No exclamation marks, jokes or catchphrases in fixed lines</a:t>
            </a:r>
          </a:p>
          <a:p>
            <a:pPr marL="292608" indent="-292608">
              <a:lnSpc>
                <a:spcPct val="120000"/>
              </a:lnSpc>
              <a:spcAft>
                <a:spcPts val="1539"/>
              </a:spcAft>
              <a:buClr>
                <a:srgbClr val="00D4AA"/>
              </a:buClr>
              <a:buFont typeface="Inter"/>
              <a:buChar char="•"/>
            </a:pPr>
            <a:r>
              <a:rPr sz="2200" b="0">
                <a:solidFill>
                  <a:srgbClr val="FFFFFF"/>
                </a:solidFill>
                <a:latin typeface="Inter"/>
              </a:rPr>
              <a:t>Three brand words in the prompt</a:t>
            </a:r>
          </a:p>
          <a:p>
            <a:pPr marL="292608" indent="-292608">
              <a:lnSpc>
                <a:spcPct val="120000"/>
              </a:lnSpc>
              <a:spcAft>
                <a:spcPts val="1539"/>
              </a:spcAft>
              <a:buClr>
                <a:srgbClr val="00D4AA"/>
              </a:buClr>
              <a:buFont typeface="Inter"/>
              <a:buChar char="•"/>
            </a:pPr>
            <a:r>
              <a:rPr sz="2200" b="0">
                <a:solidFill>
                  <a:srgbClr val="FFFFFF"/>
                </a:solidFill>
                <a:latin typeface="Inter"/>
              </a:rPr>
              <a:t>Same voice and sign-off on every call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Warm and efficient: acknowledge briefly, then act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Disclose AI in the first sentence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name, one voice, one tone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3: Rewrite a chat prompt for voice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it's your turn: in Lab 3, you'll take a real chat prompt and rewrite it for the…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3: Rewrite a chat prompt for voice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Convert a chat-style system prompt into a voice-first prompt using the seven-part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Challenge: Riley for your business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challenge: build a voice receptionist for a business you know.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Challenge: Riley for your business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Adapt Riley's prompt blocks to a real business you know.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Write a seven-part voice prompt from blocks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Make numbers, dates and names speakable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Greet, handle silence and hang up politely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Prompting for the ear</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Last stop for Section 4: a short quiz on prompting for the ear.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4 · PROMPTING FOR THE EAR</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4.8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Prompting for the ear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voice prompt structure, speakable formatting and silence handling.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4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Why long answers hurt on voice</a:t>
            </a:r>
          </a:p>
          <a:p>
            <a:pPr marL="292608" indent="-292608">
              <a:lnSpc>
                <a:spcPct val="120000"/>
              </a:lnSpc>
              <a:spcAft>
                <a:spcPts val="1539"/>
              </a:spcAft>
              <a:buClr>
                <a:srgbClr val="00D4AA"/>
              </a:buClr>
              <a:buFont typeface="Inter"/>
              <a:buChar char="•"/>
            </a:pPr>
            <a:r>
              <a:rPr sz="2200" b="0">
                <a:solidFill>
                  <a:srgbClr val="FFFFFF"/>
                </a:solidFill>
                <a:latin typeface="Inter"/>
              </a:rPr>
              <a:t>Speakable phone numbers</a:t>
            </a:r>
          </a:p>
          <a:p>
            <a:pPr marL="292608" indent="-292608">
              <a:lnSpc>
                <a:spcPct val="120000"/>
              </a:lnSpc>
              <a:spcAft>
                <a:spcPts val="1539"/>
              </a:spcAft>
              <a:buClr>
                <a:srgbClr val="00D4AA"/>
              </a:buClr>
              <a:buFont typeface="Inter"/>
              <a:buChar char="•"/>
            </a:pPr>
            <a:r>
              <a:rPr sz="2200" b="0">
                <a:solidFill>
                  <a:srgbClr val="FFFFFF"/>
                </a:solidFill>
                <a:latin typeface="Inter"/>
              </a:rPr>
              <a:t>A timestamp leaking from a tool result</a:t>
            </a:r>
          </a:p>
          <a:p>
            <a:pPr marL="292608" indent="-292608">
              <a:lnSpc>
                <a:spcPct val="120000"/>
              </a:lnSpc>
              <a:spcAft>
                <a:spcPts val="1539"/>
              </a:spcAft>
              <a:buClr>
                <a:srgbClr val="00D4AA"/>
              </a:buClr>
              <a:buFont typeface="Inter"/>
              <a:buChar char="•"/>
            </a:pPr>
            <a:r>
              <a:rPr sz="2200" b="0">
                <a:solidFill>
                  <a:srgbClr val="FFFFFF"/>
                </a:solidFill>
                <a:latin typeface="Inter"/>
              </a:rPr>
              <a:t>Silence and "are you still there?"</a:t>
            </a:r>
          </a:p>
          <a:p>
            <a:pPr marL="292608" indent="-292608">
              <a:lnSpc>
                <a:spcPct val="120000"/>
              </a:lnSpc>
              <a:spcAft>
                <a:spcPts val="1539"/>
              </a:spcAft>
              <a:buClr>
                <a:srgbClr val="00D4AA"/>
              </a:buClr>
              <a:buFont typeface="Inter"/>
              <a:buChar char="•"/>
            </a:pPr>
            <a:r>
              <a:rPr sz="2200" b="0">
                <a:solidFill>
                  <a:srgbClr val="FFFFFF"/>
                </a:solidFill>
                <a:latin typeface="Inter"/>
              </a:rPr>
              <a:t>AI disclosure when asked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04 · Lecture 4.8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How function tools work in LiveKit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5: Riley gets real tools to book, reschedule and cancel appointments.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